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2: Securing AI Systems, the largest exam domain at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sub-objectives make up this module — the most of any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Reconfirm domain weighting; this module alone is worth 40% of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2.1: threat-modelling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both OWASP AI-related Top 10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MIT AI Risk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MITRE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CVE AI Working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general threat-modelling frameworks as a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threat-modelling resources with their primary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2.2: implementing security controls for AI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evaluation as an ongoing security control, not just a one-time lifecycle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guardrails together with prompt templates as their implementation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prompt firewalls as a gateway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rate limits as a gateway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token limits as a gateway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input quotas, including data size and quantity sub-items.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modality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endpoint access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guardrail testing and validation as the practice tying model and gateway controls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model vs gateway controls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2.3: access controls for AI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agent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network/API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access surfaces before moving to data security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2.4: data security controls for AI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encryption in transit.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encryption at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encryption in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anonymization.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classification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redaction.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masking, distinguishing it from redaction.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minimization.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encryption and data safety techniques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2.5: monitoring and auditing for AI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prompt monitoring, including query and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log monitoring, sanitization, and protection together as a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response confidence level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rate monitoring, distinguishing it from rate limiting.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AI cost monitoring across its four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auditing for quality and compliance across its four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 2.5's six monitoring controls before moving to attack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2.6: analysing attack evidence and compensating controls — the largest sub-objective.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backdoor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Trojan attacks, distinguishing from backdoors.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prompt injection as an exam attack category, tying back to earlier syllabus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poisoning.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data poisoning, paired with model poisoning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jailbreaking.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input manipulation, distinguishing it from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introducing biases as an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circumventing AI guardrails as its own attack category, distinct from jailbreaking.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manipulating application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inversion as an attack category on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theft.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AI supply chain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transfer learning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skewing.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output integrity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membership inference as an exam attack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insecure output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model denial of service (DoS).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sensitive information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insecure plug-in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excessive agency.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overreliance, closing the attacks list — technically a human/process risk rather than a technical exploit.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all 22 attacks grouped by category for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8 compensating controls as a set, tying back to earlier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 2.6 before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as a class — ties together threat modelling, controls, and attack analysis from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of applying threat-modelling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of implementing the full range of controls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of analysing attack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quick-reference recap before the knowledge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these directly — common exam distractors.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 2.1-2.6 before moving to Module 3 (Domain 3.0).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3 (Domain 3.0, 24% of the exam).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053334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COMPTIA SECAI+ CY0-001 · DOMAIN 2.0 · MODULE 2 OF 4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501009"/>
            <a:ext cx="18105120" cy="818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08"/>
              </a:lnSpc>
              <a:buNone/>
            </a:pPr>
            <a:r>
              <a:rPr lang="en-US" sz="5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AI Systems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14400" y="5509692"/>
            <a:ext cx="1695297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modelling, security controls, access control, data protection, monitoring, and attack analysis — the largest domain on the exam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9796463"/>
            <a:ext cx="16423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618372" y="9796463"/>
            <a:ext cx="8314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pPr algn="l" indent="0" marL="0">
              <a:buNone/>
            </a:pPr>
            <a:r>
              <a:rPr lang="en-US" sz="13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90713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525" y="2128838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3950" y="213836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1175" y="2238375"/>
            <a:ext cx="45902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use AI threat-modelling resources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14400" y="2938463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525" y="3176588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950" y="318611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1175" y="3286125"/>
            <a:ext cx="63340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set of requirements, implement security controls for AI systems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14400" y="3986213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2525" y="4224338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" y="423386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1175" y="4333875"/>
            <a:ext cx="63538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implement appropriate access controls for AI systems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14400" y="5033963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525" y="5272088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3950" y="528161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1175" y="5381625"/>
            <a:ext cx="58035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implement data security controls for AI systems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" y="6081713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2525" y="6319838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3950" y="632936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1175" y="6429375"/>
            <a:ext cx="59909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implement monitoring and auditing for AI systems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14400" y="7129463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2525" y="7367587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3950" y="7377112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81175" y="7477125"/>
            <a:ext cx="696593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analyse attack evidence and suggest compensating controls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848473" y="3929063"/>
            <a:ext cx="25910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WEIGHTING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7090737" y="4319588"/>
            <a:ext cx="41065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4322958" y="6072188"/>
            <a:ext cx="96420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CompTIA SecAI+ CY0-001 exam — the single largest domain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48163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2.1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577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Threat-Modelling Resources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576888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frameworks and repositories you must recognise and apply on the exam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76805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60344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Resource · 1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(LLM &amp; ML Security)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Worldwide Application Security Project publishes two AI-relevant Top 10 lists: the LLM Top 10 (risks specific to large language model applications) and the ML Security Top 10 (risks across machine learning systems generally).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widely referenced starting point for scoping an AI security assessment — expect exam scenarios to reference "the Top 10" directly.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78688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62283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Resource · 2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AI Risk Repository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categorised database of AI risks compiled by the Massachusetts Institute of Technology, drawing on many existing frameworks and taxonomies.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a threat model needs broader risk coverage than a single vendor or framework provides.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79052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62659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Resource · 3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Adversarial Threat Landscape for Artificial-Intelligence Systems — a knowledge base of real-world adversary tactics and techniques against AI systems, modelled on the structure of MITRE ATT&amp;CK.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directly to the attack types covered later in Objective 2.6 — use it to structure a red-team or threat model around real observed techniques.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79313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62927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Resource · 4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AI Working Group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group under the Common Vulnerabilities and Exposures programme focused on cataloguing and standardising how AI-specific vulnerabilities are identified and disclosed.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familiar CVE-based vulnerability management practice into AI-specific weaknesses.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78978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62582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Resource · 5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Frameworks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structured approaches (such as STRIDE or attack trees) adapted to an AI system's assets, data flows, and trust boundaries.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resources (OWASP, ATLAS) tell you what to look for; a framework tells you how to organise the search systematically.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2.1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Resource to Purpose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6570538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76488"/>
            <a:ext cx="6570538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1976438"/>
            <a:ext cx="64819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7484938" y="1871663"/>
            <a:ext cx="9888662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84938" y="2376488"/>
            <a:ext cx="9888662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7627813" y="1976438"/>
            <a:ext cx="98995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Purpose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2852738"/>
            <a:ext cx="657053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" y="2490788"/>
            <a:ext cx="64819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/ ML Top 10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484938" y="2852738"/>
            <a:ext cx="988866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7813" y="2490788"/>
            <a:ext cx="98995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the most common AI application risks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14400" y="2862263"/>
            <a:ext cx="6570538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328988"/>
            <a:ext cx="657053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" y="2967038"/>
            <a:ext cx="64819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AI Risk Repository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7484938" y="2862263"/>
            <a:ext cx="9888662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84938" y="3328988"/>
            <a:ext cx="988866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627813" y="2967038"/>
            <a:ext cx="98995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Broad, cross-framework risk categorisation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14400" y="3805237"/>
            <a:ext cx="657053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275" y="3443288"/>
            <a:ext cx="64819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7484938" y="3805237"/>
            <a:ext cx="988866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7627813" y="3443288"/>
            <a:ext cx="98995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adversary tactics and techniques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14400" y="3814763"/>
            <a:ext cx="6570538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281488"/>
            <a:ext cx="657053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275" y="3919537"/>
            <a:ext cx="64819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AI Working Group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7484938" y="3814763"/>
            <a:ext cx="9888662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84938" y="4281488"/>
            <a:ext cx="988866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7627813" y="3919537"/>
            <a:ext cx="98995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AI vulnerability disclosure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914400" y="4757738"/>
            <a:ext cx="657053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7275" y="4395787"/>
            <a:ext cx="64819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frameworks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7484938" y="4757738"/>
            <a:ext cx="988866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7627813" y="4395787"/>
            <a:ext cx="98995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the assessment process itself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48163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2.2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577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Security Controls for AI Systems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576888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split into two layers: the model itself, and the gateway in front of it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80134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6298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Control · 1 of 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security control, this means continuing to test a deployed model's accuracy, bias, and robustness on an ongoing basis, not only before its initial release.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passed evaluation at launch can still drift into unsafe behaviour later without repeated testing.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82009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64864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Control · 2 of 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Guardrails &amp; Prompt Templates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are rules built into or around a model that constrain its behaviour — refusing certain requests, enforcing tone, or blocking categories of output. Prompt templates are one way to implement guardrails consistently, by fixing the safe structure every request is wrapped 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reduce risk but do not eliminate it — they must be paired with gateway and monitoring controls.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92660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212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 · 1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Firewalls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layer that inspects prompts before they reach the model, blocking known injection patterns, disallowed topics, or malicious payloads.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outside the model itself, so it keeps working even if the model's own guardrails are bypassed.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01148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4003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 · 2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on how many requests a given user, key, or IP address can send to a model within a time window.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defence against automated abuse, scraping, and model denial-of-service attempts.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01513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4368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 · 3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on the number of tokens (units of text) a single request or response may contain.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both cost and the risk of a single oversized prompt smuggling in excessive injected content.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01773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462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 · 4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Quotas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on how much input a user can submit overall, measured by data size (the size of individual files or payloads) and quantity (the number of items submitted over time).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bulk data exfiltration attempts disguised as normal usage, and limits blast radius if an account is compromised.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01438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4293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 · 5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 Limits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Restrictions on which input/output types (text, image, audio, video) a given deployment is permitted to accept or produce.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Disabling unused modalities shrinks the attack surface — an application that never needs image input should not accept it.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017216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4576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 · 6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Access Controls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authorisation enforced on the API endpoints that expose a model, so only permitted callers can reach it at all.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basic gateway control — every other control here assumes the caller was already supposed to be there.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CONTROL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Testing &amp; Validation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852612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probing model and gateway controls with adversarial and edge-case input to confirm they behave as intended, rather than assuming a guardrail works simply because it was configured.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51683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989808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525" y="3270796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Untested guardrails are a false sense of security — this is where red-teaming and the attacks in Objective 2.6 connect back to Objective 2.2's controls.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2.2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Controls vs Gateway Controls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8134350" cy="1271588"/>
          </a:xfrm>
          <a:prstGeom prst="roundRect">
            <a:avLst>
              <a:gd name="adj" fmla="val 1198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09788"/>
            <a:ext cx="842391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CONTROLS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52525" y="2390775"/>
            <a:ext cx="788784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evaluation, model guardrails, and the prompt templates that implement them — live inside or immediately around the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239250" y="1871663"/>
            <a:ext cx="8134350" cy="1271588"/>
          </a:xfrm>
          <a:prstGeom prst="roundRect">
            <a:avLst>
              <a:gd name="adj" fmla="val 1198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77375" y="2109788"/>
            <a:ext cx="842391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77375" y="2390775"/>
            <a:ext cx="788784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firewalls, rate/token limits, input quotas, modality limits, and endpoint access controls — live in front of the model, at the traffic layer.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3767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2.3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47245"/>
            <a:ext cx="1810512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56"/>
              </a:lnSpc>
              <a:buNone/>
            </a:pPr>
            <a:r>
              <a:rPr lang="en-US" sz="46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Controls for AI Systems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914400" y="5587305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distinct surfaces that each need their own access control decisions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1199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7405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Surface · 1 of 4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who and what may invoke a model at all — which users, services, or applications are authorised callers.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 for every other access decision — nothing else matters if this boundary is missing.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3074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75929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Surface · 2 of 4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which datasets, documents, or retrieval sources a model or its users are authorised to read from.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RAG system, this is the control that prevents a query from surfacing content the requester was never meant to see.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3439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76294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Surface · 3 of 4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Access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which tools, APIs, or actions an autonomous AI agent is permitted to invoke on its own.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ties to excessive agency, covered in Objective 2.6 — an agent should never have broader access than its task requires.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3699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7655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Surface · 4 of 4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/ API Access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network-level and API-level reachability to AI infrastructure — firewalling, network segmentation, and API key management.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network security practice still applies to AI infrastructure — it does not become obsolete just because a model sits behind it.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2.3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Access Surfaces, One Principle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90713"/>
            <a:ext cx="40005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2518" y="2128838"/>
            <a:ext cx="364426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67300" y="1890713"/>
            <a:ext cx="40005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45418" y="2128838"/>
            <a:ext cx="364426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20200" y="1890713"/>
            <a:ext cx="40005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98318" y="2128838"/>
            <a:ext cx="364426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Access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373100" y="1890713"/>
            <a:ext cx="40005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51217" y="2128838"/>
            <a:ext cx="364426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Network/API Access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781300"/>
            <a:ext cx="1645920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525" y="3019425"/>
            <a:ext cx="164767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least privilege consistently across all four — the weakest one becomes the attacker's entry point.</a:t>
            </a:r>
            <a:endParaRPr lang="en-US" sz="15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48163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2.4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577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Controls for AI Systems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576888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requirements, plus five data safety techniques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547640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3764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Requirement · 1 of 3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In Transit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data while it moves between systems — for example between a client, a gateway, and a model — typically using TLS.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responses often carry sensitive business or personal data; unencrypted transit exposes all of it to interception.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56639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3957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Requirement · 2 of 3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stored data — training sets, logs, vector stores, model weights — while it sits on disk or in a database.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stolen backup or misconfigured storage bucket without at-rest encryption hands an attacker the data outright.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57011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39956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Requirement · 3 of 3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In Use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data even while it is actively being processed in memory, typically through confidential computing or trusted execution environments.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last remaining gap — data is otherwise briefly unencrypted at exactly the point where a model is reading it.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62706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45561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 · 1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Anonymization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Irreversibly removing or altering identifying information so a specific individual can no longer be determined from the data.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data safety technique when a model genuinely does not need to know who a record belongs to.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645816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47436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 · 2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Labels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Tagging data by sensitivity level (e.g. public, internal, confidential, restricted) so downstream systems can apply the right handling rules automatically.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labels, an AI pipeline cannot programmatically tell sensitive data from ordinary data.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64946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478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 · 3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Redaction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Permanently removing specific sensitive fields or values from data before it is stored, processed, or shown.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Commonly applied to logs and prompts before they are retained, so sensitive content is never persisted at all.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65206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4806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 · 4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Substituting sensitive values with realistic but fake placeholders, preserving format and usability for testing or non-production use without exposing real data.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redaction, masking keeps data usable for development and testing while still protecting the real values.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64871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47726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 · 5 of 5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Minimization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collecting and passing forward the data a model genuinely needs to perform its task, rather than everything available.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the blast radius of any single leakage vulnerability — data that was never collected cannot be exposed.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2.4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+ Five Data Safety Techniques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2826469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76488"/>
            <a:ext cx="2826469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1976438"/>
            <a:ext cx="2625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3740869" y="1871663"/>
            <a:ext cx="13632731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40869" y="2376488"/>
            <a:ext cx="1363273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883744" y="1976438"/>
            <a:ext cx="137559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2852738"/>
            <a:ext cx="282646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" y="2490788"/>
            <a:ext cx="2625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3740869" y="2852738"/>
            <a:ext cx="1363273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3883744" y="2490788"/>
            <a:ext cx="137559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transit, at rest, in use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14400" y="2862263"/>
            <a:ext cx="2826469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328988"/>
            <a:ext cx="282646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" y="2967038"/>
            <a:ext cx="2625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3740869" y="2862263"/>
            <a:ext cx="13632731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40869" y="3328988"/>
            <a:ext cx="1363273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3883744" y="2967038"/>
            <a:ext cx="137559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Anonymization, classification labels, redaction, masking, minimization</a:t>
            </a:r>
            <a:endParaRPr lang="en-US" sz="1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48163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2.5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577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Auditing for AI Systems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576888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only work if you can see whether they are actually working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15659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98514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Control · 1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Monitoring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Observing both the query (what the user sent) and the response (what the model returned) to spot abuse, leakage, or policy violations.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only the query, or only the response, misses attacks visible only when the two are compared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17542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00397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Control · 2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Monitoring, Sanitization &amp; Protection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14400" y="1933575"/>
            <a:ext cx="5384750" cy="1243013"/>
          </a:xfrm>
          <a:prstGeom prst="roundRect">
            <a:avLst>
              <a:gd name="adj" fmla="val 122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171700"/>
            <a:ext cx="53993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MONITORING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525" y="2452688"/>
            <a:ext cx="53993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reviewing logs for anomalies rather than only collecting them.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451550" y="1933575"/>
            <a:ext cx="5384825" cy="1243013"/>
          </a:xfrm>
          <a:prstGeom prst="roundRect">
            <a:avLst>
              <a:gd name="adj" fmla="val 122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9675" y="2171700"/>
            <a:ext cx="539943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SANITIZATION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89675" y="2452688"/>
            <a:ext cx="50558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Stripping sensitive content from logs before storage — logs themselves can leak data.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988775" y="1933575"/>
            <a:ext cx="5384750" cy="1243013"/>
          </a:xfrm>
          <a:prstGeom prst="roundRect">
            <a:avLst>
              <a:gd name="adj" fmla="val 122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26900" y="2171700"/>
            <a:ext cx="53993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PROTECTION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226900" y="2452688"/>
            <a:ext cx="50557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Access-controlling and integrity-protecting logs so attackers cannot read or tamper with the evidence trail.</a:t>
            </a:r>
            <a:endParaRPr lang="en-US" sz="12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17906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0076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Control · 3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Confidence Level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how confident a model reports being in its own outputs, and flagging patterns of unusually low (or suspiciously high) confidence.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sudden shift in confidence patterns can be an early signal of drift, poisoning, or an adversarial input campaign.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18167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01022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Control · 4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Monitoring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Observing request-rate patterns over time to detect abuse trends, distinct from rate limiting, which is the gateway control that actively blocks excess requests.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reveals patterns worth setting a new limit for; limiting only enforces the limits you already have.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17832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00687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Control · 5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Cost Monitoring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9335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spend across prompts, storage, response generation, and processing — because a spike in AI cost is often the first visible symptom of an abuse or exfiltration attempt.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13596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2303" y="3051721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62538" y="2813596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0441" y="3051721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10675" y="2813596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88578" y="3051721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358813" y="2813596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6716" y="3051721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18115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200970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Control · 6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for Quality &amp; Compliance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14400" y="1933575"/>
            <a:ext cx="4685184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438400"/>
            <a:ext cx="4685184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8" name="Text 6"/>
          <p:cNvSpPr/>
          <p:nvPr/>
        </p:nvSpPr>
        <p:spPr>
          <a:xfrm>
            <a:off x="1057275" y="2038350"/>
            <a:ext cx="45399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Dimension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599584" y="1933575"/>
            <a:ext cx="11774016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99584" y="2438400"/>
            <a:ext cx="11774016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1" name="Text 9"/>
          <p:cNvSpPr/>
          <p:nvPr/>
        </p:nvSpPr>
        <p:spPr>
          <a:xfrm>
            <a:off x="5742459" y="2038350"/>
            <a:ext cx="118414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Checks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2914650"/>
            <a:ext cx="468518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7275" y="2552700"/>
            <a:ext cx="45399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5599584" y="2914650"/>
            <a:ext cx="11774016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742459" y="2552700"/>
            <a:ext cx="118414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Confidently stated but false or fabricated output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14400" y="2924175"/>
            <a:ext cx="4685184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390900"/>
            <a:ext cx="468518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7275" y="3028950"/>
            <a:ext cx="45399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5599584" y="2924175"/>
            <a:ext cx="11774016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99584" y="3390900"/>
            <a:ext cx="11774016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1" name="Text 19"/>
          <p:cNvSpPr/>
          <p:nvPr/>
        </p:nvSpPr>
        <p:spPr>
          <a:xfrm>
            <a:off x="5742459" y="3028950"/>
            <a:ext cx="118414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outputs are correct against ground truth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14400" y="3867150"/>
            <a:ext cx="468518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7275" y="3505200"/>
            <a:ext cx="45399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fairness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5599584" y="3867150"/>
            <a:ext cx="11774016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5742459" y="3505200"/>
            <a:ext cx="118414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outcomes differ unfairly across groups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914400" y="3876675"/>
            <a:ext cx="4685184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4343400"/>
            <a:ext cx="468518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57275" y="3981450"/>
            <a:ext cx="45399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5599584" y="3876675"/>
            <a:ext cx="11774016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99584" y="4343400"/>
            <a:ext cx="11774016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5742459" y="3981450"/>
            <a:ext cx="118414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only authorised parties actually used the system</a:t>
            </a:r>
            <a:endParaRPr lang="en-US" sz="17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2.5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Monitoring &amp; Auditing Controls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90713"/>
            <a:ext cx="5397475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563" y="2128838"/>
            <a:ext cx="50831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monitoring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6445225" y="1890713"/>
            <a:ext cx="5397475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2388" y="2128838"/>
            <a:ext cx="50831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monitoring / sanitization / protection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976050" y="1890713"/>
            <a:ext cx="5397550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33212" y="2128838"/>
            <a:ext cx="508322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confidence level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14400" y="2714625"/>
            <a:ext cx="5397475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1563" y="2952750"/>
            <a:ext cx="50831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monitoring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445225" y="2714625"/>
            <a:ext cx="5397475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2388" y="2952750"/>
            <a:ext cx="50831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cost monitoring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1976050" y="2714625"/>
            <a:ext cx="5397550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33212" y="2952750"/>
            <a:ext cx="508322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for quality &amp; compliance</a:t>
            </a:r>
            <a:endParaRPr lang="en-US" sz="14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69147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2.6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78722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Analysing Attack Evidence &amp; Compensating Controls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5555903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named attack types you must recognise from evidence, and 8 compensating controls to pair with them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4689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1754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Attacks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hidden trigger is built into a model during training so that a specific, otherwise-innocuous input causes a deliberately malicious response, while the model behaves normally on all other input.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misbehaviour only on a narrow, unusual input pattern that otherwise looks harmless.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6564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19419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2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Trojan Attacks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malicious capability is embedded inside a seemingly legitimate model artefact or package, activating once the model is deployed and used.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behaviour traced back to a third-party model, plugin, or package rather than the training data itself.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6929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19784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3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Crafted input — direct from a user, or indirect via retrieved content — overrides or manipulates a model's intended instructions.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 that ignores its system prompt, reveals internal instructions, or follows attacker-supplied instructions embedded in content.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7189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004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4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Poisoning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tampers with a model's parameters or training process directly, rather than the data feeding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Anomalous model weights or behaviour changes that do not correspond to any legitimate training run.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6854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19709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5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introduces manipulated samples into a training or fine-tuning dataset to bias the resulting model's future decisions.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bias or blind spot traced back to a specific batch of ingested training data.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7145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0000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6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or creative prompting techniques designed to bypass a model's safety training entirely, rather than just overriding a single instruction.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producing content its safety policy should have refused, following an unusual multi-step or role-play framing.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60140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18869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7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Manipulation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crafted or perturbed input designed to push a model toward a specific incorrect decision, distinct from prompt-based attacks — often applies to non-text inputs like images or sensor data.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94546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032671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3313658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often imperceptible changes to input that cause disproportionate changes in the model's output.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7286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0141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8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Biases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skewing a model's training data or feedback loop to make it systematically favour or disfavour a particular outcome or group.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significant, consistent disparities in outcomes that cannot be explained by legitimate factors.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37145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0000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9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Circumventing AI Guardrails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that specifically target and defeat the guardrail mechanisms (Objective 2.2) rather than the model's underlying safety training.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that pass through a guardrail unfiltered despite matching what the guardrail was designed to block.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623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47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10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Manipulating Application Integrations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Exploiting the connections between an AI model and the surrounding application — tools, plugins, or APIs — to trigger unintended actions.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model-triggered action executing with parameters or effects the integration was never intended to allow.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2153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500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11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Inversion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Repeatedly querying a model and analysing its outputs to reconstruct characteristics of the data it was trained 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unusually large volume of systematic, probing queries from a single source with no clear legitimate purpose.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028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688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12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Theft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a model's weights, architecture, or functional behaviour — either by direct exfiltration or by querying it enough to train a near-identical copy.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Unauthorised access to model storage, or query patterns consistent with systematically replicating the model's behaviour.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400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255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13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Supply Chain Attacks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Compromising a component the AI system depends on — a base model, dataset, library, or plugin — before it ever reaches the organisation.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behaviour traceable to a specific third-party dependency's version or update.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660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515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14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Attacks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Exploiting weaknesses inherited from a base model when it is fine-tuned or adapted (transferred) into a new specialised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fine-tuned model reproducing a vulnerability already known to exist in its base model.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326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181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15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Skewing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feeding a model biased or misleading input over time, so its decision boundary shifts in the attacker's favour without any single obvious event.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slow, sustained drift in decision outcomes rather than a sudden change.</a:t>
            </a:r>
            <a:endParaRPr lang="en-US" sz="13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608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463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16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Integrity Attacks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Tampering with a model's output after it is generated but before it reaches its intended destination or action.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mismatch between what the model actually generated and what downstream systems received or acted on.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3477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6332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17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Inference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Determining whether a specific record was part of a model's training set, purely by analysing how the model responds to queries about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systematically testing for the model's confidence or behaviour on specific candidate records.</a:t>
            </a:r>
            <a:endParaRPr lang="en-US" sz="13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757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612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18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Output Handling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downstream system trusts and acts on model output without validation — rendering it as HTML, executing it, or passing it into another system unchecked.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scripts, commands, or malformed data reaching a backend system directly from model output.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608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7463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19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Denial of Service (DoS)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Overwhelming a model with excessive, expensive, or resource-intensive requests so it becomes unavailable or unaffordable for legitimate users.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sudden spike in request volume, token usage, or cost with no corresponding legitimate business activity.</a:t>
            </a:r>
            <a:endParaRPr lang="en-US" sz="13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64990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9354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20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Disclosure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reveals PII, credentials, internal business data, or other sensitive content it should never have exposed.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 containing data that matches known sensitive records or internal-only information.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44028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2688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21 of 22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Plug-in Design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or tool exposed to a model accepts overly broad input or grants overly broad capability, with no independent validation of what the model asks it to 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executing an action based solely on model-supplied parameters, with no server-side check.</a:t>
            </a:r>
            <a:endParaRPr lang="en-US" sz="13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6773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79628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22 of 22, Part 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Agency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is granted more autonomy, permissions, or reach than its task genuinely requires, letting a single manipulation cause outsized real-world impact.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able to perform actions — financial, administrative, destructive — far beyond what its stated purpose needed.</a:t>
            </a:r>
            <a:endParaRPr lang="en-US" sz="13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98648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33425"/>
            <a:ext cx="181503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· 22 of 22, Part 2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081088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Overreliance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914400" y="1895475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or systems trust AI output without adequate scrutiny, turning an ordinary model mistake into a real-world consequence that a human check would have caught.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40260"/>
            <a:ext cx="16459200" cy="1014413"/>
          </a:xfrm>
          <a:prstGeom prst="roundRect">
            <a:avLst>
              <a:gd name="adj" fmla="val 150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678385"/>
            <a:ext cx="175812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525" y="2959373"/>
            <a:ext cx="17581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made directly from AI output with no human validation step, especially in high-stakes processes.</a:t>
            </a:r>
            <a:endParaRPr lang="en-US" sz="13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Attacks, Grouped by Category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52612"/>
            <a:ext cx="3445222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57438"/>
            <a:ext cx="3445222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1957388"/>
            <a:ext cx="3262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4359622" y="1852612"/>
            <a:ext cx="13013978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59622" y="2357438"/>
            <a:ext cx="13013978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502497" y="1957388"/>
            <a:ext cx="1311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2833688"/>
            <a:ext cx="344522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" y="2471738"/>
            <a:ext cx="3262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Training-time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359622" y="2833688"/>
            <a:ext cx="1301397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02497" y="2471738"/>
            <a:ext cx="131186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Backdoor, Trojan, model poisoning, data poisoning, introducing biases, model skewing, AI supply chain, transfer learning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14400" y="2843213"/>
            <a:ext cx="3445222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309938"/>
            <a:ext cx="344522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" y="2947988"/>
            <a:ext cx="3262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Prompt/interaction-time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4359622" y="2843213"/>
            <a:ext cx="13013978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59622" y="3309938"/>
            <a:ext cx="1301397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02497" y="2947988"/>
            <a:ext cx="131186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injection, jailbreaking, input manipulation, circumventing guardrails, membership inference, model inversion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14400" y="3786188"/>
            <a:ext cx="344522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275" y="3424238"/>
            <a:ext cx="3262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Integration/output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4359622" y="3786188"/>
            <a:ext cx="1301397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02497" y="3424238"/>
            <a:ext cx="131186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Manipulating application integrations, output integrity, insecure output handling, insecure plug-in design, excessive agency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14400" y="3795713"/>
            <a:ext cx="3445222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262438"/>
            <a:ext cx="344522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275" y="3900488"/>
            <a:ext cx="3262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Availability/disclosure/process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4359622" y="3795713"/>
            <a:ext cx="13013978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59622" y="4262438"/>
            <a:ext cx="1301397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02497" y="3900488"/>
            <a:ext cx="131186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theft, model DoS, sensitive information disclosure, overreliance</a:t>
            </a:r>
            <a:endParaRPr lang="en-US" sz="17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COMPENSATING CONTROLS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Compensating Controls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2303" y="2109788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firewalls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62538" y="1871663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40441" y="2109788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guardrails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210675" y="1871663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88578" y="2109788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3358813" y="1871663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6716" y="2109788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controls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2686050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2303" y="2924175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62538" y="2686050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0441" y="2924175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10675" y="2686050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8578" y="2924175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3358813" y="2686050"/>
            <a:ext cx="4014788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6716" y="2924175"/>
            <a:ext cx="3658981" cy="242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3538538"/>
            <a:ext cx="16459200" cy="690563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525" y="3776662"/>
            <a:ext cx="1647672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was introduced earlier in this module (2.2-2.4) — Objective 2.6 is about selecting and combining them correctly for a given attack.</a:t>
            </a:r>
            <a:endParaRPr lang="en-US" sz="14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2.6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Now Be Able to Do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90713"/>
            <a:ext cx="1645920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28838"/>
            <a:ext cx="164767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all 22 named attack types from a described scenario or evidence log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14400" y="2757488"/>
            <a:ext cx="1645920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95613"/>
            <a:ext cx="164767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attack to one or more of the 8 compensating controls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14400" y="3624263"/>
            <a:ext cx="1645920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3862387"/>
            <a:ext cx="164767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single control is rarely sufficient on its own</a:t>
            </a:r>
            <a:endParaRPr lang="en-US" sz="157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Chatbot Under Investigation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16459200" cy="1146721"/>
          </a:xfrm>
          <a:prstGeom prst="roundRect">
            <a:avLst>
              <a:gd name="adj" fmla="val 1329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09788"/>
            <a:ext cx="16476726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support chatbot begins returning internal pricing data to ordinary customers, and unrelated cost spikes appear in the AI billing dashboard the same week. Which threat-modelling resource would you consult first, which attack(s) does this evidence suggest, and which compensating controls would you recommend?</a:t>
            </a:r>
            <a:endParaRPr lang="en-US" sz="16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Threat-Modelling Resources to a Scenario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16459200" cy="811485"/>
          </a:xfrm>
          <a:prstGeom prst="roundRect">
            <a:avLst>
              <a:gd name="adj" fmla="val 187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09788"/>
            <a:ext cx="16476726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AI system description, select the most relevant threat-modelling resource(s) and use them to enumerate plausible attack paths before any testing begins.</a:t>
            </a:r>
            <a:endParaRPr lang="en-US" sz="16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Security, Access &amp; Data Controls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16459200" cy="811485"/>
          </a:xfrm>
          <a:prstGeom prst="roundRect">
            <a:avLst>
              <a:gd name="adj" fmla="val 187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09788"/>
            <a:ext cx="16476726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set of requirements, select the right combination of model controls, gateway controls, access controls, and data security controls — and justify why each was chosen.</a:t>
            </a:r>
            <a:endParaRPr lang="en-US" sz="16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Analysing Evidence &amp; Recommending Compensating Controls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16459200" cy="811485"/>
          </a:xfrm>
          <a:prstGeom prst="roundRect">
            <a:avLst>
              <a:gd name="adj" fmla="val 187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09788"/>
            <a:ext cx="16476726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logs, monitoring data, or a described incident, identify which of the 22 attack types best fits the evidence, and recommend the most appropriate compensating control(s).</a:t>
            </a:r>
            <a:endParaRPr lang="en-US" sz="16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Acronyms From This Module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3351833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76488"/>
            <a:ext cx="3351833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1976438"/>
            <a:ext cx="31666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4266233" y="1871663"/>
            <a:ext cx="13107367" cy="51435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266233" y="2376488"/>
            <a:ext cx="13107367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409108" y="1976438"/>
            <a:ext cx="132148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2852738"/>
            <a:ext cx="33518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" y="2490788"/>
            <a:ext cx="31666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266233" y="2852738"/>
            <a:ext cx="131073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409108" y="2490788"/>
            <a:ext cx="13214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Worldwide Application Security Project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14400" y="2862263"/>
            <a:ext cx="3351833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328988"/>
            <a:ext cx="33518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" y="2967038"/>
            <a:ext cx="31666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4266233" y="2862263"/>
            <a:ext cx="13107367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66233" y="3328988"/>
            <a:ext cx="131073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409108" y="2967038"/>
            <a:ext cx="13214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Threat Landscape for Artificial-Intelligence Systems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14400" y="3805237"/>
            <a:ext cx="33518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275" y="3443288"/>
            <a:ext cx="31666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4266233" y="3805237"/>
            <a:ext cx="131073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4409108" y="3443288"/>
            <a:ext cx="13214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Vulnerabilities and Exposures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14400" y="3814763"/>
            <a:ext cx="3351833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281488"/>
            <a:ext cx="33518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275" y="3919537"/>
            <a:ext cx="31666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4266233" y="3814763"/>
            <a:ext cx="13107367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66233" y="4281488"/>
            <a:ext cx="131073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409108" y="3919537"/>
            <a:ext cx="13214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Layer Security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914400" y="4757738"/>
            <a:ext cx="33518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7275" y="4395787"/>
            <a:ext cx="31666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4266233" y="4757738"/>
            <a:ext cx="131073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4409108" y="4395787"/>
            <a:ext cx="13214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of Service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914400" y="4767263"/>
            <a:ext cx="3351833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5233988"/>
            <a:ext cx="33518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1057275" y="4872038"/>
            <a:ext cx="31666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4266233" y="4767263"/>
            <a:ext cx="13107367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66233" y="5233988"/>
            <a:ext cx="131073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409108" y="4872038"/>
            <a:ext cx="13214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 Identifiable Information</a:t>
            </a:r>
            <a:endParaRPr lang="en-US" sz="17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Is Not About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90713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28838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Jailbreaking and circumventing guardrails are related but distinct — one defeats built-in safety training, the other defeats an external guardrail layer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81325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is not the same as redaction — masking preserves usable, realistic fake data; redaction simply removes the value entirely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595688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3833812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(a control) and rate monitoring (a detection practice) are not interchangeable — one blocks, the other observes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848473" y="3919537"/>
            <a:ext cx="25910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WEIGHTING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7090737" y="4329113"/>
            <a:ext cx="41065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6329236" y="6081713"/>
            <a:ext cx="56295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CompTIA SecAI+ CY0-001 exam</a:t>
            </a:r>
            <a:endParaRPr lang="en-US" sz="2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71663"/>
            <a:ext cx="16459200" cy="2579191"/>
          </a:xfrm>
          <a:prstGeom prst="roundRect">
            <a:avLst>
              <a:gd name="adj" fmla="val 590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09788"/>
            <a:ext cx="16476726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model reveals internal pricing information it was never meant to disclose. Which attack category does this best match? </a:t>
            </a:r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Model denial of service B. Sensitive information disclosure C. Model skewing D. Transfer learning attack</a:t>
            </a:r>
            <a:endParaRPr lang="en-US" sz="17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38225"/>
            <a:ext cx="1810512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Summary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890713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128838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Threat-modelling resources (OWASP, MIT AI Risk Repository, MITRE ATLAS, CVE AI Working Group, frameworks) scope an AI security assessment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81325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 split into model controls and gateway controls; access controls span model, data, agent, and network/API surfaces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595688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3833812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combines encryption (in transit/at rest/in use) with five data safety techniques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448175"/>
            <a:ext cx="16459200" cy="700088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525" y="4686300"/>
            <a:ext cx="164767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auditing make controls verifiable; 22 named attacks map to 8 compensating controls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3963367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391992"/>
            <a:ext cx="16952976" cy="137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2"/>
              </a:lnSpc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AI-assisted Security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5961683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2 PBQ, Flashcards, Cheat Sheet, and Quiz before continuing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9796463"/>
            <a:ext cx="16423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618372" y="9796463"/>
            <a:ext cx="8314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pPr algn="l" indent="0" marL="0">
              <a:buNone/>
            </a:pPr>
            <a:r>
              <a:rPr lang="en-US" sz="13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2026-07-28T12:39:24Z</dcterms:created>
  <dcterms:modified xsi:type="dcterms:W3CDTF">2026-07-28T12:39:24Z</dcterms:modified>
</cp:coreProperties>
</file>