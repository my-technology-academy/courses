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Lst>
  <p:notesMasterIdLst>
    <p:notesMasterId r:id="rId7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notesMaster" Target="notesMasters/notesMaster1.xml"/><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learners to Module 1 of the SecAI+ certification: Basic AI Concepts Related to Cybersecurity, 17% of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each objective — these map to exam objectives 1.1, 1.2, and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 learners: 4 exam domains total. This module covers Domain 1.0, weighted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objective 1.1: comparing AI types and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generative AI: definition, mechanics, and security relevance.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machine learning as a category distinct from generative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statistical learning as a simpler, often more explainable sibling of 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the transformer architecture underlying modern LLMs.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deep learning as multi-layer neural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generative adversarial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NLP as the umbrella field before LLM and SLM deep-dives.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large language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small language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comparison table — a common exam distractor pairing.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model validation as the umbrella concept before the training-type deep dives.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supervised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unsupervised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reinforcement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federated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all four paradigms side by side before moving to fine-tuning.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fine-tuning.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the epoch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pruning.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quantization.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prompt engineering as the final 1.1 sub-topic.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system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user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zero-shot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one-shot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multi-shot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out prompt engineering with system roles and templates.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objective 1.1 before moving to data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objective 1.2: data security in relation to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data cleansing.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data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data lineage.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data integrity.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data provenance.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data augmentation.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data balancing.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structured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semi-structured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unstructured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watermarking as a provenance and detection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RAG before breaking down vector storage and embeddings individually.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vector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embeddings.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objective 1.2 before moving to the AI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objective 1.3: security throughout the AI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business use case as lifecycle stage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data collection, including trustworthiness and authenticity.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data preparation.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model development/selection.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model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validation, distinct from pre-deployment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monitoring and maintenance.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feedback and iteration, closing the lifecycle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full eight-stage flow together as a recap before human-centric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human-in-the-loop.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human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on human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objective 1.3 before the applied scenario and practical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as a class — no lab environment required, purely conceptual.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practical skill of distinguishing AI types and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practical skill of assessing data security for an AI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practical skill of mapping a scenario to an MDLC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quick-reference recap before the knowledge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 these directly — common exam distractors.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learners of assessment weighting to set revision priorities.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Pose this question aloud; reveal the answer after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objectives 1.1-1.3 before moving to Module 2 (Domain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module and preview Module 2 (Domain 2.0, 40% of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379095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COMPTIA SECAI+ CY0-001 · DOMAIN 1.0 · MODULE 1 OF 4</a:t>
            </a:r>
            <a:endParaRPr lang="en-US" sz="1650" dirty="0"/>
          </a:p>
        </p:txBody>
      </p:sp>
      <p:sp>
        <p:nvSpPr>
          <p:cNvPr id="4" name="Text 2"/>
          <p:cNvSpPr/>
          <p:nvPr/>
        </p:nvSpPr>
        <p:spPr>
          <a:xfrm>
            <a:off x="914400" y="4267200"/>
            <a:ext cx="16952976" cy="1638300"/>
          </a:xfrm>
          <a:prstGeom prst="rect">
            <a:avLst/>
          </a:prstGeom>
          <a:noFill/>
          <a:ln/>
        </p:spPr>
        <p:txBody>
          <a:bodyPr wrap="square" lIns="25400" tIns="25400" rIns="25400" bIns="25400" rtlCol="0" anchor="t">
            <a:normAutofit/>
          </a:bodyPr>
          <a:lstStyle/>
          <a:p>
            <a:pPr algn="l" indent="0" marL="0">
              <a:lnSpc>
                <a:spcPct val="91304"/>
              </a:lnSpc>
              <a:buNone/>
            </a:pPr>
            <a:r>
              <a:rPr lang="en-US" sz="6000" b="1" dirty="0">
                <a:solidFill>
                  <a:srgbClr val="F5F7FB"/>
                </a:solidFill>
                <a:latin typeface="Arial" pitchFamily="34" charset="0"/>
                <a:ea typeface="Arial" pitchFamily="34" charset="-122"/>
                <a:cs typeface="Arial" pitchFamily="34" charset="-120"/>
              </a:rPr>
              <a:t>Basic AI Concepts Related to Cybersecurity</a:t>
            </a:r>
            <a:endParaRPr lang="en-US" sz="6000" dirty="0"/>
          </a:p>
        </p:txBody>
      </p:sp>
      <p:sp>
        <p:nvSpPr>
          <p:cNvPr id="5" name="Text 3"/>
          <p:cNvSpPr/>
          <p:nvPr/>
        </p:nvSpPr>
        <p:spPr>
          <a:xfrm>
            <a:off x="914400" y="6115050"/>
            <a:ext cx="18105120" cy="419100"/>
          </a:xfrm>
          <a:prstGeom prst="rect">
            <a:avLst/>
          </a:prstGeom>
          <a:noFill/>
          <a:ln/>
        </p:spPr>
        <p:txBody>
          <a:bodyPr wrap="square" lIns="25400" tIns="25400" rIns="25400" bIns="25400" rtlCol="0" anchor="t">
            <a:normAutofit/>
          </a:bodyPr>
          <a:lstStyle/>
          <a:p>
            <a:pPr algn="l" indent="0" marL="0">
              <a:buNone/>
            </a:pPr>
            <a:r>
              <a:rPr lang="en-US" sz="2550" dirty="0">
                <a:solidFill>
                  <a:srgbClr val="B8C0CF"/>
                </a:solidFill>
                <a:latin typeface="Arial" pitchFamily="34" charset="0"/>
                <a:ea typeface="Arial" pitchFamily="34" charset="-122"/>
                <a:cs typeface="Arial" pitchFamily="34" charset="-120"/>
              </a:rPr>
              <a:t>AI types, model training, prompt engineering, data security, and the AI lifecycle</a:t>
            </a:r>
            <a:endParaRPr lang="en-US" sz="2550" dirty="0"/>
          </a:p>
        </p:txBody>
      </p:sp>
      <p:sp>
        <p:nvSpPr>
          <p:cNvPr id="6" name="Text 4"/>
          <p:cNvSpPr/>
          <p:nvPr/>
        </p:nvSpPr>
        <p:spPr>
          <a:xfrm>
            <a:off x="914400" y="9767888"/>
            <a:ext cx="1728869" cy="252413"/>
          </a:xfrm>
          <a:prstGeom prst="rect">
            <a:avLst/>
          </a:prstGeom>
          <a:noFill/>
          <a:ln/>
        </p:spPr>
        <p:txBody>
          <a:bodyPr wrap="square" lIns="25400" tIns="25400" rIns="25400" bIns="25400" rtlCol="0" anchor="t">
            <a:normAutofit/>
          </a:bodyPr>
          <a:lstStyle/>
          <a:p>
            <a:pPr algn="l" indent="0" marL="0">
              <a:buNone/>
            </a:pPr>
            <a:r>
              <a:rPr lang="en-US" sz="1425" dirty="0">
                <a:solidFill>
                  <a:srgbClr val="8891A1"/>
                </a:solidFill>
                <a:latin typeface="Arial" pitchFamily="34" charset="0"/>
                <a:ea typeface="Arial" pitchFamily="34" charset="-122"/>
                <a:cs typeface="Arial" pitchFamily="34" charset="-120"/>
              </a:rPr>
              <a:t>My Cyber Academy</a:t>
            </a:r>
            <a:endParaRPr lang="en-US" sz="1425" dirty="0"/>
          </a:p>
        </p:txBody>
      </p:sp>
      <p:sp>
        <p:nvSpPr>
          <p:cNvPr id="7" name="Text 5"/>
          <p:cNvSpPr/>
          <p:nvPr/>
        </p:nvSpPr>
        <p:spPr>
          <a:xfrm>
            <a:off x="16583992" y="9767888"/>
            <a:ext cx="865808" cy="252413"/>
          </a:xfrm>
          <a:prstGeom prst="rect">
            <a:avLst/>
          </a:prstGeom>
          <a:noFill/>
          <a:ln/>
        </p:spPr>
        <p:txBody>
          <a:bodyPr wrap="square" lIns="25400" tIns="25400" rIns="25400" bIns="25400" rtlCol="0" anchor="t">
            <a:normAutofit/>
          </a:bodyPr>
          <a:lstStyle/>
          <a:p>
            <a:pPr algn="l" indent="0" marL="0">
              <a:buNone/>
            </a:pPr>
            <a:r>
              <a:rPr lang="en-US" sz="1425" b="1" spc="150" kern="0" dirty="0">
                <a:solidFill>
                  <a:srgbClr val="FF6A00"/>
                </a:solidFill>
                <a:latin typeface="Arial" pitchFamily="34" charset="0"/>
                <a:ea typeface="Arial" pitchFamily="34" charset="-122"/>
                <a:cs typeface="Arial" pitchFamily="34" charset="-120"/>
              </a:rPr>
              <a:t>SEC</a:t>
            </a:r>
            <a:pPr algn="l" indent="0" marL="0">
              <a:buNone/>
            </a:pPr>
            <a:r>
              <a:rPr lang="en-US" sz="1425" b="1" spc="150" kern="0" dirty="0">
                <a:solidFill>
                  <a:srgbClr val="8891A1"/>
                </a:solidFill>
                <a:latin typeface="Arial" pitchFamily="34" charset="0"/>
                <a:ea typeface="Arial" pitchFamily="34" charset="-122"/>
                <a:cs typeface="Arial" pitchFamily="34" charset="-120"/>
              </a:rPr>
              <a:t>AI+</a:t>
            </a:r>
            <a:endParaRPr lang="en-US" sz="14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LEARNING OBJECTIVES</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By the end of this module, you will be able to</a:t>
            </a:r>
            <a:endParaRPr lang="en-US" sz="4200" dirty="0"/>
          </a:p>
        </p:txBody>
      </p:sp>
      <p:sp>
        <p:nvSpPr>
          <p:cNvPr id="5" name="Shape 3"/>
          <p:cNvSpPr/>
          <p:nvPr/>
        </p:nvSpPr>
        <p:spPr>
          <a:xfrm>
            <a:off x="914400" y="2057400"/>
            <a:ext cx="16459200" cy="990600"/>
          </a:xfrm>
          <a:prstGeom prst="roundRect">
            <a:avLst>
              <a:gd name="adj" fmla="val 15385"/>
            </a:avLst>
          </a:prstGeom>
          <a:solidFill>
            <a:srgbClr val="FFFFFF">
              <a:alpha val="2000"/>
            </a:srgbClr>
          </a:solidFill>
          <a:ln w="9525">
            <a:solidFill>
              <a:srgbClr val="2A2F3A"/>
            </a:solidFill>
            <a:prstDash val="solid"/>
          </a:ln>
        </p:spPr>
      </p:sp>
      <p:sp>
        <p:nvSpPr>
          <p:cNvPr id="6" name="Shape 4"/>
          <p:cNvSpPr/>
          <p:nvPr/>
        </p:nvSpPr>
        <p:spPr>
          <a:xfrm>
            <a:off x="1171575" y="2314575"/>
            <a:ext cx="476250" cy="476250"/>
          </a:xfrm>
          <a:prstGeom prst="ellipse">
            <a:avLst/>
          </a:prstGeom>
          <a:solidFill>
            <a:srgbClr val="FF6A00">
              <a:alpha val="18000"/>
            </a:srgbClr>
          </a:solidFill>
          <a:ln w="9525">
            <a:solidFill>
              <a:srgbClr val="FF6A00"/>
            </a:solidFill>
            <a:prstDash val="solid"/>
          </a:ln>
        </p:spPr>
      </p:sp>
      <p:sp>
        <p:nvSpPr>
          <p:cNvPr id="7" name="Text 5"/>
          <p:cNvSpPr/>
          <p:nvPr/>
        </p:nvSpPr>
        <p:spPr>
          <a:xfrm>
            <a:off x="1143000" y="2324100"/>
            <a:ext cx="533400" cy="4953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6A00"/>
                </a:solidFill>
                <a:latin typeface="Arial" pitchFamily="34" charset="0"/>
                <a:ea typeface="Arial" pitchFamily="34" charset="-122"/>
                <a:cs typeface="Arial" pitchFamily="34" charset="-120"/>
              </a:rPr>
              <a:t>1.1</a:t>
            </a:r>
            <a:endParaRPr lang="en-US" sz="1650" dirty="0"/>
          </a:p>
        </p:txBody>
      </p:sp>
      <p:sp>
        <p:nvSpPr>
          <p:cNvPr id="8" name="Text 6"/>
          <p:cNvSpPr/>
          <p:nvPr/>
        </p:nvSpPr>
        <p:spPr>
          <a:xfrm>
            <a:off x="1857375" y="2419350"/>
            <a:ext cx="7723206" cy="304800"/>
          </a:xfrm>
          <a:prstGeom prst="rect">
            <a:avLst/>
          </a:prstGeom>
          <a:noFill/>
          <a:ln/>
        </p:spPr>
        <p:txBody>
          <a:bodyPr wrap="square" lIns="0" tIns="0" rIns="0" bIns="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Compare and contrast various AI types and techniques used in cybersecurity</a:t>
            </a:r>
            <a:endParaRPr lang="en-US" sz="1800" dirty="0"/>
          </a:p>
        </p:txBody>
      </p:sp>
      <p:sp>
        <p:nvSpPr>
          <p:cNvPr id="9" name="Shape 7"/>
          <p:cNvSpPr/>
          <p:nvPr/>
        </p:nvSpPr>
        <p:spPr>
          <a:xfrm>
            <a:off x="914400" y="3219450"/>
            <a:ext cx="16459200" cy="990600"/>
          </a:xfrm>
          <a:prstGeom prst="roundRect">
            <a:avLst>
              <a:gd name="adj" fmla="val 15385"/>
            </a:avLst>
          </a:prstGeom>
          <a:solidFill>
            <a:srgbClr val="FFFFFF">
              <a:alpha val="2000"/>
            </a:srgbClr>
          </a:solidFill>
          <a:ln w="9525">
            <a:solidFill>
              <a:srgbClr val="2A2F3A"/>
            </a:solidFill>
            <a:prstDash val="solid"/>
          </a:ln>
        </p:spPr>
      </p:sp>
      <p:sp>
        <p:nvSpPr>
          <p:cNvPr id="10" name="Shape 8"/>
          <p:cNvSpPr/>
          <p:nvPr/>
        </p:nvSpPr>
        <p:spPr>
          <a:xfrm>
            <a:off x="1171575" y="3476625"/>
            <a:ext cx="476250" cy="476250"/>
          </a:xfrm>
          <a:prstGeom prst="ellipse">
            <a:avLst/>
          </a:prstGeom>
          <a:solidFill>
            <a:srgbClr val="FF6A00">
              <a:alpha val="18000"/>
            </a:srgbClr>
          </a:solidFill>
          <a:ln w="9525">
            <a:solidFill>
              <a:srgbClr val="FF6A00"/>
            </a:solidFill>
            <a:prstDash val="solid"/>
          </a:ln>
        </p:spPr>
      </p:sp>
      <p:sp>
        <p:nvSpPr>
          <p:cNvPr id="11" name="Text 9"/>
          <p:cNvSpPr/>
          <p:nvPr/>
        </p:nvSpPr>
        <p:spPr>
          <a:xfrm>
            <a:off x="1143000" y="3486150"/>
            <a:ext cx="533400" cy="4953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6A00"/>
                </a:solidFill>
                <a:latin typeface="Arial" pitchFamily="34" charset="0"/>
                <a:ea typeface="Arial" pitchFamily="34" charset="-122"/>
                <a:cs typeface="Arial" pitchFamily="34" charset="-120"/>
              </a:rPr>
              <a:t>1.2</a:t>
            </a:r>
            <a:endParaRPr lang="en-US" sz="1650" dirty="0"/>
          </a:p>
        </p:txBody>
      </p:sp>
      <p:sp>
        <p:nvSpPr>
          <p:cNvPr id="12" name="Text 10"/>
          <p:cNvSpPr/>
          <p:nvPr/>
        </p:nvSpPr>
        <p:spPr>
          <a:xfrm>
            <a:off x="1857375" y="3581400"/>
            <a:ext cx="5464894" cy="304800"/>
          </a:xfrm>
          <a:prstGeom prst="rect">
            <a:avLst/>
          </a:prstGeom>
          <a:noFill/>
          <a:ln/>
        </p:spPr>
        <p:txBody>
          <a:bodyPr wrap="square" lIns="0" tIns="0" rIns="0" bIns="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Explain the importance of data security in relation to AI</a:t>
            </a:r>
            <a:endParaRPr lang="en-US" sz="1800" dirty="0"/>
          </a:p>
        </p:txBody>
      </p:sp>
      <p:sp>
        <p:nvSpPr>
          <p:cNvPr id="13" name="Shape 11"/>
          <p:cNvSpPr/>
          <p:nvPr/>
        </p:nvSpPr>
        <p:spPr>
          <a:xfrm>
            <a:off x="914400" y="4381500"/>
            <a:ext cx="16459200" cy="990600"/>
          </a:xfrm>
          <a:prstGeom prst="roundRect">
            <a:avLst>
              <a:gd name="adj" fmla="val 15385"/>
            </a:avLst>
          </a:prstGeom>
          <a:solidFill>
            <a:srgbClr val="FFFFFF">
              <a:alpha val="2000"/>
            </a:srgbClr>
          </a:solidFill>
          <a:ln w="9525">
            <a:solidFill>
              <a:srgbClr val="2A2F3A"/>
            </a:solidFill>
            <a:prstDash val="solid"/>
          </a:ln>
        </p:spPr>
      </p:sp>
      <p:sp>
        <p:nvSpPr>
          <p:cNvPr id="14" name="Shape 12"/>
          <p:cNvSpPr/>
          <p:nvPr/>
        </p:nvSpPr>
        <p:spPr>
          <a:xfrm>
            <a:off x="1171575" y="4638675"/>
            <a:ext cx="476250" cy="476250"/>
          </a:xfrm>
          <a:prstGeom prst="ellipse">
            <a:avLst/>
          </a:prstGeom>
          <a:solidFill>
            <a:srgbClr val="FF6A00">
              <a:alpha val="18000"/>
            </a:srgbClr>
          </a:solidFill>
          <a:ln w="9525">
            <a:solidFill>
              <a:srgbClr val="FF6A00"/>
            </a:solidFill>
            <a:prstDash val="solid"/>
          </a:ln>
        </p:spPr>
      </p:sp>
      <p:sp>
        <p:nvSpPr>
          <p:cNvPr id="15" name="Text 13"/>
          <p:cNvSpPr/>
          <p:nvPr/>
        </p:nvSpPr>
        <p:spPr>
          <a:xfrm>
            <a:off x="1143000" y="4648200"/>
            <a:ext cx="533400" cy="4953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6A00"/>
                </a:solidFill>
                <a:latin typeface="Arial" pitchFamily="34" charset="0"/>
                <a:ea typeface="Arial" pitchFamily="34" charset="-122"/>
                <a:cs typeface="Arial" pitchFamily="34" charset="-120"/>
              </a:rPr>
              <a:t>1.3</a:t>
            </a:r>
            <a:endParaRPr lang="en-US" sz="1650" dirty="0"/>
          </a:p>
        </p:txBody>
      </p:sp>
      <p:sp>
        <p:nvSpPr>
          <p:cNvPr id="16" name="Text 14"/>
          <p:cNvSpPr/>
          <p:nvPr/>
        </p:nvSpPr>
        <p:spPr>
          <a:xfrm>
            <a:off x="1857375" y="4743450"/>
            <a:ext cx="6417074" cy="304800"/>
          </a:xfrm>
          <a:prstGeom prst="rect">
            <a:avLst/>
          </a:prstGeom>
          <a:noFill/>
          <a:ln/>
        </p:spPr>
        <p:txBody>
          <a:bodyPr wrap="square" lIns="0" tIns="0" rIns="0" bIns="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Explain the importance of security throughout the life cycle of AI</a:t>
            </a:r>
            <a:endParaRPr lang="en-US" sz="1800" dirty="0"/>
          </a:p>
        </p:txBody>
      </p:sp>
      <p:sp>
        <p:nvSpPr>
          <p:cNvPr id="17" name="Shape 15"/>
          <p:cNvSpPr/>
          <p:nvPr/>
        </p:nvSpPr>
        <p:spPr>
          <a:xfrm>
            <a:off x="914400" y="5581650"/>
            <a:ext cx="16459200" cy="738188"/>
          </a:xfrm>
          <a:prstGeom prst="roundRect">
            <a:avLst>
              <a:gd name="adj" fmla="val 20645"/>
            </a:avLst>
          </a:prstGeom>
          <a:solidFill>
            <a:srgbClr val="FFFFFF">
              <a:alpha val="2000"/>
            </a:srgbClr>
          </a:solidFill>
          <a:ln w="9525">
            <a:solidFill>
              <a:srgbClr val="2A2F3A"/>
            </a:solidFill>
            <a:prstDash val="solid"/>
          </a:ln>
        </p:spPr>
      </p:sp>
      <p:sp>
        <p:nvSpPr>
          <p:cNvPr id="18" name="Text 16"/>
          <p:cNvSpPr/>
          <p:nvPr/>
        </p:nvSpPr>
        <p:spPr>
          <a:xfrm>
            <a:off x="1171575" y="5838825"/>
            <a:ext cx="164386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B8C0CF"/>
                </a:solidFill>
                <a:latin typeface="Arial" pitchFamily="34" charset="0"/>
                <a:ea typeface="Arial" pitchFamily="34" charset="-122"/>
                <a:cs typeface="Arial" pitchFamily="34" charset="-120"/>
              </a:rPr>
              <a:t>This module is dense: it builds the shared vocabulary every later domain (Securing AI Systems, AI-assisted Security, AI Governance) assumes you already have.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EXAM STRUCTURE</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Where This Module Sits in the Exam</a:t>
            </a:r>
            <a:endParaRPr lang="en-US" sz="4200" dirty="0"/>
          </a:p>
        </p:txBody>
      </p:sp>
      <p:sp>
        <p:nvSpPr>
          <p:cNvPr id="5" name="Shape 3"/>
          <p:cNvSpPr/>
          <p:nvPr/>
        </p:nvSpPr>
        <p:spPr>
          <a:xfrm>
            <a:off x="914400" y="2019300"/>
            <a:ext cx="4000500" cy="6572250"/>
          </a:xfrm>
          <a:prstGeom prst="roundRect">
            <a:avLst>
              <a:gd name="adj" fmla="val 3810"/>
            </a:avLst>
          </a:prstGeom>
          <a:solidFill>
            <a:srgbClr val="FFFFFF">
              <a:alpha val="2000"/>
            </a:srgbClr>
          </a:solidFill>
          <a:ln w="9525">
            <a:solidFill>
              <a:srgbClr val="2A2F3A"/>
            </a:solidFill>
            <a:prstDash val="solid"/>
          </a:ln>
        </p:spPr>
      </p:sp>
      <p:sp>
        <p:nvSpPr>
          <p:cNvPr id="6" name="Text 4"/>
          <p:cNvSpPr/>
          <p:nvPr/>
        </p:nvSpPr>
        <p:spPr>
          <a:xfrm>
            <a:off x="1171575" y="4738688"/>
            <a:ext cx="3834765" cy="685800"/>
          </a:xfrm>
          <a:prstGeom prst="rect">
            <a:avLst/>
          </a:prstGeom>
          <a:noFill/>
          <a:ln/>
        </p:spPr>
        <p:txBody>
          <a:bodyPr wrap="square" lIns="25400" tIns="25400" rIns="25400" bIns="25400" rtlCol="0" anchor="t">
            <a:normAutofit/>
          </a:bodyPr>
          <a:lstStyle/>
          <a:p>
            <a:pPr algn="l" indent="0" marL="0">
              <a:buNone/>
            </a:pPr>
            <a:r>
              <a:rPr lang="en-US" sz="4350" b="1" dirty="0">
                <a:solidFill>
                  <a:srgbClr val="FF6A00"/>
                </a:solidFill>
                <a:latin typeface="Arial" pitchFamily="34" charset="0"/>
                <a:ea typeface="Arial" pitchFamily="34" charset="-122"/>
                <a:cs typeface="Arial" pitchFamily="34" charset="-120"/>
              </a:rPr>
              <a:t>17%</a:t>
            </a:r>
            <a:endParaRPr lang="en-US" sz="4350" dirty="0"/>
          </a:p>
        </p:txBody>
      </p:sp>
      <p:sp>
        <p:nvSpPr>
          <p:cNvPr id="7" name="Text 5"/>
          <p:cNvSpPr/>
          <p:nvPr/>
        </p:nvSpPr>
        <p:spPr>
          <a:xfrm>
            <a:off x="1171575" y="5443538"/>
            <a:ext cx="3834765" cy="261937"/>
          </a:xfrm>
          <a:prstGeom prst="rect">
            <a:avLst/>
          </a:prstGeom>
          <a:noFill/>
          <a:ln/>
        </p:spPr>
        <p:txBody>
          <a:bodyPr wrap="square" lIns="25400" tIns="25400" rIns="25400" bIns="25400" rtlCol="0" anchor="t">
            <a:normAutofit/>
          </a:bodyPr>
          <a:lstStyle/>
          <a:p>
            <a:pPr algn="l" indent="0" marL="0">
              <a:buNone/>
            </a:pPr>
            <a:r>
              <a:rPr lang="en-US" sz="1500" b="1" dirty="0">
                <a:solidFill>
                  <a:srgbClr val="F5F7FB"/>
                </a:solidFill>
                <a:latin typeface="Arial" pitchFamily="34" charset="0"/>
                <a:ea typeface="Arial" pitchFamily="34" charset="-122"/>
                <a:cs typeface="Arial" pitchFamily="34" charset="-120"/>
              </a:rPr>
              <a:t>Domain 1.0</a:t>
            </a:r>
            <a:endParaRPr lang="en-US" sz="1500" dirty="0"/>
          </a:p>
        </p:txBody>
      </p:sp>
      <p:sp>
        <p:nvSpPr>
          <p:cNvPr id="8" name="Text 6"/>
          <p:cNvSpPr/>
          <p:nvPr/>
        </p:nvSpPr>
        <p:spPr>
          <a:xfrm>
            <a:off x="1171575" y="5667375"/>
            <a:ext cx="3834765" cy="242888"/>
          </a:xfrm>
          <a:prstGeom prst="rect">
            <a:avLst/>
          </a:prstGeom>
          <a:noFill/>
          <a:ln/>
        </p:spPr>
        <p:txBody>
          <a:bodyPr wrap="square" lIns="25400" tIns="25400" rIns="25400" bIns="25400" rtlCol="0" anchor="t">
            <a:normAutofit/>
          </a:bodyPr>
          <a:lstStyle/>
          <a:p>
            <a:pPr algn="l" indent="0" marL="0">
              <a:buNone/>
            </a:pPr>
            <a:r>
              <a:rPr lang="en-US" sz="1350" dirty="0">
                <a:solidFill>
                  <a:srgbClr val="B8C0CF"/>
                </a:solidFill>
                <a:latin typeface="Arial" pitchFamily="34" charset="0"/>
                <a:ea typeface="Arial" pitchFamily="34" charset="-122"/>
                <a:cs typeface="Arial" pitchFamily="34" charset="-120"/>
              </a:rPr>
              <a:t>Basic AI Concepts</a:t>
            </a:r>
            <a:endParaRPr lang="en-US" sz="1350" dirty="0"/>
          </a:p>
        </p:txBody>
      </p:sp>
      <p:sp>
        <p:nvSpPr>
          <p:cNvPr id="9" name="Shape 7"/>
          <p:cNvSpPr/>
          <p:nvPr/>
        </p:nvSpPr>
        <p:spPr>
          <a:xfrm>
            <a:off x="5067300" y="2019300"/>
            <a:ext cx="4000500" cy="6572250"/>
          </a:xfrm>
          <a:prstGeom prst="roundRect">
            <a:avLst>
              <a:gd name="adj" fmla="val 3810"/>
            </a:avLst>
          </a:prstGeom>
          <a:solidFill>
            <a:srgbClr val="FFFFFF">
              <a:alpha val="2000"/>
            </a:srgbClr>
          </a:solidFill>
          <a:ln w="9525">
            <a:solidFill>
              <a:srgbClr val="2A2F3A"/>
            </a:solidFill>
            <a:prstDash val="solid"/>
          </a:ln>
        </p:spPr>
      </p:sp>
      <p:sp>
        <p:nvSpPr>
          <p:cNvPr id="10" name="Text 8"/>
          <p:cNvSpPr/>
          <p:nvPr/>
        </p:nvSpPr>
        <p:spPr>
          <a:xfrm>
            <a:off x="5324475" y="4738688"/>
            <a:ext cx="3834765" cy="685800"/>
          </a:xfrm>
          <a:prstGeom prst="rect">
            <a:avLst/>
          </a:prstGeom>
          <a:noFill/>
          <a:ln/>
        </p:spPr>
        <p:txBody>
          <a:bodyPr wrap="square" lIns="25400" tIns="25400" rIns="25400" bIns="25400" rtlCol="0" anchor="t">
            <a:normAutofit/>
          </a:bodyPr>
          <a:lstStyle/>
          <a:p>
            <a:pPr algn="l" indent="0" marL="0">
              <a:buNone/>
            </a:pPr>
            <a:r>
              <a:rPr lang="en-US" sz="4350" b="1" dirty="0">
                <a:solidFill>
                  <a:srgbClr val="B8C0CF"/>
                </a:solidFill>
                <a:latin typeface="Arial" pitchFamily="34" charset="0"/>
                <a:ea typeface="Arial" pitchFamily="34" charset="-122"/>
                <a:cs typeface="Arial" pitchFamily="34" charset="-120"/>
              </a:rPr>
              <a:t>40%</a:t>
            </a:r>
            <a:endParaRPr lang="en-US" sz="4350" dirty="0"/>
          </a:p>
        </p:txBody>
      </p:sp>
      <p:sp>
        <p:nvSpPr>
          <p:cNvPr id="11" name="Text 9"/>
          <p:cNvSpPr/>
          <p:nvPr/>
        </p:nvSpPr>
        <p:spPr>
          <a:xfrm>
            <a:off x="5324475" y="5443538"/>
            <a:ext cx="3834765" cy="261937"/>
          </a:xfrm>
          <a:prstGeom prst="rect">
            <a:avLst/>
          </a:prstGeom>
          <a:noFill/>
          <a:ln/>
        </p:spPr>
        <p:txBody>
          <a:bodyPr wrap="square" lIns="25400" tIns="25400" rIns="25400" bIns="25400" rtlCol="0" anchor="t">
            <a:normAutofit/>
          </a:bodyPr>
          <a:lstStyle/>
          <a:p>
            <a:pPr algn="l" indent="0" marL="0">
              <a:buNone/>
            </a:pPr>
            <a:r>
              <a:rPr lang="en-US" sz="1500" b="1" dirty="0">
                <a:solidFill>
                  <a:srgbClr val="F5F7FB"/>
                </a:solidFill>
                <a:latin typeface="Arial" pitchFamily="34" charset="0"/>
                <a:ea typeface="Arial" pitchFamily="34" charset="-122"/>
                <a:cs typeface="Arial" pitchFamily="34" charset="-120"/>
              </a:rPr>
              <a:t>Domain 2.0</a:t>
            </a:r>
            <a:endParaRPr lang="en-US" sz="1500" dirty="0"/>
          </a:p>
        </p:txBody>
      </p:sp>
      <p:sp>
        <p:nvSpPr>
          <p:cNvPr id="12" name="Text 10"/>
          <p:cNvSpPr/>
          <p:nvPr/>
        </p:nvSpPr>
        <p:spPr>
          <a:xfrm>
            <a:off x="5324475" y="5667375"/>
            <a:ext cx="3834765" cy="242888"/>
          </a:xfrm>
          <a:prstGeom prst="rect">
            <a:avLst/>
          </a:prstGeom>
          <a:noFill/>
          <a:ln/>
        </p:spPr>
        <p:txBody>
          <a:bodyPr wrap="square" lIns="25400" tIns="25400" rIns="25400" bIns="25400" rtlCol="0" anchor="t">
            <a:normAutofit/>
          </a:bodyPr>
          <a:lstStyle/>
          <a:p>
            <a:pPr algn="l" indent="0" marL="0">
              <a:buNone/>
            </a:pPr>
            <a:r>
              <a:rPr lang="en-US" sz="1350" dirty="0">
                <a:solidFill>
                  <a:srgbClr val="B8C0CF"/>
                </a:solidFill>
                <a:latin typeface="Arial" pitchFamily="34" charset="0"/>
                <a:ea typeface="Arial" pitchFamily="34" charset="-122"/>
                <a:cs typeface="Arial" pitchFamily="34" charset="-120"/>
              </a:rPr>
              <a:t>Securing AI Systems</a:t>
            </a:r>
            <a:endParaRPr lang="en-US" sz="1350" dirty="0"/>
          </a:p>
        </p:txBody>
      </p:sp>
      <p:sp>
        <p:nvSpPr>
          <p:cNvPr id="13" name="Shape 11"/>
          <p:cNvSpPr/>
          <p:nvPr/>
        </p:nvSpPr>
        <p:spPr>
          <a:xfrm>
            <a:off x="9220200" y="2019300"/>
            <a:ext cx="4000500" cy="6572250"/>
          </a:xfrm>
          <a:prstGeom prst="roundRect">
            <a:avLst>
              <a:gd name="adj" fmla="val 3810"/>
            </a:avLst>
          </a:prstGeom>
          <a:solidFill>
            <a:srgbClr val="FFFFFF">
              <a:alpha val="2000"/>
            </a:srgbClr>
          </a:solidFill>
          <a:ln w="9525">
            <a:solidFill>
              <a:srgbClr val="2A2F3A"/>
            </a:solidFill>
            <a:prstDash val="solid"/>
          </a:ln>
        </p:spPr>
      </p:sp>
      <p:sp>
        <p:nvSpPr>
          <p:cNvPr id="14" name="Text 12"/>
          <p:cNvSpPr/>
          <p:nvPr/>
        </p:nvSpPr>
        <p:spPr>
          <a:xfrm>
            <a:off x="9477375" y="4738688"/>
            <a:ext cx="3834765" cy="685800"/>
          </a:xfrm>
          <a:prstGeom prst="rect">
            <a:avLst/>
          </a:prstGeom>
          <a:noFill/>
          <a:ln/>
        </p:spPr>
        <p:txBody>
          <a:bodyPr wrap="square" lIns="25400" tIns="25400" rIns="25400" bIns="25400" rtlCol="0" anchor="t">
            <a:normAutofit/>
          </a:bodyPr>
          <a:lstStyle/>
          <a:p>
            <a:pPr algn="l" indent="0" marL="0">
              <a:buNone/>
            </a:pPr>
            <a:r>
              <a:rPr lang="en-US" sz="4350" b="1" dirty="0">
                <a:solidFill>
                  <a:srgbClr val="B8C0CF"/>
                </a:solidFill>
                <a:latin typeface="Arial" pitchFamily="34" charset="0"/>
                <a:ea typeface="Arial" pitchFamily="34" charset="-122"/>
                <a:cs typeface="Arial" pitchFamily="34" charset="-120"/>
              </a:rPr>
              <a:t>24%</a:t>
            </a:r>
            <a:endParaRPr lang="en-US" sz="4350" dirty="0"/>
          </a:p>
        </p:txBody>
      </p:sp>
      <p:sp>
        <p:nvSpPr>
          <p:cNvPr id="15" name="Text 13"/>
          <p:cNvSpPr/>
          <p:nvPr/>
        </p:nvSpPr>
        <p:spPr>
          <a:xfrm>
            <a:off x="9477375" y="5443538"/>
            <a:ext cx="3834765" cy="261937"/>
          </a:xfrm>
          <a:prstGeom prst="rect">
            <a:avLst/>
          </a:prstGeom>
          <a:noFill/>
          <a:ln/>
        </p:spPr>
        <p:txBody>
          <a:bodyPr wrap="square" lIns="25400" tIns="25400" rIns="25400" bIns="25400" rtlCol="0" anchor="t">
            <a:normAutofit/>
          </a:bodyPr>
          <a:lstStyle/>
          <a:p>
            <a:pPr algn="l" indent="0" marL="0">
              <a:buNone/>
            </a:pPr>
            <a:r>
              <a:rPr lang="en-US" sz="1500" b="1" dirty="0">
                <a:solidFill>
                  <a:srgbClr val="F5F7FB"/>
                </a:solidFill>
                <a:latin typeface="Arial" pitchFamily="34" charset="0"/>
                <a:ea typeface="Arial" pitchFamily="34" charset="-122"/>
                <a:cs typeface="Arial" pitchFamily="34" charset="-120"/>
              </a:rPr>
              <a:t>Domain 3.0</a:t>
            </a:r>
            <a:endParaRPr lang="en-US" sz="1500" dirty="0"/>
          </a:p>
        </p:txBody>
      </p:sp>
      <p:sp>
        <p:nvSpPr>
          <p:cNvPr id="16" name="Text 14"/>
          <p:cNvSpPr/>
          <p:nvPr/>
        </p:nvSpPr>
        <p:spPr>
          <a:xfrm>
            <a:off x="9477375" y="5667375"/>
            <a:ext cx="3834765" cy="242888"/>
          </a:xfrm>
          <a:prstGeom prst="rect">
            <a:avLst/>
          </a:prstGeom>
          <a:noFill/>
          <a:ln/>
        </p:spPr>
        <p:txBody>
          <a:bodyPr wrap="square" lIns="25400" tIns="25400" rIns="25400" bIns="25400" rtlCol="0" anchor="t">
            <a:normAutofit/>
          </a:bodyPr>
          <a:lstStyle/>
          <a:p>
            <a:pPr algn="l" indent="0" marL="0">
              <a:buNone/>
            </a:pPr>
            <a:r>
              <a:rPr lang="en-US" sz="1350" dirty="0">
                <a:solidFill>
                  <a:srgbClr val="B8C0CF"/>
                </a:solidFill>
                <a:latin typeface="Arial" pitchFamily="34" charset="0"/>
                <a:ea typeface="Arial" pitchFamily="34" charset="-122"/>
                <a:cs typeface="Arial" pitchFamily="34" charset="-120"/>
              </a:rPr>
              <a:t>AI-assisted Security</a:t>
            </a:r>
            <a:endParaRPr lang="en-US" sz="1350" dirty="0"/>
          </a:p>
        </p:txBody>
      </p:sp>
      <p:sp>
        <p:nvSpPr>
          <p:cNvPr id="17" name="Shape 15"/>
          <p:cNvSpPr/>
          <p:nvPr/>
        </p:nvSpPr>
        <p:spPr>
          <a:xfrm>
            <a:off x="13373100" y="2019300"/>
            <a:ext cx="4000500" cy="6572250"/>
          </a:xfrm>
          <a:prstGeom prst="roundRect">
            <a:avLst>
              <a:gd name="adj" fmla="val 3810"/>
            </a:avLst>
          </a:prstGeom>
          <a:solidFill>
            <a:srgbClr val="FFFFFF">
              <a:alpha val="2000"/>
            </a:srgbClr>
          </a:solidFill>
          <a:ln w="9525">
            <a:solidFill>
              <a:srgbClr val="2A2F3A"/>
            </a:solidFill>
            <a:prstDash val="solid"/>
          </a:ln>
        </p:spPr>
      </p:sp>
      <p:sp>
        <p:nvSpPr>
          <p:cNvPr id="18" name="Text 16"/>
          <p:cNvSpPr/>
          <p:nvPr/>
        </p:nvSpPr>
        <p:spPr>
          <a:xfrm>
            <a:off x="13630275" y="4738688"/>
            <a:ext cx="3834765" cy="685800"/>
          </a:xfrm>
          <a:prstGeom prst="rect">
            <a:avLst/>
          </a:prstGeom>
          <a:noFill/>
          <a:ln/>
        </p:spPr>
        <p:txBody>
          <a:bodyPr wrap="square" lIns="25400" tIns="25400" rIns="25400" bIns="25400" rtlCol="0" anchor="t">
            <a:normAutofit/>
          </a:bodyPr>
          <a:lstStyle/>
          <a:p>
            <a:pPr algn="l" indent="0" marL="0">
              <a:buNone/>
            </a:pPr>
            <a:r>
              <a:rPr lang="en-US" sz="4350" b="1" dirty="0">
                <a:solidFill>
                  <a:srgbClr val="B8C0CF"/>
                </a:solidFill>
                <a:latin typeface="Arial" pitchFamily="34" charset="0"/>
                <a:ea typeface="Arial" pitchFamily="34" charset="-122"/>
                <a:cs typeface="Arial" pitchFamily="34" charset="-120"/>
              </a:rPr>
              <a:t>19%</a:t>
            </a:r>
            <a:endParaRPr lang="en-US" sz="4350" dirty="0"/>
          </a:p>
        </p:txBody>
      </p:sp>
      <p:sp>
        <p:nvSpPr>
          <p:cNvPr id="19" name="Text 17"/>
          <p:cNvSpPr/>
          <p:nvPr/>
        </p:nvSpPr>
        <p:spPr>
          <a:xfrm>
            <a:off x="13630275" y="5443538"/>
            <a:ext cx="3834765" cy="261937"/>
          </a:xfrm>
          <a:prstGeom prst="rect">
            <a:avLst/>
          </a:prstGeom>
          <a:noFill/>
          <a:ln/>
        </p:spPr>
        <p:txBody>
          <a:bodyPr wrap="square" lIns="25400" tIns="25400" rIns="25400" bIns="25400" rtlCol="0" anchor="t">
            <a:normAutofit/>
          </a:bodyPr>
          <a:lstStyle/>
          <a:p>
            <a:pPr algn="l" indent="0" marL="0">
              <a:buNone/>
            </a:pPr>
            <a:r>
              <a:rPr lang="en-US" sz="1500" b="1" dirty="0">
                <a:solidFill>
                  <a:srgbClr val="F5F7FB"/>
                </a:solidFill>
                <a:latin typeface="Arial" pitchFamily="34" charset="0"/>
                <a:ea typeface="Arial" pitchFamily="34" charset="-122"/>
                <a:cs typeface="Arial" pitchFamily="34" charset="-120"/>
              </a:rPr>
              <a:t>Domain 4.0</a:t>
            </a:r>
            <a:endParaRPr lang="en-US" sz="1500" dirty="0"/>
          </a:p>
        </p:txBody>
      </p:sp>
      <p:sp>
        <p:nvSpPr>
          <p:cNvPr id="20" name="Text 18"/>
          <p:cNvSpPr/>
          <p:nvPr/>
        </p:nvSpPr>
        <p:spPr>
          <a:xfrm>
            <a:off x="13630275" y="5667375"/>
            <a:ext cx="3834765" cy="242888"/>
          </a:xfrm>
          <a:prstGeom prst="rect">
            <a:avLst/>
          </a:prstGeom>
          <a:noFill/>
          <a:ln/>
        </p:spPr>
        <p:txBody>
          <a:bodyPr wrap="square" lIns="25400" tIns="25400" rIns="25400" bIns="25400" rtlCol="0" anchor="t">
            <a:normAutofit/>
          </a:bodyPr>
          <a:lstStyle/>
          <a:p>
            <a:pPr algn="l" indent="0" marL="0">
              <a:buNone/>
            </a:pPr>
            <a:r>
              <a:rPr lang="en-US" sz="1350" dirty="0">
                <a:solidFill>
                  <a:srgbClr val="B8C0CF"/>
                </a:solidFill>
                <a:latin typeface="Arial" pitchFamily="34" charset="0"/>
                <a:ea typeface="Arial" pitchFamily="34" charset="-122"/>
                <a:cs typeface="Arial" pitchFamily="34" charset="-120"/>
              </a:rPr>
              <a:t>AI Governance, Risk &amp; Compliance</a:t>
            </a:r>
            <a:endParaRPr lang="en-US" sz="1350" dirty="0"/>
          </a:p>
        </p:txBody>
      </p:sp>
      <p:sp>
        <p:nvSpPr>
          <p:cNvPr id="21" name="Shape 19"/>
          <p:cNvSpPr/>
          <p:nvPr/>
        </p:nvSpPr>
        <p:spPr>
          <a:xfrm>
            <a:off x="914400" y="8877300"/>
            <a:ext cx="16459200" cy="762000"/>
          </a:xfrm>
          <a:prstGeom prst="roundRect">
            <a:avLst>
              <a:gd name="adj" fmla="val 20000"/>
            </a:avLst>
          </a:prstGeom>
          <a:solidFill>
            <a:srgbClr val="FFFFFF">
              <a:alpha val="2000"/>
            </a:srgbClr>
          </a:solidFill>
          <a:ln w="9525">
            <a:solidFill>
              <a:srgbClr val="2A2F3A"/>
            </a:solidFill>
            <a:prstDash val="solid"/>
          </a:ln>
        </p:spPr>
      </p:sp>
      <p:sp>
        <p:nvSpPr>
          <p:cNvPr id="22" name="Text 20"/>
          <p:cNvSpPr/>
          <p:nvPr/>
        </p:nvSpPr>
        <p:spPr>
          <a:xfrm>
            <a:off x="1171575" y="9134475"/>
            <a:ext cx="16438626" cy="285750"/>
          </a:xfrm>
          <a:prstGeom prst="rect">
            <a:avLst/>
          </a:prstGeom>
          <a:noFill/>
          <a:ln/>
        </p:spPr>
        <p:txBody>
          <a:bodyPr wrap="square" lIns="25400" tIns="25400" rIns="25400" bIns="25400" rtlCol="0" anchor="t">
            <a:normAutofit/>
          </a:bodyPr>
          <a:lstStyle/>
          <a:p>
            <a:pPr algn="l" indent="0" marL="0">
              <a:buNone/>
            </a:pPr>
            <a:r>
              <a:rPr lang="en-US" sz="1650" dirty="0">
                <a:solidFill>
                  <a:srgbClr val="B8C0CF"/>
                </a:solidFill>
                <a:latin typeface="Arial" pitchFamily="34" charset="0"/>
                <a:ea typeface="Arial" pitchFamily="34" charset="-122"/>
                <a:cs typeface="Arial" pitchFamily="34" charset="-120"/>
              </a:rPr>
              <a:t>60 questions total · 60 minutes · passing score 600 (scale 100–900) · multiple-choice and performance-based items</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3958605"/>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OBJECTIVE 1.1</a:t>
            </a:r>
            <a:endParaRPr lang="en-US" sz="1650" dirty="0"/>
          </a:p>
        </p:txBody>
      </p:sp>
      <p:sp>
        <p:nvSpPr>
          <p:cNvPr id="4" name="Text 2"/>
          <p:cNvSpPr/>
          <p:nvPr/>
        </p:nvSpPr>
        <p:spPr>
          <a:xfrm>
            <a:off x="914400" y="4396755"/>
            <a:ext cx="16952976" cy="1379190"/>
          </a:xfrm>
          <a:prstGeom prst="rect">
            <a:avLst/>
          </a:prstGeom>
          <a:noFill/>
          <a:ln/>
        </p:spPr>
        <p:txBody>
          <a:bodyPr wrap="square" lIns="25400" tIns="25400" rIns="25400" bIns="25400" rtlCol="0" anchor="t">
            <a:normAutofit/>
          </a:bodyPr>
          <a:lstStyle/>
          <a:p>
            <a:pPr algn="l" indent="0" marL="0">
              <a:lnSpc>
                <a:spcPct val="95782"/>
              </a:lnSpc>
              <a:buNone/>
            </a:pPr>
            <a:r>
              <a:rPr lang="en-US" sz="4800" b="1" dirty="0">
                <a:solidFill>
                  <a:srgbClr val="F5F7FB"/>
                </a:solidFill>
                <a:latin typeface="Arial" pitchFamily="34" charset="0"/>
                <a:ea typeface="Arial" pitchFamily="34" charset="-122"/>
                <a:cs typeface="Arial" pitchFamily="34" charset="-120"/>
              </a:rPr>
              <a:t>Comparing AI Types &amp; Techniques</a:t>
            </a:r>
            <a:endParaRPr lang="en-US" sz="4800" dirty="0"/>
          </a:p>
        </p:txBody>
      </p:sp>
      <p:sp>
        <p:nvSpPr>
          <p:cNvPr id="5" name="Text 3"/>
          <p:cNvSpPr/>
          <p:nvPr/>
        </p:nvSpPr>
        <p:spPr>
          <a:xfrm>
            <a:off x="914400" y="5947395"/>
            <a:ext cx="18105120" cy="419100"/>
          </a:xfrm>
          <a:prstGeom prst="rect">
            <a:avLst/>
          </a:prstGeom>
          <a:noFill/>
          <a:ln/>
        </p:spPr>
        <p:txBody>
          <a:bodyPr wrap="square" lIns="25400" tIns="25400" rIns="25400" bIns="25400" rtlCol="0" anchor="t">
            <a:normAutofit/>
          </a:bodyPr>
          <a:lstStyle/>
          <a:p>
            <a:pPr algn="l" indent="0" marL="0">
              <a:buNone/>
            </a:pPr>
            <a:r>
              <a:rPr lang="en-US" sz="2550" dirty="0">
                <a:solidFill>
                  <a:srgbClr val="B8C0CF"/>
                </a:solidFill>
                <a:latin typeface="Arial" pitchFamily="34" charset="0"/>
                <a:ea typeface="Arial" pitchFamily="34" charset="-122"/>
                <a:cs typeface="Arial" pitchFamily="34" charset="-120"/>
              </a:rPr>
              <a:t>The vocabulary every other domain builds on: types of AI, how models are trained, and how prompts are engineered</a:t>
            </a:r>
            <a:endParaRPr lang="en-US" sz="2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TYPES OF AI · 1 OF 6</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Generative AI</a:t>
            </a:r>
            <a:endParaRPr lang="en-US" sz="4200" dirty="0"/>
          </a:p>
        </p:txBody>
      </p:sp>
      <p:sp>
        <p:nvSpPr>
          <p:cNvPr id="5" name="Text 3"/>
          <p:cNvSpPr/>
          <p:nvPr/>
        </p:nvSpPr>
        <p:spPr>
          <a:xfrm>
            <a:off x="914400" y="1981200"/>
            <a:ext cx="16952976"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AI that produces new content — text, code, images, audio, or synthetic data — by sampling from patterns it learned during training, rather than retrieving a stored answer.</a:t>
            </a:r>
            <a:endParaRPr lang="en-US" sz="1875" dirty="0"/>
          </a:p>
        </p:txBody>
      </p:sp>
      <p:sp>
        <p:nvSpPr>
          <p:cNvPr id="6" name="Shape 4"/>
          <p:cNvSpPr/>
          <p:nvPr/>
        </p:nvSpPr>
        <p:spPr>
          <a:xfrm>
            <a:off x="914400" y="2928938"/>
            <a:ext cx="8143875" cy="1347788"/>
          </a:xfrm>
          <a:prstGeom prst="roundRect">
            <a:avLst>
              <a:gd name="adj" fmla="val 11307"/>
            </a:avLst>
          </a:prstGeom>
          <a:solidFill>
            <a:srgbClr val="FFFFFF">
              <a:alpha val="2000"/>
            </a:srgbClr>
          </a:solidFill>
          <a:ln w="9525">
            <a:solidFill>
              <a:srgbClr val="2A2F3A"/>
            </a:solidFill>
            <a:prstDash val="solid"/>
          </a:ln>
        </p:spPr>
      </p:sp>
      <p:sp>
        <p:nvSpPr>
          <p:cNvPr id="7" name="Text 5"/>
          <p:cNvSpPr/>
          <p:nvPr/>
        </p:nvSpPr>
        <p:spPr>
          <a:xfrm>
            <a:off x="1171575" y="3186113"/>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SECURITY RELEVANCE</a:t>
            </a:r>
            <a:endParaRPr lang="en-US" sz="1425" dirty="0"/>
          </a:p>
        </p:txBody>
      </p:sp>
      <p:sp>
        <p:nvSpPr>
          <p:cNvPr id="8" name="Text 6"/>
          <p:cNvSpPr/>
          <p:nvPr/>
        </p:nvSpPr>
        <p:spPr>
          <a:xfrm>
            <a:off x="1171575" y="3476625"/>
            <a:ext cx="7858411" cy="581025"/>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Powers phishing content, deepfakes, and synthetic malware variants — but also drafts detection rules, reports, and remediation code.</a:t>
            </a:r>
            <a:endParaRPr lang="en-US" sz="1425" dirty="0"/>
          </a:p>
        </p:txBody>
      </p:sp>
      <p:sp>
        <p:nvSpPr>
          <p:cNvPr id="9" name="Shape 7"/>
          <p:cNvSpPr/>
          <p:nvPr/>
        </p:nvSpPr>
        <p:spPr>
          <a:xfrm>
            <a:off x="9229725" y="2928938"/>
            <a:ext cx="8143875" cy="1347788"/>
          </a:xfrm>
          <a:prstGeom prst="roundRect">
            <a:avLst>
              <a:gd name="adj" fmla="val 11307"/>
            </a:avLst>
          </a:prstGeom>
          <a:solidFill>
            <a:srgbClr val="FFFFFF">
              <a:alpha val="2000"/>
            </a:srgbClr>
          </a:solidFill>
          <a:ln w="9525">
            <a:solidFill>
              <a:srgbClr val="2A2F3A"/>
            </a:solidFill>
            <a:prstDash val="solid"/>
          </a:ln>
        </p:spPr>
      </p:sp>
      <p:sp>
        <p:nvSpPr>
          <p:cNvPr id="10" name="Text 8"/>
          <p:cNvSpPr/>
          <p:nvPr/>
        </p:nvSpPr>
        <p:spPr>
          <a:xfrm>
            <a:off x="9486900" y="3186113"/>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WATCH FOR</a:t>
            </a:r>
            <a:endParaRPr lang="en-US" sz="1425" dirty="0"/>
          </a:p>
        </p:txBody>
      </p:sp>
      <p:sp>
        <p:nvSpPr>
          <p:cNvPr id="11" name="Text 9"/>
          <p:cNvSpPr/>
          <p:nvPr/>
        </p:nvSpPr>
        <p:spPr>
          <a:xfrm>
            <a:off x="9486900" y="3476625"/>
            <a:ext cx="7858411" cy="581025"/>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Output is probabilistic, not guaranteed correct — never treat generated content as verified fact without review.</a:t>
            </a:r>
            <a:endParaRPr lang="en-US" sz="14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TYPES OF AI · 2 OF 6</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Machine Learning</a:t>
            </a:r>
            <a:endParaRPr lang="en-US" sz="4200" dirty="0"/>
          </a:p>
        </p:txBody>
      </p:sp>
      <p:sp>
        <p:nvSpPr>
          <p:cNvPr id="5" name="Text 3"/>
          <p:cNvSpPr/>
          <p:nvPr/>
        </p:nvSpPr>
        <p:spPr>
          <a:xfrm>
            <a:off x="914400" y="1981200"/>
            <a:ext cx="16952976"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A broad category of AI in which models learn statistical patterns from data rather than following explicit, hand-written rules. Most cybersecurity AI in production today is ML, not generative AI.</a:t>
            </a:r>
            <a:endParaRPr lang="en-US" sz="1875" dirty="0"/>
          </a:p>
        </p:txBody>
      </p:sp>
      <p:sp>
        <p:nvSpPr>
          <p:cNvPr id="6" name="Shape 4"/>
          <p:cNvSpPr/>
          <p:nvPr/>
        </p:nvSpPr>
        <p:spPr>
          <a:xfrm>
            <a:off x="914400" y="2928938"/>
            <a:ext cx="8143875" cy="1347788"/>
          </a:xfrm>
          <a:prstGeom prst="roundRect">
            <a:avLst>
              <a:gd name="adj" fmla="val 11307"/>
            </a:avLst>
          </a:prstGeom>
          <a:solidFill>
            <a:srgbClr val="FFFFFF">
              <a:alpha val="2000"/>
            </a:srgbClr>
          </a:solidFill>
          <a:ln w="9525">
            <a:solidFill>
              <a:srgbClr val="2A2F3A"/>
            </a:solidFill>
            <a:prstDash val="solid"/>
          </a:ln>
        </p:spPr>
      </p:sp>
      <p:sp>
        <p:nvSpPr>
          <p:cNvPr id="7" name="Text 5"/>
          <p:cNvSpPr/>
          <p:nvPr/>
        </p:nvSpPr>
        <p:spPr>
          <a:xfrm>
            <a:off x="1171575" y="3186113"/>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SECURITY RELEVANCE</a:t>
            </a:r>
            <a:endParaRPr lang="en-US" sz="1425" dirty="0"/>
          </a:p>
        </p:txBody>
      </p:sp>
      <p:sp>
        <p:nvSpPr>
          <p:cNvPr id="8" name="Text 6"/>
          <p:cNvSpPr/>
          <p:nvPr/>
        </p:nvSpPr>
        <p:spPr>
          <a:xfrm>
            <a:off x="1171575" y="3476625"/>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Basis for malware classifiers, anomaly detection, fraud scoring, and spam filtering.</a:t>
            </a:r>
            <a:endParaRPr lang="en-US" sz="1425" dirty="0"/>
          </a:p>
        </p:txBody>
      </p:sp>
      <p:sp>
        <p:nvSpPr>
          <p:cNvPr id="9" name="Shape 7"/>
          <p:cNvSpPr/>
          <p:nvPr/>
        </p:nvSpPr>
        <p:spPr>
          <a:xfrm>
            <a:off x="9229725" y="2928938"/>
            <a:ext cx="8143875" cy="1347788"/>
          </a:xfrm>
          <a:prstGeom prst="roundRect">
            <a:avLst>
              <a:gd name="adj" fmla="val 11307"/>
            </a:avLst>
          </a:prstGeom>
          <a:solidFill>
            <a:srgbClr val="FFFFFF">
              <a:alpha val="2000"/>
            </a:srgbClr>
          </a:solidFill>
          <a:ln w="9525">
            <a:solidFill>
              <a:srgbClr val="2A2F3A"/>
            </a:solidFill>
            <a:prstDash val="solid"/>
          </a:ln>
        </p:spPr>
      </p:sp>
      <p:sp>
        <p:nvSpPr>
          <p:cNvPr id="10" name="Text 8"/>
          <p:cNvSpPr/>
          <p:nvPr/>
        </p:nvSpPr>
        <p:spPr>
          <a:xfrm>
            <a:off x="9486900" y="3186113"/>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WATCH FOR</a:t>
            </a:r>
            <a:endParaRPr lang="en-US" sz="1425" dirty="0"/>
          </a:p>
        </p:txBody>
      </p:sp>
      <p:sp>
        <p:nvSpPr>
          <p:cNvPr id="11" name="Text 9"/>
          <p:cNvSpPr/>
          <p:nvPr/>
        </p:nvSpPr>
        <p:spPr>
          <a:xfrm>
            <a:off x="9486900" y="3476625"/>
            <a:ext cx="7858411" cy="581025"/>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Model quality depends entirely on training data quality — biased or poisoned data produces biased or poisoned decisions.</a:t>
            </a:r>
            <a:endParaRPr lang="en-US" sz="14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TYPES OF AI · 3 OF 6</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Statistical Learning</a:t>
            </a:r>
            <a:endParaRPr lang="en-US" sz="4200" dirty="0"/>
          </a:p>
        </p:txBody>
      </p:sp>
      <p:sp>
        <p:nvSpPr>
          <p:cNvPr id="5" name="Text 3"/>
          <p:cNvSpPr/>
          <p:nvPr/>
        </p:nvSpPr>
        <p:spPr>
          <a:xfrm>
            <a:off x="914400" y="1981200"/>
            <a:ext cx="16952976"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Uses classical statistical methods — regression, probability distributions, hypothesis testing — to model relationships in data. Often simpler and more explainable than deep learning.</a:t>
            </a:r>
            <a:endParaRPr lang="en-US" sz="1875" dirty="0"/>
          </a:p>
        </p:txBody>
      </p:sp>
      <p:sp>
        <p:nvSpPr>
          <p:cNvPr id="6" name="Shape 4"/>
          <p:cNvSpPr/>
          <p:nvPr/>
        </p:nvSpPr>
        <p:spPr>
          <a:xfrm>
            <a:off x="914400" y="2928938"/>
            <a:ext cx="8143875"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3186113"/>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SECURITY RELEVANCE</a:t>
            </a:r>
            <a:endParaRPr lang="en-US" sz="1425" dirty="0"/>
          </a:p>
        </p:txBody>
      </p:sp>
      <p:sp>
        <p:nvSpPr>
          <p:cNvPr id="8" name="Text 6"/>
          <p:cNvSpPr/>
          <p:nvPr/>
        </p:nvSpPr>
        <p:spPr>
          <a:xfrm>
            <a:off x="1171575" y="3476625"/>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Underlies baseline and threshold models used in intrusion detection and traffic anomaly alerts.</a:t>
            </a:r>
            <a:endParaRPr lang="en-US" sz="1425" dirty="0"/>
          </a:p>
        </p:txBody>
      </p:sp>
      <p:sp>
        <p:nvSpPr>
          <p:cNvPr id="9" name="Shape 7"/>
          <p:cNvSpPr/>
          <p:nvPr/>
        </p:nvSpPr>
        <p:spPr>
          <a:xfrm>
            <a:off x="9229725" y="2928938"/>
            <a:ext cx="8143875" cy="1076325"/>
          </a:xfrm>
          <a:prstGeom prst="roundRect">
            <a:avLst>
              <a:gd name="adj" fmla="val 14159"/>
            </a:avLst>
          </a:prstGeom>
          <a:solidFill>
            <a:srgbClr val="FFFFFF">
              <a:alpha val="2000"/>
            </a:srgbClr>
          </a:solidFill>
          <a:ln w="9525">
            <a:solidFill>
              <a:srgbClr val="2A2F3A"/>
            </a:solidFill>
            <a:prstDash val="solid"/>
          </a:ln>
        </p:spPr>
      </p:sp>
      <p:sp>
        <p:nvSpPr>
          <p:cNvPr id="10" name="Text 8"/>
          <p:cNvSpPr/>
          <p:nvPr/>
        </p:nvSpPr>
        <p:spPr>
          <a:xfrm>
            <a:off x="9486900" y="3186113"/>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WATCH FOR</a:t>
            </a:r>
            <a:endParaRPr lang="en-US" sz="1425" dirty="0"/>
          </a:p>
        </p:txBody>
      </p:sp>
      <p:sp>
        <p:nvSpPr>
          <p:cNvPr id="11" name="Text 9"/>
          <p:cNvSpPr/>
          <p:nvPr/>
        </p:nvSpPr>
        <p:spPr>
          <a:xfrm>
            <a:off x="9486900" y="3476625"/>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Simpler models can still be gamed once an attacker learns the threshold they trigger on.</a:t>
            </a:r>
            <a:endParaRPr lang="en-US" sz="14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TYPES OF AI · 4 OF 6</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Transformers</a:t>
            </a:r>
            <a:endParaRPr lang="en-US" sz="4200" dirty="0"/>
          </a:p>
        </p:txBody>
      </p:sp>
      <p:sp>
        <p:nvSpPr>
          <p:cNvPr id="5" name="Text 3"/>
          <p:cNvSpPr/>
          <p:nvPr/>
        </p:nvSpPr>
        <p:spPr>
          <a:xfrm>
            <a:off x="914400" y="1981200"/>
            <a:ext cx="16952976"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A neural network architecture built around "attention" — weighing the relevance of every other token in the input when producing each output token. This architecture underpins virtually all modern LLMs.</a:t>
            </a:r>
            <a:endParaRPr lang="en-US" sz="1875" dirty="0"/>
          </a:p>
        </p:txBody>
      </p:sp>
      <p:sp>
        <p:nvSpPr>
          <p:cNvPr id="6" name="Shape 4"/>
          <p:cNvSpPr/>
          <p:nvPr/>
        </p:nvSpPr>
        <p:spPr>
          <a:xfrm>
            <a:off x="914400" y="2928938"/>
            <a:ext cx="8143875" cy="1347788"/>
          </a:xfrm>
          <a:prstGeom prst="roundRect">
            <a:avLst>
              <a:gd name="adj" fmla="val 11307"/>
            </a:avLst>
          </a:prstGeom>
          <a:solidFill>
            <a:srgbClr val="FFFFFF">
              <a:alpha val="2000"/>
            </a:srgbClr>
          </a:solidFill>
          <a:ln w="9525">
            <a:solidFill>
              <a:srgbClr val="2A2F3A"/>
            </a:solidFill>
            <a:prstDash val="solid"/>
          </a:ln>
        </p:spPr>
      </p:sp>
      <p:sp>
        <p:nvSpPr>
          <p:cNvPr id="7" name="Text 5"/>
          <p:cNvSpPr/>
          <p:nvPr/>
        </p:nvSpPr>
        <p:spPr>
          <a:xfrm>
            <a:off x="1171575" y="3186113"/>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SECURITY RELEVANCE</a:t>
            </a:r>
            <a:endParaRPr lang="en-US" sz="1425" dirty="0"/>
          </a:p>
        </p:txBody>
      </p:sp>
      <p:sp>
        <p:nvSpPr>
          <p:cNvPr id="8" name="Text 6"/>
          <p:cNvSpPr/>
          <p:nvPr/>
        </p:nvSpPr>
        <p:spPr>
          <a:xfrm>
            <a:off x="1171575" y="3476625"/>
            <a:ext cx="7858411" cy="581025"/>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The architecture behind most chatbots and copilots you will be asked to secure across this certification.</a:t>
            </a:r>
            <a:endParaRPr lang="en-US" sz="1425" dirty="0"/>
          </a:p>
        </p:txBody>
      </p:sp>
      <p:sp>
        <p:nvSpPr>
          <p:cNvPr id="9" name="Shape 7"/>
          <p:cNvSpPr/>
          <p:nvPr/>
        </p:nvSpPr>
        <p:spPr>
          <a:xfrm>
            <a:off x="9229725" y="2928938"/>
            <a:ext cx="8143875" cy="1347788"/>
          </a:xfrm>
          <a:prstGeom prst="roundRect">
            <a:avLst>
              <a:gd name="adj" fmla="val 11307"/>
            </a:avLst>
          </a:prstGeom>
          <a:solidFill>
            <a:srgbClr val="FFFFFF">
              <a:alpha val="2000"/>
            </a:srgbClr>
          </a:solidFill>
          <a:ln w="9525">
            <a:solidFill>
              <a:srgbClr val="2A2F3A"/>
            </a:solidFill>
            <a:prstDash val="solid"/>
          </a:ln>
        </p:spPr>
      </p:sp>
      <p:sp>
        <p:nvSpPr>
          <p:cNvPr id="10" name="Text 8"/>
          <p:cNvSpPr/>
          <p:nvPr/>
        </p:nvSpPr>
        <p:spPr>
          <a:xfrm>
            <a:off x="9486900" y="3186113"/>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WATCH FOR</a:t>
            </a:r>
            <a:endParaRPr lang="en-US" sz="1425" dirty="0"/>
          </a:p>
        </p:txBody>
      </p:sp>
      <p:sp>
        <p:nvSpPr>
          <p:cNvPr id="11" name="Text 9"/>
          <p:cNvSpPr/>
          <p:nvPr/>
        </p:nvSpPr>
        <p:spPr>
          <a:xfrm>
            <a:off x="9486900" y="3476625"/>
            <a:ext cx="7858411" cy="581025"/>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Attention over a shared context window is exactly what makes prompt injection possible — covered in Domain 2.0.</a:t>
            </a:r>
            <a:endParaRPr lang="en-US" sz="14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TYPES OF AI · 5 OF 6</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Deep Learning</a:t>
            </a:r>
            <a:endParaRPr lang="en-US" sz="4200" dirty="0"/>
          </a:p>
        </p:txBody>
      </p:sp>
      <p:sp>
        <p:nvSpPr>
          <p:cNvPr id="5" name="Text 3"/>
          <p:cNvSpPr/>
          <p:nvPr/>
        </p:nvSpPr>
        <p:spPr>
          <a:xfrm>
            <a:off x="914400" y="1981200"/>
            <a:ext cx="16952976"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Neural networks with many stacked layers, each learning increasingly abstract features from the layer before it — edges, then shapes, then objects, for example, in an image model.</a:t>
            </a:r>
            <a:endParaRPr lang="en-US" sz="1875" dirty="0"/>
          </a:p>
        </p:txBody>
      </p:sp>
      <p:sp>
        <p:nvSpPr>
          <p:cNvPr id="6" name="Shape 4"/>
          <p:cNvSpPr/>
          <p:nvPr/>
        </p:nvSpPr>
        <p:spPr>
          <a:xfrm>
            <a:off x="914400" y="2928938"/>
            <a:ext cx="8143875" cy="1347788"/>
          </a:xfrm>
          <a:prstGeom prst="roundRect">
            <a:avLst>
              <a:gd name="adj" fmla="val 11307"/>
            </a:avLst>
          </a:prstGeom>
          <a:solidFill>
            <a:srgbClr val="FFFFFF">
              <a:alpha val="2000"/>
            </a:srgbClr>
          </a:solidFill>
          <a:ln w="9525">
            <a:solidFill>
              <a:srgbClr val="2A2F3A"/>
            </a:solidFill>
            <a:prstDash val="solid"/>
          </a:ln>
        </p:spPr>
      </p:sp>
      <p:sp>
        <p:nvSpPr>
          <p:cNvPr id="7" name="Text 5"/>
          <p:cNvSpPr/>
          <p:nvPr/>
        </p:nvSpPr>
        <p:spPr>
          <a:xfrm>
            <a:off x="1171575" y="3186113"/>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SECURITY RELEVANCE</a:t>
            </a:r>
            <a:endParaRPr lang="en-US" sz="1425" dirty="0"/>
          </a:p>
        </p:txBody>
      </p:sp>
      <p:sp>
        <p:nvSpPr>
          <p:cNvPr id="8" name="Text 6"/>
          <p:cNvSpPr/>
          <p:nvPr/>
        </p:nvSpPr>
        <p:spPr>
          <a:xfrm>
            <a:off x="1171575" y="3476625"/>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Powers image and malware classifiers, biometric authentication, and voice recognition.</a:t>
            </a:r>
            <a:endParaRPr lang="en-US" sz="1425" dirty="0"/>
          </a:p>
        </p:txBody>
      </p:sp>
      <p:sp>
        <p:nvSpPr>
          <p:cNvPr id="9" name="Shape 7"/>
          <p:cNvSpPr/>
          <p:nvPr/>
        </p:nvSpPr>
        <p:spPr>
          <a:xfrm>
            <a:off x="9229725" y="2928938"/>
            <a:ext cx="8143875" cy="1347788"/>
          </a:xfrm>
          <a:prstGeom prst="roundRect">
            <a:avLst>
              <a:gd name="adj" fmla="val 11307"/>
            </a:avLst>
          </a:prstGeom>
          <a:solidFill>
            <a:srgbClr val="FFFFFF">
              <a:alpha val="2000"/>
            </a:srgbClr>
          </a:solidFill>
          <a:ln w="9525">
            <a:solidFill>
              <a:srgbClr val="2A2F3A"/>
            </a:solidFill>
            <a:prstDash val="solid"/>
          </a:ln>
        </p:spPr>
      </p:sp>
      <p:sp>
        <p:nvSpPr>
          <p:cNvPr id="10" name="Text 8"/>
          <p:cNvSpPr/>
          <p:nvPr/>
        </p:nvSpPr>
        <p:spPr>
          <a:xfrm>
            <a:off x="9486900" y="3186113"/>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WATCH FOR</a:t>
            </a:r>
            <a:endParaRPr lang="en-US" sz="1425" dirty="0"/>
          </a:p>
        </p:txBody>
      </p:sp>
      <p:sp>
        <p:nvSpPr>
          <p:cNvPr id="11" name="Text 9"/>
          <p:cNvSpPr/>
          <p:nvPr/>
        </p:nvSpPr>
        <p:spPr>
          <a:xfrm>
            <a:off x="9486900" y="3476625"/>
            <a:ext cx="7858411" cy="581025"/>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Deep models are the hardest to explain — a challenge for audit and compliance covered in Domain 4.0.</a:t>
            </a:r>
            <a:endParaRPr lang="en-US" sz="14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TYPES OF AI · 6 OF 6</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Generative Adversarial Networks (GANs)</a:t>
            </a:r>
            <a:endParaRPr lang="en-US" sz="4200" dirty="0"/>
          </a:p>
        </p:txBody>
      </p:sp>
      <p:sp>
        <p:nvSpPr>
          <p:cNvPr id="5" name="Text 3"/>
          <p:cNvSpPr/>
          <p:nvPr/>
        </p:nvSpPr>
        <p:spPr>
          <a:xfrm>
            <a:off x="914400" y="1981200"/>
            <a:ext cx="16952976"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Two networks trained against each other: a generator that creates synthetic samples, and a discriminator that tries to tell real from fake. Each improves by trying to beat the other.</a:t>
            </a:r>
            <a:endParaRPr lang="en-US" sz="1875" dirty="0"/>
          </a:p>
        </p:txBody>
      </p:sp>
      <p:sp>
        <p:nvSpPr>
          <p:cNvPr id="6" name="Shape 4"/>
          <p:cNvSpPr/>
          <p:nvPr/>
        </p:nvSpPr>
        <p:spPr>
          <a:xfrm>
            <a:off x="914400" y="2928938"/>
            <a:ext cx="8143875" cy="1347788"/>
          </a:xfrm>
          <a:prstGeom prst="roundRect">
            <a:avLst>
              <a:gd name="adj" fmla="val 11307"/>
            </a:avLst>
          </a:prstGeom>
          <a:solidFill>
            <a:srgbClr val="FFFFFF">
              <a:alpha val="2000"/>
            </a:srgbClr>
          </a:solidFill>
          <a:ln w="9525">
            <a:solidFill>
              <a:srgbClr val="2A2F3A"/>
            </a:solidFill>
            <a:prstDash val="solid"/>
          </a:ln>
        </p:spPr>
      </p:sp>
      <p:sp>
        <p:nvSpPr>
          <p:cNvPr id="7" name="Text 5"/>
          <p:cNvSpPr/>
          <p:nvPr/>
        </p:nvSpPr>
        <p:spPr>
          <a:xfrm>
            <a:off x="1171575" y="3186113"/>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SECURITY RELEVANCE</a:t>
            </a:r>
            <a:endParaRPr lang="en-US" sz="1425" dirty="0"/>
          </a:p>
        </p:txBody>
      </p:sp>
      <p:sp>
        <p:nvSpPr>
          <p:cNvPr id="8" name="Text 6"/>
          <p:cNvSpPr/>
          <p:nvPr/>
        </p:nvSpPr>
        <p:spPr>
          <a:xfrm>
            <a:off x="1171575" y="3476625"/>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Used to create — and, run in reverse, to detect — deepfake images, audio, and video.</a:t>
            </a:r>
            <a:endParaRPr lang="en-US" sz="1425" dirty="0"/>
          </a:p>
        </p:txBody>
      </p:sp>
      <p:sp>
        <p:nvSpPr>
          <p:cNvPr id="9" name="Shape 7"/>
          <p:cNvSpPr/>
          <p:nvPr/>
        </p:nvSpPr>
        <p:spPr>
          <a:xfrm>
            <a:off x="9229725" y="2928938"/>
            <a:ext cx="8143875" cy="1347788"/>
          </a:xfrm>
          <a:prstGeom prst="roundRect">
            <a:avLst>
              <a:gd name="adj" fmla="val 11307"/>
            </a:avLst>
          </a:prstGeom>
          <a:solidFill>
            <a:srgbClr val="FFFFFF">
              <a:alpha val="2000"/>
            </a:srgbClr>
          </a:solidFill>
          <a:ln w="9525">
            <a:solidFill>
              <a:srgbClr val="2A2F3A"/>
            </a:solidFill>
            <a:prstDash val="solid"/>
          </a:ln>
        </p:spPr>
      </p:sp>
      <p:sp>
        <p:nvSpPr>
          <p:cNvPr id="10" name="Text 8"/>
          <p:cNvSpPr/>
          <p:nvPr/>
        </p:nvSpPr>
        <p:spPr>
          <a:xfrm>
            <a:off x="9486900" y="3186113"/>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WATCH FOR</a:t>
            </a:r>
            <a:endParaRPr lang="en-US" sz="1425" dirty="0"/>
          </a:p>
        </p:txBody>
      </p:sp>
      <p:sp>
        <p:nvSpPr>
          <p:cNvPr id="11" name="Text 9"/>
          <p:cNvSpPr/>
          <p:nvPr/>
        </p:nvSpPr>
        <p:spPr>
          <a:xfrm>
            <a:off x="9486900" y="3476625"/>
            <a:ext cx="7858411" cy="581025"/>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The same adversarial-training idea reappears later as a technique attackers use against your own models.</a:t>
            </a:r>
            <a:endParaRPr lang="en-US" sz="14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409575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NATURAL LANGUAGE PROCESSING</a:t>
            </a:r>
            <a:endParaRPr lang="en-US" sz="1650" dirty="0"/>
          </a:p>
        </p:txBody>
      </p:sp>
      <p:sp>
        <p:nvSpPr>
          <p:cNvPr id="4" name="Text 2"/>
          <p:cNvSpPr/>
          <p:nvPr/>
        </p:nvSpPr>
        <p:spPr>
          <a:xfrm>
            <a:off x="914400" y="447675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What Is NLP?</a:t>
            </a:r>
            <a:endParaRPr lang="en-US" sz="4200" dirty="0"/>
          </a:p>
        </p:txBody>
      </p:sp>
      <p:sp>
        <p:nvSpPr>
          <p:cNvPr id="5" name="Shape 3"/>
          <p:cNvSpPr/>
          <p:nvPr/>
        </p:nvSpPr>
        <p:spPr>
          <a:xfrm>
            <a:off x="914400" y="5314950"/>
            <a:ext cx="38100" cy="952500"/>
          </a:xfrm>
          <a:prstGeom prst="rect">
            <a:avLst/>
          </a:prstGeom>
          <a:solidFill>
            <a:srgbClr val="FF6A00"/>
          </a:solidFill>
          <a:ln/>
        </p:spPr>
      </p:sp>
      <p:sp>
        <p:nvSpPr>
          <p:cNvPr id="6" name="Text 4"/>
          <p:cNvSpPr/>
          <p:nvPr/>
        </p:nvSpPr>
        <p:spPr>
          <a:xfrm>
            <a:off x="1238250" y="5391150"/>
            <a:ext cx="16629126" cy="838200"/>
          </a:xfrm>
          <a:prstGeom prst="rect">
            <a:avLst/>
          </a:prstGeom>
          <a:noFill/>
          <a:ln/>
        </p:spPr>
        <p:txBody>
          <a:bodyPr wrap="square" lIns="25400" tIns="25400" rIns="25400" bIns="25400" rtlCol="0" anchor="t">
            <a:normAutofit/>
          </a:bodyPr>
          <a:lstStyle/>
          <a:p>
            <a:pPr algn="l" indent="0" marL="0">
              <a:lnSpc>
                <a:spcPct val="129231"/>
              </a:lnSpc>
              <a:buNone/>
            </a:pPr>
            <a:r>
              <a:rPr lang="en-US" sz="2100" dirty="0">
                <a:solidFill>
                  <a:srgbClr val="F5F7FB"/>
                </a:solidFill>
                <a:latin typeface="Arial" pitchFamily="34" charset="0"/>
                <a:ea typeface="Arial" pitchFamily="34" charset="-122"/>
                <a:cs typeface="Arial" pitchFamily="34" charset="-120"/>
              </a:rPr>
              <a:t>The field concerned with machines processing and generating human language: parsing, sentiment analysis, translation, summarisation, and text generation all sit under this umbrella. LLMs and SLMs are today's dominant NLP model families.</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NLP MODEL FAMILIES · 1 OF 2</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Large Language Models (LLMs)</a:t>
            </a:r>
            <a:endParaRPr lang="en-US" sz="4200" dirty="0"/>
          </a:p>
        </p:txBody>
      </p:sp>
      <p:sp>
        <p:nvSpPr>
          <p:cNvPr id="5" name="Text 3"/>
          <p:cNvSpPr/>
          <p:nvPr/>
        </p:nvSpPr>
        <p:spPr>
          <a:xfrm>
            <a:off x="914400" y="1981200"/>
            <a:ext cx="16952976"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Transformer-based models trained on vast, broad text corpora, giving them wide general-purpose language ability at the cost of very high compute and hosting requirements.</a:t>
            </a:r>
            <a:endParaRPr lang="en-US" sz="1875" dirty="0"/>
          </a:p>
        </p:txBody>
      </p:sp>
      <p:sp>
        <p:nvSpPr>
          <p:cNvPr id="6" name="Shape 4"/>
          <p:cNvSpPr/>
          <p:nvPr/>
        </p:nvSpPr>
        <p:spPr>
          <a:xfrm>
            <a:off x="914400" y="2928938"/>
            <a:ext cx="8143875"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3186113"/>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TYPICAL DEPLOYMENT</a:t>
            </a:r>
            <a:endParaRPr lang="en-US" sz="1425" dirty="0"/>
          </a:p>
        </p:txBody>
      </p:sp>
      <p:sp>
        <p:nvSpPr>
          <p:cNvPr id="8" name="Text 6"/>
          <p:cNvSpPr/>
          <p:nvPr/>
        </p:nvSpPr>
        <p:spPr>
          <a:xfrm>
            <a:off x="1171575" y="3476625"/>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Cloud-hosted, accessed via API; powers chatbots, copilots, and enterprise assistants.</a:t>
            </a:r>
            <a:endParaRPr lang="en-US" sz="1425" dirty="0"/>
          </a:p>
        </p:txBody>
      </p:sp>
      <p:sp>
        <p:nvSpPr>
          <p:cNvPr id="9" name="Shape 7"/>
          <p:cNvSpPr/>
          <p:nvPr/>
        </p:nvSpPr>
        <p:spPr>
          <a:xfrm>
            <a:off x="9229725" y="2928938"/>
            <a:ext cx="8143875" cy="1076325"/>
          </a:xfrm>
          <a:prstGeom prst="roundRect">
            <a:avLst>
              <a:gd name="adj" fmla="val 14159"/>
            </a:avLst>
          </a:prstGeom>
          <a:solidFill>
            <a:srgbClr val="FFFFFF">
              <a:alpha val="2000"/>
            </a:srgbClr>
          </a:solidFill>
          <a:ln w="9525">
            <a:solidFill>
              <a:srgbClr val="2A2F3A"/>
            </a:solidFill>
            <a:prstDash val="solid"/>
          </a:ln>
        </p:spPr>
      </p:sp>
      <p:sp>
        <p:nvSpPr>
          <p:cNvPr id="10" name="Text 8"/>
          <p:cNvSpPr/>
          <p:nvPr/>
        </p:nvSpPr>
        <p:spPr>
          <a:xfrm>
            <a:off x="9486900" y="3186113"/>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SECURITY RELEVANCE</a:t>
            </a:r>
            <a:endParaRPr lang="en-US" sz="1425" dirty="0"/>
          </a:p>
        </p:txBody>
      </p:sp>
      <p:sp>
        <p:nvSpPr>
          <p:cNvPr id="11" name="Text 9"/>
          <p:cNvSpPr/>
          <p:nvPr/>
        </p:nvSpPr>
        <p:spPr>
          <a:xfrm>
            <a:off x="9486900" y="3476625"/>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Broad capability means a broad attack surface — the primary subject of Domain 2.0's controls.</a:t>
            </a:r>
            <a:endParaRPr lang="en-US" sz="14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NLP MODEL FAMILIES · 2 OF 2</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Small Language Models (SLMs)</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Lighter-weight language models, often trained or fine-tuned for a narrower task, with far lower compute and latency requirements than an LLM.</a:t>
            </a:r>
            <a:endParaRPr lang="en-US" sz="1875" dirty="0"/>
          </a:p>
        </p:txBody>
      </p:sp>
      <p:sp>
        <p:nvSpPr>
          <p:cNvPr id="6" name="Shape 4"/>
          <p:cNvSpPr/>
          <p:nvPr/>
        </p:nvSpPr>
        <p:spPr>
          <a:xfrm>
            <a:off x="914400" y="2559844"/>
            <a:ext cx="8143875" cy="1347788"/>
          </a:xfrm>
          <a:prstGeom prst="roundRect">
            <a:avLst>
              <a:gd name="adj" fmla="val 11307"/>
            </a:avLst>
          </a:prstGeom>
          <a:solidFill>
            <a:srgbClr val="FFFFFF">
              <a:alpha val="2000"/>
            </a:srgbClr>
          </a:solidFill>
          <a:ln w="9525">
            <a:solidFill>
              <a:srgbClr val="2A2F3A"/>
            </a:solidFill>
            <a:prstDash val="solid"/>
          </a:ln>
        </p:spPr>
      </p:sp>
      <p:sp>
        <p:nvSpPr>
          <p:cNvPr id="7" name="Text 5"/>
          <p:cNvSpPr/>
          <p:nvPr/>
        </p:nvSpPr>
        <p:spPr>
          <a:xfrm>
            <a:off x="1171575" y="2817019"/>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TYPICAL DEPLOYMENT</a:t>
            </a:r>
            <a:endParaRPr lang="en-US" sz="1425" dirty="0"/>
          </a:p>
        </p:txBody>
      </p:sp>
      <p:sp>
        <p:nvSpPr>
          <p:cNvPr id="8" name="Text 6"/>
          <p:cNvSpPr/>
          <p:nvPr/>
        </p:nvSpPr>
        <p:spPr>
          <a:xfrm>
            <a:off x="1171575" y="3107531"/>
            <a:ext cx="7858411" cy="581025"/>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Edge devices, mobile apps, or on-premises systems where sending data to the cloud is undesirable.</a:t>
            </a:r>
            <a:endParaRPr lang="en-US" sz="1425" dirty="0"/>
          </a:p>
        </p:txBody>
      </p:sp>
      <p:sp>
        <p:nvSpPr>
          <p:cNvPr id="9" name="Shape 7"/>
          <p:cNvSpPr/>
          <p:nvPr/>
        </p:nvSpPr>
        <p:spPr>
          <a:xfrm>
            <a:off x="9229725" y="2559844"/>
            <a:ext cx="8143875" cy="1347788"/>
          </a:xfrm>
          <a:prstGeom prst="roundRect">
            <a:avLst>
              <a:gd name="adj" fmla="val 11307"/>
            </a:avLst>
          </a:prstGeom>
          <a:solidFill>
            <a:srgbClr val="FFFFFF">
              <a:alpha val="2000"/>
            </a:srgbClr>
          </a:solidFill>
          <a:ln w="9525">
            <a:solidFill>
              <a:srgbClr val="2A2F3A"/>
            </a:solidFill>
            <a:prstDash val="solid"/>
          </a:ln>
        </p:spPr>
      </p:sp>
      <p:sp>
        <p:nvSpPr>
          <p:cNvPr id="10" name="Text 8"/>
          <p:cNvSpPr/>
          <p:nvPr/>
        </p:nvSpPr>
        <p:spPr>
          <a:xfrm>
            <a:off x="9486900" y="2817019"/>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SECURITY RELEVANCE</a:t>
            </a:r>
            <a:endParaRPr lang="en-US" sz="1425" dirty="0"/>
          </a:p>
        </p:txBody>
      </p:sp>
      <p:sp>
        <p:nvSpPr>
          <p:cNvPr id="11" name="Text 9"/>
          <p:cNvSpPr/>
          <p:nvPr/>
        </p:nvSpPr>
        <p:spPr>
          <a:xfrm>
            <a:off x="9486900" y="3107531"/>
            <a:ext cx="7858411" cy="581025"/>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Smaller data-exposure footprint, but often less rigorously guardrailed than a major vendor's LLM.</a:t>
            </a:r>
            <a:endParaRPr lang="en-US" sz="14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COMPARISON</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LLM vs SLM at a Glance</a:t>
            </a:r>
            <a:endParaRPr lang="en-US" sz="4200" dirty="0"/>
          </a:p>
        </p:txBody>
      </p:sp>
      <p:sp>
        <p:nvSpPr>
          <p:cNvPr id="5" name="Shape 3"/>
          <p:cNvSpPr/>
          <p:nvPr/>
        </p:nvSpPr>
        <p:spPr>
          <a:xfrm>
            <a:off x="914400" y="2000250"/>
            <a:ext cx="3582293" cy="547688"/>
          </a:xfrm>
          <a:prstGeom prst="rect">
            <a:avLst/>
          </a:prstGeom>
          <a:solidFill>
            <a:srgbClr val="FF6A00">
              <a:alpha val="18000"/>
            </a:srgbClr>
          </a:solidFill>
          <a:ln/>
        </p:spPr>
      </p:sp>
      <p:sp>
        <p:nvSpPr>
          <p:cNvPr id="6" name="Shape 4"/>
          <p:cNvSpPr/>
          <p:nvPr/>
        </p:nvSpPr>
        <p:spPr>
          <a:xfrm>
            <a:off x="914400" y="2538413"/>
            <a:ext cx="3582293" cy="9525"/>
          </a:xfrm>
          <a:prstGeom prst="rect">
            <a:avLst/>
          </a:prstGeom>
          <a:solidFill>
            <a:srgbClr val="B85100"/>
          </a:solidFill>
          <a:ln/>
        </p:spPr>
      </p:sp>
      <p:sp>
        <p:nvSpPr>
          <p:cNvPr id="7" name="Text 5"/>
          <p:cNvSpPr/>
          <p:nvPr/>
        </p:nvSpPr>
        <p:spPr>
          <a:xfrm>
            <a:off x="1066800" y="2114550"/>
            <a:ext cx="3384962" cy="347663"/>
          </a:xfrm>
          <a:prstGeom prst="rect">
            <a:avLst/>
          </a:prstGeom>
          <a:noFill/>
          <a:ln/>
        </p:spPr>
        <p:txBody>
          <a:bodyPr wrap="square" lIns="25400" tIns="25400" rIns="25400" bIns="25400" rtlCol="0" anchor="ctr">
            <a:normAutofit/>
          </a:bodyPr>
          <a:lstStyle/>
          <a:p>
            <a:pPr algn="l" indent="0" marL="0">
              <a:buNone/>
            </a:pPr>
            <a:r>
              <a:rPr lang="en-US" sz="2100" b="1" dirty="0">
                <a:solidFill>
                  <a:srgbClr val="FFFFFF"/>
                </a:solidFill>
                <a:latin typeface="Arial" pitchFamily="34" charset="0"/>
                <a:ea typeface="Arial" pitchFamily="34" charset="-122"/>
                <a:cs typeface="Arial" pitchFamily="34" charset="-120"/>
              </a:rPr>
              <a:t>Property</a:t>
            </a:r>
            <a:endParaRPr lang="en-US" sz="2100" dirty="0"/>
          </a:p>
        </p:txBody>
      </p:sp>
      <p:sp>
        <p:nvSpPr>
          <p:cNvPr id="8" name="Shape 6"/>
          <p:cNvSpPr/>
          <p:nvPr/>
        </p:nvSpPr>
        <p:spPr>
          <a:xfrm>
            <a:off x="4496693" y="2000250"/>
            <a:ext cx="5952753" cy="547688"/>
          </a:xfrm>
          <a:prstGeom prst="rect">
            <a:avLst/>
          </a:prstGeom>
          <a:solidFill>
            <a:srgbClr val="FF6A00">
              <a:alpha val="18000"/>
            </a:srgbClr>
          </a:solidFill>
          <a:ln/>
        </p:spPr>
      </p:sp>
      <p:sp>
        <p:nvSpPr>
          <p:cNvPr id="9" name="Shape 7"/>
          <p:cNvSpPr/>
          <p:nvPr/>
        </p:nvSpPr>
        <p:spPr>
          <a:xfrm>
            <a:off x="4496693" y="2538413"/>
            <a:ext cx="5952753" cy="9525"/>
          </a:xfrm>
          <a:prstGeom prst="rect">
            <a:avLst/>
          </a:prstGeom>
          <a:solidFill>
            <a:srgbClr val="B85100"/>
          </a:solidFill>
          <a:ln/>
        </p:spPr>
      </p:sp>
      <p:sp>
        <p:nvSpPr>
          <p:cNvPr id="10" name="Text 8"/>
          <p:cNvSpPr/>
          <p:nvPr/>
        </p:nvSpPr>
        <p:spPr>
          <a:xfrm>
            <a:off x="4649093" y="2114550"/>
            <a:ext cx="5826536" cy="347663"/>
          </a:xfrm>
          <a:prstGeom prst="rect">
            <a:avLst/>
          </a:prstGeom>
          <a:noFill/>
          <a:ln/>
        </p:spPr>
        <p:txBody>
          <a:bodyPr wrap="square" lIns="25400" tIns="25400" rIns="25400" bIns="25400" rtlCol="0" anchor="ctr">
            <a:normAutofit/>
          </a:bodyPr>
          <a:lstStyle/>
          <a:p>
            <a:pPr algn="l" indent="0" marL="0">
              <a:buNone/>
            </a:pPr>
            <a:r>
              <a:rPr lang="en-US" sz="2100" b="1" dirty="0">
                <a:solidFill>
                  <a:srgbClr val="FFFFFF"/>
                </a:solidFill>
                <a:latin typeface="Arial" pitchFamily="34" charset="0"/>
                <a:ea typeface="Arial" pitchFamily="34" charset="-122"/>
                <a:cs typeface="Arial" pitchFamily="34" charset="-120"/>
              </a:rPr>
              <a:t>LLM</a:t>
            </a:r>
            <a:endParaRPr lang="en-US" sz="2100" dirty="0"/>
          </a:p>
        </p:txBody>
      </p:sp>
      <p:sp>
        <p:nvSpPr>
          <p:cNvPr id="11" name="Shape 9"/>
          <p:cNvSpPr/>
          <p:nvPr/>
        </p:nvSpPr>
        <p:spPr>
          <a:xfrm>
            <a:off x="10449446" y="2000250"/>
            <a:ext cx="6924154" cy="547688"/>
          </a:xfrm>
          <a:prstGeom prst="rect">
            <a:avLst/>
          </a:prstGeom>
          <a:solidFill>
            <a:srgbClr val="FF6A00">
              <a:alpha val="18000"/>
            </a:srgbClr>
          </a:solidFill>
          <a:ln/>
        </p:spPr>
      </p:sp>
      <p:sp>
        <p:nvSpPr>
          <p:cNvPr id="12" name="Shape 10"/>
          <p:cNvSpPr/>
          <p:nvPr/>
        </p:nvSpPr>
        <p:spPr>
          <a:xfrm>
            <a:off x="10449446" y="2538413"/>
            <a:ext cx="6924154" cy="9525"/>
          </a:xfrm>
          <a:prstGeom prst="rect">
            <a:avLst/>
          </a:prstGeom>
          <a:solidFill>
            <a:srgbClr val="B85100"/>
          </a:solidFill>
          <a:ln/>
        </p:spPr>
      </p:sp>
      <p:sp>
        <p:nvSpPr>
          <p:cNvPr id="13" name="Text 11"/>
          <p:cNvSpPr/>
          <p:nvPr/>
        </p:nvSpPr>
        <p:spPr>
          <a:xfrm>
            <a:off x="10601846" y="2114550"/>
            <a:ext cx="6827079" cy="347663"/>
          </a:xfrm>
          <a:prstGeom prst="rect">
            <a:avLst/>
          </a:prstGeom>
          <a:noFill/>
          <a:ln/>
        </p:spPr>
        <p:txBody>
          <a:bodyPr wrap="square" lIns="25400" tIns="25400" rIns="25400" bIns="25400" rtlCol="0" anchor="ctr">
            <a:normAutofit/>
          </a:bodyPr>
          <a:lstStyle/>
          <a:p>
            <a:pPr algn="l" indent="0" marL="0">
              <a:buNone/>
            </a:pPr>
            <a:r>
              <a:rPr lang="en-US" sz="2100" b="1" dirty="0">
                <a:solidFill>
                  <a:srgbClr val="FFFFFF"/>
                </a:solidFill>
                <a:latin typeface="Arial" pitchFamily="34" charset="0"/>
                <a:ea typeface="Arial" pitchFamily="34" charset="-122"/>
                <a:cs typeface="Arial" pitchFamily="34" charset="-120"/>
              </a:rPr>
              <a:t>SLM</a:t>
            </a:r>
            <a:endParaRPr lang="en-US" sz="2100" dirty="0"/>
          </a:p>
        </p:txBody>
      </p:sp>
      <p:sp>
        <p:nvSpPr>
          <p:cNvPr id="14" name="Shape 12"/>
          <p:cNvSpPr/>
          <p:nvPr/>
        </p:nvSpPr>
        <p:spPr>
          <a:xfrm>
            <a:off x="914400" y="3043238"/>
            <a:ext cx="3582293" cy="9525"/>
          </a:xfrm>
          <a:prstGeom prst="rect">
            <a:avLst/>
          </a:prstGeom>
          <a:solidFill>
            <a:srgbClr val="2A2F3A"/>
          </a:solidFill>
          <a:ln/>
        </p:spPr>
      </p:sp>
      <p:sp>
        <p:nvSpPr>
          <p:cNvPr id="15" name="Text 13"/>
          <p:cNvSpPr/>
          <p:nvPr/>
        </p:nvSpPr>
        <p:spPr>
          <a:xfrm>
            <a:off x="1066800" y="2662238"/>
            <a:ext cx="3384962"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Scale</a:t>
            </a:r>
            <a:endParaRPr lang="en-US" sz="1800" dirty="0"/>
          </a:p>
        </p:txBody>
      </p:sp>
      <p:sp>
        <p:nvSpPr>
          <p:cNvPr id="16" name="Shape 14"/>
          <p:cNvSpPr/>
          <p:nvPr/>
        </p:nvSpPr>
        <p:spPr>
          <a:xfrm>
            <a:off x="4496693" y="3043238"/>
            <a:ext cx="5952753" cy="9525"/>
          </a:xfrm>
          <a:prstGeom prst="rect">
            <a:avLst/>
          </a:prstGeom>
          <a:solidFill>
            <a:srgbClr val="2A2F3A"/>
          </a:solidFill>
          <a:ln/>
        </p:spPr>
      </p:sp>
      <p:sp>
        <p:nvSpPr>
          <p:cNvPr id="17" name="Text 15"/>
          <p:cNvSpPr/>
          <p:nvPr/>
        </p:nvSpPr>
        <p:spPr>
          <a:xfrm>
            <a:off x="4649093" y="2662238"/>
            <a:ext cx="582653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Very large parameter count</a:t>
            </a:r>
            <a:endParaRPr lang="en-US" sz="1800" dirty="0"/>
          </a:p>
        </p:txBody>
      </p:sp>
      <p:sp>
        <p:nvSpPr>
          <p:cNvPr id="18" name="Shape 16"/>
          <p:cNvSpPr/>
          <p:nvPr/>
        </p:nvSpPr>
        <p:spPr>
          <a:xfrm>
            <a:off x="10449446" y="3043238"/>
            <a:ext cx="6924154" cy="9525"/>
          </a:xfrm>
          <a:prstGeom prst="rect">
            <a:avLst/>
          </a:prstGeom>
          <a:solidFill>
            <a:srgbClr val="2A2F3A"/>
          </a:solidFill>
          <a:ln/>
        </p:spPr>
      </p:sp>
      <p:sp>
        <p:nvSpPr>
          <p:cNvPr id="19" name="Text 17"/>
          <p:cNvSpPr/>
          <p:nvPr/>
        </p:nvSpPr>
        <p:spPr>
          <a:xfrm>
            <a:off x="10601846" y="2662238"/>
            <a:ext cx="682707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Much smaller parameter count</a:t>
            </a:r>
            <a:endParaRPr lang="en-US" sz="1800" dirty="0"/>
          </a:p>
        </p:txBody>
      </p:sp>
      <p:sp>
        <p:nvSpPr>
          <p:cNvPr id="20" name="Shape 18"/>
          <p:cNvSpPr/>
          <p:nvPr/>
        </p:nvSpPr>
        <p:spPr>
          <a:xfrm>
            <a:off x="914400" y="3052763"/>
            <a:ext cx="3582293" cy="504825"/>
          </a:xfrm>
          <a:prstGeom prst="rect">
            <a:avLst/>
          </a:prstGeom>
          <a:solidFill>
            <a:srgbClr val="FFFFFF">
              <a:alpha val="2000"/>
            </a:srgbClr>
          </a:solidFill>
          <a:ln/>
        </p:spPr>
      </p:sp>
      <p:sp>
        <p:nvSpPr>
          <p:cNvPr id="21" name="Shape 19"/>
          <p:cNvSpPr/>
          <p:nvPr/>
        </p:nvSpPr>
        <p:spPr>
          <a:xfrm>
            <a:off x="914400" y="3548063"/>
            <a:ext cx="3582293" cy="9525"/>
          </a:xfrm>
          <a:prstGeom prst="rect">
            <a:avLst/>
          </a:prstGeom>
          <a:solidFill>
            <a:srgbClr val="2A2F3A"/>
          </a:solidFill>
          <a:ln/>
        </p:spPr>
      </p:sp>
      <p:sp>
        <p:nvSpPr>
          <p:cNvPr id="22" name="Text 20"/>
          <p:cNvSpPr/>
          <p:nvPr/>
        </p:nvSpPr>
        <p:spPr>
          <a:xfrm>
            <a:off x="1066800" y="3167063"/>
            <a:ext cx="3384962"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Compute cost</a:t>
            </a:r>
            <a:endParaRPr lang="en-US" sz="1800" dirty="0"/>
          </a:p>
        </p:txBody>
      </p:sp>
      <p:sp>
        <p:nvSpPr>
          <p:cNvPr id="23" name="Shape 21"/>
          <p:cNvSpPr/>
          <p:nvPr/>
        </p:nvSpPr>
        <p:spPr>
          <a:xfrm>
            <a:off x="4496693" y="3052763"/>
            <a:ext cx="5952753" cy="504825"/>
          </a:xfrm>
          <a:prstGeom prst="rect">
            <a:avLst/>
          </a:prstGeom>
          <a:solidFill>
            <a:srgbClr val="FFFFFF">
              <a:alpha val="2000"/>
            </a:srgbClr>
          </a:solidFill>
          <a:ln/>
        </p:spPr>
      </p:sp>
      <p:sp>
        <p:nvSpPr>
          <p:cNvPr id="24" name="Shape 22"/>
          <p:cNvSpPr/>
          <p:nvPr/>
        </p:nvSpPr>
        <p:spPr>
          <a:xfrm>
            <a:off x="4496693" y="3548063"/>
            <a:ext cx="5952753" cy="9525"/>
          </a:xfrm>
          <a:prstGeom prst="rect">
            <a:avLst/>
          </a:prstGeom>
          <a:solidFill>
            <a:srgbClr val="2A2F3A"/>
          </a:solidFill>
          <a:ln/>
        </p:spPr>
      </p:sp>
      <p:sp>
        <p:nvSpPr>
          <p:cNvPr id="25" name="Text 23"/>
          <p:cNvSpPr/>
          <p:nvPr/>
        </p:nvSpPr>
        <p:spPr>
          <a:xfrm>
            <a:off x="4649093" y="3167063"/>
            <a:ext cx="582653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High</a:t>
            </a:r>
            <a:endParaRPr lang="en-US" sz="1800" dirty="0"/>
          </a:p>
        </p:txBody>
      </p:sp>
      <p:sp>
        <p:nvSpPr>
          <p:cNvPr id="26" name="Shape 24"/>
          <p:cNvSpPr/>
          <p:nvPr/>
        </p:nvSpPr>
        <p:spPr>
          <a:xfrm>
            <a:off x="10449446" y="3052763"/>
            <a:ext cx="6924154" cy="504825"/>
          </a:xfrm>
          <a:prstGeom prst="rect">
            <a:avLst/>
          </a:prstGeom>
          <a:solidFill>
            <a:srgbClr val="FFFFFF">
              <a:alpha val="2000"/>
            </a:srgbClr>
          </a:solidFill>
          <a:ln/>
        </p:spPr>
      </p:sp>
      <p:sp>
        <p:nvSpPr>
          <p:cNvPr id="27" name="Shape 25"/>
          <p:cNvSpPr/>
          <p:nvPr/>
        </p:nvSpPr>
        <p:spPr>
          <a:xfrm>
            <a:off x="10449446" y="3548063"/>
            <a:ext cx="6924154" cy="9525"/>
          </a:xfrm>
          <a:prstGeom prst="rect">
            <a:avLst/>
          </a:prstGeom>
          <a:solidFill>
            <a:srgbClr val="2A2F3A"/>
          </a:solidFill>
          <a:ln/>
        </p:spPr>
      </p:sp>
      <p:sp>
        <p:nvSpPr>
          <p:cNvPr id="28" name="Text 26"/>
          <p:cNvSpPr/>
          <p:nvPr/>
        </p:nvSpPr>
        <p:spPr>
          <a:xfrm>
            <a:off x="10601846" y="3167063"/>
            <a:ext cx="682707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Low</a:t>
            </a:r>
            <a:endParaRPr lang="en-US" sz="1800" dirty="0"/>
          </a:p>
        </p:txBody>
      </p:sp>
      <p:sp>
        <p:nvSpPr>
          <p:cNvPr id="29" name="Shape 27"/>
          <p:cNvSpPr/>
          <p:nvPr/>
        </p:nvSpPr>
        <p:spPr>
          <a:xfrm>
            <a:off x="914400" y="4052888"/>
            <a:ext cx="3582293" cy="9525"/>
          </a:xfrm>
          <a:prstGeom prst="rect">
            <a:avLst/>
          </a:prstGeom>
          <a:solidFill>
            <a:srgbClr val="2A2F3A"/>
          </a:solidFill>
          <a:ln/>
        </p:spPr>
      </p:sp>
      <p:sp>
        <p:nvSpPr>
          <p:cNvPr id="30" name="Text 28"/>
          <p:cNvSpPr/>
          <p:nvPr/>
        </p:nvSpPr>
        <p:spPr>
          <a:xfrm>
            <a:off x="1066800" y="3671888"/>
            <a:ext cx="3384962"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Capability</a:t>
            </a:r>
            <a:endParaRPr lang="en-US" sz="1800" dirty="0"/>
          </a:p>
        </p:txBody>
      </p:sp>
      <p:sp>
        <p:nvSpPr>
          <p:cNvPr id="31" name="Shape 29"/>
          <p:cNvSpPr/>
          <p:nvPr/>
        </p:nvSpPr>
        <p:spPr>
          <a:xfrm>
            <a:off x="4496693" y="4052888"/>
            <a:ext cx="5952753" cy="9525"/>
          </a:xfrm>
          <a:prstGeom prst="rect">
            <a:avLst/>
          </a:prstGeom>
          <a:solidFill>
            <a:srgbClr val="2A2F3A"/>
          </a:solidFill>
          <a:ln/>
        </p:spPr>
      </p:sp>
      <p:sp>
        <p:nvSpPr>
          <p:cNvPr id="32" name="Text 30"/>
          <p:cNvSpPr/>
          <p:nvPr/>
        </p:nvSpPr>
        <p:spPr>
          <a:xfrm>
            <a:off x="4649093" y="3671888"/>
            <a:ext cx="582653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Broad, general-purpose</a:t>
            </a:r>
            <a:endParaRPr lang="en-US" sz="1800" dirty="0"/>
          </a:p>
        </p:txBody>
      </p:sp>
      <p:sp>
        <p:nvSpPr>
          <p:cNvPr id="33" name="Shape 31"/>
          <p:cNvSpPr/>
          <p:nvPr/>
        </p:nvSpPr>
        <p:spPr>
          <a:xfrm>
            <a:off x="10449446" y="4052888"/>
            <a:ext cx="6924154" cy="9525"/>
          </a:xfrm>
          <a:prstGeom prst="rect">
            <a:avLst/>
          </a:prstGeom>
          <a:solidFill>
            <a:srgbClr val="2A2F3A"/>
          </a:solidFill>
          <a:ln/>
        </p:spPr>
      </p:sp>
      <p:sp>
        <p:nvSpPr>
          <p:cNvPr id="34" name="Text 32"/>
          <p:cNvSpPr/>
          <p:nvPr/>
        </p:nvSpPr>
        <p:spPr>
          <a:xfrm>
            <a:off x="10601846" y="3671888"/>
            <a:ext cx="682707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Narrow, task-specific</a:t>
            </a:r>
            <a:endParaRPr lang="en-US" sz="1800" dirty="0"/>
          </a:p>
        </p:txBody>
      </p:sp>
      <p:sp>
        <p:nvSpPr>
          <p:cNvPr id="35" name="Shape 33"/>
          <p:cNvSpPr/>
          <p:nvPr/>
        </p:nvSpPr>
        <p:spPr>
          <a:xfrm>
            <a:off x="914400" y="4062412"/>
            <a:ext cx="3582293" cy="504825"/>
          </a:xfrm>
          <a:prstGeom prst="rect">
            <a:avLst/>
          </a:prstGeom>
          <a:solidFill>
            <a:srgbClr val="FFFFFF">
              <a:alpha val="2000"/>
            </a:srgbClr>
          </a:solidFill>
          <a:ln/>
        </p:spPr>
      </p:sp>
      <p:sp>
        <p:nvSpPr>
          <p:cNvPr id="36" name="Shape 34"/>
          <p:cNvSpPr/>
          <p:nvPr/>
        </p:nvSpPr>
        <p:spPr>
          <a:xfrm>
            <a:off x="914400" y="4557713"/>
            <a:ext cx="3582293" cy="9525"/>
          </a:xfrm>
          <a:prstGeom prst="rect">
            <a:avLst/>
          </a:prstGeom>
          <a:solidFill>
            <a:srgbClr val="2A2F3A"/>
          </a:solidFill>
          <a:ln/>
        </p:spPr>
      </p:sp>
      <p:sp>
        <p:nvSpPr>
          <p:cNvPr id="37" name="Text 35"/>
          <p:cNvSpPr/>
          <p:nvPr/>
        </p:nvSpPr>
        <p:spPr>
          <a:xfrm>
            <a:off x="1066800" y="4176712"/>
            <a:ext cx="3384962"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Typical hosting</a:t>
            </a:r>
            <a:endParaRPr lang="en-US" sz="1800" dirty="0"/>
          </a:p>
        </p:txBody>
      </p:sp>
      <p:sp>
        <p:nvSpPr>
          <p:cNvPr id="38" name="Shape 36"/>
          <p:cNvSpPr/>
          <p:nvPr/>
        </p:nvSpPr>
        <p:spPr>
          <a:xfrm>
            <a:off x="4496693" y="4062412"/>
            <a:ext cx="5952753" cy="504825"/>
          </a:xfrm>
          <a:prstGeom prst="rect">
            <a:avLst/>
          </a:prstGeom>
          <a:solidFill>
            <a:srgbClr val="FFFFFF">
              <a:alpha val="2000"/>
            </a:srgbClr>
          </a:solidFill>
          <a:ln/>
        </p:spPr>
      </p:sp>
      <p:sp>
        <p:nvSpPr>
          <p:cNvPr id="39" name="Shape 37"/>
          <p:cNvSpPr/>
          <p:nvPr/>
        </p:nvSpPr>
        <p:spPr>
          <a:xfrm>
            <a:off x="4496693" y="4557713"/>
            <a:ext cx="5952753" cy="9525"/>
          </a:xfrm>
          <a:prstGeom prst="rect">
            <a:avLst/>
          </a:prstGeom>
          <a:solidFill>
            <a:srgbClr val="2A2F3A"/>
          </a:solidFill>
          <a:ln/>
        </p:spPr>
      </p:sp>
      <p:sp>
        <p:nvSpPr>
          <p:cNvPr id="40" name="Text 38"/>
          <p:cNvSpPr/>
          <p:nvPr/>
        </p:nvSpPr>
        <p:spPr>
          <a:xfrm>
            <a:off x="4649093" y="4176712"/>
            <a:ext cx="582653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Cloud API</a:t>
            </a:r>
            <a:endParaRPr lang="en-US" sz="1800" dirty="0"/>
          </a:p>
        </p:txBody>
      </p:sp>
      <p:sp>
        <p:nvSpPr>
          <p:cNvPr id="41" name="Shape 39"/>
          <p:cNvSpPr/>
          <p:nvPr/>
        </p:nvSpPr>
        <p:spPr>
          <a:xfrm>
            <a:off x="10449446" y="4062412"/>
            <a:ext cx="6924154" cy="504825"/>
          </a:xfrm>
          <a:prstGeom prst="rect">
            <a:avLst/>
          </a:prstGeom>
          <a:solidFill>
            <a:srgbClr val="FFFFFF">
              <a:alpha val="2000"/>
            </a:srgbClr>
          </a:solidFill>
          <a:ln/>
        </p:spPr>
      </p:sp>
      <p:sp>
        <p:nvSpPr>
          <p:cNvPr id="42" name="Shape 40"/>
          <p:cNvSpPr/>
          <p:nvPr/>
        </p:nvSpPr>
        <p:spPr>
          <a:xfrm>
            <a:off x="10449446" y="4557713"/>
            <a:ext cx="6924154" cy="9525"/>
          </a:xfrm>
          <a:prstGeom prst="rect">
            <a:avLst/>
          </a:prstGeom>
          <a:solidFill>
            <a:srgbClr val="2A2F3A"/>
          </a:solidFill>
          <a:ln/>
        </p:spPr>
      </p:sp>
      <p:sp>
        <p:nvSpPr>
          <p:cNvPr id="43" name="Text 41"/>
          <p:cNvSpPr/>
          <p:nvPr/>
        </p:nvSpPr>
        <p:spPr>
          <a:xfrm>
            <a:off x="10601846" y="4176712"/>
            <a:ext cx="682707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Edge or on-premises</a:t>
            </a:r>
            <a:endParaRPr lang="en-US" sz="1800" dirty="0"/>
          </a:p>
        </p:txBody>
      </p:sp>
      <p:sp>
        <p:nvSpPr>
          <p:cNvPr id="44" name="Shape 42"/>
          <p:cNvSpPr/>
          <p:nvPr/>
        </p:nvSpPr>
        <p:spPr>
          <a:xfrm>
            <a:off x="914400" y="5062538"/>
            <a:ext cx="3582293" cy="9525"/>
          </a:xfrm>
          <a:prstGeom prst="rect">
            <a:avLst/>
          </a:prstGeom>
          <a:solidFill>
            <a:srgbClr val="2A2F3A"/>
          </a:solidFill>
          <a:ln/>
        </p:spPr>
      </p:sp>
      <p:sp>
        <p:nvSpPr>
          <p:cNvPr id="45" name="Text 43"/>
          <p:cNvSpPr/>
          <p:nvPr/>
        </p:nvSpPr>
        <p:spPr>
          <a:xfrm>
            <a:off x="1066800" y="4681538"/>
            <a:ext cx="3384962"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Attack surface</a:t>
            </a:r>
            <a:endParaRPr lang="en-US" sz="1800" dirty="0"/>
          </a:p>
        </p:txBody>
      </p:sp>
      <p:sp>
        <p:nvSpPr>
          <p:cNvPr id="46" name="Shape 44"/>
          <p:cNvSpPr/>
          <p:nvPr/>
        </p:nvSpPr>
        <p:spPr>
          <a:xfrm>
            <a:off x="4496693" y="5062538"/>
            <a:ext cx="5952753" cy="9525"/>
          </a:xfrm>
          <a:prstGeom prst="rect">
            <a:avLst/>
          </a:prstGeom>
          <a:solidFill>
            <a:srgbClr val="2A2F3A"/>
          </a:solidFill>
          <a:ln/>
        </p:spPr>
      </p:sp>
      <p:sp>
        <p:nvSpPr>
          <p:cNvPr id="47" name="Text 45"/>
          <p:cNvSpPr/>
          <p:nvPr/>
        </p:nvSpPr>
        <p:spPr>
          <a:xfrm>
            <a:off x="4649093" y="4681538"/>
            <a:ext cx="582653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Larger, more exposed</a:t>
            </a:r>
            <a:endParaRPr lang="en-US" sz="1800" dirty="0"/>
          </a:p>
        </p:txBody>
      </p:sp>
      <p:sp>
        <p:nvSpPr>
          <p:cNvPr id="48" name="Shape 46"/>
          <p:cNvSpPr/>
          <p:nvPr/>
        </p:nvSpPr>
        <p:spPr>
          <a:xfrm>
            <a:off x="10449446" y="5062538"/>
            <a:ext cx="6924154" cy="9525"/>
          </a:xfrm>
          <a:prstGeom prst="rect">
            <a:avLst/>
          </a:prstGeom>
          <a:solidFill>
            <a:srgbClr val="2A2F3A"/>
          </a:solidFill>
          <a:ln/>
        </p:spPr>
      </p:sp>
      <p:sp>
        <p:nvSpPr>
          <p:cNvPr id="49" name="Text 47"/>
          <p:cNvSpPr/>
          <p:nvPr/>
        </p:nvSpPr>
        <p:spPr>
          <a:xfrm>
            <a:off x="10601846" y="4681538"/>
            <a:ext cx="682707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Smaller, but often less hardened</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MODEL TRAINING TECHNIQUES</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Model Validation</a:t>
            </a:r>
            <a:endParaRPr lang="en-US" sz="4200" dirty="0"/>
          </a:p>
        </p:txBody>
      </p:sp>
      <p:sp>
        <p:nvSpPr>
          <p:cNvPr id="5" name="Shape 3"/>
          <p:cNvSpPr/>
          <p:nvPr/>
        </p:nvSpPr>
        <p:spPr>
          <a:xfrm>
            <a:off x="914400" y="1943100"/>
            <a:ext cx="38100" cy="552450"/>
          </a:xfrm>
          <a:prstGeom prst="rect">
            <a:avLst/>
          </a:prstGeom>
          <a:solidFill>
            <a:srgbClr val="FF6A00"/>
          </a:solidFill>
          <a:ln/>
        </p:spPr>
      </p:sp>
      <p:sp>
        <p:nvSpPr>
          <p:cNvPr id="6" name="Text 4"/>
          <p:cNvSpPr/>
          <p:nvPr/>
        </p:nvSpPr>
        <p:spPr>
          <a:xfrm>
            <a:off x="1238250" y="2019300"/>
            <a:ext cx="16629126" cy="438150"/>
          </a:xfrm>
          <a:prstGeom prst="rect">
            <a:avLst/>
          </a:prstGeom>
          <a:noFill/>
          <a:ln/>
        </p:spPr>
        <p:txBody>
          <a:bodyPr wrap="square" lIns="25400" tIns="25400" rIns="25400" bIns="25400" rtlCol="0" anchor="t">
            <a:normAutofit/>
          </a:bodyPr>
          <a:lstStyle/>
          <a:p>
            <a:pPr algn="l" indent="0" marL="0">
              <a:lnSpc>
                <a:spcPct val="129231"/>
              </a:lnSpc>
              <a:buNone/>
            </a:pPr>
            <a:r>
              <a:rPr lang="en-US" sz="2100" dirty="0">
                <a:solidFill>
                  <a:srgbClr val="F5F7FB"/>
                </a:solidFill>
                <a:latin typeface="Arial" pitchFamily="34" charset="0"/>
                <a:ea typeface="Arial" pitchFamily="34" charset="-122"/>
                <a:cs typeface="Arial" pitchFamily="34" charset="-120"/>
              </a:rPr>
              <a:t>Checking a trained model's performance against data it did not train on (a holdout or test set), to confirm it generalises rather than memorises.</a:t>
            </a:r>
            <a:endParaRPr lang="en-US" sz="2100" dirty="0"/>
          </a:p>
        </p:txBody>
      </p:sp>
      <p:sp>
        <p:nvSpPr>
          <p:cNvPr id="7" name="Shape 5"/>
          <p:cNvSpPr/>
          <p:nvPr/>
        </p:nvSpPr>
        <p:spPr>
          <a:xfrm>
            <a:off x="914400" y="2705100"/>
            <a:ext cx="8143875" cy="1347788"/>
          </a:xfrm>
          <a:prstGeom prst="roundRect">
            <a:avLst>
              <a:gd name="adj" fmla="val 11307"/>
            </a:avLst>
          </a:prstGeom>
          <a:solidFill>
            <a:srgbClr val="FFFFFF">
              <a:alpha val="2000"/>
            </a:srgbClr>
          </a:solidFill>
          <a:ln w="9525">
            <a:solidFill>
              <a:srgbClr val="2A2F3A"/>
            </a:solidFill>
            <a:prstDash val="solid"/>
          </a:ln>
        </p:spPr>
      </p:sp>
      <p:sp>
        <p:nvSpPr>
          <p:cNvPr id="8" name="Text 6"/>
          <p:cNvSpPr/>
          <p:nvPr/>
        </p:nvSpPr>
        <p:spPr>
          <a:xfrm>
            <a:off x="1171575" y="2962275"/>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OVERFITTING RISK</a:t>
            </a:r>
            <a:endParaRPr lang="en-US" sz="1425" dirty="0"/>
          </a:p>
        </p:txBody>
      </p:sp>
      <p:sp>
        <p:nvSpPr>
          <p:cNvPr id="9" name="Text 7"/>
          <p:cNvSpPr/>
          <p:nvPr/>
        </p:nvSpPr>
        <p:spPr>
          <a:xfrm>
            <a:off x="1171575" y="3252788"/>
            <a:ext cx="7858411" cy="581025"/>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A model memorises training data instead of learning general patterns, and performs poorly on new input.</a:t>
            </a:r>
            <a:endParaRPr lang="en-US" sz="1425" dirty="0"/>
          </a:p>
        </p:txBody>
      </p:sp>
      <p:sp>
        <p:nvSpPr>
          <p:cNvPr id="10" name="Shape 8"/>
          <p:cNvSpPr/>
          <p:nvPr/>
        </p:nvSpPr>
        <p:spPr>
          <a:xfrm>
            <a:off x="9229725" y="2705100"/>
            <a:ext cx="8143875" cy="1347788"/>
          </a:xfrm>
          <a:prstGeom prst="roundRect">
            <a:avLst>
              <a:gd name="adj" fmla="val 11307"/>
            </a:avLst>
          </a:prstGeom>
          <a:solidFill>
            <a:srgbClr val="FFFFFF">
              <a:alpha val="2000"/>
            </a:srgbClr>
          </a:solidFill>
          <a:ln w="9525">
            <a:solidFill>
              <a:srgbClr val="2A2F3A"/>
            </a:solidFill>
            <a:prstDash val="solid"/>
          </a:ln>
        </p:spPr>
      </p:sp>
      <p:sp>
        <p:nvSpPr>
          <p:cNvPr id="11" name="Text 9"/>
          <p:cNvSpPr/>
          <p:nvPr/>
        </p:nvSpPr>
        <p:spPr>
          <a:xfrm>
            <a:off x="9486900" y="2962275"/>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WHY IT MATTERS</a:t>
            </a:r>
            <a:endParaRPr lang="en-US" sz="1425" dirty="0"/>
          </a:p>
        </p:txBody>
      </p:sp>
      <p:sp>
        <p:nvSpPr>
          <p:cNvPr id="12" name="Text 10"/>
          <p:cNvSpPr/>
          <p:nvPr/>
        </p:nvSpPr>
        <p:spPr>
          <a:xfrm>
            <a:off x="9486900" y="3252788"/>
            <a:ext cx="7858411" cy="581025"/>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Unvalidated models are more likely to leak memorised training data or fail unpredictably on real-world input.</a:t>
            </a:r>
            <a:endParaRPr lang="en-US" sz="14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LEARNING PARADIGMS · 1 OF 4</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Supervised Learning</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The model is trained on labelled input/output pairs — each example comes with the "correct answer" attached — so it learns to map new inputs to the right output.</a:t>
            </a:r>
            <a:endParaRPr lang="en-US" sz="1875" dirty="0"/>
          </a:p>
        </p:txBody>
      </p:sp>
      <p:sp>
        <p:nvSpPr>
          <p:cNvPr id="6" name="Shape 4"/>
          <p:cNvSpPr/>
          <p:nvPr/>
        </p:nvSpPr>
        <p:spPr>
          <a:xfrm>
            <a:off x="914400" y="2559844"/>
            <a:ext cx="8143875"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2817019"/>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CYBERSECURITY EXAMPLE</a:t>
            </a:r>
            <a:endParaRPr lang="en-US" sz="1425" dirty="0"/>
          </a:p>
        </p:txBody>
      </p:sp>
      <p:sp>
        <p:nvSpPr>
          <p:cNvPr id="8" name="Text 6"/>
          <p:cNvSpPr/>
          <p:nvPr/>
        </p:nvSpPr>
        <p:spPr>
          <a:xfrm>
            <a:off x="1171575" y="3107531"/>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Malware classification trained on samples already labelled malicious or benign.</a:t>
            </a:r>
            <a:endParaRPr lang="en-US" sz="1425" dirty="0"/>
          </a:p>
        </p:txBody>
      </p:sp>
      <p:sp>
        <p:nvSpPr>
          <p:cNvPr id="9" name="Shape 7"/>
          <p:cNvSpPr/>
          <p:nvPr/>
        </p:nvSpPr>
        <p:spPr>
          <a:xfrm>
            <a:off x="9229725" y="2559844"/>
            <a:ext cx="8143875" cy="1076325"/>
          </a:xfrm>
          <a:prstGeom prst="roundRect">
            <a:avLst>
              <a:gd name="adj" fmla="val 14159"/>
            </a:avLst>
          </a:prstGeom>
          <a:solidFill>
            <a:srgbClr val="FFFFFF">
              <a:alpha val="2000"/>
            </a:srgbClr>
          </a:solidFill>
          <a:ln w="9525">
            <a:solidFill>
              <a:srgbClr val="2A2F3A"/>
            </a:solidFill>
            <a:prstDash val="solid"/>
          </a:ln>
        </p:spPr>
      </p:sp>
      <p:sp>
        <p:nvSpPr>
          <p:cNvPr id="10" name="Text 8"/>
          <p:cNvSpPr/>
          <p:nvPr/>
        </p:nvSpPr>
        <p:spPr>
          <a:xfrm>
            <a:off x="9486900" y="2817019"/>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LIMITATION</a:t>
            </a:r>
            <a:endParaRPr lang="en-US" sz="1425" dirty="0"/>
          </a:p>
        </p:txBody>
      </p:sp>
      <p:sp>
        <p:nvSpPr>
          <p:cNvPr id="11" name="Text 9"/>
          <p:cNvSpPr/>
          <p:nvPr/>
        </p:nvSpPr>
        <p:spPr>
          <a:xfrm>
            <a:off x="9486900" y="3107531"/>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Requires large volumes of accurately labelled data, which is expensive and slow to produce.</a:t>
            </a:r>
            <a:endParaRPr lang="en-US" sz="14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LEARNING PARADIGMS · 2 OF 4</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Unsupervised Learning</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The model finds structure — clusters, groupings, or outliers — in data that has no labels at all, without being told what the "right answer" looks like.</a:t>
            </a:r>
            <a:endParaRPr lang="en-US" sz="1875" dirty="0"/>
          </a:p>
        </p:txBody>
      </p:sp>
      <p:sp>
        <p:nvSpPr>
          <p:cNvPr id="6" name="Shape 4"/>
          <p:cNvSpPr/>
          <p:nvPr/>
        </p:nvSpPr>
        <p:spPr>
          <a:xfrm>
            <a:off x="914400" y="2559844"/>
            <a:ext cx="8143875" cy="1347788"/>
          </a:xfrm>
          <a:prstGeom prst="roundRect">
            <a:avLst>
              <a:gd name="adj" fmla="val 11307"/>
            </a:avLst>
          </a:prstGeom>
          <a:solidFill>
            <a:srgbClr val="FFFFFF">
              <a:alpha val="2000"/>
            </a:srgbClr>
          </a:solidFill>
          <a:ln w="9525">
            <a:solidFill>
              <a:srgbClr val="2A2F3A"/>
            </a:solidFill>
            <a:prstDash val="solid"/>
          </a:ln>
        </p:spPr>
      </p:sp>
      <p:sp>
        <p:nvSpPr>
          <p:cNvPr id="7" name="Text 5"/>
          <p:cNvSpPr/>
          <p:nvPr/>
        </p:nvSpPr>
        <p:spPr>
          <a:xfrm>
            <a:off x="1171575" y="2817019"/>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CYBERSECURITY EXAMPLE</a:t>
            </a:r>
            <a:endParaRPr lang="en-US" sz="1425" dirty="0"/>
          </a:p>
        </p:txBody>
      </p:sp>
      <p:sp>
        <p:nvSpPr>
          <p:cNvPr id="8" name="Text 6"/>
          <p:cNvSpPr/>
          <p:nvPr/>
        </p:nvSpPr>
        <p:spPr>
          <a:xfrm>
            <a:off x="1171575" y="3107531"/>
            <a:ext cx="7858411" cy="581025"/>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Anomaly detection that flags unusual network behaviour with no prior labelled attack examples.</a:t>
            </a:r>
            <a:endParaRPr lang="en-US" sz="1425" dirty="0"/>
          </a:p>
        </p:txBody>
      </p:sp>
      <p:sp>
        <p:nvSpPr>
          <p:cNvPr id="9" name="Shape 7"/>
          <p:cNvSpPr/>
          <p:nvPr/>
        </p:nvSpPr>
        <p:spPr>
          <a:xfrm>
            <a:off x="9229725" y="2559844"/>
            <a:ext cx="8143875" cy="1347788"/>
          </a:xfrm>
          <a:prstGeom prst="roundRect">
            <a:avLst>
              <a:gd name="adj" fmla="val 11307"/>
            </a:avLst>
          </a:prstGeom>
          <a:solidFill>
            <a:srgbClr val="FFFFFF">
              <a:alpha val="2000"/>
            </a:srgbClr>
          </a:solidFill>
          <a:ln w="9525">
            <a:solidFill>
              <a:srgbClr val="2A2F3A"/>
            </a:solidFill>
            <a:prstDash val="solid"/>
          </a:ln>
        </p:spPr>
      </p:sp>
      <p:sp>
        <p:nvSpPr>
          <p:cNvPr id="10" name="Text 8"/>
          <p:cNvSpPr/>
          <p:nvPr/>
        </p:nvSpPr>
        <p:spPr>
          <a:xfrm>
            <a:off x="9486900" y="2817019"/>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LIMITATION</a:t>
            </a:r>
            <a:endParaRPr lang="en-US" sz="1425" dirty="0"/>
          </a:p>
        </p:txBody>
      </p:sp>
      <p:sp>
        <p:nvSpPr>
          <p:cNvPr id="11" name="Text 9"/>
          <p:cNvSpPr/>
          <p:nvPr/>
        </p:nvSpPr>
        <p:spPr>
          <a:xfrm>
            <a:off x="9486900" y="3107531"/>
            <a:ext cx="7858411" cy="581025"/>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Flagged "anomalies" still need human review — the model cannot tell you why something is unusual.</a:t>
            </a:r>
            <a:endParaRPr lang="en-US" sz="14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LEARNING PARADIGMS · 3 OF 4</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Reinforcement Learning</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The model learns by taking actions in an environment and receiving reward or penalty signals, gradually favouring actions that lead to better outcomes.</a:t>
            </a:r>
            <a:endParaRPr lang="en-US" sz="1875" dirty="0"/>
          </a:p>
        </p:txBody>
      </p:sp>
      <p:sp>
        <p:nvSpPr>
          <p:cNvPr id="6" name="Shape 4"/>
          <p:cNvSpPr/>
          <p:nvPr/>
        </p:nvSpPr>
        <p:spPr>
          <a:xfrm>
            <a:off x="914400" y="2559844"/>
            <a:ext cx="8143875" cy="1347788"/>
          </a:xfrm>
          <a:prstGeom prst="roundRect">
            <a:avLst>
              <a:gd name="adj" fmla="val 11307"/>
            </a:avLst>
          </a:prstGeom>
          <a:solidFill>
            <a:srgbClr val="FFFFFF">
              <a:alpha val="2000"/>
            </a:srgbClr>
          </a:solidFill>
          <a:ln w="9525">
            <a:solidFill>
              <a:srgbClr val="2A2F3A"/>
            </a:solidFill>
            <a:prstDash val="solid"/>
          </a:ln>
        </p:spPr>
      </p:sp>
      <p:sp>
        <p:nvSpPr>
          <p:cNvPr id="7" name="Text 5"/>
          <p:cNvSpPr/>
          <p:nvPr/>
        </p:nvSpPr>
        <p:spPr>
          <a:xfrm>
            <a:off x="1171575" y="2817019"/>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CYBERSECURITY EXAMPLE</a:t>
            </a:r>
            <a:endParaRPr lang="en-US" sz="1425" dirty="0"/>
          </a:p>
        </p:txBody>
      </p:sp>
      <p:sp>
        <p:nvSpPr>
          <p:cNvPr id="8" name="Text 6"/>
          <p:cNvSpPr/>
          <p:nvPr/>
        </p:nvSpPr>
        <p:spPr>
          <a:xfrm>
            <a:off x="1171575" y="3107531"/>
            <a:ext cx="7858411" cy="581025"/>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Automated response tuning in a SOAR playbook that learns which response actions best contain an incident.</a:t>
            </a:r>
            <a:endParaRPr lang="en-US" sz="1425" dirty="0"/>
          </a:p>
        </p:txBody>
      </p:sp>
      <p:sp>
        <p:nvSpPr>
          <p:cNvPr id="9" name="Shape 7"/>
          <p:cNvSpPr/>
          <p:nvPr/>
        </p:nvSpPr>
        <p:spPr>
          <a:xfrm>
            <a:off x="9229725" y="2559844"/>
            <a:ext cx="8143875" cy="1347788"/>
          </a:xfrm>
          <a:prstGeom prst="roundRect">
            <a:avLst>
              <a:gd name="adj" fmla="val 11307"/>
            </a:avLst>
          </a:prstGeom>
          <a:solidFill>
            <a:srgbClr val="FFFFFF">
              <a:alpha val="2000"/>
            </a:srgbClr>
          </a:solidFill>
          <a:ln w="9525">
            <a:solidFill>
              <a:srgbClr val="2A2F3A"/>
            </a:solidFill>
            <a:prstDash val="solid"/>
          </a:ln>
        </p:spPr>
      </p:sp>
      <p:sp>
        <p:nvSpPr>
          <p:cNvPr id="10" name="Text 8"/>
          <p:cNvSpPr/>
          <p:nvPr/>
        </p:nvSpPr>
        <p:spPr>
          <a:xfrm>
            <a:off x="9486900" y="2817019"/>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LIMITATION</a:t>
            </a:r>
            <a:endParaRPr lang="en-US" sz="1425" dirty="0"/>
          </a:p>
        </p:txBody>
      </p:sp>
      <p:sp>
        <p:nvSpPr>
          <p:cNvPr id="11" name="Text 9"/>
          <p:cNvSpPr/>
          <p:nvPr/>
        </p:nvSpPr>
        <p:spPr>
          <a:xfrm>
            <a:off x="9486900" y="3107531"/>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A poorly designed reward signal can teach the model the wrong lesson entirely.</a:t>
            </a:r>
            <a:endParaRPr lang="en-US" sz="14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LEARNING PARADIGMS · 4 OF 4</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Federated Learning</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Multiple parties train a shared model collaboratively, each on their own local data, sending only model updates — not raw data — back to a central coordinator.</a:t>
            </a:r>
            <a:endParaRPr lang="en-US" sz="1875" dirty="0"/>
          </a:p>
        </p:txBody>
      </p:sp>
      <p:sp>
        <p:nvSpPr>
          <p:cNvPr id="6" name="Shape 4"/>
          <p:cNvSpPr/>
          <p:nvPr/>
        </p:nvSpPr>
        <p:spPr>
          <a:xfrm>
            <a:off x="914400" y="2559844"/>
            <a:ext cx="8143875"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2817019"/>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CYBERSECURITY EXAMPLE</a:t>
            </a:r>
            <a:endParaRPr lang="en-US" sz="1425" dirty="0"/>
          </a:p>
        </p:txBody>
      </p:sp>
      <p:sp>
        <p:nvSpPr>
          <p:cNvPr id="8" name="Text 6"/>
          <p:cNvSpPr/>
          <p:nvPr/>
        </p:nvSpPr>
        <p:spPr>
          <a:xfrm>
            <a:off x="1171575" y="3107531"/>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A cross-bank fraud model trained without any bank sharing raw customer transactions.</a:t>
            </a:r>
            <a:endParaRPr lang="en-US" sz="1425" dirty="0"/>
          </a:p>
        </p:txBody>
      </p:sp>
      <p:sp>
        <p:nvSpPr>
          <p:cNvPr id="9" name="Shape 7"/>
          <p:cNvSpPr/>
          <p:nvPr/>
        </p:nvSpPr>
        <p:spPr>
          <a:xfrm>
            <a:off x="9229725" y="2559844"/>
            <a:ext cx="8143875" cy="1076325"/>
          </a:xfrm>
          <a:prstGeom prst="roundRect">
            <a:avLst>
              <a:gd name="adj" fmla="val 14159"/>
            </a:avLst>
          </a:prstGeom>
          <a:solidFill>
            <a:srgbClr val="FFFFFF">
              <a:alpha val="2000"/>
            </a:srgbClr>
          </a:solidFill>
          <a:ln w="9525">
            <a:solidFill>
              <a:srgbClr val="2A2F3A"/>
            </a:solidFill>
            <a:prstDash val="solid"/>
          </a:ln>
        </p:spPr>
      </p:sp>
      <p:sp>
        <p:nvSpPr>
          <p:cNvPr id="10" name="Text 8"/>
          <p:cNvSpPr/>
          <p:nvPr/>
        </p:nvSpPr>
        <p:spPr>
          <a:xfrm>
            <a:off x="9486900" y="2817019"/>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LIMITATION</a:t>
            </a:r>
            <a:endParaRPr lang="en-US" sz="1425" dirty="0"/>
          </a:p>
        </p:txBody>
      </p:sp>
      <p:sp>
        <p:nvSpPr>
          <p:cNvPr id="11" name="Text 9"/>
          <p:cNvSpPr/>
          <p:nvPr/>
        </p:nvSpPr>
        <p:spPr>
          <a:xfrm>
            <a:off x="9486900" y="3107531"/>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Coordinating and securing many distributed training participants is operationally complex.</a:t>
            </a:r>
            <a:endParaRPr lang="en-US" sz="14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RECAP</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Four Learning Paradigms, Side by Side</a:t>
            </a:r>
            <a:endParaRPr lang="en-US" sz="4200" dirty="0"/>
          </a:p>
        </p:txBody>
      </p:sp>
      <p:sp>
        <p:nvSpPr>
          <p:cNvPr id="5" name="Shape 3"/>
          <p:cNvSpPr/>
          <p:nvPr/>
        </p:nvSpPr>
        <p:spPr>
          <a:xfrm>
            <a:off x="914400" y="2000250"/>
            <a:ext cx="3012058" cy="547688"/>
          </a:xfrm>
          <a:prstGeom prst="rect">
            <a:avLst/>
          </a:prstGeom>
          <a:solidFill>
            <a:srgbClr val="FF6A00">
              <a:alpha val="18000"/>
            </a:srgbClr>
          </a:solidFill>
          <a:ln/>
        </p:spPr>
      </p:sp>
      <p:sp>
        <p:nvSpPr>
          <p:cNvPr id="6" name="Shape 4"/>
          <p:cNvSpPr/>
          <p:nvPr/>
        </p:nvSpPr>
        <p:spPr>
          <a:xfrm>
            <a:off x="914400" y="2538413"/>
            <a:ext cx="3012058" cy="9525"/>
          </a:xfrm>
          <a:prstGeom prst="rect">
            <a:avLst/>
          </a:prstGeom>
          <a:solidFill>
            <a:srgbClr val="B85100"/>
          </a:solidFill>
          <a:ln/>
        </p:spPr>
      </p:sp>
      <p:sp>
        <p:nvSpPr>
          <p:cNvPr id="7" name="Text 5"/>
          <p:cNvSpPr/>
          <p:nvPr/>
        </p:nvSpPr>
        <p:spPr>
          <a:xfrm>
            <a:off x="1066800" y="2114550"/>
            <a:ext cx="2797620" cy="347663"/>
          </a:xfrm>
          <a:prstGeom prst="rect">
            <a:avLst/>
          </a:prstGeom>
          <a:noFill/>
          <a:ln/>
        </p:spPr>
        <p:txBody>
          <a:bodyPr wrap="square" lIns="25400" tIns="25400" rIns="25400" bIns="25400" rtlCol="0" anchor="ctr">
            <a:normAutofit/>
          </a:bodyPr>
          <a:lstStyle/>
          <a:p>
            <a:pPr algn="l" indent="0" marL="0">
              <a:buNone/>
            </a:pPr>
            <a:r>
              <a:rPr lang="en-US" sz="2100" b="1" dirty="0">
                <a:solidFill>
                  <a:srgbClr val="FFFFFF"/>
                </a:solidFill>
                <a:latin typeface="Arial" pitchFamily="34" charset="0"/>
                <a:ea typeface="Arial" pitchFamily="34" charset="-122"/>
                <a:cs typeface="Arial" pitchFamily="34" charset="-120"/>
              </a:rPr>
              <a:t>Paradigm</a:t>
            </a:r>
            <a:endParaRPr lang="en-US" sz="2100" dirty="0"/>
          </a:p>
        </p:txBody>
      </p:sp>
      <p:sp>
        <p:nvSpPr>
          <p:cNvPr id="8" name="Shape 6"/>
          <p:cNvSpPr/>
          <p:nvPr/>
        </p:nvSpPr>
        <p:spPr>
          <a:xfrm>
            <a:off x="3926458" y="2000250"/>
            <a:ext cx="7893100" cy="547688"/>
          </a:xfrm>
          <a:prstGeom prst="rect">
            <a:avLst/>
          </a:prstGeom>
          <a:solidFill>
            <a:srgbClr val="FF6A00">
              <a:alpha val="18000"/>
            </a:srgbClr>
          </a:solidFill>
          <a:ln/>
        </p:spPr>
      </p:sp>
      <p:sp>
        <p:nvSpPr>
          <p:cNvPr id="9" name="Shape 7"/>
          <p:cNvSpPr/>
          <p:nvPr/>
        </p:nvSpPr>
        <p:spPr>
          <a:xfrm>
            <a:off x="3926458" y="2538413"/>
            <a:ext cx="7893100" cy="9525"/>
          </a:xfrm>
          <a:prstGeom prst="rect">
            <a:avLst/>
          </a:prstGeom>
          <a:solidFill>
            <a:srgbClr val="B85100"/>
          </a:solidFill>
          <a:ln/>
        </p:spPr>
      </p:sp>
      <p:sp>
        <p:nvSpPr>
          <p:cNvPr id="10" name="Text 8"/>
          <p:cNvSpPr/>
          <p:nvPr/>
        </p:nvSpPr>
        <p:spPr>
          <a:xfrm>
            <a:off x="4078858" y="2114550"/>
            <a:ext cx="7825093" cy="347663"/>
          </a:xfrm>
          <a:prstGeom prst="rect">
            <a:avLst/>
          </a:prstGeom>
          <a:noFill/>
          <a:ln/>
        </p:spPr>
        <p:txBody>
          <a:bodyPr wrap="square" lIns="25400" tIns="25400" rIns="25400" bIns="25400" rtlCol="0" anchor="ctr">
            <a:normAutofit/>
          </a:bodyPr>
          <a:lstStyle/>
          <a:p>
            <a:pPr algn="l" indent="0" marL="0">
              <a:buNone/>
            </a:pPr>
            <a:r>
              <a:rPr lang="en-US" sz="2100" b="1" dirty="0">
                <a:solidFill>
                  <a:srgbClr val="FFFFFF"/>
                </a:solidFill>
                <a:latin typeface="Arial" pitchFamily="34" charset="0"/>
                <a:ea typeface="Arial" pitchFamily="34" charset="-122"/>
                <a:cs typeface="Arial" pitchFamily="34" charset="-120"/>
              </a:rPr>
              <a:t>Defining Trait</a:t>
            </a:r>
            <a:endParaRPr lang="en-US" sz="2100" dirty="0"/>
          </a:p>
        </p:txBody>
      </p:sp>
      <p:sp>
        <p:nvSpPr>
          <p:cNvPr id="11" name="Shape 9"/>
          <p:cNvSpPr/>
          <p:nvPr/>
        </p:nvSpPr>
        <p:spPr>
          <a:xfrm>
            <a:off x="11819558" y="2000250"/>
            <a:ext cx="5554042" cy="547688"/>
          </a:xfrm>
          <a:prstGeom prst="rect">
            <a:avLst/>
          </a:prstGeom>
          <a:solidFill>
            <a:srgbClr val="FF6A00">
              <a:alpha val="18000"/>
            </a:srgbClr>
          </a:solidFill>
          <a:ln/>
        </p:spPr>
      </p:sp>
      <p:sp>
        <p:nvSpPr>
          <p:cNvPr id="12" name="Shape 10"/>
          <p:cNvSpPr/>
          <p:nvPr/>
        </p:nvSpPr>
        <p:spPr>
          <a:xfrm>
            <a:off x="11819558" y="2538413"/>
            <a:ext cx="5554042" cy="9525"/>
          </a:xfrm>
          <a:prstGeom prst="rect">
            <a:avLst/>
          </a:prstGeom>
          <a:solidFill>
            <a:srgbClr val="B85100"/>
          </a:solidFill>
          <a:ln/>
        </p:spPr>
      </p:sp>
      <p:sp>
        <p:nvSpPr>
          <p:cNvPr id="13" name="Text 11"/>
          <p:cNvSpPr/>
          <p:nvPr/>
        </p:nvSpPr>
        <p:spPr>
          <a:xfrm>
            <a:off x="11971958" y="2114550"/>
            <a:ext cx="5415864" cy="347663"/>
          </a:xfrm>
          <a:prstGeom prst="rect">
            <a:avLst/>
          </a:prstGeom>
          <a:noFill/>
          <a:ln/>
        </p:spPr>
        <p:txBody>
          <a:bodyPr wrap="square" lIns="25400" tIns="25400" rIns="25400" bIns="25400" rtlCol="0" anchor="ctr">
            <a:normAutofit/>
          </a:bodyPr>
          <a:lstStyle/>
          <a:p>
            <a:pPr algn="l" indent="0" marL="0">
              <a:buNone/>
            </a:pPr>
            <a:r>
              <a:rPr lang="en-US" sz="2100" b="1" dirty="0">
                <a:solidFill>
                  <a:srgbClr val="FFFFFF"/>
                </a:solidFill>
                <a:latin typeface="Arial" pitchFamily="34" charset="0"/>
                <a:ea typeface="Arial" pitchFamily="34" charset="-122"/>
                <a:cs typeface="Arial" pitchFamily="34" charset="-120"/>
              </a:rPr>
              <a:t>Cybersecurity Example</a:t>
            </a:r>
            <a:endParaRPr lang="en-US" sz="2100" dirty="0"/>
          </a:p>
        </p:txBody>
      </p:sp>
      <p:sp>
        <p:nvSpPr>
          <p:cNvPr id="14" name="Shape 12"/>
          <p:cNvSpPr/>
          <p:nvPr/>
        </p:nvSpPr>
        <p:spPr>
          <a:xfrm>
            <a:off x="914400" y="3043238"/>
            <a:ext cx="3012058" cy="9525"/>
          </a:xfrm>
          <a:prstGeom prst="rect">
            <a:avLst/>
          </a:prstGeom>
          <a:solidFill>
            <a:srgbClr val="2A2F3A"/>
          </a:solidFill>
          <a:ln/>
        </p:spPr>
      </p:sp>
      <p:sp>
        <p:nvSpPr>
          <p:cNvPr id="15" name="Text 13"/>
          <p:cNvSpPr/>
          <p:nvPr/>
        </p:nvSpPr>
        <p:spPr>
          <a:xfrm>
            <a:off x="1066800" y="2662238"/>
            <a:ext cx="279762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Supervised</a:t>
            </a:r>
            <a:endParaRPr lang="en-US" sz="1800" dirty="0"/>
          </a:p>
        </p:txBody>
      </p:sp>
      <p:sp>
        <p:nvSpPr>
          <p:cNvPr id="16" name="Shape 14"/>
          <p:cNvSpPr/>
          <p:nvPr/>
        </p:nvSpPr>
        <p:spPr>
          <a:xfrm>
            <a:off x="3926458" y="3043238"/>
            <a:ext cx="7893100" cy="9525"/>
          </a:xfrm>
          <a:prstGeom prst="rect">
            <a:avLst/>
          </a:prstGeom>
          <a:solidFill>
            <a:srgbClr val="2A2F3A"/>
          </a:solidFill>
          <a:ln/>
        </p:spPr>
      </p:sp>
      <p:sp>
        <p:nvSpPr>
          <p:cNvPr id="17" name="Text 15"/>
          <p:cNvSpPr/>
          <p:nvPr/>
        </p:nvSpPr>
        <p:spPr>
          <a:xfrm>
            <a:off x="4078858" y="2662238"/>
            <a:ext cx="7825093"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Labelled input/output pairs</a:t>
            </a:r>
            <a:endParaRPr lang="en-US" sz="1800" dirty="0"/>
          </a:p>
        </p:txBody>
      </p:sp>
      <p:sp>
        <p:nvSpPr>
          <p:cNvPr id="18" name="Shape 16"/>
          <p:cNvSpPr/>
          <p:nvPr/>
        </p:nvSpPr>
        <p:spPr>
          <a:xfrm>
            <a:off x="11819558" y="3043238"/>
            <a:ext cx="5554042" cy="9525"/>
          </a:xfrm>
          <a:prstGeom prst="rect">
            <a:avLst/>
          </a:prstGeom>
          <a:solidFill>
            <a:srgbClr val="2A2F3A"/>
          </a:solidFill>
          <a:ln/>
        </p:spPr>
      </p:sp>
      <p:sp>
        <p:nvSpPr>
          <p:cNvPr id="19" name="Text 17"/>
          <p:cNvSpPr/>
          <p:nvPr/>
        </p:nvSpPr>
        <p:spPr>
          <a:xfrm>
            <a:off x="11971958" y="2662238"/>
            <a:ext cx="541586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Malware classification</a:t>
            </a:r>
            <a:endParaRPr lang="en-US" sz="1800" dirty="0"/>
          </a:p>
        </p:txBody>
      </p:sp>
      <p:sp>
        <p:nvSpPr>
          <p:cNvPr id="20" name="Shape 18"/>
          <p:cNvSpPr/>
          <p:nvPr/>
        </p:nvSpPr>
        <p:spPr>
          <a:xfrm>
            <a:off x="914400" y="3052763"/>
            <a:ext cx="3012058" cy="504825"/>
          </a:xfrm>
          <a:prstGeom prst="rect">
            <a:avLst/>
          </a:prstGeom>
          <a:solidFill>
            <a:srgbClr val="FFFFFF">
              <a:alpha val="2000"/>
            </a:srgbClr>
          </a:solidFill>
          <a:ln/>
        </p:spPr>
      </p:sp>
      <p:sp>
        <p:nvSpPr>
          <p:cNvPr id="21" name="Shape 19"/>
          <p:cNvSpPr/>
          <p:nvPr/>
        </p:nvSpPr>
        <p:spPr>
          <a:xfrm>
            <a:off x="914400" y="3548063"/>
            <a:ext cx="3012058" cy="9525"/>
          </a:xfrm>
          <a:prstGeom prst="rect">
            <a:avLst/>
          </a:prstGeom>
          <a:solidFill>
            <a:srgbClr val="2A2F3A"/>
          </a:solidFill>
          <a:ln/>
        </p:spPr>
      </p:sp>
      <p:sp>
        <p:nvSpPr>
          <p:cNvPr id="22" name="Text 20"/>
          <p:cNvSpPr/>
          <p:nvPr/>
        </p:nvSpPr>
        <p:spPr>
          <a:xfrm>
            <a:off x="1066800" y="3167063"/>
            <a:ext cx="279762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Unsupervised</a:t>
            </a:r>
            <a:endParaRPr lang="en-US" sz="1800" dirty="0"/>
          </a:p>
        </p:txBody>
      </p:sp>
      <p:sp>
        <p:nvSpPr>
          <p:cNvPr id="23" name="Shape 21"/>
          <p:cNvSpPr/>
          <p:nvPr/>
        </p:nvSpPr>
        <p:spPr>
          <a:xfrm>
            <a:off x="3926458" y="3052763"/>
            <a:ext cx="7893100" cy="504825"/>
          </a:xfrm>
          <a:prstGeom prst="rect">
            <a:avLst/>
          </a:prstGeom>
          <a:solidFill>
            <a:srgbClr val="FFFFFF">
              <a:alpha val="2000"/>
            </a:srgbClr>
          </a:solidFill>
          <a:ln/>
        </p:spPr>
      </p:sp>
      <p:sp>
        <p:nvSpPr>
          <p:cNvPr id="24" name="Shape 22"/>
          <p:cNvSpPr/>
          <p:nvPr/>
        </p:nvSpPr>
        <p:spPr>
          <a:xfrm>
            <a:off x="3926458" y="3548063"/>
            <a:ext cx="7893100" cy="9525"/>
          </a:xfrm>
          <a:prstGeom prst="rect">
            <a:avLst/>
          </a:prstGeom>
          <a:solidFill>
            <a:srgbClr val="2A2F3A"/>
          </a:solidFill>
          <a:ln/>
        </p:spPr>
      </p:sp>
      <p:sp>
        <p:nvSpPr>
          <p:cNvPr id="25" name="Text 23"/>
          <p:cNvSpPr/>
          <p:nvPr/>
        </p:nvSpPr>
        <p:spPr>
          <a:xfrm>
            <a:off x="4078858" y="3167063"/>
            <a:ext cx="7825093"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Finds structure in unlabelled data</a:t>
            </a:r>
            <a:endParaRPr lang="en-US" sz="1800" dirty="0"/>
          </a:p>
        </p:txBody>
      </p:sp>
      <p:sp>
        <p:nvSpPr>
          <p:cNvPr id="26" name="Shape 24"/>
          <p:cNvSpPr/>
          <p:nvPr/>
        </p:nvSpPr>
        <p:spPr>
          <a:xfrm>
            <a:off x="11819558" y="3052763"/>
            <a:ext cx="5554042" cy="504825"/>
          </a:xfrm>
          <a:prstGeom prst="rect">
            <a:avLst/>
          </a:prstGeom>
          <a:solidFill>
            <a:srgbClr val="FFFFFF">
              <a:alpha val="2000"/>
            </a:srgbClr>
          </a:solidFill>
          <a:ln/>
        </p:spPr>
      </p:sp>
      <p:sp>
        <p:nvSpPr>
          <p:cNvPr id="27" name="Shape 25"/>
          <p:cNvSpPr/>
          <p:nvPr/>
        </p:nvSpPr>
        <p:spPr>
          <a:xfrm>
            <a:off x="11819558" y="3548063"/>
            <a:ext cx="5554042" cy="9525"/>
          </a:xfrm>
          <a:prstGeom prst="rect">
            <a:avLst/>
          </a:prstGeom>
          <a:solidFill>
            <a:srgbClr val="2A2F3A"/>
          </a:solidFill>
          <a:ln/>
        </p:spPr>
      </p:sp>
      <p:sp>
        <p:nvSpPr>
          <p:cNvPr id="28" name="Text 26"/>
          <p:cNvSpPr/>
          <p:nvPr/>
        </p:nvSpPr>
        <p:spPr>
          <a:xfrm>
            <a:off x="11971958" y="3167063"/>
            <a:ext cx="541586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Anomaly detection</a:t>
            </a:r>
            <a:endParaRPr lang="en-US" sz="1800" dirty="0"/>
          </a:p>
        </p:txBody>
      </p:sp>
      <p:sp>
        <p:nvSpPr>
          <p:cNvPr id="29" name="Shape 27"/>
          <p:cNvSpPr/>
          <p:nvPr/>
        </p:nvSpPr>
        <p:spPr>
          <a:xfrm>
            <a:off x="914400" y="4052888"/>
            <a:ext cx="3012058" cy="9525"/>
          </a:xfrm>
          <a:prstGeom prst="rect">
            <a:avLst/>
          </a:prstGeom>
          <a:solidFill>
            <a:srgbClr val="2A2F3A"/>
          </a:solidFill>
          <a:ln/>
        </p:spPr>
      </p:sp>
      <p:sp>
        <p:nvSpPr>
          <p:cNvPr id="30" name="Text 28"/>
          <p:cNvSpPr/>
          <p:nvPr/>
        </p:nvSpPr>
        <p:spPr>
          <a:xfrm>
            <a:off x="1066800" y="3671888"/>
            <a:ext cx="279762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Reinforcement</a:t>
            </a:r>
            <a:endParaRPr lang="en-US" sz="1800" dirty="0"/>
          </a:p>
        </p:txBody>
      </p:sp>
      <p:sp>
        <p:nvSpPr>
          <p:cNvPr id="31" name="Shape 29"/>
          <p:cNvSpPr/>
          <p:nvPr/>
        </p:nvSpPr>
        <p:spPr>
          <a:xfrm>
            <a:off x="3926458" y="4052888"/>
            <a:ext cx="7893100" cy="9525"/>
          </a:xfrm>
          <a:prstGeom prst="rect">
            <a:avLst/>
          </a:prstGeom>
          <a:solidFill>
            <a:srgbClr val="2A2F3A"/>
          </a:solidFill>
          <a:ln/>
        </p:spPr>
      </p:sp>
      <p:sp>
        <p:nvSpPr>
          <p:cNvPr id="32" name="Text 30"/>
          <p:cNvSpPr/>
          <p:nvPr/>
        </p:nvSpPr>
        <p:spPr>
          <a:xfrm>
            <a:off x="4078858" y="3671888"/>
            <a:ext cx="7825093"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Learns via reward signals</a:t>
            </a:r>
            <a:endParaRPr lang="en-US" sz="1800" dirty="0"/>
          </a:p>
        </p:txBody>
      </p:sp>
      <p:sp>
        <p:nvSpPr>
          <p:cNvPr id="33" name="Shape 31"/>
          <p:cNvSpPr/>
          <p:nvPr/>
        </p:nvSpPr>
        <p:spPr>
          <a:xfrm>
            <a:off x="11819558" y="4052888"/>
            <a:ext cx="5554042" cy="9525"/>
          </a:xfrm>
          <a:prstGeom prst="rect">
            <a:avLst/>
          </a:prstGeom>
          <a:solidFill>
            <a:srgbClr val="2A2F3A"/>
          </a:solidFill>
          <a:ln/>
        </p:spPr>
      </p:sp>
      <p:sp>
        <p:nvSpPr>
          <p:cNvPr id="34" name="Text 32"/>
          <p:cNvSpPr/>
          <p:nvPr/>
        </p:nvSpPr>
        <p:spPr>
          <a:xfrm>
            <a:off x="11971958" y="3671888"/>
            <a:ext cx="541586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SOAR playbook tuning</a:t>
            </a:r>
            <a:endParaRPr lang="en-US" sz="1800" dirty="0"/>
          </a:p>
        </p:txBody>
      </p:sp>
      <p:sp>
        <p:nvSpPr>
          <p:cNvPr id="35" name="Shape 33"/>
          <p:cNvSpPr/>
          <p:nvPr/>
        </p:nvSpPr>
        <p:spPr>
          <a:xfrm>
            <a:off x="914400" y="4062412"/>
            <a:ext cx="3012058" cy="504825"/>
          </a:xfrm>
          <a:prstGeom prst="rect">
            <a:avLst/>
          </a:prstGeom>
          <a:solidFill>
            <a:srgbClr val="FFFFFF">
              <a:alpha val="2000"/>
            </a:srgbClr>
          </a:solidFill>
          <a:ln/>
        </p:spPr>
      </p:sp>
      <p:sp>
        <p:nvSpPr>
          <p:cNvPr id="36" name="Shape 34"/>
          <p:cNvSpPr/>
          <p:nvPr/>
        </p:nvSpPr>
        <p:spPr>
          <a:xfrm>
            <a:off x="914400" y="4557713"/>
            <a:ext cx="3012058" cy="9525"/>
          </a:xfrm>
          <a:prstGeom prst="rect">
            <a:avLst/>
          </a:prstGeom>
          <a:solidFill>
            <a:srgbClr val="2A2F3A"/>
          </a:solidFill>
          <a:ln/>
        </p:spPr>
      </p:sp>
      <p:sp>
        <p:nvSpPr>
          <p:cNvPr id="37" name="Text 35"/>
          <p:cNvSpPr/>
          <p:nvPr/>
        </p:nvSpPr>
        <p:spPr>
          <a:xfrm>
            <a:off x="1066800" y="4176712"/>
            <a:ext cx="279762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Federated</a:t>
            </a:r>
            <a:endParaRPr lang="en-US" sz="1800" dirty="0"/>
          </a:p>
        </p:txBody>
      </p:sp>
      <p:sp>
        <p:nvSpPr>
          <p:cNvPr id="38" name="Shape 36"/>
          <p:cNvSpPr/>
          <p:nvPr/>
        </p:nvSpPr>
        <p:spPr>
          <a:xfrm>
            <a:off x="3926458" y="4062412"/>
            <a:ext cx="7893100" cy="504825"/>
          </a:xfrm>
          <a:prstGeom prst="rect">
            <a:avLst/>
          </a:prstGeom>
          <a:solidFill>
            <a:srgbClr val="FFFFFF">
              <a:alpha val="2000"/>
            </a:srgbClr>
          </a:solidFill>
          <a:ln/>
        </p:spPr>
      </p:sp>
      <p:sp>
        <p:nvSpPr>
          <p:cNvPr id="39" name="Shape 37"/>
          <p:cNvSpPr/>
          <p:nvPr/>
        </p:nvSpPr>
        <p:spPr>
          <a:xfrm>
            <a:off x="3926458" y="4557713"/>
            <a:ext cx="7893100" cy="9525"/>
          </a:xfrm>
          <a:prstGeom prst="rect">
            <a:avLst/>
          </a:prstGeom>
          <a:solidFill>
            <a:srgbClr val="2A2F3A"/>
          </a:solidFill>
          <a:ln/>
        </p:spPr>
      </p:sp>
      <p:sp>
        <p:nvSpPr>
          <p:cNvPr id="40" name="Text 38"/>
          <p:cNvSpPr/>
          <p:nvPr/>
        </p:nvSpPr>
        <p:spPr>
          <a:xfrm>
            <a:off x="4078858" y="4176712"/>
            <a:ext cx="7825093"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Distributed training, no raw data centralised</a:t>
            </a:r>
            <a:endParaRPr lang="en-US" sz="1800" dirty="0"/>
          </a:p>
        </p:txBody>
      </p:sp>
      <p:sp>
        <p:nvSpPr>
          <p:cNvPr id="41" name="Shape 39"/>
          <p:cNvSpPr/>
          <p:nvPr/>
        </p:nvSpPr>
        <p:spPr>
          <a:xfrm>
            <a:off x="11819558" y="4062412"/>
            <a:ext cx="5554042" cy="504825"/>
          </a:xfrm>
          <a:prstGeom prst="rect">
            <a:avLst/>
          </a:prstGeom>
          <a:solidFill>
            <a:srgbClr val="FFFFFF">
              <a:alpha val="2000"/>
            </a:srgbClr>
          </a:solidFill>
          <a:ln/>
        </p:spPr>
      </p:sp>
      <p:sp>
        <p:nvSpPr>
          <p:cNvPr id="42" name="Shape 40"/>
          <p:cNvSpPr/>
          <p:nvPr/>
        </p:nvSpPr>
        <p:spPr>
          <a:xfrm>
            <a:off x="11819558" y="4557713"/>
            <a:ext cx="5554042" cy="9525"/>
          </a:xfrm>
          <a:prstGeom prst="rect">
            <a:avLst/>
          </a:prstGeom>
          <a:solidFill>
            <a:srgbClr val="2A2F3A"/>
          </a:solidFill>
          <a:ln/>
        </p:spPr>
      </p:sp>
      <p:sp>
        <p:nvSpPr>
          <p:cNvPr id="43" name="Text 41"/>
          <p:cNvSpPr/>
          <p:nvPr/>
        </p:nvSpPr>
        <p:spPr>
          <a:xfrm>
            <a:off x="11971958" y="4176712"/>
            <a:ext cx="541586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Cross-bank fraud model</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MODEL OPTIMISATION · 1 OF 4</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Fine-Tuning</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Taking a pre-trained model and continuing its training on a smaller, task-specific dataset, so it becomes more specialised without starting from scratch.</a:t>
            </a:r>
            <a:endParaRPr lang="en-US" sz="1875" dirty="0"/>
          </a:p>
        </p:txBody>
      </p:sp>
      <p:sp>
        <p:nvSpPr>
          <p:cNvPr id="6" name="Shape 4"/>
          <p:cNvSpPr/>
          <p:nvPr/>
        </p:nvSpPr>
        <p:spPr>
          <a:xfrm>
            <a:off x="914400" y="2559844"/>
            <a:ext cx="8143875" cy="1347788"/>
          </a:xfrm>
          <a:prstGeom prst="roundRect">
            <a:avLst>
              <a:gd name="adj" fmla="val 11307"/>
            </a:avLst>
          </a:prstGeom>
          <a:solidFill>
            <a:srgbClr val="FFFFFF">
              <a:alpha val="2000"/>
            </a:srgbClr>
          </a:solidFill>
          <a:ln w="9525">
            <a:solidFill>
              <a:srgbClr val="2A2F3A"/>
            </a:solidFill>
            <a:prstDash val="solid"/>
          </a:ln>
        </p:spPr>
      </p:sp>
      <p:sp>
        <p:nvSpPr>
          <p:cNvPr id="7" name="Text 5"/>
          <p:cNvSpPr/>
          <p:nvPr/>
        </p:nvSpPr>
        <p:spPr>
          <a:xfrm>
            <a:off x="1171575" y="2817019"/>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BENEFIT</a:t>
            </a:r>
            <a:endParaRPr lang="en-US" sz="1425" dirty="0"/>
          </a:p>
        </p:txBody>
      </p:sp>
      <p:sp>
        <p:nvSpPr>
          <p:cNvPr id="8" name="Text 6"/>
          <p:cNvSpPr/>
          <p:nvPr/>
        </p:nvSpPr>
        <p:spPr>
          <a:xfrm>
            <a:off x="1171575" y="3107531"/>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Far cheaper than training a new model, and reuses everything the base model already learned.</a:t>
            </a:r>
            <a:endParaRPr lang="en-US" sz="1425" dirty="0"/>
          </a:p>
        </p:txBody>
      </p:sp>
      <p:sp>
        <p:nvSpPr>
          <p:cNvPr id="9" name="Shape 7"/>
          <p:cNvSpPr/>
          <p:nvPr/>
        </p:nvSpPr>
        <p:spPr>
          <a:xfrm>
            <a:off x="9229725" y="2559844"/>
            <a:ext cx="8143875" cy="1347788"/>
          </a:xfrm>
          <a:prstGeom prst="roundRect">
            <a:avLst>
              <a:gd name="adj" fmla="val 11307"/>
            </a:avLst>
          </a:prstGeom>
          <a:solidFill>
            <a:srgbClr val="FFFFFF">
              <a:alpha val="2000"/>
            </a:srgbClr>
          </a:solidFill>
          <a:ln w="9525">
            <a:solidFill>
              <a:srgbClr val="2A2F3A"/>
            </a:solidFill>
            <a:prstDash val="solid"/>
          </a:ln>
        </p:spPr>
      </p:sp>
      <p:sp>
        <p:nvSpPr>
          <p:cNvPr id="10" name="Text 8"/>
          <p:cNvSpPr/>
          <p:nvPr/>
        </p:nvSpPr>
        <p:spPr>
          <a:xfrm>
            <a:off x="9486900" y="2817019"/>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SECURITY RELEVANCE</a:t>
            </a:r>
            <a:endParaRPr lang="en-US" sz="1425" dirty="0"/>
          </a:p>
        </p:txBody>
      </p:sp>
      <p:sp>
        <p:nvSpPr>
          <p:cNvPr id="11" name="Text 9"/>
          <p:cNvSpPr/>
          <p:nvPr/>
        </p:nvSpPr>
        <p:spPr>
          <a:xfrm>
            <a:off x="9486900" y="3107531"/>
            <a:ext cx="7858411" cy="581025"/>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The model inherits whatever risk exists in the fine-tuning dataset — a poisoning vector covered in Domain 2.0.</a:t>
            </a:r>
            <a:endParaRPr lang="en-US" sz="14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MODEL OPTIMISATION · 2 OF 4</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Epoch</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One complete pass of the training algorithm through the entire training dataset. Models are typically trained across many epochs.</a:t>
            </a:r>
            <a:endParaRPr lang="en-US" sz="1875" dirty="0"/>
          </a:p>
        </p:txBody>
      </p:sp>
      <p:sp>
        <p:nvSpPr>
          <p:cNvPr id="6" name="Shape 4"/>
          <p:cNvSpPr/>
          <p:nvPr/>
        </p:nvSpPr>
        <p:spPr>
          <a:xfrm>
            <a:off x="914400" y="2559844"/>
            <a:ext cx="8143875"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2817019"/>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TOO FEW EPOCHS</a:t>
            </a:r>
            <a:endParaRPr lang="en-US" sz="1425" dirty="0"/>
          </a:p>
        </p:txBody>
      </p:sp>
      <p:sp>
        <p:nvSpPr>
          <p:cNvPr id="8" name="Text 6"/>
          <p:cNvSpPr/>
          <p:nvPr/>
        </p:nvSpPr>
        <p:spPr>
          <a:xfrm>
            <a:off x="1171575" y="3107531"/>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The model underfits — it hasn't learned the patterns in the data well enough.</a:t>
            </a:r>
            <a:endParaRPr lang="en-US" sz="1425" dirty="0"/>
          </a:p>
        </p:txBody>
      </p:sp>
      <p:sp>
        <p:nvSpPr>
          <p:cNvPr id="9" name="Shape 7"/>
          <p:cNvSpPr/>
          <p:nvPr/>
        </p:nvSpPr>
        <p:spPr>
          <a:xfrm>
            <a:off x="9229725" y="2559844"/>
            <a:ext cx="8143875" cy="1076325"/>
          </a:xfrm>
          <a:prstGeom prst="roundRect">
            <a:avLst>
              <a:gd name="adj" fmla="val 14159"/>
            </a:avLst>
          </a:prstGeom>
          <a:solidFill>
            <a:srgbClr val="FFFFFF">
              <a:alpha val="2000"/>
            </a:srgbClr>
          </a:solidFill>
          <a:ln w="9525">
            <a:solidFill>
              <a:srgbClr val="2A2F3A"/>
            </a:solidFill>
            <a:prstDash val="solid"/>
          </a:ln>
        </p:spPr>
      </p:sp>
      <p:sp>
        <p:nvSpPr>
          <p:cNvPr id="10" name="Text 8"/>
          <p:cNvSpPr/>
          <p:nvPr/>
        </p:nvSpPr>
        <p:spPr>
          <a:xfrm>
            <a:off x="9486900" y="2817019"/>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TOO MANY EPOCHS</a:t>
            </a:r>
            <a:endParaRPr lang="en-US" sz="1425" dirty="0"/>
          </a:p>
        </p:txBody>
      </p:sp>
      <p:sp>
        <p:nvSpPr>
          <p:cNvPr id="11" name="Text 9"/>
          <p:cNvSpPr/>
          <p:nvPr/>
        </p:nvSpPr>
        <p:spPr>
          <a:xfrm>
            <a:off x="9486900" y="3107531"/>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The model overfits — it starts memorising the training data instead of generalising.</a:t>
            </a:r>
            <a:endParaRPr lang="en-US" sz="142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MODEL OPTIMISATION · 3 OF 4</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Pruning</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Removing weights, connections, or entire neurons that contribute little to a model's output, producing a smaller, faster model with minimal accuracy loss.</a:t>
            </a:r>
            <a:endParaRPr lang="en-US" sz="1875" dirty="0"/>
          </a:p>
        </p:txBody>
      </p:sp>
      <p:sp>
        <p:nvSpPr>
          <p:cNvPr id="6" name="Shape 4"/>
          <p:cNvSpPr/>
          <p:nvPr/>
        </p:nvSpPr>
        <p:spPr>
          <a:xfrm>
            <a:off x="914400" y="2559844"/>
            <a:ext cx="8143875"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2817019"/>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BENEFIT</a:t>
            </a:r>
            <a:endParaRPr lang="en-US" sz="1425" dirty="0"/>
          </a:p>
        </p:txBody>
      </p:sp>
      <p:sp>
        <p:nvSpPr>
          <p:cNvPr id="8" name="Text 6"/>
          <p:cNvSpPr/>
          <p:nvPr/>
        </p:nvSpPr>
        <p:spPr>
          <a:xfrm>
            <a:off x="1171575" y="3107531"/>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Cheaper inference cost and lower latency, useful for edge or cost-constrained deployment.</a:t>
            </a:r>
            <a:endParaRPr lang="en-US" sz="1425" dirty="0"/>
          </a:p>
        </p:txBody>
      </p:sp>
      <p:sp>
        <p:nvSpPr>
          <p:cNvPr id="9" name="Shape 7"/>
          <p:cNvSpPr/>
          <p:nvPr/>
        </p:nvSpPr>
        <p:spPr>
          <a:xfrm>
            <a:off x="9229725" y="2559844"/>
            <a:ext cx="8143875" cy="1076325"/>
          </a:xfrm>
          <a:prstGeom prst="roundRect">
            <a:avLst>
              <a:gd name="adj" fmla="val 14159"/>
            </a:avLst>
          </a:prstGeom>
          <a:solidFill>
            <a:srgbClr val="FFFFFF">
              <a:alpha val="2000"/>
            </a:srgbClr>
          </a:solidFill>
          <a:ln w="9525">
            <a:solidFill>
              <a:srgbClr val="2A2F3A"/>
            </a:solidFill>
            <a:prstDash val="solid"/>
          </a:ln>
        </p:spPr>
      </p:sp>
      <p:sp>
        <p:nvSpPr>
          <p:cNvPr id="10" name="Text 8"/>
          <p:cNvSpPr/>
          <p:nvPr/>
        </p:nvSpPr>
        <p:spPr>
          <a:xfrm>
            <a:off x="9486900" y="2817019"/>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TRADE-OFF</a:t>
            </a:r>
            <a:endParaRPr lang="en-US" sz="1425" dirty="0"/>
          </a:p>
        </p:txBody>
      </p:sp>
      <p:sp>
        <p:nvSpPr>
          <p:cNvPr id="11" name="Text 9"/>
          <p:cNvSpPr/>
          <p:nvPr/>
        </p:nvSpPr>
        <p:spPr>
          <a:xfrm>
            <a:off x="9486900" y="3107531"/>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Aggressive pruning can quietly degrade accuracy or introduce unexpected blind spots.</a:t>
            </a:r>
            <a:endParaRPr lang="en-US" sz="14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MODEL OPTIMISATION · 4 OF 4</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Quantization</a:t>
            </a:r>
            <a:endParaRPr lang="en-US" sz="4200" dirty="0"/>
          </a:p>
        </p:txBody>
      </p:sp>
      <p:sp>
        <p:nvSpPr>
          <p:cNvPr id="5" name="Text 3"/>
          <p:cNvSpPr/>
          <p:nvPr/>
        </p:nvSpPr>
        <p:spPr>
          <a:xfrm>
            <a:off x="914400" y="1981200"/>
            <a:ext cx="16952976"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Reducing the numeric precision used to represent a model's weights — for example from 32-bit to 8-bit numbers — shrinking the model and speeding up inference.</a:t>
            </a:r>
            <a:endParaRPr lang="en-US" sz="1875" dirty="0"/>
          </a:p>
        </p:txBody>
      </p:sp>
      <p:sp>
        <p:nvSpPr>
          <p:cNvPr id="6" name="Shape 4"/>
          <p:cNvSpPr/>
          <p:nvPr/>
        </p:nvSpPr>
        <p:spPr>
          <a:xfrm>
            <a:off x="914400" y="2928938"/>
            <a:ext cx="8143875"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3186113"/>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BENEFIT</a:t>
            </a:r>
            <a:endParaRPr lang="en-US" sz="1425" dirty="0"/>
          </a:p>
        </p:txBody>
      </p:sp>
      <p:sp>
        <p:nvSpPr>
          <p:cNvPr id="8" name="Text 6"/>
          <p:cNvSpPr/>
          <p:nvPr/>
        </p:nvSpPr>
        <p:spPr>
          <a:xfrm>
            <a:off x="1171575" y="3476625"/>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Enables running otherwise large models on modest hardware, including SLM edge deployment.</a:t>
            </a:r>
            <a:endParaRPr lang="en-US" sz="1425" dirty="0"/>
          </a:p>
        </p:txBody>
      </p:sp>
      <p:sp>
        <p:nvSpPr>
          <p:cNvPr id="9" name="Shape 7"/>
          <p:cNvSpPr/>
          <p:nvPr/>
        </p:nvSpPr>
        <p:spPr>
          <a:xfrm>
            <a:off x="9229725" y="2928938"/>
            <a:ext cx="8143875" cy="1076325"/>
          </a:xfrm>
          <a:prstGeom prst="roundRect">
            <a:avLst>
              <a:gd name="adj" fmla="val 14159"/>
            </a:avLst>
          </a:prstGeom>
          <a:solidFill>
            <a:srgbClr val="FFFFFF">
              <a:alpha val="2000"/>
            </a:srgbClr>
          </a:solidFill>
          <a:ln w="9525">
            <a:solidFill>
              <a:srgbClr val="2A2F3A"/>
            </a:solidFill>
            <a:prstDash val="solid"/>
          </a:ln>
        </p:spPr>
      </p:sp>
      <p:sp>
        <p:nvSpPr>
          <p:cNvPr id="10" name="Text 8"/>
          <p:cNvSpPr/>
          <p:nvPr/>
        </p:nvSpPr>
        <p:spPr>
          <a:xfrm>
            <a:off x="9486900" y="3186113"/>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TRADE-OFF</a:t>
            </a:r>
            <a:endParaRPr lang="en-US" sz="1425" dirty="0"/>
          </a:p>
        </p:txBody>
      </p:sp>
      <p:sp>
        <p:nvSpPr>
          <p:cNvPr id="11" name="Text 9"/>
          <p:cNvSpPr/>
          <p:nvPr/>
        </p:nvSpPr>
        <p:spPr>
          <a:xfrm>
            <a:off x="9486900" y="3476625"/>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Lower precision can introduce small accuracy losses that compound in sensitive decisions.</a:t>
            </a:r>
            <a:endParaRPr lang="en-US" sz="142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409575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PROMPT ENGINEERING</a:t>
            </a:r>
            <a:endParaRPr lang="en-US" sz="1650" dirty="0"/>
          </a:p>
        </p:txBody>
      </p:sp>
      <p:sp>
        <p:nvSpPr>
          <p:cNvPr id="4" name="Text 2"/>
          <p:cNvSpPr/>
          <p:nvPr/>
        </p:nvSpPr>
        <p:spPr>
          <a:xfrm>
            <a:off x="914400" y="447675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Why Prompt Engineering Matters</a:t>
            </a:r>
            <a:endParaRPr lang="en-US" sz="4200" dirty="0"/>
          </a:p>
        </p:txBody>
      </p:sp>
      <p:sp>
        <p:nvSpPr>
          <p:cNvPr id="5" name="Shape 3"/>
          <p:cNvSpPr/>
          <p:nvPr/>
        </p:nvSpPr>
        <p:spPr>
          <a:xfrm>
            <a:off x="914400" y="5314950"/>
            <a:ext cx="38100" cy="952500"/>
          </a:xfrm>
          <a:prstGeom prst="rect">
            <a:avLst/>
          </a:prstGeom>
          <a:solidFill>
            <a:srgbClr val="FF6A00"/>
          </a:solidFill>
          <a:ln/>
        </p:spPr>
      </p:sp>
      <p:sp>
        <p:nvSpPr>
          <p:cNvPr id="6" name="Text 4"/>
          <p:cNvSpPr/>
          <p:nvPr/>
        </p:nvSpPr>
        <p:spPr>
          <a:xfrm>
            <a:off x="1238250" y="5391150"/>
            <a:ext cx="16629126" cy="838200"/>
          </a:xfrm>
          <a:prstGeom prst="rect">
            <a:avLst/>
          </a:prstGeom>
          <a:noFill/>
          <a:ln/>
        </p:spPr>
        <p:txBody>
          <a:bodyPr wrap="square" lIns="25400" tIns="25400" rIns="25400" bIns="25400" rtlCol="0" anchor="t">
            <a:normAutofit/>
          </a:bodyPr>
          <a:lstStyle/>
          <a:p>
            <a:pPr algn="l" indent="0" marL="0">
              <a:lnSpc>
                <a:spcPct val="129231"/>
              </a:lnSpc>
              <a:buNone/>
            </a:pPr>
            <a:r>
              <a:rPr lang="en-US" sz="2100" dirty="0">
                <a:solidFill>
                  <a:srgbClr val="F5F7FB"/>
                </a:solidFill>
                <a:latin typeface="Arial" pitchFamily="34" charset="0"/>
                <a:ea typeface="Arial" pitchFamily="34" charset="-122"/>
                <a:cs typeface="Arial" pitchFamily="34" charset="-120"/>
              </a:rPr>
              <a:t>Prompt engineering is how humans steer a model's behaviour without retraining it. It is the fastest, cheapest lever available — and, as later domains show, also the primary lever attackers try to pull.</a:t>
            </a:r>
            <a:endParaRPr lang="en-US" sz="2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PROMPT TYPES · 1 OF 2</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System Prompts</a:t>
            </a:r>
            <a:endParaRPr lang="en-US" sz="4200" dirty="0"/>
          </a:p>
        </p:txBody>
      </p:sp>
      <p:sp>
        <p:nvSpPr>
          <p:cNvPr id="5" name="Text 3"/>
          <p:cNvSpPr/>
          <p:nvPr/>
        </p:nvSpPr>
        <p:spPr>
          <a:xfrm>
            <a:off x="914400" y="1981200"/>
            <a:ext cx="16952976"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Developer-set instructions that define a model's role, tone, and boundaries before any user input arrives. Example: "You are a support assistant. Never reveal internal pricing."</a:t>
            </a:r>
            <a:endParaRPr lang="en-US" sz="1875" dirty="0"/>
          </a:p>
        </p:txBody>
      </p:sp>
      <p:sp>
        <p:nvSpPr>
          <p:cNvPr id="6" name="Shape 4"/>
          <p:cNvSpPr/>
          <p:nvPr/>
        </p:nvSpPr>
        <p:spPr>
          <a:xfrm>
            <a:off x="914400" y="2928938"/>
            <a:ext cx="8143875" cy="1347788"/>
          </a:xfrm>
          <a:prstGeom prst="roundRect">
            <a:avLst>
              <a:gd name="adj" fmla="val 11307"/>
            </a:avLst>
          </a:prstGeom>
          <a:solidFill>
            <a:srgbClr val="FFFFFF">
              <a:alpha val="2000"/>
            </a:srgbClr>
          </a:solidFill>
          <a:ln w="9525">
            <a:solidFill>
              <a:srgbClr val="2A2F3A"/>
            </a:solidFill>
            <a:prstDash val="solid"/>
          </a:ln>
        </p:spPr>
      </p:sp>
      <p:sp>
        <p:nvSpPr>
          <p:cNvPr id="7" name="Text 5"/>
          <p:cNvSpPr/>
          <p:nvPr/>
        </p:nvSpPr>
        <p:spPr>
          <a:xfrm>
            <a:off x="1171575" y="3186113"/>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AUTHORITY</a:t>
            </a:r>
            <a:endParaRPr lang="en-US" sz="1425" dirty="0"/>
          </a:p>
        </p:txBody>
      </p:sp>
      <p:sp>
        <p:nvSpPr>
          <p:cNvPr id="8" name="Text 6"/>
          <p:cNvSpPr/>
          <p:nvPr/>
        </p:nvSpPr>
        <p:spPr>
          <a:xfrm>
            <a:off x="1171575" y="3476625"/>
            <a:ext cx="7858411" cy="581025"/>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Intended to carry more weight than user input, but the model does not enforce this boundary on its own.</a:t>
            </a:r>
            <a:endParaRPr lang="en-US" sz="1425" dirty="0"/>
          </a:p>
        </p:txBody>
      </p:sp>
      <p:sp>
        <p:nvSpPr>
          <p:cNvPr id="9" name="Shape 7"/>
          <p:cNvSpPr/>
          <p:nvPr/>
        </p:nvSpPr>
        <p:spPr>
          <a:xfrm>
            <a:off x="9229725" y="2928938"/>
            <a:ext cx="8143875" cy="1347788"/>
          </a:xfrm>
          <a:prstGeom prst="roundRect">
            <a:avLst>
              <a:gd name="adj" fmla="val 11307"/>
            </a:avLst>
          </a:prstGeom>
          <a:solidFill>
            <a:srgbClr val="FFFFFF">
              <a:alpha val="2000"/>
            </a:srgbClr>
          </a:solidFill>
          <a:ln w="9525">
            <a:solidFill>
              <a:srgbClr val="2A2F3A"/>
            </a:solidFill>
            <a:prstDash val="solid"/>
          </a:ln>
        </p:spPr>
      </p:sp>
      <p:sp>
        <p:nvSpPr>
          <p:cNvPr id="10" name="Text 8"/>
          <p:cNvSpPr/>
          <p:nvPr/>
        </p:nvSpPr>
        <p:spPr>
          <a:xfrm>
            <a:off x="9486900" y="3186113"/>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SECURITY RELEVANCE</a:t>
            </a:r>
            <a:endParaRPr lang="en-US" sz="1425" dirty="0"/>
          </a:p>
        </p:txBody>
      </p:sp>
      <p:sp>
        <p:nvSpPr>
          <p:cNvPr id="11" name="Text 9"/>
          <p:cNvSpPr/>
          <p:nvPr/>
        </p:nvSpPr>
        <p:spPr>
          <a:xfrm>
            <a:off x="9486900" y="3476625"/>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A leaked system prompt can expose internal business logic to an attacker.</a:t>
            </a:r>
            <a:endParaRPr lang="en-US" sz="142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PROMPT TYPES · 2 OF 2</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User Prompts</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Input supplied by the end user at runtime — free-form, unpredictable, and the primary surface an attacker directly controls.</a:t>
            </a:r>
            <a:endParaRPr lang="en-US" sz="1875" dirty="0"/>
          </a:p>
        </p:txBody>
      </p:sp>
      <p:sp>
        <p:nvSpPr>
          <p:cNvPr id="6" name="Shape 4"/>
          <p:cNvSpPr/>
          <p:nvPr/>
        </p:nvSpPr>
        <p:spPr>
          <a:xfrm>
            <a:off x="914400" y="2559844"/>
            <a:ext cx="8143875"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2817019"/>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EXAMPLE</a:t>
            </a:r>
            <a:endParaRPr lang="en-US" sz="1425" dirty="0"/>
          </a:p>
        </p:txBody>
      </p:sp>
      <p:sp>
        <p:nvSpPr>
          <p:cNvPr id="8" name="Text 6"/>
          <p:cNvSpPr/>
          <p:nvPr/>
        </p:nvSpPr>
        <p:spPr>
          <a:xfrm>
            <a:off x="1171575" y="3107531"/>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A customer's free-text question typed into a support chat box.</a:t>
            </a:r>
            <a:endParaRPr lang="en-US" sz="1425" dirty="0"/>
          </a:p>
        </p:txBody>
      </p:sp>
      <p:sp>
        <p:nvSpPr>
          <p:cNvPr id="9" name="Shape 7"/>
          <p:cNvSpPr/>
          <p:nvPr/>
        </p:nvSpPr>
        <p:spPr>
          <a:xfrm>
            <a:off x="9229725" y="2559844"/>
            <a:ext cx="8143875" cy="1076325"/>
          </a:xfrm>
          <a:prstGeom prst="roundRect">
            <a:avLst>
              <a:gd name="adj" fmla="val 14159"/>
            </a:avLst>
          </a:prstGeom>
          <a:solidFill>
            <a:srgbClr val="FFFFFF">
              <a:alpha val="2000"/>
            </a:srgbClr>
          </a:solidFill>
          <a:ln w="9525">
            <a:solidFill>
              <a:srgbClr val="2A2F3A"/>
            </a:solidFill>
            <a:prstDash val="solid"/>
          </a:ln>
        </p:spPr>
      </p:sp>
      <p:sp>
        <p:nvSpPr>
          <p:cNvPr id="10" name="Text 8"/>
          <p:cNvSpPr/>
          <p:nvPr/>
        </p:nvSpPr>
        <p:spPr>
          <a:xfrm>
            <a:off x="9486900" y="2817019"/>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SECURITY RELEVANCE</a:t>
            </a:r>
            <a:endParaRPr lang="en-US" sz="1425" dirty="0"/>
          </a:p>
        </p:txBody>
      </p:sp>
      <p:sp>
        <p:nvSpPr>
          <p:cNvPr id="11" name="Text 9"/>
          <p:cNvSpPr/>
          <p:nvPr/>
        </p:nvSpPr>
        <p:spPr>
          <a:xfrm>
            <a:off x="9486900" y="3107531"/>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Every prompt injection technique in Domain 2.0 begins by manipulating this input.</a:t>
            </a:r>
            <a:endParaRPr lang="en-US" sz="14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PROMPTING TECHNIQUES · 1 OF 3</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Zero-Shot Prompting</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Asking the model to perform a task with no worked examples included in the prompt at all — relying purely on what it learned during training.</a:t>
            </a:r>
            <a:endParaRPr lang="en-US" sz="1875" dirty="0"/>
          </a:p>
        </p:txBody>
      </p:sp>
      <p:sp>
        <p:nvSpPr>
          <p:cNvPr id="6" name="Shape 4"/>
          <p:cNvSpPr/>
          <p:nvPr/>
        </p:nvSpPr>
        <p:spPr>
          <a:xfrm>
            <a:off x="914400" y="2559844"/>
            <a:ext cx="8143875"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2817019"/>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TRADE-OFF</a:t>
            </a:r>
            <a:endParaRPr lang="en-US" sz="1425" dirty="0"/>
          </a:p>
        </p:txBody>
      </p:sp>
      <p:sp>
        <p:nvSpPr>
          <p:cNvPr id="8" name="Text 6"/>
          <p:cNvSpPr/>
          <p:nvPr/>
        </p:nvSpPr>
        <p:spPr>
          <a:xfrm>
            <a:off x="1171575" y="3107531"/>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Fastest and cheapest to write, but gives the least control over output format.</a:t>
            </a:r>
            <a:endParaRPr lang="en-US" sz="1425" dirty="0"/>
          </a:p>
        </p:txBody>
      </p:sp>
      <p:sp>
        <p:nvSpPr>
          <p:cNvPr id="9" name="Shape 7"/>
          <p:cNvSpPr/>
          <p:nvPr/>
        </p:nvSpPr>
        <p:spPr>
          <a:xfrm>
            <a:off x="9229725" y="2559844"/>
            <a:ext cx="8143875" cy="1076325"/>
          </a:xfrm>
          <a:prstGeom prst="roundRect">
            <a:avLst>
              <a:gd name="adj" fmla="val 14159"/>
            </a:avLst>
          </a:prstGeom>
          <a:solidFill>
            <a:srgbClr val="FFFFFF">
              <a:alpha val="2000"/>
            </a:srgbClr>
          </a:solidFill>
          <a:ln w="9525">
            <a:solidFill>
              <a:srgbClr val="2A2F3A"/>
            </a:solidFill>
            <a:prstDash val="solid"/>
          </a:ln>
        </p:spPr>
      </p:sp>
      <p:sp>
        <p:nvSpPr>
          <p:cNvPr id="10" name="Text 8"/>
          <p:cNvSpPr/>
          <p:nvPr/>
        </p:nvSpPr>
        <p:spPr>
          <a:xfrm>
            <a:off x="9486900" y="2817019"/>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WHEN TO USE</a:t>
            </a:r>
            <a:endParaRPr lang="en-US" sz="1425" dirty="0"/>
          </a:p>
        </p:txBody>
      </p:sp>
      <p:sp>
        <p:nvSpPr>
          <p:cNvPr id="11" name="Text 9"/>
          <p:cNvSpPr/>
          <p:nvPr/>
        </p:nvSpPr>
        <p:spPr>
          <a:xfrm>
            <a:off x="9486900" y="3107531"/>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Simple, well-known tasks the model has likely seen many times in training.</a:t>
            </a:r>
            <a:endParaRPr lang="en-US" sz="142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PROMPTING TECHNIQUES · 2 OF 3</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One-Shot Prompting</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Including exactly one worked example in the prompt before asking the model to perform the task, to demonstrate the expected format.</a:t>
            </a:r>
            <a:endParaRPr lang="en-US" sz="1875" dirty="0"/>
          </a:p>
        </p:txBody>
      </p:sp>
      <p:sp>
        <p:nvSpPr>
          <p:cNvPr id="6" name="Shape 4"/>
          <p:cNvSpPr/>
          <p:nvPr/>
        </p:nvSpPr>
        <p:spPr>
          <a:xfrm>
            <a:off x="914400" y="2559844"/>
            <a:ext cx="8143875"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2817019"/>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TRADE-OFF</a:t>
            </a:r>
            <a:endParaRPr lang="en-US" sz="1425" dirty="0"/>
          </a:p>
        </p:txBody>
      </p:sp>
      <p:sp>
        <p:nvSpPr>
          <p:cNvPr id="8" name="Text 6"/>
          <p:cNvSpPr/>
          <p:nvPr/>
        </p:nvSpPr>
        <p:spPr>
          <a:xfrm>
            <a:off x="1171575" y="3107531"/>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Better format control than zero-shot, while staying concise.</a:t>
            </a:r>
            <a:endParaRPr lang="en-US" sz="1425" dirty="0"/>
          </a:p>
        </p:txBody>
      </p:sp>
      <p:sp>
        <p:nvSpPr>
          <p:cNvPr id="9" name="Shape 7"/>
          <p:cNvSpPr/>
          <p:nvPr/>
        </p:nvSpPr>
        <p:spPr>
          <a:xfrm>
            <a:off x="9229725" y="2559844"/>
            <a:ext cx="8143875" cy="1076325"/>
          </a:xfrm>
          <a:prstGeom prst="roundRect">
            <a:avLst>
              <a:gd name="adj" fmla="val 14159"/>
            </a:avLst>
          </a:prstGeom>
          <a:solidFill>
            <a:srgbClr val="FFFFFF">
              <a:alpha val="2000"/>
            </a:srgbClr>
          </a:solidFill>
          <a:ln w="9525">
            <a:solidFill>
              <a:srgbClr val="2A2F3A"/>
            </a:solidFill>
            <a:prstDash val="solid"/>
          </a:ln>
        </p:spPr>
      </p:sp>
      <p:sp>
        <p:nvSpPr>
          <p:cNvPr id="10" name="Text 8"/>
          <p:cNvSpPr/>
          <p:nvPr/>
        </p:nvSpPr>
        <p:spPr>
          <a:xfrm>
            <a:off x="9486900" y="2817019"/>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WHEN TO USE</a:t>
            </a:r>
            <a:endParaRPr lang="en-US" sz="1425" dirty="0"/>
          </a:p>
        </p:txBody>
      </p:sp>
      <p:sp>
        <p:nvSpPr>
          <p:cNvPr id="11" name="Text 9"/>
          <p:cNvSpPr/>
          <p:nvPr/>
        </p:nvSpPr>
        <p:spPr>
          <a:xfrm>
            <a:off x="9486900" y="3107531"/>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Tasks where the output structure matters more than raw creativity.</a:t>
            </a:r>
            <a:endParaRPr lang="en-US" sz="142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PROMPTING TECHNIQUES · 3 OF 3</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Multi-Shot Prompting</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Including several worked examples in the prompt before the actual task, giving the model the strongest possible signal about the expected pattern.</a:t>
            </a:r>
            <a:endParaRPr lang="en-US" sz="1875" dirty="0"/>
          </a:p>
        </p:txBody>
      </p:sp>
      <p:sp>
        <p:nvSpPr>
          <p:cNvPr id="6" name="Shape 4"/>
          <p:cNvSpPr/>
          <p:nvPr/>
        </p:nvSpPr>
        <p:spPr>
          <a:xfrm>
            <a:off x="914400" y="2559844"/>
            <a:ext cx="8143875"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2817019"/>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TRADE-OFF</a:t>
            </a:r>
            <a:endParaRPr lang="en-US" sz="1425" dirty="0"/>
          </a:p>
        </p:txBody>
      </p:sp>
      <p:sp>
        <p:nvSpPr>
          <p:cNvPr id="8" name="Text 6"/>
          <p:cNvSpPr/>
          <p:nvPr/>
        </p:nvSpPr>
        <p:spPr>
          <a:xfrm>
            <a:off x="1171575" y="3107531"/>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Most reliable output, but consumes more of the model's limited context window.</a:t>
            </a:r>
            <a:endParaRPr lang="en-US" sz="1425" dirty="0"/>
          </a:p>
        </p:txBody>
      </p:sp>
      <p:sp>
        <p:nvSpPr>
          <p:cNvPr id="9" name="Shape 7"/>
          <p:cNvSpPr/>
          <p:nvPr/>
        </p:nvSpPr>
        <p:spPr>
          <a:xfrm>
            <a:off x="9229725" y="2559844"/>
            <a:ext cx="8143875" cy="1076325"/>
          </a:xfrm>
          <a:prstGeom prst="roundRect">
            <a:avLst>
              <a:gd name="adj" fmla="val 14159"/>
            </a:avLst>
          </a:prstGeom>
          <a:solidFill>
            <a:srgbClr val="FFFFFF">
              <a:alpha val="2000"/>
            </a:srgbClr>
          </a:solidFill>
          <a:ln w="9525">
            <a:solidFill>
              <a:srgbClr val="2A2F3A"/>
            </a:solidFill>
            <a:prstDash val="solid"/>
          </a:ln>
        </p:spPr>
      </p:sp>
      <p:sp>
        <p:nvSpPr>
          <p:cNvPr id="10" name="Text 8"/>
          <p:cNvSpPr/>
          <p:nvPr/>
        </p:nvSpPr>
        <p:spPr>
          <a:xfrm>
            <a:off x="9486900" y="2817019"/>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WHEN TO USE</a:t>
            </a:r>
            <a:endParaRPr lang="en-US" sz="1425" dirty="0"/>
          </a:p>
        </p:txBody>
      </p:sp>
      <p:sp>
        <p:nvSpPr>
          <p:cNvPr id="11" name="Text 9"/>
          <p:cNvSpPr/>
          <p:nvPr/>
        </p:nvSpPr>
        <p:spPr>
          <a:xfrm>
            <a:off x="9486900" y="3107531"/>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Complex or unusual tasks where consistency matters most.</a:t>
            </a:r>
            <a:endParaRPr lang="en-US" sz="142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PROMPT STRUCTURE</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System Roles &amp; Templates</a:t>
            </a:r>
            <a:endParaRPr lang="en-US" sz="4200" dirty="0"/>
          </a:p>
        </p:txBody>
      </p:sp>
      <p:sp>
        <p:nvSpPr>
          <p:cNvPr id="5" name="Shape 3"/>
          <p:cNvSpPr/>
          <p:nvPr/>
        </p:nvSpPr>
        <p:spPr>
          <a:xfrm>
            <a:off x="914400" y="2019300"/>
            <a:ext cx="8124825" cy="1802011"/>
          </a:xfrm>
          <a:prstGeom prst="roundRect">
            <a:avLst>
              <a:gd name="adj" fmla="val 8457"/>
            </a:avLst>
          </a:prstGeom>
          <a:solidFill>
            <a:srgbClr val="FFFFFF">
              <a:alpha val="2000"/>
            </a:srgbClr>
          </a:solidFill>
          <a:ln w="9525">
            <a:solidFill>
              <a:srgbClr val="2A2F3A"/>
            </a:solidFill>
            <a:prstDash val="solid"/>
          </a:ln>
        </p:spPr>
      </p:sp>
      <p:sp>
        <p:nvSpPr>
          <p:cNvPr id="6" name="Text 4"/>
          <p:cNvSpPr/>
          <p:nvPr/>
        </p:nvSpPr>
        <p:spPr>
          <a:xfrm>
            <a:off x="1171575" y="2276475"/>
            <a:ext cx="8371522"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SYSTEM ROLES</a:t>
            </a:r>
            <a:endParaRPr lang="en-US" sz="1425" dirty="0"/>
          </a:p>
        </p:txBody>
      </p:sp>
      <p:sp>
        <p:nvSpPr>
          <p:cNvPr id="7" name="Text 5"/>
          <p:cNvSpPr/>
          <p:nvPr/>
        </p:nvSpPr>
        <p:spPr>
          <a:xfrm>
            <a:off x="1171575" y="2566988"/>
            <a:ext cx="7838789" cy="687586"/>
          </a:xfrm>
          <a:prstGeom prst="rect">
            <a:avLst/>
          </a:prstGeom>
          <a:noFill/>
          <a:ln/>
        </p:spPr>
        <p:txBody>
          <a:bodyPr wrap="square" lIns="25400" tIns="25400" rIns="25400" bIns="25400" rtlCol="0" anchor="t">
            <a:normAutofit/>
          </a:bodyPr>
          <a:lstStyle/>
          <a:p>
            <a:pPr algn="l" indent="0" marL="0">
              <a:lnSpc>
                <a:spcPct val="136400"/>
              </a:lnSpc>
              <a:buNone/>
            </a:pPr>
            <a:r>
              <a:rPr lang="en-US" sz="1650" dirty="0">
                <a:solidFill>
                  <a:srgbClr val="B8C0CF"/>
                </a:solidFill>
                <a:latin typeface="Arial" pitchFamily="34" charset="0"/>
                <a:ea typeface="Arial" pitchFamily="34" charset="-122"/>
                <a:cs typeface="Arial" pitchFamily="34" charset="-120"/>
              </a:rPr>
              <a:t>Labels (system/user/assistant) that structure a conversation's turns and tell the model which instructions carry developer authority.</a:t>
            </a:r>
            <a:endParaRPr lang="en-US" sz="1650" dirty="0"/>
          </a:p>
        </p:txBody>
      </p:sp>
      <p:sp>
        <p:nvSpPr>
          <p:cNvPr id="8" name="Text 6"/>
          <p:cNvSpPr/>
          <p:nvPr/>
        </p:nvSpPr>
        <p:spPr>
          <a:xfrm>
            <a:off x="1171575" y="3292673"/>
            <a:ext cx="8371522"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Weak role separation is a root cause of prompt injection.</a:t>
            </a:r>
            <a:endParaRPr lang="en-US" sz="1425" dirty="0"/>
          </a:p>
        </p:txBody>
      </p:sp>
      <p:sp>
        <p:nvSpPr>
          <p:cNvPr id="9" name="Shape 7"/>
          <p:cNvSpPr/>
          <p:nvPr/>
        </p:nvSpPr>
        <p:spPr>
          <a:xfrm>
            <a:off x="9248775" y="2019300"/>
            <a:ext cx="8124825" cy="1802011"/>
          </a:xfrm>
          <a:prstGeom prst="roundRect">
            <a:avLst>
              <a:gd name="adj" fmla="val 8457"/>
            </a:avLst>
          </a:prstGeom>
          <a:solidFill>
            <a:srgbClr val="FFFFFF">
              <a:alpha val="2000"/>
            </a:srgbClr>
          </a:solidFill>
          <a:ln w="9525">
            <a:solidFill>
              <a:srgbClr val="2A2F3A"/>
            </a:solidFill>
            <a:prstDash val="solid"/>
          </a:ln>
        </p:spPr>
      </p:sp>
      <p:sp>
        <p:nvSpPr>
          <p:cNvPr id="10" name="Text 8"/>
          <p:cNvSpPr/>
          <p:nvPr/>
        </p:nvSpPr>
        <p:spPr>
          <a:xfrm>
            <a:off x="9505950" y="2276475"/>
            <a:ext cx="8371522"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TEMPLATES</a:t>
            </a:r>
            <a:endParaRPr lang="en-US" sz="1425" dirty="0"/>
          </a:p>
        </p:txBody>
      </p:sp>
      <p:sp>
        <p:nvSpPr>
          <p:cNvPr id="11" name="Text 9"/>
          <p:cNvSpPr/>
          <p:nvPr/>
        </p:nvSpPr>
        <p:spPr>
          <a:xfrm>
            <a:off x="9505950" y="2566988"/>
            <a:ext cx="7838789" cy="687586"/>
          </a:xfrm>
          <a:prstGeom prst="rect">
            <a:avLst/>
          </a:prstGeom>
          <a:noFill/>
          <a:ln/>
        </p:spPr>
        <p:txBody>
          <a:bodyPr wrap="square" lIns="25400" tIns="25400" rIns="25400" bIns="25400" rtlCol="0" anchor="t">
            <a:normAutofit/>
          </a:bodyPr>
          <a:lstStyle/>
          <a:p>
            <a:pPr algn="l" indent="0" marL="0">
              <a:lnSpc>
                <a:spcPct val="136400"/>
              </a:lnSpc>
              <a:buNone/>
            </a:pPr>
            <a:r>
              <a:rPr lang="en-US" sz="1650" dirty="0">
                <a:solidFill>
                  <a:srgbClr val="B8C0CF"/>
                </a:solidFill>
                <a:latin typeface="Arial" pitchFamily="34" charset="0"/>
                <a:ea typeface="Arial" pitchFamily="34" charset="-122"/>
                <a:cs typeface="Arial" pitchFamily="34" charset="-120"/>
              </a:rPr>
              <a:t>Reusable prompt structures with variable slots that keep output format and safety framing consistent across requests.</a:t>
            </a:r>
            <a:endParaRPr lang="en-US" sz="1650" dirty="0"/>
          </a:p>
        </p:txBody>
      </p:sp>
      <p:sp>
        <p:nvSpPr>
          <p:cNvPr id="12" name="Text 10"/>
          <p:cNvSpPr/>
          <p:nvPr/>
        </p:nvSpPr>
        <p:spPr>
          <a:xfrm>
            <a:off x="9505950" y="3292673"/>
            <a:ext cx="8371522"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Centralising templates makes guardrail updates easier to roll out everywhere at once.</a:t>
            </a:r>
            <a:endParaRPr lang="en-US" sz="142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OBJECTIVE 1.1 RECAP</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What You Should Now Be Able to Do</a:t>
            </a:r>
            <a:endParaRPr lang="en-US" sz="4200" dirty="0"/>
          </a:p>
        </p:txBody>
      </p:sp>
      <p:sp>
        <p:nvSpPr>
          <p:cNvPr id="5" name="Shape 3"/>
          <p:cNvSpPr/>
          <p:nvPr/>
        </p:nvSpPr>
        <p:spPr>
          <a:xfrm>
            <a:off x="914400" y="2019300"/>
            <a:ext cx="16459200" cy="762000"/>
          </a:xfrm>
          <a:prstGeom prst="roundRect">
            <a:avLst>
              <a:gd name="adj" fmla="val 20000"/>
            </a:avLst>
          </a:prstGeom>
          <a:solidFill>
            <a:srgbClr val="FFFFFF">
              <a:alpha val="2000"/>
            </a:srgbClr>
          </a:solidFill>
          <a:ln w="9525">
            <a:solidFill>
              <a:srgbClr val="2A2F3A"/>
            </a:solidFill>
            <a:prstDash val="solid"/>
          </a:ln>
        </p:spPr>
      </p:sp>
      <p:sp>
        <p:nvSpPr>
          <p:cNvPr id="6" name="Text 4"/>
          <p:cNvSpPr/>
          <p:nvPr/>
        </p:nvSpPr>
        <p:spPr>
          <a:xfrm>
            <a:off x="1171575" y="2276475"/>
            <a:ext cx="16438626" cy="285750"/>
          </a:xfrm>
          <a:prstGeom prst="rect">
            <a:avLst/>
          </a:prstGeom>
          <a:noFill/>
          <a:ln/>
        </p:spPr>
        <p:txBody>
          <a:bodyPr wrap="square" lIns="25400" tIns="25400" rIns="25400" bIns="25400" rtlCol="0" anchor="t">
            <a:normAutofit/>
          </a:bodyPr>
          <a:lstStyle/>
          <a:p>
            <a:pPr algn="l" indent="0" marL="0">
              <a:buNone/>
            </a:pPr>
            <a:r>
              <a:rPr lang="en-US" sz="1650" dirty="0">
                <a:solidFill>
                  <a:srgbClr val="F5F7FB"/>
                </a:solidFill>
                <a:latin typeface="Arial" pitchFamily="34" charset="0"/>
                <a:ea typeface="Arial" pitchFamily="34" charset="-122"/>
                <a:cs typeface="Arial" pitchFamily="34" charset="-120"/>
              </a:rPr>
              <a:t>Distinguish generative AI, ML, statistical learning, transformers, deep learning, and GANs by definition and use case</a:t>
            </a:r>
            <a:endParaRPr lang="en-US" sz="1650" dirty="0"/>
          </a:p>
        </p:txBody>
      </p:sp>
      <p:sp>
        <p:nvSpPr>
          <p:cNvPr id="7" name="Shape 5"/>
          <p:cNvSpPr/>
          <p:nvPr/>
        </p:nvSpPr>
        <p:spPr>
          <a:xfrm>
            <a:off x="914400" y="2952750"/>
            <a:ext cx="16459200" cy="762000"/>
          </a:xfrm>
          <a:prstGeom prst="roundRect">
            <a:avLst>
              <a:gd name="adj" fmla="val 20000"/>
            </a:avLst>
          </a:prstGeom>
          <a:solidFill>
            <a:srgbClr val="FFFFFF">
              <a:alpha val="2000"/>
            </a:srgbClr>
          </a:solidFill>
          <a:ln w="9525">
            <a:solidFill>
              <a:srgbClr val="2A2F3A"/>
            </a:solidFill>
            <a:prstDash val="solid"/>
          </a:ln>
        </p:spPr>
      </p:sp>
      <p:sp>
        <p:nvSpPr>
          <p:cNvPr id="8" name="Text 6"/>
          <p:cNvSpPr/>
          <p:nvPr/>
        </p:nvSpPr>
        <p:spPr>
          <a:xfrm>
            <a:off x="1171575" y="3209925"/>
            <a:ext cx="16438626" cy="285750"/>
          </a:xfrm>
          <a:prstGeom prst="rect">
            <a:avLst/>
          </a:prstGeom>
          <a:noFill/>
          <a:ln/>
        </p:spPr>
        <p:txBody>
          <a:bodyPr wrap="square" lIns="25400" tIns="25400" rIns="25400" bIns="25400" rtlCol="0" anchor="t">
            <a:normAutofit/>
          </a:bodyPr>
          <a:lstStyle/>
          <a:p>
            <a:pPr algn="l" indent="0" marL="0">
              <a:buNone/>
            </a:pPr>
            <a:r>
              <a:rPr lang="en-US" sz="1650" dirty="0">
                <a:solidFill>
                  <a:srgbClr val="F5F7FB"/>
                </a:solidFill>
                <a:latin typeface="Arial" pitchFamily="34" charset="0"/>
                <a:ea typeface="Arial" pitchFamily="34" charset="-122"/>
                <a:cs typeface="Arial" pitchFamily="34" charset="-120"/>
              </a:rPr>
              <a:t>Explain supervised, unsupervised, reinforcement, and federated learning, plus fine-tuning, epoch, pruning, and quantization</a:t>
            </a:r>
            <a:endParaRPr lang="en-US" sz="1650" dirty="0"/>
          </a:p>
        </p:txBody>
      </p:sp>
      <p:sp>
        <p:nvSpPr>
          <p:cNvPr id="9" name="Shape 7"/>
          <p:cNvSpPr/>
          <p:nvPr/>
        </p:nvSpPr>
        <p:spPr>
          <a:xfrm>
            <a:off x="914400" y="3886200"/>
            <a:ext cx="16459200" cy="762000"/>
          </a:xfrm>
          <a:prstGeom prst="roundRect">
            <a:avLst>
              <a:gd name="adj" fmla="val 20000"/>
            </a:avLst>
          </a:prstGeom>
          <a:solidFill>
            <a:srgbClr val="FFFFFF">
              <a:alpha val="2000"/>
            </a:srgbClr>
          </a:solidFill>
          <a:ln w="9525">
            <a:solidFill>
              <a:srgbClr val="2A2F3A"/>
            </a:solidFill>
            <a:prstDash val="solid"/>
          </a:ln>
        </p:spPr>
      </p:sp>
      <p:sp>
        <p:nvSpPr>
          <p:cNvPr id="10" name="Text 8"/>
          <p:cNvSpPr/>
          <p:nvPr/>
        </p:nvSpPr>
        <p:spPr>
          <a:xfrm>
            <a:off x="1171575" y="4143375"/>
            <a:ext cx="16438626" cy="285750"/>
          </a:xfrm>
          <a:prstGeom prst="rect">
            <a:avLst/>
          </a:prstGeom>
          <a:noFill/>
          <a:ln/>
        </p:spPr>
        <p:txBody>
          <a:bodyPr wrap="square" lIns="25400" tIns="25400" rIns="25400" bIns="25400" rtlCol="0" anchor="t">
            <a:normAutofit/>
          </a:bodyPr>
          <a:lstStyle/>
          <a:p>
            <a:pPr algn="l" indent="0" marL="0">
              <a:buNone/>
            </a:pPr>
            <a:r>
              <a:rPr lang="en-US" sz="1650" dirty="0">
                <a:solidFill>
                  <a:srgbClr val="F5F7FB"/>
                </a:solidFill>
                <a:latin typeface="Arial" pitchFamily="34" charset="0"/>
                <a:ea typeface="Arial" pitchFamily="34" charset="-122"/>
                <a:cs typeface="Arial" pitchFamily="34" charset="-120"/>
              </a:rPr>
              <a:t>Differentiate system and user prompts, and choose between zero-, one-, and multi-shot prompting</a:t>
            </a:r>
            <a:endParaRPr lang="en-US" sz="16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3958605"/>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OBJECTIVE 1.2</a:t>
            </a:r>
            <a:endParaRPr lang="en-US" sz="1650" dirty="0"/>
          </a:p>
        </p:txBody>
      </p:sp>
      <p:sp>
        <p:nvSpPr>
          <p:cNvPr id="4" name="Text 2"/>
          <p:cNvSpPr/>
          <p:nvPr/>
        </p:nvSpPr>
        <p:spPr>
          <a:xfrm>
            <a:off x="914400" y="4396755"/>
            <a:ext cx="16952976" cy="1379190"/>
          </a:xfrm>
          <a:prstGeom prst="rect">
            <a:avLst/>
          </a:prstGeom>
          <a:noFill/>
          <a:ln/>
        </p:spPr>
        <p:txBody>
          <a:bodyPr wrap="square" lIns="25400" tIns="25400" rIns="25400" bIns="25400" rtlCol="0" anchor="t">
            <a:normAutofit/>
          </a:bodyPr>
          <a:lstStyle/>
          <a:p>
            <a:pPr algn="l" indent="0" marL="0">
              <a:lnSpc>
                <a:spcPct val="95782"/>
              </a:lnSpc>
              <a:buNone/>
            </a:pPr>
            <a:r>
              <a:rPr lang="en-US" sz="4800" b="1" dirty="0">
                <a:solidFill>
                  <a:srgbClr val="F5F7FB"/>
                </a:solidFill>
                <a:latin typeface="Arial" pitchFamily="34" charset="0"/>
                <a:ea typeface="Arial" pitchFamily="34" charset="-122"/>
                <a:cs typeface="Arial" pitchFamily="34" charset="-120"/>
              </a:rPr>
              <a:t>Data Security in Relation to AI</a:t>
            </a:r>
            <a:endParaRPr lang="en-US" sz="4800" dirty="0"/>
          </a:p>
        </p:txBody>
      </p:sp>
      <p:sp>
        <p:nvSpPr>
          <p:cNvPr id="5" name="Text 3"/>
          <p:cNvSpPr/>
          <p:nvPr/>
        </p:nvSpPr>
        <p:spPr>
          <a:xfrm>
            <a:off x="914400" y="5947395"/>
            <a:ext cx="18105120" cy="419100"/>
          </a:xfrm>
          <a:prstGeom prst="rect">
            <a:avLst/>
          </a:prstGeom>
          <a:noFill/>
          <a:ln/>
        </p:spPr>
        <p:txBody>
          <a:bodyPr wrap="square" lIns="25400" tIns="25400" rIns="25400" bIns="25400" rtlCol="0" anchor="t">
            <a:normAutofit/>
          </a:bodyPr>
          <a:lstStyle/>
          <a:p>
            <a:pPr algn="l" indent="0" marL="0">
              <a:buNone/>
            </a:pPr>
            <a:r>
              <a:rPr lang="en-US" sz="2550" dirty="0">
                <a:solidFill>
                  <a:srgbClr val="B8C0CF"/>
                </a:solidFill>
                <a:latin typeface="Arial" pitchFamily="34" charset="0"/>
                <a:ea typeface="Arial" pitchFamily="34" charset="-122"/>
                <a:cs typeface="Arial" pitchFamily="34" charset="-120"/>
              </a:rPr>
              <a:t>A model is only as trustworthy as the data behind it</a:t>
            </a:r>
            <a:endParaRPr lang="en-US" sz="25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DATA PROCESSING · 1 OF 7</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Data Cleansing</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Removing errors, duplicates, inconsistencies, and noise from raw data before it is used for training or analysis.</a:t>
            </a:r>
            <a:endParaRPr lang="en-US" sz="1875" dirty="0"/>
          </a:p>
        </p:txBody>
      </p:sp>
      <p:sp>
        <p:nvSpPr>
          <p:cNvPr id="6" name="Shape 4"/>
          <p:cNvSpPr/>
          <p:nvPr/>
        </p:nvSpPr>
        <p:spPr>
          <a:xfrm>
            <a:off x="914400" y="2559844"/>
            <a:ext cx="16459200"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2817019"/>
            <a:ext cx="17539335"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WHY IT MATTERS</a:t>
            </a:r>
            <a:endParaRPr lang="en-US" sz="1425" dirty="0"/>
          </a:p>
        </p:txBody>
      </p:sp>
      <p:sp>
        <p:nvSpPr>
          <p:cNvPr id="8" name="Text 6"/>
          <p:cNvSpPr/>
          <p:nvPr/>
        </p:nvSpPr>
        <p:spPr>
          <a:xfrm>
            <a:off x="1171575" y="3107531"/>
            <a:ext cx="17539335"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Dirty training data produces unreliable models — cleansing is the first line of defence against garbage-in, garbage-out failures.</a:t>
            </a:r>
            <a:endParaRPr lang="en-US" sz="142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DATA PROCESSING · 2 OF 7</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Data Verification</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Confirming that data matches its expected source, format, and content before it enters a pipeline.</a:t>
            </a:r>
            <a:endParaRPr lang="en-US" sz="1875" dirty="0"/>
          </a:p>
        </p:txBody>
      </p:sp>
      <p:sp>
        <p:nvSpPr>
          <p:cNvPr id="6" name="Shape 4"/>
          <p:cNvSpPr/>
          <p:nvPr/>
        </p:nvSpPr>
        <p:spPr>
          <a:xfrm>
            <a:off x="914400" y="2559844"/>
            <a:ext cx="16459200"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2817019"/>
            <a:ext cx="17539335"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WHY IT MATTERS</a:t>
            </a:r>
            <a:endParaRPr lang="en-US" sz="1425" dirty="0"/>
          </a:p>
        </p:txBody>
      </p:sp>
      <p:sp>
        <p:nvSpPr>
          <p:cNvPr id="8" name="Text 6"/>
          <p:cNvSpPr/>
          <p:nvPr/>
        </p:nvSpPr>
        <p:spPr>
          <a:xfrm>
            <a:off x="1171575" y="3107531"/>
            <a:ext cx="17539335"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Catches malformed or spoofed data before it can influence training or a live decision.</a:t>
            </a:r>
            <a:endParaRPr lang="en-US" sz="142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DATA PROCESSING · 3 OF 7</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Data Lineage</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Tracking a dataset's full history — every source, transformation, and movement — from origin through to its current use.</a:t>
            </a:r>
            <a:endParaRPr lang="en-US" sz="1875" dirty="0"/>
          </a:p>
        </p:txBody>
      </p:sp>
      <p:sp>
        <p:nvSpPr>
          <p:cNvPr id="6" name="Shape 4"/>
          <p:cNvSpPr/>
          <p:nvPr/>
        </p:nvSpPr>
        <p:spPr>
          <a:xfrm>
            <a:off x="914400" y="2559844"/>
            <a:ext cx="16459200"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2817019"/>
            <a:ext cx="17539335"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WHY IT MATTERS</a:t>
            </a:r>
            <a:endParaRPr lang="en-US" sz="1425" dirty="0"/>
          </a:p>
        </p:txBody>
      </p:sp>
      <p:sp>
        <p:nvSpPr>
          <p:cNvPr id="8" name="Text 6"/>
          <p:cNvSpPr/>
          <p:nvPr/>
        </p:nvSpPr>
        <p:spPr>
          <a:xfrm>
            <a:off x="1171575" y="3107531"/>
            <a:ext cx="17539335"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When a model behaves unexpectedly, lineage lets you trace the problem back to its source data.</a:t>
            </a:r>
            <a:endParaRPr lang="en-US" sz="142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DATA PROCESSING · 4 OF 7</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Data Integrity</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Assurance that data has not been altered, corrupted, or tampered with, whether accidentally or maliciously, since it was collected.</a:t>
            </a:r>
            <a:endParaRPr lang="en-US" sz="1875" dirty="0"/>
          </a:p>
        </p:txBody>
      </p:sp>
      <p:sp>
        <p:nvSpPr>
          <p:cNvPr id="6" name="Shape 4"/>
          <p:cNvSpPr/>
          <p:nvPr/>
        </p:nvSpPr>
        <p:spPr>
          <a:xfrm>
            <a:off x="914400" y="2559844"/>
            <a:ext cx="16459200"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2817019"/>
            <a:ext cx="17539335"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WHY IT MATTERS</a:t>
            </a:r>
            <a:endParaRPr lang="en-US" sz="1425" dirty="0"/>
          </a:p>
        </p:txBody>
      </p:sp>
      <p:sp>
        <p:nvSpPr>
          <p:cNvPr id="8" name="Text 6"/>
          <p:cNvSpPr/>
          <p:nvPr/>
        </p:nvSpPr>
        <p:spPr>
          <a:xfrm>
            <a:off x="1171575" y="3107531"/>
            <a:ext cx="17539335"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Loss of integrity is the mechanism behind data poisoning attacks covered in Domain 2.0.</a:t>
            </a:r>
            <a:endParaRPr lang="en-US" sz="142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DATA PROCESSING · 5 OF 7</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Data Provenance</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The documented, verifiable origin of a dataset — who created it, when, and under what conditions.</a:t>
            </a:r>
            <a:endParaRPr lang="en-US" sz="1875" dirty="0"/>
          </a:p>
        </p:txBody>
      </p:sp>
      <p:sp>
        <p:nvSpPr>
          <p:cNvPr id="6" name="Shape 4"/>
          <p:cNvSpPr/>
          <p:nvPr/>
        </p:nvSpPr>
        <p:spPr>
          <a:xfrm>
            <a:off x="914400" y="2559844"/>
            <a:ext cx="16459200"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2817019"/>
            <a:ext cx="17539335"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WHY IT MATTERS</a:t>
            </a:r>
            <a:endParaRPr lang="en-US" sz="1425" dirty="0"/>
          </a:p>
        </p:txBody>
      </p:sp>
      <p:sp>
        <p:nvSpPr>
          <p:cNvPr id="8" name="Text 6"/>
          <p:cNvSpPr/>
          <p:nvPr/>
        </p:nvSpPr>
        <p:spPr>
          <a:xfrm>
            <a:off x="1171575" y="3107531"/>
            <a:ext cx="17539335"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Without provenance, you cannot assess whether a dataset is legally usable, unbiased, or trustworthy.</a:t>
            </a:r>
            <a:endParaRPr lang="en-US" sz="142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DATA PROCESSING · 6 OF 7</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Data Augmentation</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Synthetically expanding a training dataset — through transformations, noise, or generated variations — to improve a model's robustness.</a:t>
            </a:r>
            <a:endParaRPr lang="en-US" sz="1875" dirty="0"/>
          </a:p>
        </p:txBody>
      </p:sp>
      <p:sp>
        <p:nvSpPr>
          <p:cNvPr id="6" name="Shape 4"/>
          <p:cNvSpPr/>
          <p:nvPr/>
        </p:nvSpPr>
        <p:spPr>
          <a:xfrm>
            <a:off x="914400" y="2559844"/>
            <a:ext cx="16459200"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2817019"/>
            <a:ext cx="17539335"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WHY IT MATTERS</a:t>
            </a:r>
            <a:endParaRPr lang="en-US" sz="1425" dirty="0"/>
          </a:p>
        </p:txBody>
      </p:sp>
      <p:sp>
        <p:nvSpPr>
          <p:cNvPr id="8" name="Text 6"/>
          <p:cNvSpPr/>
          <p:nvPr/>
        </p:nvSpPr>
        <p:spPr>
          <a:xfrm>
            <a:off x="1171575" y="3107531"/>
            <a:ext cx="17539335"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Well-augmented data helps a model generalise; poorly designed augmentation can introduce its own bias.</a:t>
            </a:r>
            <a:endParaRPr lang="en-US" sz="142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DATA PROCESSING · 7 OF 7</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Data Balancing</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Correcting under-represented classes in a dataset so a model does not become biased toward whichever class has the most examples.</a:t>
            </a:r>
            <a:endParaRPr lang="en-US" sz="1875" dirty="0"/>
          </a:p>
        </p:txBody>
      </p:sp>
      <p:sp>
        <p:nvSpPr>
          <p:cNvPr id="6" name="Shape 4"/>
          <p:cNvSpPr/>
          <p:nvPr/>
        </p:nvSpPr>
        <p:spPr>
          <a:xfrm>
            <a:off x="914400" y="2559844"/>
            <a:ext cx="16459200"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2817019"/>
            <a:ext cx="17539335"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WHY IT MATTERS</a:t>
            </a:r>
            <a:endParaRPr lang="en-US" sz="1425" dirty="0"/>
          </a:p>
        </p:txBody>
      </p:sp>
      <p:sp>
        <p:nvSpPr>
          <p:cNvPr id="8" name="Text 6"/>
          <p:cNvSpPr/>
          <p:nvPr/>
        </p:nvSpPr>
        <p:spPr>
          <a:xfrm>
            <a:off x="1171575" y="3107531"/>
            <a:ext cx="17539335"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An unbalanced fraud dataset, for example, can teach a model to simply predict "not fraud" almost every time.</a:t>
            </a:r>
            <a:endParaRPr lang="en-US" sz="1425"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DATA TYPES · 1 OF 3</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Structured Data</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Data with a fixed, predictable schema — rows and columns in a relational database being the classic example.</a:t>
            </a:r>
            <a:endParaRPr lang="en-US" sz="1875" dirty="0"/>
          </a:p>
        </p:txBody>
      </p:sp>
      <p:sp>
        <p:nvSpPr>
          <p:cNvPr id="6" name="Shape 4"/>
          <p:cNvSpPr/>
          <p:nvPr/>
        </p:nvSpPr>
        <p:spPr>
          <a:xfrm>
            <a:off x="914400" y="2559844"/>
            <a:ext cx="16459200"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2817019"/>
            <a:ext cx="17539335"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SECURITY NOTE</a:t>
            </a:r>
            <a:endParaRPr lang="en-US" sz="1425" dirty="0"/>
          </a:p>
        </p:txBody>
      </p:sp>
      <p:sp>
        <p:nvSpPr>
          <p:cNvPr id="8" name="Text 6"/>
          <p:cNvSpPr/>
          <p:nvPr/>
        </p:nvSpPr>
        <p:spPr>
          <a:xfrm>
            <a:off x="1171575" y="3107531"/>
            <a:ext cx="17539335"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Easiest data type to validate and access-control at the individual field level.</a:t>
            </a:r>
            <a:endParaRPr lang="en-US" sz="142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DATA TYPES · 2 OF 3</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Semi-Structured Data</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Data with some organisational structure but no rigid schema — JSON documents and log files are common examples.</a:t>
            </a:r>
            <a:endParaRPr lang="en-US" sz="1875" dirty="0"/>
          </a:p>
        </p:txBody>
      </p:sp>
      <p:sp>
        <p:nvSpPr>
          <p:cNvPr id="6" name="Shape 4"/>
          <p:cNvSpPr/>
          <p:nvPr/>
        </p:nvSpPr>
        <p:spPr>
          <a:xfrm>
            <a:off x="914400" y="2559844"/>
            <a:ext cx="16459200"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2817019"/>
            <a:ext cx="17539335"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SECURITY NOTE</a:t>
            </a:r>
            <a:endParaRPr lang="en-US" sz="1425" dirty="0"/>
          </a:p>
        </p:txBody>
      </p:sp>
      <p:sp>
        <p:nvSpPr>
          <p:cNvPr id="8" name="Text 6"/>
          <p:cNvSpPr/>
          <p:nvPr/>
        </p:nvSpPr>
        <p:spPr>
          <a:xfrm>
            <a:off x="1171575" y="3107531"/>
            <a:ext cx="17539335"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A very common source format for RAG ingestion pipelines, covered next.</a:t>
            </a:r>
            <a:endParaRPr lang="en-US" sz="1425"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DATA TYPES · 3 OF 3</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Unstructured Data</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Data with no fixed schema at all — free text, images, audio, and video are all unstructured.</a:t>
            </a:r>
            <a:endParaRPr lang="en-US" sz="1875" dirty="0"/>
          </a:p>
        </p:txBody>
      </p:sp>
      <p:sp>
        <p:nvSpPr>
          <p:cNvPr id="6" name="Shape 4"/>
          <p:cNvSpPr/>
          <p:nvPr/>
        </p:nvSpPr>
        <p:spPr>
          <a:xfrm>
            <a:off x="914400" y="2559844"/>
            <a:ext cx="16459200"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2817019"/>
            <a:ext cx="17539335"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SECURITY NOTE</a:t>
            </a:r>
            <a:endParaRPr lang="en-US" sz="1425" dirty="0"/>
          </a:p>
        </p:txBody>
      </p:sp>
      <p:sp>
        <p:nvSpPr>
          <p:cNvPr id="8" name="Text 6"/>
          <p:cNvSpPr/>
          <p:nvPr/>
        </p:nvSpPr>
        <p:spPr>
          <a:xfrm>
            <a:off x="1171575" y="3107531"/>
            <a:ext cx="17539335"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Hardest data type to classify, redact, or minimise before it reaches a model.</a:t>
            </a:r>
            <a:endParaRPr lang="en-US" sz="1425"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DATA SECURITY</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Watermarking</a:t>
            </a:r>
            <a:endParaRPr lang="en-US" sz="4200" dirty="0"/>
          </a:p>
        </p:txBody>
      </p:sp>
      <p:sp>
        <p:nvSpPr>
          <p:cNvPr id="5" name="Shape 3"/>
          <p:cNvSpPr/>
          <p:nvPr/>
        </p:nvSpPr>
        <p:spPr>
          <a:xfrm>
            <a:off x="914400" y="1962150"/>
            <a:ext cx="38100" cy="552450"/>
          </a:xfrm>
          <a:prstGeom prst="rect">
            <a:avLst/>
          </a:prstGeom>
          <a:solidFill>
            <a:srgbClr val="FF6A00"/>
          </a:solidFill>
          <a:ln/>
        </p:spPr>
      </p:sp>
      <p:sp>
        <p:nvSpPr>
          <p:cNvPr id="6" name="Text 4"/>
          <p:cNvSpPr/>
          <p:nvPr/>
        </p:nvSpPr>
        <p:spPr>
          <a:xfrm>
            <a:off x="1238250" y="2038350"/>
            <a:ext cx="16629126" cy="438150"/>
          </a:xfrm>
          <a:prstGeom prst="rect">
            <a:avLst/>
          </a:prstGeom>
          <a:noFill/>
          <a:ln/>
        </p:spPr>
        <p:txBody>
          <a:bodyPr wrap="square" lIns="25400" tIns="25400" rIns="25400" bIns="25400" rtlCol="0" anchor="t">
            <a:normAutofit/>
          </a:bodyPr>
          <a:lstStyle/>
          <a:p>
            <a:pPr algn="l" indent="0" marL="0">
              <a:lnSpc>
                <a:spcPct val="129231"/>
              </a:lnSpc>
              <a:buNone/>
            </a:pPr>
            <a:r>
              <a:rPr lang="en-US" sz="2100" dirty="0">
                <a:solidFill>
                  <a:srgbClr val="F5F7FB"/>
                </a:solidFill>
                <a:latin typeface="Arial" pitchFamily="34" charset="0"/>
                <a:ea typeface="Arial" pitchFamily="34" charset="-122"/>
                <a:cs typeface="Arial" pitchFamily="34" charset="-120"/>
              </a:rPr>
              <a:t>An embedded signal in AI-generated or training content that helps verify its origin or detect AI-generated output later.</a:t>
            </a:r>
            <a:endParaRPr lang="en-US" sz="2100" dirty="0"/>
          </a:p>
        </p:txBody>
      </p:sp>
      <p:sp>
        <p:nvSpPr>
          <p:cNvPr id="7" name="Shape 5"/>
          <p:cNvSpPr/>
          <p:nvPr/>
        </p:nvSpPr>
        <p:spPr>
          <a:xfrm>
            <a:off x="914400" y="2724150"/>
            <a:ext cx="8143875" cy="1076325"/>
          </a:xfrm>
          <a:prstGeom prst="roundRect">
            <a:avLst>
              <a:gd name="adj" fmla="val 14159"/>
            </a:avLst>
          </a:prstGeom>
          <a:solidFill>
            <a:srgbClr val="FFFFFF">
              <a:alpha val="2000"/>
            </a:srgbClr>
          </a:solidFill>
          <a:ln w="9525">
            <a:solidFill>
              <a:srgbClr val="2A2F3A"/>
            </a:solidFill>
            <a:prstDash val="solid"/>
          </a:ln>
        </p:spPr>
      </p:sp>
      <p:sp>
        <p:nvSpPr>
          <p:cNvPr id="8" name="Text 6"/>
          <p:cNvSpPr/>
          <p:nvPr/>
        </p:nvSpPr>
        <p:spPr>
          <a:xfrm>
            <a:off x="1171575" y="2981325"/>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USE CASE: PROVENANCE</a:t>
            </a:r>
            <a:endParaRPr lang="en-US" sz="1425" dirty="0"/>
          </a:p>
        </p:txBody>
      </p:sp>
      <p:sp>
        <p:nvSpPr>
          <p:cNvPr id="9" name="Text 7"/>
          <p:cNvSpPr/>
          <p:nvPr/>
        </p:nvSpPr>
        <p:spPr>
          <a:xfrm>
            <a:off x="1171575" y="3271838"/>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Proving a document or image is (or isn't) AI-generated for compliance or trust purposes.</a:t>
            </a:r>
            <a:endParaRPr lang="en-US" sz="1425" dirty="0"/>
          </a:p>
        </p:txBody>
      </p:sp>
      <p:sp>
        <p:nvSpPr>
          <p:cNvPr id="10" name="Shape 8"/>
          <p:cNvSpPr/>
          <p:nvPr/>
        </p:nvSpPr>
        <p:spPr>
          <a:xfrm>
            <a:off x="9229725" y="2724150"/>
            <a:ext cx="8143875" cy="1076325"/>
          </a:xfrm>
          <a:prstGeom prst="roundRect">
            <a:avLst>
              <a:gd name="adj" fmla="val 14159"/>
            </a:avLst>
          </a:prstGeom>
          <a:solidFill>
            <a:srgbClr val="FFFFFF">
              <a:alpha val="2000"/>
            </a:srgbClr>
          </a:solidFill>
          <a:ln w="9525">
            <a:solidFill>
              <a:srgbClr val="2A2F3A"/>
            </a:solidFill>
            <a:prstDash val="solid"/>
          </a:ln>
        </p:spPr>
      </p:sp>
      <p:sp>
        <p:nvSpPr>
          <p:cNvPr id="11" name="Text 9"/>
          <p:cNvSpPr/>
          <p:nvPr/>
        </p:nvSpPr>
        <p:spPr>
          <a:xfrm>
            <a:off x="9486900" y="2981325"/>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USE CASE: MISUSE DETECTION</a:t>
            </a:r>
            <a:endParaRPr lang="en-US" sz="1425" dirty="0"/>
          </a:p>
        </p:txBody>
      </p:sp>
      <p:sp>
        <p:nvSpPr>
          <p:cNvPr id="12" name="Text 10"/>
          <p:cNvSpPr/>
          <p:nvPr/>
        </p:nvSpPr>
        <p:spPr>
          <a:xfrm>
            <a:off x="9486900" y="3271838"/>
            <a:ext cx="8392478"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Helping platforms flag deepfakes, synthetic media, or model-generated disinformation.</a:t>
            </a:r>
            <a:endParaRPr lang="en-US" sz="1425"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409575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RETRIEVAL-AUGMENTED GENERATION</a:t>
            </a:r>
            <a:endParaRPr lang="en-US" sz="1650" dirty="0"/>
          </a:p>
        </p:txBody>
      </p:sp>
      <p:sp>
        <p:nvSpPr>
          <p:cNvPr id="4" name="Text 2"/>
          <p:cNvSpPr/>
          <p:nvPr/>
        </p:nvSpPr>
        <p:spPr>
          <a:xfrm>
            <a:off x="914400" y="447675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What Is RAG?</a:t>
            </a:r>
            <a:endParaRPr lang="en-US" sz="4200" dirty="0"/>
          </a:p>
        </p:txBody>
      </p:sp>
      <p:sp>
        <p:nvSpPr>
          <p:cNvPr id="5" name="Shape 3"/>
          <p:cNvSpPr/>
          <p:nvPr/>
        </p:nvSpPr>
        <p:spPr>
          <a:xfrm>
            <a:off x="914400" y="5314950"/>
            <a:ext cx="38100" cy="952500"/>
          </a:xfrm>
          <a:prstGeom prst="rect">
            <a:avLst/>
          </a:prstGeom>
          <a:solidFill>
            <a:srgbClr val="FF6A00"/>
          </a:solidFill>
          <a:ln/>
        </p:spPr>
      </p:sp>
      <p:sp>
        <p:nvSpPr>
          <p:cNvPr id="6" name="Text 4"/>
          <p:cNvSpPr/>
          <p:nvPr/>
        </p:nvSpPr>
        <p:spPr>
          <a:xfrm>
            <a:off x="1238250" y="5391150"/>
            <a:ext cx="16629126" cy="838200"/>
          </a:xfrm>
          <a:prstGeom prst="rect">
            <a:avLst/>
          </a:prstGeom>
          <a:noFill/>
          <a:ln/>
        </p:spPr>
        <p:txBody>
          <a:bodyPr wrap="square" lIns="25400" tIns="25400" rIns="25400" bIns="25400" rtlCol="0" anchor="t">
            <a:normAutofit/>
          </a:bodyPr>
          <a:lstStyle/>
          <a:p>
            <a:pPr algn="l" indent="0" marL="0">
              <a:lnSpc>
                <a:spcPct val="129231"/>
              </a:lnSpc>
              <a:buNone/>
            </a:pPr>
            <a:r>
              <a:rPr lang="en-US" sz="2100" dirty="0">
                <a:solidFill>
                  <a:srgbClr val="F5F7FB"/>
                </a:solidFill>
                <a:latin typeface="Arial" pitchFamily="34" charset="0"/>
                <a:ea typeface="Arial" pitchFamily="34" charset="-122"/>
                <a:cs typeface="Arial" pitchFamily="34" charset="-120"/>
              </a:rPr>
              <a:t>A technique that retrieves relevant external content at query time and feeds it into a model's context, so the model can answer using information it was never trained on — without retraining.</a:t>
            </a:r>
            <a:endParaRPr lang="en-US" sz="2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RAG COMPONENTS · 1 OF 2</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Vector Storage</a:t>
            </a:r>
            <a:endParaRPr lang="en-US" sz="4200" dirty="0"/>
          </a:p>
        </p:txBody>
      </p:sp>
      <p:sp>
        <p:nvSpPr>
          <p:cNvPr id="5" name="Text 3"/>
          <p:cNvSpPr/>
          <p:nvPr/>
        </p:nvSpPr>
        <p:spPr>
          <a:xfrm>
            <a:off x="914400" y="1981200"/>
            <a:ext cx="16952976"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A specialised database that indexes embeddings so the most similar content to a query can be found quickly via similarity search, rather than exact keyword matching.</a:t>
            </a:r>
            <a:endParaRPr lang="en-US" sz="1875" dirty="0"/>
          </a:p>
        </p:txBody>
      </p:sp>
      <p:sp>
        <p:nvSpPr>
          <p:cNvPr id="6" name="Shape 4"/>
          <p:cNvSpPr/>
          <p:nvPr/>
        </p:nvSpPr>
        <p:spPr>
          <a:xfrm>
            <a:off x="914400" y="2928938"/>
            <a:ext cx="16459200"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3186113"/>
            <a:ext cx="17539335"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SECURITY NOTE</a:t>
            </a:r>
            <a:endParaRPr lang="en-US" sz="1425" dirty="0"/>
          </a:p>
        </p:txBody>
      </p:sp>
      <p:sp>
        <p:nvSpPr>
          <p:cNvPr id="8" name="Text 6"/>
          <p:cNvSpPr/>
          <p:nvPr/>
        </p:nvSpPr>
        <p:spPr>
          <a:xfrm>
            <a:off x="1171575" y="3476625"/>
            <a:ext cx="17539335"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Whatever is retrievable is effectively part of the model's answer surface — access-control the vector store itself, not just the chat interface.</a:t>
            </a:r>
            <a:endParaRPr lang="en-US" sz="1425"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RAG COMPONENTS · 2 OF 2</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Embeddings</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Numerical vector representations of content, positioned so that semantically similar content ends up close together in that vector space.</a:t>
            </a:r>
            <a:endParaRPr lang="en-US" sz="1875" dirty="0"/>
          </a:p>
        </p:txBody>
      </p:sp>
      <p:sp>
        <p:nvSpPr>
          <p:cNvPr id="6" name="Shape 4"/>
          <p:cNvSpPr/>
          <p:nvPr/>
        </p:nvSpPr>
        <p:spPr>
          <a:xfrm>
            <a:off x="914400" y="2559844"/>
            <a:ext cx="16459200"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2817019"/>
            <a:ext cx="17539335"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SECURITY NOTE</a:t>
            </a:r>
            <a:endParaRPr lang="en-US" sz="1425" dirty="0"/>
          </a:p>
        </p:txBody>
      </p:sp>
      <p:sp>
        <p:nvSpPr>
          <p:cNvPr id="8" name="Text 6"/>
          <p:cNvSpPr/>
          <p:nvPr/>
        </p:nvSpPr>
        <p:spPr>
          <a:xfrm>
            <a:off x="1171575" y="3107531"/>
            <a:ext cx="17539335"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Embeddings can sometimes be reverse-engineered toward the original content — a privacy consideration for sensitive source data.</a:t>
            </a:r>
            <a:endParaRPr lang="en-US" sz="1425"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OBJECTIVE 1.2 RECAP</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What You Should Now Be Able to Do</a:t>
            </a:r>
            <a:endParaRPr lang="en-US" sz="4200" dirty="0"/>
          </a:p>
        </p:txBody>
      </p:sp>
      <p:sp>
        <p:nvSpPr>
          <p:cNvPr id="5" name="Shape 3"/>
          <p:cNvSpPr/>
          <p:nvPr/>
        </p:nvSpPr>
        <p:spPr>
          <a:xfrm>
            <a:off x="914400" y="2019300"/>
            <a:ext cx="16459200" cy="762000"/>
          </a:xfrm>
          <a:prstGeom prst="roundRect">
            <a:avLst>
              <a:gd name="adj" fmla="val 20000"/>
            </a:avLst>
          </a:prstGeom>
          <a:solidFill>
            <a:srgbClr val="FFFFFF">
              <a:alpha val="2000"/>
            </a:srgbClr>
          </a:solidFill>
          <a:ln w="9525">
            <a:solidFill>
              <a:srgbClr val="2A2F3A"/>
            </a:solidFill>
            <a:prstDash val="solid"/>
          </a:ln>
        </p:spPr>
      </p:sp>
      <p:sp>
        <p:nvSpPr>
          <p:cNvPr id="6" name="Text 4"/>
          <p:cNvSpPr/>
          <p:nvPr/>
        </p:nvSpPr>
        <p:spPr>
          <a:xfrm>
            <a:off x="1171575" y="2276475"/>
            <a:ext cx="16438626" cy="285750"/>
          </a:xfrm>
          <a:prstGeom prst="rect">
            <a:avLst/>
          </a:prstGeom>
          <a:noFill/>
          <a:ln/>
        </p:spPr>
        <p:txBody>
          <a:bodyPr wrap="square" lIns="25400" tIns="25400" rIns="25400" bIns="25400" rtlCol="0" anchor="t">
            <a:normAutofit/>
          </a:bodyPr>
          <a:lstStyle/>
          <a:p>
            <a:pPr algn="l" indent="0" marL="0">
              <a:buNone/>
            </a:pPr>
            <a:r>
              <a:rPr lang="en-US" sz="1650" dirty="0">
                <a:solidFill>
                  <a:srgbClr val="F5F7FB"/>
                </a:solidFill>
                <a:latin typeface="Arial" pitchFamily="34" charset="0"/>
                <a:ea typeface="Arial" pitchFamily="34" charset="-122"/>
                <a:cs typeface="Arial" pitchFamily="34" charset="-120"/>
              </a:rPr>
              <a:t>Explain all seven data processing concepts, from cleansing through balancing</a:t>
            </a:r>
            <a:endParaRPr lang="en-US" sz="1650" dirty="0"/>
          </a:p>
        </p:txBody>
      </p:sp>
      <p:sp>
        <p:nvSpPr>
          <p:cNvPr id="7" name="Shape 5"/>
          <p:cNvSpPr/>
          <p:nvPr/>
        </p:nvSpPr>
        <p:spPr>
          <a:xfrm>
            <a:off x="914400" y="2952750"/>
            <a:ext cx="16459200" cy="762000"/>
          </a:xfrm>
          <a:prstGeom prst="roundRect">
            <a:avLst>
              <a:gd name="adj" fmla="val 20000"/>
            </a:avLst>
          </a:prstGeom>
          <a:solidFill>
            <a:srgbClr val="FFFFFF">
              <a:alpha val="2000"/>
            </a:srgbClr>
          </a:solidFill>
          <a:ln w="9525">
            <a:solidFill>
              <a:srgbClr val="2A2F3A"/>
            </a:solidFill>
            <a:prstDash val="solid"/>
          </a:ln>
        </p:spPr>
      </p:sp>
      <p:sp>
        <p:nvSpPr>
          <p:cNvPr id="8" name="Text 6"/>
          <p:cNvSpPr/>
          <p:nvPr/>
        </p:nvSpPr>
        <p:spPr>
          <a:xfrm>
            <a:off x="1171575" y="3209925"/>
            <a:ext cx="16438626" cy="285750"/>
          </a:xfrm>
          <a:prstGeom prst="rect">
            <a:avLst/>
          </a:prstGeom>
          <a:noFill/>
          <a:ln/>
        </p:spPr>
        <p:txBody>
          <a:bodyPr wrap="square" lIns="25400" tIns="25400" rIns="25400" bIns="25400" rtlCol="0" anchor="t">
            <a:normAutofit/>
          </a:bodyPr>
          <a:lstStyle/>
          <a:p>
            <a:pPr algn="l" indent="0" marL="0">
              <a:buNone/>
            </a:pPr>
            <a:r>
              <a:rPr lang="en-US" sz="1650" dirty="0">
                <a:solidFill>
                  <a:srgbClr val="F5F7FB"/>
                </a:solidFill>
                <a:latin typeface="Arial" pitchFamily="34" charset="0"/>
                <a:ea typeface="Arial" pitchFamily="34" charset="-122"/>
                <a:cs typeface="Arial" pitchFamily="34" charset="-120"/>
              </a:rPr>
              <a:t>Distinguish structured, semi-structured, and unstructured data and their relative risk</a:t>
            </a:r>
            <a:endParaRPr lang="en-US" sz="1650" dirty="0"/>
          </a:p>
        </p:txBody>
      </p:sp>
      <p:sp>
        <p:nvSpPr>
          <p:cNvPr id="9" name="Shape 7"/>
          <p:cNvSpPr/>
          <p:nvPr/>
        </p:nvSpPr>
        <p:spPr>
          <a:xfrm>
            <a:off x="914400" y="3886200"/>
            <a:ext cx="16459200" cy="762000"/>
          </a:xfrm>
          <a:prstGeom prst="roundRect">
            <a:avLst>
              <a:gd name="adj" fmla="val 20000"/>
            </a:avLst>
          </a:prstGeom>
          <a:solidFill>
            <a:srgbClr val="FFFFFF">
              <a:alpha val="2000"/>
            </a:srgbClr>
          </a:solidFill>
          <a:ln w="9525">
            <a:solidFill>
              <a:srgbClr val="2A2F3A"/>
            </a:solidFill>
            <a:prstDash val="solid"/>
          </a:ln>
        </p:spPr>
      </p:sp>
      <p:sp>
        <p:nvSpPr>
          <p:cNvPr id="10" name="Text 8"/>
          <p:cNvSpPr/>
          <p:nvPr/>
        </p:nvSpPr>
        <p:spPr>
          <a:xfrm>
            <a:off x="1171575" y="4143375"/>
            <a:ext cx="16438626" cy="285750"/>
          </a:xfrm>
          <a:prstGeom prst="rect">
            <a:avLst/>
          </a:prstGeom>
          <a:noFill/>
          <a:ln/>
        </p:spPr>
        <p:txBody>
          <a:bodyPr wrap="square" lIns="25400" tIns="25400" rIns="25400" bIns="25400" rtlCol="0" anchor="t">
            <a:normAutofit/>
          </a:bodyPr>
          <a:lstStyle/>
          <a:p>
            <a:pPr algn="l" indent="0" marL="0">
              <a:buNone/>
            </a:pPr>
            <a:r>
              <a:rPr lang="en-US" sz="1650" dirty="0">
                <a:solidFill>
                  <a:srgbClr val="F5F7FB"/>
                </a:solidFill>
                <a:latin typeface="Arial" pitchFamily="34" charset="0"/>
                <a:ea typeface="Arial" pitchFamily="34" charset="-122"/>
                <a:cs typeface="Arial" pitchFamily="34" charset="-120"/>
              </a:rPr>
              <a:t>Explain watermarking and how RAG uses embeddings and vector storage together</a:t>
            </a:r>
            <a:endParaRPr lang="en-US" sz="16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40005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OBJECTIVE 1.3</a:t>
            </a:r>
            <a:endParaRPr lang="en-US" sz="1650" dirty="0"/>
          </a:p>
        </p:txBody>
      </p:sp>
      <p:sp>
        <p:nvSpPr>
          <p:cNvPr id="4" name="Text 2"/>
          <p:cNvSpPr/>
          <p:nvPr/>
        </p:nvSpPr>
        <p:spPr>
          <a:xfrm>
            <a:off x="914400" y="4438650"/>
            <a:ext cx="16952976" cy="1295400"/>
          </a:xfrm>
          <a:prstGeom prst="rect">
            <a:avLst/>
          </a:prstGeom>
          <a:noFill/>
          <a:ln/>
        </p:spPr>
        <p:txBody>
          <a:bodyPr wrap="square" lIns="25400" tIns="25400" rIns="25400" bIns="25400" rtlCol="0" anchor="t">
            <a:normAutofit/>
          </a:bodyPr>
          <a:lstStyle/>
          <a:p>
            <a:pPr algn="l" indent="0" marL="0">
              <a:lnSpc>
                <a:spcPct val="95652"/>
              </a:lnSpc>
              <a:buNone/>
            </a:pPr>
            <a:r>
              <a:rPr lang="en-US" sz="4500" b="1" dirty="0">
                <a:solidFill>
                  <a:srgbClr val="F5F7FB"/>
                </a:solidFill>
                <a:latin typeface="Arial" pitchFamily="34" charset="0"/>
                <a:ea typeface="Arial" pitchFamily="34" charset="-122"/>
                <a:cs typeface="Arial" pitchFamily="34" charset="-120"/>
              </a:rPr>
              <a:t>Security Throughout the AI Life Cycle</a:t>
            </a:r>
            <a:endParaRPr lang="en-US" sz="4500" dirty="0"/>
          </a:p>
        </p:txBody>
      </p:sp>
      <p:sp>
        <p:nvSpPr>
          <p:cNvPr id="5" name="Text 3"/>
          <p:cNvSpPr/>
          <p:nvPr/>
        </p:nvSpPr>
        <p:spPr>
          <a:xfrm>
            <a:off x="914400" y="5905500"/>
            <a:ext cx="18105120" cy="419100"/>
          </a:xfrm>
          <a:prstGeom prst="rect">
            <a:avLst/>
          </a:prstGeom>
          <a:noFill/>
          <a:ln/>
        </p:spPr>
        <p:txBody>
          <a:bodyPr wrap="square" lIns="25400" tIns="25400" rIns="25400" bIns="25400" rtlCol="0" anchor="t">
            <a:normAutofit/>
          </a:bodyPr>
          <a:lstStyle/>
          <a:p>
            <a:pPr algn="l" indent="0" marL="0">
              <a:buNone/>
            </a:pPr>
            <a:r>
              <a:rPr lang="en-US" sz="2550" dirty="0">
                <a:solidFill>
                  <a:srgbClr val="B8C0CF"/>
                </a:solidFill>
                <a:latin typeface="Arial" pitchFamily="34" charset="0"/>
                <a:ea typeface="Arial" pitchFamily="34" charset="-122"/>
                <a:cs typeface="Arial" pitchFamily="34" charset="-120"/>
              </a:rPr>
              <a:t>Every stage of building and running an AI system carries its own risk</a:t>
            </a:r>
            <a:endParaRPr lang="en-US" sz="25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LIFE CYCLE STAGE 0</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Business Use Case</a:t>
            </a:r>
            <a:endParaRPr lang="en-US" sz="4200" dirty="0"/>
          </a:p>
        </p:txBody>
      </p:sp>
      <p:sp>
        <p:nvSpPr>
          <p:cNvPr id="5" name="Shape 3"/>
          <p:cNvSpPr/>
          <p:nvPr/>
        </p:nvSpPr>
        <p:spPr>
          <a:xfrm>
            <a:off x="914400" y="1962150"/>
            <a:ext cx="38100" cy="552450"/>
          </a:xfrm>
          <a:prstGeom prst="rect">
            <a:avLst/>
          </a:prstGeom>
          <a:solidFill>
            <a:srgbClr val="FF6A00"/>
          </a:solidFill>
          <a:ln/>
        </p:spPr>
      </p:sp>
      <p:sp>
        <p:nvSpPr>
          <p:cNvPr id="6" name="Text 4"/>
          <p:cNvSpPr/>
          <p:nvPr/>
        </p:nvSpPr>
        <p:spPr>
          <a:xfrm>
            <a:off x="1238250" y="2038350"/>
            <a:ext cx="16629126" cy="438150"/>
          </a:xfrm>
          <a:prstGeom prst="rect">
            <a:avLst/>
          </a:prstGeom>
          <a:noFill/>
          <a:ln/>
        </p:spPr>
        <p:txBody>
          <a:bodyPr wrap="square" lIns="25400" tIns="25400" rIns="25400" bIns="25400" rtlCol="0" anchor="t">
            <a:normAutofit/>
          </a:bodyPr>
          <a:lstStyle/>
          <a:p>
            <a:pPr algn="l" indent="0" marL="0">
              <a:lnSpc>
                <a:spcPct val="129231"/>
              </a:lnSpc>
              <a:buNone/>
            </a:pPr>
            <a:r>
              <a:rPr lang="en-US" sz="2100" dirty="0">
                <a:solidFill>
                  <a:srgbClr val="F5F7FB"/>
                </a:solidFill>
                <a:latin typeface="Arial" pitchFamily="34" charset="0"/>
                <a:ea typeface="Arial" pitchFamily="34" charset="-122"/>
                <a:cs typeface="Arial" pitchFamily="34" charset="-120"/>
              </a:rPr>
              <a:t>Every AI initiative should trace back to alignment with corporate objectives — a security and governance concern, not just a product one.</a:t>
            </a:r>
            <a:endParaRPr lang="en-US" sz="2100" dirty="0"/>
          </a:p>
        </p:txBody>
      </p:sp>
      <p:sp>
        <p:nvSpPr>
          <p:cNvPr id="7" name="Shape 5"/>
          <p:cNvSpPr/>
          <p:nvPr/>
        </p:nvSpPr>
        <p:spPr>
          <a:xfrm>
            <a:off x="914400" y="2724150"/>
            <a:ext cx="16459200" cy="1076325"/>
          </a:xfrm>
          <a:prstGeom prst="roundRect">
            <a:avLst>
              <a:gd name="adj" fmla="val 14159"/>
            </a:avLst>
          </a:prstGeom>
          <a:solidFill>
            <a:srgbClr val="FFFFFF">
              <a:alpha val="2000"/>
            </a:srgbClr>
          </a:solidFill>
          <a:ln w="9525">
            <a:solidFill>
              <a:srgbClr val="2A2F3A"/>
            </a:solidFill>
            <a:prstDash val="solid"/>
          </a:ln>
        </p:spPr>
      </p:sp>
      <p:sp>
        <p:nvSpPr>
          <p:cNvPr id="8" name="Text 6"/>
          <p:cNvSpPr/>
          <p:nvPr/>
        </p:nvSpPr>
        <p:spPr>
          <a:xfrm>
            <a:off x="1171575" y="2981325"/>
            <a:ext cx="17539335"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WHY IT MATTERS</a:t>
            </a:r>
            <a:endParaRPr lang="en-US" sz="1425" dirty="0"/>
          </a:p>
        </p:txBody>
      </p:sp>
      <p:sp>
        <p:nvSpPr>
          <p:cNvPr id="9" name="Text 7"/>
          <p:cNvSpPr/>
          <p:nvPr/>
        </p:nvSpPr>
        <p:spPr>
          <a:xfrm>
            <a:off x="1171575" y="3271838"/>
            <a:ext cx="17539335"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A use case with no clear business owner or success metric is also a use case with no one accountable for its security risk.</a:t>
            </a:r>
            <a:endParaRPr lang="en-US" sz="1425"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LIFE CYCLE STAGE 1</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Data Collection</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Gathering the raw source data an AI system will be built from — and the stage where trustworthiness and authenticity must first be assessed.</a:t>
            </a:r>
            <a:endParaRPr lang="en-US" sz="1875" dirty="0"/>
          </a:p>
        </p:txBody>
      </p:sp>
      <p:sp>
        <p:nvSpPr>
          <p:cNvPr id="6" name="Shape 4"/>
          <p:cNvSpPr/>
          <p:nvPr/>
        </p:nvSpPr>
        <p:spPr>
          <a:xfrm>
            <a:off x="914400" y="2559844"/>
            <a:ext cx="8143875" cy="1347788"/>
          </a:xfrm>
          <a:prstGeom prst="roundRect">
            <a:avLst>
              <a:gd name="adj" fmla="val 11307"/>
            </a:avLst>
          </a:prstGeom>
          <a:solidFill>
            <a:srgbClr val="FFFFFF">
              <a:alpha val="2000"/>
            </a:srgbClr>
          </a:solidFill>
          <a:ln w="9525">
            <a:solidFill>
              <a:srgbClr val="2A2F3A"/>
            </a:solidFill>
            <a:prstDash val="solid"/>
          </a:ln>
        </p:spPr>
      </p:sp>
      <p:sp>
        <p:nvSpPr>
          <p:cNvPr id="7" name="Text 5"/>
          <p:cNvSpPr/>
          <p:nvPr/>
        </p:nvSpPr>
        <p:spPr>
          <a:xfrm>
            <a:off x="1171575" y="2817019"/>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TRUSTWORTHINESS</a:t>
            </a:r>
            <a:endParaRPr lang="en-US" sz="1425" dirty="0"/>
          </a:p>
        </p:txBody>
      </p:sp>
      <p:sp>
        <p:nvSpPr>
          <p:cNvPr id="8" name="Text 6"/>
          <p:cNvSpPr/>
          <p:nvPr/>
        </p:nvSpPr>
        <p:spPr>
          <a:xfrm>
            <a:off x="1171575" y="3107531"/>
            <a:ext cx="7858411" cy="581025"/>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Confidence that collected data is accurate and fit for purpose. Risk if ignored: a model inherits its errors at scale.</a:t>
            </a:r>
            <a:endParaRPr lang="en-US" sz="1425" dirty="0"/>
          </a:p>
        </p:txBody>
      </p:sp>
      <p:sp>
        <p:nvSpPr>
          <p:cNvPr id="9" name="Shape 7"/>
          <p:cNvSpPr/>
          <p:nvPr/>
        </p:nvSpPr>
        <p:spPr>
          <a:xfrm>
            <a:off x="9229725" y="2559844"/>
            <a:ext cx="8143875" cy="1347788"/>
          </a:xfrm>
          <a:prstGeom prst="roundRect">
            <a:avLst>
              <a:gd name="adj" fmla="val 11307"/>
            </a:avLst>
          </a:prstGeom>
          <a:solidFill>
            <a:srgbClr val="FFFFFF">
              <a:alpha val="2000"/>
            </a:srgbClr>
          </a:solidFill>
          <a:ln w="9525">
            <a:solidFill>
              <a:srgbClr val="2A2F3A"/>
            </a:solidFill>
            <a:prstDash val="solid"/>
          </a:ln>
        </p:spPr>
      </p:sp>
      <p:sp>
        <p:nvSpPr>
          <p:cNvPr id="10" name="Text 8"/>
          <p:cNvSpPr/>
          <p:nvPr/>
        </p:nvSpPr>
        <p:spPr>
          <a:xfrm>
            <a:off x="9486900" y="2817019"/>
            <a:ext cx="8392478"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AUTHENTICITY</a:t>
            </a:r>
            <a:endParaRPr lang="en-US" sz="1425" dirty="0"/>
          </a:p>
        </p:txBody>
      </p:sp>
      <p:sp>
        <p:nvSpPr>
          <p:cNvPr id="11" name="Text 9"/>
          <p:cNvSpPr/>
          <p:nvPr/>
        </p:nvSpPr>
        <p:spPr>
          <a:xfrm>
            <a:off x="9486900" y="3107531"/>
            <a:ext cx="7858411" cy="581025"/>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Confidence that data genuinely originates from its claimed source. Risk if ignored: forged data can poison training undetected.</a:t>
            </a:r>
            <a:endParaRPr lang="en-US" sz="1425"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LIFE CYCLE STAGE 2</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Data Preparation</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Cleansing, labelling, structuring, and otherwise transforming collected data into a form the model development stage can use.</a:t>
            </a:r>
            <a:endParaRPr lang="en-US" sz="1875" dirty="0"/>
          </a:p>
        </p:txBody>
      </p:sp>
      <p:sp>
        <p:nvSpPr>
          <p:cNvPr id="6" name="Shape 4"/>
          <p:cNvSpPr/>
          <p:nvPr/>
        </p:nvSpPr>
        <p:spPr>
          <a:xfrm>
            <a:off x="914400" y="2559844"/>
            <a:ext cx="16459200"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2817019"/>
            <a:ext cx="17539335"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WHY IT MATTERS</a:t>
            </a:r>
            <a:endParaRPr lang="en-US" sz="1425" dirty="0"/>
          </a:p>
        </p:txBody>
      </p:sp>
      <p:sp>
        <p:nvSpPr>
          <p:cNvPr id="8" name="Text 6"/>
          <p:cNvSpPr/>
          <p:nvPr/>
        </p:nvSpPr>
        <p:spPr>
          <a:xfrm>
            <a:off x="1171575" y="3107531"/>
            <a:ext cx="17539335"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This is where cleansing, balancing, and augmentation controls from Objective 1.2 are actually applied.</a:t>
            </a:r>
            <a:endParaRPr lang="en-US" sz="1425"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LIFE CYCLE STAGE 3</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Model Development / Selection</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Building a new model from scratch, or selecting and fine-tuning an existing pre-trained model, based on the business use case's requirements.</a:t>
            </a:r>
            <a:endParaRPr lang="en-US" sz="1875" dirty="0"/>
          </a:p>
        </p:txBody>
      </p:sp>
      <p:sp>
        <p:nvSpPr>
          <p:cNvPr id="6" name="Shape 4"/>
          <p:cNvSpPr/>
          <p:nvPr/>
        </p:nvSpPr>
        <p:spPr>
          <a:xfrm>
            <a:off x="914400" y="2559844"/>
            <a:ext cx="16459200"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2817019"/>
            <a:ext cx="17539335"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WHY IT MATTERS</a:t>
            </a:r>
            <a:endParaRPr lang="en-US" sz="1425" dirty="0"/>
          </a:p>
        </p:txBody>
      </p:sp>
      <p:sp>
        <p:nvSpPr>
          <p:cNvPr id="8" name="Text 6"/>
          <p:cNvSpPr/>
          <p:nvPr/>
        </p:nvSpPr>
        <p:spPr>
          <a:xfrm>
            <a:off x="1171575" y="3107531"/>
            <a:ext cx="17539335"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Choosing an unvetted third-party base model here introduces AI supply-chain risk, covered in Domain 2.0.</a:t>
            </a:r>
            <a:endParaRPr lang="en-US" sz="1425"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LIFE CYCLE STAGE 4</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Model Evaluation</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Testing a candidate model's accuracy, bias, robustness, and safety before it is trusted with real deployment.</a:t>
            </a:r>
            <a:endParaRPr lang="en-US" sz="1875" dirty="0"/>
          </a:p>
        </p:txBody>
      </p:sp>
      <p:sp>
        <p:nvSpPr>
          <p:cNvPr id="6" name="Shape 4"/>
          <p:cNvSpPr/>
          <p:nvPr/>
        </p:nvSpPr>
        <p:spPr>
          <a:xfrm>
            <a:off x="914400" y="2559844"/>
            <a:ext cx="16459200"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2817019"/>
            <a:ext cx="17539335"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WHY IT MATTERS</a:t>
            </a:r>
            <a:endParaRPr lang="en-US" sz="1425" dirty="0"/>
          </a:p>
        </p:txBody>
      </p:sp>
      <p:sp>
        <p:nvSpPr>
          <p:cNvPr id="8" name="Text 6"/>
          <p:cNvSpPr/>
          <p:nvPr/>
        </p:nvSpPr>
        <p:spPr>
          <a:xfrm>
            <a:off x="1171575" y="3107531"/>
            <a:ext cx="17539335"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Evaluation is the last checkpoint before a flawed model can reach real users.</a:t>
            </a:r>
            <a:endParaRPr lang="en-US" sz="1425"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LIFE CYCLE STAGE 5</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Deployment</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Releasing the evaluated model into a live environment where real users or systems begin depending on its output.</a:t>
            </a:r>
            <a:endParaRPr lang="en-US" sz="1875" dirty="0"/>
          </a:p>
        </p:txBody>
      </p:sp>
      <p:sp>
        <p:nvSpPr>
          <p:cNvPr id="6" name="Shape 4"/>
          <p:cNvSpPr/>
          <p:nvPr/>
        </p:nvSpPr>
        <p:spPr>
          <a:xfrm>
            <a:off x="914400" y="2559844"/>
            <a:ext cx="16459200"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2817019"/>
            <a:ext cx="17539335"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WHY IT MATTERS</a:t>
            </a:r>
            <a:endParaRPr lang="en-US" sz="1425" dirty="0"/>
          </a:p>
        </p:txBody>
      </p:sp>
      <p:sp>
        <p:nvSpPr>
          <p:cNvPr id="8" name="Text 6"/>
          <p:cNvSpPr/>
          <p:nvPr/>
        </p:nvSpPr>
        <p:spPr>
          <a:xfrm>
            <a:off x="1171575" y="3107531"/>
            <a:ext cx="17539335"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Access controls, gateway controls, and rate limits (Domain 2.0) must be in place before this stage, not after.</a:t>
            </a:r>
            <a:endParaRPr lang="en-US" sz="1425"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LIFE CYCLE STAGE 6</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Validation</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Confirming that the model's real production behaviour actually matches what evaluation predicted, once live traffic is involved.</a:t>
            </a:r>
            <a:endParaRPr lang="en-US" sz="1875" dirty="0"/>
          </a:p>
        </p:txBody>
      </p:sp>
      <p:sp>
        <p:nvSpPr>
          <p:cNvPr id="6" name="Shape 4"/>
          <p:cNvSpPr/>
          <p:nvPr/>
        </p:nvSpPr>
        <p:spPr>
          <a:xfrm>
            <a:off x="914400" y="2559844"/>
            <a:ext cx="16459200"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2817019"/>
            <a:ext cx="17539335"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WHY IT MATTERS</a:t>
            </a:r>
            <a:endParaRPr lang="en-US" sz="1425" dirty="0"/>
          </a:p>
        </p:txBody>
      </p:sp>
      <p:sp>
        <p:nvSpPr>
          <p:cNvPr id="8" name="Text 6"/>
          <p:cNvSpPr/>
          <p:nvPr/>
        </p:nvSpPr>
        <p:spPr>
          <a:xfrm>
            <a:off x="1171575" y="3107531"/>
            <a:ext cx="17539335"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Live conditions often surface issues a controlled evaluation environment never showed.</a:t>
            </a:r>
            <a:endParaRPr lang="en-US" sz="1425"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LIFE CYCLE STAGE 7</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Monitoring &amp; Maintenance</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Continuously watching a deployed model for drift, abuse, degraded accuracy, or emerging security incidents.</a:t>
            </a:r>
            <a:endParaRPr lang="en-US" sz="1875" dirty="0"/>
          </a:p>
        </p:txBody>
      </p:sp>
      <p:sp>
        <p:nvSpPr>
          <p:cNvPr id="6" name="Shape 4"/>
          <p:cNvSpPr/>
          <p:nvPr/>
        </p:nvSpPr>
        <p:spPr>
          <a:xfrm>
            <a:off x="914400" y="2559844"/>
            <a:ext cx="16459200"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2817019"/>
            <a:ext cx="17539335"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WHY IT MATTERS</a:t>
            </a:r>
            <a:endParaRPr lang="en-US" sz="1425" dirty="0"/>
          </a:p>
        </p:txBody>
      </p:sp>
      <p:sp>
        <p:nvSpPr>
          <p:cNvPr id="8" name="Text 6"/>
          <p:cNvSpPr/>
          <p:nvPr/>
        </p:nvSpPr>
        <p:spPr>
          <a:xfrm>
            <a:off x="1171575" y="3107531"/>
            <a:ext cx="17539335"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Directly connects to the monitoring and auditing controls detailed in Domain 2.0.</a:t>
            </a:r>
            <a:endParaRPr lang="en-US" sz="1425"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LIFE CYCLE STAGE 8</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Feedback &amp; Iteration</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Feeding real-world monitoring results and user feedback back into the next round of data collection, retraining, or fine-tuning.</a:t>
            </a:r>
            <a:endParaRPr lang="en-US" sz="1875" dirty="0"/>
          </a:p>
        </p:txBody>
      </p:sp>
      <p:sp>
        <p:nvSpPr>
          <p:cNvPr id="6" name="Shape 4"/>
          <p:cNvSpPr/>
          <p:nvPr/>
        </p:nvSpPr>
        <p:spPr>
          <a:xfrm>
            <a:off x="914400" y="2559844"/>
            <a:ext cx="16459200"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2817019"/>
            <a:ext cx="17539335"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WHY IT MATTERS</a:t>
            </a:r>
            <a:endParaRPr lang="en-US" sz="1425" dirty="0"/>
          </a:p>
        </p:txBody>
      </p:sp>
      <p:sp>
        <p:nvSpPr>
          <p:cNvPr id="8" name="Text 6"/>
          <p:cNvSpPr/>
          <p:nvPr/>
        </p:nvSpPr>
        <p:spPr>
          <a:xfrm>
            <a:off x="1171575" y="3107531"/>
            <a:ext cx="17539335"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This closes the loop — the life cycle is continuous, not a one-time project.</a:t>
            </a:r>
            <a:endParaRPr lang="en-US" sz="1425"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MODEL DEVELOPMENT LIFE CYCLE (MDLC) · FULL RECAP</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Eight Stages, Start to Finish</a:t>
            </a:r>
            <a:endParaRPr lang="en-US" sz="4200" dirty="0"/>
          </a:p>
        </p:txBody>
      </p:sp>
      <p:sp>
        <p:nvSpPr>
          <p:cNvPr id="5" name="Shape 3"/>
          <p:cNvSpPr/>
          <p:nvPr/>
        </p:nvSpPr>
        <p:spPr>
          <a:xfrm>
            <a:off x="914400" y="2000250"/>
            <a:ext cx="4029075" cy="990600"/>
          </a:xfrm>
          <a:prstGeom prst="roundRect">
            <a:avLst>
              <a:gd name="adj" fmla="val 15385"/>
            </a:avLst>
          </a:prstGeom>
          <a:solidFill>
            <a:srgbClr val="FFFFFF">
              <a:alpha val="2000"/>
            </a:srgbClr>
          </a:solidFill>
          <a:ln w="9525">
            <a:solidFill>
              <a:srgbClr val="2A2F3A"/>
            </a:solidFill>
            <a:prstDash val="solid"/>
          </a:ln>
        </p:spPr>
      </p:sp>
      <p:sp>
        <p:nvSpPr>
          <p:cNvPr id="6" name="Shape 4"/>
          <p:cNvSpPr/>
          <p:nvPr/>
        </p:nvSpPr>
        <p:spPr>
          <a:xfrm>
            <a:off x="1171575" y="2257425"/>
            <a:ext cx="476250" cy="476250"/>
          </a:xfrm>
          <a:prstGeom prst="ellipse">
            <a:avLst/>
          </a:prstGeom>
          <a:solidFill>
            <a:srgbClr val="FF6A00">
              <a:alpha val="18000"/>
            </a:srgbClr>
          </a:solidFill>
          <a:ln w="9525">
            <a:solidFill>
              <a:srgbClr val="FF6A00"/>
            </a:solidFill>
            <a:prstDash val="solid"/>
          </a:ln>
        </p:spPr>
      </p:sp>
      <p:sp>
        <p:nvSpPr>
          <p:cNvPr id="7" name="Text 5"/>
          <p:cNvSpPr/>
          <p:nvPr/>
        </p:nvSpPr>
        <p:spPr>
          <a:xfrm>
            <a:off x="1143000" y="2266950"/>
            <a:ext cx="533400" cy="4953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6A00"/>
                </a:solidFill>
                <a:latin typeface="Arial" pitchFamily="34" charset="0"/>
                <a:ea typeface="Arial" pitchFamily="34" charset="-122"/>
                <a:cs typeface="Arial" pitchFamily="34" charset="-120"/>
              </a:rPr>
              <a:t>1</a:t>
            </a:r>
            <a:endParaRPr lang="en-US" sz="1650" dirty="0"/>
          </a:p>
        </p:txBody>
      </p:sp>
      <p:sp>
        <p:nvSpPr>
          <p:cNvPr id="8" name="Text 6"/>
          <p:cNvSpPr/>
          <p:nvPr/>
        </p:nvSpPr>
        <p:spPr>
          <a:xfrm>
            <a:off x="1762125" y="2402681"/>
            <a:ext cx="1132284" cy="223838"/>
          </a:xfrm>
          <a:prstGeom prst="rect">
            <a:avLst/>
          </a:prstGeom>
          <a:noFill/>
          <a:ln/>
        </p:spPr>
        <p:txBody>
          <a:bodyPr wrap="square" lIns="25400" tIns="25400" rIns="25400" bIns="25400" rtlCol="0" anchor="t">
            <a:normAutofit/>
          </a:bodyPr>
          <a:lstStyle/>
          <a:p>
            <a:pPr algn="l" indent="0" marL="0">
              <a:buNone/>
            </a:pPr>
            <a:r>
              <a:rPr lang="en-US" sz="1238" dirty="0">
                <a:solidFill>
                  <a:srgbClr val="F5F7FB"/>
                </a:solidFill>
                <a:latin typeface="Arial" pitchFamily="34" charset="0"/>
                <a:ea typeface="Arial" pitchFamily="34" charset="-122"/>
                <a:cs typeface="Arial" pitchFamily="34" charset="-120"/>
              </a:rPr>
              <a:t>Data collection</a:t>
            </a:r>
            <a:endParaRPr lang="en-US" sz="1238" dirty="0"/>
          </a:p>
        </p:txBody>
      </p:sp>
      <p:sp>
        <p:nvSpPr>
          <p:cNvPr id="9" name="Shape 7"/>
          <p:cNvSpPr/>
          <p:nvPr/>
        </p:nvSpPr>
        <p:spPr>
          <a:xfrm>
            <a:off x="5057775" y="2000250"/>
            <a:ext cx="4029075" cy="990600"/>
          </a:xfrm>
          <a:prstGeom prst="roundRect">
            <a:avLst>
              <a:gd name="adj" fmla="val 15385"/>
            </a:avLst>
          </a:prstGeom>
          <a:solidFill>
            <a:srgbClr val="FFFFFF">
              <a:alpha val="2000"/>
            </a:srgbClr>
          </a:solidFill>
          <a:ln w="9525">
            <a:solidFill>
              <a:srgbClr val="2A2F3A"/>
            </a:solidFill>
            <a:prstDash val="solid"/>
          </a:ln>
        </p:spPr>
      </p:sp>
      <p:sp>
        <p:nvSpPr>
          <p:cNvPr id="10" name="Shape 8"/>
          <p:cNvSpPr/>
          <p:nvPr/>
        </p:nvSpPr>
        <p:spPr>
          <a:xfrm>
            <a:off x="5314950" y="2257425"/>
            <a:ext cx="476250" cy="476250"/>
          </a:xfrm>
          <a:prstGeom prst="ellipse">
            <a:avLst/>
          </a:prstGeom>
          <a:solidFill>
            <a:srgbClr val="FF6A00">
              <a:alpha val="18000"/>
            </a:srgbClr>
          </a:solidFill>
          <a:ln w="9525">
            <a:solidFill>
              <a:srgbClr val="FF6A00"/>
            </a:solidFill>
            <a:prstDash val="solid"/>
          </a:ln>
        </p:spPr>
      </p:sp>
      <p:sp>
        <p:nvSpPr>
          <p:cNvPr id="11" name="Text 9"/>
          <p:cNvSpPr/>
          <p:nvPr/>
        </p:nvSpPr>
        <p:spPr>
          <a:xfrm>
            <a:off x="5286375" y="2266950"/>
            <a:ext cx="533400" cy="4953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6A00"/>
                </a:solidFill>
                <a:latin typeface="Arial" pitchFamily="34" charset="0"/>
                <a:ea typeface="Arial" pitchFamily="34" charset="-122"/>
                <a:cs typeface="Arial" pitchFamily="34" charset="-120"/>
              </a:rPr>
              <a:t>2</a:t>
            </a:r>
            <a:endParaRPr lang="en-US" sz="1650" dirty="0"/>
          </a:p>
        </p:txBody>
      </p:sp>
      <p:sp>
        <p:nvSpPr>
          <p:cNvPr id="12" name="Text 10"/>
          <p:cNvSpPr/>
          <p:nvPr/>
        </p:nvSpPr>
        <p:spPr>
          <a:xfrm>
            <a:off x="5905500" y="2402681"/>
            <a:ext cx="1261616" cy="223838"/>
          </a:xfrm>
          <a:prstGeom prst="rect">
            <a:avLst/>
          </a:prstGeom>
          <a:noFill/>
          <a:ln/>
        </p:spPr>
        <p:txBody>
          <a:bodyPr wrap="square" lIns="25400" tIns="25400" rIns="25400" bIns="25400" rtlCol="0" anchor="t">
            <a:normAutofit/>
          </a:bodyPr>
          <a:lstStyle/>
          <a:p>
            <a:pPr algn="l" indent="0" marL="0">
              <a:buNone/>
            </a:pPr>
            <a:r>
              <a:rPr lang="en-US" sz="1238" dirty="0">
                <a:solidFill>
                  <a:srgbClr val="F5F7FB"/>
                </a:solidFill>
                <a:latin typeface="Arial" pitchFamily="34" charset="0"/>
                <a:ea typeface="Arial" pitchFamily="34" charset="-122"/>
                <a:cs typeface="Arial" pitchFamily="34" charset="-120"/>
              </a:rPr>
              <a:t>Data preparation</a:t>
            </a:r>
            <a:endParaRPr lang="en-US" sz="1238" dirty="0"/>
          </a:p>
        </p:txBody>
      </p:sp>
      <p:sp>
        <p:nvSpPr>
          <p:cNvPr id="13" name="Shape 11"/>
          <p:cNvSpPr/>
          <p:nvPr/>
        </p:nvSpPr>
        <p:spPr>
          <a:xfrm>
            <a:off x="9201150" y="2000250"/>
            <a:ext cx="4029075" cy="990600"/>
          </a:xfrm>
          <a:prstGeom prst="roundRect">
            <a:avLst>
              <a:gd name="adj" fmla="val 15385"/>
            </a:avLst>
          </a:prstGeom>
          <a:solidFill>
            <a:srgbClr val="FFFFFF">
              <a:alpha val="2000"/>
            </a:srgbClr>
          </a:solidFill>
          <a:ln w="9525">
            <a:solidFill>
              <a:srgbClr val="2A2F3A"/>
            </a:solidFill>
            <a:prstDash val="solid"/>
          </a:ln>
        </p:spPr>
      </p:sp>
      <p:sp>
        <p:nvSpPr>
          <p:cNvPr id="14" name="Shape 12"/>
          <p:cNvSpPr/>
          <p:nvPr/>
        </p:nvSpPr>
        <p:spPr>
          <a:xfrm>
            <a:off x="9458325" y="2257425"/>
            <a:ext cx="476250" cy="476250"/>
          </a:xfrm>
          <a:prstGeom prst="ellipse">
            <a:avLst/>
          </a:prstGeom>
          <a:solidFill>
            <a:srgbClr val="FF6A00">
              <a:alpha val="18000"/>
            </a:srgbClr>
          </a:solidFill>
          <a:ln w="9525">
            <a:solidFill>
              <a:srgbClr val="FF6A00"/>
            </a:solidFill>
            <a:prstDash val="solid"/>
          </a:ln>
        </p:spPr>
      </p:sp>
      <p:sp>
        <p:nvSpPr>
          <p:cNvPr id="15" name="Text 13"/>
          <p:cNvSpPr/>
          <p:nvPr/>
        </p:nvSpPr>
        <p:spPr>
          <a:xfrm>
            <a:off x="9429750" y="2266950"/>
            <a:ext cx="533400" cy="4953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6A00"/>
                </a:solidFill>
                <a:latin typeface="Arial" pitchFamily="34" charset="0"/>
                <a:ea typeface="Arial" pitchFamily="34" charset="-122"/>
                <a:cs typeface="Arial" pitchFamily="34" charset="-120"/>
              </a:rPr>
              <a:t>3</a:t>
            </a:r>
            <a:endParaRPr lang="en-US" sz="1650" dirty="0"/>
          </a:p>
        </p:txBody>
      </p:sp>
      <p:sp>
        <p:nvSpPr>
          <p:cNvPr id="16" name="Text 14"/>
          <p:cNvSpPr/>
          <p:nvPr/>
        </p:nvSpPr>
        <p:spPr>
          <a:xfrm>
            <a:off x="10048875" y="2402681"/>
            <a:ext cx="1555827" cy="223838"/>
          </a:xfrm>
          <a:prstGeom prst="rect">
            <a:avLst/>
          </a:prstGeom>
          <a:noFill/>
          <a:ln/>
        </p:spPr>
        <p:txBody>
          <a:bodyPr wrap="square" lIns="25400" tIns="25400" rIns="25400" bIns="25400" rtlCol="0" anchor="t">
            <a:normAutofit/>
          </a:bodyPr>
          <a:lstStyle/>
          <a:p>
            <a:pPr algn="l" indent="0" marL="0">
              <a:buNone/>
            </a:pPr>
            <a:r>
              <a:rPr lang="en-US" sz="1238" dirty="0">
                <a:solidFill>
                  <a:srgbClr val="F5F7FB"/>
                </a:solidFill>
                <a:latin typeface="Arial" pitchFamily="34" charset="0"/>
                <a:ea typeface="Arial" pitchFamily="34" charset="-122"/>
                <a:cs typeface="Arial" pitchFamily="34" charset="-120"/>
              </a:rPr>
              <a:t>Model dev/selection</a:t>
            </a:r>
            <a:endParaRPr lang="en-US" sz="1238" dirty="0"/>
          </a:p>
        </p:txBody>
      </p:sp>
      <p:sp>
        <p:nvSpPr>
          <p:cNvPr id="17" name="Shape 15"/>
          <p:cNvSpPr/>
          <p:nvPr/>
        </p:nvSpPr>
        <p:spPr>
          <a:xfrm>
            <a:off x="13344525" y="2000250"/>
            <a:ext cx="4029075" cy="990600"/>
          </a:xfrm>
          <a:prstGeom prst="roundRect">
            <a:avLst>
              <a:gd name="adj" fmla="val 15385"/>
            </a:avLst>
          </a:prstGeom>
          <a:solidFill>
            <a:srgbClr val="FFFFFF">
              <a:alpha val="2000"/>
            </a:srgbClr>
          </a:solidFill>
          <a:ln w="9525">
            <a:solidFill>
              <a:srgbClr val="2A2F3A"/>
            </a:solidFill>
            <a:prstDash val="solid"/>
          </a:ln>
        </p:spPr>
      </p:sp>
      <p:sp>
        <p:nvSpPr>
          <p:cNvPr id="18" name="Shape 16"/>
          <p:cNvSpPr/>
          <p:nvPr/>
        </p:nvSpPr>
        <p:spPr>
          <a:xfrm>
            <a:off x="13601700" y="2257425"/>
            <a:ext cx="476250" cy="476250"/>
          </a:xfrm>
          <a:prstGeom prst="ellipse">
            <a:avLst/>
          </a:prstGeom>
          <a:solidFill>
            <a:srgbClr val="FF6A00">
              <a:alpha val="18000"/>
            </a:srgbClr>
          </a:solidFill>
          <a:ln w="9525">
            <a:solidFill>
              <a:srgbClr val="FF6A00"/>
            </a:solidFill>
            <a:prstDash val="solid"/>
          </a:ln>
        </p:spPr>
      </p:sp>
      <p:sp>
        <p:nvSpPr>
          <p:cNvPr id="19" name="Text 17"/>
          <p:cNvSpPr/>
          <p:nvPr/>
        </p:nvSpPr>
        <p:spPr>
          <a:xfrm>
            <a:off x="13573125" y="2266950"/>
            <a:ext cx="533400" cy="4953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6A00"/>
                </a:solidFill>
                <a:latin typeface="Arial" pitchFamily="34" charset="0"/>
                <a:ea typeface="Arial" pitchFamily="34" charset="-122"/>
                <a:cs typeface="Arial" pitchFamily="34" charset="-120"/>
              </a:rPr>
              <a:t>4</a:t>
            </a:r>
            <a:endParaRPr lang="en-US" sz="1650" dirty="0"/>
          </a:p>
        </p:txBody>
      </p:sp>
      <p:sp>
        <p:nvSpPr>
          <p:cNvPr id="20" name="Text 18"/>
          <p:cNvSpPr/>
          <p:nvPr/>
        </p:nvSpPr>
        <p:spPr>
          <a:xfrm>
            <a:off x="14192250" y="2402681"/>
            <a:ext cx="1319756" cy="223838"/>
          </a:xfrm>
          <a:prstGeom prst="rect">
            <a:avLst/>
          </a:prstGeom>
          <a:noFill/>
          <a:ln/>
        </p:spPr>
        <p:txBody>
          <a:bodyPr wrap="square" lIns="25400" tIns="25400" rIns="25400" bIns="25400" rtlCol="0" anchor="t">
            <a:normAutofit/>
          </a:bodyPr>
          <a:lstStyle/>
          <a:p>
            <a:pPr algn="l" indent="0" marL="0">
              <a:buNone/>
            </a:pPr>
            <a:r>
              <a:rPr lang="en-US" sz="1238" dirty="0">
                <a:solidFill>
                  <a:srgbClr val="F5F7FB"/>
                </a:solidFill>
                <a:latin typeface="Arial" pitchFamily="34" charset="0"/>
                <a:ea typeface="Arial" pitchFamily="34" charset="-122"/>
                <a:cs typeface="Arial" pitchFamily="34" charset="-120"/>
              </a:rPr>
              <a:t>Model evaluation</a:t>
            </a:r>
            <a:endParaRPr lang="en-US" sz="1238" dirty="0"/>
          </a:p>
        </p:txBody>
      </p:sp>
      <p:sp>
        <p:nvSpPr>
          <p:cNvPr id="21" name="Shape 19"/>
          <p:cNvSpPr/>
          <p:nvPr/>
        </p:nvSpPr>
        <p:spPr>
          <a:xfrm>
            <a:off x="914400" y="3105150"/>
            <a:ext cx="4029075" cy="990600"/>
          </a:xfrm>
          <a:prstGeom prst="roundRect">
            <a:avLst>
              <a:gd name="adj" fmla="val 15385"/>
            </a:avLst>
          </a:prstGeom>
          <a:solidFill>
            <a:srgbClr val="FFFFFF">
              <a:alpha val="2000"/>
            </a:srgbClr>
          </a:solidFill>
          <a:ln w="9525">
            <a:solidFill>
              <a:srgbClr val="2A2F3A"/>
            </a:solidFill>
            <a:prstDash val="solid"/>
          </a:ln>
        </p:spPr>
      </p:sp>
      <p:sp>
        <p:nvSpPr>
          <p:cNvPr id="22" name="Shape 20"/>
          <p:cNvSpPr/>
          <p:nvPr/>
        </p:nvSpPr>
        <p:spPr>
          <a:xfrm>
            <a:off x="1171575" y="3362325"/>
            <a:ext cx="476250" cy="476250"/>
          </a:xfrm>
          <a:prstGeom prst="ellipse">
            <a:avLst/>
          </a:prstGeom>
          <a:solidFill>
            <a:srgbClr val="FF6A00">
              <a:alpha val="18000"/>
            </a:srgbClr>
          </a:solidFill>
          <a:ln w="9525">
            <a:solidFill>
              <a:srgbClr val="FF6A00"/>
            </a:solidFill>
            <a:prstDash val="solid"/>
          </a:ln>
        </p:spPr>
      </p:sp>
      <p:sp>
        <p:nvSpPr>
          <p:cNvPr id="23" name="Text 21"/>
          <p:cNvSpPr/>
          <p:nvPr/>
        </p:nvSpPr>
        <p:spPr>
          <a:xfrm>
            <a:off x="1143000" y="3371850"/>
            <a:ext cx="533400" cy="4953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6A00"/>
                </a:solidFill>
                <a:latin typeface="Arial" pitchFamily="34" charset="0"/>
                <a:ea typeface="Arial" pitchFamily="34" charset="-122"/>
                <a:cs typeface="Arial" pitchFamily="34" charset="-120"/>
              </a:rPr>
              <a:t>5</a:t>
            </a:r>
            <a:endParaRPr lang="en-US" sz="1650" dirty="0"/>
          </a:p>
        </p:txBody>
      </p:sp>
      <p:sp>
        <p:nvSpPr>
          <p:cNvPr id="24" name="Text 22"/>
          <p:cNvSpPr/>
          <p:nvPr/>
        </p:nvSpPr>
        <p:spPr>
          <a:xfrm>
            <a:off x="1762125" y="3507581"/>
            <a:ext cx="931069" cy="223838"/>
          </a:xfrm>
          <a:prstGeom prst="rect">
            <a:avLst/>
          </a:prstGeom>
          <a:noFill/>
          <a:ln/>
        </p:spPr>
        <p:txBody>
          <a:bodyPr wrap="square" lIns="25400" tIns="25400" rIns="25400" bIns="25400" rtlCol="0" anchor="t">
            <a:normAutofit/>
          </a:bodyPr>
          <a:lstStyle/>
          <a:p>
            <a:pPr algn="l" indent="0" marL="0">
              <a:buNone/>
            </a:pPr>
            <a:r>
              <a:rPr lang="en-US" sz="1238" dirty="0">
                <a:solidFill>
                  <a:srgbClr val="F5F7FB"/>
                </a:solidFill>
                <a:latin typeface="Arial" pitchFamily="34" charset="0"/>
                <a:ea typeface="Arial" pitchFamily="34" charset="-122"/>
                <a:cs typeface="Arial" pitchFamily="34" charset="-120"/>
              </a:rPr>
              <a:t>Deployment</a:t>
            </a:r>
            <a:endParaRPr lang="en-US" sz="1238" dirty="0"/>
          </a:p>
        </p:txBody>
      </p:sp>
      <p:sp>
        <p:nvSpPr>
          <p:cNvPr id="25" name="Shape 23"/>
          <p:cNvSpPr/>
          <p:nvPr/>
        </p:nvSpPr>
        <p:spPr>
          <a:xfrm>
            <a:off x="5057775" y="3105150"/>
            <a:ext cx="4029075" cy="990600"/>
          </a:xfrm>
          <a:prstGeom prst="roundRect">
            <a:avLst>
              <a:gd name="adj" fmla="val 15385"/>
            </a:avLst>
          </a:prstGeom>
          <a:solidFill>
            <a:srgbClr val="FFFFFF">
              <a:alpha val="2000"/>
            </a:srgbClr>
          </a:solidFill>
          <a:ln w="9525">
            <a:solidFill>
              <a:srgbClr val="2A2F3A"/>
            </a:solidFill>
            <a:prstDash val="solid"/>
          </a:ln>
        </p:spPr>
      </p:sp>
      <p:sp>
        <p:nvSpPr>
          <p:cNvPr id="26" name="Shape 24"/>
          <p:cNvSpPr/>
          <p:nvPr/>
        </p:nvSpPr>
        <p:spPr>
          <a:xfrm>
            <a:off x="5314950" y="3362325"/>
            <a:ext cx="476250" cy="476250"/>
          </a:xfrm>
          <a:prstGeom prst="ellipse">
            <a:avLst/>
          </a:prstGeom>
          <a:solidFill>
            <a:srgbClr val="FF6A00">
              <a:alpha val="18000"/>
            </a:srgbClr>
          </a:solidFill>
          <a:ln w="9525">
            <a:solidFill>
              <a:srgbClr val="FF6A00"/>
            </a:solidFill>
            <a:prstDash val="solid"/>
          </a:ln>
        </p:spPr>
      </p:sp>
      <p:sp>
        <p:nvSpPr>
          <p:cNvPr id="27" name="Text 25"/>
          <p:cNvSpPr/>
          <p:nvPr/>
        </p:nvSpPr>
        <p:spPr>
          <a:xfrm>
            <a:off x="5286375" y="3371850"/>
            <a:ext cx="533400" cy="4953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6A00"/>
                </a:solidFill>
                <a:latin typeface="Arial" pitchFamily="34" charset="0"/>
                <a:ea typeface="Arial" pitchFamily="34" charset="-122"/>
                <a:cs typeface="Arial" pitchFamily="34" charset="-120"/>
              </a:rPr>
              <a:t>6</a:t>
            </a:r>
            <a:endParaRPr lang="en-US" sz="1650" dirty="0"/>
          </a:p>
        </p:txBody>
      </p:sp>
      <p:sp>
        <p:nvSpPr>
          <p:cNvPr id="28" name="Text 26"/>
          <p:cNvSpPr/>
          <p:nvPr/>
        </p:nvSpPr>
        <p:spPr>
          <a:xfrm>
            <a:off x="5905500" y="3507581"/>
            <a:ext cx="768176" cy="223838"/>
          </a:xfrm>
          <a:prstGeom prst="rect">
            <a:avLst/>
          </a:prstGeom>
          <a:noFill/>
          <a:ln/>
        </p:spPr>
        <p:txBody>
          <a:bodyPr wrap="square" lIns="25400" tIns="25400" rIns="25400" bIns="25400" rtlCol="0" anchor="t">
            <a:normAutofit/>
          </a:bodyPr>
          <a:lstStyle/>
          <a:p>
            <a:pPr algn="l" indent="0" marL="0">
              <a:buNone/>
            </a:pPr>
            <a:r>
              <a:rPr lang="en-US" sz="1238" dirty="0">
                <a:solidFill>
                  <a:srgbClr val="F5F7FB"/>
                </a:solidFill>
                <a:latin typeface="Arial" pitchFamily="34" charset="0"/>
                <a:ea typeface="Arial" pitchFamily="34" charset="-122"/>
                <a:cs typeface="Arial" pitchFamily="34" charset="-120"/>
              </a:rPr>
              <a:t>Validation</a:t>
            </a:r>
            <a:endParaRPr lang="en-US" sz="1238" dirty="0"/>
          </a:p>
        </p:txBody>
      </p:sp>
      <p:sp>
        <p:nvSpPr>
          <p:cNvPr id="29" name="Shape 27"/>
          <p:cNvSpPr/>
          <p:nvPr/>
        </p:nvSpPr>
        <p:spPr>
          <a:xfrm>
            <a:off x="9201150" y="3105150"/>
            <a:ext cx="4029075" cy="990600"/>
          </a:xfrm>
          <a:prstGeom prst="roundRect">
            <a:avLst>
              <a:gd name="adj" fmla="val 15385"/>
            </a:avLst>
          </a:prstGeom>
          <a:solidFill>
            <a:srgbClr val="FFFFFF">
              <a:alpha val="2000"/>
            </a:srgbClr>
          </a:solidFill>
          <a:ln w="9525">
            <a:solidFill>
              <a:srgbClr val="2A2F3A"/>
            </a:solidFill>
            <a:prstDash val="solid"/>
          </a:ln>
        </p:spPr>
      </p:sp>
      <p:sp>
        <p:nvSpPr>
          <p:cNvPr id="30" name="Shape 28"/>
          <p:cNvSpPr/>
          <p:nvPr/>
        </p:nvSpPr>
        <p:spPr>
          <a:xfrm>
            <a:off x="9458325" y="3362325"/>
            <a:ext cx="476250" cy="476250"/>
          </a:xfrm>
          <a:prstGeom prst="ellipse">
            <a:avLst/>
          </a:prstGeom>
          <a:solidFill>
            <a:srgbClr val="FF6A00">
              <a:alpha val="18000"/>
            </a:srgbClr>
          </a:solidFill>
          <a:ln w="9525">
            <a:solidFill>
              <a:srgbClr val="FF6A00"/>
            </a:solidFill>
            <a:prstDash val="solid"/>
          </a:ln>
        </p:spPr>
      </p:sp>
      <p:sp>
        <p:nvSpPr>
          <p:cNvPr id="31" name="Text 29"/>
          <p:cNvSpPr/>
          <p:nvPr/>
        </p:nvSpPr>
        <p:spPr>
          <a:xfrm>
            <a:off x="9429750" y="3371850"/>
            <a:ext cx="533400" cy="4953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6A00"/>
                </a:solidFill>
                <a:latin typeface="Arial" pitchFamily="34" charset="0"/>
                <a:ea typeface="Arial" pitchFamily="34" charset="-122"/>
                <a:cs typeface="Arial" pitchFamily="34" charset="-120"/>
              </a:rPr>
              <a:t>7</a:t>
            </a:r>
            <a:endParaRPr lang="en-US" sz="1650" dirty="0"/>
          </a:p>
        </p:txBody>
      </p:sp>
      <p:sp>
        <p:nvSpPr>
          <p:cNvPr id="32" name="Text 30"/>
          <p:cNvSpPr/>
          <p:nvPr/>
        </p:nvSpPr>
        <p:spPr>
          <a:xfrm>
            <a:off x="10048875" y="3507581"/>
            <a:ext cx="2044668" cy="223838"/>
          </a:xfrm>
          <a:prstGeom prst="rect">
            <a:avLst/>
          </a:prstGeom>
          <a:noFill/>
          <a:ln/>
        </p:spPr>
        <p:txBody>
          <a:bodyPr wrap="square" lIns="25400" tIns="25400" rIns="25400" bIns="25400" rtlCol="0" anchor="t">
            <a:normAutofit/>
          </a:bodyPr>
          <a:lstStyle/>
          <a:p>
            <a:pPr algn="l" indent="0" marL="0">
              <a:buNone/>
            </a:pPr>
            <a:r>
              <a:rPr lang="en-US" sz="1238" dirty="0">
                <a:solidFill>
                  <a:srgbClr val="F5F7FB"/>
                </a:solidFill>
                <a:latin typeface="Arial" pitchFamily="34" charset="0"/>
                <a:ea typeface="Arial" pitchFamily="34" charset="-122"/>
                <a:cs typeface="Arial" pitchFamily="34" charset="-120"/>
              </a:rPr>
              <a:t>Monitoring &amp; maintenance</a:t>
            </a:r>
            <a:endParaRPr lang="en-US" sz="1238" dirty="0"/>
          </a:p>
        </p:txBody>
      </p:sp>
      <p:sp>
        <p:nvSpPr>
          <p:cNvPr id="33" name="Shape 31"/>
          <p:cNvSpPr/>
          <p:nvPr/>
        </p:nvSpPr>
        <p:spPr>
          <a:xfrm>
            <a:off x="13344525" y="3105150"/>
            <a:ext cx="4029075" cy="990600"/>
          </a:xfrm>
          <a:prstGeom prst="roundRect">
            <a:avLst>
              <a:gd name="adj" fmla="val 15385"/>
            </a:avLst>
          </a:prstGeom>
          <a:solidFill>
            <a:srgbClr val="FFFFFF">
              <a:alpha val="2000"/>
            </a:srgbClr>
          </a:solidFill>
          <a:ln w="9525">
            <a:solidFill>
              <a:srgbClr val="2A2F3A"/>
            </a:solidFill>
            <a:prstDash val="solid"/>
          </a:ln>
        </p:spPr>
      </p:sp>
      <p:sp>
        <p:nvSpPr>
          <p:cNvPr id="34" name="Shape 32"/>
          <p:cNvSpPr/>
          <p:nvPr/>
        </p:nvSpPr>
        <p:spPr>
          <a:xfrm>
            <a:off x="13601700" y="3362325"/>
            <a:ext cx="476250" cy="476250"/>
          </a:xfrm>
          <a:prstGeom prst="ellipse">
            <a:avLst/>
          </a:prstGeom>
          <a:solidFill>
            <a:srgbClr val="FF6A00">
              <a:alpha val="18000"/>
            </a:srgbClr>
          </a:solidFill>
          <a:ln w="9525">
            <a:solidFill>
              <a:srgbClr val="FF6A00"/>
            </a:solidFill>
            <a:prstDash val="solid"/>
          </a:ln>
        </p:spPr>
      </p:sp>
      <p:sp>
        <p:nvSpPr>
          <p:cNvPr id="35" name="Text 33"/>
          <p:cNvSpPr/>
          <p:nvPr/>
        </p:nvSpPr>
        <p:spPr>
          <a:xfrm>
            <a:off x="13573125" y="3371850"/>
            <a:ext cx="533400" cy="4953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6A00"/>
                </a:solidFill>
                <a:latin typeface="Arial" pitchFamily="34" charset="0"/>
                <a:ea typeface="Arial" pitchFamily="34" charset="-122"/>
                <a:cs typeface="Arial" pitchFamily="34" charset="-120"/>
              </a:rPr>
              <a:t>8</a:t>
            </a:r>
            <a:endParaRPr lang="en-US" sz="1650" dirty="0"/>
          </a:p>
        </p:txBody>
      </p:sp>
      <p:sp>
        <p:nvSpPr>
          <p:cNvPr id="36" name="Text 34"/>
          <p:cNvSpPr/>
          <p:nvPr/>
        </p:nvSpPr>
        <p:spPr>
          <a:xfrm>
            <a:off x="14192250" y="3507581"/>
            <a:ext cx="1610261" cy="223838"/>
          </a:xfrm>
          <a:prstGeom prst="rect">
            <a:avLst/>
          </a:prstGeom>
          <a:noFill/>
          <a:ln/>
        </p:spPr>
        <p:txBody>
          <a:bodyPr wrap="square" lIns="25400" tIns="25400" rIns="25400" bIns="25400" rtlCol="0" anchor="t">
            <a:normAutofit/>
          </a:bodyPr>
          <a:lstStyle/>
          <a:p>
            <a:pPr algn="l" indent="0" marL="0">
              <a:buNone/>
            </a:pPr>
            <a:r>
              <a:rPr lang="en-US" sz="1238" dirty="0">
                <a:solidFill>
                  <a:srgbClr val="F5F7FB"/>
                </a:solidFill>
                <a:latin typeface="Arial" pitchFamily="34" charset="0"/>
                <a:ea typeface="Arial" pitchFamily="34" charset="-122"/>
                <a:cs typeface="Arial" pitchFamily="34" charset="-120"/>
              </a:rPr>
              <a:t>Feedback &amp; iteration</a:t>
            </a:r>
            <a:endParaRPr lang="en-US" sz="1238"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HUMAN-CENTRIC DESIGN · 1 OF 3</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Human-in-the-Loop</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A design principle in which a person actively participates in the system's decision process, rather than the model acting fully autonomously.</a:t>
            </a:r>
            <a:endParaRPr lang="en-US" sz="1875" dirty="0"/>
          </a:p>
        </p:txBody>
      </p:sp>
      <p:sp>
        <p:nvSpPr>
          <p:cNvPr id="6" name="Shape 4"/>
          <p:cNvSpPr/>
          <p:nvPr/>
        </p:nvSpPr>
        <p:spPr>
          <a:xfrm>
            <a:off x="914400" y="2559844"/>
            <a:ext cx="16459200"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2817019"/>
            <a:ext cx="17539335"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EXAMPLE</a:t>
            </a:r>
            <a:endParaRPr lang="en-US" sz="1425" dirty="0"/>
          </a:p>
        </p:txBody>
      </p:sp>
      <p:sp>
        <p:nvSpPr>
          <p:cNvPr id="8" name="Text 6"/>
          <p:cNvSpPr/>
          <p:nvPr/>
        </p:nvSpPr>
        <p:spPr>
          <a:xfrm>
            <a:off x="1171575" y="3107531"/>
            <a:ext cx="17539335"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An analyst must approve every auto-generated firewall rule before it deploys.</a:t>
            </a:r>
            <a:endParaRPr lang="en-US" sz="1425"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HUMAN-CENTRIC DESIGN · 2 OF 3</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Human Oversight</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A person monitors overall system behaviour and outcomes, without necessarily reviewing or acting on every single decision the system makes.</a:t>
            </a:r>
            <a:endParaRPr lang="en-US" sz="1875" dirty="0"/>
          </a:p>
        </p:txBody>
      </p:sp>
      <p:sp>
        <p:nvSpPr>
          <p:cNvPr id="6" name="Shape 4"/>
          <p:cNvSpPr/>
          <p:nvPr/>
        </p:nvSpPr>
        <p:spPr>
          <a:xfrm>
            <a:off x="914400" y="2559844"/>
            <a:ext cx="16459200"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2817019"/>
            <a:ext cx="17539335"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EXAMPLE</a:t>
            </a:r>
            <a:endParaRPr lang="en-US" sz="1425" dirty="0"/>
          </a:p>
        </p:txBody>
      </p:sp>
      <p:sp>
        <p:nvSpPr>
          <p:cNvPr id="8" name="Text 6"/>
          <p:cNvSpPr/>
          <p:nvPr/>
        </p:nvSpPr>
        <p:spPr>
          <a:xfrm>
            <a:off x="1171575" y="3107531"/>
            <a:ext cx="17539335"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A SOC lead reviews a weekly summary of an AI triage tool's decisions rather than each one individually.</a:t>
            </a:r>
            <a:endParaRPr lang="en-US" sz="1425"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HUMAN-CENTRIC DESIGN · 3 OF 3</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Human Validation</a:t>
            </a:r>
            <a:endParaRPr lang="en-US" sz="4200" dirty="0"/>
          </a:p>
        </p:txBody>
      </p:sp>
      <p:sp>
        <p:nvSpPr>
          <p:cNvPr id="5" name="Text 3"/>
          <p:cNvSpPr/>
          <p:nvPr/>
        </p:nvSpPr>
        <p:spPr>
          <a:xfrm>
            <a:off x="914400" y="1981200"/>
            <a:ext cx="18105120" cy="407194"/>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B8C0CF"/>
                </a:solidFill>
                <a:latin typeface="Arial" pitchFamily="34" charset="0"/>
                <a:ea typeface="Arial" pitchFamily="34" charset="-122"/>
                <a:cs typeface="Arial" pitchFamily="34" charset="-120"/>
              </a:rPr>
              <a:t>A person confirms that a system's outputs are correct before those outputs are relied upon for a consequential action.</a:t>
            </a:r>
            <a:endParaRPr lang="en-US" sz="1875" dirty="0"/>
          </a:p>
        </p:txBody>
      </p:sp>
      <p:sp>
        <p:nvSpPr>
          <p:cNvPr id="6" name="Shape 4"/>
          <p:cNvSpPr/>
          <p:nvPr/>
        </p:nvSpPr>
        <p:spPr>
          <a:xfrm>
            <a:off x="914400" y="2559844"/>
            <a:ext cx="16459200" cy="1076325"/>
          </a:xfrm>
          <a:prstGeom prst="roundRect">
            <a:avLst>
              <a:gd name="adj" fmla="val 14159"/>
            </a:avLst>
          </a:prstGeom>
          <a:solidFill>
            <a:srgbClr val="FFFFFF">
              <a:alpha val="2000"/>
            </a:srgbClr>
          </a:solidFill>
          <a:ln w="9525">
            <a:solidFill>
              <a:srgbClr val="2A2F3A"/>
            </a:solidFill>
            <a:prstDash val="solid"/>
          </a:ln>
        </p:spPr>
      </p:sp>
      <p:sp>
        <p:nvSpPr>
          <p:cNvPr id="7" name="Text 5"/>
          <p:cNvSpPr/>
          <p:nvPr/>
        </p:nvSpPr>
        <p:spPr>
          <a:xfrm>
            <a:off x="1171575" y="2817019"/>
            <a:ext cx="17539335" cy="252413"/>
          </a:xfrm>
          <a:prstGeom prst="rect">
            <a:avLst/>
          </a:prstGeom>
          <a:noFill/>
          <a:ln/>
        </p:spPr>
        <p:txBody>
          <a:bodyPr wrap="square" lIns="25400" tIns="25400" rIns="25400" bIns="25400" rtlCol="0" anchor="t">
            <a:normAutofit/>
          </a:bodyPr>
          <a:lstStyle/>
          <a:p>
            <a:pPr algn="l" indent="0" marL="0">
              <a:buNone/>
            </a:pPr>
            <a:r>
              <a:rPr lang="en-US" sz="1425" b="1" spc="38" kern="0" dirty="0">
                <a:solidFill>
                  <a:srgbClr val="FF6A00"/>
                </a:solidFill>
                <a:latin typeface="Arial" pitchFamily="34" charset="0"/>
                <a:ea typeface="Arial" pitchFamily="34" charset="-122"/>
                <a:cs typeface="Arial" pitchFamily="34" charset="-120"/>
              </a:rPr>
              <a:t>EXAMPLE</a:t>
            </a:r>
            <a:endParaRPr lang="en-US" sz="1425" dirty="0"/>
          </a:p>
        </p:txBody>
      </p:sp>
      <p:sp>
        <p:nvSpPr>
          <p:cNvPr id="8" name="Text 6"/>
          <p:cNvSpPr/>
          <p:nvPr/>
        </p:nvSpPr>
        <p:spPr>
          <a:xfrm>
            <a:off x="1171575" y="3107531"/>
            <a:ext cx="17539335"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A compliance officer signs off on a model's risk-scoring results before they are used operationally.</a:t>
            </a:r>
            <a:endParaRPr lang="en-US" sz="1425"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OBJECTIVE 1.3 RECAP</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What You Should Now Be Able to Do</a:t>
            </a:r>
            <a:endParaRPr lang="en-US" sz="4200" dirty="0"/>
          </a:p>
        </p:txBody>
      </p:sp>
      <p:sp>
        <p:nvSpPr>
          <p:cNvPr id="5" name="Shape 3"/>
          <p:cNvSpPr/>
          <p:nvPr/>
        </p:nvSpPr>
        <p:spPr>
          <a:xfrm>
            <a:off x="914400" y="2019300"/>
            <a:ext cx="16459200" cy="762000"/>
          </a:xfrm>
          <a:prstGeom prst="roundRect">
            <a:avLst>
              <a:gd name="adj" fmla="val 20000"/>
            </a:avLst>
          </a:prstGeom>
          <a:solidFill>
            <a:srgbClr val="FFFFFF">
              <a:alpha val="2000"/>
            </a:srgbClr>
          </a:solidFill>
          <a:ln w="9525">
            <a:solidFill>
              <a:srgbClr val="2A2F3A"/>
            </a:solidFill>
            <a:prstDash val="solid"/>
          </a:ln>
        </p:spPr>
      </p:sp>
      <p:sp>
        <p:nvSpPr>
          <p:cNvPr id="6" name="Text 4"/>
          <p:cNvSpPr/>
          <p:nvPr/>
        </p:nvSpPr>
        <p:spPr>
          <a:xfrm>
            <a:off x="1171575" y="2276475"/>
            <a:ext cx="16438626" cy="285750"/>
          </a:xfrm>
          <a:prstGeom prst="rect">
            <a:avLst/>
          </a:prstGeom>
          <a:noFill/>
          <a:ln/>
        </p:spPr>
        <p:txBody>
          <a:bodyPr wrap="square" lIns="25400" tIns="25400" rIns="25400" bIns="25400" rtlCol="0" anchor="t">
            <a:normAutofit/>
          </a:bodyPr>
          <a:lstStyle/>
          <a:p>
            <a:pPr algn="l" indent="0" marL="0">
              <a:buNone/>
            </a:pPr>
            <a:r>
              <a:rPr lang="en-US" sz="1650" dirty="0">
                <a:solidFill>
                  <a:srgbClr val="F5F7FB"/>
                </a:solidFill>
                <a:latin typeface="Arial" pitchFamily="34" charset="0"/>
                <a:ea typeface="Arial" pitchFamily="34" charset="-122"/>
                <a:cs typeface="Arial" pitchFamily="34" charset="-120"/>
              </a:rPr>
              <a:t>Name and describe all eight MDLC stages, from business use case through feedback and iteration</a:t>
            </a:r>
            <a:endParaRPr lang="en-US" sz="1650" dirty="0"/>
          </a:p>
        </p:txBody>
      </p:sp>
      <p:sp>
        <p:nvSpPr>
          <p:cNvPr id="7" name="Shape 5"/>
          <p:cNvSpPr/>
          <p:nvPr/>
        </p:nvSpPr>
        <p:spPr>
          <a:xfrm>
            <a:off x="914400" y="2952750"/>
            <a:ext cx="16459200" cy="762000"/>
          </a:xfrm>
          <a:prstGeom prst="roundRect">
            <a:avLst>
              <a:gd name="adj" fmla="val 20000"/>
            </a:avLst>
          </a:prstGeom>
          <a:solidFill>
            <a:srgbClr val="FFFFFF">
              <a:alpha val="2000"/>
            </a:srgbClr>
          </a:solidFill>
          <a:ln w="9525">
            <a:solidFill>
              <a:srgbClr val="2A2F3A"/>
            </a:solidFill>
            <a:prstDash val="solid"/>
          </a:ln>
        </p:spPr>
      </p:sp>
      <p:sp>
        <p:nvSpPr>
          <p:cNvPr id="8" name="Text 6"/>
          <p:cNvSpPr/>
          <p:nvPr/>
        </p:nvSpPr>
        <p:spPr>
          <a:xfrm>
            <a:off x="1171575" y="3209925"/>
            <a:ext cx="16438626" cy="285750"/>
          </a:xfrm>
          <a:prstGeom prst="rect">
            <a:avLst/>
          </a:prstGeom>
          <a:noFill/>
          <a:ln/>
        </p:spPr>
        <p:txBody>
          <a:bodyPr wrap="square" lIns="25400" tIns="25400" rIns="25400" bIns="25400" rtlCol="0" anchor="t">
            <a:normAutofit/>
          </a:bodyPr>
          <a:lstStyle/>
          <a:p>
            <a:pPr algn="l" indent="0" marL="0">
              <a:buNone/>
            </a:pPr>
            <a:r>
              <a:rPr lang="en-US" sz="1650" dirty="0">
                <a:solidFill>
                  <a:srgbClr val="F5F7FB"/>
                </a:solidFill>
                <a:latin typeface="Arial" pitchFamily="34" charset="0"/>
                <a:ea typeface="Arial" pitchFamily="34" charset="-122"/>
                <a:cs typeface="Arial" pitchFamily="34" charset="-120"/>
              </a:rPr>
              <a:t>Explain trustworthiness and authenticity at the data collection stage</a:t>
            </a:r>
            <a:endParaRPr lang="en-US" sz="1650" dirty="0"/>
          </a:p>
        </p:txBody>
      </p:sp>
      <p:sp>
        <p:nvSpPr>
          <p:cNvPr id="9" name="Shape 7"/>
          <p:cNvSpPr/>
          <p:nvPr/>
        </p:nvSpPr>
        <p:spPr>
          <a:xfrm>
            <a:off x="914400" y="3886200"/>
            <a:ext cx="16459200" cy="762000"/>
          </a:xfrm>
          <a:prstGeom prst="roundRect">
            <a:avLst>
              <a:gd name="adj" fmla="val 20000"/>
            </a:avLst>
          </a:prstGeom>
          <a:solidFill>
            <a:srgbClr val="FFFFFF">
              <a:alpha val="2000"/>
            </a:srgbClr>
          </a:solidFill>
          <a:ln w="9525">
            <a:solidFill>
              <a:srgbClr val="2A2F3A"/>
            </a:solidFill>
            <a:prstDash val="solid"/>
          </a:ln>
        </p:spPr>
      </p:sp>
      <p:sp>
        <p:nvSpPr>
          <p:cNvPr id="10" name="Text 8"/>
          <p:cNvSpPr/>
          <p:nvPr/>
        </p:nvSpPr>
        <p:spPr>
          <a:xfrm>
            <a:off x="1171575" y="4143375"/>
            <a:ext cx="16438626" cy="285750"/>
          </a:xfrm>
          <a:prstGeom prst="rect">
            <a:avLst/>
          </a:prstGeom>
          <a:noFill/>
          <a:ln/>
        </p:spPr>
        <p:txBody>
          <a:bodyPr wrap="square" lIns="25400" tIns="25400" rIns="25400" bIns="25400" rtlCol="0" anchor="t">
            <a:normAutofit/>
          </a:bodyPr>
          <a:lstStyle/>
          <a:p>
            <a:pPr algn="l" indent="0" marL="0">
              <a:buNone/>
            </a:pPr>
            <a:r>
              <a:rPr lang="en-US" sz="1650" dirty="0">
                <a:solidFill>
                  <a:srgbClr val="F5F7FB"/>
                </a:solidFill>
                <a:latin typeface="Arial" pitchFamily="34" charset="0"/>
                <a:ea typeface="Arial" pitchFamily="34" charset="-122"/>
                <a:cs typeface="Arial" pitchFamily="34" charset="-120"/>
              </a:rPr>
              <a:t>Distinguish human-in-the-loop, human oversight, and human validation</a:t>
            </a:r>
            <a:endParaRPr lang="en-US" sz="16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APPLIED SCENARIO</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Choosing a Training Approach</a:t>
            </a:r>
            <a:endParaRPr lang="en-US" sz="4200" dirty="0"/>
          </a:p>
        </p:txBody>
      </p:sp>
      <p:sp>
        <p:nvSpPr>
          <p:cNvPr id="5" name="Shape 3"/>
          <p:cNvSpPr/>
          <p:nvPr/>
        </p:nvSpPr>
        <p:spPr>
          <a:xfrm>
            <a:off x="914400" y="2000250"/>
            <a:ext cx="16459200" cy="1611585"/>
          </a:xfrm>
          <a:prstGeom prst="roundRect">
            <a:avLst>
              <a:gd name="adj" fmla="val 9457"/>
            </a:avLst>
          </a:prstGeom>
          <a:solidFill>
            <a:srgbClr val="FFFFFF">
              <a:alpha val="2000"/>
            </a:srgbClr>
          </a:solidFill>
          <a:ln w="9525">
            <a:solidFill>
              <a:srgbClr val="2A2F3A"/>
            </a:solidFill>
            <a:prstDash val="solid"/>
          </a:ln>
        </p:spPr>
      </p:sp>
      <p:sp>
        <p:nvSpPr>
          <p:cNvPr id="6" name="Text 4"/>
          <p:cNvSpPr/>
          <p:nvPr/>
        </p:nvSpPr>
        <p:spPr>
          <a:xfrm>
            <a:off x="1171575" y="2257425"/>
            <a:ext cx="16438626" cy="1135335"/>
          </a:xfrm>
          <a:prstGeom prst="rect">
            <a:avLst/>
          </a:prstGeom>
          <a:noFill/>
          <a:ln/>
        </p:spPr>
        <p:txBody>
          <a:bodyPr wrap="square" lIns="25400" tIns="25400" rIns="25400" bIns="25400" rtlCol="0" anchor="t">
            <a:normAutofit/>
          </a:bodyPr>
          <a:lstStyle/>
          <a:p>
            <a:pPr algn="l" indent="0" marL="0">
              <a:lnSpc>
                <a:spcPct val="139636"/>
              </a:lnSpc>
              <a:buNone/>
            </a:pPr>
            <a:r>
              <a:rPr lang="en-US" sz="1800" dirty="0">
                <a:solidFill>
                  <a:srgbClr val="B8C0CF"/>
                </a:solidFill>
                <a:latin typeface="Arial" pitchFamily="34" charset="0"/>
                <a:ea typeface="Arial" pitchFamily="34" charset="-122"/>
                <a:cs typeface="Arial" pitchFamily="34" charset="-120"/>
              </a:rPr>
              <a:t>A fraud-detection team has abundant unlabelled transaction data but almost no labelled fraud examples, and each business unit cannot share raw data outside its own region. Which learning paradigm(s) fit, and why does federated learning matter here? What data processing steps (Objective 1.2) would you insist on before any training begins?</a:t>
            </a:r>
            <a:endParaRPr lang="en-US"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PRACTICAL SKILL</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Comparing AI Types in a Given Scenario</a:t>
            </a:r>
            <a:endParaRPr lang="en-US" sz="4200" dirty="0"/>
          </a:p>
        </p:txBody>
      </p:sp>
      <p:sp>
        <p:nvSpPr>
          <p:cNvPr id="5" name="Shape 3"/>
          <p:cNvSpPr/>
          <p:nvPr/>
        </p:nvSpPr>
        <p:spPr>
          <a:xfrm>
            <a:off x="914400" y="2000250"/>
            <a:ext cx="16459200" cy="1245840"/>
          </a:xfrm>
          <a:prstGeom prst="roundRect">
            <a:avLst>
              <a:gd name="adj" fmla="val 12233"/>
            </a:avLst>
          </a:prstGeom>
          <a:solidFill>
            <a:srgbClr val="FFFFFF">
              <a:alpha val="2000"/>
            </a:srgbClr>
          </a:solidFill>
          <a:ln w="9525">
            <a:solidFill>
              <a:srgbClr val="2A2F3A"/>
            </a:solidFill>
            <a:prstDash val="solid"/>
          </a:ln>
        </p:spPr>
      </p:sp>
      <p:sp>
        <p:nvSpPr>
          <p:cNvPr id="6" name="Text 4"/>
          <p:cNvSpPr/>
          <p:nvPr/>
        </p:nvSpPr>
        <p:spPr>
          <a:xfrm>
            <a:off x="1171575" y="2257425"/>
            <a:ext cx="16438626" cy="769590"/>
          </a:xfrm>
          <a:prstGeom prst="rect">
            <a:avLst/>
          </a:prstGeom>
          <a:noFill/>
          <a:ln/>
        </p:spPr>
        <p:txBody>
          <a:bodyPr wrap="square" lIns="25400" tIns="25400" rIns="25400" bIns="25400" rtlCol="0" anchor="t">
            <a:normAutofit/>
          </a:bodyPr>
          <a:lstStyle/>
          <a:p>
            <a:pPr algn="l" indent="0" marL="0">
              <a:lnSpc>
                <a:spcPct val="139636"/>
              </a:lnSpc>
              <a:buNone/>
            </a:pPr>
            <a:r>
              <a:rPr lang="en-US" sz="1800" dirty="0">
                <a:solidFill>
                  <a:srgbClr val="B8C0CF"/>
                </a:solidFill>
                <a:latin typeface="Arial" pitchFamily="34" charset="0"/>
                <a:ea typeface="Arial" pitchFamily="34" charset="-122"/>
                <a:cs typeface="Arial" pitchFamily="34" charset="-120"/>
              </a:rPr>
              <a:t>Given a description of an AI system, identify which AI type(s), training technique, and prompting approach are in use, and why that combination fits the use case. Be ready to justify why an alternative type or paradigm would fit less well.</a:t>
            </a:r>
            <a:endParaRPr 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PRACTICAL SKILL</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Assessing Data Security in an AI Pipeline</a:t>
            </a:r>
            <a:endParaRPr lang="en-US" sz="4200" dirty="0"/>
          </a:p>
        </p:txBody>
      </p:sp>
      <p:sp>
        <p:nvSpPr>
          <p:cNvPr id="5" name="Shape 3"/>
          <p:cNvSpPr/>
          <p:nvPr/>
        </p:nvSpPr>
        <p:spPr>
          <a:xfrm>
            <a:off x="914400" y="2000250"/>
            <a:ext cx="16459200" cy="1245840"/>
          </a:xfrm>
          <a:prstGeom prst="roundRect">
            <a:avLst>
              <a:gd name="adj" fmla="val 12233"/>
            </a:avLst>
          </a:prstGeom>
          <a:solidFill>
            <a:srgbClr val="FFFFFF">
              <a:alpha val="2000"/>
            </a:srgbClr>
          </a:solidFill>
          <a:ln w="9525">
            <a:solidFill>
              <a:srgbClr val="2A2F3A"/>
            </a:solidFill>
            <a:prstDash val="solid"/>
          </a:ln>
        </p:spPr>
      </p:sp>
      <p:sp>
        <p:nvSpPr>
          <p:cNvPr id="6" name="Text 4"/>
          <p:cNvSpPr/>
          <p:nvPr/>
        </p:nvSpPr>
        <p:spPr>
          <a:xfrm>
            <a:off x="1171575" y="2257425"/>
            <a:ext cx="16438626" cy="769590"/>
          </a:xfrm>
          <a:prstGeom prst="rect">
            <a:avLst/>
          </a:prstGeom>
          <a:noFill/>
          <a:ln/>
        </p:spPr>
        <p:txBody>
          <a:bodyPr wrap="square" lIns="25400" tIns="25400" rIns="25400" bIns="25400" rtlCol="0" anchor="t">
            <a:normAutofit/>
          </a:bodyPr>
          <a:lstStyle/>
          <a:p>
            <a:pPr algn="l" indent="0" marL="0">
              <a:lnSpc>
                <a:spcPct val="139636"/>
              </a:lnSpc>
              <a:buNone/>
            </a:pPr>
            <a:r>
              <a:rPr lang="en-US" sz="1800" dirty="0">
                <a:solidFill>
                  <a:srgbClr val="B8C0CF"/>
                </a:solidFill>
                <a:latin typeface="Arial" pitchFamily="34" charset="0"/>
                <a:ea typeface="Arial" pitchFamily="34" charset="-122"/>
                <a:cs typeface="Arial" pitchFamily="34" charset="-120"/>
              </a:rPr>
              <a:t>Given a data pipeline description, identify which of the seven data processing controls are present or missing, and whether data type, provenance, and integrity are properly tracked end to end.</a:t>
            </a:r>
            <a:endParaRPr lang="en-US" sz="1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PRACTICAL SKILL</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Mapping a Scenario to a Life Cycle Stage</a:t>
            </a:r>
            <a:endParaRPr lang="en-US" sz="4200" dirty="0"/>
          </a:p>
        </p:txBody>
      </p:sp>
      <p:sp>
        <p:nvSpPr>
          <p:cNvPr id="5" name="Shape 3"/>
          <p:cNvSpPr/>
          <p:nvPr/>
        </p:nvSpPr>
        <p:spPr>
          <a:xfrm>
            <a:off x="914400" y="2000250"/>
            <a:ext cx="16459200" cy="1245840"/>
          </a:xfrm>
          <a:prstGeom prst="roundRect">
            <a:avLst>
              <a:gd name="adj" fmla="val 12233"/>
            </a:avLst>
          </a:prstGeom>
          <a:solidFill>
            <a:srgbClr val="FFFFFF">
              <a:alpha val="2000"/>
            </a:srgbClr>
          </a:solidFill>
          <a:ln w="9525">
            <a:solidFill>
              <a:srgbClr val="2A2F3A"/>
            </a:solidFill>
            <a:prstDash val="solid"/>
          </a:ln>
        </p:spPr>
      </p:sp>
      <p:sp>
        <p:nvSpPr>
          <p:cNvPr id="6" name="Text 4"/>
          <p:cNvSpPr/>
          <p:nvPr/>
        </p:nvSpPr>
        <p:spPr>
          <a:xfrm>
            <a:off x="1171575" y="2257425"/>
            <a:ext cx="16438626" cy="769590"/>
          </a:xfrm>
          <a:prstGeom prst="rect">
            <a:avLst/>
          </a:prstGeom>
          <a:noFill/>
          <a:ln/>
        </p:spPr>
        <p:txBody>
          <a:bodyPr wrap="square" lIns="25400" tIns="25400" rIns="25400" bIns="25400" rtlCol="0" anchor="t">
            <a:normAutofit/>
          </a:bodyPr>
          <a:lstStyle/>
          <a:p>
            <a:pPr algn="l" indent="0" marL="0">
              <a:lnSpc>
                <a:spcPct val="139636"/>
              </a:lnSpc>
              <a:buNone/>
            </a:pPr>
            <a:r>
              <a:rPr lang="en-US" sz="1800" dirty="0">
                <a:solidFill>
                  <a:srgbClr val="B8C0CF"/>
                </a:solidFill>
                <a:latin typeface="Arial" pitchFamily="34" charset="0"/>
                <a:ea typeface="Arial" pitchFamily="34" charset="-122"/>
                <a:cs typeface="Arial" pitchFamily="34" charset="-120"/>
              </a:rPr>
              <a:t>Given a described AI security incident or gap, identify which of the eight MDLC stages it originated in, and which human-centric design principle could have caught it earlier.</a:t>
            </a:r>
            <a:endParaRPr lang="en-US" sz="1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ACRONYM SPOTLIGHT</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Key Acronyms From This Module</a:t>
            </a:r>
            <a:endParaRPr lang="en-US" sz="4200" dirty="0"/>
          </a:p>
        </p:txBody>
      </p:sp>
      <p:sp>
        <p:nvSpPr>
          <p:cNvPr id="5" name="Shape 3"/>
          <p:cNvSpPr/>
          <p:nvPr/>
        </p:nvSpPr>
        <p:spPr>
          <a:xfrm>
            <a:off x="914400" y="2000250"/>
            <a:ext cx="4734818" cy="547688"/>
          </a:xfrm>
          <a:prstGeom prst="rect">
            <a:avLst/>
          </a:prstGeom>
          <a:solidFill>
            <a:srgbClr val="FF6A00">
              <a:alpha val="18000"/>
            </a:srgbClr>
          </a:solidFill>
          <a:ln/>
        </p:spPr>
      </p:sp>
      <p:sp>
        <p:nvSpPr>
          <p:cNvPr id="6" name="Shape 4"/>
          <p:cNvSpPr/>
          <p:nvPr/>
        </p:nvSpPr>
        <p:spPr>
          <a:xfrm>
            <a:off x="914400" y="2538413"/>
            <a:ext cx="4734818" cy="9525"/>
          </a:xfrm>
          <a:prstGeom prst="rect">
            <a:avLst/>
          </a:prstGeom>
          <a:solidFill>
            <a:srgbClr val="B85100"/>
          </a:solidFill>
          <a:ln/>
        </p:spPr>
      </p:sp>
      <p:sp>
        <p:nvSpPr>
          <p:cNvPr id="7" name="Text 5"/>
          <p:cNvSpPr/>
          <p:nvPr/>
        </p:nvSpPr>
        <p:spPr>
          <a:xfrm>
            <a:off x="1066800" y="2114550"/>
            <a:ext cx="4572063" cy="347663"/>
          </a:xfrm>
          <a:prstGeom prst="rect">
            <a:avLst/>
          </a:prstGeom>
          <a:noFill/>
          <a:ln/>
        </p:spPr>
        <p:txBody>
          <a:bodyPr wrap="square" lIns="25400" tIns="25400" rIns="25400" bIns="25400" rtlCol="0" anchor="ctr">
            <a:normAutofit/>
          </a:bodyPr>
          <a:lstStyle/>
          <a:p>
            <a:pPr algn="l" indent="0" marL="0">
              <a:buNone/>
            </a:pPr>
            <a:r>
              <a:rPr lang="en-US" sz="2100" b="1" dirty="0">
                <a:solidFill>
                  <a:srgbClr val="FFFFFF"/>
                </a:solidFill>
                <a:latin typeface="Arial" pitchFamily="34" charset="0"/>
                <a:ea typeface="Arial" pitchFamily="34" charset="-122"/>
                <a:cs typeface="Arial" pitchFamily="34" charset="-120"/>
              </a:rPr>
              <a:t>Acronym</a:t>
            </a:r>
            <a:endParaRPr lang="en-US" sz="2100" dirty="0"/>
          </a:p>
        </p:txBody>
      </p:sp>
      <p:sp>
        <p:nvSpPr>
          <p:cNvPr id="8" name="Shape 6"/>
          <p:cNvSpPr/>
          <p:nvPr/>
        </p:nvSpPr>
        <p:spPr>
          <a:xfrm>
            <a:off x="5649218" y="2000250"/>
            <a:ext cx="11724382" cy="547688"/>
          </a:xfrm>
          <a:prstGeom prst="rect">
            <a:avLst/>
          </a:prstGeom>
          <a:solidFill>
            <a:srgbClr val="FF6A00">
              <a:alpha val="18000"/>
            </a:srgbClr>
          </a:solidFill>
          <a:ln/>
        </p:spPr>
      </p:sp>
      <p:sp>
        <p:nvSpPr>
          <p:cNvPr id="9" name="Shape 7"/>
          <p:cNvSpPr/>
          <p:nvPr/>
        </p:nvSpPr>
        <p:spPr>
          <a:xfrm>
            <a:off x="5649218" y="2538413"/>
            <a:ext cx="11724382" cy="9525"/>
          </a:xfrm>
          <a:prstGeom prst="rect">
            <a:avLst/>
          </a:prstGeom>
          <a:solidFill>
            <a:srgbClr val="B85100"/>
          </a:solidFill>
          <a:ln/>
        </p:spPr>
      </p:sp>
      <p:sp>
        <p:nvSpPr>
          <p:cNvPr id="10" name="Text 8"/>
          <p:cNvSpPr/>
          <p:nvPr/>
        </p:nvSpPr>
        <p:spPr>
          <a:xfrm>
            <a:off x="5801618" y="2114550"/>
            <a:ext cx="11771313" cy="347663"/>
          </a:xfrm>
          <a:prstGeom prst="rect">
            <a:avLst/>
          </a:prstGeom>
          <a:noFill/>
          <a:ln/>
        </p:spPr>
        <p:txBody>
          <a:bodyPr wrap="square" lIns="25400" tIns="25400" rIns="25400" bIns="25400" rtlCol="0" anchor="ctr">
            <a:normAutofit/>
          </a:bodyPr>
          <a:lstStyle/>
          <a:p>
            <a:pPr algn="l" indent="0" marL="0">
              <a:buNone/>
            </a:pPr>
            <a:r>
              <a:rPr lang="en-US" sz="2100" b="1" dirty="0">
                <a:solidFill>
                  <a:srgbClr val="FFFFFF"/>
                </a:solidFill>
                <a:latin typeface="Arial" pitchFamily="34" charset="0"/>
                <a:ea typeface="Arial" pitchFamily="34" charset="-122"/>
                <a:cs typeface="Arial" pitchFamily="34" charset="-120"/>
              </a:rPr>
              <a:t>Definition</a:t>
            </a:r>
            <a:endParaRPr lang="en-US" sz="2100" dirty="0"/>
          </a:p>
        </p:txBody>
      </p:sp>
      <p:sp>
        <p:nvSpPr>
          <p:cNvPr id="11" name="Shape 9"/>
          <p:cNvSpPr/>
          <p:nvPr/>
        </p:nvSpPr>
        <p:spPr>
          <a:xfrm>
            <a:off x="914400" y="3043238"/>
            <a:ext cx="4734818" cy="9525"/>
          </a:xfrm>
          <a:prstGeom prst="rect">
            <a:avLst/>
          </a:prstGeom>
          <a:solidFill>
            <a:srgbClr val="2A2F3A"/>
          </a:solidFill>
          <a:ln/>
        </p:spPr>
      </p:sp>
      <p:sp>
        <p:nvSpPr>
          <p:cNvPr id="12" name="Text 10"/>
          <p:cNvSpPr/>
          <p:nvPr/>
        </p:nvSpPr>
        <p:spPr>
          <a:xfrm>
            <a:off x="1066800" y="2662238"/>
            <a:ext cx="4572063"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LLM</a:t>
            </a:r>
            <a:endParaRPr lang="en-US" sz="1800" dirty="0"/>
          </a:p>
        </p:txBody>
      </p:sp>
      <p:sp>
        <p:nvSpPr>
          <p:cNvPr id="13" name="Shape 11"/>
          <p:cNvSpPr/>
          <p:nvPr/>
        </p:nvSpPr>
        <p:spPr>
          <a:xfrm>
            <a:off x="5649218" y="3043238"/>
            <a:ext cx="11724382" cy="9525"/>
          </a:xfrm>
          <a:prstGeom prst="rect">
            <a:avLst/>
          </a:prstGeom>
          <a:solidFill>
            <a:srgbClr val="2A2F3A"/>
          </a:solidFill>
          <a:ln/>
        </p:spPr>
      </p:sp>
      <p:sp>
        <p:nvSpPr>
          <p:cNvPr id="14" name="Text 12"/>
          <p:cNvSpPr/>
          <p:nvPr/>
        </p:nvSpPr>
        <p:spPr>
          <a:xfrm>
            <a:off x="5801618" y="2662238"/>
            <a:ext cx="11771313"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Large Language Model</a:t>
            </a:r>
            <a:endParaRPr lang="en-US" sz="1800" dirty="0"/>
          </a:p>
        </p:txBody>
      </p:sp>
      <p:sp>
        <p:nvSpPr>
          <p:cNvPr id="15" name="Shape 13"/>
          <p:cNvSpPr/>
          <p:nvPr/>
        </p:nvSpPr>
        <p:spPr>
          <a:xfrm>
            <a:off x="914400" y="3052763"/>
            <a:ext cx="4734818" cy="504825"/>
          </a:xfrm>
          <a:prstGeom prst="rect">
            <a:avLst/>
          </a:prstGeom>
          <a:solidFill>
            <a:srgbClr val="FFFFFF">
              <a:alpha val="2000"/>
            </a:srgbClr>
          </a:solidFill>
          <a:ln/>
        </p:spPr>
      </p:sp>
      <p:sp>
        <p:nvSpPr>
          <p:cNvPr id="16" name="Shape 14"/>
          <p:cNvSpPr/>
          <p:nvPr/>
        </p:nvSpPr>
        <p:spPr>
          <a:xfrm>
            <a:off x="914400" y="3548063"/>
            <a:ext cx="4734818" cy="9525"/>
          </a:xfrm>
          <a:prstGeom prst="rect">
            <a:avLst/>
          </a:prstGeom>
          <a:solidFill>
            <a:srgbClr val="2A2F3A"/>
          </a:solidFill>
          <a:ln/>
        </p:spPr>
      </p:sp>
      <p:sp>
        <p:nvSpPr>
          <p:cNvPr id="17" name="Text 15"/>
          <p:cNvSpPr/>
          <p:nvPr/>
        </p:nvSpPr>
        <p:spPr>
          <a:xfrm>
            <a:off x="1066800" y="3167063"/>
            <a:ext cx="4572063"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SLM</a:t>
            </a:r>
            <a:endParaRPr lang="en-US" sz="1800" dirty="0"/>
          </a:p>
        </p:txBody>
      </p:sp>
      <p:sp>
        <p:nvSpPr>
          <p:cNvPr id="18" name="Shape 16"/>
          <p:cNvSpPr/>
          <p:nvPr/>
        </p:nvSpPr>
        <p:spPr>
          <a:xfrm>
            <a:off x="5649218" y="3052763"/>
            <a:ext cx="11724382" cy="504825"/>
          </a:xfrm>
          <a:prstGeom prst="rect">
            <a:avLst/>
          </a:prstGeom>
          <a:solidFill>
            <a:srgbClr val="FFFFFF">
              <a:alpha val="2000"/>
            </a:srgbClr>
          </a:solidFill>
          <a:ln/>
        </p:spPr>
      </p:sp>
      <p:sp>
        <p:nvSpPr>
          <p:cNvPr id="19" name="Shape 17"/>
          <p:cNvSpPr/>
          <p:nvPr/>
        </p:nvSpPr>
        <p:spPr>
          <a:xfrm>
            <a:off x="5649218" y="3548063"/>
            <a:ext cx="11724382" cy="9525"/>
          </a:xfrm>
          <a:prstGeom prst="rect">
            <a:avLst/>
          </a:prstGeom>
          <a:solidFill>
            <a:srgbClr val="2A2F3A"/>
          </a:solidFill>
          <a:ln/>
        </p:spPr>
      </p:sp>
      <p:sp>
        <p:nvSpPr>
          <p:cNvPr id="20" name="Text 18"/>
          <p:cNvSpPr/>
          <p:nvPr/>
        </p:nvSpPr>
        <p:spPr>
          <a:xfrm>
            <a:off x="5801618" y="3167063"/>
            <a:ext cx="11771313"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Small Language Model</a:t>
            </a:r>
            <a:endParaRPr lang="en-US" sz="1800" dirty="0"/>
          </a:p>
        </p:txBody>
      </p:sp>
      <p:sp>
        <p:nvSpPr>
          <p:cNvPr id="21" name="Shape 19"/>
          <p:cNvSpPr/>
          <p:nvPr/>
        </p:nvSpPr>
        <p:spPr>
          <a:xfrm>
            <a:off x="914400" y="4052888"/>
            <a:ext cx="4734818" cy="9525"/>
          </a:xfrm>
          <a:prstGeom prst="rect">
            <a:avLst/>
          </a:prstGeom>
          <a:solidFill>
            <a:srgbClr val="2A2F3A"/>
          </a:solidFill>
          <a:ln/>
        </p:spPr>
      </p:sp>
      <p:sp>
        <p:nvSpPr>
          <p:cNvPr id="22" name="Text 20"/>
          <p:cNvSpPr/>
          <p:nvPr/>
        </p:nvSpPr>
        <p:spPr>
          <a:xfrm>
            <a:off x="1066800" y="3671888"/>
            <a:ext cx="4572063"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GAN</a:t>
            </a:r>
            <a:endParaRPr lang="en-US" sz="1800" dirty="0"/>
          </a:p>
        </p:txBody>
      </p:sp>
      <p:sp>
        <p:nvSpPr>
          <p:cNvPr id="23" name="Shape 21"/>
          <p:cNvSpPr/>
          <p:nvPr/>
        </p:nvSpPr>
        <p:spPr>
          <a:xfrm>
            <a:off x="5649218" y="4052888"/>
            <a:ext cx="11724382" cy="9525"/>
          </a:xfrm>
          <a:prstGeom prst="rect">
            <a:avLst/>
          </a:prstGeom>
          <a:solidFill>
            <a:srgbClr val="2A2F3A"/>
          </a:solidFill>
          <a:ln/>
        </p:spPr>
      </p:sp>
      <p:sp>
        <p:nvSpPr>
          <p:cNvPr id="24" name="Text 22"/>
          <p:cNvSpPr/>
          <p:nvPr/>
        </p:nvSpPr>
        <p:spPr>
          <a:xfrm>
            <a:off x="5801618" y="3671888"/>
            <a:ext cx="11771313"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Generative Adversarial Network</a:t>
            </a:r>
            <a:endParaRPr lang="en-US" sz="1800" dirty="0"/>
          </a:p>
        </p:txBody>
      </p:sp>
      <p:sp>
        <p:nvSpPr>
          <p:cNvPr id="25" name="Shape 23"/>
          <p:cNvSpPr/>
          <p:nvPr/>
        </p:nvSpPr>
        <p:spPr>
          <a:xfrm>
            <a:off x="914400" y="4062412"/>
            <a:ext cx="4734818" cy="504825"/>
          </a:xfrm>
          <a:prstGeom prst="rect">
            <a:avLst/>
          </a:prstGeom>
          <a:solidFill>
            <a:srgbClr val="FFFFFF">
              <a:alpha val="2000"/>
            </a:srgbClr>
          </a:solidFill>
          <a:ln/>
        </p:spPr>
      </p:sp>
      <p:sp>
        <p:nvSpPr>
          <p:cNvPr id="26" name="Shape 24"/>
          <p:cNvSpPr/>
          <p:nvPr/>
        </p:nvSpPr>
        <p:spPr>
          <a:xfrm>
            <a:off x="914400" y="4557713"/>
            <a:ext cx="4734818" cy="9525"/>
          </a:xfrm>
          <a:prstGeom prst="rect">
            <a:avLst/>
          </a:prstGeom>
          <a:solidFill>
            <a:srgbClr val="2A2F3A"/>
          </a:solidFill>
          <a:ln/>
        </p:spPr>
      </p:sp>
      <p:sp>
        <p:nvSpPr>
          <p:cNvPr id="27" name="Text 25"/>
          <p:cNvSpPr/>
          <p:nvPr/>
        </p:nvSpPr>
        <p:spPr>
          <a:xfrm>
            <a:off x="1066800" y="4176712"/>
            <a:ext cx="4572063"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NLP</a:t>
            </a:r>
            <a:endParaRPr lang="en-US" sz="1800" dirty="0"/>
          </a:p>
        </p:txBody>
      </p:sp>
      <p:sp>
        <p:nvSpPr>
          <p:cNvPr id="28" name="Shape 26"/>
          <p:cNvSpPr/>
          <p:nvPr/>
        </p:nvSpPr>
        <p:spPr>
          <a:xfrm>
            <a:off x="5649218" y="4062412"/>
            <a:ext cx="11724382" cy="504825"/>
          </a:xfrm>
          <a:prstGeom prst="rect">
            <a:avLst/>
          </a:prstGeom>
          <a:solidFill>
            <a:srgbClr val="FFFFFF">
              <a:alpha val="2000"/>
            </a:srgbClr>
          </a:solidFill>
          <a:ln/>
        </p:spPr>
      </p:sp>
      <p:sp>
        <p:nvSpPr>
          <p:cNvPr id="29" name="Shape 27"/>
          <p:cNvSpPr/>
          <p:nvPr/>
        </p:nvSpPr>
        <p:spPr>
          <a:xfrm>
            <a:off x="5649218" y="4557713"/>
            <a:ext cx="11724382" cy="9525"/>
          </a:xfrm>
          <a:prstGeom prst="rect">
            <a:avLst/>
          </a:prstGeom>
          <a:solidFill>
            <a:srgbClr val="2A2F3A"/>
          </a:solidFill>
          <a:ln/>
        </p:spPr>
      </p:sp>
      <p:sp>
        <p:nvSpPr>
          <p:cNvPr id="30" name="Text 28"/>
          <p:cNvSpPr/>
          <p:nvPr/>
        </p:nvSpPr>
        <p:spPr>
          <a:xfrm>
            <a:off x="5801618" y="4176712"/>
            <a:ext cx="11771313"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Natural Language Processing</a:t>
            </a:r>
            <a:endParaRPr lang="en-US" sz="1800" dirty="0"/>
          </a:p>
        </p:txBody>
      </p:sp>
      <p:sp>
        <p:nvSpPr>
          <p:cNvPr id="31" name="Shape 29"/>
          <p:cNvSpPr/>
          <p:nvPr/>
        </p:nvSpPr>
        <p:spPr>
          <a:xfrm>
            <a:off x="914400" y="5062538"/>
            <a:ext cx="4734818" cy="9525"/>
          </a:xfrm>
          <a:prstGeom prst="rect">
            <a:avLst/>
          </a:prstGeom>
          <a:solidFill>
            <a:srgbClr val="2A2F3A"/>
          </a:solidFill>
          <a:ln/>
        </p:spPr>
      </p:sp>
      <p:sp>
        <p:nvSpPr>
          <p:cNvPr id="32" name="Text 30"/>
          <p:cNvSpPr/>
          <p:nvPr/>
        </p:nvSpPr>
        <p:spPr>
          <a:xfrm>
            <a:off x="1066800" y="4681538"/>
            <a:ext cx="4572063"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RAG</a:t>
            </a:r>
            <a:endParaRPr lang="en-US" sz="1800" dirty="0"/>
          </a:p>
        </p:txBody>
      </p:sp>
      <p:sp>
        <p:nvSpPr>
          <p:cNvPr id="33" name="Shape 31"/>
          <p:cNvSpPr/>
          <p:nvPr/>
        </p:nvSpPr>
        <p:spPr>
          <a:xfrm>
            <a:off x="5649218" y="5062538"/>
            <a:ext cx="11724382" cy="9525"/>
          </a:xfrm>
          <a:prstGeom prst="rect">
            <a:avLst/>
          </a:prstGeom>
          <a:solidFill>
            <a:srgbClr val="2A2F3A"/>
          </a:solidFill>
          <a:ln/>
        </p:spPr>
      </p:sp>
      <p:sp>
        <p:nvSpPr>
          <p:cNvPr id="34" name="Text 32"/>
          <p:cNvSpPr/>
          <p:nvPr/>
        </p:nvSpPr>
        <p:spPr>
          <a:xfrm>
            <a:off x="5801618" y="4681538"/>
            <a:ext cx="11771313"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Retrieval-Augmented Generation</a:t>
            </a:r>
            <a:endParaRPr lang="en-US" sz="1800" dirty="0"/>
          </a:p>
        </p:txBody>
      </p:sp>
      <p:sp>
        <p:nvSpPr>
          <p:cNvPr id="35" name="Shape 33"/>
          <p:cNvSpPr/>
          <p:nvPr/>
        </p:nvSpPr>
        <p:spPr>
          <a:xfrm>
            <a:off x="914400" y="5072063"/>
            <a:ext cx="4734818" cy="504825"/>
          </a:xfrm>
          <a:prstGeom prst="rect">
            <a:avLst/>
          </a:prstGeom>
          <a:solidFill>
            <a:srgbClr val="FFFFFF">
              <a:alpha val="2000"/>
            </a:srgbClr>
          </a:solidFill>
          <a:ln/>
        </p:spPr>
      </p:sp>
      <p:sp>
        <p:nvSpPr>
          <p:cNvPr id="36" name="Shape 34"/>
          <p:cNvSpPr/>
          <p:nvPr/>
        </p:nvSpPr>
        <p:spPr>
          <a:xfrm>
            <a:off x="914400" y="5567363"/>
            <a:ext cx="4734818" cy="9525"/>
          </a:xfrm>
          <a:prstGeom prst="rect">
            <a:avLst/>
          </a:prstGeom>
          <a:solidFill>
            <a:srgbClr val="2A2F3A"/>
          </a:solidFill>
          <a:ln/>
        </p:spPr>
      </p:sp>
      <p:sp>
        <p:nvSpPr>
          <p:cNvPr id="37" name="Text 35"/>
          <p:cNvSpPr/>
          <p:nvPr/>
        </p:nvSpPr>
        <p:spPr>
          <a:xfrm>
            <a:off x="1066800" y="5186363"/>
            <a:ext cx="4572063"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MDLC</a:t>
            </a:r>
            <a:endParaRPr lang="en-US" sz="1800" dirty="0"/>
          </a:p>
        </p:txBody>
      </p:sp>
      <p:sp>
        <p:nvSpPr>
          <p:cNvPr id="38" name="Shape 36"/>
          <p:cNvSpPr/>
          <p:nvPr/>
        </p:nvSpPr>
        <p:spPr>
          <a:xfrm>
            <a:off x="5649218" y="5072063"/>
            <a:ext cx="11724382" cy="504825"/>
          </a:xfrm>
          <a:prstGeom prst="rect">
            <a:avLst/>
          </a:prstGeom>
          <a:solidFill>
            <a:srgbClr val="FFFFFF">
              <a:alpha val="2000"/>
            </a:srgbClr>
          </a:solidFill>
          <a:ln/>
        </p:spPr>
      </p:sp>
      <p:sp>
        <p:nvSpPr>
          <p:cNvPr id="39" name="Shape 37"/>
          <p:cNvSpPr/>
          <p:nvPr/>
        </p:nvSpPr>
        <p:spPr>
          <a:xfrm>
            <a:off x="5649218" y="5567363"/>
            <a:ext cx="11724382" cy="9525"/>
          </a:xfrm>
          <a:prstGeom prst="rect">
            <a:avLst/>
          </a:prstGeom>
          <a:solidFill>
            <a:srgbClr val="2A2F3A"/>
          </a:solidFill>
          <a:ln/>
        </p:spPr>
      </p:sp>
      <p:sp>
        <p:nvSpPr>
          <p:cNvPr id="40" name="Text 38"/>
          <p:cNvSpPr/>
          <p:nvPr/>
        </p:nvSpPr>
        <p:spPr>
          <a:xfrm>
            <a:off x="5801618" y="5186363"/>
            <a:ext cx="11771313"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Model Development Life Cycle</a:t>
            </a:r>
            <a:endParaRPr lang="en-US" sz="1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COMMON MISCONCEPTIONS</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What This Module Is Not About</a:t>
            </a:r>
            <a:endParaRPr lang="en-US" sz="4200" dirty="0"/>
          </a:p>
        </p:txBody>
      </p:sp>
      <p:sp>
        <p:nvSpPr>
          <p:cNvPr id="5" name="Shape 3"/>
          <p:cNvSpPr/>
          <p:nvPr/>
        </p:nvSpPr>
        <p:spPr>
          <a:xfrm>
            <a:off x="914400" y="2019300"/>
            <a:ext cx="16459200" cy="990600"/>
          </a:xfrm>
          <a:prstGeom prst="roundRect">
            <a:avLst>
              <a:gd name="adj" fmla="val 15385"/>
            </a:avLst>
          </a:prstGeom>
          <a:solidFill>
            <a:srgbClr val="FFFFFF">
              <a:alpha val="2000"/>
            </a:srgbClr>
          </a:solidFill>
          <a:ln w="9525">
            <a:solidFill>
              <a:srgbClr val="2A2F3A"/>
            </a:solidFill>
            <a:prstDash val="solid"/>
          </a:ln>
        </p:spPr>
      </p:sp>
      <p:sp>
        <p:nvSpPr>
          <p:cNvPr id="6" name="Text 4"/>
          <p:cNvSpPr/>
          <p:nvPr/>
        </p:nvSpPr>
        <p:spPr>
          <a:xfrm>
            <a:off x="1171575" y="2276475"/>
            <a:ext cx="16438626" cy="514350"/>
          </a:xfrm>
          <a:prstGeom prst="rect">
            <a:avLst/>
          </a:prstGeom>
          <a:noFill/>
          <a:ln/>
        </p:spPr>
        <p:txBody>
          <a:bodyPr wrap="square" lIns="25400" tIns="25400" rIns="25400" bIns="25400" rtlCol="0" anchor="t">
            <a:normAutofit/>
          </a:bodyPr>
          <a:lstStyle/>
          <a:p>
            <a:pPr algn="l" indent="0" marL="0">
              <a:buNone/>
            </a:pPr>
            <a:r>
              <a:rPr lang="en-US" sz="1575" dirty="0">
                <a:solidFill>
                  <a:srgbClr val="F5F7FB"/>
                </a:solidFill>
                <a:latin typeface="Arial" pitchFamily="34" charset="0"/>
                <a:ea typeface="Arial" pitchFamily="34" charset="-122"/>
                <a:cs typeface="Arial" pitchFamily="34" charset="-120"/>
              </a:rPr>
              <a:t>"AI" and "generative AI" are not synonyms — generative AI is one category among several; statistical learning, GANs, and deep learning classifiers are AI too, and none of them generate content</a:t>
            </a:r>
            <a:endParaRPr lang="en-US" sz="1575" dirty="0"/>
          </a:p>
        </p:txBody>
      </p:sp>
      <p:sp>
        <p:nvSpPr>
          <p:cNvPr id="7" name="Shape 5"/>
          <p:cNvSpPr/>
          <p:nvPr/>
        </p:nvSpPr>
        <p:spPr>
          <a:xfrm>
            <a:off x="914400" y="3181350"/>
            <a:ext cx="16459200" cy="990600"/>
          </a:xfrm>
          <a:prstGeom prst="roundRect">
            <a:avLst>
              <a:gd name="adj" fmla="val 15385"/>
            </a:avLst>
          </a:prstGeom>
          <a:solidFill>
            <a:srgbClr val="FFFFFF">
              <a:alpha val="2000"/>
            </a:srgbClr>
          </a:solidFill>
          <a:ln w="9525">
            <a:solidFill>
              <a:srgbClr val="2A2F3A"/>
            </a:solidFill>
            <a:prstDash val="solid"/>
          </a:ln>
        </p:spPr>
      </p:sp>
      <p:sp>
        <p:nvSpPr>
          <p:cNvPr id="8" name="Text 6"/>
          <p:cNvSpPr/>
          <p:nvPr/>
        </p:nvSpPr>
        <p:spPr>
          <a:xfrm>
            <a:off x="1171575" y="3438525"/>
            <a:ext cx="16438626" cy="514350"/>
          </a:xfrm>
          <a:prstGeom prst="rect">
            <a:avLst/>
          </a:prstGeom>
          <a:noFill/>
          <a:ln/>
        </p:spPr>
        <p:txBody>
          <a:bodyPr wrap="square" lIns="25400" tIns="25400" rIns="25400" bIns="25400" rtlCol="0" anchor="t">
            <a:normAutofit/>
          </a:bodyPr>
          <a:lstStyle/>
          <a:p>
            <a:pPr algn="l" indent="0" marL="0">
              <a:buNone/>
            </a:pPr>
            <a:r>
              <a:rPr lang="en-US" sz="1575" dirty="0">
                <a:solidFill>
                  <a:srgbClr val="F5F7FB"/>
                </a:solidFill>
                <a:latin typeface="Arial" pitchFamily="34" charset="0"/>
                <a:ea typeface="Arial" pitchFamily="34" charset="-122"/>
                <a:cs typeface="Arial" pitchFamily="34" charset="-120"/>
              </a:rPr>
              <a:t>Fine-tuning is not the same as prompt engineering — fine-tuning changes model weights through further training; prompt engineering only shapes the input, leaving the model itself unchanged</a:t>
            </a:r>
            <a:endParaRPr lang="en-US" sz="1575" dirty="0"/>
          </a:p>
        </p:txBody>
      </p:sp>
      <p:sp>
        <p:nvSpPr>
          <p:cNvPr id="9" name="Shape 7"/>
          <p:cNvSpPr/>
          <p:nvPr/>
        </p:nvSpPr>
        <p:spPr>
          <a:xfrm>
            <a:off x="914400" y="4343400"/>
            <a:ext cx="16459200" cy="752475"/>
          </a:xfrm>
          <a:prstGeom prst="roundRect">
            <a:avLst>
              <a:gd name="adj" fmla="val 20253"/>
            </a:avLst>
          </a:prstGeom>
          <a:solidFill>
            <a:srgbClr val="FFFFFF">
              <a:alpha val="2000"/>
            </a:srgbClr>
          </a:solidFill>
          <a:ln w="9525">
            <a:solidFill>
              <a:srgbClr val="2A2F3A"/>
            </a:solidFill>
            <a:prstDash val="solid"/>
          </a:ln>
        </p:spPr>
      </p:sp>
      <p:sp>
        <p:nvSpPr>
          <p:cNvPr id="10" name="Text 8"/>
          <p:cNvSpPr/>
          <p:nvPr/>
        </p:nvSpPr>
        <p:spPr>
          <a:xfrm>
            <a:off x="1171575" y="4600575"/>
            <a:ext cx="16438626" cy="276225"/>
          </a:xfrm>
          <a:prstGeom prst="rect">
            <a:avLst/>
          </a:prstGeom>
          <a:noFill/>
          <a:ln/>
        </p:spPr>
        <p:txBody>
          <a:bodyPr wrap="square" lIns="25400" tIns="25400" rIns="25400" bIns="25400" rtlCol="0" anchor="t">
            <a:normAutofit/>
          </a:bodyPr>
          <a:lstStyle/>
          <a:p>
            <a:pPr algn="l" indent="0" marL="0">
              <a:buNone/>
            </a:pPr>
            <a:r>
              <a:rPr lang="en-US" sz="1575" dirty="0">
                <a:solidFill>
                  <a:srgbClr val="F5F7FB"/>
                </a:solidFill>
                <a:latin typeface="Arial" pitchFamily="34" charset="0"/>
                <a:ea typeface="Arial" pitchFamily="34" charset="-122"/>
                <a:cs typeface="Arial" pitchFamily="34" charset="-120"/>
              </a:rPr>
              <a:t>Watermarking is a provenance aid, not a guaranteed content-authenticity guarantee — it can be stripped, degraded, or absent, so it should never be a sole control</a:t>
            </a:r>
            <a:endParaRPr lang="en-US" sz="1575"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7798054" y="3905250"/>
            <a:ext cx="2691817" cy="285750"/>
          </a:xfrm>
          <a:prstGeom prst="rect">
            <a:avLst/>
          </a:prstGeom>
          <a:noFill/>
          <a:ln/>
        </p:spPr>
        <p:txBody>
          <a:bodyPr wrap="square" lIns="25400" tIns="25400" rIns="25400" bIns="25400" rtlCol="0" anchor="t">
            <a:normAutofit/>
          </a:bodyPr>
          <a:lstStyle/>
          <a:p>
            <a:pPr algn="ctr" indent="0" marL="0">
              <a:buNone/>
            </a:pPr>
            <a:r>
              <a:rPr lang="en-US" sz="1650" b="1" spc="150" kern="0" dirty="0">
                <a:solidFill>
                  <a:srgbClr val="FF6A00"/>
                </a:solidFill>
                <a:latin typeface="Arial" pitchFamily="34" charset="0"/>
                <a:ea typeface="Arial" pitchFamily="34" charset="-122"/>
                <a:cs typeface="Arial" pitchFamily="34" charset="-120"/>
              </a:rPr>
              <a:t>DOMAIN WEIGHTING</a:t>
            </a:r>
            <a:endParaRPr lang="en-US" sz="1650" dirty="0"/>
          </a:p>
        </p:txBody>
      </p:sp>
      <p:sp>
        <p:nvSpPr>
          <p:cNvPr id="4" name="Text 2"/>
          <p:cNvSpPr/>
          <p:nvPr/>
        </p:nvSpPr>
        <p:spPr>
          <a:xfrm>
            <a:off x="7328859" y="4324350"/>
            <a:ext cx="3630208" cy="1657350"/>
          </a:xfrm>
          <a:prstGeom prst="rect">
            <a:avLst/>
          </a:prstGeom>
          <a:noFill/>
          <a:ln/>
        </p:spPr>
        <p:txBody>
          <a:bodyPr wrap="square" lIns="25400" tIns="25400" rIns="25400" bIns="25400" rtlCol="0" anchor="t">
            <a:normAutofit/>
          </a:bodyPr>
          <a:lstStyle/>
          <a:p>
            <a:pPr algn="ctr" indent="0" marL="0">
              <a:lnSpc>
                <a:spcPct val="86957"/>
              </a:lnSpc>
              <a:buNone/>
            </a:pPr>
            <a:r>
              <a:rPr lang="en-US" sz="12750" b="1" dirty="0">
                <a:solidFill>
                  <a:srgbClr val="FF6A00"/>
                </a:solidFill>
                <a:latin typeface="Arial" pitchFamily="34" charset="0"/>
                <a:ea typeface="Arial" pitchFamily="34" charset="-122"/>
                <a:cs typeface="Arial" pitchFamily="34" charset="-120"/>
              </a:rPr>
              <a:t>17%</a:t>
            </a:r>
            <a:endParaRPr lang="en-US" sz="12750" dirty="0"/>
          </a:p>
        </p:txBody>
      </p:sp>
      <p:sp>
        <p:nvSpPr>
          <p:cNvPr id="5" name="Text 3"/>
          <p:cNvSpPr/>
          <p:nvPr/>
        </p:nvSpPr>
        <p:spPr>
          <a:xfrm>
            <a:off x="6160696" y="6076950"/>
            <a:ext cx="5966609" cy="419100"/>
          </a:xfrm>
          <a:prstGeom prst="rect">
            <a:avLst/>
          </a:prstGeom>
          <a:noFill/>
          <a:ln/>
        </p:spPr>
        <p:txBody>
          <a:bodyPr wrap="square" lIns="25400" tIns="25400" rIns="25400" bIns="25400" rtlCol="0" anchor="t">
            <a:normAutofit/>
          </a:bodyPr>
          <a:lstStyle/>
          <a:p>
            <a:pPr algn="ctr" indent="0" marL="0">
              <a:buNone/>
            </a:pPr>
            <a:r>
              <a:rPr lang="en-US" sz="2550" dirty="0">
                <a:solidFill>
                  <a:srgbClr val="B8C0CF"/>
                </a:solidFill>
                <a:latin typeface="Arial" pitchFamily="34" charset="0"/>
                <a:ea typeface="Arial" pitchFamily="34" charset="-122"/>
                <a:cs typeface="Arial" pitchFamily="34" charset="-120"/>
              </a:rPr>
              <a:t>of the CompTIA SecAI+ CY0-001 exam</a:t>
            </a:r>
            <a:endParaRPr lang="en-US" sz="25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KNOWLEDGE CHECK</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Quick Question</a:t>
            </a:r>
            <a:endParaRPr lang="en-US" sz="4200" dirty="0"/>
          </a:p>
        </p:txBody>
      </p:sp>
      <p:sp>
        <p:nvSpPr>
          <p:cNvPr id="5" name="Shape 3"/>
          <p:cNvSpPr/>
          <p:nvPr/>
        </p:nvSpPr>
        <p:spPr>
          <a:xfrm>
            <a:off x="914400" y="2000250"/>
            <a:ext cx="16459200" cy="2708821"/>
          </a:xfrm>
          <a:prstGeom prst="roundRect">
            <a:avLst>
              <a:gd name="adj" fmla="val 5626"/>
            </a:avLst>
          </a:prstGeom>
          <a:solidFill>
            <a:srgbClr val="FFFFFF">
              <a:alpha val="2000"/>
            </a:srgbClr>
          </a:solidFill>
          <a:ln w="9525">
            <a:solidFill>
              <a:srgbClr val="2A2F3A"/>
            </a:solidFill>
            <a:prstDash val="solid"/>
          </a:ln>
        </p:spPr>
      </p:sp>
      <p:sp>
        <p:nvSpPr>
          <p:cNvPr id="6" name="Text 4"/>
          <p:cNvSpPr/>
          <p:nvPr/>
        </p:nvSpPr>
        <p:spPr>
          <a:xfrm>
            <a:off x="1171575" y="2257425"/>
            <a:ext cx="16438626" cy="2232571"/>
          </a:xfrm>
          <a:prstGeom prst="rect">
            <a:avLst/>
          </a:prstGeom>
          <a:noFill/>
          <a:ln/>
        </p:spPr>
        <p:txBody>
          <a:bodyPr wrap="square" lIns="25400" tIns="25400" rIns="25400" bIns="25400" rtlCol="0" anchor="t">
            <a:normAutofit/>
          </a:bodyPr>
          <a:lstStyle/>
          <a:p>
            <a:pPr algn="l" indent="0" marL="0">
              <a:lnSpc>
                <a:spcPct val="139636"/>
              </a:lnSpc>
              <a:buNone/>
            </a:pPr>
            <a:r>
              <a:rPr lang="en-US" sz="1800" dirty="0">
                <a:solidFill>
                  <a:srgbClr val="F5F7FB"/>
                </a:solidFill>
                <a:highlight>
                  <a:srgbClr val="FFFFFF"/>
                </a:highlight>
                <a:latin typeface="Arial" pitchFamily="34" charset="0"/>
                <a:ea typeface="Arial" pitchFamily="34" charset="-122"/>
                <a:cs typeface="Arial" pitchFamily="34" charset="-120"/>
              </a:rPr>
              <a:t>Which training approach lets multiple organisations train a shared model without centralising their raw data? </a:t>
            </a:r>
            <a:pPr algn="l" indent="0" marL="0">
              <a:lnSpc>
                <a:spcPct val="139636"/>
              </a:lnSpc>
              <a:buNone/>
            </a:pPr>
            <a:r>
              <a:rPr lang="en-US" sz="1800" dirty="0">
                <a:solidFill>
                  <a:srgbClr val="B8C0CF"/>
                </a:solidFill>
                <a:latin typeface="Arial" pitchFamily="34" charset="0"/>
                <a:ea typeface="Arial" pitchFamily="34" charset="-122"/>
                <a:cs typeface="Arial" pitchFamily="34" charset="-120"/>
              </a:rPr>
              <a:t>A. Supervised learning B. Reinforcement learning C. Federated learning D. Fine-tuning</a:t>
            </a:r>
            <a:endParaRPr lang="en-US" sz="1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723900"/>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SUMMARY</a:t>
            </a:r>
            <a:endParaRPr lang="en-US" sz="1650" dirty="0"/>
          </a:p>
        </p:txBody>
      </p:sp>
      <p:sp>
        <p:nvSpPr>
          <p:cNvPr id="4" name="Text 2"/>
          <p:cNvSpPr/>
          <p:nvPr/>
        </p:nvSpPr>
        <p:spPr>
          <a:xfrm>
            <a:off x="914400" y="1104900"/>
            <a:ext cx="18105120"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5F7FB"/>
                </a:solidFill>
                <a:latin typeface="Arial" pitchFamily="34" charset="0"/>
                <a:ea typeface="Arial" pitchFamily="34" charset="-122"/>
                <a:cs typeface="Arial" pitchFamily="34" charset="-120"/>
              </a:rPr>
              <a:t>Module 1 Summary</a:t>
            </a:r>
            <a:endParaRPr lang="en-US" sz="4200" dirty="0"/>
          </a:p>
        </p:txBody>
      </p:sp>
      <p:sp>
        <p:nvSpPr>
          <p:cNvPr id="5" name="Shape 3"/>
          <p:cNvSpPr/>
          <p:nvPr/>
        </p:nvSpPr>
        <p:spPr>
          <a:xfrm>
            <a:off x="914400" y="2019300"/>
            <a:ext cx="16459200" cy="990600"/>
          </a:xfrm>
          <a:prstGeom prst="roundRect">
            <a:avLst>
              <a:gd name="adj" fmla="val 15385"/>
            </a:avLst>
          </a:prstGeom>
          <a:solidFill>
            <a:srgbClr val="FFFFFF">
              <a:alpha val="2000"/>
            </a:srgbClr>
          </a:solidFill>
          <a:ln w="9525">
            <a:solidFill>
              <a:srgbClr val="2A2F3A"/>
            </a:solidFill>
            <a:prstDash val="solid"/>
          </a:ln>
        </p:spPr>
      </p:sp>
      <p:sp>
        <p:nvSpPr>
          <p:cNvPr id="6" name="Text 4"/>
          <p:cNvSpPr/>
          <p:nvPr/>
        </p:nvSpPr>
        <p:spPr>
          <a:xfrm>
            <a:off x="1171575" y="2276475"/>
            <a:ext cx="16438626" cy="514350"/>
          </a:xfrm>
          <a:prstGeom prst="rect">
            <a:avLst/>
          </a:prstGeom>
          <a:noFill/>
          <a:ln/>
        </p:spPr>
        <p:txBody>
          <a:bodyPr wrap="square" lIns="25400" tIns="25400" rIns="25400" bIns="25400" rtlCol="0" anchor="t">
            <a:normAutofit/>
          </a:bodyPr>
          <a:lstStyle/>
          <a:p>
            <a:pPr algn="l" indent="0" marL="0">
              <a:buNone/>
            </a:pPr>
            <a:r>
              <a:rPr lang="en-US" sz="1575" dirty="0">
                <a:solidFill>
                  <a:srgbClr val="F5F7FB"/>
                </a:solidFill>
                <a:latin typeface="Arial" pitchFamily="34" charset="0"/>
                <a:ea typeface="Arial" pitchFamily="34" charset="-122"/>
                <a:cs typeface="Arial" pitchFamily="34" charset="-120"/>
              </a:rPr>
              <a:t>AI spans several distinct types (generative, ML, statistical, transformer, deep learning, GANs), training paradigms (supervised, unsupervised, reinforcement, federated), and prompting techniques (zero/one/multi-shot, system roles, templates)</a:t>
            </a:r>
            <a:endParaRPr lang="en-US" sz="1575" dirty="0"/>
          </a:p>
        </p:txBody>
      </p:sp>
      <p:sp>
        <p:nvSpPr>
          <p:cNvPr id="7" name="Shape 5"/>
          <p:cNvSpPr/>
          <p:nvPr/>
        </p:nvSpPr>
        <p:spPr>
          <a:xfrm>
            <a:off x="914400" y="3181350"/>
            <a:ext cx="16459200" cy="990600"/>
          </a:xfrm>
          <a:prstGeom prst="roundRect">
            <a:avLst>
              <a:gd name="adj" fmla="val 15385"/>
            </a:avLst>
          </a:prstGeom>
          <a:solidFill>
            <a:srgbClr val="FFFFFF">
              <a:alpha val="2000"/>
            </a:srgbClr>
          </a:solidFill>
          <a:ln w="9525">
            <a:solidFill>
              <a:srgbClr val="2A2F3A"/>
            </a:solidFill>
            <a:prstDash val="solid"/>
          </a:ln>
        </p:spPr>
      </p:sp>
      <p:sp>
        <p:nvSpPr>
          <p:cNvPr id="8" name="Text 6"/>
          <p:cNvSpPr/>
          <p:nvPr/>
        </p:nvSpPr>
        <p:spPr>
          <a:xfrm>
            <a:off x="1171575" y="3438525"/>
            <a:ext cx="16438626" cy="514350"/>
          </a:xfrm>
          <a:prstGeom prst="rect">
            <a:avLst/>
          </a:prstGeom>
          <a:noFill/>
          <a:ln/>
        </p:spPr>
        <p:txBody>
          <a:bodyPr wrap="square" lIns="25400" tIns="25400" rIns="25400" bIns="25400" rtlCol="0" anchor="t">
            <a:normAutofit/>
          </a:bodyPr>
          <a:lstStyle/>
          <a:p>
            <a:pPr algn="l" indent="0" marL="0">
              <a:buNone/>
            </a:pPr>
            <a:r>
              <a:rPr lang="en-US" sz="1575" dirty="0">
                <a:solidFill>
                  <a:srgbClr val="F5F7FB"/>
                </a:solidFill>
                <a:latin typeface="Arial" pitchFamily="34" charset="0"/>
                <a:ea typeface="Arial" pitchFamily="34" charset="-122"/>
                <a:cs typeface="Arial" pitchFamily="34" charset="-120"/>
              </a:rPr>
              <a:t>Data security depends on processing controls (cleansing through balancing), data type awareness (structured/semi/unstructured), watermarking, and RAG-specific controls on vector storage and embeddings</a:t>
            </a:r>
            <a:endParaRPr lang="en-US" sz="1575" dirty="0"/>
          </a:p>
        </p:txBody>
      </p:sp>
      <p:sp>
        <p:nvSpPr>
          <p:cNvPr id="9" name="Shape 7"/>
          <p:cNvSpPr/>
          <p:nvPr/>
        </p:nvSpPr>
        <p:spPr>
          <a:xfrm>
            <a:off x="914400" y="4343400"/>
            <a:ext cx="16459200" cy="752475"/>
          </a:xfrm>
          <a:prstGeom prst="roundRect">
            <a:avLst>
              <a:gd name="adj" fmla="val 20253"/>
            </a:avLst>
          </a:prstGeom>
          <a:solidFill>
            <a:srgbClr val="FFFFFF">
              <a:alpha val="2000"/>
            </a:srgbClr>
          </a:solidFill>
          <a:ln w="9525">
            <a:solidFill>
              <a:srgbClr val="2A2F3A"/>
            </a:solidFill>
            <a:prstDash val="solid"/>
          </a:ln>
        </p:spPr>
      </p:sp>
      <p:sp>
        <p:nvSpPr>
          <p:cNvPr id="10" name="Text 8"/>
          <p:cNvSpPr/>
          <p:nvPr/>
        </p:nvSpPr>
        <p:spPr>
          <a:xfrm>
            <a:off x="1171575" y="4600575"/>
            <a:ext cx="16438626" cy="276225"/>
          </a:xfrm>
          <a:prstGeom prst="rect">
            <a:avLst/>
          </a:prstGeom>
          <a:noFill/>
          <a:ln/>
        </p:spPr>
        <p:txBody>
          <a:bodyPr wrap="square" lIns="25400" tIns="25400" rIns="25400" bIns="25400" rtlCol="0" anchor="t">
            <a:normAutofit/>
          </a:bodyPr>
          <a:lstStyle/>
          <a:p>
            <a:pPr algn="l" indent="0" marL="0">
              <a:buNone/>
            </a:pPr>
            <a:r>
              <a:rPr lang="en-US" sz="1575" dirty="0">
                <a:solidFill>
                  <a:srgbClr val="F5F7FB"/>
                </a:solidFill>
                <a:latin typeface="Arial" pitchFamily="34" charset="0"/>
                <a:ea typeface="Arial" pitchFamily="34" charset="-122"/>
                <a:cs typeface="Arial" pitchFamily="34" charset="-120"/>
              </a:rPr>
              <a:t>The AI life cycle has eight stages — collection through feedback/iteration — each carrying its own security considerations, starting from business use case alignment</a:t>
            </a:r>
            <a:endParaRPr lang="en-US" sz="1575" dirty="0"/>
          </a:p>
        </p:txBody>
      </p:sp>
      <p:sp>
        <p:nvSpPr>
          <p:cNvPr id="11" name="Shape 9"/>
          <p:cNvSpPr/>
          <p:nvPr/>
        </p:nvSpPr>
        <p:spPr>
          <a:xfrm>
            <a:off x="914400" y="5267325"/>
            <a:ext cx="16459200" cy="752475"/>
          </a:xfrm>
          <a:prstGeom prst="roundRect">
            <a:avLst>
              <a:gd name="adj" fmla="val 20253"/>
            </a:avLst>
          </a:prstGeom>
          <a:solidFill>
            <a:srgbClr val="FFFFFF">
              <a:alpha val="2000"/>
            </a:srgbClr>
          </a:solidFill>
          <a:ln w="9525">
            <a:solidFill>
              <a:srgbClr val="2A2F3A"/>
            </a:solidFill>
            <a:prstDash val="solid"/>
          </a:ln>
        </p:spPr>
      </p:sp>
      <p:sp>
        <p:nvSpPr>
          <p:cNvPr id="12" name="Text 10"/>
          <p:cNvSpPr/>
          <p:nvPr/>
        </p:nvSpPr>
        <p:spPr>
          <a:xfrm>
            <a:off x="1171575" y="5524500"/>
            <a:ext cx="16438626" cy="276225"/>
          </a:xfrm>
          <a:prstGeom prst="rect">
            <a:avLst/>
          </a:prstGeom>
          <a:noFill/>
          <a:ln/>
        </p:spPr>
        <p:txBody>
          <a:bodyPr wrap="square" lIns="25400" tIns="25400" rIns="25400" bIns="25400" rtlCol="0" anchor="t">
            <a:normAutofit/>
          </a:bodyPr>
          <a:lstStyle/>
          <a:p>
            <a:pPr algn="l" indent="0" marL="0">
              <a:buNone/>
            </a:pPr>
            <a:r>
              <a:rPr lang="en-US" sz="1575" dirty="0">
                <a:solidFill>
                  <a:srgbClr val="F5F7FB"/>
                </a:solidFill>
                <a:latin typeface="Arial" pitchFamily="34" charset="0"/>
                <a:ea typeface="Arial" pitchFamily="34" charset="-122"/>
                <a:cs typeface="Arial" pitchFamily="34" charset="-120"/>
              </a:rPr>
              <a:t>Human-centric design principles (human-in-the-loop, oversight, validation) keep people accountable for AI decisions at every stage</a:t>
            </a:r>
            <a:endParaRPr lang="en-US" sz="1575"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3939555"/>
            <a:ext cx="18105120"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NEXT</a:t>
            </a:r>
            <a:endParaRPr lang="en-US" sz="1650" dirty="0"/>
          </a:p>
        </p:txBody>
      </p:sp>
      <p:sp>
        <p:nvSpPr>
          <p:cNvPr id="4" name="Text 2"/>
          <p:cNvSpPr/>
          <p:nvPr/>
        </p:nvSpPr>
        <p:spPr>
          <a:xfrm>
            <a:off x="914400" y="4377705"/>
            <a:ext cx="16952976" cy="1379190"/>
          </a:xfrm>
          <a:prstGeom prst="rect">
            <a:avLst/>
          </a:prstGeom>
          <a:noFill/>
          <a:ln/>
        </p:spPr>
        <p:txBody>
          <a:bodyPr wrap="square" lIns="25400" tIns="25400" rIns="25400" bIns="25400" rtlCol="0" anchor="t">
            <a:normAutofit/>
          </a:bodyPr>
          <a:lstStyle/>
          <a:p>
            <a:pPr algn="l" indent="0" marL="0">
              <a:lnSpc>
                <a:spcPct val="95782"/>
              </a:lnSpc>
              <a:buNone/>
            </a:pPr>
            <a:r>
              <a:rPr lang="en-US" sz="4800" b="1" dirty="0">
                <a:solidFill>
                  <a:srgbClr val="F5F7FB"/>
                </a:solidFill>
                <a:latin typeface="Arial" pitchFamily="34" charset="0"/>
                <a:ea typeface="Arial" pitchFamily="34" charset="-122"/>
                <a:cs typeface="Arial" pitchFamily="34" charset="-120"/>
              </a:rPr>
              <a:t>Module 2: Securing AI Systems</a:t>
            </a:r>
            <a:endParaRPr lang="en-US" sz="4800" dirty="0"/>
          </a:p>
        </p:txBody>
      </p:sp>
      <p:sp>
        <p:nvSpPr>
          <p:cNvPr id="5" name="Text 3"/>
          <p:cNvSpPr/>
          <p:nvPr/>
        </p:nvSpPr>
        <p:spPr>
          <a:xfrm>
            <a:off x="914400" y="5966445"/>
            <a:ext cx="18105120" cy="419100"/>
          </a:xfrm>
          <a:prstGeom prst="rect">
            <a:avLst/>
          </a:prstGeom>
          <a:noFill/>
          <a:ln/>
        </p:spPr>
        <p:txBody>
          <a:bodyPr wrap="square" lIns="25400" tIns="25400" rIns="25400" bIns="25400" rtlCol="0" anchor="t">
            <a:normAutofit/>
          </a:bodyPr>
          <a:lstStyle/>
          <a:p>
            <a:pPr algn="l" indent="0" marL="0">
              <a:buNone/>
            </a:pPr>
            <a:r>
              <a:rPr lang="en-US" sz="2550" dirty="0">
                <a:solidFill>
                  <a:srgbClr val="B8C0CF"/>
                </a:solidFill>
                <a:latin typeface="Arial" pitchFamily="34" charset="0"/>
                <a:ea typeface="Arial" pitchFamily="34" charset="-122"/>
                <a:cs typeface="Arial" pitchFamily="34" charset="-120"/>
              </a:rPr>
              <a:t>Complete the Module 1 PBQ, Flashcards, Cheat Sheet, and Quiz before continuing</a:t>
            </a:r>
            <a:endParaRPr lang="en-US" sz="2550" dirty="0"/>
          </a:p>
        </p:txBody>
      </p:sp>
      <p:sp>
        <p:nvSpPr>
          <p:cNvPr id="6" name="Text 4"/>
          <p:cNvSpPr/>
          <p:nvPr/>
        </p:nvSpPr>
        <p:spPr>
          <a:xfrm>
            <a:off x="914400" y="9767888"/>
            <a:ext cx="1728869" cy="252413"/>
          </a:xfrm>
          <a:prstGeom prst="rect">
            <a:avLst/>
          </a:prstGeom>
          <a:noFill/>
          <a:ln/>
        </p:spPr>
        <p:txBody>
          <a:bodyPr wrap="square" lIns="25400" tIns="25400" rIns="25400" bIns="25400" rtlCol="0" anchor="t">
            <a:normAutofit/>
          </a:bodyPr>
          <a:lstStyle/>
          <a:p>
            <a:pPr algn="l" indent="0" marL="0">
              <a:buNone/>
            </a:pPr>
            <a:r>
              <a:rPr lang="en-US" sz="1425" dirty="0">
                <a:solidFill>
                  <a:srgbClr val="8891A1"/>
                </a:solidFill>
                <a:latin typeface="Arial" pitchFamily="34" charset="0"/>
                <a:ea typeface="Arial" pitchFamily="34" charset="-122"/>
                <a:cs typeface="Arial" pitchFamily="34" charset="-120"/>
              </a:rPr>
              <a:t>My Cyber Academy</a:t>
            </a:r>
            <a:endParaRPr lang="en-US" sz="1425" dirty="0"/>
          </a:p>
        </p:txBody>
      </p:sp>
      <p:sp>
        <p:nvSpPr>
          <p:cNvPr id="7" name="Text 5"/>
          <p:cNvSpPr/>
          <p:nvPr/>
        </p:nvSpPr>
        <p:spPr>
          <a:xfrm>
            <a:off x="16583992" y="9767888"/>
            <a:ext cx="865808" cy="252413"/>
          </a:xfrm>
          <a:prstGeom prst="rect">
            <a:avLst/>
          </a:prstGeom>
          <a:noFill/>
          <a:ln/>
        </p:spPr>
        <p:txBody>
          <a:bodyPr wrap="square" lIns="25400" tIns="25400" rIns="25400" bIns="25400" rtlCol="0" anchor="t">
            <a:normAutofit/>
          </a:bodyPr>
          <a:lstStyle/>
          <a:p>
            <a:pPr algn="l" indent="0" marL="0">
              <a:buNone/>
            </a:pPr>
            <a:r>
              <a:rPr lang="en-US" sz="1425" b="1" spc="150" kern="0" dirty="0">
                <a:solidFill>
                  <a:srgbClr val="FF6A00"/>
                </a:solidFill>
                <a:latin typeface="Arial" pitchFamily="34" charset="0"/>
                <a:ea typeface="Arial" pitchFamily="34" charset="-122"/>
                <a:cs typeface="Arial" pitchFamily="34" charset="-120"/>
              </a:rPr>
              <a:t>SEC</a:t>
            </a:r>
            <a:pPr algn="l" indent="0" marL="0">
              <a:buNone/>
            </a:pPr>
            <a:r>
              <a:rPr lang="en-US" sz="1425" b="1" spc="150" kern="0" dirty="0">
                <a:solidFill>
                  <a:srgbClr val="8891A1"/>
                </a:solidFill>
                <a:latin typeface="Arial" pitchFamily="34" charset="0"/>
                <a:ea typeface="Arial" pitchFamily="34" charset="-122"/>
                <a:cs typeface="Arial" pitchFamily="34" charset="-120"/>
              </a:rPr>
              <a:t>AI+</a:t>
            </a:r>
            <a:endParaRPr lang="en-US" sz="14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73</Slides>
  <Notes>73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73</vt:i4>
      </vt:variant>
    </vt:vector>
  </HeadingPairs>
  <TitlesOfParts>
    <vt:vector size="7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2026-07-28T12:33:09Z</dcterms:created>
  <dcterms:modified xsi:type="dcterms:W3CDTF">2026-07-28T12:33:09Z</dcterms:modified>
</cp:coreProperties>
</file>