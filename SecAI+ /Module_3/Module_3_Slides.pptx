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3: AI-assisted Security, 24% of the exam — the flip side of Module 2, where AI helps defenders instead of threatening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sub-objectives make up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Reconfirm this domain's exam weighting.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3.1: AI-enabled tools and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IDE and browser plugins together as developer-facing tool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CLI plugins.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chatbots and personal assistants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Model Context Protocol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signature matching and code quality/linting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vulnerability analysis and automated penetration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anomaly detection and pattern recognition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incident management and threat modelling as AI-assisted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remaining three use cases: fraud detection, translation, summarisation.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 3.1 before moving to attack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3.2: how AI enables or enhances attack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AI-generated content/deepfakes and their three sub-uses.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adversarial networks as an attack-enabling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AI-enhanced reconnaissance and social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obfuscation as an AI-enhanced attack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automated data correlation as an attacker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automated attack generation across its four sub-items.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DDoS as an AI-enhanced attack capability, closing objective 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 3.2's eight attack-enhancing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3.3: using AI to automate security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low-code and no-code scripting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document synthesis and summarisation as an automated security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incident response ticket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change management, including AI-assisted approvals and automated deployment/rollback.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AI agents as an automation mechanism in this objective, tying back to agent access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CI/CD automation across its five sub-items.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 3.3 before the applied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as a class — ties together all three sub-objectives of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practical skill of selecting AI-enabled tools for a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practical skill of recognising AI-enhanced attack vectors.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practical skill of automating security tasks appropriately.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a quick-reference recap before the knowledge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these directly — common exam distractors for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learners of assessment weighting to set revision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this question aloud; reveal the answer after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objectives 3.1-3.3 before moving to Module 4 (Domain 4.0).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and preview Module 4 (Domain 4.0, the final domain).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4219575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COMPTIA SECAI+ CY0-001 · DOMAIN 3.0 · MODULE 3 OF 4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667250"/>
            <a:ext cx="18105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304"/>
              </a:lnSpc>
              <a:buNone/>
            </a:pPr>
            <a:r>
              <a:rPr lang="en-US" sz="6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Security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695950"/>
            <a:ext cx="181051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tools support security work, how AI expands attacker capability, and how AI can automate security tasks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914400" y="9796463"/>
            <a:ext cx="164234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618372" y="9796463"/>
            <a:ext cx="83142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</a:t>
            </a:r>
            <a:pPr algn="l" indent="0" marL="0">
              <a:buNone/>
            </a:pPr>
            <a:r>
              <a:rPr lang="en-US" sz="13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AI+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module, you will be able to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1971675"/>
            <a:ext cx="16459200" cy="952500"/>
          </a:xfrm>
          <a:prstGeom prst="roundRect">
            <a:avLst>
              <a:gd name="adj" fmla="val 16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050" y="2219325"/>
            <a:ext cx="457200" cy="457200"/>
          </a:xfrm>
          <a:prstGeom prst="ellipse">
            <a:avLst/>
          </a:prstGeom>
          <a:solidFill>
            <a:srgbClr val="FF6A00">
              <a:alpha val="18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475" y="22288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09750" y="2314575"/>
            <a:ext cx="64415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scenario, use AI-enabled tools to facilitate security tasks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076575"/>
            <a:ext cx="16459200" cy="952500"/>
          </a:xfrm>
          <a:prstGeom prst="roundRect">
            <a:avLst>
              <a:gd name="adj" fmla="val 16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2050" y="3324225"/>
            <a:ext cx="457200" cy="457200"/>
          </a:xfrm>
          <a:prstGeom prst="ellipse">
            <a:avLst/>
          </a:prstGeom>
          <a:solidFill>
            <a:srgbClr val="FF6A00">
              <a:alpha val="18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475" y="33337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09750" y="3419475"/>
            <a:ext cx="50874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AI enables or enhances attack vectors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181475"/>
            <a:ext cx="16459200" cy="952500"/>
          </a:xfrm>
          <a:prstGeom prst="roundRect">
            <a:avLst>
              <a:gd name="adj" fmla="val 1600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2050" y="4429125"/>
            <a:ext cx="457200" cy="457200"/>
          </a:xfrm>
          <a:prstGeom prst="ellipse">
            <a:avLst/>
          </a:prstGeom>
          <a:solidFill>
            <a:srgbClr val="FF6A00">
              <a:alpha val="18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475" y="44386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09750" y="4524375"/>
            <a:ext cx="50850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scenario, use AI to automate security tasks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848473" y="3914775"/>
            <a:ext cx="25910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WEIGHTING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7144602" y="4324350"/>
            <a:ext cx="3998722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7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6244843" y="6076950"/>
            <a:ext cx="57983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CompTIA SecAI+ CY0-001 exam</a:t>
            </a:r>
            <a:endParaRPr lang="en-US" sz="24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434340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3.1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7529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Tools for Security Tasks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572125"/>
            <a:ext cx="181051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tool form-factors, and eleven use cases they get applied to</a:t>
            </a:r>
            <a:endParaRPr lang="en-US" sz="24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497806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32635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Form · 1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&amp; Browser Plug-ins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205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PLUG-INS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2050" y="2505075"/>
            <a:ext cx="786822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assistance embedded directly into a developer's coding environment — inline suggestions, code review, and vulnerability flags as code is written.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23925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8690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PLUG-INS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86900" y="2505075"/>
            <a:ext cx="786822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assistance embedded into the browser — useful for analysts researching threats or reviewing web-based evidence.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516559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34510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Form · 2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Plug-ins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38337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assistance embedded into the command-line interface, letting security practitioners describe a task in natural language and get a suggested command or script.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83123"/>
            <a:ext cx="16459200" cy="1033462"/>
          </a:xfrm>
          <a:prstGeom prst="roundRect">
            <a:avLst>
              <a:gd name="adj" fmla="val 147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2730773"/>
            <a:ext cx="175602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62050" y="3011760"/>
            <a:ext cx="175602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with SOC and red-team practitioners who work primarily from a terminal.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520205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34875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Form · 3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 &amp; Personal Assistants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205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2050" y="2505075"/>
            <a:ext cx="84029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interfaces for querying knowledge bases, drafting reports, or triaging alerts.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23925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8690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ASSISTANTS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86900" y="2505075"/>
            <a:ext cx="786822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task-management AI helpers that can schedule, summarise, and take simple actions on a user's behalf.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522809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35135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Form · 4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(MCP) Server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38337"/>
            <a:ext cx="1695297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standardised server interface that lets an AI model discover and call external tools and data sources in a consistent way, rather than each integration being custom-built.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37408"/>
            <a:ext cx="16459200" cy="1033462"/>
          </a:xfrm>
          <a:prstGeom prst="roundRect">
            <a:avLst>
              <a:gd name="adj" fmla="val 147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3085058"/>
            <a:ext cx="175602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62050" y="3366046"/>
            <a:ext cx="175602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agent/tool access easier to audit and control centrally — directly relevant to the agent access controls in Domain 2.0.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508522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33707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· 1 of 11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Matching &amp; Code Quality/Linting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205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MATCHING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2050" y="2505075"/>
            <a:ext cx="786822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to recognise known malicious patterns faster or across more data than manual review allows.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23925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8690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 &amp; LINTING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86900" y="2505075"/>
            <a:ext cx="84029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review that flags style issues and likely security defects as code is written.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527274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35582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· 2 of 11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Analysis &amp; Automated Penetration Testing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205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ANALYSIS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2050" y="2505075"/>
            <a:ext cx="84029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triage and prioritise scan results at a scale manual review cannot match.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23925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8690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PENETRATION TESTING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86900" y="2505075"/>
            <a:ext cx="786822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and adapts attack attempts against a target system, speeding up testing coverage.</a:t>
            </a:r>
            <a:endParaRPr lang="en-US" sz="14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530995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3595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· 3 of 11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&amp; Pattern Recognition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76438"/>
            <a:ext cx="1695297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ML techniques from Domain 1.0 (unsupervised and statistical learning) applied directly to defensive monitoring — surfacing unusual behaviour and recurring attacker patterns across huge volumes of telemetry.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56458"/>
            <a:ext cx="16459200" cy="1033462"/>
          </a:xfrm>
          <a:prstGeom prst="roundRect">
            <a:avLst>
              <a:gd name="adj" fmla="val 147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3104108"/>
            <a:ext cx="175602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62050" y="3385096"/>
            <a:ext cx="175602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detection at a scale and speed no human analyst team could sustain manually.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533599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36214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· 4 of 11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Management &amp; Threat Modelling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205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MANAGEMENT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2050" y="2505075"/>
            <a:ext cx="84029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 timelines, summarises evidence, and suggests next steps during an active incident.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23925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8690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MODELLING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86900" y="2505075"/>
            <a:ext cx="786822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enumerate assets and abuse cases faster, drawing on resources like those in Objective 2.1.</a:t>
            </a:r>
            <a:endParaRPr lang="en-US" sz="14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2925291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27654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· 5 of 11 (Remaining Three)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Detection, Translation &amp; Summarisation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976438"/>
            <a:ext cx="5384750" cy="1019175"/>
          </a:xfrm>
          <a:prstGeom prst="roundRect">
            <a:avLst>
              <a:gd name="adj" fmla="val 1495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2050" y="2224088"/>
            <a:ext cx="537839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2050" y="2505075"/>
            <a:ext cx="537839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12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transactions or behaviour for likely fraud in real time.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6451550" y="1976438"/>
            <a:ext cx="5384825" cy="1019175"/>
          </a:xfrm>
          <a:prstGeom prst="roundRect">
            <a:avLst>
              <a:gd name="adj" fmla="val 1495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9200" y="2224088"/>
            <a:ext cx="537847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99200" y="2505075"/>
            <a:ext cx="5378477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12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threat intel and evidence in other languages accessible to analysts.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1988775" y="1976438"/>
            <a:ext cx="5384750" cy="1019175"/>
          </a:xfrm>
          <a:prstGeom prst="roundRect">
            <a:avLst>
              <a:gd name="adj" fmla="val 1495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36425" y="2224088"/>
            <a:ext cx="537839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236425" y="2505075"/>
            <a:ext cx="537839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769"/>
              </a:lnSpc>
              <a:buNone/>
            </a:pPr>
            <a:r>
              <a:rPr lang="en-US" sz="12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Condensing long logs, reports, or threat feeds into a digestible brief.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3.1 RECAP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Forms and Use Cases, Side by Side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1933575"/>
            <a:ext cx="4608835" cy="53340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457450"/>
            <a:ext cx="4608835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057275" y="2047875"/>
            <a:ext cx="4461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Forms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523235" y="1933575"/>
            <a:ext cx="11850365" cy="53340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23235" y="2457450"/>
            <a:ext cx="11850365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5666110" y="2047875"/>
            <a:ext cx="119201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Use Cases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4400" y="3228975"/>
            <a:ext cx="4608835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275" y="2581275"/>
            <a:ext cx="44613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/ browser / CLI plug-ins, chatbots, personal assistants, MCP server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23235" y="3228975"/>
            <a:ext cx="11850365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6110" y="2581275"/>
            <a:ext cx="1192012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matching, linting, vulnerability analysis, automated pen testing, anomaly detection, pattern recognition, incident management, threat modelling, fraud detection, translation, summarisation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4353892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3.2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763467"/>
            <a:ext cx="1810512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Enables or Enhances Attack Vectors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14400" y="5561633"/>
            <a:ext cx="181051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capabilities from Objective 3.1, turned against defenders instead of used by them</a:t>
            </a:r>
            <a:endParaRPr lang="en-US" sz="24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782812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6113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Vector · 1 of 8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Content (Deepfakes)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76438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audio, image, or video convincing enough to pass as real, generated by the same GAN and generative AI techniques from Domain 1.0.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502173"/>
            <a:ext cx="5397475" cy="685800"/>
          </a:xfrm>
          <a:prstGeom prst="roundRect">
            <a:avLst>
              <a:gd name="adj" fmla="val 2222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088" y="2749823"/>
            <a:ext cx="50640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Impersonation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6445225" y="2502173"/>
            <a:ext cx="5397475" cy="685800"/>
          </a:xfrm>
          <a:prstGeom prst="roundRect">
            <a:avLst>
              <a:gd name="adj" fmla="val 2222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913" y="2749823"/>
            <a:ext cx="50640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11976050" y="2502173"/>
            <a:ext cx="5397550" cy="685800"/>
          </a:xfrm>
          <a:prstGeom prst="roundRect">
            <a:avLst>
              <a:gd name="adj" fmla="val 2222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42737" y="2749823"/>
            <a:ext cx="50641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Disinformation</a:t>
            </a:r>
            <a:endParaRPr lang="en-US" sz="12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801564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63011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Vector · 2 of 8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Networks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38337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 and similar adversarial training techniques used offensively — for example, to iteratively generate input specifically designed to defeat a target model or detector.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83123"/>
            <a:ext cx="16459200" cy="1033462"/>
          </a:xfrm>
          <a:prstGeom prst="roundRect">
            <a:avLst>
              <a:gd name="adj" fmla="val 147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2730773"/>
            <a:ext cx="175602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62050" y="3011760"/>
            <a:ext cx="175602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generator-vs-discriminator idea from Domain 1.0 now targets your defensive model as the "discriminator" to be beaten.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805285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63383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Vector · 3 of 8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 &amp; Social Engineering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205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2050" y="2505075"/>
            <a:ext cx="84029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rapidly aggregates public information about a target organisation or individual.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23925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8690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86900" y="2505075"/>
            <a:ext cx="786822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 highly personalised, convincing phishing messages or voice-cloned pretexting calls at scale.</a:t>
            </a:r>
            <a:endParaRPr lang="en-US" sz="14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807890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63644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Vector · 4 of 8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Obfuscation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38337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to automatically rewrite or disguise malicious code or content so it evades signature-based detection.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83123"/>
            <a:ext cx="16459200" cy="1033462"/>
          </a:xfrm>
          <a:prstGeom prst="roundRect">
            <a:avLst>
              <a:gd name="adj" fmla="val 147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2730773"/>
            <a:ext cx="175602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62050" y="3011760"/>
            <a:ext cx="175602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undermines the signature-matching use case from Objective 3.1 — an arms race between the same technology on both sides.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804541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63309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Vector · 5 of 8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Data Correlation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38337"/>
            <a:ext cx="1695297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cross-references multiple leaked or public datasets far faster than a human could, revealing sensitive connections — for example, matching a leaked username to a real identity.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37408"/>
            <a:ext cx="16459200" cy="1033462"/>
          </a:xfrm>
          <a:prstGeom prst="roundRect">
            <a:avLst>
              <a:gd name="adj" fmla="val 147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3085058"/>
            <a:ext cx="175602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62050" y="3366046"/>
            <a:ext cx="175602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previously "harmless" scattered data leaks into a coherent, exploitable profile.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807369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63591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Vector · 6 of 8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Attack Generation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976438"/>
            <a:ext cx="4014788" cy="1166813"/>
          </a:xfrm>
          <a:prstGeom prst="roundRect">
            <a:avLst>
              <a:gd name="adj" fmla="val 1306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6076" y="2224088"/>
            <a:ext cx="387143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VECTOR DISCOVERY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86076" y="2466975"/>
            <a:ext cx="387143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353"/>
              </a:lnSpc>
              <a:buNone/>
            </a:pPr>
            <a:r>
              <a:rPr lang="en-US" sz="11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probes a target to find viable entry points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5062538" y="1976438"/>
            <a:ext cx="4014788" cy="1166813"/>
          </a:xfrm>
          <a:prstGeom prst="roundRect">
            <a:avLst>
              <a:gd name="adj" fmla="val 1306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34213" y="2224088"/>
            <a:ext cx="387143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134213" y="2466975"/>
            <a:ext cx="387143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353"/>
              </a:lnSpc>
              <a:buNone/>
            </a:pPr>
            <a:r>
              <a:rPr lang="en-US" sz="11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or mutates exploit payloads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9210675" y="1976438"/>
            <a:ext cx="4014788" cy="1166813"/>
          </a:xfrm>
          <a:prstGeom prst="roundRect">
            <a:avLst>
              <a:gd name="adj" fmla="val 1306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2351" y="2224088"/>
            <a:ext cx="387143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282351" y="2466975"/>
            <a:ext cx="387143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353"/>
              </a:lnSpc>
              <a:buNone/>
            </a:pPr>
            <a:r>
              <a:rPr lang="en-US" sz="11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assists writing or evolving malicious code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13358813" y="1976438"/>
            <a:ext cx="4014788" cy="1166813"/>
          </a:xfrm>
          <a:prstGeom prst="roundRect">
            <a:avLst>
              <a:gd name="adj" fmla="val 1306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30488" y="2224088"/>
            <a:ext cx="387143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 (DETECTION)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553670" y="2466975"/>
            <a:ext cx="362507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353"/>
              </a:lnSpc>
              <a:buNone/>
            </a:pPr>
            <a:r>
              <a:rPr lang="en-US" sz="11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also help identify and avoid honeypots set by defenders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796058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62460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Vector · 7 of 8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Denial of Service (DDoS)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38337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coordinate and optimise distributed attack traffic patterns, timing them to maximise disruption while evading rate-based defences.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83123"/>
            <a:ext cx="16459200" cy="1033462"/>
          </a:xfrm>
          <a:prstGeom prst="roundRect">
            <a:avLst>
              <a:gd name="adj" fmla="val 147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2730773"/>
            <a:ext cx="175602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62050" y="3011760"/>
            <a:ext cx="175602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traditional attack technique made more adaptive and harder to filter when AI drives its timing and shape.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3.2 RECAP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Ways AI Enhances Attack Vectors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1933575"/>
            <a:ext cx="4029075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614" y="2181225"/>
            <a:ext cx="3654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38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content (deepfakes)</a:t>
            </a:r>
            <a:endParaRPr lang="en-US" sz="1238" dirty="0"/>
          </a:p>
        </p:txBody>
      </p:sp>
      <p:sp>
        <p:nvSpPr>
          <p:cNvPr id="7" name="Shape 5"/>
          <p:cNvSpPr/>
          <p:nvPr/>
        </p:nvSpPr>
        <p:spPr>
          <a:xfrm>
            <a:off x="5057775" y="1933575"/>
            <a:ext cx="4029075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44989" y="2181225"/>
            <a:ext cx="3654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38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networks</a:t>
            </a:r>
            <a:endParaRPr lang="en-US" sz="1238" dirty="0"/>
          </a:p>
        </p:txBody>
      </p:sp>
      <p:sp>
        <p:nvSpPr>
          <p:cNvPr id="9" name="Shape 7"/>
          <p:cNvSpPr/>
          <p:nvPr/>
        </p:nvSpPr>
        <p:spPr>
          <a:xfrm>
            <a:off x="9201150" y="1933575"/>
            <a:ext cx="4029075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88364" y="2181225"/>
            <a:ext cx="3654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38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</a:t>
            </a:r>
            <a:endParaRPr lang="en-US" sz="1238" dirty="0"/>
          </a:p>
        </p:txBody>
      </p:sp>
      <p:sp>
        <p:nvSpPr>
          <p:cNvPr id="11" name="Shape 9"/>
          <p:cNvSpPr/>
          <p:nvPr/>
        </p:nvSpPr>
        <p:spPr>
          <a:xfrm>
            <a:off x="13344525" y="1933575"/>
            <a:ext cx="4029075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1739" y="2181225"/>
            <a:ext cx="3654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38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engineering</a:t>
            </a:r>
            <a:endParaRPr lang="en-US" sz="1238" dirty="0"/>
          </a:p>
        </p:txBody>
      </p:sp>
      <p:sp>
        <p:nvSpPr>
          <p:cNvPr id="13" name="Shape 11"/>
          <p:cNvSpPr/>
          <p:nvPr/>
        </p:nvSpPr>
        <p:spPr>
          <a:xfrm>
            <a:off x="914400" y="2728913"/>
            <a:ext cx="4029075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1614" y="2976563"/>
            <a:ext cx="3654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38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Obfuscation</a:t>
            </a:r>
            <a:endParaRPr lang="en-US" sz="1238" dirty="0"/>
          </a:p>
        </p:txBody>
      </p:sp>
      <p:sp>
        <p:nvSpPr>
          <p:cNvPr id="15" name="Shape 13"/>
          <p:cNvSpPr/>
          <p:nvPr/>
        </p:nvSpPr>
        <p:spPr>
          <a:xfrm>
            <a:off x="5057775" y="2728913"/>
            <a:ext cx="4029075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44989" y="2976563"/>
            <a:ext cx="3654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38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data correlation</a:t>
            </a:r>
            <a:endParaRPr lang="en-US" sz="1238" dirty="0"/>
          </a:p>
        </p:txBody>
      </p:sp>
      <p:sp>
        <p:nvSpPr>
          <p:cNvPr id="17" name="Shape 15"/>
          <p:cNvSpPr/>
          <p:nvPr/>
        </p:nvSpPr>
        <p:spPr>
          <a:xfrm>
            <a:off x="9201150" y="2728913"/>
            <a:ext cx="4029075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88364" y="2976563"/>
            <a:ext cx="3654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38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attack generation</a:t>
            </a:r>
            <a:endParaRPr lang="en-US" sz="1238" dirty="0"/>
          </a:p>
        </p:txBody>
      </p:sp>
      <p:sp>
        <p:nvSpPr>
          <p:cNvPr id="19" name="Shape 17"/>
          <p:cNvSpPr/>
          <p:nvPr/>
        </p:nvSpPr>
        <p:spPr>
          <a:xfrm>
            <a:off x="13344525" y="2728913"/>
            <a:ext cx="4029075" cy="68103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531739" y="2976563"/>
            <a:ext cx="3654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38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</a:t>
            </a:r>
            <a:endParaRPr lang="en-US" sz="1238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4353892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3.3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763467"/>
            <a:ext cx="1810512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to Automate Security Tasks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14400" y="5561633"/>
            <a:ext cx="181051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from AI-assisted humans (3.1) to AI-driven process automation</a:t>
            </a:r>
            <a:endParaRPr lang="en-US" sz="24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624980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45353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· 1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 / No-Code Scripting Tools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76438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platforms that let practitioners build automation workflows through visual tools or plain-language prompts, with little or no traditional programming.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521223"/>
            <a:ext cx="16459200" cy="1033462"/>
          </a:xfrm>
          <a:prstGeom prst="roundRect">
            <a:avLst>
              <a:gd name="adj" fmla="val 147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2768873"/>
            <a:ext cx="175602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62050" y="3049860"/>
            <a:ext cx="175602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Widens who can build security automation, but also widens who can introduce automation risk without a security review.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643732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47228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· 2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Synthesis &amp; Summarisation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38337"/>
            <a:ext cx="1695297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combining and condensing large volumes of security documentation, policy, or threat intelligence into usable output, with no human drafting each piece from scratch.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37408"/>
            <a:ext cx="16459200" cy="1033462"/>
          </a:xfrm>
          <a:prstGeom prst="roundRect">
            <a:avLst>
              <a:gd name="adj" fmla="val 147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3085058"/>
            <a:ext cx="175602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62050" y="3366046"/>
            <a:ext cx="175602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Frees analyst time for judgement calls rather than repetitive writing.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647453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47600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· 3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Ticket Management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38337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automatically triages, categorises, and routes incident tickets, and can draft the initial response or escalation.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83123"/>
            <a:ext cx="16459200" cy="1033462"/>
          </a:xfrm>
          <a:prstGeom prst="roundRect">
            <a:avLst>
              <a:gd name="adj" fmla="val 147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2730773"/>
            <a:ext cx="175602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62050" y="3011760"/>
            <a:ext cx="175602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time-to-response, but errors in automated triage can misroute a genuinely critical incident.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649983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47853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· 4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205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APPROVALS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2050" y="2505075"/>
            <a:ext cx="84029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reviews a proposed change against policy and flags risk before a human signs off.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239250" y="1976438"/>
            <a:ext cx="8134350" cy="1319213"/>
          </a:xfrm>
          <a:prstGeom prst="roundRect">
            <a:avLst>
              <a:gd name="adj" fmla="val 1155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86900" y="2224088"/>
            <a:ext cx="840295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DEPLOYMENT/ROLLBACK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86900" y="2505075"/>
            <a:ext cx="786822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58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pipelines that push changes live and automatically revert them if problems are detected.</a:t>
            </a:r>
            <a:endParaRPr lang="en-US" sz="14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646634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47518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· 5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38337"/>
            <a:ext cx="1810512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that plans and executes multi-step security tasks on its own, calling tools as needed rather than being directed step by step.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83123"/>
            <a:ext cx="16459200" cy="1033462"/>
          </a:xfrm>
          <a:prstGeom prst="roundRect">
            <a:avLst>
              <a:gd name="adj" fmla="val 1474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2730773"/>
            <a:ext cx="1756029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8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62050" y="3011760"/>
            <a:ext cx="175602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3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powerful automation option here, and the one most dependent on the agent access controls and excessive-agency mitigations from Domain 2.0.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14400" y="704850"/>
            <a:ext cx="1649537" cy="261937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225" y="752475"/>
            <a:ext cx="147808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30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· 6 of 6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14400" y="1100138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Automation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976438"/>
            <a:ext cx="5581129" cy="53340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500313"/>
            <a:ext cx="5581129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8" name="Text 6"/>
          <p:cNvSpPr/>
          <p:nvPr/>
        </p:nvSpPr>
        <p:spPr>
          <a:xfrm>
            <a:off x="1057275" y="2090738"/>
            <a:ext cx="54628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Task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6495529" y="1976438"/>
            <a:ext cx="10878071" cy="53340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95529" y="2500313"/>
            <a:ext cx="10878071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1" name="Text 9"/>
          <p:cNvSpPr/>
          <p:nvPr/>
        </p:nvSpPr>
        <p:spPr>
          <a:xfrm>
            <a:off x="6638404" y="2090738"/>
            <a:ext cx="109186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Automates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14400" y="3005138"/>
            <a:ext cx="5581129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7275" y="2624138"/>
            <a:ext cx="54628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scanning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95529" y="3005138"/>
            <a:ext cx="10878071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638404" y="2624138"/>
            <a:ext cx="1091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identifying insecure code patterns on every commit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014663"/>
            <a:ext cx="5581129" cy="5048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509963"/>
            <a:ext cx="5581129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7275" y="3128963"/>
            <a:ext cx="54628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composition analysis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95529" y="3014663"/>
            <a:ext cx="10878071" cy="5048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95529" y="3509963"/>
            <a:ext cx="10878071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638404" y="3128963"/>
            <a:ext cx="1091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flagging vulnerable third-party dependencies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4014788"/>
            <a:ext cx="5581129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3" name="Text 21"/>
          <p:cNvSpPr/>
          <p:nvPr/>
        </p:nvSpPr>
        <p:spPr>
          <a:xfrm>
            <a:off x="1057275" y="3633788"/>
            <a:ext cx="54628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testing / regression testing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95529" y="4014788"/>
            <a:ext cx="10878071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5" name="Text 23"/>
          <p:cNvSpPr/>
          <p:nvPr/>
        </p:nvSpPr>
        <p:spPr>
          <a:xfrm>
            <a:off x="6638404" y="3633788"/>
            <a:ext cx="1091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and running tests automatically as code changes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4024313"/>
            <a:ext cx="5581129" cy="5048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4519613"/>
            <a:ext cx="5581129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57275" y="4138613"/>
            <a:ext cx="54628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testing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95529" y="4024313"/>
            <a:ext cx="10878071" cy="5048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95529" y="4519613"/>
            <a:ext cx="10878071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6638404" y="4138613"/>
            <a:ext cx="1091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re-validating a model's behaviour after any change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400" y="5024438"/>
            <a:ext cx="5581129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3" name="Text 31"/>
          <p:cNvSpPr/>
          <p:nvPr/>
        </p:nvSpPr>
        <p:spPr>
          <a:xfrm>
            <a:off x="1057275" y="4643438"/>
            <a:ext cx="54628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deployment/rollback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495529" y="5024438"/>
            <a:ext cx="10878071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5" name="Text 33"/>
          <p:cNvSpPr/>
          <p:nvPr/>
        </p:nvSpPr>
        <p:spPr>
          <a:xfrm>
            <a:off x="6638404" y="4643438"/>
            <a:ext cx="10918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Pushing and reverting changes without manual intervention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3.3 RECAP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Should Now Be Able to Do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1933575"/>
            <a:ext cx="16459200" cy="733425"/>
          </a:xfrm>
          <a:prstGeom prst="roundRect">
            <a:avLst>
              <a:gd name="adj" fmla="val 207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2050" y="2181225"/>
            <a:ext cx="16457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where low-code/no-code tools, document synthesis, and ticket management can automate security work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914400" y="2819400"/>
            <a:ext cx="16459200" cy="733425"/>
          </a:xfrm>
          <a:prstGeom prst="roundRect">
            <a:avLst>
              <a:gd name="adj" fmla="val 207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3067050"/>
            <a:ext cx="16457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risk trade-offs of AI-assisted change management and autonomous AI agents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14400" y="3705225"/>
            <a:ext cx="16459200" cy="733425"/>
          </a:xfrm>
          <a:prstGeom prst="roundRect">
            <a:avLst>
              <a:gd name="adj" fmla="val 207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2050" y="3952875"/>
            <a:ext cx="16457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CI/CD automation tasks to the security value each one provides</a:t>
            </a:r>
            <a:endParaRPr lang="en-US" sz="15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Believable Phishing Campaign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1914525"/>
            <a:ext cx="16459200" cy="1196280"/>
          </a:xfrm>
          <a:prstGeom prst="roundRect">
            <a:avLst>
              <a:gd name="adj" fmla="val 1273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2050" y="2162175"/>
            <a:ext cx="16457676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SOC is investigating a phishing campaign using highly personalised, voice-cloned pretexting calls that reference real recent projects. Which AI-enhanced attack vector(s) from Objective 3.2 are in play? Which AI-enabled defensive tools (3.1) and automated tasks (3.3) would you deploy in response?</a:t>
            </a:r>
            <a:endParaRPr lang="en-US" sz="17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AI-Enabled Tools for a Security Task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1914525"/>
            <a:ext cx="16459200" cy="845790"/>
          </a:xfrm>
          <a:prstGeom prst="roundRect">
            <a:avLst>
              <a:gd name="adj" fmla="val 1801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2050" y="2162175"/>
            <a:ext cx="16457676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described security task, choose the most appropriate AI-enabled tool form and use case, and explain why an alternative would be less suited.</a:t>
            </a:r>
            <a:endParaRPr lang="en-US" sz="17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Recognising AI-Enhanced Attack Vectors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1914525"/>
            <a:ext cx="16459200" cy="1196280"/>
          </a:xfrm>
          <a:prstGeom prst="roundRect">
            <a:avLst>
              <a:gd name="adj" fmla="val 1273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2050" y="2162175"/>
            <a:ext cx="16457676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evidence of an attack, identify which of the eight AI-enhanced attack vectors is most likely responsible, and explain what AI specifically added to the attacker's capability.</a:t>
            </a:r>
            <a:endParaRPr lang="en-US" sz="17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a Security Task Responsibly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1914525"/>
            <a:ext cx="16459200" cy="1196280"/>
          </a:xfrm>
          <a:prstGeom prst="roundRect">
            <a:avLst>
              <a:gd name="adj" fmla="val 1273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2050" y="2162175"/>
            <a:ext cx="16457676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96"/>
              </a:lnSpc>
              <a:buNone/>
            </a:pPr>
            <a:r>
              <a:rPr lang="en-US" sz="17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repetitive security process, decide which parts to automate with AI, which to keep human-in-the-loop, and why — connecting back to the human-centric design principles from Domain 1.0.</a:t>
            </a:r>
            <a:endParaRPr lang="en-US" sz="17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Acronyms From This Module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1914525"/>
            <a:ext cx="3339033" cy="53340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438400"/>
            <a:ext cx="3339033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1057275" y="2028825"/>
            <a:ext cx="315345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4253433" y="1914525"/>
            <a:ext cx="13120167" cy="533400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253433" y="2438400"/>
            <a:ext cx="13120167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4396308" y="2028825"/>
            <a:ext cx="132280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4400" y="2943225"/>
            <a:ext cx="333903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275" y="2562225"/>
            <a:ext cx="31534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53433" y="2943225"/>
            <a:ext cx="1312016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4" name="Text 12"/>
          <p:cNvSpPr/>
          <p:nvPr/>
        </p:nvSpPr>
        <p:spPr>
          <a:xfrm>
            <a:off x="4396308" y="2562225"/>
            <a:ext cx="132280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Development Environment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2952750"/>
            <a:ext cx="3339033" cy="5048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448050"/>
            <a:ext cx="333903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7275" y="3067050"/>
            <a:ext cx="31534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253433" y="2952750"/>
            <a:ext cx="13120167" cy="5048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253433" y="3448050"/>
            <a:ext cx="1312016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4396308" y="3067050"/>
            <a:ext cx="132280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Command-Line Interface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3952875"/>
            <a:ext cx="333903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1057275" y="3571875"/>
            <a:ext cx="31534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253433" y="3952875"/>
            <a:ext cx="1312016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4396308" y="3571875"/>
            <a:ext cx="132280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3962400"/>
            <a:ext cx="3339033" cy="5048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457700"/>
            <a:ext cx="333903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7" name="Text 25"/>
          <p:cNvSpPr/>
          <p:nvPr/>
        </p:nvSpPr>
        <p:spPr>
          <a:xfrm>
            <a:off x="1057275" y="4076700"/>
            <a:ext cx="31534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253433" y="3962400"/>
            <a:ext cx="13120167" cy="5048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53433" y="4457700"/>
            <a:ext cx="1312016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4396308" y="4076700"/>
            <a:ext cx="132280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Denial of Service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14400" y="4962525"/>
            <a:ext cx="333903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2" name="Text 30"/>
          <p:cNvSpPr/>
          <p:nvPr/>
        </p:nvSpPr>
        <p:spPr>
          <a:xfrm>
            <a:off x="1057275" y="4581525"/>
            <a:ext cx="31534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253433" y="4962525"/>
            <a:ext cx="1312016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4396308" y="4581525"/>
            <a:ext cx="132280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 and Continuous Deployment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14400" y="4972050"/>
            <a:ext cx="3339033" cy="5048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14400" y="5467350"/>
            <a:ext cx="3339033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1057275" y="5086350"/>
            <a:ext cx="31534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253433" y="4972050"/>
            <a:ext cx="13120167" cy="5048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53433" y="5467350"/>
            <a:ext cx="13120167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0" name="Text 38"/>
          <p:cNvSpPr/>
          <p:nvPr/>
        </p:nvSpPr>
        <p:spPr>
          <a:xfrm>
            <a:off x="4396308" y="5086350"/>
            <a:ext cx="132280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Composition Analysis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Is Not About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1952625"/>
            <a:ext cx="16459200" cy="733425"/>
          </a:xfrm>
          <a:prstGeom prst="roundRect">
            <a:avLst>
              <a:gd name="adj" fmla="val 207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2050" y="2200275"/>
            <a:ext cx="16457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security is not automatically safer — the same AI tool form (an agent, a plugin) that helps you is exactly what Domain 2.0 warns can be abused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914400" y="2838450"/>
            <a:ext cx="16459200" cy="733425"/>
          </a:xfrm>
          <a:prstGeom prst="roundRect">
            <a:avLst>
              <a:gd name="adj" fmla="val 207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3086100"/>
            <a:ext cx="16457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a task (3.3) is not the same as merely using an AI tool to assist a human (3.1) — automation removes the human from the loop by design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14400" y="3724275"/>
            <a:ext cx="16459200" cy="733425"/>
          </a:xfrm>
          <a:prstGeom prst="roundRect">
            <a:avLst>
              <a:gd name="adj" fmla="val 207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2050" y="3971925"/>
            <a:ext cx="16457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enabling an attack vector (3.2) does not mean AI created a new category of attack — it usually makes an existing attack faster, cheaper, or more convincing</a:t>
            </a:r>
            <a:endParaRPr lang="en-US" sz="15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848473" y="3914775"/>
            <a:ext cx="25910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WEIGHTING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7144602" y="4324350"/>
            <a:ext cx="3998722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75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6244843" y="6076950"/>
            <a:ext cx="57983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CompTIA SecAI+ CY0-001 exam</a:t>
            </a:r>
            <a:endParaRPr lang="en-US" sz="24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1933575"/>
            <a:ext cx="16459200" cy="2689771"/>
          </a:xfrm>
          <a:prstGeom prst="roundRect">
            <a:avLst>
              <a:gd name="adj" fmla="val 5666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2050" y="2181225"/>
            <a:ext cx="16457676" cy="223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F5F7F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 standardised server interface that lets a model discover and call external tools consistently is best described as which of these? </a:t>
            </a:r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 CLI plug-in B. A Model Context Protocol (MCP) server C. A chatbot D. A personal assistant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704850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057275"/>
            <a:ext cx="181051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Summary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1952625"/>
            <a:ext cx="16459200" cy="733425"/>
          </a:xfrm>
          <a:prstGeom prst="roundRect">
            <a:avLst>
              <a:gd name="adj" fmla="val 207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2050" y="2200275"/>
            <a:ext cx="16457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tools (plug-ins, chatbots, assistants, MCP servers) support security tasks across detection, testing, and response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914400" y="2838450"/>
            <a:ext cx="16459200" cy="733425"/>
          </a:xfrm>
          <a:prstGeom prst="roundRect">
            <a:avLst>
              <a:gd name="adj" fmla="val 207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2050" y="3086100"/>
            <a:ext cx="16457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AI capabilities also enhance attacker techniques — deepfakes, social engineering, obfuscation, and automated attack generation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14400" y="3724275"/>
            <a:ext cx="16459200" cy="733425"/>
          </a:xfrm>
          <a:prstGeom prst="roundRect">
            <a:avLst>
              <a:gd name="adj" fmla="val 207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2050" y="3971925"/>
            <a:ext cx="16457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automate security tasks end to end, from ticketing to CI/CD, but always trade off automation against human oversight</a:t>
            </a:r>
            <a:endParaRPr lang="en-US" sz="157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4021485"/>
            <a:ext cx="181051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4450110"/>
            <a:ext cx="16952976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4: AI Governance, Risk &amp; Compliance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14400" y="5894040"/>
            <a:ext cx="181051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Module 3 PBQ, Flashcards, Cheat Sheet, and Quiz before continuing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914400" y="9796463"/>
            <a:ext cx="164234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618372" y="9796463"/>
            <a:ext cx="83142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</a:t>
            </a:r>
            <a:pPr algn="l" indent="0" marL="0">
              <a:buNone/>
            </a:pPr>
            <a:r>
              <a:rPr lang="en-US" sz="13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AI+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2026-07-28T12:45:20Z</dcterms:created>
  <dcterms:modified xsi:type="dcterms:W3CDTF">2026-07-28T12:45:20Z</dcterms:modified>
</cp:coreProperties>
</file>