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4, the final module: AI Governance, Risk, and Compliance, 19% of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sub-objectives close out the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Reconfirm this domain's exam weighting — the final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4.1: organisational governance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AI Center of Excellence as an organisational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AI policies and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first five named AI-related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remaining five named AI-related roles, weighted toward security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4.1 before moving to AI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4.2: risks associated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fairness and reliability/safety as responsible AI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transparency and privacy/security together, including differential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explainability and inclusiveness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accountability and consistency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awareness training as the final responsible AI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introduction of bias and accidental data leakage as named organisational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reputational loss and accuracy/performance risk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IP-related risks and autonomous systems risk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shadow IT and shadow AI as the final named risk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4.2's responsible AI principles and named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4.3: the impact of compliance on business use and development of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EU AI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OECD standards and ISO AI standards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NIST AI Risk Management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data sovereignty and third-party compliance evaluations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sanctioned vs unsanctioned as a corporate policy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private vs public models and sensitive data governance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4.3 before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as a class — ties together governance, risk, and compliance from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identifying appropriate governance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assessing AI-related risk against responsible AI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summarising compliance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quick-reference recap before the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these directly — common exam distractors for the final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to set revision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objectives 4.1-4.3, closing the entire certification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entire four-domain SecAI+ CY0-001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0435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COMPTIA SECAI+ CY0-001 · DOMAIN 4.0 · MODULE 4 OF 4</a:t>
            </a:r>
            <a:endParaRPr lang="en-US" sz="1575" dirty="0"/>
          </a:p>
        </p:txBody>
      </p:sp>
      <p:sp>
        <p:nvSpPr>
          <p:cNvPr id="4" name="Text 2"/>
          <p:cNvSpPr/>
          <p:nvPr/>
        </p:nvSpPr>
        <p:spPr>
          <a:xfrm>
            <a:off x="914400" y="4352032"/>
            <a:ext cx="16952976" cy="1478161"/>
          </a:xfrm>
          <a:prstGeom prst="rect">
            <a:avLst/>
          </a:prstGeom>
          <a:noFill/>
          <a:ln/>
        </p:spPr>
        <p:txBody>
          <a:bodyPr wrap="square" lIns="25400" tIns="25400" rIns="25400" bIns="25400" rtlCol="0" anchor="t">
            <a:normAutofit/>
          </a:bodyPr>
          <a:lstStyle/>
          <a:p>
            <a:pPr algn="l" indent="0" marL="0">
              <a:lnSpc>
                <a:spcPct val="91084"/>
              </a:lnSpc>
              <a:buNone/>
            </a:pPr>
            <a:r>
              <a:rPr lang="en-US" sz="5400" b="1" dirty="0">
                <a:solidFill>
                  <a:srgbClr val="F5F7FB"/>
                </a:solidFill>
                <a:latin typeface="Arial" pitchFamily="34" charset="0"/>
                <a:ea typeface="Arial" pitchFamily="34" charset="-122"/>
                <a:cs typeface="Arial" pitchFamily="34" charset="-120"/>
              </a:rPr>
              <a:t>AI Governance, Risk &amp; Compliance</a:t>
            </a:r>
            <a:endParaRPr lang="en-US" sz="5400" dirty="0"/>
          </a:p>
        </p:txBody>
      </p:sp>
      <p:sp>
        <p:nvSpPr>
          <p:cNvPr id="5" name="Text 3"/>
          <p:cNvSpPr/>
          <p:nvPr/>
        </p:nvSpPr>
        <p:spPr>
          <a:xfrm>
            <a:off x="914400" y="602069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How organisations structure, govern, and stay compliant when adopting AI</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618372" y="9796463"/>
            <a:ext cx="831428"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SEC</a:t>
            </a:r>
            <a:pPr algn="l" indent="0" marL="0">
              <a:buNone/>
            </a:pPr>
            <a:r>
              <a:rPr lang="en-US" sz="1350" b="1" spc="150" kern="0" dirty="0">
                <a:solidFill>
                  <a:srgbClr val="8891A1"/>
                </a:solidFill>
                <a:latin typeface="Arial" pitchFamily="34" charset="0"/>
                <a:ea typeface="Arial" pitchFamily="34" charset="-122"/>
                <a:cs typeface="Arial" pitchFamily="34" charset="-120"/>
              </a:rPr>
              <a:t>AI+</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LEARNING OBJECTIVES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By the end of this module, you will be able to</a:t>
            </a:r>
            <a:endParaRPr lang="en-US" sz="4050" dirty="0"/>
          </a:p>
        </p:txBody>
      </p:sp>
      <p:sp>
        <p:nvSpPr>
          <p:cNvPr id="5" name="Shape 3"/>
          <p:cNvSpPr/>
          <p:nvPr/>
        </p:nvSpPr>
        <p:spPr>
          <a:xfrm>
            <a:off x="914400" y="1928813"/>
            <a:ext cx="16459200" cy="933450"/>
          </a:xfrm>
          <a:prstGeom prst="roundRect">
            <a:avLst>
              <a:gd name="adj" fmla="val 16327"/>
            </a:avLst>
          </a:prstGeom>
          <a:solidFill>
            <a:srgbClr val="FFFFFF">
              <a:alpha val="2000"/>
            </a:srgbClr>
          </a:solidFill>
          <a:ln w="9525">
            <a:solidFill>
              <a:srgbClr val="2A2F3A"/>
            </a:solidFill>
            <a:prstDash val="solid"/>
          </a:ln>
        </p:spPr>
      </p:sp>
      <p:sp>
        <p:nvSpPr>
          <p:cNvPr id="6" name="Shape 4"/>
          <p:cNvSpPr/>
          <p:nvPr/>
        </p:nvSpPr>
        <p:spPr>
          <a:xfrm>
            <a:off x="1152525" y="2166938"/>
            <a:ext cx="457200" cy="457200"/>
          </a:xfrm>
          <a:prstGeom prst="ellipse">
            <a:avLst/>
          </a:prstGeom>
          <a:solidFill>
            <a:srgbClr val="FF6A00">
              <a:alpha val="18000"/>
            </a:srgbClr>
          </a:solidFill>
          <a:ln w="9525">
            <a:solidFill>
              <a:srgbClr val="FF6A00"/>
            </a:solidFill>
            <a:prstDash val="solid"/>
          </a:ln>
        </p:spPr>
      </p:sp>
      <p:sp>
        <p:nvSpPr>
          <p:cNvPr id="7" name="Text 5"/>
          <p:cNvSpPr/>
          <p:nvPr/>
        </p:nvSpPr>
        <p:spPr>
          <a:xfrm>
            <a:off x="1123950" y="2176462"/>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4.1</a:t>
            </a:r>
            <a:endParaRPr lang="en-US" sz="1500" dirty="0"/>
          </a:p>
        </p:txBody>
      </p:sp>
      <p:sp>
        <p:nvSpPr>
          <p:cNvPr id="8" name="Text 6"/>
          <p:cNvSpPr/>
          <p:nvPr/>
        </p:nvSpPr>
        <p:spPr>
          <a:xfrm>
            <a:off x="1800225" y="2266950"/>
            <a:ext cx="5830115" cy="295275"/>
          </a:xfrm>
          <a:prstGeom prst="rect">
            <a:avLst/>
          </a:prstGeom>
          <a:noFill/>
          <a:ln/>
        </p:spPr>
        <p:txBody>
          <a:bodyPr wrap="square" lIns="0" tIns="0" rIns="0" bIns="0" rtlCol="0" anchor="t">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Explain organisational governance structures that support AI</a:t>
            </a:r>
            <a:endParaRPr lang="en-US" sz="1725" dirty="0"/>
          </a:p>
        </p:txBody>
      </p:sp>
      <p:sp>
        <p:nvSpPr>
          <p:cNvPr id="9" name="Shape 7"/>
          <p:cNvSpPr/>
          <p:nvPr/>
        </p:nvSpPr>
        <p:spPr>
          <a:xfrm>
            <a:off x="914400" y="3014663"/>
            <a:ext cx="16459200" cy="933450"/>
          </a:xfrm>
          <a:prstGeom prst="roundRect">
            <a:avLst>
              <a:gd name="adj" fmla="val 16327"/>
            </a:avLst>
          </a:prstGeom>
          <a:solidFill>
            <a:srgbClr val="FFFFFF">
              <a:alpha val="2000"/>
            </a:srgbClr>
          </a:solidFill>
          <a:ln w="9525">
            <a:solidFill>
              <a:srgbClr val="2A2F3A"/>
            </a:solidFill>
            <a:prstDash val="solid"/>
          </a:ln>
        </p:spPr>
      </p:sp>
      <p:sp>
        <p:nvSpPr>
          <p:cNvPr id="10" name="Shape 8"/>
          <p:cNvSpPr/>
          <p:nvPr/>
        </p:nvSpPr>
        <p:spPr>
          <a:xfrm>
            <a:off x="1152525" y="3252788"/>
            <a:ext cx="457200" cy="457200"/>
          </a:xfrm>
          <a:prstGeom prst="ellipse">
            <a:avLst/>
          </a:prstGeom>
          <a:solidFill>
            <a:srgbClr val="FF6A00">
              <a:alpha val="18000"/>
            </a:srgbClr>
          </a:solidFill>
          <a:ln w="9525">
            <a:solidFill>
              <a:srgbClr val="FF6A00"/>
            </a:solidFill>
            <a:prstDash val="solid"/>
          </a:ln>
        </p:spPr>
      </p:sp>
      <p:sp>
        <p:nvSpPr>
          <p:cNvPr id="11" name="Text 9"/>
          <p:cNvSpPr/>
          <p:nvPr/>
        </p:nvSpPr>
        <p:spPr>
          <a:xfrm>
            <a:off x="1123950" y="3262312"/>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4.2</a:t>
            </a:r>
            <a:endParaRPr lang="en-US" sz="1500" dirty="0"/>
          </a:p>
        </p:txBody>
      </p:sp>
      <p:sp>
        <p:nvSpPr>
          <p:cNvPr id="12" name="Text 10"/>
          <p:cNvSpPr/>
          <p:nvPr/>
        </p:nvSpPr>
        <p:spPr>
          <a:xfrm>
            <a:off x="1800225" y="3352800"/>
            <a:ext cx="3008758" cy="295275"/>
          </a:xfrm>
          <a:prstGeom prst="rect">
            <a:avLst/>
          </a:prstGeom>
          <a:noFill/>
          <a:ln/>
        </p:spPr>
        <p:txBody>
          <a:bodyPr wrap="square" lIns="0" tIns="0" rIns="0" bIns="0" rtlCol="0" anchor="t">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Explain risks associated with AI</a:t>
            </a:r>
            <a:endParaRPr lang="en-US" sz="1725" dirty="0"/>
          </a:p>
        </p:txBody>
      </p:sp>
      <p:sp>
        <p:nvSpPr>
          <p:cNvPr id="13" name="Shape 11"/>
          <p:cNvSpPr/>
          <p:nvPr/>
        </p:nvSpPr>
        <p:spPr>
          <a:xfrm>
            <a:off x="914400" y="4100513"/>
            <a:ext cx="16459200" cy="933450"/>
          </a:xfrm>
          <a:prstGeom prst="roundRect">
            <a:avLst>
              <a:gd name="adj" fmla="val 16327"/>
            </a:avLst>
          </a:prstGeom>
          <a:solidFill>
            <a:srgbClr val="FFFFFF">
              <a:alpha val="2000"/>
            </a:srgbClr>
          </a:solidFill>
          <a:ln w="9525">
            <a:solidFill>
              <a:srgbClr val="2A2F3A"/>
            </a:solidFill>
            <a:prstDash val="solid"/>
          </a:ln>
        </p:spPr>
      </p:sp>
      <p:sp>
        <p:nvSpPr>
          <p:cNvPr id="14" name="Shape 12"/>
          <p:cNvSpPr/>
          <p:nvPr/>
        </p:nvSpPr>
        <p:spPr>
          <a:xfrm>
            <a:off x="1152525" y="4338638"/>
            <a:ext cx="457200" cy="457200"/>
          </a:xfrm>
          <a:prstGeom prst="ellipse">
            <a:avLst/>
          </a:prstGeom>
          <a:solidFill>
            <a:srgbClr val="FF6A00">
              <a:alpha val="18000"/>
            </a:srgbClr>
          </a:solidFill>
          <a:ln w="9525">
            <a:solidFill>
              <a:srgbClr val="FF6A00"/>
            </a:solidFill>
            <a:prstDash val="solid"/>
          </a:ln>
        </p:spPr>
      </p:sp>
      <p:sp>
        <p:nvSpPr>
          <p:cNvPr id="15" name="Text 13"/>
          <p:cNvSpPr/>
          <p:nvPr/>
        </p:nvSpPr>
        <p:spPr>
          <a:xfrm>
            <a:off x="1123950" y="4348163"/>
            <a:ext cx="514350" cy="47625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6A00"/>
                </a:solidFill>
                <a:latin typeface="Arial" pitchFamily="34" charset="0"/>
                <a:ea typeface="Arial" pitchFamily="34" charset="-122"/>
                <a:cs typeface="Arial" pitchFamily="34" charset="-120"/>
              </a:rPr>
              <a:t>4.3</a:t>
            </a:r>
            <a:endParaRPr lang="en-US" sz="1500" dirty="0"/>
          </a:p>
        </p:txBody>
      </p:sp>
      <p:sp>
        <p:nvSpPr>
          <p:cNvPr id="16" name="Text 14"/>
          <p:cNvSpPr/>
          <p:nvPr/>
        </p:nvSpPr>
        <p:spPr>
          <a:xfrm>
            <a:off x="1800225" y="4438650"/>
            <a:ext cx="7439078" cy="295275"/>
          </a:xfrm>
          <a:prstGeom prst="rect">
            <a:avLst/>
          </a:prstGeom>
          <a:noFill/>
          <a:ln/>
        </p:spPr>
        <p:txBody>
          <a:bodyPr wrap="square" lIns="0" tIns="0" rIns="0" bIns="0" rtlCol="0" anchor="t">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Summarise the impact of compliance on business use and development of AI</a:t>
            </a:r>
            <a:endParaRPr lang="en-US" sz="17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848473" y="3919537"/>
            <a:ext cx="2591053" cy="276225"/>
          </a:xfrm>
          <a:prstGeom prst="rect">
            <a:avLst/>
          </a:prstGeom>
          <a:noFill/>
          <a:ln/>
        </p:spPr>
        <p:txBody>
          <a:bodyPr wrap="square" lIns="25400" tIns="25400" rIns="25400" bIns="25400" rtlCol="0" anchor="t">
            <a:normAutofit/>
          </a:bodyPr>
          <a:lstStyle/>
          <a:p>
            <a:pPr algn="ctr" indent="0" marL="0">
              <a:buNone/>
            </a:pPr>
            <a:r>
              <a:rPr lang="en-US" sz="1575" b="1" spc="150" kern="0" dirty="0">
                <a:solidFill>
                  <a:srgbClr val="FF6A00"/>
                </a:solidFill>
                <a:latin typeface="Arial" pitchFamily="34" charset="0"/>
                <a:ea typeface="Arial" pitchFamily="34" charset="-122"/>
                <a:cs typeface="Arial" pitchFamily="34" charset="-120"/>
              </a:rPr>
              <a:t>DOMAIN WEIGHTING</a:t>
            </a:r>
            <a:endParaRPr lang="en-US" sz="1575" dirty="0"/>
          </a:p>
        </p:txBody>
      </p:sp>
      <p:sp>
        <p:nvSpPr>
          <p:cNvPr id="4" name="Text 2"/>
          <p:cNvSpPr/>
          <p:nvPr/>
        </p:nvSpPr>
        <p:spPr>
          <a:xfrm>
            <a:off x="7255516" y="4329113"/>
            <a:ext cx="3776893" cy="1657350"/>
          </a:xfrm>
          <a:prstGeom prst="rect">
            <a:avLst/>
          </a:prstGeom>
          <a:noFill/>
          <a:ln/>
        </p:spPr>
        <p:txBody>
          <a:bodyPr wrap="square" lIns="25400" tIns="25400" rIns="25400" bIns="25400" rtlCol="0" anchor="t">
            <a:normAutofit/>
          </a:bodyPr>
          <a:lstStyle/>
          <a:p>
            <a:pPr algn="ctr" indent="0" marL="0">
              <a:lnSpc>
                <a:spcPct val="86957"/>
              </a:lnSpc>
              <a:buNone/>
            </a:pPr>
            <a:r>
              <a:rPr lang="en-US" sz="12750" b="1" dirty="0">
                <a:solidFill>
                  <a:srgbClr val="FF6A00"/>
                </a:solidFill>
                <a:latin typeface="Arial" pitchFamily="34" charset="0"/>
                <a:ea typeface="Arial" pitchFamily="34" charset="-122"/>
                <a:cs typeface="Arial" pitchFamily="34" charset="-120"/>
              </a:rPr>
              <a:t>19%</a:t>
            </a:r>
            <a:endParaRPr lang="en-US" sz="12750" dirty="0"/>
          </a:p>
        </p:txBody>
      </p:sp>
      <p:sp>
        <p:nvSpPr>
          <p:cNvPr id="5" name="Text 3"/>
          <p:cNvSpPr/>
          <p:nvPr/>
        </p:nvSpPr>
        <p:spPr>
          <a:xfrm>
            <a:off x="6329236" y="6081713"/>
            <a:ext cx="5629528" cy="400050"/>
          </a:xfrm>
          <a:prstGeom prst="rect">
            <a:avLst/>
          </a:prstGeom>
          <a:noFill/>
          <a:ln/>
        </p:spPr>
        <p:txBody>
          <a:bodyPr wrap="square" lIns="25400" tIns="25400" rIns="25400" bIns="25400" rtlCol="0" anchor="t">
            <a:normAutofit/>
          </a:bodyPr>
          <a:lstStyle/>
          <a:p>
            <a:pPr algn="ctr" indent="0" marL="0">
              <a:buNone/>
            </a:pPr>
            <a:r>
              <a:rPr lang="en-US" sz="2400" dirty="0">
                <a:solidFill>
                  <a:srgbClr val="B8C0CF"/>
                </a:solidFill>
                <a:latin typeface="Arial" pitchFamily="34" charset="0"/>
                <a:ea typeface="Arial" pitchFamily="34" charset="-122"/>
                <a:cs typeface="Arial" pitchFamily="34" charset="-120"/>
              </a:rPr>
              <a:t>of the CompTIA SecAI+ CY0-001 exam</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348163"/>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4.1</a:t>
            </a:r>
            <a:endParaRPr lang="en-US" sz="1575" dirty="0"/>
          </a:p>
        </p:txBody>
      </p:sp>
      <p:sp>
        <p:nvSpPr>
          <p:cNvPr id="4" name="Text 2"/>
          <p:cNvSpPr/>
          <p:nvPr/>
        </p:nvSpPr>
        <p:spPr>
          <a:xfrm>
            <a:off x="914400" y="4757738"/>
            <a:ext cx="18105120" cy="666750"/>
          </a:xfrm>
          <a:prstGeom prst="rect">
            <a:avLst/>
          </a:prstGeom>
          <a:noFill/>
          <a:ln/>
        </p:spPr>
        <p:txBody>
          <a:bodyPr wrap="square" lIns="25400" tIns="25400" rIns="25400" bIns="25400" rtlCol="0" anchor="t">
            <a:normAutofit/>
          </a:bodyPr>
          <a:lstStyle/>
          <a:p>
            <a:pPr algn="l" indent="0" marL="0">
              <a:lnSpc>
                <a:spcPct val="95652"/>
              </a:lnSpc>
              <a:buNone/>
            </a:pPr>
            <a:r>
              <a:rPr lang="en-US" sz="4500" b="1" dirty="0">
                <a:solidFill>
                  <a:srgbClr val="F5F7FB"/>
                </a:solidFill>
                <a:latin typeface="Arial" pitchFamily="34" charset="0"/>
                <a:ea typeface="Arial" pitchFamily="34" charset="-122"/>
                <a:cs typeface="Arial" pitchFamily="34" charset="-120"/>
              </a:rPr>
              <a:t>Organisational Governance Structures for AI</a:t>
            </a:r>
            <a:endParaRPr lang="en-US" sz="4500" dirty="0"/>
          </a:p>
        </p:txBody>
      </p:sp>
      <p:sp>
        <p:nvSpPr>
          <p:cNvPr id="5" name="Text 3"/>
          <p:cNvSpPr/>
          <p:nvPr/>
        </p:nvSpPr>
        <p:spPr>
          <a:xfrm>
            <a:off x="914400" y="5576888"/>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Structures and named roles that make AI adoption accountable, not ad hoc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58194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41175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Organisational Structure · 1 of 2</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AI Centre of Excellence</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 dedicated cross-functional group that sets AI standards, coordinates adoption, and provides a central point of expertise across the organisation.</a:t>
            </a:r>
            <a:endParaRPr lang="en-US" sz="1800" dirty="0"/>
          </a:p>
        </p:txBody>
      </p:sp>
      <p:sp>
        <p:nvSpPr>
          <p:cNvPr id="7" name="Shape 5"/>
          <p:cNvSpPr/>
          <p:nvPr/>
        </p:nvSpPr>
        <p:spPr>
          <a:xfrm>
            <a:off x="914400" y="2440260"/>
            <a:ext cx="16459200"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2678385"/>
            <a:ext cx="17581245"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17581245"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Prevents every team from independently reinventing (or under-securing) their own AI approach.</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60069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431068"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Organisational Structure · 2 of 2</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AI Policies &amp; Procedures</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Documented rules and processes covering acceptable AI use, approval steps, and required controls before an AI system can be adopted.</a:t>
            </a:r>
            <a:endParaRPr lang="en-US" sz="1800" dirty="0"/>
          </a:p>
        </p:txBody>
      </p:sp>
      <p:sp>
        <p:nvSpPr>
          <p:cNvPr id="7" name="Shape 5"/>
          <p:cNvSpPr/>
          <p:nvPr/>
        </p:nvSpPr>
        <p:spPr>
          <a:xfrm>
            <a:off x="914400" y="2440260"/>
            <a:ext cx="16459200"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2678385"/>
            <a:ext cx="17581245"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17581245"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Without written policy, "sanctioned vs unsanctioned" (Objective 4.3) has no way to be enforced consistently.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AI-RELATED ROLES · 1 OF 2</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Roles You Must Recognise, Part 1</a:t>
            </a:r>
            <a:endParaRPr lang="en-US" sz="4050" dirty="0"/>
          </a:p>
        </p:txBody>
      </p:sp>
      <p:sp>
        <p:nvSpPr>
          <p:cNvPr id="5" name="Shape 3"/>
          <p:cNvSpPr/>
          <p:nvPr/>
        </p:nvSpPr>
        <p:spPr>
          <a:xfrm>
            <a:off x="914400" y="1890713"/>
            <a:ext cx="5196260" cy="514350"/>
          </a:xfrm>
          <a:prstGeom prst="rect">
            <a:avLst/>
          </a:prstGeom>
          <a:solidFill>
            <a:srgbClr val="FF6A00">
              <a:alpha val="18000"/>
            </a:srgbClr>
          </a:solidFill>
          <a:ln/>
        </p:spPr>
      </p:sp>
      <p:sp>
        <p:nvSpPr>
          <p:cNvPr id="6" name="Shape 4"/>
          <p:cNvSpPr/>
          <p:nvPr/>
        </p:nvSpPr>
        <p:spPr>
          <a:xfrm>
            <a:off x="914400" y="2395538"/>
            <a:ext cx="5196260" cy="9525"/>
          </a:xfrm>
          <a:prstGeom prst="rect">
            <a:avLst/>
          </a:prstGeom>
          <a:solidFill>
            <a:srgbClr val="B85100"/>
          </a:solidFill>
          <a:ln/>
        </p:spPr>
      </p:sp>
      <p:sp>
        <p:nvSpPr>
          <p:cNvPr id="7" name="Text 5"/>
          <p:cNvSpPr/>
          <p:nvPr/>
        </p:nvSpPr>
        <p:spPr>
          <a:xfrm>
            <a:off x="1057275" y="1995488"/>
            <a:ext cx="5066397"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Role</a:t>
            </a:r>
            <a:endParaRPr lang="en-US" sz="2025" dirty="0"/>
          </a:p>
        </p:txBody>
      </p:sp>
      <p:sp>
        <p:nvSpPr>
          <p:cNvPr id="8" name="Shape 6"/>
          <p:cNvSpPr/>
          <p:nvPr/>
        </p:nvSpPr>
        <p:spPr>
          <a:xfrm>
            <a:off x="6110660" y="1890713"/>
            <a:ext cx="11262940" cy="514350"/>
          </a:xfrm>
          <a:prstGeom prst="rect">
            <a:avLst/>
          </a:prstGeom>
          <a:solidFill>
            <a:srgbClr val="FF6A00">
              <a:alpha val="18000"/>
            </a:srgbClr>
          </a:solidFill>
          <a:ln/>
        </p:spPr>
      </p:sp>
      <p:sp>
        <p:nvSpPr>
          <p:cNvPr id="9" name="Shape 7"/>
          <p:cNvSpPr/>
          <p:nvPr/>
        </p:nvSpPr>
        <p:spPr>
          <a:xfrm>
            <a:off x="6110660" y="2395538"/>
            <a:ext cx="11262940" cy="9525"/>
          </a:xfrm>
          <a:prstGeom prst="rect">
            <a:avLst/>
          </a:prstGeom>
          <a:solidFill>
            <a:srgbClr val="B85100"/>
          </a:solidFill>
          <a:ln/>
        </p:spPr>
      </p:sp>
      <p:sp>
        <p:nvSpPr>
          <p:cNvPr id="10" name="Text 8"/>
          <p:cNvSpPr/>
          <p:nvPr/>
        </p:nvSpPr>
        <p:spPr>
          <a:xfrm>
            <a:off x="6253535" y="1995488"/>
            <a:ext cx="11315079"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Focus</a:t>
            </a:r>
            <a:endParaRPr lang="en-US" sz="2025" dirty="0"/>
          </a:p>
        </p:txBody>
      </p:sp>
      <p:sp>
        <p:nvSpPr>
          <p:cNvPr id="11" name="Shape 9"/>
          <p:cNvSpPr/>
          <p:nvPr/>
        </p:nvSpPr>
        <p:spPr>
          <a:xfrm>
            <a:off x="914400" y="2871788"/>
            <a:ext cx="5196260" cy="9525"/>
          </a:xfrm>
          <a:prstGeom prst="rect">
            <a:avLst/>
          </a:prstGeom>
          <a:solidFill>
            <a:srgbClr val="2A2F3A"/>
          </a:solidFill>
          <a:ln/>
        </p:spPr>
      </p:sp>
      <p:sp>
        <p:nvSpPr>
          <p:cNvPr id="12" name="Text 10"/>
          <p:cNvSpPr/>
          <p:nvPr/>
        </p:nvSpPr>
        <p:spPr>
          <a:xfrm>
            <a:off x="1057275" y="2509838"/>
            <a:ext cx="506639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Data scientist</a:t>
            </a:r>
            <a:endParaRPr lang="en-US" sz="1725" dirty="0"/>
          </a:p>
        </p:txBody>
      </p:sp>
      <p:sp>
        <p:nvSpPr>
          <p:cNvPr id="13" name="Shape 11"/>
          <p:cNvSpPr/>
          <p:nvPr/>
        </p:nvSpPr>
        <p:spPr>
          <a:xfrm>
            <a:off x="6110660" y="2871788"/>
            <a:ext cx="11262940" cy="9525"/>
          </a:xfrm>
          <a:prstGeom prst="rect">
            <a:avLst/>
          </a:prstGeom>
          <a:solidFill>
            <a:srgbClr val="2A2F3A"/>
          </a:solidFill>
          <a:ln/>
        </p:spPr>
      </p:sp>
      <p:sp>
        <p:nvSpPr>
          <p:cNvPr id="14" name="Text 12"/>
          <p:cNvSpPr/>
          <p:nvPr/>
        </p:nvSpPr>
        <p:spPr>
          <a:xfrm>
            <a:off x="6253535" y="2509838"/>
            <a:ext cx="1131507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Builds and analyses models from data</a:t>
            </a:r>
            <a:endParaRPr lang="en-US" sz="1725" dirty="0"/>
          </a:p>
        </p:txBody>
      </p:sp>
      <p:sp>
        <p:nvSpPr>
          <p:cNvPr id="15" name="Shape 13"/>
          <p:cNvSpPr/>
          <p:nvPr/>
        </p:nvSpPr>
        <p:spPr>
          <a:xfrm>
            <a:off x="914400" y="2881313"/>
            <a:ext cx="5196260" cy="476250"/>
          </a:xfrm>
          <a:prstGeom prst="rect">
            <a:avLst/>
          </a:prstGeom>
          <a:solidFill>
            <a:srgbClr val="FFFFFF">
              <a:alpha val="2000"/>
            </a:srgbClr>
          </a:solidFill>
          <a:ln/>
        </p:spPr>
      </p:sp>
      <p:sp>
        <p:nvSpPr>
          <p:cNvPr id="16" name="Shape 14"/>
          <p:cNvSpPr/>
          <p:nvPr/>
        </p:nvSpPr>
        <p:spPr>
          <a:xfrm>
            <a:off x="914400" y="3348038"/>
            <a:ext cx="5196260" cy="9525"/>
          </a:xfrm>
          <a:prstGeom prst="rect">
            <a:avLst/>
          </a:prstGeom>
          <a:solidFill>
            <a:srgbClr val="2A2F3A"/>
          </a:solidFill>
          <a:ln/>
        </p:spPr>
      </p:sp>
      <p:sp>
        <p:nvSpPr>
          <p:cNvPr id="17" name="Text 15"/>
          <p:cNvSpPr/>
          <p:nvPr/>
        </p:nvSpPr>
        <p:spPr>
          <a:xfrm>
            <a:off x="1057275" y="2986088"/>
            <a:ext cx="506639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 architect</a:t>
            </a:r>
            <a:endParaRPr lang="en-US" sz="1725" dirty="0"/>
          </a:p>
        </p:txBody>
      </p:sp>
      <p:sp>
        <p:nvSpPr>
          <p:cNvPr id="18" name="Shape 16"/>
          <p:cNvSpPr/>
          <p:nvPr/>
        </p:nvSpPr>
        <p:spPr>
          <a:xfrm>
            <a:off x="6110660" y="2881313"/>
            <a:ext cx="11262940" cy="476250"/>
          </a:xfrm>
          <a:prstGeom prst="rect">
            <a:avLst/>
          </a:prstGeom>
          <a:solidFill>
            <a:srgbClr val="FFFFFF">
              <a:alpha val="2000"/>
            </a:srgbClr>
          </a:solidFill>
          <a:ln/>
        </p:spPr>
      </p:sp>
      <p:sp>
        <p:nvSpPr>
          <p:cNvPr id="19" name="Shape 17"/>
          <p:cNvSpPr/>
          <p:nvPr/>
        </p:nvSpPr>
        <p:spPr>
          <a:xfrm>
            <a:off x="6110660" y="3348038"/>
            <a:ext cx="11262940" cy="9525"/>
          </a:xfrm>
          <a:prstGeom prst="rect">
            <a:avLst/>
          </a:prstGeom>
          <a:solidFill>
            <a:srgbClr val="2A2F3A"/>
          </a:solidFill>
          <a:ln/>
        </p:spPr>
      </p:sp>
      <p:sp>
        <p:nvSpPr>
          <p:cNvPr id="20" name="Text 18"/>
          <p:cNvSpPr/>
          <p:nvPr/>
        </p:nvSpPr>
        <p:spPr>
          <a:xfrm>
            <a:off x="6253535" y="2986088"/>
            <a:ext cx="1131507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Designs the overall AI system structure</a:t>
            </a:r>
            <a:endParaRPr lang="en-US" sz="1725" dirty="0"/>
          </a:p>
        </p:txBody>
      </p:sp>
      <p:sp>
        <p:nvSpPr>
          <p:cNvPr id="21" name="Shape 19"/>
          <p:cNvSpPr/>
          <p:nvPr/>
        </p:nvSpPr>
        <p:spPr>
          <a:xfrm>
            <a:off x="914400" y="3824288"/>
            <a:ext cx="5196260" cy="9525"/>
          </a:xfrm>
          <a:prstGeom prst="rect">
            <a:avLst/>
          </a:prstGeom>
          <a:solidFill>
            <a:srgbClr val="2A2F3A"/>
          </a:solidFill>
          <a:ln/>
        </p:spPr>
      </p:sp>
      <p:sp>
        <p:nvSpPr>
          <p:cNvPr id="22" name="Text 20"/>
          <p:cNvSpPr/>
          <p:nvPr/>
        </p:nvSpPr>
        <p:spPr>
          <a:xfrm>
            <a:off x="1057275" y="3462338"/>
            <a:ext cx="506639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Machine learning engineer</a:t>
            </a:r>
            <a:endParaRPr lang="en-US" sz="1725" dirty="0"/>
          </a:p>
        </p:txBody>
      </p:sp>
      <p:sp>
        <p:nvSpPr>
          <p:cNvPr id="23" name="Shape 21"/>
          <p:cNvSpPr/>
          <p:nvPr/>
        </p:nvSpPr>
        <p:spPr>
          <a:xfrm>
            <a:off x="6110660" y="3824288"/>
            <a:ext cx="11262940" cy="9525"/>
          </a:xfrm>
          <a:prstGeom prst="rect">
            <a:avLst/>
          </a:prstGeom>
          <a:solidFill>
            <a:srgbClr val="2A2F3A"/>
          </a:solidFill>
          <a:ln/>
        </p:spPr>
      </p:sp>
      <p:sp>
        <p:nvSpPr>
          <p:cNvPr id="24" name="Text 22"/>
          <p:cNvSpPr/>
          <p:nvPr/>
        </p:nvSpPr>
        <p:spPr>
          <a:xfrm>
            <a:off x="6253535" y="3462338"/>
            <a:ext cx="1131507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Builds and maintains ML pipelines and models</a:t>
            </a:r>
            <a:endParaRPr lang="en-US" sz="1725" dirty="0"/>
          </a:p>
        </p:txBody>
      </p:sp>
      <p:sp>
        <p:nvSpPr>
          <p:cNvPr id="25" name="Shape 23"/>
          <p:cNvSpPr/>
          <p:nvPr/>
        </p:nvSpPr>
        <p:spPr>
          <a:xfrm>
            <a:off x="914400" y="3833812"/>
            <a:ext cx="5196260" cy="476250"/>
          </a:xfrm>
          <a:prstGeom prst="rect">
            <a:avLst/>
          </a:prstGeom>
          <a:solidFill>
            <a:srgbClr val="FFFFFF">
              <a:alpha val="2000"/>
            </a:srgbClr>
          </a:solidFill>
          <a:ln/>
        </p:spPr>
      </p:sp>
      <p:sp>
        <p:nvSpPr>
          <p:cNvPr id="26" name="Shape 24"/>
          <p:cNvSpPr/>
          <p:nvPr/>
        </p:nvSpPr>
        <p:spPr>
          <a:xfrm>
            <a:off x="914400" y="4300538"/>
            <a:ext cx="5196260" cy="9525"/>
          </a:xfrm>
          <a:prstGeom prst="rect">
            <a:avLst/>
          </a:prstGeom>
          <a:solidFill>
            <a:srgbClr val="2A2F3A"/>
          </a:solidFill>
          <a:ln/>
        </p:spPr>
      </p:sp>
      <p:sp>
        <p:nvSpPr>
          <p:cNvPr id="27" name="Text 25"/>
          <p:cNvSpPr/>
          <p:nvPr/>
        </p:nvSpPr>
        <p:spPr>
          <a:xfrm>
            <a:off x="1057275" y="3938587"/>
            <a:ext cx="506639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Platform engineer</a:t>
            </a:r>
            <a:endParaRPr lang="en-US" sz="1725" dirty="0"/>
          </a:p>
        </p:txBody>
      </p:sp>
      <p:sp>
        <p:nvSpPr>
          <p:cNvPr id="28" name="Shape 26"/>
          <p:cNvSpPr/>
          <p:nvPr/>
        </p:nvSpPr>
        <p:spPr>
          <a:xfrm>
            <a:off x="6110660" y="3833812"/>
            <a:ext cx="11262940" cy="476250"/>
          </a:xfrm>
          <a:prstGeom prst="rect">
            <a:avLst/>
          </a:prstGeom>
          <a:solidFill>
            <a:srgbClr val="FFFFFF">
              <a:alpha val="2000"/>
            </a:srgbClr>
          </a:solidFill>
          <a:ln/>
        </p:spPr>
      </p:sp>
      <p:sp>
        <p:nvSpPr>
          <p:cNvPr id="29" name="Shape 27"/>
          <p:cNvSpPr/>
          <p:nvPr/>
        </p:nvSpPr>
        <p:spPr>
          <a:xfrm>
            <a:off x="6110660" y="4300538"/>
            <a:ext cx="11262940" cy="9525"/>
          </a:xfrm>
          <a:prstGeom prst="rect">
            <a:avLst/>
          </a:prstGeom>
          <a:solidFill>
            <a:srgbClr val="2A2F3A"/>
          </a:solidFill>
          <a:ln/>
        </p:spPr>
      </p:sp>
      <p:sp>
        <p:nvSpPr>
          <p:cNvPr id="30" name="Text 28"/>
          <p:cNvSpPr/>
          <p:nvPr/>
        </p:nvSpPr>
        <p:spPr>
          <a:xfrm>
            <a:off x="6253535" y="3938587"/>
            <a:ext cx="1131507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Maintains the infrastructure AI systems run on</a:t>
            </a:r>
            <a:endParaRPr lang="en-US" sz="1725" dirty="0"/>
          </a:p>
        </p:txBody>
      </p:sp>
      <p:sp>
        <p:nvSpPr>
          <p:cNvPr id="31" name="Shape 29"/>
          <p:cNvSpPr/>
          <p:nvPr/>
        </p:nvSpPr>
        <p:spPr>
          <a:xfrm>
            <a:off x="914400" y="4776788"/>
            <a:ext cx="5196260" cy="9525"/>
          </a:xfrm>
          <a:prstGeom prst="rect">
            <a:avLst/>
          </a:prstGeom>
          <a:solidFill>
            <a:srgbClr val="2A2F3A"/>
          </a:solidFill>
          <a:ln/>
        </p:spPr>
      </p:sp>
      <p:sp>
        <p:nvSpPr>
          <p:cNvPr id="32" name="Text 30"/>
          <p:cNvSpPr/>
          <p:nvPr/>
        </p:nvSpPr>
        <p:spPr>
          <a:xfrm>
            <a:off x="1057275" y="4414838"/>
            <a:ext cx="5066397"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MLOps engineer</a:t>
            </a:r>
            <a:endParaRPr lang="en-US" sz="1725" dirty="0"/>
          </a:p>
        </p:txBody>
      </p:sp>
      <p:sp>
        <p:nvSpPr>
          <p:cNvPr id="33" name="Shape 31"/>
          <p:cNvSpPr/>
          <p:nvPr/>
        </p:nvSpPr>
        <p:spPr>
          <a:xfrm>
            <a:off x="6110660" y="4776788"/>
            <a:ext cx="11262940" cy="9525"/>
          </a:xfrm>
          <a:prstGeom prst="rect">
            <a:avLst/>
          </a:prstGeom>
          <a:solidFill>
            <a:srgbClr val="2A2F3A"/>
          </a:solidFill>
          <a:ln/>
        </p:spPr>
      </p:sp>
      <p:sp>
        <p:nvSpPr>
          <p:cNvPr id="34" name="Text 32"/>
          <p:cNvSpPr/>
          <p:nvPr/>
        </p:nvSpPr>
        <p:spPr>
          <a:xfrm>
            <a:off x="6253535" y="4414838"/>
            <a:ext cx="1131507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Operationalises and automates the ML lifecycle in production</a:t>
            </a:r>
            <a:endParaRPr lang="en-US" sz="17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AI-RELATED ROLES · 2 OF 2</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Roles You Must Recognise, Part 2</a:t>
            </a:r>
            <a:endParaRPr lang="en-US" sz="4050" dirty="0"/>
          </a:p>
        </p:txBody>
      </p:sp>
      <p:sp>
        <p:nvSpPr>
          <p:cNvPr id="5" name="Shape 3"/>
          <p:cNvSpPr/>
          <p:nvPr/>
        </p:nvSpPr>
        <p:spPr>
          <a:xfrm>
            <a:off x="914400" y="1890713"/>
            <a:ext cx="4165178" cy="514350"/>
          </a:xfrm>
          <a:prstGeom prst="rect">
            <a:avLst/>
          </a:prstGeom>
          <a:solidFill>
            <a:srgbClr val="FF6A00">
              <a:alpha val="18000"/>
            </a:srgbClr>
          </a:solidFill>
          <a:ln/>
        </p:spPr>
      </p:sp>
      <p:sp>
        <p:nvSpPr>
          <p:cNvPr id="6" name="Shape 4"/>
          <p:cNvSpPr/>
          <p:nvPr/>
        </p:nvSpPr>
        <p:spPr>
          <a:xfrm>
            <a:off x="914400" y="2395538"/>
            <a:ext cx="4165178" cy="9525"/>
          </a:xfrm>
          <a:prstGeom prst="rect">
            <a:avLst/>
          </a:prstGeom>
          <a:solidFill>
            <a:srgbClr val="B85100"/>
          </a:solidFill>
          <a:ln/>
        </p:spPr>
      </p:sp>
      <p:sp>
        <p:nvSpPr>
          <p:cNvPr id="7" name="Text 5"/>
          <p:cNvSpPr/>
          <p:nvPr/>
        </p:nvSpPr>
        <p:spPr>
          <a:xfrm>
            <a:off x="1057275" y="1995488"/>
            <a:ext cx="4004384"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Role</a:t>
            </a:r>
            <a:endParaRPr lang="en-US" sz="2025" dirty="0"/>
          </a:p>
        </p:txBody>
      </p:sp>
      <p:sp>
        <p:nvSpPr>
          <p:cNvPr id="8" name="Shape 6"/>
          <p:cNvSpPr/>
          <p:nvPr/>
        </p:nvSpPr>
        <p:spPr>
          <a:xfrm>
            <a:off x="5079578" y="1890713"/>
            <a:ext cx="12294022" cy="514350"/>
          </a:xfrm>
          <a:prstGeom prst="rect">
            <a:avLst/>
          </a:prstGeom>
          <a:solidFill>
            <a:srgbClr val="FF6A00">
              <a:alpha val="18000"/>
            </a:srgbClr>
          </a:solidFill>
          <a:ln/>
        </p:spPr>
      </p:sp>
      <p:sp>
        <p:nvSpPr>
          <p:cNvPr id="9" name="Shape 7"/>
          <p:cNvSpPr/>
          <p:nvPr/>
        </p:nvSpPr>
        <p:spPr>
          <a:xfrm>
            <a:off x="5079578" y="2395538"/>
            <a:ext cx="12294022" cy="9525"/>
          </a:xfrm>
          <a:prstGeom prst="rect">
            <a:avLst/>
          </a:prstGeom>
          <a:solidFill>
            <a:srgbClr val="B85100"/>
          </a:solidFill>
          <a:ln/>
        </p:spPr>
      </p:sp>
      <p:sp>
        <p:nvSpPr>
          <p:cNvPr id="10" name="Text 8"/>
          <p:cNvSpPr/>
          <p:nvPr/>
        </p:nvSpPr>
        <p:spPr>
          <a:xfrm>
            <a:off x="5222453" y="1995488"/>
            <a:ext cx="12377092"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Focus</a:t>
            </a:r>
            <a:endParaRPr lang="en-US" sz="2025" dirty="0"/>
          </a:p>
        </p:txBody>
      </p:sp>
      <p:sp>
        <p:nvSpPr>
          <p:cNvPr id="11" name="Shape 9"/>
          <p:cNvSpPr/>
          <p:nvPr/>
        </p:nvSpPr>
        <p:spPr>
          <a:xfrm>
            <a:off x="914400" y="2871788"/>
            <a:ext cx="4165178" cy="9525"/>
          </a:xfrm>
          <a:prstGeom prst="rect">
            <a:avLst/>
          </a:prstGeom>
          <a:solidFill>
            <a:srgbClr val="2A2F3A"/>
          </a:solidFill>
          <a:ln/>
        </p:spPr>
      </p:sp>
      <p:sp>
        <p:nvSpPr>
          <p:cNvPr id="12" name="Text 10"/>
          <p:cNvSpPr/>
          <p:nvPr/>
        </p:nvSpPr>
        <p:spPr>
          <a:xfrm>
            <a:off x="1057275" y="2509838"/>
            <a:ext cx="400438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 security architect</a:t>
            </a:r>
            <a:endParaRPr lang="en-US" sz="1725" dirty="0"/>
          </a:p>
        </p:txBody>
      </p:sp>
      <p:sp>
        <p:nvSpPr>
          <p:cNvPr id="13" name="Shape 11"/>
          <p:cNvSpPr/>
          <p:nvPr/>
        </p:nvSpPr>
        <p:spPr>
          <a:xfrm>
            <a:off x="5079578" y="2871788"/>
            <a:ext cx="12294022" cy="9525"/>
          </a:xfrm>
          <a:prstGeom prst="rect">
            <a:avLst/>
          </a:prstGeom>
          <a:solidFill>
            <a:srgbClr val="2A2F3A"/>
          </a:solidFill>
          <a:ln/>
        </p:spPr>
      </p:sp>
      <p:sp>
        <p:nvSpPr>
          <p:cNvPr id="14" name="Text 12"/>
          <p:cNvSpPr/>
          <p:nvPr/>
        </p:nvSpPr>
        <p:spPr>
          <a:xfrm>
            <a:off x="5222453" y="2509838"/>
            <a:ext cx="1237709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Designs security controls specifically for AI systems</a:t>
            </a:r>
            <a:endParaRPr lang="en-US" sz="1725" dirty="0"/>
          </a:p>
        </p:txBody>
      </p:sp>
      <p:sp>
        <p:nvSpPr>
          <p:cNvPr id="15" name="Shape 13"/>
          <p:cNvSpPr/>
          <p:nvPr/>
        </p:nvSpPr>
        <p:spPr>
          <a:xfrm>
            <a:off x="914400" y="2881313"/>
            <a:ext cx="4165178" cy="476250"/>
          </a:xfrm>
          <a:prstGeom prst="rect">
            <a:avLst/>
          </a:prstGeom>
          <a:solidFill>
            <a:srgbClr val="FFFFFF">
              <a:alpha val="2000"/>
            </a:srgbClr>
          </a:solidFill>
          <a:ln/>
        </p:spPr>
      </p:sp>
      <p:sp>
        <p:nvSpPr>
          <p:cNvPr id="16" name="Shape 14"/>
          <p:cNvSpPr/>
          <p:nvPr/>
        </p:nvSpPr>
        <p:spPr>
          <a:xfrm>
            <a:off x="914400" y="3348038"/>
            <a:ext cx="4165178" cy="9525"/>
          </a:xfrm>
          <a:prstGeom prst="rect">
            <a:avLst/>
          </a:prstGeom>
          <a:solidFill>
            <a:srgbClr val="2A2F3A"/>
          </a:solidFill>
          <a:ln/>
        </p:spPr>
      </p:sp>
      <p:sp>
        <p:nvSpPr>
          <p:cNvPr id="17" name="Text 15"/>
          <p:cNvSpPr/>
          <p:nvPr/>
        </p:nvSpPr>
        <p:spPr>
          <a:xfrm>
            <a:off x="1057275" y="2986088"/>
            <a:ext cx="400438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 governance engineer</a:t>
            </a:r>
            <a:endParaRPr lang="en-US" sz="1725" dirty="0"/>
          </a:p>
        </p:txBody>
      </p:sp>
      <p:sp>
        <p:nvSpPr>
          <p:cNvPr id="18" name="Shape 16"/>
          <p:cNvSpPr/>
          <p:nvPr/>
        </p:nvSpPr>
        <p:spPr>
          <a:xfrm>
            <a:off x="5079578" y="2881313"/>
            <a:ext cx="12294022" cy="476250"/>
          </a:xfrm>
          <a:prstGeom prst="rect">
            <a:avLst/>
          </a:prstGeom>
          <a:solidFill>
            <a:srgbClr val="FFFFFF">
              <a:alpha val="2000"/>
            </a:srgbClr>
          </a:solidFill>
          <a:ln/>
        </p:spPr>
      </p:sp>
      <p:sp>
        <p:nvSpPr>
          <p:cNvPr id="19" name="Shape 17"/>
          <p:cNvSpPr/>
          <p:nvPr/>
        </p:nvSpPr>
        <p:spPr>
          <a:xfrm>
            <a:off x="5079578" y="3348038"/>
            <a:ext cx="12294022" cy="9525"/>
          </a:xfrm>
          <a:prstGeom prst="rect">
            <a:avLst/>
          </a:prstGeom>
          <a:solidFill>
            <a:srgbClr val="2A2F3A"/>
          </a:solidFill>
          <a:ln/>
        </p:spPr>
      </p:sp>
      <p:sp>
        <p:nvSpPr>
          <p:cNvPr id="20" name="Text 18"/>
          <p:cNvSpPr/>
          <p:nvPr/>
        </p:nvSpPr>
        <p:spPr>
          <a:xfrm>
            <a:off x="5222453" y="2986088"/>
            <a:ext cx="1237709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Implements governance policy into technical practice</a:t>
            </a:r>
            <a:endParaRPr lang="en-US" sz="1725" dirty="0"/>
          </a:p>
        </p:txBody>
      </p:sp>
      <p:sp>
        <p:nvSpPr>
          <p:cNvPr id="21" name="Shape 19"/>
          <p:cNvSpPr/>
          <p:nvPr/>
        </p:nvSpPr>
        <p:spPr>
          <a:xfrm>
            <a:off x="914400" y="3824288"/>
            <a:ext cx="4165178" cy="9525"/>
          </a:xfrm>
          <a:prstGeom prst="rect">
            <a:avLst/>
          </a:prstGeom>
          <a:solidFill>
            <a:srgbClr val="2A2F3A"/>
          </a:solidFill>
          <a:ln/>
        </p:spPr>
      </p:sp>
      <p:sp>
        <p:nvSpPr>
          <p:cNvPr id="22" name="Text 20"/>
          <p:cNvSpPr/>
          <p:nvPr/>
        </p:nvSpPr>
        <p:spPr>
          <a:xfrm>
            <a:off x="1057275" y="3462338"/>
            <a:ext cx="400438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 risk analyst</a:t>
            </a:r>
            <a:endParaRPr lang="en-US" sz="1725" dirty="0"/>
          </a:p>
        </p:txBody>
      </p:sp>
      <p:sp>
        <p:nvSpPr>
          <p:cNvPr id="23" name="Shape 21"/>
          <p:cNvSpPr/>
          <p:nvPr/>
        </p:nvSpPr>
        <p:spPr>
          <a:xfrm>
            <a:off x="5079578" y="3824288"/>
            <a:ext cx="12294022" cy="9525"/>
          </a:xfrm>
          <a:prstGeom prst="rect">
            <a:avLst/>
          </a:prstGeom>
          <a:solidFill>
            <a:srgbClr val="2A2F3A"/>
          </a:solidFill>
          <a:ln/>
        </p:spPr>
      </p:sp>
      <p:sp>
        <p:nvSpPr>
          <p:cNvPr id="24" name="Text 22"/>
          <p:cNvSpPr/>
          <p:nvPr/>
        </p:nvSpPr>
        <p:spPr>
          <a:xfrm>
            <a:off x="5222453" y="3462338"/>
            <a:ext cx="1237709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Assesses and tracks AI-specific risk</a:t>
            </a:r>
            <a:endParaRPr lang="en-US" sz="1725" dirty="0"/>
          </a:p>
        </p:txBody>
      </p:sp>
      <p:sp>
        <p:nvSpPr>
          <p:cNvPr id="25" name="Shape 23"/>
          <p:cNvSpPr/>
          <p:nvPr/>
        </p:nvSpPr>
        <p:spPr>
          <a:xfrm>
            <a:off x="914400" y="3833812"/>
            <a:ext cx="4165178" cy="476250"/>
          </a:xfrm>
          <a:prstGeom prst="rect">
            <a:avLst/>
          </a:prstGeom>
          <a:solidFill>
            <a:srgbClr val="FFFFFF">
              <a:alpha val="2000"/>
            </a:srgbClr>
          </a:solidFill>
          <a:ln/>
        </p:spPr>
      </p:sp>
      <p:sp>
        <p:nvSpPr>
          <p:cNvPr id="26" name="Shape 24"/>
          <p:cNvSpPr/>
          <p:nvPr/>
        </p:nvSpPr>
        <p:spPr>
          <a:xfrm>
            <a:off x="914400" y="4300538"/>
            <a:ext cx="4165178" cy="9525"/>
          </a:xfrm>
          <a:prstGeom prst="rect">
            <a:avLst/>
          </a:prstGeom>
          <a:solidFill>
            <a:srgbClr val="2A2F3A"/>
          </a:solidFill>
          <a:ln/>
        </p:spPr>
      </p:sp>
      <p:sp>
        <p:nvSpPr>
          <p:cNvPr id="27" name="Text 25"/>
          <p:cNvSpPr/>
          <p:nvPr/>
        </p:nvSpPr>
        <p:spPr>
          <a:xfrm>
            <a:off x="1057275" y="3938587"/>
            <a:ext cx="400438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 auditor</a:t>
            </a:r>
            <a:endParaRPr lang="en-US" sz="1725" dirty="0"/>
          </a:p>
        </p:txBody>
      </p:sp>
      <p:sp>
        <p:nvSpPr>
          <p:cNvPr id="28" name="Shape 26"/>
          <p:cNvSpPr/>
          <p:nvPr/>
        </p:nvSpPr>
        <p:spPr>
          <a:xfrm>
            <a:off x="5079578" y="3833812"/>
            <a:ext cx="12294022" cy="476250"/>
          </a:xfrm>
          <a:prstGeom prst="rect">
            <a:avLst/>
          </a:prstGeom>
          <a:solidFill>
            <a:srgbClr val="FFFFFF">
              <a:alpha val="2000"/>
            </a:srgbClr>
          </a:solidFill>
          <a:ln/>
        </p:spPr>
      </p:sp>
      <p:sp>
        <p:nvSpPr>
          <p:cNvPr id="29" name="Shape 27"/>
          <p:cNvSpPr/>
          <p:nvPr/>
        </p:nvSpPr>
        <p:spPr>
          <a:xfrm>
            <a:off x="5079578" y="4300538"/>
            <a:ext cx="12294022" cy="9525"/>
          </a:xfrm>
          <a:prstGeom prst="rect">
            <a:avLst/>
          </a:prstGeom>
          <a:solidFill>
            <a:srgbClr val="2A2F3A"/>
          </a:solidFill>
          <a:ln/>
        </p:spPr>
      </p:sp>
      <p:sp>
        <p:nvSpPr>
          <p:cNvPr id="30" name="Text 28"/>
          <p:cNvSpPr/>
          <p:nvPr/>
        </p:nvSpPr>
        <p:spPr>
          <a:xfrm>
            <a:off x="5222453" y="3938587"/>
            <a:ext cx="1237709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Independently verifies AI systems meet policy and compliance requirements</a:t>
            </a:r>
            <a:endParaRPr lang="en-US" sz="1725" dirty="0"/>
          </a:p>
        </p:txBody>
      </p:sp>
      <p:sp>
        <p:nvSpPr>
          <p:cNvPr id="31" name="Shape 29"/>
          <p:cNvSpPr/>
          <p:nvPr/>
        </p:nvSpPr>
        <p:spPr>
          <a:xfrm>
            <a:off x="914400" y="4776788"/>
            <a:ext cx="4165178" cy="9525"/>
          </a:xfrm>
          <a:prstGeom prst="rect">
            <a:avLst/>
          </a:prstGeom>
          <a:solidFill>
            <a:srgbClr val="2A2F3A"/>
          </a:solidFill>
          <a:ln/>
        </p:spPr>
      </p:sp>
      <p:sp>
        <p:nvSpPr>
          <p:cNvPr id="32" name="Text 30"/>
          <p:cNvSpPr/>
          <p:nvPr/>
        </p:nvSpPr>
        <p:spPr>
          <a:xfrm>
            <a:off x="1057275" y="4414838"/>
            <a:ext cx="400438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Data engineer</a:t>
            </a:r>
            <a:endParaRPr lang="en-US" sz="1725" dirty="0"/>
          </a:p>
        </p:txBody>
      </p:sp>
      <p:sp>
        <p:nvSpPr>
          <p:cNvPr id="33" name="Shape 31"/>
          <p:cNvSpPr/>
          <p:nvPr/>
        </p:nvSpPr>
        <p:spPr>
          <a:xfrm>
            <a:off x="5079578" y="4776788"/>
            <a:ext cx="12294022" cy="9525"/>
          </a:xfrm>
          <a:prstGeom prst="rect">
            <a:avLst/>
          </a:prstGeom>
          <a:solidFill>
            <a:srgbClr val="2A2F3A"/>
          </a:solidFill>
          <a:ln/>
        </p:spPr>
      </p:sp>
      <p:sp>
        <p:nvSpPr>
          <p:cNvPr id="34" name="Text 32"/>
          <p:cNvSpPr/>
          <p:nvPr/>
        </p:nvSpPr>
        <p:spPr>
          <a:xfrm>
            <a:off x="5222453" y="4414838"/>
            <a:ext cx="1237709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Builds and maintains the pipelines that move and prepare data</a:t>
            </a:r>
            <a:endParaRPr lang="en-US" sz="17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4.1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Structures + Ten Named Roles</a:t>
            </a:r>
            <a:endParaRPr lang="en-US" sz="4050" dirty="0"/>
          </a:p>
        </p:txBody>
      </p:sp>
      <p:sp>
        <p:nvSpPr>
          <p:cNvPr id="5" name="Shape 3"/>
          <p:cNvSpPr/>
          <p:nvPr/>
        </p:nvSpPr>
        <p:spPr>
          <a:xfrm>
            <a:off x="914400" y="189071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2883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An AI Centre of Excellence and documented policies provide the organisational structure; ten named roles — from data scientist to AI auditor — provide the accountable people inside it.</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33767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4.2</a:t>
            </a:r>
            <a:endParaRPr lang="en-US" sz="1575" dirty="0"/>
          </a:p>
        </p:txBody>
      </p:sp>
      <p:sp>
        <p:nvSpPr>
          <p:cNvPr id="4" name="Text 2"/>
          <p:cNvSpPr/>
          <p:nvPr/>
        </p:nvSpPr>
        <p:spPr>
          <a:xfrm>
            <a:off x="914400" y="4747245"/>
            <a:ext cx="18105120" cy="687660"/>
          </a:xfrm>
          <a:prstGeom prst="rect">
            <a:avLst/>
          </a:prstGeom>
          <a:noFill/>
          <a:ln/>
        </p:spPr>
        <p:txBody>
          <a:bodyPr wrap="square" lIns="25400" tIns="25400" rIns="25400" bIns="25400" rtlCol="0" anchor="t">
            <a:normAutofit/>
          </a:bodyPr>
          <a:lstStyle/>
          <a:p>
            <a:pPr algn="l" indent="0" marL="0">
              <a:lnSpc>
                <a:spcPct val="96056"/>
              </a:lnSpc>
              <a:buNone/>
            </a:pPr>
            <a:r>
              <a:rPr lang="en-US" sz="4650" b="1" dirty="0">
                <a:solidFill>
                  <a:srgbClr val="F5F7FB"/>
                </a:solidFill>
                <a:latin typeface="Arial" pitchFamily="34" charset="0"/>
                <a:ea typeface="Arial" pitchFamily="34" charset="-122"/>
                <a:cs typeface="Arial" pitchFamily="34" charset="-120"/>
              </a:rPr>
              <a:t>Risks Associated With AI</a:t>
            </a:r>
            <a:endParaRPr lang="en-US" sz="4650" dirty="0"/>
          </a:p>
        </p:txBody>
      </p:sp>
      <p:sp>
        <p:nvSpPr>
          <p:cNvPr id="5" name="Text 3"/>
          <p:cNvSpPr/>
          <p:nvPr/>
        </p:nvSpPr>
        <p:spPr>
          <a:xfrm>
            <a:off x="914400" y="5587305"/>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Responsible AI principles, named organisational risks, and shadow AI</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54704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37580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Responsible AI Principle · 1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Fairness &amp; Reliability/Safety</a:t>
            </a:r>
            <a:endParaRPr lang="en-US" sz="4050" dirty="0"/>
          </a:p>
        </p:txBody>
      </p:sp>
      <p:sp>
        <p:nvSpPr>
          <p:cNvPr id="6" name="Shape 4"/>
          <p:cNvSpPr/>
          <p:nvPr/>
        </p:nvSpPr>
        <p:spPr>
          <a:xfrm>
            <a:off x="914400" y="1933575"/>
            <a:ext cx="8134350" cy="1028700"/>
          </a:xfrm>
          <a:prstGeom prst="roundRect">
            <a:avLst>
              <a:gd name="adj" fmla="val 14815"/>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FAIRNESS</a:t>
            </a:r>
            <a:endParaRPr lang="en-US" sz="1350" dirty="0"/>
          </a:p>
        </p:txBody>
      </p:sp>
      <p:sp>
        <p:nvSpPr>
          <p:cNvPr id="8" name="Text 6"/>
          <p:cNvSpPr/>
          <p:nvPr/>
        </p:nvSpPr>
        <p:spPr>
          <a:xfrm>
            <a:off x="115252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Outcomes should not unjustly favour or disadvantage particular groups.</a:t>
            </a:r>
            <a:endParaRPr lang="en-US" sz="1425" dirty="0"/>
          </a:p>
        </p:txBody>
      </p:sp>
      <p:sp>
        <p:nvSpPr>
          <p:cNvPr id="9" name="Shape 7"/>
          <p:cNvSpPr/>
          <p:nvPr/>
        </p:nvSpPr>
        <p:spPr>
          <a:xfrm>
            <a:off x="9239250" y="1933575"/>
            <a:ext cx="8134350" cy="1028700"/>
          </a:xfrm>
          <a:prstGeom prst="roundRect">
            <a:avLst>
              <a:gd name="adj" fmla="val 14815"/>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RELIABILITY &amp; SAFETY</a:t>
            </a:r>
            <a:endParaRPr lang="en-US" sz="1350" dirty="0"/>
          </a:p>
        </p:txBody>
      </p:sp>
      <p:sp>
        <p:nvSpPr>
          <p:cNvPr id="11" name="Text 9"/>
          <p:cNvSpPr/>
          <p:nvPr/>
        </p:nvSpPr>
        <p:spPr>
          <a:xfrm>
            <a:off x="947737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system consistently behaves as intended and does not cause harm.</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56579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395121"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Responsible AI Principle · 2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Transparency &amp; Privacy/Security</a:t>
            </a:r>
            <a:endParaRPr lang="en-US" sz="4050" dirty="0"/>
          </a:p>
        </p:txBody>
      </p:sp>
      <p:sp>
        <p:nvSpPr>
          <p:cNvPr id="6" name="Shape 4"/>
          <p:cNvSpPr/>
          <p:nvPr/>
        </p:nvSpPr>
        <p:spPr>
          <a:xfrm>
            <a:off x="91440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TRANSPARENCY</a:t>
            </a:r>
            <a:endParaRPr lang="en-US" sz="1350" dirty="0"/>
          </a:p>
        </p:txBody>
      </p:sp>
      <p:sp>
        <p:nvSpPr>
          <p:cNvPr id="8" name="Text 6"/>
          <p:cNvSpPr/>
          <p:nvPr/>
        </p:nvSpPr>
        <p:spPr>
          <a:xfrm>
            <a:off x="115252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Stakeholders can understand how and why the system reached a decision.</a:t>
            </a:r>
            <a:endParaRPr lang="en-US" sz="1425" dirty="0"/>
          </a:p>
        </p:txBody>
      </p:sp>
      <p:sp>
        <p:nvSpPr>
          <p:cNvPr id="9" name="Shape 7"/>
          <p:cNvSpPr/>
          <p:nvPr/>
        </p:nvSpPr>
        <p:spPr>
          <a:xfrm>
            <a:off x="923925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PRIVACY &amp; SECURITY</a:t>
            </a:r>
            <a:endParaRPr lang="en-US" sz="1350" dirty="0"/>
          </a:p>
        </p:txBody>
      </p:sp>
      <p:sp>
        <p:nvSpPr>
          <p:cNvPr id="11" name="Text 9"/>
          <p:cNvSpPr/>
          <p:nvPr/>
        </p:nvSpPr>
        <p:spPr>
          <a:xfrm>
            <a:off x="947737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Includes differential privacy — adding statistical noise so no individual record can be singled out from aggregate results.</a:t>
            </a:r>
            <a:endParaRPr lang="en-US" sz="14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56951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39895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Responsible AI Principle · 3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Explainability &amp; Inclusiveness</a:t>
            </a:r>
            <a:endParaRPr lang="en-US" sz="4050" dirty="0"/>
          </a:p>
        </p:txBody>
      </p:sp>
      <p:sp>
        <p:nvSpPr>
          <p:cNvPr id="6" name="Shape 4"/>
          <p:cNvSpPr/>
          <p:nvPr/>
        </p:nvSpPr>
        <p:spPr>
          <a:xfrm>
            <a:off x="91440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EXPLAINABILITY</a:t>
            </a:r>
            <a:endParaRPr lang="en-US" sz="1350" dirty="0"/>
          </a:p>
        </p:txBody>
      </p:sp>
      <p:sp>
        <p:nvSpPr>
          <p:cNvPr id="8" name="Text 6"/>
          <p:cNvSpPr/>
          <p:nvPr/>
        </p:nvSpPr>
        <p:spPr>
          <a:xfrm>
            <a:off x="115252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specific decision can be justified in human-understandable terms, not just "transparent" in general.</a:t>
            </a:r>
            <a:endParaRPr lang="en-US" sz="1425" dirty="0"/>
          </a:p>
        </p:txBody>
      </p:sp>
      <p:sp>
        <p:nvSpPr>
          <p:cNvPr id="9" name="Shape 7"/>
          <p:cNvSpPr/>
          <p:nvPr/>
        </p:nvSpPr>
        <p:spPr>
          <a:xfrm>
            <a:off x="923925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INCLUSIVENESS</a:t>
            </a:r>
            <a:endParaRPr lang="en-US" sz="1350" dirty="0"/>
          </a:p>
        </p:txBody>
      </p:sp>
      <p:sp>
        <p:nvSpPr>
          <p:cNvPr id="11" name="Text 9"/>
          <p:cNvSpPr/>
          <p:nvPr/>
        </p:nvSpPr>
        <p:spPr>
          <a:xfrm>
            <a:off x="947737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system is designed to work fairly for the full diversity of people who will use or be affected by it.</a:t>
            </a:r>
            <a:endParaRPr lang="en-US" sz="14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57204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40155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Responsible AI Principle · 4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Accountability &amp; Consistency</a:t>
            </a:r>
            <a:endParaRPr lang="en-US" sz="4050" dirty="0"/>
          </a:p>
        </p:txBody>
      </p:sp>
      <p:sp>
        <p:nvSpPr>
          <p:cNvPr id="6" name="Shape 4"/>
          <p:cNvSpPr/>
          <p:nvPr/>
        </p:nvSpPr>
        <p:spPr>
          <a:xfrm>
            <a:off x="914400" y="1933575"/>
            <a:ext cx="8134350" cy="1028700"/>
          </a:xfrm>
          <a:prstGeom prst="roundRect">
            <a:avLst>
              <a:gd name="adj" fmla="val 14815"/>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ACCOUNTABILITY</a:t>
            </a:r>
            <a:endParaRPr lang="en-US" sz="1350" dirty="0"/>
          </a:p>
        </p:txBody>
      </p:sp>
      <p:sp>
        <p:nvSpPr>
          <p:cNvPr id="8" name="Text 6"/>
          <p:cNvSpPr/>
          <p:nvPr/>
        </p:nvSpPr>
        <p:spPr>
          <a:xfrm>
            <a:off x="115252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specific person or team is answerable for an AI system's outcomes.</a:t>
            </a:r>
            <a:endParaRPr lang="en-US" sz="1425" dirty="0"/>
          </a:p>
        </p:txBody>
      </p:sp>
      <p:sp>
        <p:nvSpPr>
          <p:cNvPr id="9" name="Shape 7"/>
          <p:cNvSpPr/>
          <p:nvPr/>
        </p:nvSpPr>
        <p:spPr>
          <a:xfrm>
            <a:off x="9239250" y="1933575"/>
            <a:ext cx="8134350" cy="1028700"/>
          </a:xfrm>
          <a:prstGeom prst="roundRect">
            <a:avLst>
              <a:gd name="adj" fmla="val 14815"/>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CONSISTENCY</a:t>
            </a:r>
            <a:endParaRPr lang="en-US" sz="1350" dirty="0"/>
          </a:p>
        </p:txBody>
      </p:sp>
      <p:sp>
        <p:nvSpPr>
          <p:cNvPr id="11" name="Text 9"/>
          <p:cNvSpPr/>
          <p:nvPr/>
        </p:nvSpPr>
        <p:spPr>
          <a:xfrm>
            <a:off x="947737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The system produces stable, predictable behaviour for materially similar input.</a:t>
            </a:r>
            <a:endParaRPr lang="en-US" sz="14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56869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398110"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Responsible AI Principle · 5 of 5</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Awareness Training</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Ensuring staff across the organisation — not only technical teams — understand AI's capabilities, limitations, and associated risks.</a:t>
            </a:r>
            <a:endParaRPr lang="en-US" sz="1800" dirty="0"/>
          </a:p>
        </p:txBody>
      </p:sp>
      <p:sp>
        <p:nvSpPr>
          <p:cNvPr id="7" name="Shape 5"/>
          <p:cNvSpPr/>
          <p:nvPr/>
        </p:nvSpPr>
        <p:spPr>
          <a:xfrm>
            <a:off x="914400" y="2440260"/>
            <a:ext cx="16459200"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2678385"/>
            <a:ext cx="17581245"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17581245"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Directly reduces overreliance and shadow AI, both covered next.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1642393"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47094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Named Risk · 1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Introduction of Bias &amp; Accidental Data Leakage</a:t>
            </a:r>
            <a:endParaRPr lang="en-US" sz="4050" dirty="0"/>
          </a:p>
        </p:txBody>
      </p:sp>
      <p:sp>
        <p:nvSpPr>
          <p:cNvPr id="6" name="Shape 4"/>
          <p:cNvSpPr/>
          <p:nvPr/>
        </p:nvSpPr>
        <p:spPr>
          <a:xfrm>
            <a:off x="91440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INTRODUCTION OF BIAS</a:t>
            </a:r>
            <a:endParaRPr lang="en-US" sz="1350" dirty="0"/>
          </a:p>
        </p:txBody>
      </p:sp>
      <p:sp>
        <p:nvSpPr>
          <p:cNvPr id="8" name="Text 6"/>
          <p:cNvSpPr/>
          <p:nvPr/>
        </p:nvSpPr>
        <p:spPr>
          <a:xfrm>
            <a:off x="115252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Skewed outcomes creeping in through training data, feedback loops, or deliberate manipulation.</a:t>
            </a:r>
            <a:endParaRPr lang="en-US" sz="1425" dirty="0"/>
          </a:p>
        </p:txBody>
      </p:sp>
      <p:sp>
        <p:nvSpPr>
          <p:cNvPr id="9" name="Shape 7"/>
          <p:cNvSpPr/>
          <p:nvPr/>
        </p:nvSpPr>
        <p:spPr>
          <a:xfrm>
            <a:off x="923925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ACCIDENTAL DATA LEAKAGE</a:t>
            </a:r>
            <a:endParaRPr lang="en-US" sz="1350" dirty="0"/>
          </a:p>
        </p:txBody>
      </p:sp>
      <p:sp>
        <p:nvSpPr>
          <p:cNvPr id="11" name="Text 9"/>
          <p:cNvSpPr/>
          <p:nvPr/>
        </p:nvSpPr>
        <p:spPr>
          <a:xfrm>
            <a:off x="947737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Sensitive data unintentionally exposed through model output, logs, or a misconfigured pipeline.</a:t>
            </a:r>
            <a:endParaRPr lang="en-US" sz="14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166114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489695"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Named Risk · 2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Reputational Loss &amp; Accuracy/Performance Risk</a:t>
            </a:r>
            <a:endParaRPr lang="en-US" sz="4050" dirty="0"/>
          </a:p>
        </p:txBody>
      </p:sp>
      <p:sp>
        <p:nvSpPr>
          <p:cNvPr id="6" name="Shape 4"/>
          <p:cNvSpPr/>
          <p:nvPr/>
        </p:nvSpPr>
        <p:spPr>
          <a:xfrm>
            <a:off x="914400" y="1933575"/>
            <a:ext cx="8134350" cy="1028700"/>
          </a:xfrm>
          <a:prstGeom prst="roundRect">
            <a:avLst>
              <a:gd name="adj" fmla="val 14815"/>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REPUTATIONAL LOSS</a:t>
            </a:r>
            <a:endParaRPr lang="en-US" sz="1350" dirty="0"/>
          </a:p>
        </p:txBody>
      </p:sp>
      <p:sp>
        <p:nvSpPr>
          <p:cNvPr id="8" name="Text 6"/>
          <p:cNvSpPr/>
          <p:nvPr/>
        </p:nvSpPr>
        <p:spPr>
          <a:xfrm>
            <a:off x="115252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Public trust damage following a visible AI failure, bias incident, or breach.</a:t>
            </a:r>
            <a:endParaRPr lang="en-US" sz="1425" dirty="0"/>
          </a:p>
        </p:txBody>
      </p:sp>
      <p:sp>
        <p:nvSpPr>
          <p:cNvPr id="9" name="Shape 7"/>
          <p:cNvSpPr/>
          <p:nvPr/>
        </p:nvSpPr>
        <p:spPr>
          <a:xfrm>
            <a:off x="9239250" y="1933575"/>
            <a:ext cx="8134350" cy="1028700"/>
          </a:xfrm>
          <a:prstGeom prst="roundRect">
            <a:avLst>
              <a:gd name="adj" fmla="val 14815"/>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ACCURACY &amp; PERFORMANCE</a:t>
            </a:r>
            <a:endParaRPr lang="en-US" sz="1350" dirty="0"/>
          </a:p>
        </p:txBody>
      </p:sp>
      <p:sp>
        <p:nvSpPr>
          <p:cNvPr id="11" name="Text 9"/>
          <p:cNvSpPr/>
          <p:nvPr/>
        </p:nvSpPr>
        <p:spPr>
          <a:xfrm>
            <a:off x="947737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A model's real-world results falling short of what the business relies on it for.</a:t>
            </a:r>
            <a:endParaRPr lang="en-US" sz="14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1664866"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49341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Named Risk · 3 of 6</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Intellectual Property Risks &amp; Autonomous Systems</a:t>
            </a:r>
            <a:endParaRPr lang="en-US" sz="4050" dirty="0"/>
          </a:p>
        </p:txBody>
      </p:sp>
      <p:sp>
        <p:nvSpPr>
          <p:cNvPr id="6" name="Shape 4"/>
          <p:cNvSpPr/>
          <p:nvPr/>
        </p:nvSpPr>
        <p:spPr>
          <a:xfrm>
            <a:off x="91440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IP-RELATED RISKS</a:t>
            </a:r>
            <a:endParaRPr lang="en-US" sz="1350" dirty="0"/>
          </a:p>
        </p:txBody>
      </p:sp>
      <p:sp>
        <p:nvSpPr>
          <p:cNvPr id="8" name="Text 6"/>
          <p:cNvSpPr/>
          <p:nvPr/>
        </p:nvSpPr>
        <p:spPr>
          <a:xfrm>
            <a:off x="115252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Uncertainty over training data rights, output ownership, or infringement exposure.</a:t>
            </a:r>
            <a:endParaRPr lang="en-US" sz="1425" dirty="0"/>
          </a:p>
        </p:txBody>
      </p:sp>
      <p:sp>
        <p:nvSpPr>
          <p:cNvPr id="9" name="Shape 7"/>
          <p:cNvSpPr/>
          <p:nvPr/>
        </p:nvSpPr>
        <p:spPr>
          <a:xfrm>
            <a:off x="923925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AUTONOMOUS SYSTEMS</a:t>
            </a:r>
            <a:endParaRPr lang="en-US" sz="1350" dirty="0"/>
          </a:p>
        </p:txBody>
      </p:sp>
      <p:sp>
        <p:nvSpPr>
          <p:cNvPr id="11" name="Text 9"/>
          <p:cNvSpPr/>
          <p:nvPr/>
        </p:nvSpPr>
        <p:spPr>
          <a:xfrm>
            <a:off x="947737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Risk grows as a system is given more independent decision-making authority — echoes excessive agency from Domain 2.0.</a:t>
            </a:r>
            <a:endParaRPr lang="en-US" sz="14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71551"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00101"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Named Risk · 4 of 6, Part 1</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Shadow IT &amp; Shadow AI</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Shadow IT is technology used without formal organisational approval. Shadow AI is that same problem specifically involving unsanctioned AI tools — e.g. staff pasting confidential data into a public chatbot no one approved.</a:t>
            </a:r>
            <a:endParaRPr lang="en-US" sz="1800" dirty="0"/>
          </a:p>
        </p:txBody>
      </p:sp>
      <p:sp>
        <p:nvSpPr>
          <p:cNvPr id="7" name="Shape 5"/>
          <p:cNvSpPr/>
          <p:nvPr/>
        </p:nvSpPr>
        <p:spPr>
          <a:xfrm>
            <a:off x="914400" y="2794546"/>
            <a:ext cx="16459200"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17581245"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17581245"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Invisible to governance, so none of Objective 4.1's structures or policies can protect against it.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4.2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Nine Principles, Seven Named Risks</a:t>
            </a:r>
            <a:endParaRPr lang="en-US" sz="4050" dirty="0"/>
          </a:p>
        </p:txBody>
      </p:sp>
      <p:sp>
        <p:nvSpPr>
          <p:cNvPr id="5" name="Shape 3"/>
          <p:cNvSpPr/>
          <p:nvPr/>
        </p:nvSpPr>
        <p:spPr>
          <a:xfrm>
            <a:off x="914400" y="1890713"/>
            <a:ext cx="2853258" cy="514350"/>
          </a:xfrm>
          <a:prstGeom prst="rect">
            <a:avLst/>
          </a:prstGeom>
          <a:solidFill>
            <a:srgbClr val="FF6A00">
              <a:alpha val="18000"/>
            </a:srgbClr>
          </a:solidFill>
          <a:ln/>
        </p:spPr>
      </p:sp>
      <p:sp>
        <p:nvSpPr>
          <p:cNvPr id="6" name="Shape 4"/>
          <p:cNvSpPr/>
          <p:nvPr/>
        </p:nvSpPr>
        <p:spPr>
          <a:xfrm>
            <a:off x="914400" y="2395538"/>
            <a:ext cx="2853258" cy="9525"/>
          </a:xfrm>
          <a:prstGeom prst="rect">
            <a:avLst/>
          </a:prstGeom>
          <a:solidFill>
            <a:srgbClr val="B85100"/>
          </a:solidFill>
          <a:ln/>
        </p:spPr>
      </p:sp>
      <p:sp>
        <p:nvSpPr>
          <p:cNvPr id="7" name="Text 5"/>
          <p:cNvSpPr/>
          <p:nvPr/>
        </p:nvSpPr>
        <p:spPr>
          <a:xfrm>
            <a:off x="1057275" y="1995488"/>
            <a:ext cx="2653106"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Category</a:t>
            </a:r>
            <a:endParaRPr lang="en-US" sz="2025" dirty="0"/>
          </a:p>
        </p:txBody>
      </p:sp>
      <p:sp>
        <p:nvSpPr>
          <p:cNvPr id="8" name="Shape 6"/>
          <p:cNvSpPr/>
          <p:nvPr/>
        </p:nvSpPr>
        <p:spPr>
          <a:xfrm>
            <a:off x="3767658" y="1890713"/>
            <a:ext cx="13605942" cy="514350"/>
          </a:xfrm>
          <a:prstGeom prst="rect">
            <a:avLst/>
          </a:prstGeom>
          <a:solidFill>
            <a:srgbClr val="FF6A00">
              <a:alpha val="18000"/>
            </a:srgbClr>
          </a:solidFill>
          <a:ln/>
        </p:spPr>
      </p:sp>
      <p:sp>
        <p:nvSpPr>
          <p:cNvPr id="9" name="Shape 7"/>
          <p:cNvSpPr/>
          <p:nvPr/>
        </p:nvSpPr>
        <p:spPr>
          <a:xfrm>
            <a:off x="3767658" y="2395538"/>
            <a:ext cx="13605942" cy="9525"/>
          </a:xfrm>
          <a:prstGeom prst="rect">
            <a:avLst/>
          </a:prstGeom>
          <a:solidFill>
            <a:srgbClr val="B85100"/>
          </a:solidFill>
          <a:ln/>
        </p:spPr>
      </p:sp>
      <p:sp>
        <p:nvSpPr>
          <p:cNvPr id="10" name="Text 8"/>
          <p:cNvSpPr/>
          <p:nvPr/>
        </p:nvSpPr>
        <p:spPr>
          <a:xfrm>
            <a:off x="3910533" y="1995488"/>
            <a:ext cx="13728370"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Items</a:t>
            </a:r>
            <a:endParaRPr lang="en-US" sz="2025" dirty="0"/>
          </a:p>
        </p:txBody>
      </p:sp>
      <p:sp>
        <p:nvSpPr>
          <p:cNvPr id="11" name="Shape 9"/>
          <p:cNvSpPr/>
          <p:nvPr/>
        </p:nvSpPr>
        <p:spPr>
          <a:xfrm>
            <a:off x="914400" y="2871788"/>
            <a:ext cx="2853258" cy="9525"/>
          </a:xfrm>
          <a:prstGeom prst="rect">
            <a:avLst/>
          </a:prstGeom>
          <a:solidFill>
            <a:srgbClr val="2A2F3A"/>
          </a:solidFill>
          <a:ln/>
        </p:spPr>
      </p:sp>
      <p:sp>
        <p:nvSpPr>
          <p:cNvPr id="12" name="Text 10"/>
          <p:cNvSpPr/>
          <p:nvPr/>
        </p:nvSpPr>
        <p:spPr>
          <a:xfrm>
            <a:off x="1057275" y="2509838"/>
            <a:ext cx="265310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Responsible AI principles</a:t>
            </a:r>
            <a:endParaRPr lang="en-US" sz="1725" dirty="0"/>
          </a:p>
        </p:txBody>
      </p:sp>
      <p:sp>
        <p:nvSpPr>
          <p:cNvPr id="13" name="Shape 11"/>
          <p:cNvSpPr/>
          <p:nvPr/>
        </p:nvSpPr>
        <p:spPr>
          <a:xfrm>
            <a:off x="3767658" y="2871788"/>
            <a:ext cx="13605942" cy="9525"/>
          </a:xfrm>
          <a:prstGeom prst="rect">
            <a:avLst/>
          </a:prstGeom>
          <a:solidFill>
            <a:srgbClr val="2A2F3A"/>
          </a:solidFill>
          <a:ln/>
        </p:spPr>
      </p:sp>
      <p:sp>
        <p:nvSpPr>
          <p:cNvPr id="14" name="Text 12"/>
          <p:cNvSpPr/>
          <p:nvPr/>
        </p:nvSpPr>
        <p:spPr>
          <a:xfrm>
            <a:off x="3910533" y="2509838"/>
            <a:ext cx="1372837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Fairness, reliability/safety, transparency, privacy/security, explainability, inclusiveness, accountability, consistency, awareness training</a:t>
            </a:r>
            <a:endParaRPr lang="en-US" sz="1725" dirty="0"/>
          </a:p>
        </p:txBody>
      </p:sp>
      <p:sp>
        <p:nvSpPr>
          <p:cNvPr id="15" name="Shape 13"/>
          <p:cNvSpPr/>
          <p:nvPr/>
        </p:nvSpPr>
        <p:spPr>
          <a:xfrm>
            <a:off x="914400" y="2881313"/>
            <a:ext cx="2853258" cy="476250"/>
          </a:xfrm>
          <a:prstGeom prst="rect">
            <a:avLst/>
          </a:prstGeom>
          <a:solidFill>
            <a:srgbClr val="FFFFFF">
              <a:alpha val="2000"/>
            </a:srgbClr>
          </a:solidFill>
          <a:ln/>
        </p:spPr>
      </p:sp>
      <p:sp>
        <p:nvSpPr>
          <p:cNvPr id="16" name="Shape 14"/>
          <p:cNvSpPr/>
          <p:nvPr/>
        </p:nvSpPr>
        <p:spPr>
          <a:xfrm>
            <a:off x="914400" y="3348038"/>
            <a:ext cx="2853258" cy="9525"/>
          </a:xfrm>
          <a:prstGeom prst="rect">
            <a:avLst/>
          </a:prstGeom>
          <a:solidFill>
            <a:srgbClr val="2A2F3A"/>
          </a:solidFill>
          <a:ln/>
        </p:spPr>
      </p:sp>
      <p:sp>
        <p:nvSpPr>
          <p:cNvPr id="17" name="Text 15"/>
          <p:cNvSpPr/>
          <p:nvPr/>
        </p:nvSpPr>
        <p:spPr>
          <a:xfrm>
            <a:off x="1057275" y="2986088"/>
            <a:ext cx="265310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Named risks</a:t>
            </a:r>
            <a:endParaRPr lang="en-US" sz="1725" dirty="0"/>
          </a:p>
        </p:txBody>
      </p:sp>
      <p:sp>
        <p:nvSpPr>
          <p:cNvPr id="18" name="Shape 16"/>
          <p:cNvSpPr/>
          <p:nvPr/>
        </p:nvSpPr>
        <p:spPr>
          <a:xfrm>
            <a:off x="3767658" y="2881313"/>
            <a:ext cx="13605942" cy="476250"/>
          </a:xfrm>
          <a:prstGeom prst="rect">
            <a:avLst/>
          </a:prstGeom>
          <a:solidFill>
            <a:srgbClr val="FFFFFF">
              <a:alpha val="2000"/>
            </a:srgbClr>
          </a:solidFill>
          <a:ln/>
        </p:spPr>
      </p:sp>
      <p:sp>
        <p:nvSpPr>
          <p:cNvPr id="19" name="Shape 17"/>
          <p:cNvSpPr/>
          <p:nvPr/>
        </p:nvSpPr>
        <p:spPr>
          <a:xfrm>
            <a:off x="3767658" y="3348038"/>
            <a:ext cx="13605942" cy="9525"/>
          </a:xfrm>
          <a:prstGeom prst="rect">
            <a:avLst/>
          </a:prstGeom>
          <a:solidFill>
            <a:srgbClr val="2A2F3A"/>
          </a:solidFill>
          <a:ln/>
        </p:spPr>
      </p:sp>
      <p:sp>
        <p:nvSpPr>
          <p:cNvPr id="20" name="Text 18"/>
          <p:cNvSpPr/>
          <p:nvPr/>
        </p:nvSpPr>
        <p:spPr>
          <a:xfrm>
            <a:off x="3910533" y="2986088"/>
            <a:ext cx="1372837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Bias, accidental data leakage, reputational loss, accuracy/performance, IP risks, autonomous systems, shadow AI</a:t>
            </a:r>
            <a:endParaRPr lang="en-US" sz="17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36914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4.3</a:t>
            </a:r>
            <a:endParaRPr lang="en-US" sz="1575" dirty="0"/>
          </a:p>
        </p:txBody>
      </p:sp>
      <p:sp>
        <p:nvSpPr>
          <p:cNvPr id="4" name="Text 2"/>
          <p:cNvSpPr/>
          <p:nvPr/>
        </p:nvSpPr>
        <p:spPr>
          <a:xfrm>
            <a:off x="914400" y="4778722"/>
            <a:ext cx="18105120" cy="624780"/>
          </a:xfrm>
          <a:prstGeom prst="rect">
            <a:avLst/>
          </a:prstGeom>
          <a:noFill/>
          <a:ln/>
        </p:spPr>
        <p:txBody>
          <a:bodyPr wrap="square" lIns="25400" tIns="25400" rIns="25400" bIns="25400" rtlCol="0" anchor="t">
            <a:normAutofit/>
          </a:bodyPr>
          <a:lstStyle/>
          <a:p>
            <a:pPr algn="l" indent="0" marL="0">
              <a:lnSpc>
                <a:spcPct val="95504"/>
              </a:lnSpc>
              <a:buNone/>
            </a:pPr>
            <a:r>
              <a:rPr lang="en-US" sz="4200" b="1" dirty="0">
                <a:solidFill>
                  <a:srgbClr val="F5F7FB"/>
                </a:solidFill>
                <a:latin typeface="Arial" pitchFamily="34" charset="0"/>
                <a:ea typeface="Arial" pitchFamily="34" charset="-122"/>
                <a:cs typeface="Arial" pitchFamily="34" charset="-120"/>
              </a:rPr>
              <a:t>The Impact of Compliance on AI Business Use &amp; Development</a:t>
            </a:r>
            <a:endParaRPr lang="en-US" sz="4200" dirty="0"/>
          </a:p>
        </p:txBody>
      </p:sp>
      <p:sp>
        <p:nvSpPr>
          <p:cNvPr id="5" name="Text 3"/>
          <p:cNvSpPr/>
          <p:nvPr/>
        </p:nvSpPr>
        <p:spPr>
          <a:xfrm>
            <a:off x="914400" y="555590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Named regulatory frameworks, corporate policy distinctions, and cross-border data concerns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434754"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263304"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Regulatory Framework · 1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EU AI Act</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European Union legislation that classifies AI systems by risk level and imposes corresponding obligations, with some AI uses prohibited outright.</a:t>
            </a:r>
            <a:endParaRPr lang="en-US" sz="1800" dirty="0"/>
          </a:p>
        </p:txBody>
      </p:sp>
      <p:sp>
        <p:nvSpPr>
          <p:cNvPr id="7" name="Shape 5"/>
          <p:cNvSpPr/>
          <p:nvPr/>
        </p:nvSpPr>
        <p:spPr>
          <a:xfrm>
            <a:off x="914400" y="2440260"/>
            <a:ext cx="16459200"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2678385"/>
            <a:ext cx="17581245"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17581245"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Its risk-tiered structure has become a reference model other jurisdictions look to when drafting their own AI rules.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453580"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282130"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Regulatory Framework · 2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OECD Standards &amp; ISO AI Standards</a:t>
            </a:r>
            <a:endParaRPr lang="en-US" sz="4050" dirty="0"/>
          </a:p>
        </p:txBody>
      </p:sp>
      <p:sp>
        <p:nvSpPr>
          <p:cNvPr id="6" name="Shape 4"/>
          <p:cNvSpPr/>
          <p:nvPr/>
        </p:nvSpPr>
        <p:spPr>
          <a:xfrm>
            <a:off x="91440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OECD STANDARDS</a:t>
            </a:r>
            <a:endParaRPr lang="en-US" sz="1350" dirty="0"/>
          </a:p>
        </p:txBody>
      </p:sp>
      <p:sp>
        <p:nvSpPr>
          <p:cNvPr id="8" name="Text 6"/>
          <p:cNvSpPr/>
          <p:nvPr/>
        </p:nvSpPr>
        <p:spPr>
          <a:xfrm>
            <a:off x="115252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International principles for trustworthy AI, agreed across member governments.</a:t>
            </a:r>
            <a:endParaRPr lang="en-US" sz="1425" dirty="0"/>
          </a:p>
        </p:txBody>
      </p:sp>
      <p:sp>
        <p:nvSpPr>
          <p:cNvPr id="9" name="Shape 7"/>
          <p:cNvSpPr/>
          <p:nvPr/>
        </p:nvSpPr>
        <p:spPr>
          <a:xfrm>
            <a:off x="923925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ISO AI STANDARDS</a:t>
            </a:r>
            <a:endParaRPr lang="en-US" sz="1350" dirty="0"/>
          </a:p>
        </p:txBody>
      </p:sp>
      <p:sp>
        <p:nvSpPr>
          <p:cNvPr id="11" name="Text 9"/>
          <p:cNvSpPr/>
          <p:nvPr/>
        </p:nvSpPr>
        <p:spPr>
          <a:xfrm>
            <a:off x="947737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Formal international standards defining AI management systems and terminology organisations can certify against.</a:t>
            </a:r>
            <a:endParaRPr lang="en-US" sz="14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45722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285777"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Regulatory Framework · 3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NIST AI Risk Management Framework (AIRMF)</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 U.S. National Institute of Standards and Technology framework providing structured guidance for identifying, measuring, and managing AI risk throughout its lifecycle.</a:t>
            </a:r>
            <a:endParaRPr lang="en-US" sz="1800" dirty="0"/>
          </a:p>
        </p:txBody>
      </p:sp>
      <p:sp>
        <p:nvSpPr>
          <p:cNvPr id="7" name="Shape 5"/>
          <p:cNvSpPr/>
          <p:nvPr/>
        </p:nvSpPr>
        <p:spPr>
          <a:xfrm>
            <a:off x="914400" y="2440260"/>
            <a:ext cx="16459200"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2678385"/>
            <a:ext cx="17581245"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17581245"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One of the most commonly referenced practical risk-management frameworks for AI governance programmes.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459831"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288381"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Regulatory Framework · 4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Data Sovereignty &amp; Third-Party Compliance Evaluations</a:t>
            </a:r>
            <a:endParaRPr lang="en-US" sz="4050" dirty="0"/>
          </a:p>
        </p:txBody>
      </p:sp>
      <p:sp>
        <p:nvSpPr>
          <p:cNvPr id="6" name="Shape 4"/>
          <p:cNvSpPr/>
          <p:nvPr/>
        </p:nvSpPr>
        <p:spPr>
          <a:xfrm>
            <a:off x="91440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DATA SOVEREIGNTY</a:t>
            </a:r>
            <a:endParaRPr lang="en-US" sz="1350" dirty="0"/>
          </a:p>
        </p:txBody>
      </p:sp>
      <p:sp>
        <p:nvSpPr>
          <p:cNvPr id="8" name="Text 6"/>
          <p:cNvSpPr/>
          <p:nvPr/>
        </p:nvSpPr>
        <p:spPr>
          <a:xfrm>
            <a:off x="115252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Data is subject to the laws of the country in which it is collected or stored — a major constraint on where AI training or inference can legally happen.</a:t>
            </a:r>
            <a:endParaRPr lang="en-US" sz="1425" dirty="0"/>
          </a:p>
        </p:txBody>
      </p:sp>
      <p:sp>
        <p:nvSpPr>
          <p:cNvPr id="9" name="Shape 7"/>
          <p:cNvSpPr/>
          <p:nvPr/>
        </p:nvSpPr>
        <p:spPr>
          <a:xfrm>
            <a:off x="923925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THIRD-PARTY COMPLIANCE EVALUATIONS</a:t>
            </a:r>
            <a:endParaRPr lang="en-US" sz="1350" dirty="0"/>
          </a:p>
        </p:txBody>
      </p:sp>
      <p:sp>
        <p:nvSpPr>
          <p:cNvPr id="11" name="Text 9"/>
          <p:cNvSpPr/>
          <p:nvPr/>
        </p:nvSpPr>
        <p:spPr>
          <a:xfrm>
            <a:off x="947737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Independent assessments confirming a vendor's AI system meets required regulatory or contractual standards.</a:t>
            </a:r>
            <a:endParaRPr lang="en-US" sz="14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832050"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669362"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Corporate Policy Distinction · 1 of 2</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Sanctioned vs Unsanctioned AI</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Sanctioned AI has gone through formal organisational approval; unsanctioned AI has not — the corporate-policy framing of the shadow AI risk covered in Objective 4.2.</a:t>
            </a:r>
            <a:endParaRPr lang="en-US" sz="1800" dirty="0"/>
          </a:p>
        </p:txBody>
      </p:sp>
      <p:sp>
        <p:nvSpPr>
          <p:cNvPr id="7" name="Shape 5"/>
          <p:cNvSpPr/>
          <p:nvPr/>
        </p:nvSpPr>
        <p:spPr>
          <a:xfrm>
            <a:off x="914400" y="2440260"/>
            <a:ext cx="16459200"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2678385"/>
            <a:ext cx="17581245"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17581245"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Policy is what actually defines the line between the two — without it, "unsanctioned" cannot be enforced.</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85087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68875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Corporate Policy Distinction · 2 of 2</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Private vs Public Models &amp; Sensitive Data Governance</a:t>
            </a:r>
            <a:endParaRPr lang="en-US" sz="4050" dirty="0"/>
          </a:p>
        </p:txBody>
      </p:sp>
      <p:sp>
        <p:nvSpPr>
          <p:cNvPr id="6" name="Shape 4"/>
          <p:cNvSpPr/>
          <p:nvPr/>
        </p:nvSpPr>
        <p:spPr>
          <a:xfrm>
            <a:off x="91440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7" name="Text 5"/>
          <p:cNvSpPr/>
          <p:nvPr/>
        </p:nvSpPr>
        <p:spPr>
          <a:xfrm>
            <a:off x="115252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PRIVATE VS PUBLIC MODELS</a:t>
            </a:r>
            <a:endParaRPr lang="en-US" sz="1350" dirty="0"/>
          </a:p>
        </p:txBody>
      </p:sp>
      <p:sp>
        <p:nvSpPr>
          <p:cNvPr id="8" name="Text 6"/>
          <p:cNvSpPr/>
          <p:nvPr/>
        </p:nvSpPr>
        <p:spPr>
          <a:xfrm>
            <a:off x="1152525" y="2452688"/>
            <a:ext cx="7887843" cy="581025"/>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Whether a model runs in a dedicated, controlled environment or a shared public service determines who else could ever see submitted data.</a:t>
            </a:r>
            <a:endParaRPr lang="en-US" sz="1425" dirty="0"/>
          </a:p>
        </p:txBody>
      </p:sp>
      <p:sp>
        <p:nvSpPr>
          <p:cNvPr id="9" name="Shape 7"/>
          <p:cNvSpPr/>
          <p:nvPr/>
        </p:nvSpPr>
        <p:spPr>
          <a:xfrm>
            <a:off x="9239250" y="1933575"/>
            <a:ext cx="8134350" cy="1300163"/>
          </a:xfrm>
          <a:prstGeom prst="roundRect">
            <a:avLst>
              <a:gd name="adj" fmla="val 11722"/>
            </a:avLst>
          </a:prstGeom>
          <a:solidFill>
            <a:srgbClr val="FFFFFF">
              <a:alpha val="2000"/>
            </a:srgbClr>
          </a:solidFill>
          <a:ln w="9525">
            <a:solidFill>
              <a:srgbClr val="2A2F3A"/>
            </a:solidFill>
            <a:prstDash val="solid"/>
          </a:ln>
        </p:spPr>
      </p:sp>
      <p:sp>
        <p:nvSpPr>
          <p:cNvPr id="10" name="Text 8"/>
          <p:cNvSpPr/>
          <p:nvPr/>
        </p:nvSpPr>
        <p:spPr>
          <a:xfrm>
            <a:off x="9477375" y="2171700"/>
            <a:ext cx="842391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SENSITIVE DATA GOVERNANCE</a:t>
            </a:r>
            <a:endParaRPr lang="en-US" sz="1350" dirty="0"/>
          </a:p>
        </p:txBody>
      </p:sp>
      <p:sp>
        <p:nvSpPr>
          <p:cNvPr id="11" name="Text 9"/>
          <p:cNvSpPr/>
          <p:nvPr/>
        </p:nvSpPr>
        <p:spPr>
          <a:xfrm>
            <a:off x="9477375" y="2452688"/>
            <a:ext cx="8423910" cy="309563"/>
          </a:xfrm>
          <a:prstGeom prst="rect">
            <a:avLst/>
          </a:prstGeom>
          <a:noFill/>
          <a:ln/>
        </p:spPr>
        <p:txBody>
          <a:bodyPr wrap="square" lIns="25400" tIns="25400" rIns="25400" bIns="25400" rtlCol="0" anchor="t">
            <a:normAutofit/>
          </a:bodyPr>
          <a:lstStyle/>
          <a:p>
            <a:pPr algn="l" indent="0" marL="0">
              <a:lnSpc>
                <a:spcPct val="132558"/>
              </a:lnSpc>
              <a:buNone/>
            </a:pPr>
            <a:r>
              <a:rPr lang="en-US" sz="1425" dirty="0">
                <a:solidFill>
                  <a:srgbClr val="B8C0CF"/>
                </a:solidFill>
                <a:latin typeface="Arial" pitchFamily="34" charset="0"/>
                <a:ea typeface="Arial" pitchFamily="34" charset="-122"/>
                <a:cs typeface="Arial" pitchFamily="34" charset="-120"/>
              </a:rPr>
              <a:t>Formal rules for what sensitivity of data may ever be sent to which type of model.</a:t>
            </a:r>
            <a:endParaRPr lang="en-US" sz="14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4.3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Frameworks + Policy + Sovereignty</a:t>
            </a:r>
            <a:endParaRPr lang="en-US" sz="4050" dirty="0"/>
          </a:p>
        </p:txBody>
      </p:sp>
      <p:sp>
        <p:nvSpPr>
          <p:cNvPr id="5" name="Shape 3"/>
          <p:cNvSpPr/>
          <p:nvPr/>
        </p:nvSpPr>
        <p:spPr>
          <a:xfrm>
            <a:off x="914400" y="1890713"/>
            <a:ext cx="3926384" cy="514350"/>
          </a:xfrm>
          <a:prstGeom prst="rect">
            <a:avLst/>
          </a:prstGeom>
          <a:solidFill>
            <a:srgbClr val="FF6A00">
              <a:alpha val="18000"/>
            </a:srgbClr>
          </a:solidFill>
          <a:ln/>
        </p:spPr>
      </p:sp>
      <p:sp>
        <p:nvSpPr>
          <p:cNvPr id="6" name="Shape 4"/>
          <p:cNvSpPr/>
          <p:nvPr/>
        </p:nvSpPr>
        <p:spPr>
          <a:xfrm>
            <a:off x="914400" y="2395538"/>
            <a:ext cx="3926384" cy="9525"/>
          </a:xfrm>
          <a:prstGeom prst="rect">
            <a:avLst/>
          </a:prstGeom>
          <a:solidFill>
            <a:srgbClr val="B85100"/>
          </a:solidFill>
          <a:ln/>
        </p:spPr>
      </p:sp>
      <p:sp>
        <p:nvSpPr>
          <p:cNvPr id="7" name="Text 5"/>
          <p:cNvSpPr/>
          <p:nvPr/>
        </p:nvSpPr>
        <p:spPr>
          <a:xfrm>
            <a:off x="1057275" y="1995488"/>
            <a:ext cx="3758425"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Category</a:t>
            </a:r>
            <a:endParaRPr lang="en-US" sz="2025" dirty="0"/>
          </a:p>
        </p:txBody>
      </p:sp>
      <p:sp>
        <p:nvSpPr>
          <p:cNvPr id="8" name="Shape 6"/>
          <p:cNvSpPr/>
          <p:nvPr/>
        </p:nvSpPr>
        <p:spPr>
          <a:xfrm>
            <a:off x="4840784" y="1890713"/>
            <a:ext cx="12532816" cy="514350"/>
          </a:xfrm>
          <a:prstGeom prst="rect">
            <a:avLst/>
          </a:prstGeom>
          <a:solidFill>
            <a:srgbClr val="FF6A00">
              <a:alpha val="18000"/>
            </a:srgbClr>
          </a:solidFill>
          <a:ln/>
        </p:spPr>
      </p:sp>
      <p:sp>
        <p:nvSpPr>
          <p:cNvPr id="9" name="Shape 7"/>
          <p:cNvSpPr/>
          <p:nvPr/>
        </p:nvSpPr>
        <p:spPr>
          <a:xfrm>
            <a:off x="4840784" y="2395538"/>
            <a:ext cx="12532816" cy="9525"/>
          </a:xfrm>
          <a:prstGeom prst="rect">
            <a:avLst/>
          </a:prstGeom>
          <a:solidFill>
            <a:srgbClr val="B85100"/>
          </a:solidFill>
          <a:ln/>
        </p:spPr>
      </p:sp>
      <p:sp>
        <p:nvSpPr>
          <p:cNvPr id="10" name="Text 8"/>
          <p:cNvSpPr/>
          <p:nvPr/>
        </p:nvSpPr>
        <p:spPr>
          <a:xfrm>
            <a:off x="4983659" y="1995488"/>
            <a:ext cx="12623051"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Items</a:t>
            </a:r>
            <a:endParaRPr lang="en-US" sz="2025" dirty="0"/>
          </a:p>
        </p:txBody>
      </p:sp>
      <p:sp>
        <p:nvSpPr>
          <p:cNvPr id="11" name="Shape 9"/>
          <p:cNvSpPr/>
          <p:nvPr/>
        </p:nvSpPr>
        <p:spPr>
          <a:xfrm>
            <a:off x="914400" y="2871788"/>
            <a:ext cx="3926384" cy="9525"/>
          </a:xfrm>
          <a:prstGeom prst="rect">
            <a:avLst/>
          </a:prstGeom>
          <a:solidFill>
            <a:srgbClr val="2A2F3A"/>
          </a:solidFill>
          <a:ln/>
        </p:spPr>
      </p:sp>
      <p:sp>
        <p:nvSpPr>
          <p:cNvPr id="12" name="Text 10"/>
          <p:cNvSpPr/>
          <p:nvPr/>
        </p:nvSpPr>
        <p:spPr>
          <a:xfrm>
            <a:off x="1057275" y="2509838"/>
            <a:ext cx="375842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Regulatory frameworks</a:t>
            </a:r>
            <a:endParaRPr lang="en-US" sz="1725" dirty="0"/>
          </a:p>
        </p:txBody>
      </p:sp>
      <p:sp>
        <p:nvSpPr>
          <p:cNvPr id="13" name="Shape 11"/>
          <p:cNvSpPr/>
          <p:nvPr/>
        </p:nvSpPr>
        <p:spPr>
          <a:xfrm>
            <a:off x="4840784" y="2871788"/>
            <a:ext cx="12532816" cy="9525"/>
          </a:xfrm>
          <a:prstGeom prst="rect">
            <a:avLst/>
          </a:prstGeom>
          <a:solidFill>
            <a:srgbClr val="2A2F3A"/>
          </a:solidFill>
          <a:ln/>
        </p:spPr>
      </p:sp>
      <p:sp>
        <p:nvSpPr>
          <p:cNvPr id="14" name="Text 12"/>
          <p:cNvSpPr/>
          <p:nvPr/>
        </p:nvSpPr>
        <p:spPr>
          <a:xfrm>
            <a:off x="4983659" y="2509838"/>
            <a:ext cx="1262305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EU AI Act, OECD standards, ISO AI standards, NIST AIRMF</a:t>
            </a:r>
            <a:endParaRPr lang="en-US" sz="1725" dirty="0"/>
          </a:p>
        </p:txBody>
      </p:sp>
      <p:sp>
        <p:nvSpPr>
          <p:cNvPr id="15" name="Shape 13"/>
          <p:cNvSpPr/>
          <p:nvPr/>
        </p:nvSpPr>
        <p:spPr>
          <a:xfrm>
            <a:off x="914400" y="2881313"/>
            <a:ext cx="3926384" cy="476250"/>
          </a:xfrm>
          <a:prstGeom prst="rect">
            <a:avLst/>
          </a:prstGeom>
          <a:solidFill>
            <a:srgbClr val="FFFFFF">
              <a:alpha val="2000"/>
            </a:srgbClr>
          </a:solidFill>
          <a:ln/>
        </p:spPr>
      </p:sp>
      <p:sp>
        <p:nvSpPr>
          <p:cNvPr id="16" name="Shape 14"/>
          <p:cNvSpPr/>
          <p:nvPr/>
        </p:nvSpPr>
        <p:spPr>
          <a:xfrm>
            <a:off x="914400" y="3348038"/>
            <a:ext cx="3926384" cy="9525"/>
          </a:xfrm>
          <a:prstGeom prst="rect">
            <a:avLst/>
          </a:prstGeom>
          <a:solidFill>
            <a:srgbClr val="2A2F3A"/>
          </a:solidFill>
          <a:ln/>
        </p:spPr>
      </p:sp>
      <p:sp>
        <p:nvSpPr>
          <p:cNvPr id="17" name="Text 15"/>
          <p:cNvSpPr/>
          <p:nvPr/>
        </p:nvSpPr>
        <p:spPr>
          <a:xfrm>
            <a:off x="1057275" y="2986088"/>
            <a:ext cx="375842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Corporate policy</a:t>
            </a:r>
            <a:endParaRPr lang="en-US" sz="1725" dirty="0"/>
          </a:p>
        </p:txBody>
      </p:sp>
      <p:sp>
        <p:nvSpPr>
          <p:cNvPr id="18" name="Shape 16"/>
          <p:cNvSpPr/>
          <p:nvPr/>
        </p:nvSpPr>
        <p:spPr>
          <a:xfrm>
            <a:off x="4840784" y="2881313"/>
            <a:ext cx="12532816" cy="476250"/>
          </a:xfrm>
          <a:prstGeom prst="rect">
            <a:avLst/>
          </a:prstGeom>
          <a:solidFill>
            <a:srgbClr val="FFFFFF">
              <a:alpha val="2000"/>
            </a:srgbClr>
          </a:solidFill>
          <a:ln/>
        </p:spPr>
      </p:sp>
      <p:sp>
        <p:nvSpPr>
          <p:cNvPr id="19" name="Shape 17"/>
          <p:cNvSpPr/>
          <p:nvPr/>
        </p:nvSpPr>
        <p:spPr>
          <a:xfrm>
            <a:off x="4840784" y="3348038"/>
            <a:ext cx="12532816" cy="9525"/>
          </a:xfrm>
          <a:prstGeom prst="rect">
            <a:avLst/>
          </a:prstGeom>
          <a:solidFill>
            <a:srgbClr val="2A2F3A"/>
          </a:solidFill>
          <a:ln/>
        </p:spPr>
      </p:sp>
      <p:sp>
        <p:nvSpPr>
          <p:cNvPr id="20" name="Text 18"/>
          <p:cNvSpPr/>
          <p:nvPr/>
        </p:nvSpPr>
        <p:spPr>
          <a:xfrm>
            <a:off x="4983659" y="2986088"/>
            <a:ext cx="1262305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Sanctioned vs unsanctioned, private vs public models, sensitive data governance</a:t>
            </a:r>
            <a:endParaRPr lang="en-US" sz="1725" dirty="0"/>
          </a:p>
        </p:txBody>
      </p:sp>
      <p:sp>
        <p:nvSpPr>
          <p:cNvPr id="21" name="Shape 19"/>
          <p:cNvSpPr/>
          <p:nvPr/>
        </p:nvSpPr>
        <p:spPr>
          <a:xfrm>
            <a:off x="914400" y="3824288"/>
            <a:ext cx="3926384" cy="9525"/>
          </a:xfrm>
          <a:prstGeom prst="rect">
            <a:avLst/>
          </a:prstGeom>
          <a:solidFill>
            <a:srgbClr val="2A2F3A"/>
          </a:solidFill>
          <a:ln/>
        </p:spPr>
      </p:sp>
      <p:sp>
        <p:nvSpPr>
          <p:cNvPr id="22" name="Text 20"/>
          <p:cNvSpPr/>
          <p:nvPr/>
        </p:nvSpPr>
        <p:spPr>
          <a:xfrm>
            <a:off x="1057275" y="3462338"/>
            <a:ext cx="375842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Cross-border</a:t>
            </a:r>
            <a:endParaRPr lang="en-US" sz="1725" dirty="0"/>
          </a:p>
        </p:txBody>
      </p:sp>
      <p:sp>
        <p:nvSpPr>
          <p:cNvPr id="23" name="Shape 21"/>
          <p:cNvSpPr/>
          <p:nvPr/>
        </p:nvSpPr>
        <p:spPr>
          <a:xfrm>
            <a:off x="4840784" y="3824288"/>
            <a:ext cx="12532816" cy="9525"/>
          </a:xfrm>
          <a:prstGeom prst="rect">
            <a:avLst/>
          </a:prstGeom>
          <a:solidFill>
            <a:srgbClr val="2A2F3A"/>
          </a:solidFill>
          <a:ln/>
        </p:spPr>
      </p:sp>
      <p:sp>
        <p:nvSpPr>
          <p:cNvPr id="24" name="Text 22"/>
          <p:cNvSpPr/>
          <p:nvPr/>
        </p:nvSpPr>
        <p:spPr>
          <a:xfrm>
            <a:off x="4983659" y="3462338"/>
            <a:ext cx="12623051"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Third-party compliance evaluations, data sovereignty</a:t>
            </a:r>
            <a:endParaRPr lang="en-US" sz="17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APPLIED SCENARIO</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An Unapproved Chatbot in Finance</a:t>
            </a:r>
            <a:endParaRPr lang="en-US" sz="4050" dirty="0"/>
          </a:p>
        </p:txBody>
      </p:sp>
      <p:sp>
        <p:nvSpPr>
          <p:cNvPr id="5" name="Shape 3"/>
          <p:cNvSpPr/>
          <p:nvPr/>
        </p:nvSpPr>
        <p:spPr>
          <a:xfrm>
            <a:off x="914400" y="1871663"/>
            <a:ext cx="16459200" cy="1481956"/>
          </a:xfrm>
          <a:prstGeom prst="roundRect">
            <a:avLst>
              <a:gd name="adj" fmla="val 10284"/>
            </a:avLst>
          </a:prstGeom>
          <a:solidFill>
            <a:srgbClr val="FFFFFF">
              <a:alpha val="2000"/>
            </a:srgbClr>
          </a:solidFill>
          <a:ln w="9525">
            <a:solidFill>
              <a:srgbClr val="2A2F3A"/>
            </a:solidFill>
            <a:prstDash val="solid"/>
          </a:ln>
        </p:spPr>
      </p:sp>
      <p:sp>
        <p:nvSpPr>
          <p:cNvPr id="6" name="Text 4"/>
          <p:cNvSpPr/>
          <p:nvPr/>
        </p:nvSpPr>
        <p:spPr>
          <a:xfrm>
            <a:off x="1152525" y="2109788"/>
            <a:ext cx="16476726" cy="1043806"/>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A finance team has been pasting draft contracts into a free public chatbot to summarise them — no one in IT approved this. Which named risk and corporate policy distinction does this describe? Which role (Objective 4.1) should have caught this, and which regulatory framework would most directly apply if the contracts contain EU citizens' personal data?</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Identifying Governance Gaps</a:t>
            </a:r>
            <a:endParaRPr lang="en-US" sz="4050" dirty="0"/>
          </a:p>
        </p:txBody>
      </p:sp>
      <p:sp>
        <p:nvSpPr>
          <p:cNvPr id="5" name="Shape 3"/>
          <p:cNvSpPr/>
          <p:nvPr/>
        </p:nvSpPr>
        <p:spPr>
          <a:xfrm>
            <a:off x="914400" y="1871663"/>
            <a:ext cx="16459200" cy="811485"/>
          </a:xfrm>
          <a:prstGeom prst="roundRect">
            <a:avLst>
              <a:gd name="adj" fmla="val 18780"/>
            </a:avLst>
          </a:prstGeom>
          <a:solidFill>
            <a:srgbClr val="FFFFFF">
              <a:alpha val="2000"/>
            </a:srgbClr>
          </a:solidFill>
          <a:ln w="9525">
            <a:solidFill>
              <a:srgbClr val="2A2F3A"/>
            </a:solidFill>
            <a:prstDash val="solid"/>
          </a:ln>
        </p:spPr>
      </p:sp>
      <p:sp>
        <p:nvSpPr>
          <p:cNvPr id="6" name="Text 4"/>
          <p:cNvSpPr/>
          <p:nvPr/>
        </p:nvSpPr>
        <p:spPr>
          <a:xfrm>
            <a:off x="1152525" y="2109788"/>
            <a:ext cx="16476726" cy="373335"/>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an organisation's AI adoption description, identify which structures, roles, or policies from Objective 4.1 are missing or under-resourced.</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Assessing AI Risk Against Responsible AI Principles</a:t>
            </a:r>
            <a:endParaRPr lang="en-US" sz="4050" dirty="0"/>
          </a:p>
        </p:txBody>
      </p:sp>
      <p:sp>
        <p:nvSpPr>
          <p:cNvPr id="5" name="Shape 3"/>
          <p:cNvSpPr/>
          <p:nvPr/>
        </p:nvSpPr>
        <p:spPr>
          <a:xfrm>
            <a:off x="914400" y="1871663"/>
            <a:ext cx="16459200" cy="811485"/>
          </a:xfrm>
          <a:prstGeom prst="roundRect">
            <a:avLst>
              <a:gd name="adj" fmla="val 18780"/>
            </a:avLst>
          </a:prstGeom>
          <a:solidFill>
            <a:srgbClr val="FFFFFF">
              <a:alpha val="2000"/>
            </a:srgbClr>
          </a:solidFill>
          <a:ln w="9525">
            <a:solidFill>
              <a:srgbClr val="2A2F3A"/>
            </a:solidFill>
            <a:prstDash val="solid"/>
          </a:ln>
        </p:spPr>
      </p:sp>
      <p:sp>
        <p:nvSpPr>
          <p:cNvPr id="6" name="Text 4"/>
          <p:cNvSpPr/>
          <p:nvPr/>
        </p:nvSpPr>
        <p:spPr>
          <a:xfrm>
            <a:off x="1152525" y="2109788"/>
            <a:ext cx="16476726" cy="373335"/>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described AI deployment, identify which responsible AI principles are at risk of being violated and which named risk category best applies.</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Summarising Compliance Impact on an AI Initiative</a:t>
            </a:r>
            <a:endParaRPr lang="en-US" sz="4050" dirty="0"/>
          </a:p>
        </p:txBody>
      </p:sp>
      <p:sp>
        <p:nvSpPr>
          <p:cNvPr id="5" name="Shape 3"/>
          <p:cNvSpPr/>
          <p:nvPr/>
        </p:nvSpPr>
        <p:spPr>
          <a:xfrm>
            <a:off x="914400" y="1871663"/>
            <a:ext cx="16459200" cy="811485"/>
          </a:xfrm>
          <a:prstGeom prst="roundRect">
            <a:avLst>
              <a:gd name="adj" fmla="val 18780"/>
            </a:avLst>
          </a:prstGeom>
          <a:solidFill>
            <a:srgbClr val="FFFFFF">
              <a:alpha val="2000"/>
            </a:srgbClr>
          </a:solidFill>
          <a:ln w="9525">
            <a:solidFill>
              <a:srgbClr val="2A2F3A"/>
            </a:solidFill>
            <a:prstDash val="solid"/>
          </a:ln>
        </p:spPr>
      </p:sp>
      <p:sp>
        <p:nvSpPr>
          <p:cNvPr id="6" name="Text 4"/>
          <p:cNvSpPr/>
          <p:nvPr/>
        </p:nvSpPr>
        <p:spPr>
          <a:xfrm>
            <a:off x="1152525" y="2109788"/>
            <a:ext cx="16476726" cy="373335"/>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cross-border AI use case, identify which regulatory frameworks and data sovereignty considerations apply, and how corporate policy should respond.</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ACRONYM SPOTLIGHT</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Key Acronyms From This Module</a:t>
            </a:r>
            <a:endParaRPr lang="en-US" sz="4050" dirty="0"/>
          </a:p>
        </p:txBody>
      </p:sp>
      <p:sp>
        <p:nvSpPr>
          <p:cNvPr id="5" name="Shape 3"/>
          <p:cNvSpPr/>
          <p:nvPr/>
        </p:nvSpPr>
        <p:spPr>
          <a:xfrm>
            <a:off x="914400" y="1871663"/>
            <a:ext cx="3140050" cy="514350"/>
          </a:xfrm>
          <a:prstGeom prst="rect">
            <a:avLst/>
          </a:prstGeom>
          <a:solidFill>
            <a:srgbClr val="FF6A00">
              <a:alpha val="18000"/>
            </a:srgbClr>
          </a:solidFill>
          <a:ln/>
        </p:spPr>
      </p:sp>
      <p:sp>
        <p:nvSpPr>
          <p:cNvPr id="6" name="Shape 4"/>
          <p:cNvSpPr/>
          <p:nvPr/>
        </p:nvSpPr>
        <p:spPr>
          <a:xfrm>
            <a:off x="914400" y="2376488"/>
            <a:ext cx="3140050" cy="9525"/>
          </a:xfrm>
          <a:prstGeom prst="rect">
            <a:avLst/>
          </a:prstGeom>
          <a:solidFill>
            <a:srgbClr val="B85100"/>
          </a:solidFill>
          <a:ln/>
        </p:spPr>
      </p:sp>
      <p:sp>
        <p:nvSpPr>
          <p:cNvPr id="7" name="Text 5"/>
          <p:cNvSpPr/>
          <p:nvPr/>
        </p:nvSpPr>
        <p:spPr>
          <a:xfrm>
            <a:off x="1057275" y="1976438"/>
            <a:ext cx="2948502"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Acronym</a:t>
            </a:r>
            <a:endParaRPr lang="en-US" sz="2025" dirty="0"/>
          </a:p>
        </p:txBody>
      </p:sp>
      <p:sp>
        <p:nvSpPr>
          <p:cNvPr id="8" name="Shape 6"/>
          <p:cNvSpPr/>
          <p:nvPr/>
        </p:nvSpPr>
        <p:spPr>
          <a:xfrm>
            <a:off x="4054450" y="1871663"/>
            <a:ext cx="13319150" cy="514350"/>
          </a:xfrm>
          <a:prstGeom prst="rect">
            <a:avLst/>
          </a:prstGeom>
          <a:solidFill>
            <a:srgbClr val="FF6A00">
              <a:alpha val="18000"/>
            </a:srgbClr>
          </a:solidFill>
          <a:ln/>
        </p:spPr>
      </p:sp>
      <p:sp>
        <p:nvSpPr>
          <p:cNvPr id="9" name="Shape 7"/>
          <p:cNvSpPr/>
          <p:nvPr/>
        </p:nvSpPr>
        <p:spPr>
          <a:xfrm>
            <a:off x="4054450" y="2376488"/>
            <a:ext cx="13319150" cy="9525"/>
          </a:xfrm>
          <a:prstGeom prst="rect">
            <a:avLst/>
          </a:prstGeom>
          <a:solidFill>
            <a:srgbClr val="B85100"/>
          </a:solidFill>
          <a:ln/>
        </p:spPr>
      </p:sp>
      <p:sp>
        <p:nvSpPr>
          <p:cNvPr id="10" name="Text 8"/>
          <p:cNvSpPr/>
          <p:nvPr/>
        </p:nvSpPr>
        <p:spPr>
          <a:xfrm>
            <a:off x="4197325" y="1976438"/>
            <a:ext cx="13432974"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Definition</a:t>
            </a:r>
            <a:endParaRPr lang="en-US" sz="2025" dirty="0"/>
          </a:p>
        </p:txBody>
      </p:sp>
      <p:sp>
        <p:nvSpPr>
          <p:cNvPr id="11" name="Shape 9"/>
          <p:cNvSpPr/>
          <p:nvPr/>
        </p:nvSpPr>
        <p:spPr>
          <a:xfrm>
            <a:off x="914400" y="2852738"/>
            <a:ext cx="3140050" cy="9525"/>
          </a:xfrm>
          <a:prstGeom prst="rect">
            <a:avLst/>
          </a:prstGeom>
          <a:solidFill>
            <a:srgbClr val="2A2F3A"/>
          </a:solidFill>
          <a:ln/>
        </p:spPr>
      </p:sp>
      <p:sp>
        <p:nvSpPr>
          <p:cNvPr id="12" name="Text 10"/>
          <p:cNvSpPr/>
          <p:nvPr/>
        </p:nvSpPr>
        <p:spPr>
          <a:xfrm>
            <a:off x="1057275" y="2490788"/>
            <a:ext cx="29485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EU</a:t>
            </a:r>
            <a:endParaRPr lang="en-US" sz="1725" dirty="0"/>
          </a:p>
        </p:txBody>
      </p:sp>
      <p:sp>
        <p:nvSpPr>
          <p:cNvPr id="13" name="Shape 11"/>
          <p:cNvSpPr/>
          <p:nvPr/>
        </p:nvSpPr>
        <p:spPr>
          <a:xfrm>
            <a:off x="4054450" y="2852738"/>
            <a:ext cx="13319150" cy="9525"/>
          </a:xfrm>
          <a:prstGeom prst="rect">
            <a:avLst/>
          </a:prstGeom>
          <a:solidFill>
            <a:srgbClr val="2A2F3A"/>
          </a:solidFill>
          <a:ln/>
        </p:spPr>
      </p:sp>
      <p:sp>
        <p:nvSpPr>
          <p:cNvPr id="14" name="Text 12"/>
          <p:cNvSpPr/>
          <p:nvPr/>
        </p:nvSpPr>
        <p:spPr>
          <a:xfrm>
            <a:off x="4197325" y="2490788"/>
            <a:ext cx="1343297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European Union</a:t>
            </a:r>
            <a:endParaRPr lang="en-US" sz="1725" dirty="0"/>
          </a:p>
        </p:txBody>
      </p:sp>
      <p:sp>
        <p:nvSpPr>
          <p:cNvPr id="15" name="Shape 13"/>
          <p:cNvSpPr/>
          <p:nvPr/>
        </p:nvSpPr>
        <p:spPr>
          <a:xfrm>
            <a:off x="914400" y="2862263"/>
            <a:ext cx="3140050" cy="476250"/>
          </a:xfrm>
          <a:prstGeom prst="rect">
            <a:avLst/>
          </a:prstGeom>
          <a:solidFill>
            <a:srgbClr val="FFFFFF">
              <a:alpha val="2000"/>
            </a:srgbClr>
          </a:solidFill>
          <a:ln/>
        </p:spPr>
      </p:sp>
      <p:sp>
        <p:nvSpPr>
          <p:cNvPr id="16" name="Shape 14"/>
          <p:cNvSpPr/>
          <p:nvPr/>
        </p:nvSpPr>
        <p:spPr>
          <a:xfrm>
            <a:off x="914400" y="3328988"/>
            <a:ext cx="3140050" cy="9525"/>
          </a:xfrm>
          <a:prstGeom prst="rect">
            <a:avLst/>
          </a:prstGeom>
          <a:solidFill>
            <a:srgbClr val="2A2F3A"/>
          </a:solidFill>
          <a:ln/>
        </p:spPr>
      </p:sp>
      <p:sp>
        <p:nvSpPr>
          <p:cNvPr id="17" name="Text 15"/>
          <p:cNvSpPr/>
          <p:nvPr/>
        </p:nvSpPr>
        <p:spPr>
          <a:xfrm>
            <a:off x="1057275" y="2967038"/>
            <a:ext cx="29485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OECD</a:t>
            </a:r>
            <a:endParaRPr lang="en-US" sz="1725" dirty="0"/>
          </a:p>
        </p:txBody>
      </p:sp>
      <p:sp>
        <p:nvSpPr>
          <p:cNvPr id="18" name="Shape 16"/>
          <p:cNvSpPr/>
          <p:nvPr/>
        </p:nvSpPr>
        <p:spPr>
          <a:xfrm>
            <a:off x="4054450" y="2862263"/>
            <a:ext cx="13319150" cy="476250"/>
          </a:xfrm>
          <a:prstGeom prst="rect">
            <a:avLst/>
          </a:prstGeom>
          <a:solidFill>
            <a:srgbClr val="FFFFFF">
              <a:alpha val="2000"/>
            </a:srgbClr>
          </a:solidFill>
          <a:ln/>
        </p:spPr>
      </p:sp>
      <p:sp>
        <p:nvSpPr>
          <p:cNvPr id="19" name="Shape 17"/>
          <p:cNvSpPr/>
          <p:nvPr/>
        </p:nvSpPr>
        <p:spPr>
          <a:xfrm>
            <a:off x="4054450" y="3328988"/>
            <a:ext cx="13319150" cy="9525"/>
          </a:xfrm>
          <a:prstGeom prst="rect">
            <a:avLst/>
          </a:prstGeom>
          <a:solidFill>
            <a:srgbClr val="2A2F3A"/>
          </a:solidFill>
          <a:ln/>
        </p:spPr>
      </p:sp>
      <p:sp>
        <p:nvSpPr>
          <p:cNvPr id="20" name="Text 18"/>
          <p:cNvSpPr/>
          <p:nvPr/>
        </p:nvSpPr>
        <p:spPr>
          <a:xfrm>
            <a:off x="4197325" y="2967038"/>
            <a:ext cx="1343297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Organisation for Economic Co-operation and Development</a:t>
            </a:r>
            <a:endParaRPr lang="en-US" sz="1725" dirty="0"/>
          </a:p>
        </p:txBody>
      </p:sp>
      <p:sp>
        <p:nvSpPr>
          <p:cNvPr id="21" name="Shape 19"/>
          <p:cNvSpPr/>
          <p:nvPr/>
        </p:nvSpPr>
        <p:spPr>
          <a:xfrm>
            <a:off x="914400" y="3805237"/>
            <a:ext cx="3140050" cy="9525"/>
          </a:xfrm>
          <a:prstGeom prst="rect">
            <a:avLst/>
          </a:prstGeom>
          <a:solidFill>
            <a:srgbClr val="2A2F3A"/>
          </a:solidFill>
          <a:ln/>
        </p:spPr>
      </p:sp>
      <p:sp>
        <p:nvSpPr>
          <p:cNvPr id="22" name="Text 20"/>
          <p:cNvSpPr/>
          <p:nvPr/>
        </p:nvSpPr>
        <p:spPr>
          <a:xfrm>
            <a:off x="1057275" y="3443288"/>
            <a:ext cx="29485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ISO</a:t>
            </a:r>
            <a:endParaRPr lang="en-US" sz="1725" dirty="0"/>
          </a:p>
        </p:txBody>
      </p:sp>
      <p:sp>
        <p:nvSpPr>
          <p:cNvPr id="23" name="Shape 21"/>
          <p:cNvSpPr/>
          <p:nvPr/>
        </p:nvSpPr>
        <p:spPr>
          <a:xfrm>
            <a:off x="4054450" y="3805237"/>
            <a:ext cx="13319150" cy="9525"/>
          </a:xfrm>
          <a:prstGeom prst="rect">
            <a:avLst/>
          </a:prstGeom>
          <a:solidFill>
            <a:srgbClr val="2A2F3A"/>
          </a:solidFill>
          <a:ln/>
        </p:spPr>
      </p:sp>
      <p:sp>
        <p:nvSpPr>
          <p:cNvPr id="24" name="Text 22"/>
          <p:cNvSpPr/>
          <p:nvPr/>
        </p:nvSpPr>
        <p:spPr>
          <a:xfrm>
            <a:off x="4197325" y="3443288"/>
            <a:ext cx="1343297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International Organization for Standardization</a:t>
            </a:r>
            <a:endParaRPr lang="en-US" sz="1725" dirty="0"/>
          </a:p>
        </p:txBody>
      </p:sp>
      <p:sp>
        <p:nvSpPr>
          <p:cNvPr id="25" name="Shape 23"/>
          <p:cNvSpPr/>
          <p:nvPr/>
        </p:nvSpPr>
        <p:spPr>
          <a:xfrm>
            <a:off x="914400" y="3814763"/>
            <a:ext cx="3140050" cy="476250"/>
          </a:xfrm>
          <a:prstGeom prst="rect">
            <a:avLst/>
          </a:prstGeom>
          <a:solidFill>
            <a:srgbClr val="FFFFFF">
              <a:alpha val="2000"/>
            </a:srgbClr>
          </a:solidFill>
          <a:ln/>
        </p:spPr>
      </p:sp>
      <p:sp>
        <p:nvSpPr>
          <p:cNvPr id="26" name="Shape 24"/>
          <p:cNvSpPr/>
          <p:nvPr/>
        </p:nvSpPr>
        <p:spPr>
          <a:xfrm>
            <a:off x="914400" y="4281488"/>
            <a:ext cx="3140050" cy="9525"/>
          </a:xfrm>
          <a:prstGeom prst="rect">
            <a:avLst/>
          </a:prstGeom>
          <a:solidFill>
            <a:srgbClr val="2A2F3A"/>
          </a:solidFill>
          <a:ln/>
        </p:spPr>
      </p:sp>
      <p:sp>
        <p:nvSpPr>
          <p:cNvPr id="27" name="Text 25"/>
          <p:cNvSpPr/>
          <p:nvPr/>
        </p:nvSpPr>
        <p:spPr>
          <a:xfrm>
            <a:off x="1057275" y="3919537"/>
            <a:ext cx="29485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NIST</a:t>
            </a:r>
            <a:endParaRPr lang="en-US" sz="1725" dirty="0"/>
          </a:p>
        </p:txBody>
      </p:sp>
      <p:sp>
        <p:nvSpPr>
          <p:cNvPr id="28" name="Shape 26"/>
          <p:cNvSpPr/>
          <p:nvPr/>
        </p:nvSpPr>
        <p:spPr>
          <a:xfrm>
            <a:off x="4054450" y="3814763"/>
            <a:ext cx="13319150" cy="476250"/>
          </a:xfrm>
          <a:prstGeom prst="rect">
            <a:avLst/>
          </a:prstGeom>
          <a:solidFill>
            <a:srgbClr val="FFFFFF">
              <a:alpha val="2000"/>
            </a:srgbClr>
          </a:solidFill>
          <a:ln/>
        </p:spPr>
      </p:sp>
      <p:sp>
        <p:nvSpPr>
          <p:cNvPr id="29" name="Shape 27"/>
          <p:cNvSpPr/>
          <p:nvPr/>
        </p:nvSpPr>
        <p:spPr>
          <a:xfrm>
            <a:off x="4054450" y="4281488"/>
            <a:ext cx="13319150" cy="9525"/>
          </a:xfrm>
          <a:prstGeom prst="rect">
            <a:avLst/>
          </a:prstGeom>
          <a:solidFill>
            <a:srgbClr val="2A2F3A"/>
          </a:solidFill>
          <a:ln/>
        </p:spPr>
      </p:sp>
      <p:sp>
        <p:nvSpPr>
          <p:cNvPr id="30" name="Text 28"/>
          <p:cNvSpPr/>
          <p:nvPr/>
        </p:nvSpPr>
        <p:spPr>
          <a:xfrm>
            <a:off x="4197325" y="3919537"/>
            <a:ext cx="1343297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National Institute of Standards and Technology</a:t>
            </a:r>
            <a:endParaRPr lang="en-US" sz="1725" dirty="0"/>
          </a:p>
        </p:txBody>
      </p:sp>
      <p:sp>
        <p:nvSpPr>
          <p:cNvPr id="31" name="Shape 29"/>
          <p:cNvSpPr/>
          <p:nvPr/>
        </p:nvSpPr>
        <p:spPr>
          <a:xfrm>
            <a:off x="914400" y="4757738"/>
            <a:ext cx="3140050" cy="9525"/>
          </a:xfrm>
          <a:prstGeom prst="rect">
            <a:avLst/>
          </a:prstGeom>
          <a:solidFill>
            <a:srgbClr val="2A2F3A"/>
          </a:solidFill>
          <a:ln/>
        </p:spPr>
      </p:sp>
      <p:sp>
        <p:nvSpPr>
          <p:cNvPr id="32" name="Text 30"/>
          <p:cNvSpPr/>
          <p:nvPr/>
        </p:nvSpPr>
        <p:spPr>
          <a:xfrm>
            <a:off x="1057275" y="4395787"/>
            <a:ext cx="29485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AIRMF</a:t>
            </a:r>
            <a:endParaRPr lang="en-US" sz="1725" dirty="0"/>
          </a:p>
        </p:txBody>
      </p:sp>
      <p:sp>
        <p:nvSpPr>
          <p:cNvPr id="33" name="Shape 31"/>
          <p:cNvSpPr/>
          <p:nvPr/>
        </p:nvSpPr>
        <p:spPr>
          <a:xfrm>
            <a:off x="4054450" y="4757738"/>
            <a:ext cx="13319150" cy="9525"/>
          </a:xfrm>
          <a:prstGeom prst="rect">
            <a:avLst/>
          </a:prstGeom>
          <a:solidFill>
            <a:srgbClr val="2A2F3A"/>
          </a:solidFill>
          <a:ln/>
        </p:spPr>
      </p:sp>
      <p:sp>
        <p:nvSpPr>
          <p:cNvPr id="34" name="Text 32"/>
          <p:cNvSpPr/>
          <p:nvPr/>
        </p:nvSpPr>
        <p:spPr>
          <a:xfrm>
            <a:off x="4197325" y="4395787"/>
            <a:ext cx="1343297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AI Risk Management Framework</a:t>
            </a:r>
            <a:endParaRPr lang="en-US" sz="1725" dirty="0"/>
          </a:p>
        </p:txBody>
      </p:sp>
      <p:sp>
        <p:nvSpPr>
          <p:cNvPr id="35" name="Shape 33"/>
          <p:cNvSpPr/>
          <p:nvPr/>
        </p:nvSpPr>
        <p:spPr>
          <a:xfrm>
            <a:off x="914400" y="4767263"/>
            <a:ext cx="3140050" cy="476250"/>
          </a:xfrm>
          <a:prstGeom prst="rect">
            <a:avLst/>
          </a:prstGeom>
          <a:solidFill>
            <a:srgbClr val="FFFFFF">
              <a:alpha val="2000"/>
            </a:srgbClr>
          </a:solidFill>
          <a:ln/>
        </p:spPr>
      </p:sp>
      <p:sp>
        <p:nvSpPr>
          <p:cNvPr id="36" name="Shape 34"/>
          <p:cNvSpPr/>
          <p:nvPr/>
        </p:nvSpPr>
        <p:spPr>
          <a:xfrm>
            <a:off x="914400" y="5233988"/>
            <a:ext cx="3140050" cy="9525"/>
          </a:xfrm>
          <a:prstGeom prst="rect">
            <a:avLst/>
          </a:prstGeom>
          <a:solidFill>
            <a:srgbClr val="2A2F3A"/>
          </a:solidFill>
          <a:ln/>
        </p:spPr>
      </p:sp>
      <p:sp>
        <p:nvSpPr>
          <p:cNvPr id="37" name="Text 35"/>
          <p:cNvSpPr/>
          <p:nvPr/>
        </p:nvSpPr>
        <p:spPr>
          <a:xfrm>
            <a:off x="1057275" y="4872038"/>
            <a:ext cx="29485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IP</a:t>
            </a:r>
            <a:endParaRPr lang="en-US" sz="1725" dirty="0"/>
          </a:p>
        </p:txBody>
      </p:sp>
      <p:sp>
        <p:nvSpPr>
          <p:cNvPr id="38" name="Shape 36"/>
          <p:cNvSpPr/>
          <p:nvPr/>
        </p:nvSpPr>
        <p:spPr>
          <a:xfrm>
            <a:off x="4054450" y="4767263"/>
            <a:ext cx="13319150" cy="476250"/>
          </a:xfrm>
          <a:prstGeom prst="rect">
            <a:avLst/>
          </a:prstGeom>
          <a:solidFill>
            <a:srgbClr val="FFFFFF">
              <a:alpha val="2000"/>
            </a:srgbClr>
          </a:solidFill>
          <a:ln/>
        </p:spPr>
      </p:sp>
      <p:sp>
        <p:nvSpPr>
          <p:cNvPr id="39" name="Shape 37"/>
          <p:cNvSpPr/>
          <p:nvPr/>
        </p:nvSpPr>
        <p:spPr>
          <a:xfrm>
            <a:off x="4054450" y="5233988"/>
            <a:ext cx="13319150" cy="9525"/>
          </a:xfrm>
          <a:prstGeom prst="rect">
            <a:avLst/>
          </a:prstGeom>
          <a:solidFill>
            <a:srgbClr val="2A2F3A"/>
          </a:solidFill>
          <a:ln/>
        </p:spPr>
      </p:sp>
      <p:sp>
        <p:nvSpPr>
          <p:cNvPr id="40" name="Text 38"/>
          <p:cNvSpPr/>
          <p:nvPr/>
        </p:nvSpPr>
        <p:spPr>
          <a:xfrm>
            <a:off x="4197325" y="4872038"/>
            <a:ext cx="1343297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Intellectual Property</a:t>
            </a:r>
            <a:endParaRPr lang="en-US" sz="17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COMMON MISCONCEPTIONS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This Module Is Not About</a:t>
            </a:r>
            <a:endParaRPr lang="en-US" sz="4050" dirty="0"/>
          </a:p>
        </p:txBody>
      </p:sp>
      <p:sp>
        <p:nvSpPr>
          <p:cNvPr id="5" name="Shape 3"/>
          <p:cNvSpPr/>
          <p:nvPr/>
        </p:nvSpPr>
        <p:spPr>
          <a:xfrm>
            <a:off x="914400" y="1909762"/>
            <a:ext cx="16459200" cy="700088"/>
          </a:xfrm>
          <a:prstGeom prst="roundRect">
            <a:avLst>
              <a:gd name="adj" fmla="val 21769"/>
            </a:avLst>
          </a:prstGeom>
          <a:solidFill>
            <a:srgbClr val="FFFFFF">
              <a:alpha val="2000"/>
            </a:srgbClr>
          </a:solidFill>
          <a:ln w="9525">
            <a:solidFill>
              <a:srgbClr val="2A2F3A"/>
            </a:solidFill>
            <a:prstDash val="solid"/>
          </a:ln>
        </p:spPr>
      </p:sp>
      <p:sp>
        <p:nvSpPr>
          <p:cNvPr id="6" name="Text 4"/>
          <p:cNvSpPr/>
          <p:nvPr/>
        </p:nvSpPr>
        <p:spPr>
          <a:xfrm>
            <a:off x="1152525" y="2147887"/>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Shadow AI is not the same as an approved AI tool used incorrectly — shadow AI specifically means the tool itself was never approved at all</a:t>
            </a:r>
            <a:endParaRPr lang="en-US" sz="1500" dirty="0"/>
          </a:p>
        </p:txBody>
      </p:sp>
      <p:sp>
        <p:nvSpPr>
          <p:cNvPr id="7" name="Shape 5"/>
          <p:cNvSpPr/>
          <p:nvPr/>
        </p:nvSpPr>
        <p:spPr>
          <a:xfrm>
            <a:off x="914400" y="2762250"/>
            <a:ext cx="16459200" cy="700088"/>
          </a:xfrm>
          <a:prstGeom prst="roundRect">
            <a:avLst>
              <a:gd name="adj" fmla="val 21769"/>
            </a:avLst>
          </a:prstGeom>
          <a:solidFill>
            <a:srgbClr val="FFFFFF">
              <a:alpha val="2000"/>
            </a:srgbClr>
          </a:solidFill>
          <a:ln w="9525">
            <a:solidFill>
              <a:srgbClr val="2A2F3A"/>
            </a:solidFill>
            <a:prstDash val="solid"/>
          </a:ln>
        </p:spPr>
      </p:sp>
      <p:sp>
        <p:nvSpPr>
          <p:cNvPr id="8" name="Text 6"/>
          <p:cNvSpPr/>
          <p:nvPr/>
        </p:nvSpPr>
        <p:spPr>
          <a:xfrm>
            <a:off x="1152525" y="300037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Compliance frameworks (EU AI Act, NIST AIRMF, ISO standards) are not interchangeable — each has a different scope, authority, and jurisdiction</a:t>
            </a:r>
            <a:endParaRPr lang="en-US" sz="1500" dirty="0"/>
          </a:p>
        </p:txBody>
      </p:sp>
      <p:sp>
        <p:nvSpPr>
          <p:cNvPr id="9" name="Shape 7"/>
          <p:cNvSpPr/>
          <p:nvPr/>
        </p:nvSpPr>
        <p:spPr>
          <a:xfrm>
            <a:off x="914400" y="3614738"/>
            <a:ext cx="16459200" cy="700088"/>
          </a:xfrm>
          <a:prstGeom prst="roundRect">
            <a:avLst>
              <a:gd name="adj" fmla="val 21769"/>
            </a:avLst>
          </a:prstGeom>
          <a:solidFill>
            <a:srgbClr val="FFFFFF">
              <a:alpha val="2000"/>
            </a:srgbClr>
          </a:solidFill>
          <a:ln w="9525">
            <a:solidFill>
              <a:srgbClr val="2A2F3A"/>
            </a:solidFill>
            <a:prstDash val="solid"/>
          </a:ln>
        </p:spPr>
      </p:sp>
      <p:sp>
        <p:nvSpPr>
          <p:cNvPr id="10" name="Text 8"/>
          <p:cNvSpPr/>
          <p:nvPr/>
        </p:nvSpPr>
        <p:spPr>
          <a:xfrm>
            <a:off x="1152525" y="3852863"/>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Governance roles are not purely technical — an AI auditor's job is independent verification, not building the model</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848473" y="3919537"/>
            <a:ext cx="2591053" cy="276225"/>
          </a:xfrm>
          <a:prstGeom prst="rect">
            <a:avLst/>
          </a:prstGeom>
          <a:noFill/>
          <a:ln/>
        </p:spPr>
        <p:txBody>
          <a:bodyPr wrap="square" lIns="25400" tIns="25400" rIns="25400" bIns="25400" rtlCol="0" anchor="t">
            <a:normAutofit/>
          </a:bodyPr>
          <a:lstStyle/>
          <a:p>
            <a:pPr algn="ctr" indent="0" marL="0">
              <a:buNone/>
            </a:pPr>
            <a:r>
              <a:rPr lang="en-US" sz="1575" b="1" spc="150" kern="0" dirty="0">
                <a:solidFill>
                  <a:srgbClr val="FF6A00"/>
                </a:solidFill>
                <a:latin typeface="Arial" pitchFamily="34" charset="0"/>
                <a:ea typeface="Arial" pitchFamily="34" charset="-122"/>
                <a:cs typeface="Arial" pitchFamily="34" charset="-120"/>
              </a:rPr>
              <a:t>DOMAIN WEIGHTING</a:t>
            </a:r>
            <a:endParaRPr lang="en-US" sz="1575" dirty="0"/>
          </a:p>
        </p:txBody>
      </p:sp>
      <p:sp>
        <p:nvSpPr>
          <p:cNvPr id="4" name="Text 2"/>
          <p:cNvSpPr/>
          <p:nvPr/>
        </p:nvSpPr>
        <p:spPr>
          <a:xfrm>
            <a:off x="7255516" y="4329113"/>
            <a:ext cx="3776893" cy="1657350"/>
          </a:xfrm>
          <a:prstGeom prst="rect">
            <a:avLst/>
          </a:prstGeom>
          <a:noFill/>
          <a:ln/>
        </p:spPr>
        <p:txBody>
          <a:bodyPr wrap="square" lIns="25400" tIns="25400" rIns="25400" bIns="25400" rtlCol="0" anchor="t">
            <a:normAutofit/>
          </a:bodyPr>
          <a:lstStyle/>
          <a:p>
            <a:pPr algn="ctr" indent="0" marL="0">
              <a:lnSpc>
                <a:spcPct val="86957"/>
              </a:lnSpc>
              <a:buNone/>
            </a:pPr>
            <a:r>
              <a:rPr lang="en-US" sz="12750" b="1" dirty="0">
                <a:solidFill>
                  <a:srgbClr val="FF6A00"/>
                </a:solidFill>
                <a:latin typeface="Arial" pitchFamily="34" charset="0"/>
                <a:ea typeface="Arial" pitchFamily="34" charset="-122"/>
                <a:cs typeface="Arial" pitchFamily="34" charset="-120"/>
              </a:rPr>
              <a:t>19%</a:t>
            </a:r>
            <a:endParaRPr lang="en-US" sz="12750" dirty="0"/>
          </a:p>
        </p:txBody>
      </p:sp>
      <p:sp>
        <p:nvSpPr>
          <p:cNvPr id="5" name="Text 3"/>
          <p:cNvSpPr/>
          <p:nvPr/>
        </p:nvSpPr>
        <p:spPr>
          <a:xfrm>
            <a:off x="6329236" y="6081713"/>
            <a:ext cx="5629528" cy="400050"/>
          </a:xfrm>
          <a:prstGeom prst="rect">
            <a:avLst/>
          </a:prstGeom>
          <a:noFill/>
          <a:ln/>
        </p:spPr>
        <p:txBody>
          <a:bodyPr wrap="square" lIns="25400" tIns="25400" rIns="25400" bIns="25400" rtlCol="0" anchor="t">
            <a:normAutofit/>
          </a:bodyPr>
          <a:lstStyle/>
          <a:p>
            <a:pPr algn="ctr" indent="0" marL="0">
              <a:buNone/>
            </a:pPr>
            <a:r>
              <a:rPr lang="en-US" sz="2400" dirty="0">
                <a:solidFill>
                  <a:srgbClr val="B8C0CF"/>
                </a:solidFill>
                <a:latin typeface="Arial" pitchFamily="34" charset="0"/>
                <a:ea typeface="Arial" pitchFamily="34" charset="-122"/>
                <a:cs typeface="Arial" pitchFamily="34" charset="-120"/>
              </a:rPr>
              <a:t>of the CompTIA SecAI+ CY0-001 exam</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KNOWLEDGE CHECK</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Quick Question</a:t>
            </a:r>
            <a:endParaRPr lang="en-US" sz="4050" dirty="0"/>
          </a:p>
        </p:txBody>
      </p:sp>
      <p:sp>
        <p:nvSpPr>
          <p:cNvPr id="5" name="Shape 3"/>
          <p:cNvSpPr/>
          <p:nvPr/>
        </p:nvSpPr>
        <p:spPr>
          <a:xfrm>
            <a:off x="914400" y="1890713"/>
            <a:ext cx="16459200" cy="2579191"/>
          </a:xfrm>
          <a:prstGeom prst="roundRect">
            <a:avLst>
              <a:gd name="adj" fmla="val 5909"/>
            </a:avLst>
          </a:prstGeom>
          <a:solidFill>
            <a:srgbClr val="FFFFFF">
              <a:alpha val="2000"/>
            </a:srgbClr>
          </a:solidFill>
          <a:ln w="9525">
            <a:solidFill>
              <a:srgbClr val="2A2F3A"/>
            </a:solidFill>
            <a:prstDash val="solid"/>
          </a:ln>
        </p:spPr>
      </p:sp>
      <p:sp>
        <p:nvSpPr>
          <p:cNvPr id="6" name="Text 4"/>
          <p:cNvSpPr/>
          <p:nvPr/>
        </p:nvSpPr>
        <p:spPr>
          <a:xfrm>
            <a:off x="1152525" y="2128838"/>
            <a:ext cx="16476726" cy="2141041"/>
          </a:xfrm>
          <a:prstGeom prst="rect">
            <a:avLst/>
          </a:prstGeom>
          <a:noFill/>
          <a:ln/>
        </p:spPr>
        <p:txBody>
          <a:bodyPr wrap="square" lIns="25400" tIns="25400" rIns="25400" bIns="25400" rtlCol="0" anchor="t">
            <a:normAutofit/>
          </a:bodyPr>
          <a:lstStyle/>
          <a:p>
            <a:pPr algn="l" indent="0" marL="0">
              <a:lnSpc>
                <a:spcPct val="136296"/>
              </a:lnSpc>
              <a:buNone/>
            </a:pPr>
            <a:r>
              <a:rPr lang="en-US" sz="1725" dirty="0">
                <a:solidFill>
                  <a:srgbClr val="F5F7FB"/>
                </a:solidFill>
                <a:highlight>
                  <a:srgbClr val="FFFFFF"/>
                </a:highlight>
                <a:latin typeface="Arial" pitchFamily="34" charset="0"/>
                <a:ea typeface="Arial" pitchFamily="34" charset="-122"/>
                <a:cs typeface="Arial" pitchFamily="34" charset="-120"/>
              </a:rPr>
              <a:t>Staff use an unapproved public chatbot to summarise confidential contracts. What is this an example of? </a:t>
            </a:r>
            <a:pPr algn="l" indent="0" marL="0">
              <a:lnSpc>
                <a:spcPct val="136296"/>
              </a:lnSpc>
              <a:buNone/>
            </a:pPr>
            <a:r>
              <a:rPr lang="en-US" sz="1725" dirty="0">
                <a:solidFill>
                  <a:srgbClr val="B8C0CF"/>
                </a:solidFill>
                <a:latin typeface="Arial" pitchFamily="34" charset="0"/>
                <a:ea typeface="Arial" pitchFamily="34" charset="-122"/>
                <a:cs typeface="Arial" pitchFamily="34" charset="-120"/>
              </a:rPr>
              <a:t>A. Data sovereignty B. Shadow AI C. Differential privacy D. The NIST AI Risk Management Framework</a:t>
            </a:r>
            <a:endParaRPr lang="en-US" sz="17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SUMMARY</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Module 4 Summary</a:t>
            </a:r>
            <a:endParaRPr lang="en-US" sz="4050" dirty="0"/>
          </a:p>
        </p:txBody>
      </p:sp>
      <p:sp>
        <p:nvSpPr>
          <p:cNvPr id="5" name="Shape 3"/>
          <p:cNvSpPr/>
          <p:nvPr/>
        </p:nvSpPr>
        <p:spPr>
          <a:xfrm>
            <a:off x="914400" y="1909762"/>
            <a:ext cx="16459200" cy="714375"/>
          </a:xfrm>
          <a:prstGeom prst="roundRect">
            <a:avLst>
              <a:gd name="adj" fmla="val 21333"/>
            </a:avLst>
          </a:prstGeom>
          <a:solidFill>
            <a:srgbClr val="FFFFFF">
              <a:alpha val="2000"/>
            </a:srgbClr>
          </a:solidFill>
          <a:ln w="9525">
            <a:solidFill>
              <a:srgbClr val="2A2F3A"/>
            </a:solidFill>
            <a:prstDash val="solid"/>
          </a:ln>
        </p:spPr>
      </p:sp>
      <p:sp>
        <p:nvSpPr>
          <p:cNvPr id="6" name="Text 4"/>
          <p:cNvSpPr/>
          <p:nvPr/>
        </p:nvSpPr>
        <p:spPr>
          <a:xfrm>
            <a:off x="1152525" y="2147887"/>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Governance structures and ten named roles make AI adoption accountable rather than ad hoc</a:t>
            </a:r>
            <a:endParaRPr lang="en-US" sz="1575" dirty="0"/>
          </a:p>
        </p:txBody>
      </p:sp>
      <p:sp>
        <p:nvSpPr>
          <p:cNvPr id="7" name="Shape 5"/>
          <p:cNvSpPr/>
          <p:nvPr/>
        </p:nvSpPr>
        <p:spPr>
          <a:xfrm>
            <a:off x="914400" y="2776538"/>
            <a:ext cx="16459200" cy="714375"/>
          </a:xfrm>
          <a:prstGeom prst="roundRect">
            <a:avLst>
              <a:gd name="adj" fmla="val 21333"/>
            </a:avLst>
          </a:prstGeom>
          <a:solidFill>
            <a:srgbClr val="FFFFFF">
              <a:alpha val="2000"/>
            </a:srgbClr>
          </a:solidFill>
          <a:ln w="9525">
            <a:solidFill>
              <a:srgbClr val="2A2F3A"/>
            </a:solidFill>
            <a:prstDash val="solid"/>
          </a:ln>
        </p:spPr>
      </p:sp>
      <p:sp>
        <p:nvSpPr>
          <p:cNvPr id="8" name="Text 6"/>
          <p:cNvSpPr/>
          <p:nvPr/>
        </p:nvSpPr>
        <p:spPr>
          <a:xfrm>
            <a:off x="1152525" y="301466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Nine responsible AI principles and seven named risks — including shadow AI — frame what can go wrong</a:t>
            </a:r>
            <a:endParaRPr lang="en-US" sz="1575" dirty="0"/>
          </a:p>
        </p:txBody>
      </p:sp>
      <p:sp>
        <p:nvSpPr>
          <p:cNvPr id="9" name="Shape 7"/>
          <p:cNvSpPr/>
          <p:nvPr/>
        </p:nvSpPr>
        <p:spPr>
          <a:xfrm>
            <a:off x="914400" y="3643313"/>
            <a:ext cx="16459200" cy="714375"/>
          </a:xfrm>
          <a:prstGeom prst="roundRect">
            <a:avLst>
              <a:gd name="adj" fmla="val 21333"/>
            </a:avLst>
          </a:prstGeom>
          <a:solidFill>
            <a:srgbClr val="FFFFFF">
              <a:alpha val="2000"/>
            </a:srgbClr>
          </a:solidFill>
          <a:ln w="9525">
            <a:solidFill>
              <a:srgbClr val="2A2F3A"/>
            </a:solidFill>
            <a:prstDash val="solid"/>
          </a:ln>
        </p:spPr>
      </p:sp>
      <p:sp>
        <p:nvSpPr>
          <p:cNvPr id="10" name="Text 8"/>
          <p:cNvSpPr/>
          <p:nvPr/>
        </p:nvSpPr>
        <p:spPr>
          <a:xfrm>
            <a:off x="1152525" y="3881438"/>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Named regulatory frameworks, corporate policy, and data sovereignty together shape what AI use is actually permitted</a:t>
            </a:r>
            <a:endParaRPr lang="en-US" sz="157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1194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CONGRATULATIONS</a:t>
            </a:r>
            <a:endParaRPr lang="en-US" sz="1575" dirty="0"/>
          </a:p>
        </p:txBody>
      </p:sp>
      <p:sp>
        <p:nvSpPr>
          <p:cNvPr id="4" name="Text 2"/>
          <p:cNvSpPr/>
          <p:nvPr/>
        </p:nvSpPr>
        <p:spPr>
          <a:xfrm>
            <a:off x="914400" y="4340572"/>
            <a:ext cx="16952976" cy="1462980"/>
          </a:xfrm>
          <a:prstGeom prst="rect">
            <a:avLst/>
          </a:prstGeom>
          <a:noFill/>
          <a:ln/>
        </p:spPr>
        <p:txBody>
          <a:bodyPr wrap="square" lIns="25400" tIns="25400" rIns="25400" bIns="25400" rtlCol="0" anchor="t">
            <a:normAutofit/>
          </a:bodyPr>
          <a:lstStyle/>
          <a:p>
            <a:pPr algn="l" indent="0" marL="0">
              <a:lnSpc>
                <a:spcPct val="95897"/>
              </a:lnSpc>
              <a:buNone/>
            </a:pPr>
            <a:r>
              <a:rPr lang="en-US" sz="5100" b="1" dirty="0">
                <a:solidFill>
                  <a:srgbClr val="F5F7FB"/>
                </a:solidFill>
                <a:latin typeface="Arial" pitchFamily="34" charset="0"/>
                <a:ea typeface="Arial" pitchFamily="34" charset="-122"/>
                <a:cs typeface="Arial" pitchFamily="34" charset="-120"/>
              </a:rPr>
              <a:t>CompTIA SecAI+ CY0-001 Syllabus Complete</a:t>
            </a:r>
            <a:endParaRPr lang="en-US" sz="5100" dirty="0"/>
          </a:p>
        </p:txBody>
      </p:sp>
      <p:sp>
        <p:nvSpPr>
          <p:cNvPr id="5" name="Text 3"/>
          <p:cNvSpPr/>
          <p:nvPr/>
        </p:nvSpPr>
        <p:spPr>
          <a:xfrm>
            <a:off x="914400" y="601310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Complete the Module 4 PBQ, Flashcards, Cheat Sheet, and Quiz to finish the certification</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618372" y="9796463"/>
            <a:ext cx="831428"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SEC</a:t>
            </a:r>
            <a:pPr algn="l" indent="0" marL="0">
              <a:buNone/>
            </a:pPr>
            <a:r>
              <a:rPr lang="en-US" sz="1350" b="1" spc="150" kern="0" dirty="0">
                <a:solidFill>
                  <a:srgbClr val="8891A1"/>
                </a:solidFill>
                <a:latin typeface="Arial" pitchFamily="34" charset="0"/>
                <a:ea typeface="Arial" pitchFamily="34" charset="-122"/>
                <a:cs typeface="Arial" pitchFamily="34" charset="-120"/>
              </a:rPr>
              <a:t>AI+</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2026-07-28T12:50:19Z</dcterms:created>
  <dcterms:modified xsi:type="dcterms:W3CDTF">2026-07-28T12:50:19Z</dcterms:modified>
</cp:coreProperties>
</file>