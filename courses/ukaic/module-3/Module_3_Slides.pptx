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Module 3. Frame it as a survey of the generative AI landscape — the categories and tool types they'll actually encounter and choose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seven sub-objectives — they map directly onto Domain 3's exam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to the blueprint. Domain 3 is tied for second-highest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bridge. Move quickly to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categories are defined by output type, not by any vendor. Stress that categories can combine — a video-generation tool typically also produces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vendor-neutral throughout — describe categories, never name commercial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recap, moves quickly to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1 definition, then push into the 'one model, many tasks' idea that is the real teaching point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vendor-neutral and conceptual: the point is that one base model can be steered toward different tasks without being rebuilt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before moving to tool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Vendor-neutral throughout. These categories overlap in practice — flag that a single product often spans more than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at foundation level: an agent takes actions or uses tools, rather than only producing text for a person to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is the clearest way to test understanding of 3.4 — a strong knowledge-check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explicitly back to knowledge cut-offs (Module 2) and embeddings (Module 2, 2.7) — RAG is the practical answer to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live: question, retrieve, combine, answer. The key point is the model still generates the final answer — retrieval only supplies better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multimodal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Module 1's definition, then expand with concrete input/output combinations.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tool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objective — bring together categories, foundation models, agents, RAG and multimodal AI into one practical decision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final sub-objective.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concepts are the most commonly confused in Module 3 — they solve different problems and can combine in one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discussion: a research-and-report task needing current data points toward RAG; if the task also requires updating a shared tracker automatically, that points toward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Conversational assistant, 2) AI agent, 3) RAG-based tool, 4) Multimodal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Image generation, 2) Code generation, 3) Audio generation, 4) Video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acronym and its expansion aloud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most common Domain 3 distractor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focus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30 seconds before revealing that B is correct. This MCQ is reused as Question 5 of the Module 3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seven objectives one final time before the 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4 briefly and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960688"/>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MY CYBER ACADEMY · CERTIFIED AI ASSOCIATE (CAIA)</a:t>
            </a:r>
            <a:endParaRPr lang="en-US" sz="1800" dirty="0"/>
          </a:p>
        </p:txBody>
      </p:sp>
      <p:sp>
        <p:nvSpPr>
          <p:cNvPr id="4" name="Text 2"/>
          <p:cNvSpPr/>
          <p:nvPr/>
        </p:nvSpPr>
        <p:spPr>
          <a:xfrm>
            <a:off x="952500" y="4455988"/>
            <a:ext cx="14716125" cy="1403598"/>
          </a:xfrm>
          <a:prstGeom prst="rect">
            <a:avLst/>
          </a:prstGeom>
          <a:noFill/>
          <a:ln/>
        </p:spPr>
        <p:txBody>
          <a:bodyPr wrap="square" lIns="25400" tIns="25400" rIns="25400" bIns="25400" rtlCol="0" anchor="t">
            <a:normAutofit/>
          </a:bodyPr>
          <a:lstStyle/>
          <a:p>
            <a:pPr algn="l" indent="0" marL="0">
              <a:lnSpc>
                <a:spcPct val="97524"/>
              </a:lnSpc>
              <a:buNone/>
            </a:pPr>
            <a:r>
              <a:rPr lang="en-US" sz="4800" b="1" spc="-48" kern="0" dirty="0">
                <a:solidFill>
                  <a:srgbClr val="F5F7FB"/>
                </a:solidFill>
                <a:latin typeface="Arial" pitchFamily="34" charset="0"/>
                <a:ea typeface="Arial" pitchFamily="34" charset="-122"/>
                <a:cs typeface="Arial" pitchFamily="34" charset="-120"/>
              </a:rPr>
              <a:t>Module 3 The AI Landscape &amp; Generative AI</a:t>
            </a:r>
            <a:endParaRPr lang="en-US" sz="4800" dirty="0"/>
          </a:p>
        </p:txBody>
      </p:sp>
      <p:sp>
        <p:nvSpPr>
          <p:cNvPr id="5" name="Text 3"/>
          <p:cNvSpPr/>
          <p:nvPr/>
        </p:nvSpPr>
        <p:spPr>
          <a:xfrm>
            <a:off x="952500" y="6011987"/>
            <a:ext cx="1802130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B8C0CF"/>
                </a:solidFill>
                <a:latin typeface="Arial" pitchFamily="34" charset="0"/>
                <a:ea typeface="Arial" pitchFamily="34" charset="-122"/>
                <a:cs typeface="Arial" pitchFamily="34" charset="-120"/>
              </a:rPr>
              <a:t>Domain 3 · Generative AI &amp; AI Tools (15% of the examination)</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LEARNING OBJECTIVES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You Will Be Able To Do After This Module</a:t>
            </a:r>
            <a:endParaRPr lang="en-US" sz="3150" dirty="0"/>
          </a:p>
        </p:txBody>
      </p:sp>
      <p:sp>
        <p:nvSpPr>
          <p:cNvPr id="5" name="Shape 3"/>
          <p:cNvSpPr/>
          <p:nvPr/>
        </p:nvSpPr>
        <p:spPr>
          <a:xfrm>
            <a:off x="952500" y="1869728"/>
            <a:ext cx="16383000" cy="666750"/>
          </a:xfrm>
          <a:prstGeom prst="roundRect">
            <a:avLst>
              <a:gd name="adj" fmla="val 50000"/>
            </a:avLst>
          </a:prstGeom>
          <a:solidFill>
            <a:srgbClr val="FFFFFF">
              <a:alpha val="3000"/>
            </a:srgbClr>
          </a:solidFill>
          <a:ln w="9525">
            <a:solidFill>
              <a:srgbClr val="2A2F3A"/>
            </a:solidFill>
            <a:prstDash val="solid"/>
          </a:ln>
        </p:spPr>
      </p:sp>
      <p:sp>
        <p:nvSpPr>
          <p:cNvPr id="6" name="Shape 4"/>
          <p:cNvSpPr/>
          <p:nvPr/>
        </p:nvSpPr>
        <p:spPr>
          <a:xfrm>
            <a:off x="1209675" y="1984028"/>
            <a:ext cx="438150" cy="438150"/>
          </a:xfrm>
          <a:prstGeom prst="ellipse">
            <a:avLst/>
          </a:prstGeom>
          <a:solidFill>
            <a:srgbClr val="FF6A00">
              <a:alpha val="15000"/>
            </a:srgbClr>
          </a:solidFill>
          <a:ln w="9525">
            <a:solidFill>
              <a:srgbClr val="FF6A00">
                <a:alpha val="35000"/>
              </a:srgbClr>
            </a:solidFill>
            <a:prstDash val="solid"/>
          </a:ln>
        </p:spPr>
      </p:sp>
      <p:sp>
        <p:nvSpPr>
          <p:cNvPr id="7" name="Text 5"/>
          <p:cNvSpPr/>
          <p:nvPr/>
        </p:nvSpPr>
        <p:spPr>
          <a:xfrm>
            <a:off x="1181100" y="19935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3.1</a:t>
            </a:r>
            <a:endParaRPr lang="en-US" sz="1800" dirty="0"/>
          </a:p>
        </p:txBody>
      </p:sp>
      <p:sp>
        <p:nvSpPr>
          <p:cNvPr id="8" name="Text 6"/>
          <p:cNvSpPr/>
          <p:nvPr/>
        </p:nvSpPr>
        <p:spPr>
          <a:xfrm>
            <a:off x="1819275" y="2069753"/>
            <a:ext cx="983861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Describe the main categories of generative AI: text, image, audio, video and code generation</a:t>
            </a:r>
            <a:endParaRPr lang="en-US" sz="1800" dirty="0"/>
          </a:p>
        </p:txBody>
      </p:sp>
      <p:sp>
        <p:nvSpPr>
          <p:cNvPr id="9" name="Shape 7"/>
          <p:cNvSpPr/>
          <p:nvPr/>
        </p:nvSpPr>
        <p:spPr>
          <a:xfrm>
            <a:off x="952500" y="2641253"/>
            <a:ext cx="16383000" cy="666750"/>
          </a:xfrm>
          <a:prstGeom prst="roundRect">
            <a:avLst>
              <a:gd name="adj" fmla="val 50000"/>
            </a:avLst>
          </a:prstGeom>
          <a:solidFill>
            <a:srgbClr val="FFFFFF">
              <a:alpha val="3000"/>
            </a:srgbClr>
          </a:solidFill>
          <a:ln w="9525">
            <a:solidFill>
              <a:srgbClr val="2A2F3A"/>
            </a:solidFill>
            <a:prstDash val="solid"/>
          </a:ln>
        </p:spPr>
      </p:sp>
      <p:sp>
        <p:nvSpPr>
          <p:cNvPr id="10" name="Shape 8"/>
          <p:cNvSpPr/>
          <p:nvPr/>
        </p:nvSpPr>
        <p:spPr>
          <a:xfrm>
            <a:off x="1209675" y="2755553"/>
            <a:ext cx="438150" cy="438150"/>
          </a:xfrm>
          <a:prstGeom prst="ellipse">
            <a:avLst/>
          </a:prstGeom>
          <a:solidFill>
            <a:srgbClr val="FF6A00">
              <a:alpha val="15000"/>
            </a:srgbClr>
          </a:solidFill>
          <a:ln w="9525">
            <a:solidFill>
              <a:srgbClr val="FF6A00">
                <a:alpha val="35000"/>
              </a:srgbClr>
            </a:solidFill>
            <a:prstDash val="solid"/>
          </a:ln>
        </p:spPr>
      </p:sp>
      <p:sp>
        <p:nvSpPr>
          <p:cNvPr id="11" name="Text 9"/>
          <p:cNvSpPr/>
          <p:nvPr/>
        </p:nvSpPr>
        <p:spPr>
          <a:xfrm>
            <a:off x="1181100" y="2765078"/>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3.2</a:t>
            </a:r>
            <a:endParaRPr lang="en-US" sz="1800" dirty="0"/>
          </a:p>
        </p:txBody>
      </p:sp>
      <p:sp>
        <p:nvSpPr>
          <p:cNvPr id="12" name="Text 10"/>
          <p:cNvSpPr/>
          <p:nvPr/>
        </p:nvSpPr>
        <p:spPr>
          <a:xfrm>
            <a:off x="1819275" y="2841278"/>
            <a:ext cx="1092344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what a foundation model is and how one general-purpose model can be applied to many tasks</a:t>
            </a:r>
            <a:endParaRPr lang="en-US" sz="1800" dirty="0"/>
          </a:p>
        </p:txBody>
      </p:sp>
      <p:sp>
        <p:nvSpPr>
          <p:cNvPr id="13" name="Shape 11"/>
          <p:cNvSpPr/>
          <p:nvPr/>
        </p:nvSpPr>
        <p:spPr>
          <a:xfrm>
            <a:off x="952500" y="3412778"/>
            <a:ext cx="16383000" cy="666750"/>
          </a:xfrm>
          <a:prstGeom prst="roundRect">
            <a:avLst>
              <a:gd name="adj" fmla="val 50000"/>
            </a:avLst>
          </a:prstGeom>
          <a:solidFill>
            <a:srgbClr val="FFFFFF">
              <a:alpha val="3000"/>
            </a:srgbClr>
          </a:solidFill>
          <a:ln w="9525">
            <a:solidFill>
              <a:srgbClr val="2A2F3A"/>
            </a:solidFill>
            <a:prstDash val="solid"/>
          </a:ln>
        </p:spPr>
      </p:sp>
      <p:sp>
        <p:nvSpPr>
          <p:cNvPr id="14" name="Shape 12"/>
          <p:cNvSpPr/>
          <p:nvPr/>
        </p:nvSpPr>
        <p:spPr>
          <a:xfrm>
            <a:off x="1209675" y="3527078"/>
            <a:ext cx="438150" cy="438150"/>
          </a:xfrm>
          <a:prstGeom prst="ellipse">
            <a:avLst/>
          </a:prstGeom>
          <a:solidFill>
            <a:srgbClr val="FF6A00">
              <a:alpha val="15000"/>
            </a:srgbClr>
          </a:solidFill>
          <a:ln w="9525">
            <a:solidFill>
              <a:srgbClr val="FF6A00">
                <a:alpha val="35000"/>
              </a:srgbClr>
            </a:solidFill>
            <a:prstDash val="solid"/>
          </a:ln>
        </p:spPr>
      </p:sp>
      <p:sp>
        <p:nvSpPr>
          <p:cNvPr id="15" name="Text 13"/>
          <p:cNvSpPr/>
          <p:nvPr/>
        </p:nvSpPr>
        <p:spPr>
          <a:xfrm>
            <a:off x="1181100" y="35366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3.3</a:t>
            </a:r>
            <a:endParaRPr lang="en-US" sz="1800" dirty="0"/>
          </a:p>
        </p:txBody>
      </p:sp>
      <p:sp>
        <p:nvSpPr>
          <p:cNvPr id="16" name="Text 14"/>
          <p:cNvSpPr/>
          <p:nvPr/>
        </p:nvSpPr>
        <p:spPr>
          <a:xfrm>
            <a:off x="1819275" y="3612803"/>
            <a:ext cx="109149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Identify the main categories of AI tools and platforms, vendor-neutral, and their typical workplace uses</a:t>
            </a:r>
            <a:endParaRPr lang="en-US" sz="1800" dirty="0"/>
          </a:p>
        </p:txBody>
      </p:sp>
      <p:sp>
        <p:nvSpPr>
          <p:cNvPr id="17" name="Shape 15"/>
          <p:cNvSpPr/>
          <p:nvPr/>
        </p:nvSpPr>
        <p:spPr>
          <a:xfrm>
            <a:off x="952500" y="4184303"/>
            <a:ext cx="16383000" cy="666750"/>
          </a:xfrm>
          <a:prstGeom prst="roundRect">
            <a:avLst>
              <a:gd name="adj" fmla="val 50000"/>
            </a:avLst>
          </a:prstGeom>
          <a:solidFill>
            <a:srgbClr val="FFFFFF">
              <a:alpha val="3000"/>
            </a:srgbClr>
          </a:solidFill>
          <a:ln w="9525">
            <a:solidFill>
              <a:srgbClr val="2A2F3A"/>
            </a:solidFill>
            <a:prstDash val="solid"/>
          </a:ln>
        </p:spPr>
      </p:sp>
      <p:sp>
        <p:nvSpPr>
          <p:cNvPr id="18" name="Shape 16"/>
          <p:cNvSpPr/>
          <p:nvPr/>
        </p:nvSpPr>
        <p:spPr>
          <a:xfrm>
            <a:off x="1209675" y="4298603"/>
            <a:ext cx="438150" cy="438150"/>
          </a:xfrm>
          <a:prstGeom prst="ellipse">
            <a:avLst/>
          </a:prstGeom>
          <a:solidFill>
            <a:srgbClr val="FF6A00">
              <a:alpha val="15000"/>
            </a:srgbClr>
          </a:solidFill>
          <a:ln w="9525">
            <a:solidFill>
              <a:srgbClr val="FF6A00">
                <a:alpha val="35000"/>
              </a:srgbClr>
            </a:solidFill>
            <a:prstDash val="solid"/>
          </a:ln>
        </p:spPr>
      </p:sp>
      <p:sp>
        <p:nvSpPr>
          <p:cNvPr id="19" name="Text 17"/>
          <p:cNvSpPr/>
          <p:nvPr/>
        </p:nvSpPr>
        <p:spPr>
          <a:xfrm>
            <a:off x="1181100" y="4308128"/>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3.4</a:t>
            </a:r>
            <a:endParaRPr lang="en-US" sz="1800" dirty="0"/>
          </a:p>
        </p:txBody>
      </p:sp>
      <p:sp>
        <p:nvSpPr>
          <p:cNvPr id="20" name="Text 18"/>
          <p:cNvSpPr/>
          <p:nvPr/>
        </p:nvSpPr>
        <p:spPr>
          <a:xfrm>
            <a:off x="1819275" y="4384328"/>
            <a:ext cx="516892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at a foundation level, what an AI agent is</a:t>
            </a:r>
            <a:endParaRPr lang="en-US" sz="1800" dirty="0"/>
          </a:p>
        </p:txBody>
      </p:sp>
      <p:sp>
        <p:nvSpPr>
          <p:cNvPr id="21" name="Shape 19"/>
          <p:cNvSpPr/>
          <p:nvPr/>
        </p:nvSpPr>
        <p:spPr>
          <a:xfrm>
            <a:off x="952500" y="4955828"/>
            <a:ext cx="16383000" cy="666750"/>
          </a:xfrm>
          <a:prstGeom prst="roundRect">
            <a:avLst>
              <a:gd name="adj" fmla="val 50000"/>
            </a:avLst>
          </a:prstGeom>
          <a:solidFill>
            <a:srgbClr val="FFFFFF">
              <a:alpha val="3000"/>
            </a:srgbClr>
          </a:solidFill>
          <a:ln w="9525">
            <a:solidFill>
              <a:srgbClr val="2A2F3A"/>
            </a:solidFill>
            <a:prstDash val="solid"/>
          </a:ln>
        </p:spPr>
      </p:sp>
      <p:sp>
        <p:nvSpPr>
          <p:cNvPr id="22" name="Shape 20"/>
          <p:cNvSpPr/>
          <p:nvPr/>
        </p:nvSpPr>
        <p:spPr>
          <a:xfrm>
            <a:off x="1209675" y="5070128"/>
            <a:ext cx="438150" cy="438150"/>
          </a:xfrm>
          <a:prstGeom prst="ellipse">
            <a:avLst/>
          </a:prstGeom>
          <a:solidFill>
            <a:srgbClr val="FF6A00">
              <a:alpha val="15000"/>
            </a:srgbClr>
          </a:solidFill>
          <a:ln w="9525">
            <a:solidFill>
              <a:srgbClr val="FF6A00">
                <a:alpha val="35000"/>
              </a:srgbClr>
            </a:solidFill>
            <a:prstDash val="solid"/>
          </a:ln>
        </p:spPr>
      </p:sp>
      <p:sp>
        <p:nvSpPr>
          <p:cNvPr id="23" name="Text 21"/>
          <p:cNvSpPr/>
          <p:nvPr/>
        </p:nvSpPr>
        <p:spPr>
          <a:xfrm>
            <a:off x="1181100" y="50796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3.5</a:t>
            </a:r>
            <a:endParaRPr lang="en-US" sz="1800" dirty="0"/>
          </a:p>
        </p:txBody>
      </p:sp>
      <p:sp>
        <p:nvSpPr>
          <p:cNvPr id="24" name="Text 22"/>
          <p:cNvSpPr/>
          <p:nvPr/>
        </p:nvSpPr>
        <p:spPr>
          <a:xfrm>
            <a:off x="1819275" y="5155853"/>
            <a:ext cx="6400443"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retrieval-augmented generation (RAG) conceptually</a:t>
            </a:r>
            <a:endParaRPr lang="en-US" sz="1800" dirty="0"/>
          </a:p>
        </p:txBody>
      </p:sp>
      <p:sp>
        <p:nvSpPr>
          <p:cNvPr id="25" name="Shape 23"/>
          <p:cNvSpPr/>
          <p:nvPr/>
        </p:nvSpPr>
        <p:spPr>
          <a:xfrm>
            <a:off x="952500" y="5727353"/>
            <a:ext cx="16383000" cy="666750"/>
          </a:xfrm>
          <a:prstGeom prst="roundRect">
            <a:avLst>
              <a:gd name="adj" fmla="val 50000"/>
            </a:avLst>
          </a:prstGeom>
          <a:solidFill>
            <a:srgbClr val="FFFFFF">
              <a:alpha val="3000"/>
            </a:srgbClr>
          </a:solidFill>
          <a:ln w="9525">
            <a:solidFill>
              <a:srgbClr val="2A2F3A"/>
            </a:solidFill>
            <a:prstDash val="solid"/>
          </a:ln>
        </p:spPr>
      </p:sp>
      <p:sp>
        <p:nvSpPr>
          <p:cNvPr id="26" name="Shape 24"/>
          <p:cNvSpPr/>
          <p:nvPr/>
        </p:nvSpPr>
        <p:spPr>
          <a:xfrm>
            <a:off x="1209675" y="5841653"/>
            <a:ext cx="438150" cy="438150"/>
          </a:xfrm>
          <a:prstGeom prst="ellipse">
            <a:avLst/>
          </a:prstGeom>
          <a:solidFill>
            <a:srgbClr val="FF6A00">
              <a:alpha val="15000"/>
            </a:srgbClr>
          </a:solidFill>
          <a:ln w="9525">
            <a:solidFill>
              <a:srgbClr val="FF6A00">
                <a:alpha val="35000"/>
              </a:srgbClr>
            </a:solidFill>
            <a:prstDash val="solid"/>
          </a:ln>
        </p:spPr>
      </p:sp>
      <p:sp>
        <p:nvSpPr>
          <p:cNvPr id="27" name="Text 25"/>
          <p:cNvSpPr/>
          <p:nvPr/>
        </p:nvSpPr>
        <p:spPr>
          <a:xfrm>
            <a:off x="1181100" y="5851178"/>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3.6</a:t>
            </a:r>
            <a:endParaRPr lang="en-US" sz="1800" dirty="0"/>
          </a:p>
        </p:txBody>
      </p:sp>
      <p:sp>
        <p:nvSpPr>
          <p:cNvPr id="28" name="Text 26"/>
          <p:cNvSpPr/>
          <p:nvPr/>
        </p:nvSpPr>
        <p:spPr>
          <a:xfrm>
            <a:off x="1819275" y="5927378"/>
            <a:ext cx="949236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Understand multimodal AI — systems working across more than one input or output type</a:t>
            </a:r>
            <a:endParaRPr lang="en-US" sz="1800" dirty="0"/>
          </a:p>
        </p:txBody>
      </p:sp>
      <p:sp>
        <p:nvSpPr>
          <p:cNvPr id="29" name="Shape 27"/>
          <p:cNvSpPr/>
          <p:nvPr/>
        </p:nvSpPr>
        <p:spPr>
          <a:xfrm>
            <a:off x="952500" y="6498878"/>
            <a:ext cx="16383000" cy="666750"/>
          </a:xfrm>
          <a:prstGeom prst="roundRect">
            <a:avLst>
              <a:gd name="adj" fmla="val 50000"/>
            </a:avLst>
          </a:prstGeom>
          <a:solidFill>
            <a:srgbClr val="FFFFFF">
              <a:alpha val="3000"/>
            </a:srgbClr>
          </a:solidFill>
          <a:ln w="9525">
            <a:solidFill>
              <a:srgbClr val="2A2F3A"/>
            </a:solidFill>
            <a:prstDash val="solid"/>
          </a:ln>
        </p:spPr>
      </p:sp>
      <p:sp>
        <p:nvSpPr>
          <p:cNvPr id="30" name="Shape 28"/>
          <p:cNvSpPr/>
          <p:nvPr/>
        </p:nvSpPr>
        <p:spPr>
          <a:xfrm>
            <a:off x="1209675" y="6613178"/>
            <a:ext cx="438150" cy="438150"/>
          </a:xfrm>
          <a:prstGeom prst="ellipse">
            <a:avLst/>
          </a:prstGeom>
          <a:solidFill>
            <a:srgbClr val="FF6A00">
              <a:alpha val="15000"/>
            </a:srgbClr>
          </a:solidFill>
          <a:ln w="9525">
            <a:solidFill>
              <a:srgbClr val="FF6A00">
                <a:alpha val="35000"/>
              </a:srgbClr>
            </a:solidFill>
            <a:prstDash val="solid"/>
          </a:ln>
        </p:spPr>
      </p:sp>
      <p:sp>
        <p:nvSpPr>
          <p:cNvPr id="31" name="Text 29"/>
          <p:cNvSpPr/>
          <p:nvPr/>
        </p:nvSpPr>
        <p:spPr>
          <a:xfrm>
            <a:off x="1181100" y="66227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3.7</a:t>
            </a:r>
            <a:endParaRPr lang="en-US" sz="1800" dirty="0"/>
          </a:p>
        </p:txBody>
      </p:sp>
      <p:sp>
        <p:nvSpPr>
          <p:cNvPr id="32" name="Text 30"/>
          <p:cNvSpPr/>
          <p:nvPr/>
        </p:nvSpPr>
        <p:spPr>
          <a:xfrm>
            <a:off x="1819275" y="6698903"/>
            <a:ext cx="1004759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Assess strengths and limitations of AI tools well enough to select an appropriate one for a task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EXAM BLUEPRINT</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Seven Domains, One Examination</a:t>
            </a:r>
            <a:endParaRPr lang="en-US" sz="3150" dirty="0"/>
          </a:p>
        </p:txBody>
      </p:sp>
      <p:sp>
        <p:nvSpPr>
          <p:cNvPr id="5" name="Text 3"/>
          <p:cNvSpPr/>
          <p:nvPr/>
        </p:nvSpPr>
        <p:spPr>
          <a:xfrm>
            <a:off x="952500" y="1812578"/>
            <a:ext cx="1362075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This module covers Domain 3 — the landscape of generative AI and the tools built on it.</a:t>
            </a:r>
            <a:endParaRPr lang="en-US" sz="1950" dirty="0"/>
          </a:p>
        </p:txBody>
      </p:sp>
      <p:sp>
        <p:nvSpPr>
          <p:cNvPr id="6" name="Shape 4"/>
          <p:cNvSpPr/>
          <p:nvPr/>
        </p:nvSpPr>
        <p:spPr>
          <a:xfrm>
            <a:off x="966788" y="2437358"/>
            <a:ext cx="1283940" cy="485775"/>
          </a:xfrm>
          <a:custGeom>
            <a:avLst/>
            <a:gdLst/>
            <a:ahLst/>
            <a:cxnLst/>
            <a:rect l="l" t="t" r="r" b="b"/>
            <a:pathLst>
              <a:path w="1283940" h="485775">
                <a:moveTo>
                  <a:pt x="95250" y="0"/>
                </a:moveTo>
                <a:lnTo>
                  <a:pt x="1283940" y="0"/>
                </a:lnTo>
                <a:lnTo>
                  <a:pt x="1283940" y="485775"/>
                </a:lnTo>
                <a:lnTo>
                  <a:pt x="0" y="485775"/>
                </a:lnTo>
                <a:lnTo>
                  <a:pt x="0" y="95250"/>
                </a:lnTo>
                <a:arcTo hR="95250" wR="95250" stAng="10800000" swAng="5400000"/>
                <a:close/>
              </a:path>
            </a:pathLst>
          </a:custGeom>
          <a:solidFill>
            <a:srgbClr val="FF6A00">
              <a:alpha val="18000"/>
            </a:srgbClr>
          </a:solidFill>
          <a:ln/>
        </p:spPr>
      </p:sp>
      <p:sp>
        <p:nvSpPr>
          <p:cNvPr id="7" name="Shape 5"/>
          <p:cNvSpPr/>
          <p:nvPr/>
        </p:nvSpPr>
        <p:spPr>
          <a:xfrm>
            <a:off x="966788" y="2913608"/>
            <a:ext cx="1283940" cy="9525"/>
          </a:xfrm>
          <a:prstGeom prst="rect">
            <a:avLst/>
          </a:prstGeom>
          <a:solidFill>
            <a:srgbClr val="B85100"/>
          </a:solidFill>
          <a:ln/>
        </p:spPr>
      </p:sp>
      <p:sp>
        <p:nvSpPr>
          <p:cNvPr id="8" name="Text 6"/>
          <p:cNvSpPr/>
          <p:nvPr/>
        </p:nvSpPr>
        <p:spPr>
          <a:xfrm>
            <a:off x="1119188" y="2532608"/>
            <a:ext cx="105534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a:t>
            </a:r>
            <a:endParaRPr lang="en-US" sz="1950" dirty="0"/>
          </a:p>
        </p:txBody>
      </p:sp>
      <p:sp>
        <p:nvSpPr>
          <p:cNvPr id="9" name="Shape 7"/>
          <p:cNvSpPr/>
          <p:nvPr/>
        </p:nvSpPr>
        <p:spPr>
          <a:xfrm>
            <a:off x="2250728" y="2437358"/>
            <a:ext cx="11151617" cy="485775"/>
          </a:xfrm>
          <a:prstGeom prst="rect">
            <a:avLst/>
          </a:prstGeom>
          <a:solidFill>
            <a:srgbClr val="FF6A00">
              <a:alpha val="18000"/>
            </a:srgbClr>
          </a:solidFill>
          <a:ln/>
        </p:spPr>
      </p:sp>
      <p:sp>
        <p:nvSpPr>
          <p:cNvPr id="10" name="Shape 8"/>
          <p:cNvSpPr/>
          <p:nvPr/>
        </p:nvSpPr>
        <p:spPr>
          <a:xfrm>
            <a:off x="2250728" y="2913608"/>
            <a:ext cx="11151617" cy="9525"/>
          </a:xfrm>
          <a:prstGeom prst="rect">
            <a:avLst/>
          </a:prstGeom>
          <a:solidFill>
            <a:srgbClr val="B85100"/>
          </a:solidFill>
          <a:ln/>
        </p:spPr>
      </p:sp>
      <p:sp>
        <p:nvSpPr>
          <p:cNvPr id="11" name="Text 9"/>
          <p:cNvSpPr/>
          <p:nvPr/>
        </p:nvSpPr>
        <p:spPr>
          <a:xfrm>
            <a:off x="2403128" y="2532608"/>
            <a:ext cx="11181366"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Domain</a:t>
            </a:r>
            <a:endParaRPr lang="en-US" sz="1950" dirty="0"/>
          </a:p>
        </p:txBody>
      </p:sp>
      <p:sp>
        <p:nvSpPr>
          <p:cNvPr id="12" name="Shape 10"/>
          <p:cNvSpPr/>
          <p:nvPr/>
        </p:nvSpPr>
        <p:spPr>
          <a:xfrm>
            <a:off x="13402345" y="2437358"/>
            <a:ext cx="3933155" cy="485775"/>
          </a:xfrm>
          <a:custGeom>
            <a:avLst/>
            <a:gdLst/>
            <a:ahLst/>
            <a:cxnLst/>
            <a:rect l="l" t="t" r="r" b="b"/>
            <a:pathLst>
              <a:path w="3933155" h="485775">
                <a:moveTo>
                  <a:pt x="0" y="0"/>
                </a:moveTo>
                <a:lnTo>
                  <a:pt x="3837905" y="0"/>
                </a:lnTo>
                <a:arcTo hR="95250" wR="95250" stAng="16200000" swAng="5400000"/>
                <a:lnTo>
                  <a:pt x="3933155" y="485775"/>
                </a:lnTo>
                <a:lnTo>
                  <a:pt x="0" y="485775"/>
                </a:lnTo>
                <a:lnTo>
                  <a:pt x="0" y="0"/>
                </a:lnTo>
                <a:close/>
              </a:path>
            </a:pathLst>
          </a:custGeom>
          <a:solidFill>
            <a:srgbClr val="FF6A00">
              <a:alpha val="18000"/>
            </a:srgbClr>
          </a:solidFill>
          <a:ln/>
        </p:spPr>
      </p:sp>
      <p:sp>
        <p:nvSpPr>
          <p:cNvPr id="13" name="Shape 11"/>
          <p:cNvSpPr/>
          <p:nvPr/>
        </p:nvSpPr>
        <p:spPr>
          <a:xfrm>
            <a:off x="13402345" y="2913608"/>
            <a:ext cx="3933155" cy="9525"/>
          </a:xfrm>
          <a:prstGeom prst="rect">
            <a:avLst/>
          </a:prstGeom>
          <a:solidFill>
            <a:srgbClr val="B85100"/>
          </a:solidFill>
          <a:ln/>
        </p:spPr>
      </p:sp>
      <p:sp>
        <p:nvSpPr>
          <p:cNvPr id="14" name="Text 12"/>
          <p:cNvSpPr/>
          <p:nvPr/>
        </p:nvSpPr>
        <p:spPr>
          <a:xfrm>
            <a:off x="13436750" y="2532608"/>
            <a:ext cx="3746350" cy="323850"/>
          </a:xfrm>
          <a:prstGeom prst="rect">
            <a:avLst/>
          </a:prstGeom>
          <a:noFill/>
          <a:ln/>
        </p:spPr>
        <p:txBody>
          <a:bodyPr wrap="square" lIns="25400" tIns="25400" rIns="25400" bIns="25400" rtlCol="0" anchor="ctr">
            <a:normAutofit/>
          </a:bodyPr>
          <a:lstStyle/>
          <a:p>
            <a:pPr algn="r" indent="0" marL="0">
              <a:buNone/>
            </a:pPr>
            <a:r>
              <a:rPr lang="en-US" sz="1950" b="1" dirty="0">
                <a:solidFill>
                  <a:srgbClr val="F5F7FB"/>
                </a:solidFill>
                <a:latin typeface="Arial" pitchFamily="34" charset="0"/>
                <a:ea typeface="Arial" pitchFamily="34" charset="-122"/>
                <a:cs typeface="Arial" pitchFamily="34" charset="-120"/>
              </a:rPr>
              <a:t>Weighting</a:t>
            </a:r>
            <a:endParaRPr lang="en-US" sz="1950" dirty="0"/>
          </a:p>
        </p:txBody>
      </p:sp>
      <p:sp>
        <p:nvSpPr>
          <p:cNvPr id="15" name="Text 13"/>
          <p:cNvSpPr/>
          <p:nvPr/>
        </p:nvSpPr>
        <p:spPr>
          <a:xfrm>
            <a:off x="1119188" y="3018383"/>
            <a:ext cx="1055340"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1</a:t>
            </a:r>
            <a:endParaRPr lang="en-US" sz="1950" dirty="0"/>
          </a:p>
        </p:txBody>
      </p:sp>
      <p:sp>
        <p:nvSpPr>
          <p:cNvPr id="16" name="Text 14"/>
          <p:cNvSpPr/>
          <p:nvPr/>
        </p:nvSpPr>
        <p:spPr>
          <a:xfrm>
            <a:off x="2403128" y="3018383"/>
            <a:ext cx="11181366"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Concepts &amp; Terminology</a:t>
            </a:r>
            <a:endParaRPr lang="en-US" sz="1950" dirty="0"/>
          </a:p>
        </p:txBody>
      </p:sp>
      <p:sp>
        <p:nvSpPr>
          <p:cNvPr id="17" name="Text 15"/>
          <p:cNvSpPr/>
          <p:nvPr/>
        </p:nvSpPr>
        <p:spPr>
          <a:xfrm>
            <a:off x="13436750" y="3018383"/>
            <a:ext cx="3746350" cy="333375"/>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20%</a:t>
            </a:r>
            <a:endParaRPr lang="en-US" sz="1950" dirty="0"/>
          </a:p>
        </p:txBody>
      </p:sp>
      <p:sp>
        <p:nvSpPr>
          <p:cNvPr id="18" name="Shape 16"/>
          <p:cNvSpPr/>
          <p:nvPr/>
        </p:nvSpPr>
        <p:spPr>
          <a:xfrm>
            <a:off x="966788" y="3408908"/>
            <a:ext cx="16368713" cy="481012"/>
          </a:xfrm>
          <a:prstGeom prst="rect">
            <a:avLst/>
          </a:prstGeom>
          <a:solidFill>
            <a:srgbClr val="FFFFFF">
              <a:alpha val="2000"/>
            </a:srgbClr>
          </a:solidFill>
          <a:ln/>
        </p:spPr>
      </p:sp>
      <p:sp>
        <p:nvSpPr>
          <p:cNvPr id="19" name="Text 17"/>
          <p:cNvSpPr/>
          <p:nvPr/>
        </p:nvSpPr>
        <p:spPr>
          <a:xfrm>
            <a:off x="1119188" y="3504158"/>
            <a:ext cx="105534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2</a:t>
            </a:r>
            <a:endParaRPr lang="en-US" sz="1950" dirty="0"/>
          </a:p>
        </p:txBody>
      </p:sp>
      <p:sp>
        <p:nvSpPr>
          <p:cNvPr id="20" name="Text 18"/>
          <p:cNvSpPr/>
          <p:nvPr/>
        </p:nvSpPr>
        <p:spPr>
          <a:xfrm>
            <a:off x="2403128" y="3504158"/>
            <a:ext cx="11181366"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AI Systems Work</a:t>
            </a:r>
            <a:endParaRPr lang="en-US" sz="1950" dirty="0"/>
          </a:p>
        </p:txBody>
      </p:sp>
      <p:sp>
        <p:nvSpPr>
          <p:cNvPr id="21" name="Text 19"/>
          <p:cNvSpPr/>
          <p:nvPr/>
        </p:nvSpPr>
        <p:spPr>
          <a:xfrm>
            <a:off x="13436750" y="3504158"/>
            <a:ext cx="3746350"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2" name="Shape 20"/>
          <p:cNvSpPr/>
          <p:nvPr/>
        </p:nvSpPr>
        <p:spPr>
          <a:xfrm>
            <a:off x="966788" y="3889921"/>
            <a:ext cx="16368713" cy="481012"/>
          </a:xfrm>
          <a:prstGeom prst="rect">
            <a:avLst/>
          </a:prstGeom>
          <a:solidFill>
            <a:srgbClr val="FF6A00">
              <a:alpha val="10000"/>
            </a:srgbClr>
          </a:solidFill>
          <a:ln/>
        </p:spPr>
      </p:sp>
      <p:sp>
        <p:nvSpPr>
          <p:cNvPr id="23" name="Shape 21"/>
          <p:cNvSpPr/>
          <p:nvPr/>
        </p:nvSpPr>
        <p:spPr>
          <a:xfrm>
            <a:off x="966788" y="3889921"/>
            <a:ext cx="28575" cy="481012"/>
          </a:xfrm>
          <a:prstGeom prst="rect">
            <a:avLst/>
          </a:prstGeom>
          <a:solidFill>
            <a:srgbClr val="FF6A00"/>
          </a:solidFill>
          <a:ln/>
        </p:spPr>
      </p:sp>
      <p:sp>
        <p:nvSpPr>
          <p:cNvPr id="24" name="Text 22"/>
          <p:cNvSpPr/>
          <p:nvPr/>
        </p:nvSpPr>
        <p:spPr>
          <a:xfrm>
            <a:off x="1119188" y="3985171"/>
            <a:ext cx="1055340"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F6A00"/>
                </a:solidFill>
                <a:latin typeface="Arial" pitchFamily="34" charset="0"/>
                <a:ea typeface="Arial" pitchFamily="34" charset="-122"/>
                <a:cs typeface="Arial" pitchFamily="34" charset="-120"/>
              </a:rPr>
              <a:t>3</a:t>
            </a:r>
            <a:endParaRPr lang="en-US" sz="1950" dirty="0"/>
          </a:p>
        </p:txBody>
      </p:sp>
      <p:sp>
        <p:nvSpPr>
          <p:cNvPr id="25" name="Text 23"/>
          <p:cNvSpPr/>
          <p:nvPr/>
        </p:nvSpPr>
        <p:spPr>
          <a:xfrm>
            <a:off x="2403128" y="3985171"/>
            <a:ext cx="11181366"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Generative AI &amp; AI Tools</a:t>
            </a:r>
            <a:endParaRPr lang="en-US" sz="1950" dirty="0"/>
          </a:p>
        </p:txBody>
      </p:sp>
      <p:sp>
        <p:nvSpPr>
          <p:cNvPr id="26" name="Text 24"/>
          <p:cNvSpPr/>
          <p:nvPr/>
        </p:nvSpPr>
        <p:spPr>
          <a:xfrm>
            <a:off x="13436750" y="3985171"/>
            <a:ext cx="3746350" cy="328612"/>
          </a:xfrm>
          <a:prstGeom prst="rect">
            <a:avLst/>
          </a:prstGeom>
          <a:noFill/>
          <a:ln/>
        </p:spPr>
        <p:txBody>
          <a:bodyPr wrap="square" lIns="25400" tIns="25400" rIns="25400" bIns="25400" rtlCol="0" anchor="ctr">
            <a:normAutofit/>
          </a:bodyPr>
          <a:lstStyle/>
          <a:p>
            <a:pPr algn="r" indent="0" marL="0">
              <a:buNone/>
            </a:pPr>
            <a:r>
              <a:rPr lang="en-US" sz="1950" b="1" dirty="0">
                <a:solidFill>
                  <a:srgbClr val="FF6A00"/>
                </a:solidFill>
                <a:latin typeface="Arial" pitchFamily="34" charset="0"/>
                <a:ea typeface="Arial" pitchFamily="34" charset="-122"/>
                <a:cs typeface="Arial" pitchFamily="34" charset="-120"/>
              </a:rPr>
              <a:t>15%</a:t>
            </a:r>
            <a:endParaRPr lang="en-US" sz="1950" dirty="0"/>
          </a:p>
        </p:txBody>
      </p:sp>
      <p:sp>
        <p:nvSpPr>
          <p:cNvPr id="27" name="Text 25"/>
          <p:cNvSpPr/>
          <p:nvPr/>
        </p:nvSpPr>
        <p:spPr>
          <a:xfrm>
            <a:off x="1119188" y="4466183"/>
            <a:ext cx="105534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4</a:t>
            </a:r>
            <a:endParaRPr lang="en-US" sz="1950" dirty="0"/>
          </a:p>
        </p:txBody>
      </p:sp>
      <p:sp>
        <p:nvSpPr>
          <p:cNvPr id="28" name="Text 26"/>
          <p:cNvSpPr/>
          <p:nvPr/>
        </p:nvSpPr>
        <p:spPr>
          <a:xfrm>
            <a:off x="2403128" y="4466183"/>
            <a:ext cx="11181366"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Prompting &amp; Effective AI Use</a:t>
            </a:r>
            <a:endParaRPr lang="en-US" sz="1950" dirty="0"/>
          </a:p>
        </p:txBody>
      </p:sp>
      <p:sp>
        <p:nvSpPr>
          <p:cNvPr id="29" name="Text 27"/>
          <p:cNvSpPr/>
          <p:nvPr/>
        </p:nvSpPr>
        <p:spPr>
          <a:xfrm>
            <a:off x="13436750" y="4466183"/>
            <a:ext cx="3746350"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30" name="Shape 28"/>
          <p:cNvSpPr/>
          <p:nvPr/>
        </p:nvSpPr>
        <p:spPr>
          <a:xfrm>
            <a:off x="966788" y="4851946"/>
            <a:ext cx="16368713" cy="481012"/>
          </a:xfrm>
          <a:prstGeom prst="rect">
            <a:avLst/>
          </a:prstGeom>
          <a:solidFill>
            <a:srgbClr val="FFFFFF">
              <a:alpha val="2000"/>
            </a:srgbClr>
          </a:solidFill>
          <a:ln/>
        </p:spPr>
      </p:sp>
      <p:sp>
        <p:nvSpPr>
          <p:cNvPr id="31" name="Text 29"/>
          <p:cNvSpPr/>
          <p:nvPr/>
        </p:nvSpPr>
        <p:spPr>
          <a:xfrm>
            <a:off x="1119188" y="4947196"/>
            <a:ext cx="105534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5</a:t>
            </a:r>
            <a:endParaRPr lang="en-US" sz="1950" dirty="0"/>
          </a:p>
        </p:txBody>
      </p:sp>
      <p:sp>
        <p:nvSpPr>
          <p:cNvPr id="32" name="Text 30"/>
          <p:cNvSpPr/>
          <p:nvPr/>
        </p:nvSpPr>
        <p:spPr>
          <a:xfrm>
            <a:off x="2403128" y="4947196"/>
            <a:ext cx="11181366"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Limitations &amp; Verification</a:t>
            </a:r>
            <a:endParaRPr lang="en-US" sz="1950" dirty="0"/>
          </a:p>
        </p:txBody>
      </p:sp>
      <p:sp>
        <p:nvSpPr>
          <p:cNvPr id="33" name="Text 31"/>
          <p:cNvSpPr/>
          <p:nvPr/>
        </p:nvSpPr>
        <p:spPr>
          <a:xfrm>
            <a:off x="13436750" y="4947196"/>
            <a:ext cx="3746350"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34" name="Text 32"/>
          <p:cNvSpPr/>
          <p:nvPr/>
        </p:nvSpPr>
        <p:spPr>
          <a:xfrm>
            <a:off x="1119188" y="5428208"/>
            <a:ext cx="105534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6</a:t>
            </a:r>
            <a:endParaRPr lang="en-US" sz="1950" dirty="0"/>
          </a:p>
        </p:txBody>
      </p:sp>
      <p:sp>
        <p:nvSpPr>
          <p:cNvPr id="35" name="Text 33"/>
          <p:cNvSpPr/>
          <p:nvPr/>
        </p:nvSpPr>
        <p:spPr>
          <a:xfrm>
            <a:off x="2403128" y="5428208"/>
            <a:ext cx="11181366"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Security, Privacy &amp; Data</a:t>
            </a:r>
            <a:endParaRPr lang="en-US" sz="1950" dirty="0"/>
          </a:p>
        </p:txBody>
      </p:sp>
      <p:sp>
        <p:nvSpPr>
          <p:cNvPr id="36" name="Text 34"/>
          <p:cNvSpPr/>
          <p:nvPr/>
        </p:nvSpPr>
        <p:spPr>
          <a:xfrm>
            <a:off x="13436750" y="5428208"/>
            <a:ext cx="3746350"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10%</a:t>
            </a:r>
            <a:endParaRPr lang="en-US" sz="1950" dirty="0"/>
          </a:p>
        </p:txBody>
      </p:sp>
      <p:sp>
        <p:nvSpPr>
          <p:cNvPr id="37" name="Shape 35"/>
          <p:cNvSpPr/>
          <p:nvPr/>
        </p:nvSpPr>
        <p:spPr>
          <a:xfrm>
            <a:off x="966788" y="5813971"/>
            <a:ext cx="16368713" cy="481012"/>
          </a:xfrm>
          <a:prstGeom prst="rect">
            <a:avLst/>
          </a:prstGeom>
          <a:solidFill>
            <a:srgbClr val="FFFFFF">
              <a:alpha val="2000"/>
            </a:srgbClr>
          </a:solidFill>
          <a:ln/>
        </p:spPr>
      </p:sp>
      <p:sp>
        <p:nvSpPr>
          <p:cNvPr id="38" name="Text 36"/>
          <p:cNvSpPr/>
          <p:nvPr/>
        </p:nvSpPr>
        <p:spPr>
          <a:xfrm>
            <a:off x="1119188" y="5909221"/>
            <a:ext cx="105534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7</a:t>
            </a:r>
            <a:endParaRPr lang="en-US" sz="1950" dirty="0"/>
          </a:p>
        </p:txBody>
      </p:sp>
      <p:sp>
        <p:nvSpPr>
          <p:cNvPr id="39" name="Text 37"/>
          <p:cNvSpPr/>
          <p:nvPr/>
        </p:nvSpPr>
        <p:spPr>
          <a:xfrm>
            <a:off x="2403128" y="5909221"/>
            <a:ext cx="11181366"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Responsible AI, Ethics &amp; Governance</a:t>
            </a:r>
            <a:endParaRPr lang="en-US" sz="1950" dirty="0"/>
          </a:p>
        </p:txBody>
      </p:sp>
      <p:sp>
        <p:nvSpPr>
          <p:cNvPr id="40" name="Text 38"/>
          <p:cNvSpPr/>
          <p:nvPr/>
        </p:nvSpPr>
        <p:spPr>
          <a:xfrm>
            <a:off x="13436750" y="5909221"/>
            <a:ext cx="3746350"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10%</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433837"/>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BUILDING ON MODULE 2</a:t>
            </a:r>
            <a:endParaRPr lang="en-US" sz="1800" dirty="0"/>
          </a:p>
        </p:txBody>
      </p:sp>
      <p:sp>
        <p:nvSpPr>
          <p:cNvPr id="4" name="Text 2"/>
          <p:cNvSpPr/>
          <p:nvPr/>
        </p:nvSpPr>
        <p:spPr>
          <a:xfrm>
            <a:off x="952500" y="3871987"/>
            <a:ext cx="13735050" cy="958155"/>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You Know How A Model Predicts. Now: What Can It Actually Produce?</a:t>
            </a:r>
            <a:endParaRPr lang="en-US" sz="3150" dirty="0"/>
          </a:p>
        </p:txBody>
      </p:sp>
      <p:sp>
        <p:nvSpPr>
          <p:cNvPr id="5" name="Text 3"/>
          <p:cNvSpPr/>
          <p:nvPr/>
        </p:nvSpPr>
        <p:spPr>
          <a:xfrm>
            <a:off x="952500" y="5306392"/>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This module surveys the landscape built on that prediction mechanism — the categories of generative AI, the tool types available, and how to choose the right one for a task, all described without naming any specific commercial product.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70359" y="4586734"/>
            <a:ext cx="5347208"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3.1 · SUB-OBJECTIVE 1 OF 7</a:t>
            </a:r>
            <a:endParaRPr lang="en-US" sz="1950" dirty="0"/>
          </a:p>
        </p:txBody>
      </p:sp>
      <p:sp>
        <p:nvSpPr>
          <p:cNvPr id="4" name="Text 2"/>
          <p:cNvSpPr/>
          <p:nvPr/>
        </p:nvSpPr>
        <p:spPr>
          <a:xfrm>
            <a:off x="5197011" y="5086796"/>
            <a:ext cx="7893978"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Categories Of Generative AI</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3.1 CATEGORIES OF GENERATIVE AI</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Five Categories, Defined By What They Produce</a:t>
            </a:r>
            <a:endParaRPr lang="en-US" sz="3150" dirty="0"/>
          </a:p>
        </p:txBody>
      </p:sp>
      <p:sp>
        <p:nvSpPr>
          <p:cNvPr id="5" name="Shape 3"/>
          <p:cNvSpPr/>
          <p:nvPr/>
        </p:nvSpPr>
        <p:spPr>
          <a:xfrm>
            <a:off x="952500" y="1869728"/>
            <a:ext cx="3154635" cy="1463873"/>
          </a:xfrm>
          <a:prstGeom prst="roundRect">
            <a:avLst>
              <a:gd name="adj" fmla="val 10411"/>
            </a:avLst>
          </a:prstGeom>
          <a:solidFill>
            <a:srgbClr val="FFFFFF">
              <a:alpha val="2000"/>
            </a:srgbClr>
          </a:solidFill>
          <a:ln w="9525">
            <a:solidFill>
              <a:srgbClr val="2A2F3A"/>
            </a:solidFill>
            <a:prstDash val="solid"/>
          </a:ln>
        </p:spPr>
      </p:sp>
      <p:sp>
        <p:nvSpPr>
          <p:cNvPr id="6" name="Text 4"/>
          <p:cNvSpPr/>
          <p:nvPr/>
        </p:nvSpPr>
        <p:spPr>
          <a:xfrm>
            <a:off x="972886" y="2088803"/>
            <a:ext cx="3113864"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Text</a:t>
            </a:r>
            <a:endParaRPr lang="en-US" sz="1950" dirty="0"/>
          </a:p>
        </p:txBody>
      </p:sp>
      <p:sp>
        <p:nvSpPr>
          <p:cNvPr id="7" name="Text 5"/>
          <p:cNvSpPr/>
          <p:nvPr/>
        </p:nvSpPr>
        <p:spPr>
          <a:xfrm>
            <a:off x="972886" y="2474565"/>
            <a:ext cx="3113864" cy="358080"/>
          </a:xfrm>
          <a:prstGeom prst="rect">
            <a:avLst/>
          </a:prstGeom>
          <a:noFill/>
          <a:ln/>
        </p:spPr>
        <p:txBody>
          <a:bodyPr wrap="square" lIns="25400" tIns="25400" rIns="25400" bIns="25400" rtlCol="0" anchor="t">
            <a:normAutofit/>
          </a:bodyPr>
          <a:lstStyle/>
          <a:p>
            <a:pPr algn="ctr" indent="0" marL="0">
              <a:lnSpc>
                <a:spcPct val="122182"/>
              </a:lnSpc>
              <a:buNone/>
            </a:pPr>
            <a:r>
              <a:rPr lang="en-US" sz="1800" dirty="0">
                <a:solidFill>
                  <a:srgbClr val="DFE3EA"/>
                </a:solidFill>
                <a:latin typeface="Arial" pitchFamily="34" charset="0"/>
                <a:ea typeface="Arial" pitchFamily="34" charset="-122"/>
                <a:cs typeface="Arial" pitchFamily="34" charset="-120"/>
              </a:rPr>
              <a:t>Drafts, summaries, answers</a:t>
            </a:r>
            <a:endParaRPr lang="en-US" sz="1800" dirty="0"/>
          </a:p>
        </p:txBody>
      </p:sp>
      <p:sp>
        <p:nvSpPr>
          <p:cNvPr id="8" name="Shape 6"/>
          <p:cNvSpPr/>
          <p:nvPr/>
        </p:nvSpPr>
        <p:spPr>
          <a:xfrm>
            <a:off x="4259535" y="1869728"/>
            <a:ext cx="3154710" cy="1463873"/>
          </a:xfrm>
          <a:prstGeom prst="roundRect">
            <a:avLst>
              <a:gd name="adj" fmla="val 10411"/>
            </a:avLst>
          </a:prstGeom>
          <a:solidFill>
            <a:srgbClr val="FFFFFF">
              <a:alpha val="2000"/>
            </a:srgbClr>
          </a:solidFill>
          <a:ln w="9525">
            <a:solidFill>
              <a:srgbClr val="2A2F3A"/>
            </a:solidFill>
            <a:prstDash val="solid"/>
          </a:ln>
        </p:spPr>
      </p:sp>
      <p:sp>
        <p:nvSpPr>
          <p:cNvPr id="9" name="Text 7"/>
          <p:cNvSpPr/>
          <p:nvPr/>
        </p:nvSpPr>
        <p:spPr>
          <a:xfrm>
            <a:off x="4279917" y="2088803"/>
            <a:ext cx="3113946"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Image</a:t>
            </a:r>
            <a:endParaRPr lang="en-US" sz="1950" dirty="0"/>
          </a:p>
        </p:txBody>
      </p:sp>
      <p:sp>
        <p:nvSpPr>
          <p:cNvPr id="10" name="Text 8"/>
          <p:cNvSpPr/>
          <p:nvPr/>
        </p:nvSpPr>
        <p:spPr>
          <a:xfrm>
            <a:off x="4279917" y="2474565"/>
            <a:ext cx="3113946" cy="358080"/>
          </a:xfrm>
          <a:prstGeom prst="rect">
            <a:avLst/>
          </a:prstGeom>
          <a:noFill/>
          <a:ln/>
        </p:spPr>
        <p:txBody>
          <a:bodyPr wrap="square" lIns="25400" tIns="25400" rIns="25400" bIns="25400" rtlCol="0" anchor="t">
            <a:normAutofit/>
          </a:bodyPr>
          <a:lstStyle/>
          <a:p>
            <a:pPr algn="ctr" indent="0" marL="0">
              <a:lnSpc>
                <a:spcPct val="122182"/>
              </a:lnSpc>
              <a:buNone/>
            </a:pPr>
            <a:r>
              <a:rPr lang="en-US" sz="1800" dirty="0">
                <a:solidFill>
                  <a:srgbClr val="DFE3EA"/>
                </a:solidFill>
                <a:latin typeface="Arial" pitchFamily="34" charset="0"/>
                <a:ea typeface="Arial" pitchFamily="34" charset="-122"/>
                <a:cs typeface="Arial" pitchFamily="34" charset="-120"/>
              </a:rPr>
              <a:t>Illustrations, photos, designs</a:t>
            </a:r>
            <a:endParaRPr lang="en-US" sz="1800" dirty="0"/>
          </a:p>
        </p:txBody>
      </p:sp>
      <p:sp>
        <p:nvSpPr>
          <p:cNvPr id="11" name="Shape 9"/>
          <p:cNvSpPr/>
          <p:nvPr/>
        </p:nvSpPr>
        <p:spPr>
          <a:xfrm>
            <a:off x="7566645" y="1869728"/>
            <a:ext cx="3154635" cy="1463873"/>
          </a:xfrm>
          <a:prstGeom prst="roundRect">
            <a:avLst>
              <a:gd name="adj" fmla="val 10411"/>
            </a:avLst>
          </a:prstGeom>
          <a:solidFill>
            <a:srgbClr val="FFFFFF">
              <a:alpha val="2000"/>
            </a:srgbClr>
          </a:solidFill>
          <a:ln w="9525">
            <a:solidFill>
              <a:srgbClr val="2A2F3A"/>
            </a:solidFill>
            <a:prstDash val="solid"/>
          </a:ln>
        </p:spPr>
      </p:sp>
      <p:sp>
        <p:nvSpPr>
          <p:cNvPr id="12" name="Text 10"/>
          <p:cNvSpPr/>
          <p:nvPr/>
        </p:nvSpPr>
        <p:spPr>
          <a:xfrm>
            <a:off x="7587031" y="2088803"/>
            <a:ext cx="3113864"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Audio</a:t>
            </a:r>
            <a:endParaRPr lang="en-US" sz="1950" dirty="0"/>
          </a:p>
        </p:txBody>
      </p:sp>
      <p:sp>
        <p:nvSpPr>
          <p:cNvPr id="13" name="Text 11"/>
          <p:cNvSpPr/>
          <p:nvPr/>
        </p:nvSpPr>
        <p:spPr>
          <a:xfrm>
            <a:off x="7686108" y="2474565"/>
            <a:ext cx="2915709" cy="678061"/>
          </a:xfrm>
          <a:prstGeom prst="rect">
            <a:avLst/>
          </a:prstGeom>
          <a:noFill/>
          <a:ln/>
        </p:spPr>
        <p:txBody>
          <a:bodyPr wrap="square" lIns="25400" tIns="25400" rIns="25400" bIns="25400" rtlCol="0" anchor="t">
            <a:normAutofit/>
          </a:bodyPr>
          <a:lstStyle/>
          <a:p>
            <a:pPr algn="ctr" indent="0" marL="0">
              <a:lnSpc>
                <a:spcPct val="122182"/>
              </a:lnSpc>
              <a:buNone/>
            </a:pPr>
            <a:r>
              <a:rPr lang="en-US" sz="1800" dirty="0">
                <a:solidFill>
                  <a:srgbClr val="DFE3EA"/>
                </a:solidFill>
                <a:latin typeface="Arial" pitchFamily="34" charset="0"/>
                <a:ea typeface="Arial" pitchFamily="34" charset="-122"/>
                <a:cs typeface="Arial" pitchFamily="34" charset="-120"/>
              </a:rPr>
              <a:t>Speech, music, sound effects</a:t>
            </a:r>
            <a:endParaRPr lang="en-US" sz="1800" dirty="0"/>
          </a:p>
        </p:txBody>
      </p:sp>
      <p:sp>
        <p:nvSpPr>
          <p:cNvPr id="14" name="Shape 12"/>
          <p:cNvSpPr/>
          <p:nvPr/>
        </p:nvSpPr>
        <p:spPr>
          <a:xfrm>
            <a:off x="10873680" y="1869728"/>
            <a:ext cx="3154710" cy="1463873"/>
          </a:xfrm>
          <a:prstGeom prst="roundRect">
            <a:avLst>
              <a:gd name="adj" fmla="val 10411"/>
            </a:avLst>
          </a:prstGeom>
          <a:solidFill>
            <a:srgbClr val="FFFFFF">
              <a:alpha val="2000"/>
            </a:srgbClr>
          </a:solidFill>
          <a:ln w="9525">
            <a:solidFill>
              <a:srgbClr val="2A2F3A"/>
            </a:solidFill>
            <a:prstDash val="solid"/>
          </a:ln>
        </p:spPr>
      </p:sp>
      <p:sp>
        <p:nvSpPr>
          <p:cNvPr id="15" name="Text 13"/>
          <p:cNvSpPr/>
          <p:nvPr/>
        </p:nvSpPr>
        <p:spPr>
          <a:xfrm>
            <a:off x="10894062" y="2088803"/>
            <a:ext cx="3113946"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Video</a:t>
            </a:r>
            <a:endParaRPr lang="en-US" sz="1950" dirty="0"/>
          </a:p>
        </p:txBody>
      </p:sp>
      <p:sp>
        <p:nvSpPr>
          <p:cNvPr id="16" name="Text 14"/>
          <p:cNvSpPr/>
          <p:nvPr/>
        </p:nvSpPr>
        <p:spPr>
          <a:xfrm>
            <a:off x="10894062" y="2474565"/>
            <a:ext cx="3113946" cy="358080"/>
          </a:xfrm>
          <a:prstGeom prst="rect">
            <a:avLst/>
          </a:prstGeom>
          <a:noFill/>
          <a:ln/>
        </p:spPr>
        <p:txBody>
          <a:bodyPr wrap="square" lIns="25400" tIns="25400" rIns="25400" bIns="25400" rtlCol="0" anchor="t">
            <a:normAutofit/>
          </a:bodyPr>
          <a:lstStyle/>
          <a:p>
            <a:pPr algn="ctr" indent="0" marL="0">
              <a:lnSpc>
                <a:spcPct val="122182"/>
              </a:lnSpc>
              <a:buNone/>
            </a:pPr>
            <a:r>
              <a:rPr lang="en-US" sz="1800" dirty="0">
                <a:solidFill>
                  <a:srgbClr val="DFE3EA"/>
                </a:solidFill>
                <a:latin typeface="Arial" pitchFamily="34" charset="0"/>
                <a:ea typeface="Arial" pitchFamily="34" charset="-122"/>
                <a:cs typeface="Arial" pitchFamily="34" charset="-120"/>
              </a:rPr>
              <a:t>Short clips, animation</a:t>
            </a:r>
            <a:endParaRPr lang="en-US" sz="1800" dirty="0"/>
          </a:p>
        </p:txBody>
      </p:sp>
      <p:sp>
        <p:nvSpPr>
          <p:cNvPr id="17" name="Shape 15"/>
          <p:cNvSpPr/>
          <p:nvPr/>
        </p:nvSpPr>
        <p:spPr>
          <a:xfrm>
            <a:off x="14180790" y="1869728"/>
            <a:ext cx="3154710" cy="1463873"/>
          </a:xfrm>
          <a:prstGeom prst="roundRect">
            <a:avLst>
              <a:gd name="adj" fmla="val 10411"/>
            </a:avLst>
          </a:prstGeom>
          <a:solidFill>
            <a:srgbClr val="FFFFFF">
              <a:alpha val="2000"/>
            </a:srgbClr>
          </a:solidFill>
          <a:ln w="9525">
            <a:solidFill>
              <a:srgbClr val="2A2F3A"/>
            </a:solidFill>
            <a:prstDash val="solid"/>
          </a:ln>
        </p:spPr>
      </p:sp>
      <p:sp>
        <p:nvSpPr>
          <p:cNvPr id="18" name="Text 16"/>
          <p:cNvSpPr/>
          <p:nvPr/>
        </p:nvSpPr>
        <p:spPr>
          <a:xfrm>
            <a:off x="14201172" y="2088803"/>
            <a:ext cx="3113946"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Code</a:t>
            </a:r>
            <a:endParaRPr lang="en-US" sz="1950" dirty="0"/>
          </a:p>
        </p:txBody>
      </p:sp>
      <p:sp>
        <p:nvSpPr>
          <p:cNvPr id="19" name="Text 17"/>
          <p:cNvSpPr/>
          <p:nvPr/>
        </p:nvSpPr>
        <p:spPr>
          <a:xfrm>
            <a:off x="14201172" y="2474565"/>
            <a:ext cx="3113946" cy="358080"/>
          </a:xfrm>
          <a:prstGeom prst="rect">
            <a:avLst/>
          </a:prstGeom>
          <a:noFill/>
          <a:ln/>
        </p:spPr>
        <p:txBody>
          <a:bodyPr wrap="square" lIns="25400" tIns="25400" rIns="25400" bIns="25400" rtlCol="0" anchor="t">
            <a:normAutofit/>
          </a:bodyPr>
          <a:lstStyle/>
          <a:p>
            <a:pPr algn="ctr" indent="0" marL="0">
              <a:lnSpc>
                <a:spcPct val="122182"/>
              </a:lnSpc>
              <a:buNone/>
            </a:pPr>
            <a:r>
              <a:rPr lang="en-US" sz="1800" dirty="0">
                <a:solidFill>
                  <a:srgbClr val="DFE3EA"/>
                </a:solidFill>
                <a:latin typeface="Arial" pitchFamily="34" charset="0"/>
                <a:ea typeface="Arial" pitchFamily="34" charset="-122"/>
                <a:cs typeface="Arial" pitchFamily="34" charset="-120"/>
              </a:rPr>
              <a:t>Snippets, functions, scripts</a:t>
            </a:r>
            <a:endParaRPr lang="en-US" sz="1800" dirty="0"/>
          </a:p>
        </p:txBody>
      </p:sp>
      <p:sp>
        <p:nvSpPr>
          <p:cNvPr id="20" name="Shape 18"/>
          <p:cNvSpPr/>
          <p:nvPr/>
        </p:nvSpPr>
        <p:spPr>
          <a:xfrm>
            <a:off x="952500" y="3619351"/>
            <a:ext cx="16383000" cy="781050"/>
          </a:xfrm>
          <a:prstGeom prst="roundRect">
            <a:avLst>
              <a:gd name="adj" fmla="val 19512"/>
            </a:avLst>
          </a:prstGeom>
          <a:solidFill>
            <a:srgbClr val="FFFFFF">
              <a:alpha val="2000"/>
            </a:srgbClr>
          </a:solidFill>
          <a:ln w="9525">
            <a:solidFill>
              <a:srgbClr val="2A2F3A"/>
            </a:solidFill>
            <a:prstDash val="solid"/>
          </a:ln>
        </p:spPr>
      </p:sp>
      <p:sp>
        <p:nvSpPr>
          <p:cNvPr id="21" name="Text 19"/>
          <p:cNvSpPr/>
          <p:nvPr/>
        </p:nvSpPr>
        <p:spPr>
          <a:xfrm>
            <a:off x="1171575" y="3838426"/>
            <a:ext cx="1643634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All five apply the same underlying idea from Module 2: predicting the most likely output — just for a different type of content each time.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3.1 CATEGORIES OF GENERATIVE AI</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Typical Workplace Examples By Category</a:t>
            </a:r>
            <a:endParaRPr lang="en-US" sz="3150" dirty="0"/>
          </a:p>
        </p:txBody>
      </p:sp>
      <p:sp>
        <p:nvSpPr>
          <p:cNvPr id="5" name="Shape 3"/>
          <p:cNvSpPr/>
          <p:nvPr/>
        </p:nvSpPr>
        <p:spPr>
          <a:xfrm>
            <a:off x="952500" y="1907828"/>
            <a:ext cx="2726382" cy="514350"/>
          </a:xfrm>
          <a:prstGeom prst="rect">
            <a:avLst/>
          </a:prstGeom>
          <a:solidFill>
            <a:srgbClr val="FF6A00">
              <a:alpha val="18000"/>
            </a:srgbClr>
          </a:solidFill>
          <a:ln/>
        </p:spPr>
      </p:sp>
      <p:sp>
        <p:nvSpPr>
          <p:cNvPr id="6" name="Shape 4"/>
          <p:cNvSpPr/>
          <p:nvPr/>
        </p:nvSpPr>
        <p:spPr>
          <a:xfrm>
            <a:off x="952500" y="2412653"/>
            <a:ext cx="2726382" cy="9525"/>
          </a:xfrm>
          <a:prstGeom prst="rect">
            <a:avLst/>
          </a:prstGeom>
          <a:solidFill>
            <a:srgbClr val="B85100"/>
          </a:solidFill>
          <a:ln/>
        </p:spPr>
      </p:sp>
      <p:sp>
        <p:nvSpPr>
          <p:cNvPr id="7" name="Text 5"/>
          <p:cNvSpPr/>
          <p:nvPr/>
        </p:nvSpPr>
        <p:spPr>
          <a:xfrm>
            <a:off x="1104900" y="2022128"/>
            <a:ext cx="2503374"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Category</a:t>
            </a:r>
            <a:endParaRPr lang="en-US" sz="1875" dirty="0"/>
          </a:p>
        </p:txBody>
      </p:sp>
      <p:sp>
        <p:nvSpPr>
          <p:cNvPr id="8" name="Shape 6"/>
          <p:cNvSpPr/>
          <p:nvPr/>
        </p:nvSpPr>
        <p:spPr>
          <a:xfrm>
            <a:off x="3678882" y="1907828"/>
            <a:ext cx="13656618" cy="514350"/>
          </a:xfrm>
          <a:prstGeom prst="rect">
            <a:avLst/>
          </a:prstGeom>
          <a:solidFill>
            <a:srgbClr val="FF6A00">
              <a:alpha val="18000"/>
            </a:srgbClr>
          </a:solidFill>
          <a:ln/>
        </p:spPr>
      </p:sp>
      <p:sp>
        <p:nvSpPr>
          <p:cNvPr id="9" name="Shape 7"/>
          <p:cNvSpPr/>
          <p:nvPr/>
        </p:nvSpPr>
        <p:spPr>
          <a:xfrm>
            <a:off x="3678882" y="2412653"/>
            <a:ext cx="13656618" cy="9525"/>
          </a:xfrm>
          <a:prstGeom prst="rect">
            <a:avLst/>
          </a:prstGeom>
          <a:solidFill>
            <a:srgbClr val="B85100"/>
          </a:solidFill>
          <a:ln/>
        </p:spPr>
      </p:sp>
      <p:sp>
        <p:nvSpPr>
          <p:cNvPr id="10" name="Text 8"/>
          <p:cNvSpPr/>
          <p:nvPr/>
        </p:nvSpPr>
        <p:spPr>
          <a:xfrm>
            <a:off x="3831282" y="2022128"/>
            <a:ext cx="13761516"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Typical Workplace Example</a:t>
            </a:r>
            <a:endParaRPr lang="en-US" sz="1875" dirty="0"/>
          </a:p>
        </p:txBody>
      </p:sp>
      <p:sp>
        <p:nvSpPr>
          <p:cNvPr id="11" name="Text 9"/>
          <p:cNvSpPr/>
          <p:nvPr/>
        </p:nvSpPr>
        <p:spPr>
          <a:xfrm>
            <a:off x="1104900" y="2536478"/>
            <a:ext cx="2503374"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Text</a:t>
            </a:r>
            <a:endParaRPr lang="en-US" sz="1875" dirty="0"/>
          </a:p>
        </p:txBody>
      </p:sp>
      <p:sp>
        <p:nvSpPr>
          <p:cNvPr id="12" name="Text 10"/>
          <p:cNvSpPr/>
          <p:nvPr/>
        </p:nvSpPr>
        <p:spPr>
          <a:xfrm>
            <a:off x="3831282" y="2536478"/>
            <a:ext cx="13761516"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Drafting a report, writing a summary, answering a question</a:t>
            </a:r>
            <a:endParaRPr lang="en-US" sz="1875" dirty="0"/>
          </a:p>
        </p:txBody>
      </p:sp>
      <p:sp>
        <p:nvSpPr>
          <p:cNvPr id="13" name="Shape 11"/>
          <p:cNvSpPr/>
          <p:nvPr/>
        </p:nvSpPr>
        <p:spPr>
          <a:xfrm>
            <a:off x="952500" y="2936528"/>
            <a:ext cx="16383000" cy="509587"/>
          </a:xfrm>
          <a:prstGeom prst="rect">
            <a:avLst/>
          </a:prstGeom>
          <a:solidFill>
            <a:srgbClr val="FFFFFF">
              <a:alpha val="2000"/>
            </a:srgbClr>
          </a:solidFill>
          <a:ln/>
        </p:spPr>
      </p:sp>
      <p:sp>
        <p:nvSpPr>
          <p:cNvPr id="14" name="Text 12"/>
          <p:cNvSpPr/>
          <p:nvPr/>
        </p:nvSpPr>
        <p:spPr>
          <a:xfrm>
            <a:off x="1104900" y="3050828"/>
            <a:ext cx="2503374"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Image</a:t>
            </a:r>
            <a:endParaRPr lang="en-US" sz="1875" dirty="0"/>
          </a:p>
        </p:txBody>
      </p:sp>
      <p:sp>
        <p:nvSpPr>
          <p:cNvPr id="15" name="Text 13"/>
          <p:cNvSpPr/>
          <p:nvPr/>
        </p:nvSpPr>
        <p:spPr>
          <a:xfrm>
            <a:off x="3831282" y="3050828"/>
            <a:ext cx="1376151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Producing a concept illustration or a first-pass design mock-up</a:t>
            </a:r>
            <a:endParaRPr lang="en-US" sz="1875" dirty="0"/>
          </a:p>
        </p:txBody>
      </p:sp>
      <p:sp>
        <p:nvSpPr>
          <p:cNvPr id="16" name="Text 14"/>
          <p:cNvSpPr/>
          <p:nvPr/>
        </p:nvSpPr>
        <p:spPr>
          <a:xfrm>
            <a:off x="1104900" y="3560415"/>
            <a:ext cx="2503374"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Audio</a:t>
            </a:r>
            <a:endParaRPr lang="en-US" sz="1875" dirty="0"/>
          </a:p>
        </p:txBody>
      </p:sp>
      <p:sp>
        <p:nvSpPr>
          <p:cNvPr id="17" name="Text 15"/>
          <p:cNvSpPr/>
          <p:nvPr/>
        </p:nvSpPr>
        <p:spPr>
          <a:xfrm>
            <a:off x="3831282" y="3560415"/>
            <a:ext cx="1376151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Generating a voiceover or background music for a presentation</a:t>
            </a:r>
            <a:endParaRPr lang="en-US" sz="1875" dirty="0"/>
          </a:p>
        </p:txBody>
      </p:sp>
      <p:sp>
        <p:nvSpPr>
          <p:cNvPr id="18" name="Shape 16"/>
          <p:cNvSpPr/>
          <p:nvPr/>
        </p:nvSpPr>
        <p:spPr>
          <a:xfrm>
            <a:off x="952500" y="3955703"/>
            <a:ext cx="16383000" cy="509587"/>
          </a:xfrm>
          <a:prstGeom prst="rect">
            <a:avLst/>
          </a:prstGeom>
          <a:solidFill>
            <a:srgbClr val="FFFFFF">
              <a:alpha val="2000"/>
            </a:srgbClr>
          </a:solidFill>
          <a:ln/>
        </p:spPr>
      </p:sp>
      <p:sp>
        <p:nvSpPr>
          <p:cNvPr id="19" name="Text 17"/>
          <p:cNvSpPr/>
          <p:nvPr/>
        </p:nvSpPr>
        <p:spPr>
          <a:xfrm>
            <a:off x="1104900" y="4070003"/>
            <a:ext cx="2503374"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Video</a:t>
            </a:r>
            <a:endParaRPr lang="en-US" sz="1875" dirty="0"/>
          </a:p>
        </p:txBody>
      </p:sp>
      <p:sp>
        <p:nvSpPr>
          <p:cNvPr id="20" name="Text 18"/>
          <p:cNvSpPr/>
          <p:nvPr/>
        </p:nvSpPr>
        <p:spPr>
          <a:xfrm>
            <a:off x="3831282" y="4070003"/>
            <a:ext cx="1376151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Creating a short explainer clip from a script</a:t>
            </a:r>
            <a:endParaRPr lang="en-US" sz="1875" dirty="0"/>
          </a:p>
        </p:txBody>
      </p:sp>
      <p:sp>
        <p:nvSpPr>
          <p:cNvPr id="21" name="Text 19"/>
          <p:cNvSpPr/>
          <p:nvPr/>
        </p:nvSpPr>
        <p:spPr>
          <a:xfrm>
            <a:off x="1104900" y="4579590"/>
            <a:ext cx="2503374" cy="319088"/>
          </a:xfrm>
          <a:prstGeom prst="rect">
            <a:avLst/>
          </a:prstGeom>
          <a:noFill/>
          <a:ln/>
        </p:spPr>
        <p:txBody>
          <a:bodyPr wrap="square" lIns="25400" tIns="25400" rIns="25400" bIns="25400" rtlCol="0" anchor="ctr">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Code</a:t>
            </a:r>
            <a:endParaRPr lang="en-US" sz="1875" dirty="0"/>
          </a:p>
        </p:txBody>
      </p:sp>
      <p:sp>
        <p:nvSpPr>
          <p:cNvPr id="22" name="Text 20"/>
          <p:cNvSpPr/>
          <p:nvPr/>
        </p:nvSpPr>
        <p:spPr>
          <a:xfrm>
            <a:off x="3831282" y="4579590"/>
            <a:ext cx="13761516" cy="319088"/>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Generating a function, or suggesting a fix, from a description</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"Generative AI spans five categories of output — text, image, audio, video and code — all built on the same predictive foundation."</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31310" y="4586734"/>
            <a:ext cx="5425380"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3.2 · SUB-OBJECTIVE 2 OF 7</a:t>
            </a:r>
            <a:endParaRPr lang="en-US" sz="1950" dirty="0"/>
          </a:p>
        </p:txBody>
      </p:sp>
      <p:sp>
        <p:nvSpPr>
          <p:cNvPr id="4" name="Text 2"/>
          <p:cNvSpPr/>
          <p:nvPr/>
        </p:nvSpPr>
        <p:spPr>
          <a:xfrm>
            <a:off x="6439499" y="5086796"/>
            <a:ext cx="5408928"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Foundation Models</a:t>
            </a:r>
            <a:endParaRPr lang="en-US" sz="4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3.2 FOUNDATION MODELS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One General-Purpose Model, Many Tasks</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 foundation model is trained once, on broad data, and then applied to many different tasks — rather than one model being built from scratch for every single job. The same underlying model might draft an email, summarise a document and answer a question.</a:t>
            </a:r>
            <a:endParaRPr lang="en-US" sz="2100" dirty="0"/>
          </a:p>
        </p:txBody>
      </p:sp>
      <p:sp>
        <p:nvSpPr>
          <p:cNvPr id="6" name="Shape 4"/>
          <p:cNvSpPr/>
          <p:nvPr/>
        </p:nvSpPr>
        <p:spPr>
          <a:xfrm>
            <a:off x="952500" y="8039100"/>
            <a:ext cx="8096250" cy="1524000"/>
          </a:xfrm>
          <a:prstGeom prst="roundRect">
            <a:avLst>
              <a:gd name="adj" fmla="val 10000"/>
            </a:avLst>
          </a:prstGeom>
          <a:solidFill>
            <a:srgbClr val="FFFFFF">
              <a:alpha val="2000"/>
            </a:srgbClr>
          </a:solidFill>
          <a:ln w="9525">
            <a:solidFill>
              <a:srgbClr val="2A2F3A"/>
            </a:solidFill>
            <a:prstDash val="solid"/>
          </a:ln>
        </p:spPr>
      </p:sp>
      <p:sp>
        <p:nvSpPr>
          <p:cNvPr id="7" name="Text 5"/>
          <p:cNvSpPr/>
          <p:nvPr/>
        </p:nvSpPr>
        <p:spPr>
          <a:xfrm>
            <a:off x="1190625" y="8277225"/>
            <a:ext cx="83820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Recap</a:t>
            </a:r>
            <a:endParaRPr lang="en-US" sz="1800" dirty="0"/>
          </a:p>
        </p:txBody>
      </p:sp>
      <p:sp>
        <p:nvSpPr>
          <p:cNvPr id="8" name="Text 6"/>
          <p:cNvSpPr/>
          <p:nvPr/>
        </p:nvSpPr>
        <p:spPr>
          <a:xfrm>
            <a:off x="1190625" y="8639175"/>
            <a:ext cx="8382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First defined in Module 1, Objective 1.3.</a:t>
            </a:r>
            <a:endParaRPr lang="en-US" sz="1800" dirty="0"/>
          </a:p>
        </p:txBody>
      </p:sp>
      <p:sp>
        <p:nvSpPr>
          <p:cNvPr id="9" name="Shape 7"/>
          <p:cNvSpPr/>
          <p:nvPr/>
        </p:nvSpPr>
        <p:spPr>
          <a:xfrm>
            <a:off x="9239250" y="8039100"/>
            <a:ext cx="8096250" cy="1524000"/>
          </a:xfrm>
          <a:prstGeom prst="roundRect">
            <a:avLst>
              <a:gd name="adj" fmla="val 10000"/>
            </a:avLst>
          </a:prstGeom>
          <a:solidFill>
            <a:srgbClr val="FFFFFF">
              <a:alpha val="2000"/>
            </a:srgbClr>
          </a:solidFill>
          <a:ln w="9525">
            <a:solidFill>
              <a:srgbClr val="2A2F3A"/>
            </a:solidFill>
            <a:prstDash val="solid"/>
          </a:ln>
        </p:spPr>
      </p:sp>
      <p:sp>
        <p:nvSpPr>
          <p:cNvPr id="10" name="Text 8"/>
          <p:cNvSpPr/>
          <p:nvPr/>
        </p:nvSpPr>
        <p:spPr>
          <a:xfrm>
            <a:off x="9477375" y="8277225"/>
            <a:ext cx="83820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Why It Matters</a:t>
            </a:r>
            <a:endParaRPr lang="en-US" sz="1800" dirty="0"/>
          </a:p>
        </p:txBody>
      </p:sp>
      <p:sp>
        <p:nvSpPr>
          <p:cNvPr id="11" name="Text 9"/>
          <p:cNvSpPr/>
          <p:nvPr/>
        </p:nvSpPr>
        <p:spPr>
          <a:xfrm>
            <a:off x="9477375" y="8639175"/>
            <a:ext cx="784860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Breadth of application is what separates a foundation model from an older, single-purpose system.</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3.2 FOUNDATION MODELS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One Base, Many Applications</a:t>
            </a:r>
            <a:endParaRPr lang="en-US" sz="3150" dirty="0"/>
          </a:p>
        </p:txBody>
      </p:sp>
      <p:sp>
        <p:nvSpPr>
          <p:cNvPr id="5" name="Shape 3"/>
          <p:cNvSpPr/>
          <p:nvPr/>
        </p:nvSpPr>
        <p:spPr>
          <a:xfrm>
            <a:off x="5774159" y="2743646"/>
            <a:ext cx="2990850" cy="881063"/>
          </a:xfrm>
          <a:prstGeom prst="roundRect">
            <a:avLst>
              <a:gd name="adj" fmla="val 17297"/>
            </a:avLst>
          </a:prstGeom>
          <a:solidFill>
            <a:srgbClr val="FF6A00">
              <a:alpha val="10000"/>
            </a:srgbClr>
          </a:solidFill>
          <a:ln w="9525">
            <a:solidFill>
              <a:srgbClr val="B85100"/>
            </a:solidFill>
            <a:prstDash val="solid"/>
          </a:ln>
        </p:spPr>
      </p:sp>
      <p:sp>
        <p:nvSpPr>
          <p:cNvPr id="6" name="Text 4"/>
          <p:cNvSpPr/>
          <p:nvPr/>
        </p:nvSpPr>
        <p:spPr>
          <a:xfrm>
            <a:off x="5986471" y="3038921"/>
            <a:ext cx="2566226" cy="328612"/>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Foundation Model</a:t>
            </a:r>
            <a:endParaRPr lang="en-US" sz="1950" dirty="0"/>
          </a:p>
        </p:txBody>
      </p:sp>
      <p:sp>
        <p:nvSpPr>
          <p:cNvPr id="7" name="Text 5"/>
          <p:cNvSpPr/>
          <p:nvPr/>
        </p:nvSpPr>
        <p:spPr>
          <a:xfrm>
            <a:off x="8955509" y="3015109"/>
            <a:ext cx="338807"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9408616" y="1907828"/>
            <a:ext cx="3105150" cy="552450"/>
          </a:xfrm>
          <a:prstGeom prst="roundRect">
            <a:avLst>
              <a:gd name="adj" fmla="val 20690"/>
            </a:avLst>
          </a:prstGeom>
          <a:solidFill>
            <a:srgbClr val="FFFFFF">
              <a:alpha val="3000"/>
            </a:srgbClr>
          </a:solidFill>
          <a:ln w="9525">
            <a:solidFill>
              <a:srgbClr val="2A2F3A"/>
            </a:solidFill>
            <a:prstDash val="solid"/>
          </a:ln>
        </p:spPr>
      </p:sp>
      <p:sp>
        <p:nvSpPr>
          <p:cNvPr id="9" name="Text 7"/>
          <p:cNvSpPr/>
          <p:nvPr/>
        </p:nvSpPr>
        <p:spPr>
          <a:xfrm>
            <a:off x="9581114" y="2050703"/>
            <a:ext cx="276015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F5F7FB"/>
                </a:solidFill>
                <a:latin typeface="Arial" pitchFamily="34" charset="0"/>
                <a:ea typeface="Arial" pitchFamily="34" charset="-122"/>
                <a:cs typeface="Arial" pitchFamily="34" charset="-120"/>
              </a:rPr>
              <a:t>Writing assistant</a:t>
            </a:r>
            <a:endParaRPr lang="en-US" sz="1800" dirty="0"/>
          </a:p>
        </p:txBody>
      </p:sp>
      <p:sp>
        <p:nvSpPr>
          <p:cNvPr id="10" name="Shape 8"/>
          <p:cNvSpPr/>
          <p:nvPr/>
        </p:nvSpPr>
        <p:spPr>
          <a:xfrm>
            <a:off x="9408616" y="2574578"/>
            <a:ext cx="3105150" cy="552450"/>
          </a:xfrm>
          <a:prstGeom prst="roundRect">
            <a:avLst>
              <a:gd name="adj" fmla="val 20690"/>
            </a:avLst>
          </a:prstGeom>
          <a:solidFill>
            <a:srgbClr val="FFFFFF">
              <a:alpha val="3000"/>
            </a:srgbClr>
          </a:solidFill>
          <a:ln w="9525">
            <a:solidFill>
              <a:srgbClr val="2A2F3A"/>
            </a:solidFill>
            <a:prstDash val="solid"/>
          </a:ln>
        </p:spPr>
      </p:sp>
      <p:sp>
        <p:nvSpPr>
          <p:cNvPr id="11" name="Text 9"/>
          <p:cNvSpPr/>
          <p:nvPr/>
        </p:nvSpPr>
        <p:spPr>
          <a:xfrm>
            <a:off x="9581114" y="2717453"/>
            <a:ext cx="276015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F5F7FB"/>
                </a:solidFill>
                <a:latin typeface="Arial" pitchFamily="34" charset="0"/>
                <a:ea typeface="Arial" pitchFamily="34" charset="-122"/>
                <a:cs typeface="Arial" pitchFamily="34" charset="-120"/>
              </a:rPr>
              <a:t>Customer-support chat</a:t>
            </a:r>
            <a:endParaRPr lang="en-US" sz="1800" dirty="0"/>
          </a:p>
        </p:txBody>
      </p:sp>
      <p:sp>
        <p:nvSpPr>
          <p:cNvPr id="12" name="Shape 10"/>
          <p:cNvSpPr/>
          <p:nvPr/>
        </p:nvSpPr>
        <p:spPr>
          <a:xfrm>
            <a:off x="9408616" y="3241328"/>
            <a:ext cx="3105150" cy="552450"/>
          </a:xfrm>
          <a:prstGeom prst="roundRect">
            <a:avLst>
              <a:gd name="adj" fmla="val 20690"/>
            </a:avLst>
          </a:prstGeom>
          <a:solidFill>
            <a:srgbClr val="FFFFFF">
              <a:alpha val="3000"/>
            </a:srgbClr>
          </a:solidFill>
          <a:ln w="9525">
            <a:solidFill>
              <a:srgbClr val="2A2F3A"/>
            </a:solidFill>
            <a:prstDash val="solid"/>
          </a:ln>
        </p:spPr>
      </p:sp>
      <p:sp>
        <p:nvSpPr>
          <p:cNvPr id="13" name="Text 11"/>
          <p:cNvSpPr/>
          <p:nvPr/>
        </p:nvSpPr>
        <p:spPr>
          <a:xfrm>
            <a:off x="9581114" y="3384203"/>
            <a:ext cx="276015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F5F7FB"/>
                </a:solidFill>
                <a:latin typeface="Arial" pitchFamily="34" charset="0"/>
                <a:ea typeface="Arial" pitchFamily="34" charset="-122"/>
                <a:cs typeface="Arial" pitchFamily="34" charset="-120"/>
              </a:rPr>
              <a:t>Code-completion tool</a:t>
            </a:r>
            <a:endParaRPr lang="en-US" sz="1800" dirty="0"/>
          </a:p>
        </p:txBody>
      </p:sp>
      <p:sp>
        <p:nvSpPr>
          <p:cNvPr id="14" name="Shape 12"/>
          <p:cNvSpPr/>
          <p:nvPr/>
        </p:nvSpPr>
        <p:spPr>
          <a:xfrm>
            <a:off x="9408616" y="3908078"/>
            <a:ext cx="3105150" cy="552450"/>
          </a:xfrm>
          <a:prstGeom prst="roundRect">
            <a:avLst>
              <a:gd name="adj" fmla="val 20690"/>
            </a:avLst>
          </a:prstGeom>
          <a:solidFill>
            <a:srgbClr val="FFFFFF">
              <a:alpha val="3000"/>
            </a:srgbClr>
          </a:solidFill>
          <a:ln w="9525">
            <a:solidFill>
              <a:srgbClr val="2A2F3A"/>
            </a:solidFill>
            <a:prstDash val="solid"/>
          </a:ln>
        </p:spPr>
      </p:sp>
      <p:sp>
        <p:nvSpPr>
          <p:cNvPr id="15" name="Text 13"/>
          <p:cNvSpPr/>
          <p:nvPr/>
        </p:nvSpPr>
        <p:spPr>
          <a:xfrm>
            <a:off x="9581114" y="4050953"/>
            <a:ext cx="2760155"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F5F7FB"/>
                </a:solidFill>
                <a:latin typeface="Arial" pitchFamily="34" charset="0"/>
                <a:ea typeface="Arial" pitchFamily="34" charset="-122"/>
                <a:cs typeface="Arial" pitchFamily="34" charset="-120"/>
              </a:rPr>
              <a:t>Document summariser</a:t>
            </a:r>
            <a:endParaRPr lang="en-US" sz="1800" dirty="0"/>
          </a:p>
        </p:txBody>
      </p:sp>
      <p:sp>
        <p:nvSpPr>
          <p:cNvPr id="16" name="Text 14"/>
          <p:cNvSpPr/>
          <p:nvPr/>
        </p:nvSpPr>
        <p:spPr>
          <a:xfrm>
            <a:off x="133350" y="4746278"/>
            <a:ext cx="18021300"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DFE3EA"/>
                </a:solidFill>
                <a:latin typeface="Arial" pitchFamily="34" charset="0"/>
                <a:ea typeface="Arial" pitchFamily="34" charset="-122"/>
                <a:cs typeface="Arial" pitchFamily="34" charset="-120"/>
              </a:rPr>
              <a:t>Different products, often the same foundation model underneath — adapted or guided toward each specific job.</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"A foundation model is trained once and applied broadly — the same base model can sit behind many different-looking tools."</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25662" y="4586734"/>
            <a:ext cx="5436677"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3.3 · SUB-OBJECTIVE 3 OF 7</a:t>
            </a:r>
            <a:endParaRPr lang="en-US" sz="1950" dirty="0"/>
          </a:p>
        </p:txBody>
      </p:sp>
      <p:sp>
        <p:nvSpPr>
          <p:cNvPr id="4" name="Text 2"/>
          <p:cNvSpPr/>
          <p:nvPr/>
        </p:nvSpPr>
        <p:spPr>
          <a:xfrm>
            <a:off x="6005992" y="5086796"/>
            <a:ext cx="6275941"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Categories Of AI Tools</a:t>
            </a:r>
            <a:endParaRPr lang="en-US" sz="4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3.3 CATEGORIES OF AI TOOLS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Six Common Tool Categories</a:t>
            </a:r>
            <a:endParaRPr lang="en-US" sz="3150" dirty="0"/>
          </a:p>
        </p:txBody>
      </p:sp>
      <p:sp>
        <p:nvSpPr>
          <p:cNvPr id="5" name="Shape 3"/>
          <p:cNvSpPr/>
          <p:nvPr/>
        </p:nvSpPr>
        <p:spPr>
          <a:xfrm>
            <a:off x="952500" y="1907828"/>
            <a:ext cx="5631210" cy="461963"/>
          </a:xfrm>
          <a:prstGeom prst="rect">
            <a:avLst/>
          </a:prstGeom>
          <a:solidFill>
            <a:srgbClr val="FF6A00">
              <a:alpha val="18000"/>
            </a:srgbClr>
          </a:solidFill>
          <a:ln/>
        </p:spPr>
      </p:sp>
      <p:sp>
        <p:nvSpPr>
          <p:cNvPr id="6" name="Shape 4"/>
          <p:cNvSpPr/>
          <p:nvPr/>
        </p:nvSpPr>
        <p:spPr>
          <a:xfrm>
            <a:off x="952500" y="2360265"/>
            <a:ext cx="5631210" cy="9525"/>
          </a:xfrm>
          <a:prstGeom prst="rect">
            <a:avLst/>
          </a:prstGeom>
          <a:solidFill>
            <a:srgbClr val="B85100"/>
          </a:solidFill>
          <a:ln/>
        </p:spPr>
      </p:sp>
      <p:sp>
        <p:nvSpPr>
          <p:cNvPr id="7" name="Text 5"/>
          <p:cNvSpPr/>
          <p:nvPr/>
        </p:nvSpPr>
        <p:spPr>
          <a:xfrm>
            <a:off x="1104900" y="2003078"/>
            <a:ext cx="5495346"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Category</a:t>
            </a:r>
            <a:endParaRPr lang="en-US" sz="1800" dirty="0"/>
          </a:p>
        </p:txBody>
      </p:sp>
      <p:sp>
        <p:nvSpPr>
          <p:cNvPr id="8" name="Shape 6"/>
          <p:cNvSpPr/>
          <p:nvPr/>
        </p:nvSpPr>
        <p:spPr>
          <a:xfrm>
            <a:off x="6583710" y="1907828"/>
            <a:ext cx="10751790" cy="461963"/>
          </a:xfrm>
          <a:prstGeom prst="rect">
            <a:avLst/>
          </a:prstGeom>
          <a:solidFill>
            <a:srgbClr val="FF6A00">
              <a:alpha val="18000"/>
            </a:srgbClr>
          </a:solidFill>
          <a:ln/>
        </p:spPr>
      </p:sp>
      <p:sp>
        <p:nvSpPr>
          <p:cNvPr id="9" name="Shape 7"/>
          <p:cNvSpPr/>
          <p:nvPr/>
        </p:nvSpPr>
        <p:spPr>
          <a:xfrm>
            <a:off x="6583710" y="2360265"/>
            <a:ext cx="10751790" cy="9525"/>
          </a:xfrm>
          <a:prstGeom prst="rect">
            <a:avLst/>
          </a:prstGeom>
          <a:solidFill>
            <a:srgbClr val="B85100"/>
          </a:solidFill>
          <a:ln/>
        </p:spPr>
      </p:sp>
      <p:sp>
        <p:nvSpPr>
          <p:cNvPr id="10" name="Text 8"/>
          <p:cNvSpPr/>
          <p:nvPr/>
        </p:nvSpPr>
        <p:spPr>
          <a:xfrm>
            <a:off x="6736110" y="2003078"/>
            <a:ext cx="1076954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Typical Workplace Use</a:t>
            </a:r>
            <a:endParaRPr lang="en-US" sz="1800" dirty="0"/>
          </a:p>
        </p:txBody>
      </p:sp>
      <p:sp>
        <p:nvSpPr>
          <p:cNvPr id="11" name="Text 9"/>
          <p:cNvSpPr/>
          <p:nvPr/>
        </p:nvSpPr>
        <p:spPr>
          <a:xfrm>
            <a:off x="1104900" y="2465040"/>
            <a:ext cx="5495346" cy="309563"/>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Conversational AI assistants</a:t>
            </a:r>
            <a:endParaRPr lang="en-US" sz="1800" dirty="0"/>
          </a:p>
        </p:txBody>
      </p:sp>
      <p:sp>
        <p:nvSpPr>
          <p:cNvPr id="12" name="Text 10"/>
          <p:cNvSpPr/>
          <p:nvPr/>
        </p:nvSpPr>
        <p:spPr>
          <a:xfrm>
            <a:off x="6736110" y="2465040"/>
            <a:ext cx="10769544" cy="309563"/>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General Q&amp;A, drafting, brainstorming through a chat interface</a:t>
            </a:r>
            <a:endParaRPr lang="en-US" sz="1800" dirty="0"/>
          </a:p>
        </p:txBody>
      </p:sp>
      <p:sp>
        <p:nvSpPr>
          <p:cNvPr id="13" name="Shape 11"/>
          <p:cNvSpPr/>
          <p:nvPr/>
        </p:nvSpPr>
        <p:spPr>
          <a:xfrm>
            <a:off x="952500" y="2831753"/>
            <a:ext cx="16383000" cy="457200"/>
          </a:xfrm>
          <a:prstGeom prst="rect">
            <a:avLst/>
          </a:prstGeom>
          <a:solidFill>
            <a:srgbClr val="FFFFFF">
              <a:alpha val="2000"/>
            </a:srgbClr>
          </a:solidFill>
          <a:ln/>
        </p:spPr>
      </p:sp>
      <p:sp>
        <p:nvSpPr>
          <p:cNvPr id="14" name="Text 12"/>
          <p:cNvSpPr/>
          <p:nvPr/>
        </p:nvSpPr>
        <p:spPr>
          <a:xfrm>
            <a:off x="1104900" y="2927003"/>
            <a:ext cx="5495346"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Writing &amp; productivity add-ins</a:t>
            </a:r>
            <a:endParaRPr lang="en-US" sz="1800" dirty="0"/>
          </a:p>
        </p:txBody>
      </p:sp>
      <p:sp>
        <p:nvSpPr>
          <p:cNvPr id="15" name="Text 13"/>
          <p:cNvSpPr/>
          <p:nvPr/>
        </p:nvSpPr>
        <p:spPr>
          <a:xfrm>
            <a:off x="6736110" y="2927003"/>
            <a:ext cx="107695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AI features built into documents, email and spreadsheets</a:t>
            </a:r>
            <a:endParaRPr lang="en-US" sz="1800" dirty="0"/>
          </a:p>
        </p:txBody>
      </p:sp>
      <p:sp>
        <p:nvSpPr>
          <p:cNvPr id="16" name="Text 14"/>
          <p:cNvSpPr/>
          <p:nvPr/>
        </p:nvSpPr>
        <p:spPr>
          <a:xfrm>
            <a:off x="1104900" y="3384203"/>
            <a:ext cx="5495346"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Image &amp; design generators</a:t>
            </a:r>
            <a:endParaRPr lang="en-US" sz="1800" dirty="0"/>
          </a:p>
        </p:txBody>
      </p:sp>
      <p:sp>
        <p:nvSpPr>
          <p:cNvPr id="17" name="Text 15"/>
          <p:cNvSpPr/>
          <p:nvPr/>
        </p:nvSpPr>
        <p:spPr>
          <a:xfrm>
            <a:off x="6736110" y="3384203"/>
            <a:ext cx="107695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Concept art, marketing visuals, design drafts</a:t>
            </a:r>
            <a:endParaRPr lang="en-US" sz="1800" dirty="0"/>
          </a:p>
        </p:txBody>
      </p:sp>
      <p:sp>
        <p:nvSpPr>
          <p:cNvPr id="18" name="Shape 16"/>
          <p:cNvSpPr/>
          <p:nvPr/>
        </p:nvSpPr>
        <p:spPr>
          <a:xfrm>
            <a:off x="952500" y="3746153"/>
            <a:ext cx="16383000" cy="457200"/>
          </a:xfrm>
          <a:prstGeom prst="rect">
            <a:avLst/>
          </a:prstGeom>
          <a:solidFill>
            <a:srgbClr val="FFFFFF">
              <a:alpha val="2000"/>
            </a:srgbClr>
          </a:solidFill>
          <a:ln/>
        </p:spPr>
      </p:sp>
      <p:sp>
        <p:nvSpPr>
          <p:cNvPr id="19" name="Text 17"/>
          <p:cNvSpPr/>
          <p:nvPr/>
        </p:nvSpPr>
        <p:spPr>
          <a:xfrm>
            <a:off x="1104900" y="3841403"/>
            <a:ext cx="5495346"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Code assistants</a:t>
            </a:r>
            <a:endParaRPr lang="en-US" sz="1800" dirty="0"/>
          </a:p>
        </p:txBody>
      </p:sp>
      <p:sp>
        <p:nvSpPr>
          <p:cNvPr id="20" name="Text 18"/>
          <p:cNvSpPr/>
          <p:nvPr/>
        </p:nvSpPr>
        <p:spPr>
          <a:xfrm>
            <a:off x="6736110" y="3841403"/>
            <a:ext cx="107695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Code suggestions, explanations and fixes inside development tools</a:t>
            </a:r>
            <a:endParaRPr lang="en-US" sz="1800" dirty="0"/>
          </a:p>
        </p:txBody>
      </p:sp>
      <p:sp>
        <p:nvSpPr>
          <p:cNvPr id="21" name="Text 19"/>
          <p:cNvSpPr/>
          <p:nvPr/>
        </p:nvSpPr>
        <p:spPr>
          <a:xfrm>
            <a:off x="1104900" y="4298603"/>
            <a:ext cx="5495346"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Meeting &amp; transcription tools</a:t>
            </a:r>
            <a:endParaRPr lang="en-US" sz="1800" dirty="0"/>
          </a:p>
        </p:txBody>
      </p:sp>
      <p:sp>
        <p:nvSpPr>
          <p:cNvPr id="22" name="Text 20"/>
          <p:cNvSpPr/>
          <p:nvPr/>
        </p:nvSpPr>
        <p:spPr>
          <a:xfrm>
            <a:off x="6736110" y="4298603"/>
            <a:ext cx="107695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Live transcription, meeting summaries and action items</a:t>
            </a:r>
            <a:endParaRPr lang="en-US" sz="1800" dirty="0"/>
          </a:p>
        </p:txBody>
      </p:sp>
      <p:sp>
        <p:nvSpPr>
          <p:cNvPr id="23" name="Shape 21"/>
          <p:cNvSpPr/>
          <p:nvPr/>
        </p:nvSpPr>
        <p:spPr>
          <a:xfrm>
            <a:off x="952500" y="4660553"/>
            <a:ext cx="16383000" cy="457200"/>
          </a:xfrm>
          <a:prstGeom prst="rect">
            <a:avLst/>
          </a:prstGeom>
          <a:solidFill>
            <a:srgbClr val="FFFFFF">
              <a:alpha val="2000"/>
            </a:srgbClr>
          </a:solidFill>
          <a:ln/>
        </p:spPr>
      </p:sp>
      <p:sp>
        <p:nvSpPr>
          <p:cNvPr id="24" name="Text 22"/>
          <p:cNvSpPr/>
          <p:nvPr/>
        </p:nvSpPr>
        <p:spPr>
          <a:xfrm>
            <a:off x="1104900" y="4755803"/>
            <a:ext cx="5495346"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Search &amp; research assistants</a:t>
            </a:r>
            <a:endParaRPr lang="en-US" sz="1800" dirty="0"/>
          </a:p>
        </p:txBody>
      </p:sp>
      <p:sp>
        <p:nvSpPr>
          <p:cNvPr id="25" name="Text 23"/>
          <p:cNvSpPr/>
          <p:nvPr/>
        </p:nvSpPr>
        <p:spPr>
          <a:xfrm>
            <a:off x="6736110" y="4755803"/>
            <a:ext cx="1076954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Answering questions with sourced, current information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"AI tools take many product forms — chat assistants, add-ins, generators, code assistants — often built on the same underlying models."</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3.3</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17071" y="4586734"/>
            <a:ext cx="5453784"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3.4 · SUB-OBJECTIVE 4 OF 7</a:t>
            </a:r>
            <a:endParaRPr lang="en-US" sz="1950" dirty="0"/>
          </a:p>
        </p:txBody>
      </p:sp>
      <p:sp>
        <p:nvSpPr>
          <p:cNvPr id="4" name="Text 2"/>
          <p:cNvSpPr/>
          <p:nvPr/>
        </p:nvSpPr>
        <p:spPr>
          <a:xfrm>
            <a:off x="7759415" y="5086796"/>
            <a:ext cx="2769171"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AI Agents</a:t>
            </a:r>
            <a:endParaRPr lang="en-US" sz="4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3.4 AI AGENTS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Is An AI Agent?</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An AI agent is a system that can take actions or use tools — such as searching, browsing, or updating a record — to complete a multi-step task, rather than only producing a block of text for a person to act on manually.</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An agent asked to "book a meeting when everyone is free" could check calendars, propose a time and send the invite itself.</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3.4 AI AGENTS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Conversational Assistant vs AI Agent</a:t>
            </a:r>
            <a:endParaRPr lang="en-US" sz="3150" dirty="0"/>
          </a:p>
        </p:txBody>
      </p:sp>
      <p:sp>
        <p:nvSpPr>
          <p:cNvPr id="5" name="Shape 3"/>
          <p:cNvSpPr/>
          <p:nvPr/>
        </p:nvSpPr>
        <p:spPr>
          <a:xfrm>
            <a:off x="952500" y="1907828"/>
            <a:ext cx="7762875" cy="7655272"/>
          </a:xfrm>
          <a:custGeom>
            <a:avLst/>
            <a:gdLst/>
            <a:ahLst/>
            <a:cxnLst/>
            <a:rect l="l" t="t" r="r" b="b"/>
            <a:pathLst>
              <a:path w="7762875" h="7655272">
                <a:moveTo>
                  <a:pt x="152400" y="0"/>
                </a:moveTo>
                <a:lnTo>
                  <a:pt x="7762875" y="0"/>
                </a:lnTo>
                <a:lnTo>
                  <a:pt x="7762875" y="7655272"/>
                </a:lnTo>
                <a:lnTo>
                  <a:pt x="152400" y="7655272"/>
                </a:lnTo>
                <a:arcTo hR="152400" wR="152400" stAng="5400000" swAng="5400000"/>
                <a:lnTo>
                  <a:pt x="0" y="152400"/>
                </a:lnTo>
                <a:arcTo hR="152400" wR="152400" stAng="10800000" swAng="5400000"/>
                <a:close/>
              </a:path>
            </a:pathLst>
          </a:custGeom>
          <a:solidFill>
            <a:srgbClr val="FFFFFF">
              <a:alpha val="2000"/>
            </a:srgbClr>
          </a:solidFill>
          <a:ln w="9525">
            <a:solidFill>
              <a:srgbClr val="2A2F3A"/>
            </a:solidFill>
            <a:prstDash val="solid"/>
          </a:ln>
        </p:spPr>
      </p:sp>
      <p:sp>
        <p:nvSpPr>
          <p:cNvPr id="6" name="Text 4"/>
          <p:cNvSpPr/>
          <p:nvPr/>
        </p:nvSpPr>
        <p:spPr>
          <a:xfrm>
            <a:off x="1247775" y="2203103"/>
            <a:ext cx="7889558"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Conversational Assistant</a:t>
            </a:r>
            <a:endParaRPr lang="en-US" sz="1950" dirty="0"/>
          </a:p>
        </p:txBody>
      </p:sp>
      <p:sp>
        <p:nvSpPr>
          <p:cNvPr id="7" name="Text 5"/>
          <p:cNvSpPr/>
          <p:nvPr/>
        </p:nvSpPr>
        <p:spPr>
          <a:xfrm>
            <a:off x="1247775" y="2626965"/>
            <a:ext cx="7889558"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Answers or drafts text; a person reads it and decides what to do next.</a:t>
            </a:r>
            <a:endParaRPr lang="en-US" sz="1800" dirty="0"/>
          </a:p>
        </p:txBody>
      </p:sp>
      <p:sp>
        <p:nvSpPr>
          <p:cNvPr id="8" name="Text 6"/>
          <p:cNvSpPr/>
          <p:nvPr/>
        </p:nvSpPr>
        <p:spPr>
          <a:xfrm>
            <a:off x="1247775"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B8C0CF"/>
                </a:solidFill>
                <a:latin typeface="Arial" pitchFamily="34" charset="0"/>
                <a:ea typeface="Arial" pitchFamily="34" charset="-122"/>
                <a:cs typeface="Arial" pitchFamily="34" charset="-120"/>
              </a:rPr>
              <a:t>Example: drafts a reply for you to review and send</a:t>
            </a:r>
            <a:endParaRPr lang="en-US" sz="1800" dirty="0"/>
          </a:p>
        </p:txBody>
      </p:sp>
      <p:sp>
        <p:nvSpPr>
          <p:cNvPr id="9" name="Shape 7"/>
          <p:cNvSpPr/>
          <p:nvPr/>
        </p:nvSpPr>
        <p:spPr>
          <a:xfrm>
            <a:off x="8839200" y="5430664"/>
            <a:ext cx="609600" cy="609600"/>
          </a:xfrm>
          <a:prstGeom prst="ellipse">
            <a:avLst/>
          </a:prstGeom>
          <a:solidFill>
            <a:srgbClr val="FF6A00"/>
          </a:solidFill>
          <a:ln/>
          <a:effectLst>
            <a:outerShdw sx="100000" sy="100000" kx="0" ky="0" algn="bl" rotWithShape="0" blurRad="101600" dist="50800" dir="16200000">
              <a:srgbClr val="0C0D10">
                <a:alpha val="100000"/>
              </a:srgbClr>
            </a:outerShdw>
          </a:effectLst>
        </p:spPr>
      </p:sp>
      <p:sp>
        <p:nvSpPr>
          <p:cNvPr id="10" name="Text 8"/>
          <p:cNvSpPr/>
          <p:nvPr/>
        </p:nvSpPr>
        <p:spPr>
          <a:xfrm>
            <a:off x="8801100" y="5430664"/>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111111"/>
                </a:solidFill>
                <a:latin typeface="Arial" pitchFamily="34" charset="0"/>
                <a:ea typeface="Arial" pitchFamily="34" charset="-122"/>
                <a:cs typeface="Arial" pitchFamily="34" charset="-120"/>
              </a:rPr>
              <a:t>VS</a:t>
            </a:r>
            <a:endParaRPr lang="en-US" sz="1800" dirty="0"/>
          </a:p>
        </p:txBody>
      </p:sp>
      <p:sp>
        <p:nvSpPr>
          <p:cNvPr id="11" name="Shape 9"/>
          <p:cNvSpPr/>
          <p:nvPr/>
        </p:nvSpPr>
        <p:spPr>
          <a:xfrm>
            <a:off x="9572625" y="1907828"/>
            <a:ext cx="7762875" cy="7655272"/>
          </a:xfrm>
          <a:custGeom>
            <a:avLst/>
            <a:gdLst/>
            <a:ahLst/>
            <a:cxnLst/>
            <a:rect l="l" t="t" r="r" b="b"/>
            <a:pathLst>
              <a:path w="7762875" h="7655272">
                <a:moveTo>
                  <a:pt x="0" y="0"/>
                </a:moveTo>
                <a:lnTo>
                  <a:pt x="7610475" y="0"/>
                </a:lnTo>
                <a:arcTo hR="152400" wR="152400" stAng="16200000" swAng="5400000"/>
                <a:lnTo>
                  <a:pt x="7762875" y="7502872"/>
                </a:lnTo>
                <a:arcTo hR="152400" wR="152400" stAng="0" swAng="5400000"/>
                <a:lnTo>
                  <a:pt x="0" y="7655272"/>
                </a:lnTo>
                <a:lnTo>
                  <a:pt x="0" y="0"/>
                </a:lnTo>
                <a:close/>
              </a:path>
            </a:pathLst>
          </a:custGeom>
          <a:solidFill>
            <a:srgbClr val="FF6A00">
              <a:alpha val="6000"/>
            </a:srgbClr>
          </a:solidFill>
          <a:ln w="9525">
            <a:solidFill>
              <a:srgbClr val="B85100"/>
            </a:solidFill>
            <a:prstDash val="solid"/>
          </a:ln>
        </p:spPr>
      </p:sp>
      <p:sp>
        <p:nvSpPr>
          <p:cNvPr id="12" name="Text 10"/>
          <p:cNvSpPr/>
          <p:nvPr/>
        </p:nvSpPr>
        <p:spPr>
          <a:xfrm>
            <a:off x="9867900" y="2203103"/>
            <a:ext cx="7889558" cy="328613"/>
          </a:xfrm>
          <a:prstGeom prst="rect">
            <a:avLst/>
          </a:prstGeom>
          <a:noFill/>
          <a:ln/>
        </p:spPr>
        <p:txBody>
          <a:bodyPr wrap="square" lIns="25400" tIns="25400" rIns="25400" bIns="25400" rtlCol="0" anchor="t">
            <a:normAutofit/>
          </a:bodyPr>
          <a:lstStyle/>
          <a:p>
            <a:pPr algn="l" indent="0" marL="0">
              <a:buNone/>
            </a:pPr>
            <a:r>
              <a:rPr lang="en-US" sz="1950" b="1" dirty="0">
                <a:solidFill>
                  <a:srgbClr val="FF6A00"/>
                </a:solidFill>
                <a:latin typeface="Arial" pitchFamily="34" charset="0"/>
                <a:ea typeface="Arial" pitchFamily="34" charset="-122"/>
                <a:cs typeface="Arial" pitchFamily="34" charset="-120"/>
              </a:rPr>
              <a:t>AI Agent</a:t>
            </a:r>
            <a:endParaRPr lang="en-US" sz="1950" dirty="0"/>
          </a:p>
        </p:txBody>
      </p:sp>
      <p:sp>
        <p:nvSpPr>
          <p:cNvPr id="13" name="Text 11"/>
          <p:cNvSpPr/>
          <p:nvPr/>
        </p:nvSpPr>
        <p:spPr>
          <a:xfrm>
            <a:off x="9867900" y="2626965"/>
            <a:ext cx="7889558"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Takes the next action itself — using tools to complete steps of the task.</a:t>
            </a:r>
            <a:endParaRPr lang="en-US" sz="1800" dirty="0"/>
          </a:p>
        </p:txBody>
      </p:sp>
      <p:sp>
        <p:nvSpPr>
          <p:cNvPr id="14" name="Text 12"/>
          <p:cNvSpPr/>
          <p:nvPr/>
        </p:nvSpPr>
        <p:spPr>
          <a:xfrm>
            <a:off x="9867900" y="9001125"/>
            <a:ext cx="7889558"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FD9BF"/>
                </a:solidFill>
                <a:latin typeface="Arial" pitchFamily="34" charset="0"/>
                <a:ea typeface="Arial" pitchFamily="34" charset="-122"/>
                <a:cs typeface="Arial" pitchFamily="34" charset="-120"/>
              </a:rPr>
              <a:t>Example: drafts the reply and sends it, then updates a tracking sheet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"An AI agent doesn't just respond — it takes actions and uses tools to move a task forward itself."</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3.4</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26320" y="4586734"/>
            <a:ext cx="5435285"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3.5 · SUB-OBJECTIVE 5 OF 7</a:t>
            </a:r>
            <a:endParaRPr lang="en-US" sz="1950" dirty="0"/>
          </a:p>
        </p:txBody>
      </p:sp>
      <p:sp>
        <p:nvSpPr>
          <p:cNvPr id="4" name="Text 2"/>
          <p:cNvSpPr/>
          <p:nvPr/>
        </p:nvSpPr>
        <p:spPr>
          <a:xfrm>
            <a:off x="3521348" y="5086796"/>
            <a:ext cx="11245304"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Retrieval-Augmented Generation (RAG)</a:t>
            </a:r>
            <a:endParaRPr lang="en-US" sz="4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3.5 RETRIEVAL-AUGMENTED GENERATION</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Connecting A Model To Current Information</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Retrieval-augmented generation (RAG) is a technique where a system first retrieves relevant external information — for example from a document set or the web — and gives that to the model alongside the prompt, so its answer can reflect information beyond its training data and knowledge cut-off.</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Connects To</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Knowledge cut-offs (Module 2, 2.5) and embeddings (Module 2, 2.7) — RAG typically uses embeddings to find the relevant material to retrieve.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3.5 RETRIEVAL-AUGMENTED GENERATION</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How RAG Fits Into A Response</a:t>
            </a:r>
            <a:endParaRPr lang="en-US" sz="3150" dirty="0"/>
          </a:p>
        </p:txBody>
      </p:sp>
      <p:sp>
        <p:nvSpPr>
          <p:cNvPr id="5" name="Shape 3"/>
          <p:cNvSpPr/>
          <p:nvPr/>
        </p:nvSpPr>
        <p:spPr>
          <a:xfrm>
            <a:off x="2196852" y="2136428"/>
            <a:ext cx="2952750" cy="781050"/>
          </a:xfrm>
          <a:prstGeom prst="roundRect">
            <a:avLst>
              <a:gd name="adj" fmla="val 19512"/>
            </a:avLst>
          </a:prstGeom>
          <a:solidFill>
            <a:srgbClr val="FFFFFF">
              <a:alpha val="3000"/>
            </a:srgbClr>
          </a:solidFill>
          <a:ln w="9525">
            <a:solidFill>
              <a:srgbClr val="2A2F3A"/>
            </a:solidFill>
            <a:prstDash val="solid"/>
          </a:ln>
        </p:spPr>
      </p:sp>
      <p:sp>
        <p:nvSpPr>
          <p:cNvPr id="6" name="Text 4"/>
          <p:cNvSpPr/>
          <p:nvPr/>
        </p:nvSpPr>
        <p:spPr>
          <a:xfrm>
            <a:off x="2390686" y="2393603"/>
            <a:ext cx="2565082"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F5F7FB"/>
                </a:solidFill>
                <a:latin typeface="Arial" pitchFamily="34" charset="0"/>
                <a:ea typeface="Arial" pitchFamily="34" charset="-122"/>
                <a:cs typeface="Arial" pitchFamily="34" charset="-120"/>
              </a:rPr>
              <a:t>Question Asked</a:t>
            </a:r>
            <a:endParaRPr lang="en-US" sz="1800" dirty="0"/>
          </a:p>
        </p:txBody>
      </p:sp>
      <p:sp>
        <p:nvSpPr>
          <p:cNvPr id="7" name="Text 5"/>
          <p:cNvSpPr/>
          <p:nvPr/>
        </p:nvSpPr>
        <p:spPr>
          <a:xfrm>
            <a:off x="5302002" y="2357884"/>
            <a:ext cx="338807"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5717009" y="2136428"/>
            <a:ext cx="3143250" cy="781050"/>
          </a:xfrm>
          <a:prstGeom prst="roundRect">
            <a:avLst>
              <a:gd name="adj" fmla="val 19512"/>
            </a:avLst>
          </a:prstGeom>
          <a:solidFill>
            <a:srgbClr val="FF6A00">
              <a:alpha val="10000"/>
            </a:srgbClr>
          </a:solidFill>
          <a:ln w="9525">
            <a:solidFill>
              <a:srgbClr val="B85100"/>
            </a:solidFill>
            <a:prstDash val="solid"/>
          </a:ln>
        </p:spPr>
      </p:sp>
      <p:sp>
        <p:nvSpPr>
          <p:cNvPr id="9" name="Text 7"/>
          <p:cNvSpPr/>
          <p:nvPr/>
        </p:nvSpPr>
        <p:spPr>
          <a:xfrm>
            <a:off x="5907985" y="2393603"/>
            <a:ext cx="2761298"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FF6A00"/>
                </a:solidFill>
                <a:latin typeface="Arial" pitchFamily="34" charset="0"/>
                <a:ea typeface="Arial" pitchFamily="34" charset="-122"/>
                <a:cs typeface="Arial" pitchFamily="34" charset="-120"/>
              </a:rPr>
              <a:t>Relevant Info Retrieved</a:t>
            </a:r>
            <a:endParaRPr lang="en-US" sz="1800" dirty="0"/>
          </a:p>
        </p:txBody>
      </p:sp>
      <p:sp>
        <p:nvSpPr>
          <p:cNvPr id="10" name="Text 8"/>
          <p:cNvSpPr/>
          <p:nvPr/>
        </p:nvSpPr>
        <p:spPr>
          <a:xfrm>
            <a:off x="9012659" y="2357884"/>
            <a:ext cx="338807"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11" name="Shape 9"/>
          <p:cNvSpPr/>
          <p:nvPr/>
        </p:nvSpPr>
        <p:spPr>
          <a:xfrm>
            <a:off x="9427666" y="2003078"/>
            <a:ext cx="3143250" cy="1047750"/>
          </a:xfrm>
          <a:prstGeom prst="roundRect">
            <a:avLst>
              <a:gd name="adj" fmla="val 14545"/>
            </a:avLst>
          </a:prstGeom>
          <a:solidFill>
            <a:srgbClr val="FFFFFF">
              <a:alpha val="3000"/>
            </a:srgbClr>
          </a:solidFill>
          <a:ln w="9525">
            <a:solidFill>
              <a:srgbClr val="2A2F3A"/>
            </a:solidFill>
            <a:prstDash val="solid"/>
          </a:ln>
        </p:spPr>
      </p:sp>
      <p:sp>
        <p:nvSpPr>
          <p:cNvPr id="12" name="Text 10"/>
          <p:cNvSpPr/>
          <p:nvPr/>
        </p:nvSpPr>
        <p:spPr>
          <a:xfrm>
            <a:off x="9618643" y="2260253"/>
            <a:ext cx="2761298" cy="571500"/>
          </a:xfrm>
          <a:prstGeom prst="rect">
            <a:avLst/>
          </a:prstGeom>
          <a:noFill/>
          <a:ln/>
        </p:spPr>
        <p:txBody>
          <a:bodyPr wrap="square" lIns="25400" tIns="25400" rIns="25400" bIns="25400" rtlCol="0" anchor="t">
            <a:normAutofit/>
          </a:bodyPr>
          <a:lstStyle/>
          <a:p>
            <a:pPr algn="ctr" indent="0" marL="0">
              <a:buNone/>
            </a:pPr>
            <a:r>
              <a:rPr lang="en-US" sz="1800" b="1" dirty="0">
                <a:solidFill>
                  <a:srgbClr val="F5F7FB"/>
                </a:solidFill>
                <a:latin typeface="Arial" pitchFamily="34" charset="0"/>
                <a:ea typeface="Arial" pitchFamily="34" charset="-122"/>
                <a:cs typeface="Arial" pitchFamily="34" charset="-120"/>
              </a:rPr>
              <a:t>Combined With The Prompt</a:t>
            </a:r>
            <a:endParaRPr lang="en-US" sz="1800" dirty="0"/>
          </a:p>
        </p:txBody>
      </p:sp>
      <p:sp>
        <p:nvSpPr>
          <p:cNvPr id="13" name="Text 11"/>
          <p:cNvSpPr/>
          <p:nvPr/>
        </p:nvSpPr>
        <p:spPr>
          <a:xfrm>
            <a:off x="12723316" y="2357884"/>
            <a:ext cx="338807"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F6A00"/>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13138324" y="2003078"/>
            <a:ext cx="2952750" cy="1047750"/>
          </a:xfrm>
          <a:prstGeom prst="roundRect">
            <a:avLst>
              <a:gd name="adj" fmla="val 14545"/>
            </a:avLst>
          </a:prstGeom>
          <a:solidFill>
            <a:srgbClr val="FFFFFF">
              <a:alpha val="3000"/>
            </a:srgbClr>
          </a:solidFill>
          <a:ln w="9525">
            <a:solidFill>
              <a:srgbClr val="2A2F3A"/>
            </a:solidFill>
            <a:prstDash val="solid"/>
          </a:ln>
        </p:spPr>
      </p:sp>
      <p:sp>
        <p:nvSpPr>
          <p:cNvPr id="15" name="Text 13"/>
          <p:cNvSpPr/>
          <p:nvPr/>
        </p:nvSpPr>
        <p:spPr>
          <a:xfrm>
            <a:off x="13332157" y="2260253"/>
            <a:ext cx="2565082" cy="571500"/>
          </a:xfrm>
          <a:prstGeom prst="rect">
            <a:avLst/>
          </a:prstGeom>
          <a:noFill/>
          <a:ln/>
        </p:spPr>
        <p:txBody>
          <a:bodyPr wrap="square" lIns="25400" tIns="25400" rIns="25400" bIns="25400" rtlCol="0" anchor="t">
            <a:normAutofit/>
          </a:bodyPr>
          <a:lstStyle/>
          <a:p>
            <a:pPr algn="ctr" indent="0" marL="0">
              <a:buNone/>
            </a:pPr>
            <a:r>
              <a:rPr lang="en-US" sz="1800" b="1" dirty="0">
                <a:solidFill>
                  <a:srgbClr val="F5F7FB"/>
                </a:solidFill>
                <a:latin typeface="Arial" pitchFamily="34" charset="0"/>
                <a:ea typeface="Arial" pitchFamily="34" charset="-122"/>
                <a:cs typeface="Arial" pitchFamily="34" charset="-120"/>
              </a:rPr>
              <a:t>Model Generates The Answer</a:t>
            </a:r>
            <a:endParaRPr lang="en-US" sz="1800" dirty="0"/>
          </a:p>
        </p:txBody>
      </p:sp>
      <p:sp>
        <p:nvSpPr>
          <p:cNvPr id="16" name="Text 14"/>
          <p:cNvSpPr/>
          <p:nvPr/>
        </p:nvSpPr>
        <p:spPr>
          <a:xfrm>
            <a:off x="2767013" y="3374678"/>
            <a:ext cx="12753975" cy="830461"/>
          </a:xfrm>
          <a:prstGeom prst="rect">
            <a:avLst/>
          </a:prstGeom>
          <a:noFill/>
          <a:ln/>
        </p:spPr>
        <p:txBody>
          <a:bodyPr wrap="square" lIns="25400" tIns="25400" rIns="25400" bIns="25400" rtlCol="0" anchor="t">
            <a:normAutofit/>
          </a:bodyPr>
          <a:lstStyle/>
          <a:p>
            <a:pPr algn="ctr" indent="0" marL="0">
              <a:lnSpc>
                <a:spcPct val="138667"/>
              </a:lnSpc>
              <a:buNone/>
            </a:pPr>
            <a:r>
              <a:rPr lang="en-US" sz="1950" dirty="0">
                <a:solidFill>
                  <a:srgbClr val="DFE3EA"/>
                </a:solidFill>
                <a:latin typeface="Arial" pitchFamily="34" charset="0"/>
                <a:ea typeface="Arial" pitchFamily="34" charset="-122"/>
                <a:cs typeface="Arial" pitchFamily="34" charset="-120"/>
              </a:rPr>
              <a:t>The model still generates the final answer by prediction — RAG simply gives it better, more current material to predict from.</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49130"/>
            <a:ext cx="38100" cy="1588740"/>
          </a:xfrm>
          <a:prstGeom prst="rect">
            <a:avLst/>
          </a:prstGeom>
          <a:solidFill>
            <a:srgbClr val="FF6A00"/>
          </a:solidFill>
          <a:ln/>
        </p:spPr>
      </p:sp>
      <p:sp>
        <p:nvSpPr>
          <p:cNvPr id="4" name="Text 2"/>
          <p:cNvSpPr/>
          <p:nvPr/>
        </p:nvSpPr>
        <p:spPr>
          <a:xfrm>
            <a:off x="1333500" y="4425330"/>
            <a:ext cx="13735050" cy="998190"/>
          </a:xfrm>
          <a:prstGeom prst="rect">
            <a:avLst/>
          </a:prstGeom>
          <a:noFill/>
          <a:ln/>
        </p:spPr>
        <p:txBody>
          <a:bodyPr wrap="square" lIns="25400" tIns="25400" rIns="25400" bIns="25400" rtlCol="0" anchor="t">
            <a:normAutofit/>
          </a:bodyPr>
          <a:lstStyle/>
          <a:p>
            <a:pPr algn="l" indent="0" marL="0">
              <a:lnSpc>
                <a:spcPct val="122927"/>
              </a:lnSpc>
              <a:buNone/>
            </a:pPr>
            <a:r>
              <a:rPr lang="en-US" sz="2700" b="1" dirty="0">
                <a:solidFill>
                  <a:srgbClr val="F5F7FB"/>
                </a:solidFill>
                <a:latin typeface="Arial" pitchFamily="34" charset="0"/>
                <a:ea typeface="Arial" pitchFamily="34" charset="-122"/>
                <a:cs typeface="Arial" pitchFamily="34" charset="-120"/>
              </a:rPr>
              <a:t>"RAG connects a model to external, current information at the moment of answering — it doesn't retrain the model itself."</a:t>
            </a:r>
            <a:endParaRPr lang="en-US" sz="2700" dirty="0"/>
          </a:p>
        </p:txBody>
      </p:sp>
      <p:sp>
        <p:nvSpPr>
          <p:cNvPr id="5" name="Text 3"/>
          <p:cNvSpPr/>
          <p:nvPr/>
        </p:nvSpPr>
        <p:spPr>
          <a:xfrm>
            <a:off x="1333500" y="559497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3.5</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21242" y="4586734"/>
            <a:ext cx="5445517"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3.6 · SUB-OBJECTIVE 6 OF 7</a:t>
            </a:r>
            <a:endParaRPr lang="en-US" sz="1950" dirty="0"/>
          </a:p>
        </p:txBody>
      </p:sp>
      <p:sp>
        <p:nvSpPr>
          <p:cNvPr id="4" name="Text 2"/>
          <p:cNvSpPr/>
          <p:nvPr/>
        </p:nvSpPr>
        <p:spPr>
          <a:xfrm>
            <a:off x="7187904" y="5086796"/>
            <a:ext cx="3912118"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Multimodal AI</a:t>
            </a:r>
            <a:endParaRPr lang="en-US" sz="4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3.6 MULTIMODAL AI</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Working Across More Than One Type Of Content</a:t>
            </a:r>
            <a:endParaRPr lang="en-US" sz="3150" dirty="0"/>
          </a:p>
        </p:txBody>
      </p:sp>
      <p:sp>
        <p:nvSpPr>
          <p:cNvPr id="5" name="Text 3"/>
          <p:cNvSpPr/>
          <p:nvPr/>
        </p:nvSpPr>
        <p:spPr>
          <a:xfrm>
            <a:off x="952500" y="1831628"/>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 multimodal system can take in and/or produce more than one type of content — for instance, reading an image and answering a question about it in text, or taking a text description and returning an image.</a:t>
            </a:r>
            <a:endParaRPr lang="en-US" sz="2100" dirty="0"/>
          </a:p>
        </p:txBody>
      </p:sp>
      <p:sp>
        <p:nvSpPr>
          <p:cNvPr id="6" name="Shape 4"/>
          <p:cNvSpPr/>
          <p:nvPr/>
        </p:nvSpPr>
        <p:spPr>
          <a:xfrm>
            <a:off x="952500" y="8039100"/>
            <a:ext cx="8096250" cy="1524000"/>
          </a:xfrm>
          <a:prstGeom prst="roundRect">
            <a:avLst>
              <a:gd name="adj" fmla="val 10000"/>
            </a:avLst>
          </a:prstGeom>
          <a:solidFill>
            <a:srgbClr val="FFFFFF">
              <a:alpha val="2000"/>
            </a:srgbClr>
          </a:solidFill>
          <a:ln w="9525">
            <a:solidFill>
              <a:srgbClr val="2A2F3A"/>
            </a:solidFill>
            <a:prstDash val="solid"/>
          </a:ln>
        </p:spPr>
      </p:sp>
      <p:sp>
        <p:nvSpPr>
          <p:cNvPr id="7" name="Text 5"/>
          <p:cNvSpPr/>
          <p:nvPr/>
        </p:nvSpPr>
        <p:spPr>
          <a:xfrm>
            <a:off x="1190625" y="8277225"/>
            <a:ext cx="83820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Example</a:t>
            </a:r>
            <a:endParaRPr lang="en-US" sz="1800" dirty="0"/>
          </a:p>
        </p:txBody>
      </p:sp>
      <p:sp>
        <p:nvSpPr>
          <p:cNvPr id="8" name="Text 6"/>
          <p:cNvSpPr/>
          <p:nvPr/>
        </p:nvSpPr>
        <p:spPr>
          <a:xfrm>
            <a:off x="1190625" y="8639175"/>
            <a:ext cx="784860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Uploading a photo of a whiteboard and asking the assistant to turn it into typed notes.</a:t>
            </a:r>
            <a:endParaRPr lang="en-US" sz="1800" dirty="0"/>
          </a:p>
        </p:txBody>
      </p:sp>
      <p:sp>
        <p:nvSpPr>
          <p:cNvPr id="9" name="Shape 7"/>
          <p:cNvSpPr/>
          <p:nvPr/>
        </p:nvSpPr>
        <p:spPr>
          <a:xfrm>
            <a:off x="9239250" y="8039100"/>
            <a:ext cx="8096250" cy="1524000"/>
          </a:xfrm>
          <a:prstGeom prst="roundRect">
            <a:avLst>
              <a:gd name="adj" fmla="val 10000"/>
            </a:avLst>
          </a:prstGeom>
          <a:solidFill>
            <a:srgbClr val="FFFFFF">
              <a:alpha val="2000"/>
            </a:srgbClr>
          </a:solidFill>
          <a:ln w="9525">
            <a:solidFill>
              <a:srgbClr val="2A2F3A"/>
            </a:solidFill>
            <a:prstDash val="solid"/>
          </a:ln>
        </p:spPr>
      </p:sp>
      <p:sp>
        <p:nvSpPr>
          <p:cNvPr id="10" name="Text 8"/>
          <p:cNvSpPr/>
          <p:nvPr/>
        </p:nvSpPr>
        <p:spPr>
          <a:xfrm>
            <a:off x="9477375" y="8277225"/>
            <a:ext cx="83820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Recap</a:t>
            </a:r>
            <a:endParaRPr lang="en-US" sz="1800" dirty="0"/>
          </a:p>
        </p:txBody>
      </p:sp>
      <p:sp>
        <p:nvSpPr>
          <p:cNvPr id="11" name="Text 9"/>
          <p:cNvSpPr/>
          <p:nvPr/>
        </p:nvSpPr>
        <p:spPr>
          <a:xfrm>
            <a:off x="9477375" y="8639175"/>
            <a:ext cx="83820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First defined in Module 1, Objective 1.3.</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"Multimodal AI works across content types — combining, for example, image input with text output, or the reverse."</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3.6</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43346" y="4586734"/>
            <a:ext cx="5401233"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3.7 · SUB-OBJECTIVE 7 OF 7</a:t>
            </a:r>
            <a:endParaRPr lang="en-US" sz="1950" dirty="0"/>
          </a:p>
        </p:txBody>
      </p:sp>
      <p:sp>
        <p:nvSpPr>
          <p:cNvPr id="4" name="Text 2"/>
          <p:cNvSpPr/>
          <p:nvPr/>
        </p:nvSpPr>
        <p:spPr>
          <a:xfrm>
            <a:off x="5728584" y="5086796"/>
            <a:ext cx="6830757"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Choosing The Right Tool</a:t>
            </a:r>
            <a:endParaRPr lang="en-US" sz="4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3.7 CHOOSING THE RIGHT TOOL</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Match The Tool To The Task</a:t>
            </a:r>
            <a:endParaRPr lang="en-US" sz="3150" dirty="0"/>
          </a:p>
        </p:txBody>
      </p:sp>
      <p:sp>
        <p:nvSpPr>
          <p:cNvPr id="5" name="Text 3"/>
          <p:cNvSpPr/>
          <p:nvPr/>
        </p:nvSpPr>
        <p:spPr>
          <a:xfrm>
            <a:off x="952500" y="1869728"/>
            <a:ext cx="12753975" cy="1226641"/>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No single AI tool is best for everything. Choosing well means asking what type of output is needed, whether the answer must reflect current information, and whether the task needs multiple steps completed rather than just a suggestion.</a:t>
            </a:r>
            <a:endParaRPr lang="en-US" sz="1950" dirty="0"/>
          </a:p>
        </p:txBody>
      </p:sp>
      <p:sp>
        <p:nvSpPr>
          <p:cNvPr id="6" name="Shape 4"/>
          <p:cNvSpPr/>
          <p:nvPr/>
        </p:nvSpPr>
        <p:spPr>
          <a:xfrm>
            <a:off x="952500" y="3305919"/>
            <a:ext cx="7034510" cy="461963"/>
          </a:xfrm>
          <a:prstGeom prst="rect">
            <a:avLst/>
          </a:prstGeom>
          <a:solidFill>
            <a:srgbClr val="FF6A00">
              <a:alpha val="18000"/>
            </a:srgbClr>
          </a:solidFill>
          <a:ln/>
        </p:spPr>
      </p:sp>
      <p:sp>
        <p:nvSpPr>
          <p:cNvPr id="7" name="Shape 5"/>
          <p:cNvSpPr/>
          <p:nvPr/>
        </p:nvSpPr>
        <p:spPr>
          <a:xfrm>
            <a:off x="952500" y="3758357"/>
            <a:ext cx="7034510" cy="9525"/>
          </a:xfrm>
          <a:prstGeom prst="rect">
            <a:avLst/>
          </a:prstGeom>
          <a:solidFill>
            <a:srgbClr val="B85100"/>
          </a:solidFill>
          <a:ln/>
        </p:spPr>
      </p:sp>
      <p:sp>
        <p:nvSpPr>
          <p:cNvPr id="8" name="Text 6"/>
          <p:cNvSpPr/>
          <p:nvPr/>
        </p:nvSpPr>
        <p:spPr>
          <a:xfrm>
            <a:off x="1085850" y="3401169"/>
            <a:ext cx="6978845"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If The Task Needs...</a:t>
            </a:r>
            <a:endParaRPr lang="en-US" sz="1800" dirty="0"/>
          </a:p>
        </p:txBody>
      </p:sp>
      <p:sp>
        <p:nvSpPr>
          <p:cNvPr id="9" name="Shape 7"/>
          <p:cNvSpPr/>
          <p:nvPr/>
        </p:nvSpPr>
        <p:spPr>
          <a:xfrm>
            <a:off x="7987010" y="3305919"/>
            <a:ext cx="9348490" cy="461963"/>
          </a:xfrm>
          <a:prstGeom prst="rect">
            <a:avLst/>
          </a:prstGeom>
          <a:solidFill>
            <a:srgbClr val="FF6A00">
              <a:alpha val="18000"/>
            </a:srgbClr>
          </a:solidFill>
          <a:ln/>
        </p:spPr>
      </p:sp>
      <p:sp>
        <p:nvSpPr>
          <p:cNvPr id="10" name="Shape 8"/>
          <p:cNvSpPr/>
          <p:nvPr/>
        </p:nvSpPr>
        <p:spPr>
          <a:xfrm>
            <a:off x="7987010" y="3758357"/>
            <a:ext cx="9348490" cy="9525"/>
          </a:xfrm>
          <a:prstGeom prst="rect">
            <a:avLst/>
          </a:prstGeom>
          <a:solidFill>
            <a:srgbClr val="B85100"/>
          </a:solidFill>
          <a:ln/>
        </p:spPr>
      </p:sp>
      <p:sp>
        <p:nvSpPr>
          <p:cNvPr id="11" name="Text 9"/>
          <p:cNvSpPr/>
          <p:nvPr/>
        </p:nvSpPr>
        <p:spPr>
          <a:xfrm>
            <a:off x="8120360" y="3401169"/>
            <a:ext cx="9362245"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Consider...</a:t>
            </a:r>
            <a:endParaRPr lang="en-US" sz="1800" dirty="0"/>
          </a:p>
        </p:txBody>
      </p:sp>
      <p:sp>
        <p:nvSpPr>
          <p:cNvPr id="12" name="Text 10"/>
          <p:cNvSpPr/>
          <p:nvPr/>
        </p:nvSpPr>
        <p:spPr>
          <a:xfrm>
            <a:off x="1085850" y="3863132"/>
            <a:ext cx="6978845" cy="309563"/>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Up-to-date, sourced information</a:t>
            </a:r>
            <a:endParaRPr lang="en-US" sz="1800" dirty="0"/>
          </a:p>
        </p:txBody>
      </p:sp>
      <p:sp>
        <p:nvSpPr>
          <p:cNvPr id="13" name="Text 11"/>
          <p:cNvSpPr/>
          <p:nvPr/>
        </p:nvSpPr>
        <p:spPr>
          <a:xfrm>
            <a:off x="8120360" y="3863132"/>
            <a:ext cx="9362245" cy="309563"/>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 tool using retrieval-augmented generation</a:t>
            </a:r>
            <a:endParaRPr lang="en-US" sz="1800" dirty="0"/>
          </a:p>
        </p:txBody>
      </p:sp>
      <p:sp>
        <p:nvSpPr>
          <p:cNvPr id="14" name="Shape 12"/>
          <p:cNvSpPr/>
          <p:nvPr/>
        </p:nvSpPr>
        <p:spPr>
          <a:xfrm>
            <a:off x="952500" y="4229844"/>
            <a:ext cx="16383000" cy="457200"/>
          </a:xfrm>
          <a:prstGeom prst="rect">
            <a:avLst/>
          </a:prstGeom>
          <a:solidFill>
            <a:srgbClr val="FFFFFF">
              <a:alpha val="2000"/>
            </a:srgbClr>
          </a:solidFill>
          <a:ln/>
        </p:spPr>
      </p:sp>
      <p:sp>
        <p:nvSpPr>
          <p:cNvPr id="15" name="Text 13"/>
          <p:cNvSpPr/>
          <p:nvPr/>
        </p:nvSpPr>
        <p:spPr>
          <a:xfrm>
            <a:off x="1085850" y="4325094"/>
            <a:ext cx="697884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Multiple steps done automatically</a:t>
            </a:r>
            <a:endParaRPr lang="en-US" sz="1800" dirty="0"/>
          </a:p>
        </p:txBody>
      </p:sp>
      <p:sp>
        <p:nvSpPr>
          <p:cNvPr id="16" name="Text 14"/>
          <p:cNvSpPr/>
          <p:nvPr/>
        </p:nvSpPr>
        <p:spPr>
          <a:xfrm>
            <a:off x="8120360" y="4325094"/>
            <a:ext cx="9362245"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An AI agent</a:t>
            </a:r>
            <a:endParaRPr lang="en-US" sz="1800" dirty="0"/>
          </a:p>
        </p:txBody>
      </p:sp>
      <p:sp>
        <p:nvSpPr>
          <p:cNvPr id="17" name="Text 15"/>
          <p:cNvSpPr/>
          <p:nvPr/>
        </p:nvSpPr>
        <p:spPr>
          <a:xfrm>
            <a:off x="1085850" y="4782294"/>
            <a:ext cx="697884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Working from an image or document</a:t>
            </a:r>
            <a:endParaRPr lang="en-US" sz="1800" dirty="0"/>
          </a:p>
        </p:txBody>
      </p:sp>
      <p:sp>
        <p:nvSpPr>
          <p:cNvPr id="18" name="Text 16"/>
          <p:cNvSpPr/>
          <p:nvPr/>
        </p:nvSpPr>
        <p:spPr>
          <a:xfrm>
            <a:off x="8120360" y="4782294"/>
            <a:ext cx="9362245"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 multimodal tool</a:t>
            </a:r>
            <a:endParaRPr lang="en-US" sz="1800" dirty="0"/>
          </a:p>
        </p:txBody>
      </p:sp>
      <p:sp>
        <p:nvSpPr>
          <p:cNvPr id="19" name="Shape 17"/>
          <p:cNvSpPr/>
          <p:nvPr/>
        </p:nvSpPr>
        <p:spPr>
          <a:xfrm>
            <a:off x="952500" y="5144244"/>
            <a:ext cx="16383000" cy="457200"/>
          </a:xfrm>
          <a:prstGeom prst="rect">
            <a:avLst/>
          </a:prstGeom>
          <a:solidFill>
            <a:srgbClr val="FFFFFF">
              <a:alpha val="2000"/>
            </a:srgbClr>
          </a:solidFill>
          <a:ln/>
        </p:spPr>
      </p:sp>
      <p:sp>
        <p:nvSpPr>
          <p:cNvPr id="20" name="Text 18"/>
          <p:cNvSpPr/>
          <p:nvPr/>
        </p:nvSpPr>
        <p:spPr>
          <a:xfrm>
            <a:off x="1085850" y="5239494"/>
            <a:ext cx="6978845"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quick draft or brainstorm</a:t>
            </a:r>
            <a:endParaRPr lang="en-US" sz="1800" dirty="0"/>
          </a:p>
        </p:txBody>
      </p:sp>
      <p:sp>
        <p:nvSpPr>
          <p:cNvPr id="21" name="Text 19"/>
          <p:cNvSpPr/>
          <p:nvPr/>
        </p:nvSpPr>
        <p:spPr>
          <a:xfrm>
            <a:off x="8120360" y="5239494"/>
            <a:ext cx="9362245"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 general conversational assistant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"Choosing the right tool means matching its strengths — currency, multi-step action, modality — to what the task actually needs."</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3.7</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CRITICAL DISTINCTION</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AI Agent vs RAG vs Multimodal AI</a:t>
            </a:r>
            <a:endParaRPr lang="en-US" sz="3150" dirty="0"/>
          </a:p>
        </p:txBody>
      </p:sp>
      <p:sp>
        <p:nvSpPr>
          <p:cNvPr id="5" name="Shape 3"/>
          <p:cNvSpPr/>
          <p:nvPr/>
        </p:nvSpPr>
        <p:spPr>
          <a:xfrm>
            <a:off x="952500" y="1907828"/>
            <a:ext cx="3339778" cy="500063"/>
          </a:xfrm>
          <a:prstGeom prst="rect">
            <a:avLst/>
          </a:prstGeom>
          <a:solidFill>
            <a:srgbClr val="FF6A00">
              <a:alpha val="18000"/>
            </a:srgbClr>
          </a:solidFill>
          <a:ln/>
        </p:spPr>
      </p:sp>
      <p:sp>
        <p:nvSpPr>
          <p:cNvPr id="6" name="Shape 4"/>
          <p:cNvSpPr/>
          <p:nvPr/>
        </p:nvSpPr>
        <p:spPr>
          <a:xfrm>
            <a:off x="952500" y="2398365"/>
            <a:ext cx="3339778" cy="9525"/>
          </a:xfrm>
          <a:prstGeom prst="rect">
            <a:avLst/>
          </a:prstGeom>
          <a:solidFill>
            <a:srgbClr val="B85100"/>
          </a:solidFill>
          <a:ln/>
        </p:spPr>
      </p:sp>
      <p:sp>
        <p:nvSpPr>
          <p:cNvPr id="7" name="Shape 5"/>
          <p:cNvSpPr/>
          <p:nvPr/>
        </p:nvSpPr>
        <p:spPr>
          <a:xfrm>
            <a:off x="4292278" y="1907828"/>
            <a:ext cx="13043222" cy="500063"/>
          </a:xfrm>
          <a:prstGeom prst="rect">
            <a:avLst/>
          </a:prstGeom>
          <a:solidFill>
            <a:srgbClr val="FF6A00">
              <a:alpha val="18000"/>
            </a:srgbClr>
          </a:solidFill>
          <a:ln/>
        </p:spPr>
      </p:sp>
      <p:sp>
        <p:nvSpPr>
          <p:cNvPr id="8" name="Shape 6"/>
          <p:cNvSpPr/>
          <p:nvPr/>
        </p:nvSpPr>
        <p:spPr>
          <a:xfrm>
            <a:off x="4292278" y="2398365"/>
            <a:ext cx="13043222" cy="9525"/>
          </a:xfrm>
          <a:prstGeom prst="rect">
            <a:avLst/>
          </a:prstGeom>
          <a:solidFill>
            <a:srgbClr val="B85100"/>
          </a:solidFill>
          <a:ln/>
        </p:spPr>
      </p:sp>
      <p:sp>
        <p:nvSpPr>
          <p:cNvPr id="9" name="Text 7"/>
          <p:cNvSpPr/>
          <p:nvPr/>
        </p:nvSpPr>
        <p:spPr>
          <a:xfrm>
            <a:off x="4444678" y="2022128"/>
            <a:ext cx="1312971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Problem It Solves</a:t>
            </a:r>
            <a:endParaRPr lang="en-US" sz="1800" dirty="0"/>
          </a:p>
        </p:txBody>
      </p:sp>
      <p:sp>
        <p:nvSpPr>
          <p:cNvPr id="10" name="Text 8"/>
          <p:cNvSpPr/>
          <p:nvPr/>
        </p:nvSpPr>
        <p:spPr>
          <a:xfrm>
            <a:off x="1104900" y="2541240"/>
            <a:ext cx="3135171" cy="309562"/>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AI Agent</a:t>
            </a:r>
            <a:endParaRPr lang="en-US" sz="1800" dirty="0"/>
          </a:p>
        </p:txBody>
      </p:sp>
      <p:sp>
        <p:nvSpPr>
          <p:cNvPr id="11" name="Text 9"/>
          <p:cNvSpPr/>
          <p:nvPr/>
        </p:nvSpPr>
        <p:spPr>
          <a:xfrm>
            <a:off x="4444678" y="2541240"/>
            <a:ext cx="13129719" cy="309562"/>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Completing multi-step tasks by taking actions, not just producing text</a:t>
            </a:r>
            <a:endParaRPr lang="en-US" sz="1800" dirty="0"/>
          </a:p>
        </p:txBody>
      </p:sp>
      <p:sp>
        <p:nvSpPr>
          <p:cNvPr id="12" name="Shape 10"/>
          <p:cNvSpPr/>
          <p:nvPr/>
        </p:nvSpPr>
        <p:spPr>
          <a:xfrm>
            <a:off x="952500" y="2946053"/>
            <a:ext cx="16383000" cy="533400"/>
          </a:xfrm>
          <a:prstGeom prst="rect">
            <a:avLst/>
          </a:prstGeom>
          <a:solidFill>
            <a:srgbClr val="FFFFFF">
              <a:alpha val="2000"/>
            </a:srgbClr>
          </a:solidFill>
          <a:ln/>
        </p:spPr>
      </p:sp>
      <p:sp>
        <p:nvSpPr>
          <p:cNvPr id="13" name="Text 11"/>
          <p:cNvSpPr/>
          <p:nvPr/>
        </p:nvSpPr>
        <p:spPr>
          <a:xfrm>
            <a:off x="1104900" y="3079403"/>
            <a:ext cx="3135171"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RAG</a:t>
            </a:r>
            <a:endParaRPr lang="en-US" sz="1800" dirty="0"/>
          </a:p>
        </p:txBody>
      </p:sp>
      <p:sp>
        <p:nvSpPr>
          <p:cNvPr id="14" name="Text 12"/>
          <p:cNvSpPr/>
          <p:nvPr/>
        </p:nvSpPr>
        <p:spPr>
          <a:xfrm>
            <a:off x="4444678" y="3079403"/>
            <a:ext cx="1312971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Answering with current or external information beyond training data</a:t>
            </a:r>
            <a:endParaRPr lang="en-US" sz="1800" dirty="0"/>
          </a:p>
        </p:txBody>
      </p:sp>
      <p:sp>
        <p:nvSpPr>
          <p:cNvPr id="15" name="Text 13"/>
          <p:cNvSpPr/>
          <p:nvPr/>
        </p:nvSpPr>
        <p:spPr>
          <a:xfrm>
            <a:off x="1104900" y="3612803"/>
            <a:ext cx="3135171"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Multimodal AI</a:t>
            </a:r>
            <a:endParaRPr lang="en-US" sz="1800" dirty="0"/>
          </a:p>
        </p:txBody>
      </p:sp>
      <p:sp>
        <p:nvSpPr>
          <p:cNvPr id="16" name="Text 14"/>
          <p:cNvSpPr/>
          <p:nvPr/>
        </p:nvSpPr>
        <p:spPr>
          <a:xfrm>
            <a:off x="4444678" y="3612803"/>
            <a:ext cx="1312971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Working across more than one type of content — e.g. image and text</a:t>
            </a:r>
            <a:endParaRPr lang="en-US" sz="1800" dirty="0"/>
          </a:p>
        </p:txBody>
      </p:sp>
      <p:sp>
        <p:nvSpPr>
          <p:cNvPr id="17" name="Shape 15"/>
          <p:cNvSpPr/>
          <p:nvPr/>
        </p:nvSpPr>
        <p:spPr>
          <a:xfrm>
            <a:off x="952500" y="4241453"/>
            <a:ext cx="16383000" cy="704850"/>
          </a:xfrm>
          <a:prstGeom prst="roundRect">
            <a:avLst>
              <a:gd name="adj" fmla="val 21622"/>
            </a:avLst>
          </a:prstGeom>
          <a:solidFill>
            <a:srgbClr val="FFFFFF">
              <a:alpha val="2000"/>
            </a:srgbClr>
          </a:solidFill>
          <a:ln w="9525">
            <a:solidFill>
              <a:srgbClr val="2A2F3A"/>
            </a:solidFill>
            <a:prstDash val="solid"/>
          </a:ln>
        </p:spPr>
      </p:sp>
      <p:sp>
        <p:nvSpPr>
          <p:cNvPr id="18" name="Text 16"/>
          <p:cNvSpPr/>
          <p:nvPr/>
        </p:nvSpPr>
        <p:spPr>
          <a:xfrm>
            <a:off x="1171575" y="4460528"/>
            <a:ext cx="1643634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These are not mutually exclusive — a single tool could be an agent, use RAG, and be multimodal all at once.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APPLIED SCENARIO</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The Weekly Market Report</a:t>
            </a:r>
            <a:endParaRPr lang="en-US" sz="2850" dirty="0"/>
          </a:p>
        </p:txBody>
      </p:sp>
      <p:sp>
        <p:nvSpPr>
          <p:cNvPr id="5" name="Shape 3"/>
          <p:cNvSpPr/>
          <p:nvPr/>
        </p:nvSpPr>
        <p:spPr>
          <a:xfrm>
            <a:off x="952500" y="1825898"/>
            <a:ext cx="16383000" cy="1413421"/>
          </a:xfrm>
          <a:prstGeom prst="roundRect">
            <a:avLst>
              <a:gd name="adj" fmla="val 10782"/>
            </a:avLst>
          </a:prstGeom>
          <a:solidFill>
            <a:srgbClr val="FFFFFF">
              <a:alpha val="2000"/>
            </a:srgbClr>
          </a:solidFill>
          <a:ln w="9525">
            <a:solidFill>
              <a:srgbClr val="2A2F3A"/>
            </a:solidFill>
            <a:prstDash val="solid"/>
          </a:ln>
        </p:spPr>
      </p:sp>
      <p:sp>
        <p:nvSpPr>
          <p:cNvPr id="6" name="Text 4"/>
          <p:cNvSpPr/>
          <p:nvPr/>
        </p:nvSpPr>
        <p:spPr>
          <a:xfrm>
            <a:off x="1247775" y="2121173"/>
            <a:ext cx="1628394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Your manager wants a short report each Monday summarising this week's most relevant industry news, with the finished report automatically saved into a shared folder.</a:t>
            </a:r>
            <a:endParaRPr lang="en-US" sz="2025" dirty="0"/>
          </a:p>
        </p:txBody>
      </p:sp>
      <p:sp>
        <p:nvSpPr>
          <p:cNvPr id="7" name="Text 5"/>
          <p:cNvSpPr/>
          <p:nvPr/>
        </p:nvSpPr>
        <p:spPr>
          <a:xfrm>
            <a:off x="952500" y="3486969"/>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DISCUSS</a:t>
            </a:r>
            <a:endParaRPr lang="en-US" sz="1800" dirty="0"/>
          </a:p>
        </p:txBody>
      </p:sp>
      <p:sp>
        <p:nvSpPr>
          <p:cNvPr id="8" name="Text 6"/>
          <p:cNvSpPr/>
          <p:nvPr/>
        </p:nvSpPr>
        <p:spPr>
          <a:xfrm>
            <a:off x="952500" y="3887019"/>
            <a:ext cx="1802130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Which capabilities from this module would this task benefit from, and why?</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Classify Each Tool</a:t>
            </a:r>
            <a:endParaRPr lang="en-US" sz="2850" dirty="0"/>
          </a:p>
        </p:txBody>
      </p:sp>
      <p:sp>
        <p:nvSpPr>
          <p:cNvPr id="5" name="Text 3"/>
          <p:cNvSpPr/>
          <p:nvPr/>
        </p:nvSpPr>
        <p:spPr>
          <a:xfrm>
            <a:off x="952500" y="1806848"/>
            <a:ext cx="1802130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For each description, identify the concept it best illustrates from this module.</a:t>
            </a:r>
            <a:endParaRPr lang="en-US" sz="1800" dirty="0"/>
          </a:p>
        </p:txBody>
      </p:sp>
      <p:sp>
        <p:nvSpPr>
          <p:cNvPr id="6" name="Shape 4"/>
          <p:cNvSpPr/>
          <p:nvPr/>
        </p:nvSpPr>
        <p:spPr>
          <a:xfrm>
            <a:off x="952500" y="2340248"/>
            <a:ext cx="8115300" cy="666750"/>
          </a:xfrm>
          <a:prstGeom prst="roundRect">
            <a:avLst>
              <a:gd name="adj" fmla="val 20000"/>
            </a:avLst>
          </a:prstGeom>
          <a:solidFill>
            <a:srgbClr val="FFFFFF">
              <a:alpha val="2000"/>
            </a:srgbClr>
          </a:solidFill>
          <a:ln w="9525">
            <a:solidFill>
              <a:srgbClr val="2A2F3A"/>
            </a:solidFill>
            <a:prstDash val="solid"/>
          </a:ln>
        </p:spPr>
      </p:sp>
      <p:sp>
        <p:nvSpPr>
          <p:cNvPr id="7" name="Text 5"/>
          <p:cNvSpPr/>
          <p:nvPr/>
        </p:nvSpPr>
        <p:spPr>
          <a:xfrm>
            <a:off x="1152525" y="25402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tool that answers questions and drafts text for a person to review</a:t>
            </a:r>
            <a:endParaRPr lang="en-US" sz="1800" dirty="0"/>
          </a:p>
        </p:txBody>
      </p:sp>
      <p:sp>
        <p:nvSpPr>
          <p:cNvPr id="8" name="Shape 6"/>
          <p:cNvSpPr/>
          <p:nvPr/>
        </p:nvSpPr>
        <p:spPr>
          <a:xfrm>
            <a:off x="9220200" y="2340248"/>
            <a:ext cx="8115300" cy="666750"/>
          </a:xfrm>
          <a:prstGeom prst="roundRect">
            <a:avLst>
              <a:gd name="adj" fmla="val 20000"/>
            </a:avLst>
          </a:prstGeom>
          <a:solidFill>
            <a:srgbClr val="FFFFFF">
              <a:alpha val="2000"/>
            </a:srgbClr>
          </a:solidFill>
          <a:ln w="9525">
            <a:solidFill>
              <a:srgbClr val="2A2F3A"/>
            </a:solidFill>
            <a:prstDash val="solid"/>
          </a:ln>
        </p:spPr>
      </p:sp>
      <p:sp>
        <p:nvSpPr>
          <p:cNvPr id="9" name="Text 7"/>
          <p:cNvSpPr/>
          <p:nvPr/>
        </p:nvSpPr>
        <p:spPr>
          <a:xfrm>
            <a:off x="9420225" y="25402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tool that books a meeting by checking calendars and sending the invite itself</a:t>
            </a:r>
            <a:endParaRPr lang="en-US" sz="1800" dirty="0"/>
          </a:p>
        </p:txBody>
      </p:sp>
      <p:sp>
        <p:nvSpPr>
          <p:cNvPr id="10" name="Shape 8"/>
          <p:cNvSpPr/>
          <p:nvPr/>
        </p:nvSpPr>
        <p:spPr>
          <a:xfrm>
            <a:off x="952500" y="3159398"/>
            <a:ext cx="8115300" cy="666750"/>
          </a:xfrm>
          <a:prstGeom prst="roundRect">
            <a:avLst>
              <a:gd name="adj" fmla="val 20000"/>
            </a:avLst>
          </a:prstGeom>
          <a:solidFill>
            <a:srgbClr val="FFFFFF">
              <a:alpha val="2000"/>
            </a:srgbClr>
          </a:solidFill>
          <a:ln w="9525">
            <a:solidFill>
              <a:srgbClr val="2A2F3A"/>
            </a:solidFill>
            <a:prstDash val="solid"/>
          </a:ln>
        </p:spPr>
      </p:sp>
      <p:sp>
        <p:nvSpPr>
          <p:cNvPr id="11" name="Text 9"/>
          <p:cNvSpPr/>
          <p:nvPr/>
        </p:nvSpPr>
        <p:spPr>
          <a:xfrm>
            <a:off x="1152525" y="33594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tool that searches current news articles before answering a question</a:t>
            </a:r>
            <a:endParaRPr lang="en-US" sz="1800" dirty="0"/>
          </a:p>
        </p:txBody>
      </p:sp>
      <p:sp>
        <p:nvSpPr>
          <p:cNvPr id="12" name="Shape 10"/>
          <p:cNvSpPr/>
          <p:nvPr/>
        </p:nvSpPr>
        <p:spPr>
          <a:xfrm>
            <a:off x="9220200" y="3159398"/>
            <a:ext cx="8115300" cy="666750"/>
          </a:xfrm>
          <a:prstGeom prst="roundRect">
            <a:avLst>
              <a:gd name="adj" fmla="val 20000"/>
            </a:avLst>
          </a:prstGeom>
          <a:solidFill>
            <a:srgbClr val="FFFFFF">
              <a:alpha val="2000"/>
            </a:srgbClr>
          </a:solidFill>
          <a:ln w="9525">
            <a:solidFill>
              <a:srgbClr val="2A2F3A"/>
            </a:solidFill>
            <a:prstDash val="solid"/>
          </a:ln>
        </p:spPr>
      </p:sp>
      <p:sp>
        <p:nvSpPr>
          <p:cNvPr id="13" name="Text 11"/>
          <p:cNvSpPr/>
          <p:nvPr/>
        </p:nvSpPr>
        <p:spPr>
          <a:xfrm>
            <a:off x="9420225" y="33594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tool that reads an uploaded photo and describes what's in it</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Match The Output To Its Category</a:t>
            </a:r>
            <a:endParaRPr lang="en-US" sz="2850" dirty="0"/>
          </a:p>
        </p:txBody>
      </p:sp>
      <p:sp>
        <p:nvSpPr>
          <p:cNvPr id="5" name="Shape 3"/>
          <p:cNvSpPr/>
          <p:nvPr/>
        </p:nvSpPr>
        <p:spPr>
          <a:xfrm>
            <a:off x="952500" y="1806848"/>
            <a:ext cx="8115300" cy="66675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52525" y="20068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concept illustration generated from a text description</a:t>
            </a:r>
            <a:endParaRPr lang="en-US" sz="1800" dirty="0"/>
          </a:p>
        </p:txBody>
      </p:sp>
      <p:sp>
        <p:nvSpPr>
          <p:cNvPr id="7" name="Shape 5"/>
          <p:cNvSpPr/>
          <p:nvPr/>
        </p:nvSpPr>
        <p:spPr>
          <a:xfrm>
            <a:off x="9220200" y="1806848"/>
            <a:ext cx="8115300" cy="66675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9420225" y="200687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short function generated from a plain-English description</a:t>
            </a:r>
            <a:endParaRPr lang="en-US" sz="1800" dirty="0"/>
          </a:p>
        </p:txBody>
      </p:sp>
      <p:sp>
        <p:nvSpPr>
          <p:cNvPr id="9" name="Shape 7"/>
          <p:cNvSpPr/>
          <p:nvPr/>
        </p:nvSpPr>
        <p:spPr>
          <a:xfrm>
            <a:off x="952500" y="2625998"/>
            <a:ext cx="8115300" cy="66675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52525" y="28260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voiceover track generated from a script</a:t>
            </a:r>
            <a:endParaRPr lang="en-US" sz="1800" dirty="0"/>
          </a:p>
        </p:txBody>
      </p:sp>
      <p:sp>
        <p:nvSpPr>
          <p:cNvPr id="11" name="Shape 9"/>
          <p:cNvSpPr/>
          <p:nvPr/>
        </p:nvSpPr>
        <p:spPr>
          <a:xfrm>
            <a:off x="9220200" y="2625998"/>
            <a:ext cx="8115300" cy="666750"/>
          </a:xfrm>
          <a:prstGeom prst="roundRect">
            <a:avLst>
              <a:gd name="adj" fmla="val 20000"/>
            </a:avLst>
          </a:prstGeom>
          <a:solidFill>
            <a:srgbClr val="FFFFFF">
              <a:alpha val="2000"/>
            </a:srgbClr>
          </a:solidFill>
          <a:ln w="9525">
            <a:solidFill>
              <a:srgbClr val="2A2F3A"/>
            </a:solidFill>
            <a:prstDash val="solid"/>
          </a:ln>
        </p:spPr>
      </p:sp>
      <p:sp>
        <p:nvSpPr>
          <p:cNvPr id="12" name="Text 10"/>
          <p:cNvSpPr/>
          <p:nvPr/>
        </p:nvSpPr>
        <p:spPr>
          <a:xfrm>
            <a:off x="9420225" y="2826023"/>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short animated clip generated from a storyboard</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ACRONYM SPOTLIGHT</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3 Acronyms</a:t>
            </a:r>
            <a:endParaRPr lang="en-US" sz="3150" dirty="0"/>
          </a:p>
        </p:txBody>
      </p:sp>
      <p:sp>
        <p:nvSpPr>
          <p:cNvPr id="5" name="Shape 3"/>
          <p:cNvSpPr/>
          <p:nvPr/>
        </p:nvSpPr>
        <p:spPr>
          <a:xfrm>
            <a:off x="952500" y="1907828"/>
            <a:ext cx="1954262" cy="514350"/>
          </a:xfrm>
          <a:prstGeom prst="rect">
            <a:avLst/>
          </a:prstGeom>
          <a:solidFill>
            <a:srgbClr val="FF6A00">
              <a:alpha val="18000"/>
            </a:srgbClr>
          </a:solidFill>
          <a:ln/>
        </p:spPr>
      </p:sp>
      <p:sp>
        <p:nvSpPr>
          <p:cNvPr id="6" name="Shape 4"/>
          <p:cNvSpPr/>
          <p:nvPr/>
        </p:nvSpPr>
        <p:spPr>
          <a:xfrm>
            <a:off x="952500" y="2412653"/>
            <a:ext cx="1954262" cy="9525"/>
          </a:xfrm>
          <a:prstGeom prst="rect">
            <a:avLst/>
          </a:prstGeom>
          <a:solidFill>
            <a:srgbClr val="B85100"/>
          </a:solidFill>
          <a:ln/>
        </p:spPr>
      </p:sp>
      <p:sp>
        <p:nvSpPr>
          <p:cNvPr id="7" name="Text 5"/>
          <p:cNvSpPr/>
          <p:nvPr/>
        </p:nvSpPr>
        <p:spPr>
          <a:xfrm>
            <a:off x="1104900" y="2022128"/>
            <a:ext cx="1725662"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Acronym</a:t>
            </a:r>
            <a:endParaRPr lang="en-US" sz="1875" dirty="0"/>
          </a:p>
        </p:txBody>
      </p:sp>
      <p:sp>
        <p:nvSpPr>
          <p:cNvPr id="8" name="Shape 6"/>
          <p:cNvSpPr/>
          <p:nvPr/>
        </p:nvSpPr>
        <p:spPr>
          <a:xfrm>
            <a:off x="2906762" y="1907828"/>
            <a:ext cx="5493990" cy="514350"/>
          </a:xfrm>
          <a:prstGeom prst="rect">
            <a:avLst/>
          </a:prstGeom>
          <a:solidFill>
            <a:srgbClr val="FF6A00">
              <a:alpha val="18000"/>
            </a:srgbClr>
          </a:solidFill>
          <a:ln/>
        </p:spPr>
      </p:sp>
      <p:sp>
        <p:nvSpPr>
          <p:cNvPr id="9" name="Shape 7"/>
          <p:cNvSpPr/>
          <p:nvPr/>
        </p:nvSpPr>
        <p:spPr>
          <a:xfrm>
            <a:off x="2906762" y="2412653"/>
            <a:ext cx="5493990" cy="9525"/>
          </a:xfrm>
          <a:prstGeom prst="rect">
            <a:avLst/>
          </a:prstGeom>
          <a:solidFill>
            <a:srgbClr val="B85100"/>
          </a:solidFill>
          <a:ln/>
        </p:spPr>
      </p:sp>
      <p:sp>
        <p:nvSpPr>
          <p:cNvPr id="10" name="Text 8"/>
          <p:cNvSpPr/>
          <p:nvPr/>
        </p:nvSpPr>
        <p:spPr>
          <a:xfrm>
            <a:off x="3059162" y="2022128"/>
            <a:ext cx="5354010"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Stands For</a:t>
            </a:r>
            <a:endParaRPr lang="en-US" sz="1875" dirty="0"/>
          </a:p>
        </p:txBody>
      </p:sp>
      <p:sp>
        <p:nvSpPr>
          <p:cNvPr id="11" name="Shape 9"/>
          <p:cNvSpPr/>
          <p:nvPr/>
        </p:nvSpPr>
        <p:spPr>
          <a:xfrm>
            <a:off x="8400752" y="1907828"/>
            <a:ext cx="8934748" cy="514350"/>
          </a:xfrm>
          <a:prstGeom prst="rect">
            <a:avLst/>
          </a:prstGeom>
          <a:solidFill>
            <a:srgbClr val="FF6A00">
              <a:alpha val="18000"/>
            </a:srgbClr>
          </a:solidFill>
          <a:ln/>
        </p:spPr>
      </p:sp>
      <p:sp>
        <p:nvSpPr>
          <p:cNvPr id="12" name="Shape 10"/>
          <p:cNvSpPr/>
          <p:nvPr/>
        </p:nvSpPr>
        <p:spPr>
          <a:xfrm>
            <a:off x="8400752" y="2412653"/>
            <a:ext cx="8934748" cy="9525"/>
          </a:xfrm>
          <a:prstGeom prst="rect">
            <a:avLst/>
          </a:prstGeom>
          <a:solidFill>
            <a:srgbClr val="B85100"/>
          </a:solidFill>
          <a:ln/>
        </p:spPr>
      </p:sp>
      <p:sp>
        <p:nvSpPr>
          <p:cNvPr id="13" name="Text 11"/>
          <p:cNvSpPr/>
          <p:nvPr/>
        </p:nvSpPr>
        <p:spPr>
          <a:xfrm>
            <a:off x="8553152" y="2022128"/>
            <a:ext cx="8897990" cy="314325"/>
          </a:xfrm>
          <a:prstGeom prst="rect">
            <a:avLst/>
          </a:prstGeom>
          <a:noFill/>
          <a:ln/>
        </p:spPr>
        <p:txBody>
          <a:bodyPr wrap="square" lIns="25400" tIns="25400" rIns="25400" bIns="25400" rtlCol="0" anchor="ctr">
            <a:normAutofit/>
          </a:bodyPr>
          <a:lstStyle/>
          <a:p>
            <a:pPr algn="l" indent="0" marL="0">
              <a:buNone/>
            </a:pPr>
            <a:r>
              <a:rPr lang="en-US" sz="1875" b="1" dirty="0">
                <a:solidFill>
                  <a:srgbClr val="F5F7FB"/>
                </a:solidFill>
                <a:latin typeface="Arial" pitchFamily="34" charset="0"/>
                <a:ea typeface="Arial" pitchFamily="34" charset="-122"/>
                <a:cs typeface="Arial" pitchFamily="34" charset="-120"/>
              </a:rPr>
              <a:t>In One Line</a:t>
            </a:r>
            <a:endParaRPr lang="en-US" sz="1875" dirty="0"/>
          </a:p>
        </p:txBody>
      </p:sp>
      <p:sp>
        <p:nvSpPr>
          <p:cNvPr id="14" name="Text 12"/>
          <p:cNvSpPr/>
          <p:nvPr/>
        </p:nvSpPr>
        <p:spPr>
          <a:xfrm>
            <a:off x="1104900" y="2536478"/>
            <a:ext cx="1725662" cy="323850"/>
          </a:xfrm>
          <a:prstGeom prst="rect">
            <a:avLst/>
          </a:prstGeom>
          <a:noFill/>
          <a:ln/>
        </p:spPr>
        <p:txBody>
          <a:bodyPr wrap="square" lIns="25400" tIns="25400" rIns="25400" bIns="25400" rtlCol="0" anchor="ctr">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RAG</a:t>
            </a:r>
            <a:endParaRPr lang="en-US" sz="1875" dirty="0"/>
          </a:p>
        </p:txBody>
      </p:sp>
      <p:sp>
        <p:nvSpPr>
          <p:cNvPr id="15" name="Text 13"/>
          <p:cNvSpPr/>
          <p:nvPr/>
        </p:nvSpPr>
        <p:spPr>
          <a:xfrm>
            <a:off x="3059162" y="2536478"/>
            <a:ext cx="5354010"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Retrieval-Augmented Generation</a:t>
            </a:r>
            <a:endParaRPr lang="en-US" sz="1875" dirty="0"/>
          </a:p>
        </p:txBody>
      </p:sp>
      <p:sp>
        <p:nvSpPr>
          <p:cNvPr id="16" name="Text 14"/>
          <p:cNvSpPr/>
          <p:nvPr/>
        </p:nvSpPr>
        <p:spPr>
          <a:xfrm>
            <a:off x="8553152" y="2536478"/>
            <a:ext cx="8897990" cy="323850"/>
          </a:xfrm>
          <a:prstGeom prst="rect">
            <a:avLst/>
          </a:prstGeom>
          <a:noFill/>
          <a:ln/>
        </p:spPr>
        <p:txBody>
          <a:bodyPr wrap="square" lIns="25400" tIns="25400" rIns="25400" bIns="25400" rtlCol="0" anchor="ctr">
            <a:normAutofit/>
          </a:bodyPr>
          <a:lstStyle/>
          <a:p>
            <a:pPr algn="l" indent="0" marL="0">
              <a:buNone/>
            </a:pPr>
            <a:r>
              <a:rPr lang="en-US" sz="1875" dirty="0">
                <a:solidFill>
                  <a:srgbClr val="DFE3EA"/>
                </a:solidFill>
                <a:latin typeface="Arial" pitchFamily="34" charset="0"/>
                <a:ea typeface="Arial" pitchFamily="34" charset="-122"/>
                <a:cs typeface="Arial" pitchFamily="34" charset="-120"/>
              </a:rPr>
              <a:t>Retrieves current info, then generates the answer from it</a:t>
            </a:r>
            <a:endParaRPr lang="en-US" sz="18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COMMON MISCONCEPTIONS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Exam Distractor Patterns To Recognise</a:t>
            </a:r>
            <a:endParaRPr lang="en-US" sz="3150" dirty="0"/>
          </a:p>
        </p:txBody>
      </p:sp>
      <p:sp>
        <p:nvSpPr>
          <p:cNvPr id="5" name="Shape 3"/>
          <p:cNvSpPr/>
          <p:nvPr/>
        </p:nvSpPr>
        <p:spPr>
          <a:xfrm>
            <a:off x="952500" y="1869728"/>
            <a:ext cx="16383000" cy="661988"/>
          </a:xfrm>
          <a:prstGeom prst="roundRect">
            <a:avLst>
              <a:gd name="adj" fmla="val 20144"/>
            </a:avLst>
          </a:prstGeom>
          <a:solidFill>
            <a:srgbClr val="FF6A00">
              <a:alpha val="6000"/>
            </a:srgbClr>
          </a:solidFill>
          <a:ln w="9525">
            <a:solidFill>
              <a:srgbClr val="B85100"/>
            </a:solidFill>
            <a:prstDash val="solid"/>
          </a:ln>
        </p:spPr>
      </p:sp>
      <p:sp>
        <p:nvSpPr>
          <p:cNvPr id="6" name="Text 4"/>
          <p:cNvSpPr/>
          <p:nvPr/>
        </p:nvSpPr>
        <p:spPr>
          <a:xfrm>
            <a:off x="1171575" y="2050703"/>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Any chatbot that seems to "do things" is an AI agent — an agent specifically takes actions or uses tools, not just holds a conversation.</a:t>
            </a:r>
            <a:endParaRPr lang="en-US" sz="1800" dirty="0"/>
          </a:p>
        </p:txBody>
      </p:sp>
      <p:sp>
        <p:nvSpPr>
          <p:cNvPr id="7" name="Shape 5"/>
          <p:cNvSpPr/>
          <p:nvPr/>
        </p:nvSpPr>
        <p:spPr>
          <a:xfrm>
            <a:off x="952500" y="2665065"/>
            <a:ext cx="16383000" cy="661988"/>
          </a:xfrm>
          <a:prstGeom prst="roundRect">
            <a:avLst>
              <a:gd name="adj" fmla="val 20144"/>
            </a:avLst>
          </a:prstGeom>
          <a:solidFill>
            <a:srgbClr val="FF6A00">
              <a:alpha val="6000"/>
            </a:srgbClr>
          </a:solidFill>
          <a:ln w="9525">
            <a:solidFill>
              <a:srgbClr val="B85100"/>
            </a:solidFill>
            <a:prstDash val="solid"/>
          </a:ln>
        </p:spPr>
      </p:sp>
      <p:sp>
        <p:nvSpPr>
          <p:cNvPr id="8" name="Text 6"/>
          <p:cNvSpPr/>
          <p:nvPr/>
        </p:nvSpPr>
        <p:spPr>
          <a:xfrm>
            <a:off x="1171575" y="2846040"/>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RAG retrains the model — it does not; it supplies current information at the point of answering.</a:t>
            </a:r>
            <a:endParaRPr lang="en-US" sz="1800" dirty="0"/>
          </a:p>
        </p:txBody>
      </p:sp>
      <p:sp>
        <p:nvSpPr>
          <p:cNvPr id="9" name="Shape 7"/>
          <p:cNvSpPr/>
          <p:nvPr/>
        </p:nvSpPr>
        <p:spPr>
          <a:xfrm>
            <a:off x="952500" y="3460403"/>
            <a:ext cx="16383000" cy="661988"/>
          </a:xfrm>
          <a:prstGeom prst="roundRect">
            <a:avLst>
              <a:gd name="adj" fmla="val 20144"/>
            </a:avLst>
          </a:prstGeom>
          <a:solidFill>
            <a:srgbClr val="FF6A00">
              <a:alpha val="6000"/>
            </a:srgbClr>
          </a:solidFill>
          <a:ln w="9525">
            <a:solidFill>
              <a:srgbClr val="B85100"/>
            </a:solidFill>
            <a:prstDash val="solid"/>
          </a:ln>
        </p:spPr>
      </p:sp>
      <p:sp>
        <p:nvSpPr>
          <p:cNvPr id="10" name="Text 8"/>
          <p:cNvSpPr/>
          <p:nvPr/>
        </p:nvSpPr>
        <p:spPr>
          <a:xfrm>
            <a:off x="1171575" y="3641378"/>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Multimodal means "trained on a lot of data" — it specifically means working across more than one content type.</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604302" y="3888581"/>
            <a:ext cx="3079321"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DOMAIN 3 WEIGHTING</a:t>
            </a:r>
            <a:endParaRPr lang="en-US" sz="1950" dirty="0"/>
          </a:p>
        </p:txBody>
      </p:sp>
      <p:sp>
        <p:nvSpPr>
          <p:cNvPr id="4" name="Text 2"/>
          <p:cNvSpPr/>
          <p:nvPr/>
        </p:nvSpPr>
        <p:spPr>
          <a:xfrm>
            <a:off x="7272784" y="4369594"/>
            <a:ext cx="3742432"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15%</a:t>
            </a:r>
            <a:endParaRPr lang="en-US" sz="12750" dirty="0"/>
          </a:p>
        </p:txBody>
      </p:sp>
      <p:sp>
        <p:nvSpPr>
          <p:cNvPr id="5" name="Text 3"/>
          <p:cNvSpPr/>
          <p:nvPr/>
        </p:nvSpPr>
        <p:spPr>
          <a:xfrm>
            <a:off x="4499033" y="6084094"/>
            <a:ext cx="9289859" cy="352425"/>
          </a:xfrm>
          <a:prstGeom prst="rect">
            <a:avLst/>
          </a:prstGeom>
          <a:noFill/>
          <a:ln/>
        </p:spPr>
        <p:txBody>
          <a:bodyPr wrap="square" lIns="25400" tIns="25400" rIns="25400" bIns="25400" rtlCol="0" anchor="t">
            <a:normAutofit/>
          </a:bodyPr>
          <a:lstStyle/>
          <a:p>
            <a:pPr algn="ctr" indent="0" marL="0">
              <a:buNone/>
            </a:pPr>
            <a:r>
              <a:rPr lang="en-US" sz="2100" dirty="0">
                <a:solidFill>
                  <a:srgbClr val="DFE3EA"/>
                </a:solidFill>
                <a:latin typeface="Arial" pitchFamily="34" charset="0"/>
                <a:ea typeface="Arial" pitchFamily="34" charset="-122"/>
                <a:cs typeface="Arial" pitchFamily="34" charset="-120"/>
              </a:rPr>
              <a:t>of the CAIA examination is drawn from Domain 3: Generative AI &amp; AI Tools.</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KNOWLEDGE CHECK</a:t>
            </a:r>
            <a:endParaRPr lang="en-US" sz="1800" dirty="0"/>
          </a:p>
        </p:txBody>
      </p:sp>
      <p:sp>
        <p:nvSpPr>
          <p:cNvPr id="4" name="Text 2"/>
          <p:cNvSpPr/>
          <p:nvPr/>
        </p:nvSpPr>
        <p:spPr>
          <a:xfrm>
            <a:off x="952500" y="1162050"/>
            <a:ext cx="15697200"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b="1" dirty="0">
                <a:solidFill>
                  <a:srgbClr val="F5F7FB"/>
                </a:solidFill>
                <a:latin typeface="Arial" pitchFamily="34" charset="0"/>
                <a:ea typeface="Arial" pitchFamily="34" charset="-122"/>
                <a:cs typeface="Arial" pitchFamily="34" charset="-120"/>
              </a:rPr>
              <a:t>A tool checks everyone's calendar, proposes a meeting time, and sends the invite itself without further input. What does this best illustrate?</a:t>
            </a:r>
            <a:endParaRPr lang="en-US" sz="2250" dirty="0"/>
          </a:p>
        </p:txBody>
      </p:sp>
      <p:sp>
        <p:nvSpPr>
          <p:cNvPr id="5" name="Shape 3"/>
          <p:cNvSpPr/>
          <p:nvPr/>
        </p:nvSpPr>
        <p:spPr>
          <a:xfrm>
            <a:off x="952500" y="2286000"/>
            <a:ext cx="8115300" cy="685800"/>
          </a:xfrm>
          <a:prstGeom prst="roundRect">
            <a:avLst>
              <a:gd name="adj" fmla="val 19444"/>
            </a:avLst>
          </a:prstGeom>
          <a:solidFill>
            <a:srgbClr val="FFFFFF">
              <a:alpha val="3000"/>
            </a:srgbClr>
          </a:solidFill>
          <a:ln w="9525">
            <a:solidFill>
              <a:srgbClr val="2A2F3A"/>
            </a:solidFill>
            <a:prstDash val="solid"/>
          </a:ln>
        </p:spPr>
      </p:sp>
      <p:sp>
        <p:nvSpPr>
          <p:cNvPr id="6" name="Text 4"/>
          <p:cNvSpPr/>
          <p:nvPr/>
        </p:nvSpPr>
        <p:spPr>
          <a:xfrm>
            <a:off x="1152525" y="2486025"/>
            <a:ext cx="7958709" cy="32385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 Retrieval-augmented generation</a:t>
            </a:r>
            <a:endParaRPr lang="en-US" sz="1800" dirty="0"/>
          </a:p>
        </p:txBody>
      </p:sp>
      <p:sp>
        <p:nvSpPr>
          <p:cNvPr id="7" name="Shape 5"/>
          <p:cNvSpPr/>
          <p:nvPr/>
        </p:nvSpPr>
        <p:spPr>
          <a:xfrm>
            <a:off x="9220200" y="2286000"/>
            <a:ext cx="8115300" cy="685800"/>
          </a:xfrm>
          <a:prstGeom prst="roundRect">
            <a:avLst>
              <a:gd name="adj" fmla="val 19444"/>
            </a:avLst>
          </a:prstGeom>
          <a:solidFill>
            <a:srgbClr val="22C55E">
              <a:alpha val="10000"/>
            </a:srgbClr>
          </a:solidFill>
          <a:ln w="19050">
            <a:solidFill>
              <a:srgbClr val="22C55E"/>
            </a:solidFill>
            <a:prstDash val="solid"/>
          </a:ln>
        </p:spPr>
      </p:sp>
      <p:sp>
        <p:nvSpPr>
          <p:cNvPr id="8" name="Text 6"/>
          <p:cNvSpPr/>
          <p:nvPr/>
        </p:nvSpPr>
        <p:spPr>
          <a:xfrm>
            <a:off x="9429750" y="2495550"/>
            <a:ext cx="793965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B. An AI agent, taking action to complete the task ✓</a:t>
            </a:r>
            <a:endParaRPr lang="en-US" sz="1800" dirty="0"/>
          </a:p>
        </p:txBody>
      </p:sp>
      <p:sp>
        <p:nvSpPr>
          <p:cNvPr id="9" name="Shape 7"/>
          <p:cNvSpPr/>
          <p:nvPr/>
        </p:nvSpPr>
        <p:spPr>
          <a:xfrm>
            <a:off x="952500" y="3124200"/>
            <a:ext cx="8115300" cy="666750"/>
          </a:xfrm>
          <a:prstGeom prst="roundRect">
            <a:avLst>
              <a:gd name="adj" fmla="val 20000"/>
            </a:avLst>
          </a:prstGeom>
          <a:solidFill>
            <a:srgbClr val="FFFFFF">
              <a:alpha val="3000"/>
            </a:srgbClr>
          </a:solidFill>
          <a:ln w="9525">
            <a:solidFill>
              <a:srgbClr val="2A2F3A"/>
            </a:solidFill>
            <a:prstDash val="solid"/>
          </a:ln>
        </p:spPr>
      </p:sp>
      <p:sp>
        <p:nvSpPr>
          <p:cNvPr id="10" name="Text 8"/>
          <p:cNvSpPr/>
          <p:nvPr/>
        </p:nvSpPr>
        <p:spPr>
          <a:xfrm>
            <a:off x="1152525" y="33242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 A foundation model</a:t>
            </a:r>
            <a:endParaRPr lang="en-US" sz="1800" dirty="0"/>
          </a:p>
        </p:txBody>
      </p:sp>
      <p:sp>
        <p:nvSpPr>
          <p:cNvPr id="11" name="Shape 9"/>
          <p:cNvSpPr/>
          <p:nvPr/>
        </p:nvSpPr>
        <p:spPr>
          <a:xfrm>
            <a:off x="9220200" y="3124200"/>
            <a:ext cx="8115300" cy="666750"/>
          </a:xfrm>
          <a:prstGeom prst="roundRect">
            <a:avLst>
              <a:gd name="adj" fmla="val 20000"/>
            </a:avLst>
          </a:prstGeom>
          <a:solidFill>
            <a:srgbClr val="FFFFFF">
              <a:alpha val="3000"/>
            </a:srgbClr>
          </a:solidFill>
          <a:ln w="9525">
            <a:solidFill>
              <a:srgbClr val="2A2F3A"/>
            </a:solidFill>
            <a:prstDash val="solid"/>
          </a:ln>
        </p:spPr>
      </p:sp>
      <p:sp>
        <p:nvSpPr>
          <p:cNvPr id="12" name="Text 10"/>
          <p:cNvSpPr/>
          <p:nvPr/>
        </p:nvSpPr>
        <p:spPr>
          <a:xfrm>
            <a:off x="9420225" y="33242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 Multimodal AI</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MODULE SUMMARY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3 In Seven Statements</a:t>
            </a:r>
            <a:endParaRPr lang="en-US" sz="3150" dirty="0"/>
          </a:p>
        </p:txBody>
      </p:sp>
      <p:sp>
        <p:nvSpPr>
          <p:cNvPr id="5" name="Shape 3"/>
          <p:cNvSpPr/>
          <p:nvPr/>
        </p:nvSpPr>
        <p:spPr>
          <a:xfrm>
            <a:off x="952500" y="1869728"/>
            <a:ext cx="8124825" cy="590550"/>
          </a:xfrm>
          <a:prstGeom prst="roundRect">
            <a:avLst>
              <a:gd name="adj" fmla="val 22581"/>
            </a:avLst>
          </a:prstGeom>
          <a:solidFill>
            <a:srgbClr val="FFFFFF">
              <a:alpha val="2000"/>
            </a:srgbClr>
          </a:solidFill>
          <a:ln w="9525">
            <a:solidFill>
              <a:srgbClr val="2A2F3A"/>
            </a:solidFill>
            <a:prstDash val="solid"/>
          </a:ln>
        </p:spPr>
      </p:sp>
      <p:sp>
        <p:nvSpPr>
          <p:cNvPr id="6" name="Text 4"/>
          <p:cNvSpPr/>
          <p:nvPr/>
        </p:nvSpPr>
        <p:spPr>
          <a:xfrm>
            <a:off x="1171575" y="20316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3.1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Generative AI spans text, image, audio, video and code.</a:t>
            </a:r>
            <a:endParaRPr lang="en-US" sz="1800" dirty="0"/>
          </a:p>
        </p:txBody>
      </p:sp>
      <p:sp>
        <p:nvSpPr>
          <p:cNvPr id="7" name="Shape 5"/>
          <p:cNvSpPr/>
          <p:nvPr/>
        </p:nvSpPr>
        <p:spPr>
          <a:xfrm>
            <a:off x="9210675" y="1869728"/>
            <a:ext cx="8124825" cy="590550"/>
          </a:xfrm>
          <a:prstGeom prst="roundRect">
            <a:avLst>
              <a:gd name="adj" fmla="val 22581"/>
            </a:avLst>
          </a:prstGeom>
          <a:solidFill>
            <a:srgbClr val="FFFFFF">
              <a:alpha val="2000"/>
            </a:srgbClr>
          </a:solidFill>
          <a:ln w="9525">
            <a:solidFill>
              <a:srgbClr val="2A2F3A"/>
            </a:solidFill>
            <a:prstDash val="solid"/>
          </a:ln>
        </p:spPr>
      </p:sp>
      <p:sp>
        <p:nvSpPr>
          <p:cNvPr id="8" name="Text 6"/>
          <p:cNvSpPr/>
          <p:nvPr/>
        </p:nvSpPr>
        <p:spPr>
          <a:xfrm>
            <a:off x="9429750" y="20316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3.2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 foundation model is trained once and applied broadly.</a:t>
            </a:r>
            <a:endParaRPr lang="en-US" sz="1800" dirty="0"/>
          </a:p>
        </p:txBody>
      </p:sp>
      <p:sp>
        <p:nvSpPr>
          <p:cNvPr id="9" name="Shape 7"/>
          <p:cNvSpPr/>
          <p:nvPr/>
        </p:nvSpPr>
        <p:spPr>
          <a:xfrm>
            <a:off x="952500" y="2593628"/>
            <a:ext cx="8124825" cy="590550"/>
          </a:xfrm>
          <a:prstGeom prst="roundRect">
            <a:avLst>
              <a:gd name="adj" fmla="val 22581"/>
            </a:avLst>
          </a:prstGeom>
          <a:solidFill>
            <a:srgbClr val="FFFFFF">
              <a:alpha val="2000"/>
            </a:srgbClr>
          </a:solidFill>
          <a:ln w="9525">
            <a:solidFill>
              <a:srgbClr val="2A2F3A"/>
            </a:solidFill>
            <a:prstDash val="solid"/>
          </a:ln>
        </p:spPr>
      </p:sp>
      <p:sp>
        <p:nvSpPr>
          <p:cNvPr id="10" name="Text 8"/>
          <p:cNvSpPr/>
          <p:nvPr/>
        </p:nvSpPr>
        <p:spPr>
          <a:xfrm>
            <a:off x="1171575" y="27555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3.3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AI tools take many product forms, often on shared foundations.</a:t>
            </a:r>
            <a:endParaRPr lang="en-US" sz="1800" dirty="0"/>
          </a:p>
        </p:txBody>
      </p:sp>
      <p:sp>
        <p:nvSpPr>
          <p:cNvPr id="11" name="Shape 9"/>
          <p:cNvSpPr/>
          <p:nvPr/>
        </p:nvSpPr>
        <p:spPr>
          <a:xfrm>
            <a:off x="9210675" y="2593628"/>
            <a:ext cx="8124825" cy="590550"/>
          </a:xfrm>
          <a:prstGeom prst="roundRect">
            <a:avLst>
              <a:gd name="adj" fmla="val 22581"/>
            </a:avLst>
          </a:prstGeom>
          <a:solidFill>
            <a:srgbClr val="FFFFFF">
              <a:alpha val="2000"/>
            </a:srgbClr>
          </a:solidFill>
          <a:ln w="9525">
            <a:solidFill>
              <a:srgbClr val="2A2F3A"/>
            </a:solidFill>
            <a:prstDash val="solid"/>
          </a:ln>
        </p:spPr>
      </p:sp>
      <p:sp>
        <p:nvSpPr>
          <p:cNvPr id="12" name="Text 10"/>
          <p:cNvSpPr/>
          <p:nvPr/>
        </p:nvSpPr>
        <p:spPr>
          <a:xfrm>
            <a:off x="9429750" y="27555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3.4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An AI agent takes actions and uses tools, not just replies.</a:t>
            </a:r>
            <a:endParaRPr lang="en-US" sz="1800" dirty="0"/>
          </a:p>
        </p:txBody>
      </p:sp>
      <p:sp>
        <p:nvSpPr>
          <p:cNvPr id="13" name="Shape 11"/>
          <p:cNvSpPr/>
          <p:nvPr/>
        </p:nvSpPr>
        <p:spPr>
          <a:xfrm>
            <a:off x="952500" y="3317528"/>
            <a:ext cx="8124825" cy="590550"/>
          </a:xfrm>
          <a:prstGeom prst="roundRect">
            <a:avLst>
              <a:gd name="adj" fmla="val 22581"/>
            </a:avLst>
          </a:prstGeom>
          <a:solidFill>
            <a:srgbClr val="FFFFFF">
              <a:alpha val="2000"/>
            </a:srgbClr>
          </a:solidFill>
          <a:ln w="9525">
            <a:solidFill>
              <a:srgbClr val="2A2F3A"/>
            </a:solidFill>
            <a:prstDash val="solid"/>
          </a:ln>
        </p:spPr>
      </p:sp>
      <p:sp>
        <p:nvSpPr>
          <p:cNvPr id="14" name="Text 12"/>
          <p:cNvSpPr/>
          <p:nvPr/>
        </p:nvSpPr>
        <p:spPr>
          <a:xfrm>
            <a:off x="1171575" y="34794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3.5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RAG connects a model to current, external information.</a:t>
            </a:r>
            <a:endParaRPr lang="en-US" sz="1800" dirty="0"/>
          </a:p>
        </p:txBody>
      </p:sp>
      <p:sp>
        <p:nvSpPr>
          <p:cNvPr id="15" name="Shape 13"/>
          <p:cNvSpPr/>
          <p:nvPr/>
        </p:nvSpPr>
        <p:spPr>
          <a:xfrm>
            <a:off x="9210675" y="3317528"/>
            <a:ext cx="8124825" cy="590550"/>
          </a:xfrm>
          <a:prstGeom prst="roundRect">
            <a:avLst>
              <a:gd name="adj" fmla="val 22581"/>
            </a:avLst>
          </a:prstGeom>
          <a:solidFill>
            <a:srgbClr val="FFFFFF">
              <a:alpha val="2000"/>
            </a:srgbClr>
          </a:solidFill>
          <a:ln w="9525">
            <a:solidFill>
              <a:srgbClr val="2A2F3A"/>
            </a:solidFill>
            <a:prstDash val="solid"/>
          </a:ln>
        </p:spPr>
      </p:sp>
      <p:sp>
        <p:nvSpPr>
          <p:cNvPr id="16" name="Text 14"/>
          <p:cNvSpPr/>
          <p:nvPr/>
        </p:nvSpPr>
        <p:spPr>
          <a:xfrm>
            <a:off x="9429750" y="3479453"/>
            <a:ext cx="793042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3.6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Multimodal AI works across more than one content type.</a:t>
            </a:r>
            <a:endParaRPr lang="en-US" sz="1800" dirty="0"/>
          </a:p>
        </p:txBody>
      </p:sp>
      <p:sp>
        <p:nvSpPr>
          <p:cNvPr id="17" name="Shape 15"/>
          <p:cNvSpPr/>
          <p:nvPr/>
        </p:nvSpPr>
        <p:spPr>
          <a:xfrm>
            <a:off x="952500" y="4041428"/>
            <a:ext cx="16383000" cy="590550"/>
          </a:xfrm>
          <a:prstGeom prst="roundRect">
            <a:avLst>
              <a:gd name="adj" fmla="val 22581"/>
            </a:avLst>
          </a:prstGeom>
          <a:solidFill>
            <a:srgbClr val="FFFFFF">
              <a:alpha val="2000"/>
            </a:srgbClr>
          </a:solidFill>
          <a:ln w="9525">
            <a:solidFill>
              <a:srgbClr val="2A2F3A"/>
            </a:solidFill>
            <a:prstDash val="solid"/>
          </a:ln>
        </p:spPr>
      </p:sp>
      <p:sp>
        <p:nvSpPr>
          <p:cNvPr id="18" name="Text 16"/>
          <p:cNvSpPr/>
          <p:nvPr/>
        </p:nvSpPr>
        <p:spPr>
          <a:xfrm>
            <a:off x="1171575" y="4203353"/>
            <a:ext cx="1643634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3.7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Choosing the right tool means matching its strengths to the task.</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619054"/>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NEXT STEPS</a:t>
            </a:r>
            <a:endParaRPr lang="en-US" sz="1800" dirty="0"/>
          </a:p>
        </p:txBody>
      </p:sp>
      <p:sp>
        <p:nvSpPr>
          <p:cNvPr id="4" name="Text 2"/>
          <p:cNvSpPr/>
          <p:nvPr/>
        </p:nvSpPr>
        <p:spPr>
          <a:xfrm>
            <a:off x="952500" y="4057204"/>
            <a:ext cx="18021300" cy="541958"/>
          </a:xfrm>
          <a:prstGeom prst="rect">
            <a:avLst/>
          </a:prstGeom>
          <a:noFill/>
          <a:ln/>
        </p:spPr>
        <p:txBody>
          <a:bodyPr wrap="square" lIns="25400" tIns="25400" rIns="25400" bIns="25400" rtlCol="0" anchor="t">
            <a:normAutofit/>
          </a:bodyPr>
          <a:lstStyle/>
          <a:p>
            <a:pPr algn="l" indent="0" marL="0">
              <a:lnSpc>
                <a:spcPct val="100762"/>
              </a:lnSpc>
              <a:buNone/>
            </a:pPr>
            <a:r>
              <a:rPr lang="en-US" sz="3450" b="1" dirty="0">
                <a:solidFill>
                  <a:srgbClr val="F5F7FB"/>
                </a:solidFill>
                <a:latin typeface="Arial" pitchFamily="34" charset="0"/>
                <a:ea typeface="Arial" pitchFamily="34" charset="-122"/>
                <a:cs typeface="Arial" pitchFamily="34" charset="-120"/>
              </a:rPr>
              <a:t>Coming Up In Module 4</a:t>
            </a:r>
            <a:endParaRPr lang="en-US" sz="3450" dirty="0"/>
          </a:p>
        </p:txBody>
      </p:sp>
      <p:sp>
        <p:nvSpPr>
          <p:cNvPr id="5" name="Text 3"/>
          <p:cNvSpPr/>
          <p:nvPr/>
        </p:nvSpPr>
        <p:spPr>
          <a:xfrm>
            <a:off x="952500" y="4770611"/>
            <a:ext cx="12753975" cy="174486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Prompt Engineering Fundamentals — Domain 4 (15%). You now know the landscape of tools available; Module 4 teaches how to get better results from any of them — structured prompting with task, context, format and constraints, writing clear instructions, iterative refinement, and guiding style with examples and personas.</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2026-08-10T20:42:21Z</dcterms:created>
  <dcterms:modified xsi:type="dcterms:W3CDTF">2026-08-10T20:42:21Z</dcterms:modified>
</cp:coreProperties>
</file>