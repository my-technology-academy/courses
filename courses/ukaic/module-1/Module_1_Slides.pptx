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to the CAIA programme and to Module 1. Set expectations: foundation level, no maths or coding, building the shared vocabulary and mental model the rest of the course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six sub-objectives. Emphasise that everything else in the module — and several exam questions — maps directly back to one of these six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learners to the exam blueprint before teaching content. Domain 1 is the single highest-weighted domain, which is why it opens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silently tick off any of these six they have personally encountered this week. Almost everyone will tick at least four — a useful, low-stakes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No content beyond framing — hold here only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definition on 'tasks that normally require human intelligence' and 'not a fixed set of instructions'. Both phrases recur in exam distractors.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Domain 1 confusion. Push learners to classify a few systems from their own workplace before revealing the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line sit for a moment before moving on — it is the cleanest one-sentence test learners can apply to any system they meet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nesting live: point at the outer box first, then work inward. Generative AI sits mostly inside deep learning, not as a fourth separate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definitional level — the mechanics of how ML actually learns are covered in Module 2, Domain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is the technique that made today's generative AI boom possible — flag that connection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generative AI is an application of deep learning, defined by what it produces (new content), not a separate branch of the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chain aloud left to right — it is the whole objective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Flag that this is a dense, vocabulary-heavy section — nine terms — and that the exam expects precise definitions, not just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the reusable end-product of training. How it is trained is Module 2's job; here we only need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Foreshadow Domain 7 (bias) here without going deep — dataset quality is where bias enters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 'internal values adjusted during training' is enough at foundation level. No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are pieces of words, not whole words — a useful clarifying point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of short-term memory: outside the window, earlier detail is simply unavailable to the model, not 'forgotten' in a human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model = broad and general-purpose. This is the direct conceptual opposite of narrow-task AI in the everyday sense, but it is still 'narrow AI' technically — flag that nuance links to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 the text-specific case of a foundation model. Keep the relationship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is enough here — Module 3 goes deeper on categories of generative AI including multimodal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the hardest term in this set — keep it purely conceptual: numbers that place similar meanings near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nine terms aloud once more as a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this point hard: every AI system in use today, including the most impressive generative AI, is narrow AI. This is a very common exam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AI (AGI) does not exist. This is a factual, assessable point — not a matter of opinion or speculation about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comparison to drill the 'exists today vs hypothetical' distinction one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a standalone, quotable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Predictive/analytical AI has been in production use for decades — this is not a new idea, only recently overshadowed by generative AI's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generative AI defined in 1.2 — now explicitly contrasted against predictive AI so the distinction is unmistakable.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VS slide is a strong knowledge-check candidate — consider a quick cold-call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this with the 1.1 recap line — automation vs AI, and predictive vs generative, are the two distinctions learners most need on exam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name one more example of their own for each category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explicitly to Module 5 (Working with AI Day-to-Day), where several of these become hands-on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objective on a practical, transferable habit rather than a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of Objective 1.1 condensed for revision — good slide to linger on before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deep learning is a subset of ML, not a competing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two to three minutes to discuss in pairs before revealing the classification. There is no single 'right' single-sentence answer — the value is in the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after discussion: 1) automation, 2) generative AI, 3) generative AI, 4)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recommendation engine = ML; smart thermostat learning a routine = ML; image generator = generative AI (deep learning); chess engine = narrow AI, classic (rule/search-based, pre-dates modern ML in many implementations) — use this last one to show not everything called 'AI' is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Self-paced learners can do this individually; in an instructor-led session, collect two or three examples from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acronym and its expansion aloud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map directly onto the most common Domain 1 distractor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moment to reset focus before the knowledge check — remind learners this is the single most heavily-weighted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30 seconds before revealing that C is correct. Common wrong answers: A (confuses fluency with general AI) and D (confuses generative with predictive).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one final time as a closing recap before the 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2 briefly and close. If this is the final module of the course, this slide would instead read 'Syllabus Complete' — not applicable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948782"/>
            <a:ext cx="18021300" cy="328613"/>
          </a:xfrm>
          <a:prstGeom prst="rect">
            <a:avLst/>
          </a:prstGeom>
          <a:noFill/>
          <a:ln/>
        </p:spPr>
        <p:txBody>
          <a:bodyPr wrap="square" lIns="25400" tIns="25400" rIns="25400" bIns="25400" rtlCol="0" anchor="t">
            <a:normAutofit/>
          </a:bodyPr>
          <a:lstStyle/>
          <a:p>
            <a:pPr algn="l" indent="0" marL="0">
              <a:buNone/>
            </a:pPr>
            <a:r>
              <a:rPr lang="en-US" sz="1950" b="1" spc="38" kern="0" dirty="0">
                <a:solidFill>
                  <a:srgbClr val="FF6A00"/>
                </a:solidFill>
                <a:latin typeface="Arial" pitchFamily="34" charset="0"/>
                <a:ea typeface="Arial" pitchFamily="34" charset="-122"/>
                <a:cs typeface="Arial" pitchFamily="34" charset="-120"/>
              </a:rPr>
              <a:t>MY CYBER ACADEMY · CERTIFIED AI ASSOCIATE (CAIA)</a:t>
            </a:r>
            <a:endParaRPr lang="en-US" sz="1950" dirty="0"/>
          </a:p>
        </p:txBody>
      </p:sp>
      <p:sp>
        <p:nvSpPr>
          <p:cNvPr id="4" name="Text 2"/>
          <p:cNvSpPr/>
          <p:nvPr/>
        </p:nvSpPr>
        <p:spPr>
          <a:xfrm>
            <a:off x="952500" y="4467895"/>
            <a:ext cx="14716125" cy="1403598"/>
          </a:xfrm>
          <a:prstGeom prst="rect">
            <a:avLst/>
          </a:prstGeom>
          <a:noFill/>
          <a:ln/>
        </p:spPr>
        <p:txBody>
          <a:bodyPr wrap="square" lIns="25400" tIns="25400" rIns="25400" bIns="25400" rtlCol="0" anchor="t">
            <a:normAutofit/>
          </a:bodyPr>
          <a:lstStyle/>
          <a:p>
            <a:pPr algn="l" indent="0" marL="0">
              <a:lnSpc>
                <a:spcPct val="97524"/>
              </a:lnSpc>
              <a:buNone/>
            </a:pPr>
            <a:r>
              <a:rPr lang="en-US" sz="4800" b="1" spc="-48" kern="0" dirty="0">
                <a:solidFill>
                  <a:srgbClr val="F5F7FB"/>
                </a:solidFill>
                <a:latin typeface="Arial" pitchFamily="34" charset="0"/>
                <a:ea typeface="Arial" pitchFamily="34" charset="-122"/>
                <a:cs typeface="Arial" pitchFamily="34" charset="-120"/>
              </a:rPr>
              <a:t>Module 1 Understanding AI: The Big Picture</a:t>
            </a:r>
            <a:endParaRPr lang="en-US" sz="4800" dirty="0"/>
          </a:p>
        </p:txBody>
      </p:sp>
      <p:sp>
        <p:nvSpPr>
          <p:cNvPr id="5" name="Text 3"/>
          <p:cNvSpPr/>
          <p:nvPr/>
        </p:nvSpPr>
        <p:spPr>
          <a:xfrm>
            <a:off x="952500" y="6023893"/>
            <a:ext cx="1802130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B8C0CF"/>
                </a:solidFill>
                <a:latin typeface="Arial" pitchFamily="34" charset="0"/>
                <a:ea typeface="Arial" pitchFamily="34" charset="-122"/>
                <a:cs typeface="Arial" pitchFamily="34" charset="-120"/>
              </a:rPr>
              <a:t>Domain 1 · AI Concepts &amp; Terminology (20% of the examination)</a:t>
            </a:r>
            <a:endParaRPr lang="en-US" sz="2100"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LEARNING OBJECTIVES</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You Will Be Able To Do After This Module</a:t>
            </a:r>
            <a:endParaRPr lang="en-US" sz="3150" dirty="0"/>
          </a:p>
        </p:txBody>
      </p:sp>
      <p:sp>
        <p:nvSpPr>
          <p:cNvPr id="5" name="Shape 3"/>
          <p:cNvSpPr/>
          <p:nvPr/>
        </p:nvSpPr>
        <p:spPr>
          <a:xfrm>
            <a:off x="952500" y="1903065"/>
            <a:ext cx="16383000" cy="723900"/>
          </a:xfrm>
          <a:prstGeom prst="roundRect">
            <a:avLst>
              <a:gd name="adj" fmla="val 50000"/>
            </a:avLst>
          </a:prstGeom>
          <a:solidFill>
            <a:srgbClr val="FFFFFF">
              <a:alpha val="3000"/>
            </a:srgbClr>
          </a:solidFill>
          <a:ln w="9525">
            <a:solidFill>
              <a:srgbClr val="2A2F3A"/>
            </a:solidFill>
            <a:prstDash val="solid"/>
          </a:ln>
        </p:spPr>
      </p:sp>
      <p:sp>
        <p:nvSpPr>
          <p:cNvPr id="6" name="Shape 4"/>
          <p:cNvSpPr/>
          <p:nvPr/>
        </p:nvSpPr>
        <p:spPr>
          <a:xfrm>
            <a:off x="1209675" y="2036415"/>
            <a:ext cx="457200" cy="457200"/>
          </a:xfrm>
          <a:prstGeom prst="ellipse">
            <a:avLst/>
          </a:prstGeom>
          <a:solidFill>
            <a:srgbClr val="FF6A00">
              <a:alpha val="15000"/>
            </a:srgbClr>
          </a:solidFill>
          <a:ln w="9525">
            <a:solidFill>
              <a:srgbClr val="FF6A00">
                <a:alpha val="35000"/>
              </a:srgbClr>
            </a:solidFill>
            <a:prstDash val="solid"/>
          </a:ln>
        </p:spPr>
      </p:sp>
      <p:sp>
        <p:nvSpPr>
          <p:cNvPr id="7" name="Text 5"/>
          <p:cNvSpPr/>
          <p:nvPr/>
        </p:nvSpPr>
        <p:spPr>
          <a:xfrm>
            <a:off x="1181100" y="204594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1.1</a:t>
            </a:r>
            <a:endParaRPr lang="en-US" sz="1800" dirty="0"/>
          </a:p>
        </p:txBody>
      </p:sp>
      <p:sp>
        <p:nvSpPr>
          <p:cNvPr id="8" name="Text 6"/>
          <p:cNvSpPr/>
          <p:nvPr/>
        </p:nvSpPr>
        <p:spPr>
          <a:xfrm>
            <a:off x="1838325" y="2119759"/>
            <a:ext cx="1233578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5F7FB"/>
                </a:solidFill>
                <a:latin typeface="Arial" pitchFamily="34" charset="0"/>
                <a:ea typeface="Arial" pitchFamily="34" charset="-122"/>
                <a:cs typeface="Arial" pitchFamily="34" charset="-120"/>
              </a:rPr>
              <a:t>Define artificial intelligence and distinguish it from ordinary automation and traditional rule-based software</a:t>
            </a:r>
            <a:endParaRPr lang="en-US" sz="1950" dirty="0"/>
          </a:p>
        </p:txBody>
      </p:sp>
      <p:sp>
        <p:nvSpPr>
          <p:cNvPr id="9" name="Shape 7"/>
          <p:cNvSpPr/>
          <p:nvPr/>
        </p:nvSpPr>
        <p:spPr>
          <a:xfrm>
            <a:off x="952500" y="2750790"/>
            <a:ext cx="16383000" cy="723900"/>
          </a:xfrm>
          <a:prstGeom prst="roundRect">
            <a:avLst>
              <a:gd name="adj" fmla="val 50000"/>
            </a:avLst>
          </a:prstGeom>
          <a:solidFill>
            <a:srgbClr val="FFFFFF">
              <a:alpha val="3000"/>
            </a:srgbClr>
          </a:solidFill>
          <a:ln w="9525">
            <a:solidFill>
              <a:srgbClr val="2A2F3A"/>
            </a:solidFill>
            <a:prstDash val="solid"/>
          </a:ln>
        </p:spPr>
      </p:sp>
      <p:sp>
        <p:nvSpPr>
          <p:cNvPr id="10" name="Shape 8"/>
          <p:cNvSpPr/>
          <p:nvPr/>
        </p:nvSpPr>
        <p:spPr>
          <a:xfrm>
            <a:off x="1209675" y="2884140"/>
            <a:ext cx="457200" cy="457200"/>
          </a:xfrm>
          <a:prstGeom prst="ellipse">
            <a:avLst/>
          </a:prstGeom>
          <a:solidFill>
            <a:srgbClr val="FF6A00">
              <a:alpha val="15000"/>
            </a:srgbClr>
          </a:solidFill>
          <a:ln w="9525">
            <a:solidFill>
              <a:srgbClr val="FF6A00">
                <a:alpha val="35000"/>
              </a:srgbClr>
            </a:solidFill>
            <a:prstDash val="solid"/>
          </a:ln>
        </p:spPr>
      </p:sp>
      <p:sp>
        <p:nvSpPr>
          <p:cNvPr id="11" name="Text 9"/>
          <p:cNvSpPr/>
          <p:nvPr/>
        </p:nvSpPr>
        <p:spPr>
          <a:xfrm>
            <a:off x="1181100" y="2893665"/>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1.2</a:t>
            </a:r>
            <a:endParaRPr lang="en-US" sz="1800" dirty="0"/>
          </a:p>
        </p:txBody>
      </p:sp>
      <p:sp>
        <p:nvSpPr>
          <p:cNvPr id="12" name="Text 10"/>
          <p:cNvSpPr/>
          <p:nvPr/>
        </p:nvSpPr>
        <p:spPr>
          <a:xfrm>
            <a:off x="1838325" y="2967484"/>
            <a:ext cx="1499641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5F7FB"/>
                </a:solidFill>
                <a:latin typeface="Arial" pitchFamily="34" charset="0"/>
                <a:ea typeface="Arial" pitchFamily="34" charset="-122"/>
                <a:cs typeface="Arial" pitchFamily="34" charset="-120"/>
              </a:rPr>
              <a:t>Explain how artificial intelligence, machine learning, deep learning and generative AI relate to one another as nested, layered ideas</a:t>
            </a:r>
            <a:endParaRPr lang="en-US" sz="1950" dirty="0"/>
          </a:p>
        </p:txBody>
      </p:sp>
      <p:sp>
        <p:nvSpPr>
          <p:cNvPr id="13" name="Shape 11"/>
          <p:cNvSpPr/>
          <p:nvPr/>
        </p:nvSpPr>
        <p:spPr>
          <a:xfrm>
            <a:off x="952500" y="3598515"/>
            <a:ext cx="16383000" cy="847725"/>
          </a:xfrm>
          <a:prstGeom prst="roundRect">
            <a:avLst>
              <a:gd name="adj" fmla="val 50000"/>
            </a:avLst>
          </a:prstGeom>
          <a:solidFill>
            <a:srgbClr val="FFFFFF">
              <a:alpha val="3000"/>
            </a:srgbClr>
          </a:solidFill>
          <a:ln w="9525">
            <a:solidFill>
              <a:srgbClr val="2A2F3A"/>
            </a:solidFill>
            <a:prstDash val="solid"/>
          </a:ln>
        </p:spPr>
      </p:sp>
      <p:sp>
        <p:nvSpPr>
          <p:cNvPr id="14" name="Shape 12"/>
          <p:cNvSpPr/>
          <p:nvPr/>
        </p:nvSpPr>
        <p:spPr>
          <a:xfrm>
            <a:off x="1209675" y="3793778"/>
            <a:ext cx="457200" cy="457200"/>
          </a:xfrm>
          <a:prstGeom prst="ellipse">
            <a:avLst/>
          </a:prstGeom>
          <a:solidFill>
            <a:srgbClr val="FF6A00">
              <a:alpha val="15000"/>
            </a:srgbClr>
          </a:solidFill>
          <a:ln w="9525">
            <a:solidFill>
              <a:srgbClr val="FF6A00">
                <a:alpha val="35000"/>
              </a:srgbClr>
            </a:solidFill>
            <a:prstDash val="solid"/>
          </a:ln>
        </p:spPr>
      </p:sp>
      <p:sp>
        <p:nvSpPr>
          <p:cNvPr id="15" name="Text 13"/>
          <p:cNvSpPr/>
          <p:nvPr/>
        </p:nvSpPr>
        <p:spPr>
          <a:xfrm>
            <a:off x="1181100" y="3803303"/>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1.3</a:t>
            </a:r>
            <a:endParaRPr lang="en-US" sz="1800" dirty="0"/>
          </a:p>
        </p:txBody>
      </p:sp>
      <p:sp>
        <p:nvSpPr>
          <p:cNvPr id="16" name="Text 14"/>
          <p:cNvSpPr/>
          <p:nvPr/>
        </p:nvSpPr>
        <p:spPr>
          <a:xfrm>
            <a:off x="1838325" y="3731865"/>
            <a:ext cx="15697200" cy="619125"/>
          </a:xfrm>
          <a:prstGeom prst="rect">
            <a:avLst/>
          </a:prstGeom>
          <a:noFill/>
          <a:ln/>
        </p:spPr>
        <p:txBody>
          <a:bodyPr wrap="square" lIns="25400" tIns="25400" rIns="25400" bIns="25400" rtlCol="0" anchor="t">
            <a:normAutofit/>
          </a:bodyPr>
          <a:lstStyle/>
          <a:p>
            <a:pPr algn="l" indent="0" marL="0">
              <a:buNone/>
            </a:pPr>
            <a:r>
              <a:rPr lang="en-US" sz="1950" dirty="0">
                <a:solidFill>
                  <a:srgbClr val="F5F7FB"/>
                </a:solidFill>
                <a:latin typeface="Arial" pitchFamily="34" charset="0"/>
                <a:ea typeface="Arial" pitchFamily="34" charset="-122"/>
                <a:cs typeface="Arial" pitchFamily="34" charset="-120"/>
              </a:rPr>
              <a:t>Define and correctly use core AI vocabulary, including model, dataset, parameters, tokens, context window, foundation model, LLM, multimodal AI and embeddings</a:t>
            </a:r>
            <a:endParaRPr lang="en-US" sz="1950" dirty="0"/>
          </a:p>
        </p:txBody>
      </p:sp>
      <p:sp>
        <p:nvSpPr>
          <p:cNvPr id="17" name="Shape 15"/>
          <p:cNvSpPr/>
          <p:nvPr/>
        </p:nvSpPr>
        <p:spPr>
          <a:xfrm>
            <a:off x="952500" y="4570065"/>
            <a:ext cx="16383000" cy="723900"/>
          </a:xfrm>
          <a:prstGeom prst="roundRect">
            <a:avLst>
              <a:gd name="adj" fmla="val 50000"/>
            </a:avLst>
          </a:prstGeom>
          <a:solidFill>
            <a:srgbClr val="FFFFFF">
              <a:alpha val="3000"/>
            </a:srgbClr>
          </a:solidFill>
          <a:ln w="9525">
            <a:solidFill>
              <a:srgbClr val="2A2F3A"/>
            </a:solidFill>
            <a:prstDash val="solid"/>
          </a:ln>
        </p:spPr>
      </p:sp>
      <p:sp>
        <p:nvSpPr>
          <p:cNvPr id="18" name="Shape 16"/>
          <p:cNvSpPr/>
          <p:nvPr/>
        </p:nvSpPr>
        <p:spPr>
          <a:xfrm>
            <a:off x="1209675" y="4703415"/>
            <a:ext cx="457200" cy="457200"/>
          </a:xfrm>
          <a:prstGeom prst="ellipse">
            <a:avLst/>
          </a:prstGeom>
          <a:solidFill>
            <a:srgbClr val="FF6A00">
              <a:alpha val="15000"/>
            </a:srgbClr>
          </a:solidFill>
          <a:ln w="9525">
            <a:solidFill>
              <a:srgbClr val="FF6A00">
                <a:alpha val="35000"/>
              </a:srgbClr>
            </a:solidFill>
            <a:prstDash val="solid"/>
          </a:ln>
        </p:spPr>
      </p:sp>
      <p:sp>
        <p:nvSpPr>
          <p:cNvPr id="19" name="Text 17"/>
          <p:cNvSpPr/>
          <p:nvPr/>
        </p:nvSpPr>
        <p:spPr>
          <a:xfrm>
            <a:off x="1181100" y="471294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1.4</a:t>
            </a:r>
            <a:endParaRPr lang="en-US" sz="1800" dirty="0"/>
          </a:p>
        </p:txBody>
      </p:sp>
      <p:sp>
        <p:nvSpPr>
          <p:cNvPr id="20" name="Text 18"/>
          <p:cNvSpPr/>
          <p:nvPr/>
        </p:nvSpPr>
        <p:spPr>
          <a:xfrm>
            <a:off x="1838325" y="4786759"/>
            <a:ext cx="897144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5F7FB"/>
                </a:solidFill>
                <a:latin typeface="Arial" pitchFamily="34" charset="0"/>
                <a:ea typeface="Arial" pitchFamily="34" charset="-122"/>
                <a:cs typeface="Arial" pitchFamily="34" charset="-120"/>
              </a:rPr>
              <a:t>Distinguish today's task-specific ("narrow") AI from the concept of general AI</a:t>
            </a:r>
            <a:endParaRPr lang="en-US" sz="1950" dirty="0"/>
          </a:p>
        </p:txBody>
      </p:sp>
      <p:sp>
        <p:nvSpPr>
          <p:cNvPr id="21" name="Shape 19"/>
          <p:cNvSpPr/>
          <p:nvPr/>
        </p:nvSpPr>
        <p:spPr>
          <a:xfrm>
            <a:off x="952500" y="5417790"/>
            <a:ext cx="16383000" cy="723900"/>
          </a:xfrm>
          <a:prstGeom prst="roundRect">
            <a:avLst>
              <a:gd name="adj" fmla="val 50000"/>
            </a:avLst>
          </a:prstGeom>
          <a:solidFill>
            <a:srgbClr val="FFFFFF">
              <a:alpha val="3000"/>
            </a:srgbClr>
          </a:solidFill>
          <a:ln w="9525">
            <a:solidFill>
              <a:srgbClr val="2A2F3A"/>
            </a:solidFill>
            <a:prstDash val="solid"/>
          </a:ln>
        </p:spPr>
      </p:sp>
      <p:sp>
        <p:nvSpPr>
          <p:cNvPr id="22" name="Shape 20"/>
          <p:cNvSpPr/>
          <p:nvPr/>
        </p:nvSpPr>
        <p:spPr>
          <a:xfrm>
            <a:off x="1209675" y="5551140"/>
            <a:ext cx="457200" cy="457200"/>
          </a:xfrm>
          <a:prstGeom prst="ellipse">
            <a:avLst/>
          </a:prstGeom>
          <a:solidFill>
            <a:srgbClr val="FF6A00">
              <a:alpha val="15000"/>
            </a:srgbClr>
          </a:solidFill>
          <a:ln w="9525">
            <a:solidFill>
              <a:srgbClr val="FF6A00">
                <a:alpha val="35000"/>
              </a:srgbClr>
            </a:solidFill>
            <a:prstDash val="solid"/>
          </a:ln>
        </p:spPr>
      </p:sp>
      <p:sp>
        <p:nvSpPr>
          <p:cNvPr id="23" name="Text 21"/>
          <p:cNvSpPr/>
          <p:nvPr/>
        </p:nvSpPr>
        <p:spPr>
          <a:xfrm>
            <a:off x="1181100" y="5560665"/>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1.5</a:t>
            </a:r>
            <a:endParaRPr lang="en-US" sz="1800" dirty="0"/>
          </a:p>
        </p:txBody>
      </p:sp>
      <p:sp>
        <p:nvSpPr>
          <p:cNvPr id="24" name="Text 22"/>
          <p:cNvSpPr/>
          <p:nvPr/>
        </p:nvSpPr>
        <p:spPr>
          <a:xfrm>
            <a:off x="1838325" y="5634484"/>
            <a:ext cx="1014574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5F7FB"/>
                </a:solidFill>
                <a:latin typeface="Arial" pitchFamily="34" charset="0"/>
                <a:ea typeface="Arial" pitchFamily="34" charset="-122"/>
                <a:cs typeface="Arial" pitchFamily="34" charset="-120"/>
              </a:rPr>
              <a:t>Distinguish generative AI from traditional predictive or analytical AI at a conceptual level</a:t>
            </a:r>
            <a:endParaRPr lang="en-US" sz="1950" dirty="0"/>
          </a:p>
        </p:txBody>
      </p:sp>
      <p:sp>
        <p:nvSpPr>
          <p:cNvPr id="25" name="Shape 23"/>
          <p:cNvSpPr/>
          <p:nvPr/>
        </p:nvSpPr>
        <p:spPr>
          <a:xfrm>
            <a:off x="952500" y="6265515"/>
            <a:ext cx="16383000" cy="723900"/>
          </a:xfrm>
          <a:prstGeom prst="roundRect">
            <a:avLst>
              <a:gd name="adj" fmla="val 50000"/>
            </a:avLst>
          </a:prstGeom>
          <a:solidFill>
            <a:srgbClr val="FFFFFF">
              <a:alpha val="3000"/>
            </a:srgbClr>
          </a:solidFill>
          <a:ln w="9525">
            <a:solidFill>
              <a:srgbClr val="2A2F3A"/>
            </a:solidFill>
            <a:prstDash val="solid"/>
          </a:ln>
        </p:spPr>
      </p:sp>
      <p:sp>
        <p:nvSpPr>
          <p:cNvPr id="26" name="Shape 24"/>
          <p:cNvSpPr/>
          <p:nvPr/>
        </p:nvSpPr>
        <p:spPr>
          <a:xfrm>
            <a:off x="1209675" y="6398865"/>
            <a:ext cx="457200" cy="457200"/>
          </a:xfrm>
          <a:prstGeom prst="ellipse">
            <a:avLst/>
          </a:prstGeom>
          <a:solidFill>
            <a:srgbClr val="FF6A00">
              <a:alpha val="15000"/>
            </a:srgbClr>
          </a:solidFill>
          <a:ln w="9525">
            <a:solidFill>
              <a:srgbClr val="FF6A00">
                <a:alpha val="35000"/>
              </a:srgbClr>
            </a:solidFill>
            <a:prstDash val="solid"/>
          </a:ln>
        </p:spPr>
      </p:sp>
      <p:sp>
        <p:nvSpPr>
          <p:cNvPr id="27" name="Text 25"/>
          <p:cNvSpPr/>
          <p:nvPr/>
        </p:nvSpPr>
        <p:spPr>
          <a:xfrm>
            <a:off x="1181100" y="640839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1.6</a:t>
            </a:r>
            <a:endParaRPr lang="en-US" sz="1800" dirty="0"/>
          </a:p>
        </p:txBody>
      </p:sp>
      <p:sp>
        <p:nvSpPr>
          <p:cNvPr id="28" name="Text 26"/>
          <p:cNvSpPr/>
          <p:nvPr/>
        </p:nvSpPr>
        <p:spPr>
          <a:xfrm>
            <a:off x="1838325" y="6482209"/>
            <a:ext cx="975373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5F7FB"/>
                </a:solidFill>
                <a:latin typeface="Arial" pitchFamily="34" charset="0"/>
                <a:ea typeface="Arial" pitchFamily="34" charset="-122"/>
                <a:cs typeface="Arial" pitchFamily="34" charset="-120"/>
              </a:rPr>
              <a:t>Recognise common examples of AI already encountered in everyday life and at work</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EXAM BLUEPRINT</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Seven Domains, One Examination</a:t>
            </a:r>
            <a:endParaRPr lang="en-US" sz="3150" dirty="0"/>
          </a:p>
        </p:txBody>
      </p:sp>
      <p:sp>
        <p:nvSpPr>
          <p:cNvPr id="5" name="Text 3"/>
          <p:cNvSpPr/>
          <p:nvPr/>
        </p:nvSpPr>
        <p:spPr>
          <a:xfrm>
            <a:off x="952500" y="1826865"/>
            <a:ext cx="11772900" cy="83046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The CAIA examination draws its 50 questions from seven domains in fixed proportions. This module builds the foundation for Domain 1 — the single highest-weighted domain on the exam.</a:t>
            </a:r>
            <a:endParaRPr lang="en-US" sz="1950" dirty="0"/>
          </a:p>
        </p:txBody>
      </p:sp>
      <p:sp>
        <p:nvSpPr>
          <p:cNvPr id="6" name="Shape 4"/>
          <p:cNvSpPr/>
          <p:nvPr/>
        </p:nvSpPr>
        <p:spPr>
          <a:xfrm>
            <a:off x="966788" y="2866876"/>
            <a:ext cx="1263104" cy="514350"/>
          </a:xfrm>
          <a:custGeom>
            <a:avLst/>
            <a:gdLst/>
            <a:ahLst/>
            <a:cxnLst/>
            <a:rect l="l" t="t" r="r" b="b"/>
            <a:pathLst>
              <a:path w="1263104" h="514350">
                <a:moveTo>
                  <a:pt x="95250" y="0"/>
                </a:moveTo>
                <a:lnTo>
                  <a:pt x="1263104" y="0"/>
                </a:lnTo>
                <a:lnTo>
                  <a:pt x="1263104" y="514350"/>
                </a:lnTo>
                <a:lnTo>
                  <a:pt x="0" y="514350"/>
                </a:lnTo>
                <a:lnTo>
                  <a:pt x="0" y="95250"/>
                </a:lnTo>
                <a:arcTo hR="95250" wR="95250" stAng="10800000" swAng="5400000"/>
                <a:close/>
              </a:path>
            </a:pathLst>
          </a:custGeom>
          <a:solidFill>
            <a:srgbClr val="FF6A00">
              <a:alpha val="18000"/>
            </a:srgbClr>
          </a:solidFill>
          <a:ln/>
        </p:spPr>
      </p:sp>
      <p:sp>
        <p:nvSpPr>
          <p:cNvPr id="7" name="Shape 5"/>
          <p:cNvSpPr/>
          <p:nvPr/>
        </p:nvSpPr>
        <p:spPr>
          <a:xfrm>
            <a:off x="966788" y="3371701"/>
            <a:ext cx="1263104" cy="9525"/>
          </a:xfrm>
          <a:prstGeom prst="rect">
            <a:avLst/>
          </a:prstGeom>
          <a:solidFill>
            <a:srgbClr val="B85100"/>
          </a:solidFill>
          <a:ln/>
        </p:spPr>
      </p:sp>
      <p:sp>
        <p:nvSpPr>
          <p:cNvPr id="8" name="Text 6"/>
          <p:cNvSpPr/>
          <p:nvPr/>
        </p:nvSpPr>
        <p:spPr>
          <a:xfrm>
            <a:off x="1119188" y="2981176"/>
            <a:ext cx="1034504"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a:t>
            </a:r>
            <a:endParaRPr lang="en-US" sz="1875" dirty="0"/>
          </a:p>
        </p:txBody>
      </p:sp>
      <p:sp>
        <p:nvSpPr>
          <p:cNvPr id="9" name="Shape 7"/>
          <p:cNvSpPr/>
          <p:nvPr/>
        </p:nvSpPr>
        <p:spPr>
          <a:xfrm>
            <a:off x="2229892" y="2866876"/>
            <a:ext cx="11152808" cy="514350"/>
          </a:xfrm>
          <a:prstGeom prst="rect">
            <a:avLst/>
          </a:prstGeom>
          <a:solidFill>
            <a:srgbClr val="FF6A00">
              <a:alpha val="18000"/>
            </a:srgbClr>
          </a:solidFill>
          <a:ln/>
        </p:spPr>
      </p:sp>
      <p:sp>
        <p:nvSpPr>
          <p:cNvPr id="10" name="Shape 8"/>
          <p:cNvSpPr/>
          <p:nvPr/>
        </p:nvSpPr>
        <p:spPr>
          <a:xfrm>
            <a:off x="2229892" y="3371701"/>
            <a:ext cx="11152808" cy="9525"/>
          </a:xfrm>
          <a:prstGeom prst="rect">
            <a:avLst/>
          </a:prstGeom>
          <a:solidFill>
            <a:srgbClr val="B85100"/>
          </a:solidFill>
          <a:ln/>
        </p:spPr>
      </p:sp>
      <p:sp>
        <p:nvSpPr>
          <p:cNvPr id="11" name="Text 9"/>
          <p:cNvSpPr/>
          <p:nvPr/>
        </p:nvSpPr>
        <p:spPr>
          <a:xfrm>
            <a:off x="2382292" y="2981176"/>
            <a:ext cx="11182592"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Domain</a:t>
            </a:r>
            <a:endParaRPr lang="en-US" sz="1875" dirty="0"/>
          </a:p>
        </p:txBody>
      </p:sp>
      <p:sp>
        <p:nvSpPr>
          <p:cNvPr id="12" name="Shape 10"/>
          <p:cNvSpPr/>
          <p:nvPr/>
        </p:nvSpPr>
        <p:spPr>
          <a:xfrm>
            <a:off x="13382699" y="2866876"/>
            <a:ext cx="3952801" cy="514350"/>
          </a:xfrm>
          <a:custGeom>
            <a:avLst/>
            <a:gdLst/>
            <a:ahLst/>
            <a:cxnLst/>
            <a:rect l="l" t="t" r="r" b="b"/>
            <a:pathLst>
              <a:path w="3952801" h="514350">
                <a:moveTo>
                  <a:pt x="0" y="0"/>
                </a:moveTo>
                <a:lnTo>
                  <a:pt x="3857551" y="0"/>
                </a:lnTo>
                <a:arcTo hR="95250" wR="95250" stAng="16200000" swAng="5400000"/>
                <a:lnTo>
                  <a:pt x="3952801" y="514350"/>
                </a:lnTo>
                <a:lnTo>
                  <a:pt x="0" y="514350"/>
                </a:lnTo>
                <a:lnTo>
                  <a:pt x="0" y="0"/>
                </a:lnTo>
                <a:close/>
              </a:path>
            </a:pathLst>
          </a:custGeom>
          <a:solidFill>
            <a:srgbClr val="FF6A00">
              <a:alpha val="18000"/>
            </a:srgbClr>
          </a:solidFill>
          <a:ln/>
        </p:spPr>
      </p:sp>
      <p:sp>
        <p:nvSpPr>
          <p:cNvPr id="13" name="Shape 11"/>
          <p:cNvSpPr/>
          <p:nvPr/>
        </p:nvSpPr>
        <p:spPr>
          <a:xfrm>
            <a:off x="13382699" y="3371701"/>
            <a:ext cx="3952801" cy="9525"/>
          </a:xfrm>
          <a:prstGeom prst="rect">
            <a:avLst/>
          </a:prstGeom>
          <a:solidFill>
            <a:srgbClr val="B85100"/>
          </a:solidFill>
          <a:ln/>
        </p:spPr>
      </p:sp>
      <p:sp>
        <p:nvSpPr>
          <p:cNvPr id="14" name="Text 12"/>
          <p:cNvSpPr/>
          <p:nvPr/>
        </p:nvSpPr>
        <p:spPr>
          <a:xfrm>
            <a:off x="13416515" y="2981176"/>
            <a:ext cx="3766585" cy="314325"/>
          </a:xfrm>
          <a:prstGeom prst="rect">
            <a:avLst/>
          </a:prstGeom>
          <a:noFill/>
          <a:ln/>
        </p:spPr>
        <p:txBody>
          <a:bodyPr wrap="square" lIns="25400" tIns="25400" rIns="25400" bIns="25400" rtlCol="0" anchor="ctr">
            <a:normAutofit/>
          </a:bodyPr>
          <a:lstStyle/>
          <a:p>
            <a:pPr algn="r" indent="0" marL="0">
              <a:buNone/>
            </a:pPr>
            <a:r>
              <a:rPr lang="en-US" sz="1875" b="1" dirty="0">
                <a:solidFill>
                  <a:srgbClr val="F5F7FB"/>
                </a:solidFill>
                <a:latin typeface="Arial" pitchFamily="34" charset="0"/>
                <a:ea typeface="Arial" pitchFamily="34" charset="-122"/>
                <a:cs typeface="Arial" pitchFamily="34" charset="-120"/>
              </a:rPr>
              <a:t>Weighting</a:t>
            </a:r>
            <a:endParaRPr lang="en-US" sz="1875" dirty="0"/>
          </a:p>
        </p:txBody>
      </p:sp>
      <p:sp>
        <p:nvSpPr>
          <p:cNvPr id="15" name="Shape 13"/>
          <p:cNvSpPr/>
          <p:nvPr/>
        </p:nvSpPr>
        <p:spPr>
          <a:xfrm>
            <a:off x="966788" y="3381226"/>
            <a:ext cx="16368713" cy="514350"/>
          </a:xfrm>
          <a:prstGeom prst="rect">
            <a:avLst/>
          </a:prstGeom>
          <a:solidFill>
            <a:srgbClr val="FF6A00">
              <a:alpha val="10000"/>
            </a:srgbClr>
          </a:solidFill>
          <a:ln/>
        </p:spPr>
      </p:sp>
      <p:sp>
        <p:nvSpPr>
          <p:cNvPr id="16" name="Shape 14"/>
          <p:cNvSpPr/>
          <p:nvPr/>
        </p:nvSpPr>
        <p:spPr>
          <a:xfrm>
            <a:off x="966788" y="3381226"/>
            <a:ext cx="28575" cy="514350"/>
          </a:xfrm>
          <a:prstGeom prst="rect">
            <a:avLst/>
          </a:prstGeom>
          <a:solidFill>
            <a:srgbClr val="FF6A00"/>
          </a:solidFill>
          <a:ln/>
        </p:spPr>
      </p:sp>
      <p:sp>
        <p:nvSpPr>
          <p:cNvPr id="17" name="Text 15"/>
          <p:cNvSpPr/>
          <p:nvPr/>
        </p:nvSpPr>
        <p:spPr>
          <a:xfrm>
            <a:off x="1119188" y="3495526"/>
            <a:ext cx="1034504"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1</a:t>
            </a:r>
            <a:endParaRPr lang="en-US" sz="1875" dirty="0"/>
          </a:p>
        </p:txBody>
      </p:sp>
      <p:sp>
        <p:nvSpPr>
          <p:cNvPr id="18" name="Text 16"/>
          <p:cNvSpPr/>
          <p:nvPr/>
        </p:nvSpPr>
        <p:spPr>
          <a:xfrm>
            <a:off x="2382292" y="3495526"/>
            <a:ext cx="11182592"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AI Concepts &amp; Terminology</a:t>
            </a:r>
            <a:endParaRPr lang="en-US" sz="1875" dirty="0"/>
          </a:p>
        </p:txBody>
      </p:sp>
      <p:sp>
        <p:nvSpPr>
          <p:cNvPr id="19" name="Text 17"/>
          <p:cNvSpPr/>
          <p:nvPr/>
        </p:nvSpPr>
        <p:spPr>
          <a:xfrm>
            <a:off x="13416515" y="3495526"/>
            <a:ext cx="3766585" cy="323850"/>
          </a:xfrm>
          <a:prstGeom prst="rect">
            <a:avLst/>
          </a:prstGeom>
          <a:noFill/>
          <a:ln/>
        </p:spPr>
        <p:txBody>
          <a:bodyPr wrap="square" lIns="25400" tIns="25400" rIns="25400" bIns="25400" rtlCol="0" anchor="ctr">
            <a:normAutofit/>
          </a:bodyPr>
          <a:lstStyle/>
          <a:p>
            <a:pPr algn="r" indent="0" marL="0">
              <a:buNone/>
            </a:pPr>
            <a:r>
              <a:rPr lang="en-US" sz="1875" b="1" dirty="0">
                <a:solidFill>
                  <a:srgbClr val="FF6A00"/>
                </a:solidFill>
                <a:latin typeface="Arial" pitchFamily="34" charset="0"/>
                <a:ea typeface="Arial" pitchFamily="34" charset="-122"/>
                <a:cs typeface="Arial" pitchFamily="34" charset="-120"/>
              </a:rPr>
              <a:t>20%</a:t>
            </a:r>
            <a:endParaRPr lang="en-US" sz="1875" dirty="0"/>
          </a:p>
        </p:txBody>
      </p:sp>
      <p:sp>
        <p:nvSpPr>
          <p:cNvPr id="20" name="Text 18"/>
          <p:cNvSpPr/>
          <p:nvPr/>
        </p:nvSpPr>
        <p:spPr>
          <a:xfrm>
            <a:off x="1119188" y="4009876"/>
            <a:ext cx="1034504"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2</a:t>
            </a:r>
            <a:endParaRPr lang="en-US" sz="1875" dirty="0"/>
          </a:p>
        </p:txBody>
      </p:sp>
      <p:sp>
        <p:nvSpPr>
          <p:cNvPr id="21" name="Text 19"/>
          <p:cNvSpPr/>
          <p:nvPr/>
        </p:nvSpPr>
        <p:spPr>
          <a:xfrm>
            <a:off x="2382292" y="4009876"/>
            <a:ext cx="1118259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How AI Systems Work</a:t>
            </a:r>
            <a:endParaRPr lang="en-US" sz="1875" dirty="0"/>
          </a:p>
        </p:txBody>
      </p:sp>
      <p:sp>
        <p:nvSpPr>
          <p:cNvPr id="22" name="Text 20"/>
          <p:cNvSpPr/>
          <p:nvPr/>
        </p:nvSpPr>
        <p:spPr>
          <a:xfrm>
            <a:off x="13416515" y="4009876"/>
            <a:ext cx="3766585" cy="319088"/>
          </a:xfrm>
          <a:prstGeom prst="rect">
            <a:avLst/>
          </a:prstGeom>
          <a:noFill/>
          <a:ln/>
        </p:spPr>
        <p:txBody>
          <a:bodyPr wrap="square" lIns="25400" tIns="25400" rIns="25400" bIns="25400" rtlCol="0" anchor="ctr">
            <a:normAutofit/>
          </a:bodyPr>
          <a:lstStyle/>
          <a:p>
            <a:pPr algn="r" indent="0" marL="0">
              <a:buNone/>
            </a:pPr>
            <a:r>
              <a:rPr lang="en-US" sz="1875" dirty="0">
                <a:solidFill>
                  <a:srgbClr val="DFE3EA"/>
                </a:solidFill>
                <a:latin typeface="Arial" pitchFamily="34" charset="0"/>
                <a:ea typeface="Arial" pitchFamily="34" charset="-122"/>
                <a:cs typeface="Arial" pitchFamily="34" charset="-120"/>
              </a:rPr>
              <a:t>15%</a:t>
            </a:r>
            <a:endParaRPr lang="en-US" sz="1875" dirty="0"/>
          </a:p>
        </p:txBody>
      </p:sp>
      <p:sp>
        <p:nvSpPr>
          <p:cNvPr id="23" name="Shape 21"/>
          <p:cNvSpPr/>
          <p:nvPr/>
        </p:nvSpPr>
        <p:spPr>
          <a:xfrm>
            <a:off x="966788" y="4405164"/>
            <a:ext cx="16368713" cy="509587"/>
          </a:xfrm>
          <a:prstGeom prst="rect">
            <a:avLst/>
          </a:prstGeom>
          <a:solidFill>
            <a:srgbClr val="FFFFFF">
              <a:alpha val="2000"/>
            </a:srgbClr>
          </a:solidFill>
          <a:ln/>
        </p:spPr>
      </p:sp>
      <p:sp>
        <p:nvSpPr>
          <p:cNvPr id="24" name="Text 22"/>
          <p:cNvSpPr/>
          <p:nvPr/>
        </p:nvSpPr>
        <p:spPr>
          <a:xfrm>
            <a:off x="1119188" y="4519464"/>
            <a:ext cx="1034504"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3</a:t>
            </a:r>
            <a:endParaRPr lang="en-US" sz="1875" dirty="0"/>
          </a:p>
        </p:txBody>
      </p:sp>
      <p:sp>
        <p:nvSpPr>
          <p:cNvPr id="25" name="Text 23"/>
          <p:cNvSpPr/>
          <p:nvPr/>
        </p:nvSpPr>
        <p:spPr>
          <a:xfrm>
            <a:off x="2382292" y="4519464"/>
            <a:ext cx="1118259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Generative AI &amp; AI Tools</a:t>
            </a:r>
            <a:endParaRPr lang="en-US" sz="1875" dirty="0"/>
          </a:p>
        </p:txBody>
      </p:sp>
      <p:sp>
        <p:nvSpPr>
          <p:cNvPr id="26" name="Text 24"/>
          <p:cNvSpPr/>
          <p:nvPr/>
        </p:nvSpPr>
        <p:spPr>
          <a:xfrm>
            <a:off x="13416515" y="4519464"/>
            <a:ext cx="3766585" cy="319088"/>
          </a:xfrm>
          <a:prstGeom prst="rect">
            <a:avLst/>
          </a:prstGeom>
          <a:noFill/>
          <a:ln/>
        </p:spPr>
        <p:txBody>
          <a:bodyPr wrap="square" lIns="25400" tIns="25400" rIns="25400" bIns="25400" rtlCol="0" anchor="ctr">
            <a:normAutofit/>
          </a:bodyPr>
          <a:lstStyle/>
          <a:p>
            <a:pPr algn="r" indent="0" marL="0">
              <a:buNone/>
            </a:pPr>
            <a:r>
              <a:rPr lang="en-US" sz="1875" dirty="0">
                <a:solidFill>
                  <a:srgbClr val="DFE3EA"/>
                </a:solidFill>
                <a:latin typeface="Arial" pitchFamily="34" charset="0"/>
                <a:ea typeface="Arial" pitchFamily="34" charset="-122"/>
                <a:cs typeface="Arial" pitchFamily="34" charset="-120"/>
              </a:rPr>
              <a:t>15%</a:t>
            </a:r>
            <a:endParaRPr lang="en-US" sz="1875" dirty="0"/>
          </a:p>
        </p:txBody>
      </p:sp>
      <p:sp>
        <p:nvSpPr>
          <p:cNvPr id="27" name="Text 25"/>
          <p:cNvSpPr/>
          <p:nvPr/>
        </p:nvSpPr>
        <p:spPr>
          <a:xfrm>
            <a:off x="1119188" y="5029051"/>
            <a:ext cx="1034504"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4</a:t>
            </a:r>
            <a:endParaRPr lang="en-US" sz="1875" dirty="0"/>
          </a:p>
        </p:txBody>
      </p:sp>
      <p:sp>
        <p:nvSpPr>
          <p:cNvPr id="28" name="Text 26"/>
          <p:cNvSpPr/>
          <p:nvPr/>
        </p:nvSpPr>
        <p:spPr>
          <a:xfrm>
            <a:off x="2382292" y="5029051"/>
            <a:ext cx="1118259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Prompting &amp; Effective AI Use</a:t>
            </a:r>
            <a:endParaRPr lang="en-US" sz="1875" dirty="0"/>
          </a:p>
        </p:txBody>
      </p:sp>
      <p:sp>
        <p:nvSpPr>
          <p:cNvPr id="29" name="Text 27"/>
          <p:cNvSpPr/>
          <p:nvPr/>
        </p:nvSpPr>
        <p:spPr>
          <a:xfrm>
            <a:off x="13416515" y="5029051"/>
            <a:ext cx="3766585" cy="319088"/>
          </a:xfrm>
          <a:prstGeom prst="rect">
            <a:avLst/>
          </a:prstGeom>
          <a:noFill/>
          <a:ln/>
        </p:spPr>
        <p:txBody>
          <a:bodyPr wrap="square" lIns="25400" tIns="25400" rIns="25400" bIns="25400" rtlCol="0" anchor="ctr">
            <a:normAutofit/>
          </a:bodyPr>
          <a:lstStyle/>
          <a:p>
            <a:pPr algn="r" indent="0" marL="0">
              <a:buNone/>
            </a:pPr>
            <a:r>
              <a:rPr lang="en-US" sz="1875" dirty="0">
                <a:solidFill>
                  <a:srgbClr val="DFE3EA"/>
                </a:solidFill>
                <a:latin typeface="Arial" pitchFamily="34" charset="0"/>
                <a:ea typeface="Arial" pitchFamily="34" charset="-122"/>
                <a:cs typeface="Arial" pitchFamily="34" charset="-120"/>
              </a:rPr>
              <a:t>15%</a:t>
            </a:r>
            <a:endParaRPr lang="en-US" sz="1875" dirty="0"/>
          </a:p>
        </p:txBody>
      </p:sp>
      <p:sp>
        <p:nvSpPr>
          <p:cNvPr id="30" name="Shape 28"/>
          <p:cNvSpPr/>
          <p:nvPr/>
        </p:nvSpPr>
        <p:spPr>
          <a:xfrm>
            <a:off x="966788" y="5424339"/>
            <a:ext cx="16368713" cy="509587"/>
          </a:xfrm>
          <a:prstGeom prst="rect">
            <a:avLst/>
          </a:prstGeom>
          <a:solidFill>
            <a:srgbClr val="FFFFFF">
              <a:alpha val="2000"/>
            </a:srgbClr>
          </a:solidFill>
          <a:ln/>
        </p:spPr>
      </p:sp>
      <p:sp>
        <p:nvSpPr>
          <p:cNvPr id="31" name="Text 29"/>
          <p:cNvSpPr/>
          <p:nvPr/>
        </p:nvSpPr>
        <p:spPr>
          <a:xfrm>
            <a:off x="1119188" y="5538639"/>
            <a:ext cx="1034504"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5</a:t>
            </a:r>
            <a:endParaRPr lang="en-US" sz="1875" dirty="0"/>
          </a:p>
        </p:txBody>
      </p:sp>
      <p:sp>
        <p:nvSpPr>
          <p:cNvPr id="32" name="Text 30"/>
          <p:cNvSpPr/>
          <p:nvPr/>
        </p:nvSpPr>
        <p:spPr>
          <a:xfrm>
            <a:off x="2382292" y="5538639"/>
            <a:ext cx="1118259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AI Limitations &amp; Verification</a:t>
            </a:r>
            <a:endParaRPr lang="en-US" sz="1875" dirty="0"/>
          </a:p>
        </p:txBody>
      </p:sp>
      <p:sp>
        <p:nvSpPr>
          <p:cNvPr id="33" name="Text 31"/>
          <p:cNvSpPr/>
          <p:nvPr/>
        </p:nvSpPr>
        <p:spPr>
          <a:xfrm>
            <a:off x="13416515" y="5538639"/>
            <a:ext cx="3766585" cy="319088"/>
          </a:xfrm>
          <a:prstGeom prst="rect">
            <a:avLst/>
          </a:prstGeom>
          <a:noFill/>
          <a:ln/>
        </p:spPr>
        <p:txBody>
          <a:bodyPr wrap="square" lIns="25400" tIns="25400" rIns="25400" bIns="25400" rtlCol="0" anchor="ctr">
            <a:normAutofit/>
          </a:bodyPr>
          <a:lstStyle/>
          <a:p>
            <a:pPr algn="r" indent="0" marL="0">
              <a:buNone/>
            </a:pPr>
            <a:r>
              <a:rPr lang="en-US" sz="1875" dirty="0">
                <a:solidFill>
                  <a:srgbClr val="DFE3EA"/>
                </a:solidFill>
                <a:latin typeface="Arial" pitchFamily="34" charset="0"/>
                <a:ea typeface="Arial" pitchFamily="34" charset="-122"/>
                <a:cs typeface="Arial" pitchFamily="34" charset="-120"/>
              </a:rPr>
              <a:t>15%</a:t>
            </a:r>
            <a:endParaRPr lang="en-US" sz="1875" dirty="0"/>
          </a:p>
        </p:txBody>
      </p:sp>
      <p:sp>
        <p:nvSpPr>
          <p:cNvPr id="34" name="Text 32"/>
          <p:cNvSpPr/>
          <p:nvPr/>
        </p:nvSpPr>
        <p:spPr>
          <a:xfrm>
            <a:off x="1119188" y="6048226"/>
            <a:ext cx="1034504"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6</a:t>
            </a:r>
            <a:endParaRPr lang="en-US" sz="1875" dirty="0"/>
          </a:p>
        </p:txBody>
      </p:sp>
      <p:sp>
        <p:nvSpPr>
          <p:cNvPr id="35" name="Text 33"/>
          <p:cNvSpPr/>
          <p:nvPr/>
        </p:nvSpPr>
        <p:spPr>
          <a:xfrm>
            <a:off x="2382292" y="6048226"/>
            <a:ext cx="1118259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AI Security, Privacy &amp; Data</a:t>
            </a:r>
            <a:endParaRPr lang="en-US" sz="1875" dirty="0"/>
          </a:p>
        </p:txBody>
      </p:sp>
      <p:sp>
        <p:nvSpPr>
          <p:cNvPr id="36" name="Text 34"/>
          <p:cNvSpPr/>
          <p:nvPr/>
        </p:nvSpPr>
        <p:spPr>
          <a:xfrm>
            <a:off x="13416515" y="6048226"/>
            <a:ext cx="3766585" cy="319088"/>
          </a:xfrm>
          <a:prstGeom prst="rect">
            <a:avLst/>
          </a:prstGeom>
          <a:noFill/>
          <a:ln/>
        </p:spPr>
        <p:txBody>
          <a:bodyPr wrap="square" lIns="25400" tIns="25400" rIns="25400" bIns="25400" rtlCol="0" anchor="ctr">
            <a:normAutofit/>
          </a:bodyPr>
          <a:lstStyle/>
          <a:p>
            <a:pPr algn="r" indent="0" marL="0">
              <a:buNone/>
            </a:pPr>
            <a:r>
              <a:rPr lang="en-US" sz="1875" dirty="0">
                <a:solidFill>
                  <a:srgbClr val="DFE3EA"/>
                </a:solidFill>
                <a:latin typeface="Arial" pitchFamily="34" charset="0"/>
                <a:ea typeface="Arial" pitchFamily="34" charset="-122"/>
                <a:cs typeface="Arial" pitchFamily="34" charset="-120"/>
              </a:rPr>
              <a:t>10%</a:t>
            </a:r>
            <a:endParaRPr lang="en-US" sz="1875" dirty="0"/>
          </a:p>
        </p:txBody>
      </p:sp>
      <p:sp>
        <p:nvSpPr>
          <p:cNvPr id="37" name="Shape 35"/>
          <p:cNvSpPr/>
          <p:nvPr/>
        </p:nvSpPr>
        <p:spPr>
          <a:xfrm>
            <a:off x="966788" y="6443514"/>
            <a:ext cx="16368713" cy="509587"/>
          </a:xfrm>
          <a:prstGeom prst="rect">
            <a:avLst/>
          </a:prstGeom>
          <a:solidFill>
            <a:srgbClr val="FFFFFF">
              <a:alpha val="2000"/>
            </a:srgbClr>
          </a:solidFill>
          <a:ln/>
        </p:spPr>
      </p:sp>
      <p:sp>
        <p:nvSpPr>
          <p:cNvPr id="38" name="Text 36"/>
          <p:cNvSpPr/>
          <p:nvPr/>
        </p:nvSpPr>
        <p:spPr>
          <a:xfrm>
            <a:off x="1119188" y="6557814"/>
            <a:ext cx="1034504"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7</a:t>
            </a:r>
            <a:endParaRPr lang="en-US" sz="1875" dirty="0"/>
          </a:p>
        </p:txBody>
      </p:sp>
      <p:sp>
        <p:nvSpPr>
          <p:cNvPr id="39" name="Text 37"/>
          <p:cNvSpPr/>
          <p:nvPr/>
        </p:nvSpPr>
        <p:spPr>
          <a:xfrm>
            <a:off x="2382292" y="6557814"/>
            <a:ext cx="1118259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Responsible AI, Ethics &amp; Governance</a:t>
            </a:r>
            <a:endParaRPr lang="en-US" sz="1875" dirty="0"/>
          </a:p>
        </p:txBody>
      </p:sp>
      <p:sp>
        <p:nvSpPr>
          <p:cNvPr id="40" name="Text 38"/>
          <p:cNvSpPr/>
          <p:nvPr/>
        </p:nvSpPr>
        <p:spPr>
          <a:xfrm>
            <a:off x="13416515" y="6557814"/>
            <a:ext cx="3766585" cy="319088"/>
          </a:xfrm>
          <a:prstGeom prst="rect">
            <a:avLst/>
          </a:prstGeom>
          <a:noFill/>
          <a:ln/>
        </p:spPr>
        <p:txBody>
          <a:bodyPr wrap="square" lIns="25400" tIns="25400" rIns="25400" bIns="25400" rtlCol="0" anchor="ctr">
            <a:normAutofit/>
          </a:bodyPr>
          <a:lstStyle/>
          <a:p>
            <a:pPr algn="r" indent="0" marL="0">
              <a:buNone/>
            </a:pPr>
            <a:r>
              <a:rPr lang="en-US" sz="1875" dirty="0">
                <a:solidFill>
                  <a:srgbClr val="DFE3EA"/>
                </a:solidFill>
                <a:latin typeface="Arial" pitchFamily="34" charset="0"/>
                <a:ea typeface="Arial" pitchFamily="34" charset="-122"/>
                <a:cs typeface="Arial" pitchFamily="34" charset="-120"/>
              </a:rPr>
              <a:t>10%</a:t>
            </a:r>
            <a:endParaRPr lang="en-US" sz="18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SETTING THE SCENE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AI Is Already Part Of Your Working Day</a:t>
            </a:r>
            <a:endParaRPr lang="en-US" sz="3150" dirty="0"/>
          </a:p>
        </p:txBody>
      </p:sp>
      <p:sp>
        <p:nvSpPr>
          <p:cNvPr id="5" name="Text 3"/>
          <p:cNvSpPr/>
          <p:nvPr/>
        </p:nvSpPr>
        <p:spPr>
          <a:xfrm>
            <a:off x="952500" y="1826865"/>
            <a:ext cx="11772900" cy="83046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Long before "AI" became a everyday word, systems like these were already quietly making decisions and predictions from data.</a:t>
            </a:r>
            <a:endParaRPr lang="en-US" sz="1950" dirty="0"/>
          </a:p>
        </p:txBody>
      </p:sp>
      <p:sp>
        <p:nvSpPr>
          <p:cNvPr id="6" name="Shape 4"/>
          <p:cNvSpPr/>
          <p:nvPr/>
        </p:nvSpPr>
        <p:spPr>
          <a:xfrm>
            <a:off x="952500" y="2904976"/>
            <a:ext cx="5334000" cy="1481138"/>
          </a:xfrm>
          <a:prstGeom prst="roundRect">
            <a:avLst>
              <a:gd name="adj" fmla="val 10289"/>
            </a:avLst>
          </a:prstGeom>
          <a:solidFill>
            <a:srgbClr val="FFFFFF">
              <a:alpha val="2000"/>
            </a:srgbClr>
          </a:solidFill>
          <a:ln w="9525">
            <a:solidFill>
              <a:srgbClr val="2A2F3A"/>
            </a:solidFill>
            <a:prstDash val="solid"/>
          </a:ln>
        </p:spPr>
      </p:sp>
      <p:sp>
        <p:nvSpPr>
          <p:cNvPr id="7" name="Text 5"/>
          <p:cNvSpPr/>
          <p:nvPr/>
        </p:nvSpPr>
        <p:spPr>
          <a:xfrm>
            <a:off x="1171575" y="3124051"/>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Spam &amp; Fraud Filters</a:t>
            </a:r>
            <a:endParaRPr lang="en-US" sz="1875" dirty="0"/>
          </a:p>
        </p:txBody>
      </p:sp>
      <p:sp>
        <p:nvSpPr>
          <p:cNvPr id="8" name="Text 6"/>
          <p:cNvSpPr/>
          <p:nvPr/>
        </p:nvSpPr>
        <p:spPr>
          <a:xfrm>
            <a:off x="1171575" y="3481239"/>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Score incoming email or transactions and flag the unusual ones, adjusting as new patterns appear.</a:t>
            </a:r>
            <a:endParaRPr lang="en-US" sz="1800" dirty="0"/>
          </a:p>
        </p:txBody>
      </p:sp>
      <p:sp>
        <p:nvSpPr>
          <p:cNvPr id="9" name="Shape 7"/>
          <p:cNvSpPr/>
          <p:nvPr/>
        </p:nvSpPr>
        <p:spPr>
          <a:xfrm>
            <a:off x="6477000" y="2904976"/>
            <a:ext cx="5334000" cy="1481138"/>
          </a:xfrm>
          <a:prstGeom prst="roundRect">
            <a:avLst>
              <a:gd name="adj" fmla="val 10289"/>
            </a:avLst>
          </a:prstGeom>
          <a:solidFill>
            <a:srgbClr val="FFFFFF">
              <a:alpha val="2000"/>
            </a:srgbClr>
          </a:solidFill>
          <a:ln w="9525">
            <a:solidFill>
              <a:srgbClr val="2A2F3A"/>
            </a:solidFill>
            <a:prstDash val="solid"/>
          </a:ln>
        </p:spPr>
      </p:sp>
      <p:sp>
        <p:nvSpPr>
          <p:cNvPr id="10" name="Text 8"/>
          <p:cNvSpPr/>
          <p:nvPr/>
        </p:nvSpPr>
        <p:spPr>
          <a:xfrm>
            <a:off x="6696075" y="3124051"/>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Predictive Text &amp; Autocorrect</a:t>
            </a:r>
            <a:endParaRPr lang="en-US" sz="1875" dirty="0"/>
          </a:p>
        </p:txBody>
      </p:sp>
      <p:sp>
        <p:nvSpPr>
          <p:cNvPr id="11" name="Text 9"/>
          <p:cNvSpPr/>
          <p:nvPr/>
        </p:nvSpPr>
        <p:spPr>
          <a:xfrm>
            <a:off x="6696075" y="3481239"/>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Suggests the next word or fixes a typo based on patterns learned from huge amounts of text.</a:t>
            </a:r>
            <a:endParaRPr lang="en-US" sz="1800" dirty="0"/>
          </a:p>
        </p:txBody>
      </p:sp>
      <p:sp>
        <p:nvSpPr>
          <p:cNvPr id="12" name="Shape 10"/>
          <p:cNvSpPr/>
          <p:nvPr/>
        </p:nvSpPr>
        <p:spPr>
          <a:xfrm>
            <a:off x="12001500" y="2904976"/>
            <a:ext cx="5334000" cy="1481138"/>
          </a:xfrm>
          <a:prstGeom prst="roundRect">
            <a:avLst>
              <a:gd name="adj" fmla="val 10289"/>
            </a:avLst>
          </a:prstGeom>
          <a:solidFill>
            <a:srgbClr val="FFFFFF">
              <a:alpha val="2000"/>
            </a:srgbClr>
          </a:solidFill>
          <a:ln w="9525">
            <a:solidFill>
              <a:srgbClr val="2A2F3A"/>
            </a:solidFill>
            <a:prstDash val="solid"/>
          </a:ln>
        </p:spPr>
      </p:sp>
      <p:sp>
        <p:nvSpPr>
          <p:cNvPr id="13" name="Text 11"/>
          <p:cNvSpPr/>
          <p:nvPr/>
        </p:nvSpPr>
        <p:spPr>
          <a:xfrm>
            <a:off x="12220575" y="3124051"/>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Navigation &amp; Arrival Times</a:t>
            </a:r>
            <a:endParaRPr lang="en-US" sz="1875" dirty="0"/>
          </a:p>
        </p:txBody>
      </p:sp>
      <p:sp>
        <p:nvSpPr>
          <p:cNvPr id="14" name="Text 12"/>
          <p:cNvSpPr/>
          <p:nvPr/>
        </p:nvSpPr>
        <p:spPr>
          <a:xfrm>
            <a:off x="12220575" y="3481239"/>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Predicts journey time from live and historical traffic data, not a fixed timetable.</a:t>
            </a:r>
            <a:endParaRPr lang="en-US" sz="1800" dirty="0"/>
          </a:p>
        </p:txBody>
      </p:sp>
      <p:sp>
        <p:nvSpPr>
          <p:cNvPr id="15" name="Shape 13"/>
          <p:cNvSpPr/>
          <p:nvPr/>
        </p:nvSpPr>
        <p:spPr>
          <a:xfrm>
            <a:off x="952500" y="4576614"/>
            <a:ext cx="5334000" cy="1481138"/>
          </a:xfrm>
          <a:prstGeom prst="roundRect">
            <a:avLst>
              <a:gd name="adj" fmla="val 10289"/>
            </a:avLst>
          </a:prstGeom>
          <a:solidFill>
            <a:srgbClr val="FFFFFF">
              <a:alpha val="2000"/>
            </a:srgbClr>
          </a:solidFill>
          <a:ln w="9525">
            <a:solidFill>
              <a:srgbClr val="2A2F3A"/>
            </a:solidFill>
            <a:prstDash val="solid"/>
          </a:ln>
        </p:spPr>
      </p:sp>
      <p:sp>
        <p:nvSpPr>
          <p:cNvPr id="16" name="Text 14"/>
          <p:cNvSpPr/>
          <p:nvPr/>
        </p:nvSpPr>
        <p:spPr>
          <a:xfrm>
            <a:off x="1171575" y="4795689"/>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Recommendation Feeds</a:t>
            </a:r>
            <a:endParaRPr lang="en-US" sz="1875" dirty="0"/>
          </a:p>
        </p:txBody>
      </p:sp>
      <p:sp>
        <p:nvSpPr>
          <p:cNvPr id="17" name="Text 15"/>
          <p:cNvSpPr/>
          <p:nvPr/>
        </p:nvSpPr>
        <p:spPr>
          <a:xfrm>
            <a:off x="1171575" y="5152876"/>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Ranks what you see next from your own behaviour and that of similar users.</a:t>
            </a:r>
            <a:endParaRPr lang="en-US" sz="1800" dirty="0"/>
          </a:p>
        </p:txBody>
      </p:sp>
      <p:sp>
        <p:nvSpPr>
          <p:cNvPr id="18" name="Shape 16"/>
          <p:cNvSpPr/>
          <p:nvPr/>
        </p:nvSpPr>
        <p:spPr>
          <a:xfrm>
            <a:off x="6477000" y="4576614"/>
            <a:ext cx="5334000" cy="1481138"/>
          </a:xfrm>
          <a:prstGeom prst="roundRect">
            <a:avLst>
              <a:gd name="adj" fmla="val 10289"/>
            </a:avLst>
          </a:prstGeom>
          <a:solidFill>
            <a:srgbClr val="FFFFFF">
              <a:alpha val="2000"/>
            </a:srgbClr>
          </a:solidFill>
          <a:ln w="9525">
            <a:solidFill>
              <a:srgbClr val="2A2F3A"/>
            </a:solidFill>
            <a:prstDash val="solid"/>
          </a:ln>
        </p:spPr>
      </p:sp>
      <p:sp>
        <p:nvSpPr>
          <p:cNvPr id="19" name="Text 17"/>
          <p:cNvSpPr/>
          <p:nvPr/>
        </p:nvSpPr>
        <p:spPr>
          <a:xfrm>
            <a:off x="6696075" y="4795689"/>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Voice Assistants &amp; Dictation</a:t>
            </a:r>
            <a:endParaRPr lang="en-US" sz="1875" dirty="0"/>
          </a:p>
        </p:txBody>
      </p:sp>
      <p:sp>
        <p:nvSpPr>
          <p:cNvPr id="20" name="Text 18"/>
          <p:cNvSpPr/>
          <p:nvPr/>
        </p:nvSpPr>
        <p:spPr>
          <a:xfrm>
            <a:off x="6696075" y="5152876"/>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Converts speech to text and interprets spoken requests as commands.</a:t>
            </a:r>
            <a:endParaRPr lang="en-US" sz="1800" dirty="0"/>
          </a:p>
        </p:txBody>
      </p:sp>
      <p:sp>
        <p:nvSpPr>
          <p:cNvPr id="21" name="Shape 19"/>
          <p:cNvSpPr/>
          <p:nvPr/>
        </p:nvSpPr>
        <p:spPr>
          <a:xfrm>
            <a:off x="12001500" y="4576614"/>
            <a:ext cx="5334000" cy="1481138"/>
          </a:xfrm>
          <a:prstGeom prst="roundRect">
            <a:avLst>
              <a:gd name="adj" fmla="val 10289"/>
            </a:avLst>
          </a:prstGeom>
          <a:solidFill>
            <a:srgbClr val="FFFFFF">
              <a:alpha val="2000"/>
            </a:srgbClr>
          </a:solidFill>
          <a:ln w="9525">
            <a:solidFill>
              <a:srgbClr val="2A2F3A"/>
            </a:solidFill>
            <a:prstDash val="solid"/>
          </a:ln>
        </p:spPr>
      </p:sp>
      <p:sp>
        <p:nvSpPr>
          <p:cNvPr id="22" name="Text 20"/>
          <p:cNvSpPr/>
          <p:nvPr/>
        </p:nvSpPr>
        <p:spPr>
          <a:xfrm>
            <a:off x="12220575" y="4795689"/>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AI Writing &amp; Chat Assistants</a:t>
            </a:r>
            <a:endParaRPr lang="en-US" sz="1875" dirty="0"/>
          </a:p>
        </p:txBody>
      </p:sp>
      <p:sp>
        <p:nvSpPr>
          <p:cNvPr id="23" name="Text 21"/>
          <p:cNvSpPr/>
          <p:nvPr/>
        </p:nvSpPr>
        <p:spPr>
          <a:xfrm>
            <a:off x="12220575" y="5152876"/>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Generates drafts, summaries and answers to natural-language requests on demand.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79768" y="4586734"/>
            <a:ext cx="5328464"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1.1 · SUB-OBJECTIVE 1 OF 6</a:t>
            </a:r>
            <a:endParaRPr lang="en-US" sz="1950" dirty="0"/>
          </a:p>
        </p:txBody>
      </p:sp>
      <p:sp>
        <p:nvSpPr>
          <p:cNvPr id="4" name="Text 2"/>
          <p:cNvSpPr/>
          <p:nvPr/>
        </p:nvSpPr>
        <p:spPr>
          <a:xfrm>
            <a:off x="4921731" y="5086796"/>
            <a:ext cx="8444538"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Defining Artificial Intelligence</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1.1 DEFINING ARTIFICIAL INTELLIGENCE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Is Artificial Intelligence?</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Artificial intelligence is computer technology that performs tasks which normally require human intelligence — recognising patterns, making predictions, generating language, or making decisions from data — rather than following one fixed, pre-written set of instructions for every situation.</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WHY IT MATTERS</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consistent working definition is the foundation for every other distinction in this module and the highest-weighted domain on the exam.</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DISTINCT FROM</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Ordinary automation, which follows fixed instructions rather than learning from data — covered next.</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1.1 DEFINING ARTIFICIAL INTELLIGENCE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Artificial Intelligence vs Ordinary Automation</a:t>
            </a:r>
            <a:endParaRPr lang="en-US" sz="3150" dirty="0"/>
          </a:p>
        </p:txBody>
      </p:sp>
      <p:sp>
        <p:nvSpPr>
          <p:cNvPr id="5" name="Shape 3"/>
          <p:cNvSpPr/>
          <p:nvPr/>
        </p:nvSpPr>
        <p:spPr>
          <a:xfrm>
            <a:off x="952500" y="1922115"/>
            <a:ext cx="7762875" cy="7640985"/>
          </a:xfrm>
          <a:custGeom>
            <a:avLst/>
            <a:gdLst/>
            <a:ahLst/>
            <a:cxnLst/>
            <a:rect l="l" t="t" r="r" b="b"/>
            <a:pathLst>
              <a:path w="7762875" h="7640985">
                <a:moveTo>
                  <a:pt x="152400" y="0"/>
                </a:moveTo>
                <a:lnTo>
                  <a:pt x="7762875" y="0"/>
                </a:lnTo>
                <a:lnTo>
                  <a:pt x="7762875" y="7640985"/>
                </a:lnTo>
                <a:lnTo>
                  <a:pt x="152400" y="7640985"/>
                </a:lnTo>
                <a:arcTo hR="152400" wR="152400" stAng="5400000" swAng="5400000"/>
                <a:lnTo>
                  <a:pt x="0" y="152400"/>
                </a:lnTo>
                <a:arcTo hR="152400" wR="152400" stAng="10800000" swAng="5400000"/>
                <a:close/>
              </a:path>
            </a:pathLst>
          </a:custGeom>
          <a:solidFill>
            <a:srgbClr val="FFFFFF">
              <a:alpha val="2000"/>
            </a:srgbClr>
          </a:solidFill>
          <a:ln w="9525">
            <a:solidFill>
              <a:srgbClr val="2A2F3A"/>
            </a:solidFill>
            <a:prstDash val="solid"/>
          </a:ln>
        </p:spPr>
      </p:sp>
      <p:sp>
        <p:nvSpPr>
          <p:cNvPr id="6" name="Text 4"/>
          <p:cNvSpPr/>
          <p:nvPr/>
        </p:nvSpPr>
        <p:spPr>
          <a:xfrm>
            <a:off x="1247775" y="2217390"/>
            <a:ext cx="7889558"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F5F7FB"/>
                </a:solidFill>
                <a:latin typeface="Arial" pitchFamily="34" charset="0"/>
                <a:ea typeface="Arial" pitchFamily="34" charset="-122"/>
                <a:cs typeface="Arial" pitchFamily="34" charset="-120"/>
              </a:rPr>
              <a:t>Rule-Based Automation</a:t>
            </a:r>
            <a:endParaRPr lang="en-US" sz="2100" dirty="0"/>
          </a:p>
        </p:txBody>
      </p:sp>
      <p:sp>
        <p:nvSpPr>
          <p:cNvPr id="7" name="Text 5"/>
          <p:cNvSpPr/>
          <p:nvPr/>
        </p:nvSpPr>
        <p:spPr>
          <a:xfrm>
            <a:off x="1247775" y="2665065"/>
            <a:ext cx="7387495"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Follows a fixed, pre-written set of if-this-then-that instructions. Behaviour never changes unless a person rewrites the rules.</a:t>
            </a:r>
            <a:endParaRPr lang="en-US" sz="1875" dirty="0"/>
          </a:p>
        </p:txBody>
      </p:sp>
      <p:sp>
        <p:nvSpPr>
          <p:cNvPr id="8" name="Text 6"/>
          <p:cNvSpPr/>
          <p:nvPr/>
        </p:nvSpPr>
        <p:spPr>
          <a:xfrm>
            <a:off x="1247775" y="9001125"/>
            <a:ext cx="78895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B8C0CF"/>
                </a:solidFill>
                <a:latin typeface="Arial" pitchFamily="34" charset="0"/>
                <a:ea typeface="Arial" pitchFamily="34" charset="-122"/>
                <a:cs typeface="Arial" pitchFamily="34" charset="-120"/>
              </a:rPr>
              <a:t>Example: a thermostat, a spreadsheet macro, a scheduled report</a:t>
            </a:r>
            <a:endParaRPr lang="en-US" sz="1800" dirty="0"/>
          </a:p>
        </p:txBody>
      </p:sp>
      <p:sp>
        <p:nvSpPr>
          <p:cNvPr id="9" name="Shape 7"/>
          <p:cNvSpPr/>
          <p:nvPr/>
        </p:nvSpPr>
        <p:spPr>
          <a:xfrm>
            <a:off x="8839200" y="5437808"/>
            <a:ext cx="609600" cy="609600"/>
          </a:xfrm>
          <a:prstGeom prst="ellipse">
            <a:avLst/>
          </a:prstGeom>
          <a:solidFill>
            <a:srgbClr val="FF6A00"/>
          </a:solidFill>
          <a:ln/>
          <a:effectLst>
            <a:outerShdw sx="100000" sy="100000" kx="0" ky="0" algn="bl" rotWithShape="0" blurRad="101600" dist="50800" dir="16200000">
              <a:srgbClr val="0C0D10">
                <a:alpha val="100000"/>
              </a:srgbClr>
            </a:outerShdw>
          </a:effectLst>
        </p:spPr>
      </p:sp>
      <p:sp>
        <p:nvSpPr>
          <p:cNvPr id="10" name="Text 8"/>
          <p:cNvSpPr/>
          <p:nvPr/>
        </p:nvSpPr>
        <p:spPr>
          <a:xfrm>
            <a:off x="8801100" y="5437808"/>
            <a:ext cx="685800" cy="647700"/>
          </a:xfrm>
          <a:prstGeom prst="rect">
            <a:avLst/>
          </a:prstGeom>
          <a:noFill/>
          <a:ln/>
        </p:spPr>
        <p:txBody>
          <a:bodyPr wrap="square" lIns="25400" tIns="25400" rIns="25400" bIns="25400" rtlCol="0" anchor="ctr">
            <a:normAutofit/>
          </a:bodyPr>
          <a:lstStyle/>
          <a:p>
            <a:pPr algn="ctr" indent="0" marL="0">
              <a:buNone/>
            </a:pPr>
            <a:r>
              <a:rPr lang="en-US" sz="1875" b="1" dirty="0">
                <a:solidFill>
                  <a:srgbClr val="111111"/>
                </a:solidFill>
                <a:latin typeface="Arial" pitchFamily="34" charset="0"/>
                <a:ea typeface="Arial" pitchFamily="34" charset="-122"/>
                <a:cs typeface="Arial" pitchFamily="34" charset="-120"/>
              </a:rPr>
              <a:t>VS</a:t>
            </a:r>
            <a:endParaRPr lang="en-US" sz="1875" dirty="0"/>
          </a:p>
        </p:txBody>
      </p:sp>
      <p:sp>
        <p:nvSpPr>
          <p:cNvPr id="11" name="Shape 9"/>
          <p:cNvSpPr/>
          <p:nvPr/>
        </p:nvSpPr>
        <p:spPr>
          <a:xfrm>
            <a:off x="9572625" y="1922115"/>
            <a:ext cx="7762875" cy="7640985"/>
          </a:xfrm>
          <a:custGeom>
            <a:avLst/>
            <a:gdLst/>
            <a:ahLst/>
            <a:cxnLst/>
            <a:rect l="l" t="t" r="r" b="b"/>
            <a:pathLst>
              <a:path w="7762875" h="7640985">
                <a:moveTo>
                  <a:pt x="0" y="0"/>
                </a:moveTo>
                <a:lnTo>
                  <a:pt x="7610475" y="0"/>
                </a:lnTo>
                <a:arcTo hR="152400" wR="152400" stAng="16200000" swAng="5400000"/>
                <a:lnTo>
                  <a:pt x="7762875" y="7488585"/>
                </a:lnTo>
                <a:arcTo hR="152400" wR="152400" stAng="0" swAng="5400000"/>
                <a:lnTo>
                  <a:pt x="0" y="7640985"/>
                </a:lnTo>
                <a:lnTo>
                  <a:pt x="0" y="0"/>
                </a:lnTo>
                <a:close/>
              </a:path>
            </a:pathLst>
          </a:custGeom>
          <a:solidFill>
            <a:srgbClr val="FF6A00">
              <a:alpha val="6000"/>
            </a:srgbClr>
          </a:solidFill>
          <a:ln w="9525">
            <a:solidFill>
              <a:srgbClr val="B85100"/>
            </a:solidFill>
            <a:prstDash val="solid"/>
          </a:ln>
        </p:spPr>
      </p:sp>
      <p:sp>
        <p:nvSpPr>
          <p:cNvPr id="12" name="Text 10"/>
          <p:cNvSpPr/>
          <p:nvPr/>
        </p:nvSpPr>
        <p:spPr>
          <a:xfrm>
            <a:off x="9867900" y="2217390"/>
            <a:ext cx="7889558"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FF6A00"/>
                </a:solidFill>
                <a:latin typeface="Arial" pitchFamily="34" charset="0"/>
                <a:ea typeface="Arial" pitchFamily="34" charset="-122"/>
                <a:cs typeface="Arial" pitchFamily="34" charset="-120"/>
              </a:rPr>
              <a:t>Artificial Intelligence</a:t>
            </a:r>
            <a:endParaRPr lang="en-US" sz="2100" dirty="0"/>
          </a:p>
        </p:txBody>
      </p:sp>
      <p:sp>
        <p:nvSpPr>
          <p:cNvPr id="13" name="Text 11"/>
          <p:cNvSpPr/>
          <p:nvPr/>
        </p:nvSpPr>
        <p:spPr>
          <a:xfrm>
            <a:off x="9867900" y="2665065"/>
            <a:ext cx="7387495"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Learns patterns from data, so its output can adapt or improve without every case being explicitly programmed.</a:t>
            </a:r>
            <a:endParaRPr lang="en-US" sz="1875" dirty="0"/>
          </a:p>
        </p:txBody>
      </p:sp>
      <p:sp>
        <p:nvSpPr>
          <p:cNvPr id="14" name="Text 12"/>
          <p:cNvSpPr/>
          <p:nvPr/>
        </p:nvSpPr>
        <p:spPr>
          <a:xfrm>
            <a:off x="9867900" y="9001125"/>
            <a:ext cx="78895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latin typeface="Arial" pitchFamily="34" charset="0"/>
                <a:ea typeface="Arial" pitchFamily="34" charset="-122"/>
                <a:cs typeface="Arial" pitchFamily="34" charset="-120"/>
              </a:rPr>
              <a:t>Example: a spam filter that improves as it sees more email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15346"/>
            <a:ext cx="38100" cy="1656308"/>
          </a:xfrm>
          <a:prstGeom prst="rect">
            <a:avLst/>
          </a:prstGeom>
          <a:solidFill>
            <a:srgbClr val="FF6A00"/>
          </a:solidFill>
          <a:ln/>
        </p:spPr>
      </p:sp>
      <p:sp>
        <p:nvSpPr>
          <p:cNvPr id="4" name="Text 2"/>
          <p:cNvSpPr/>
          <p:nvPr/>
        </p:nvSpPr>
        <p:spPr>
          <a:xfrm>
            <a:off x="1333500" y="4391546"/>
            <a:ext cx="12753975"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"Automation follows the rules you gave it. AI infers the rules from data."</a:t>
            </a:r>
            <a:endParaRPr lang="en-US" sz="2850" dirty="0"/>
          </a:p>
        </p:txBody>
      </p:sp>
      <p:sp>
        <p:nvSpPr>
          <p:cNvPr id="5" name="Text 3"/>
          <p:cNvSpPr/>
          <p:nvPr/>
        </p:nvSpPr>
        <p:spPr>
          <a:xfrm>
            <a:off x="1333500" y="5614467"/>
            <a:ext cx="17602200" cy="319088"/>
          </a:xfrm>
          <a:prstGeom prst="rect">
            <a:avLst/>
          </a:prstGeom>
          <a:noFill/>
          <a:ln/>
        </p:spPr>
        <p:txBody>
          <a:bodyPr wrap="square" lIns="25400" tIns="25400" rIns="25400" bIns="25400" rtlCol="0" anchor="t">
            <a:normAutofit/>
          </a:bodyPr>
          <a:lstStyle/>
          <a:p>
            <a:pPr algn="l" indent="0" marL="0">
              <a:buNone/>
            </a:pPr>
            <a:r>
              <a:rPr lang="en-US" sz="1875" spc="38" kern="0" dirty="0">
                <a:solidFill>
                  <a:srgbClr val="B8C0CF"/>
                </a:solidFill>
                <a:latin typeface="Arial" pitchFamily="34" charset="0"/>
                <a:ea typeface="Arial" pitchFamily="34" charset="-122"/>
                <a:cs typeface="Arial" pitchFamily="34" charset="-120"/>
              </a:rPr>
              <a:t>RECAP · OBJECTIVE 1.1</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40645" y="4280074"/>
            <a:ext cx="5406636"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1.2 · SUB-OBJECTIVE 2 OF 6</a:t>
            </a:r>
            <a:endParaRPr lang="en-US" sz="1950" dirty="0"/>
          </a:p>
        </p:txBody>
      </p:sp>
      <p:sp>
        <p:nvSpPr>
          <p:cNvPr id="4" name="Text 2"/>
          <p:cNvSpPr/>
          <p:nvPr/>
        </p:nvSpPr>
        <p:spPr>
          <a:xfrm>
            <a:off x="2276475" y="4780136"/>
            <a:ext cx="13735050" cy="1264890"/>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How AI, Machine Learning, Deep Learning and Generative AI Relate</a:t>
            </a:r>
            <a:endParaRPr lang="en-US" sz="4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1.2 HOW THE CONCEPTS RELATE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Nested, Layered Ideas — Not Four Separate Fields</a:t>
            </a:r>
            <a:endParaRPr lang="en-US" sz="3150" dirty="0"/>
          </a:p>
        </p:txBody>
      </p:sp>
      <p:sp>
        <p:nvSpPr>
          <p:cNvPr id="5" name="Shape 3"/>
          <p:cNvSpPr/>
          <p:nvPr/>
        </p:nvSpPr>
        <p:spPr>
          <a:xfrm>
            <a:off x="952500" y="4118595"/>
            <a:ext cx="9073604" cy="3209925"/>
          </a:xfrm>
          <a:prstGeom prst="roundRect">
            <a:avLst>
              <a:gd name="adj" fmla="val 7122"/>
            </a:avLst>
          </a:prstGeom>
          <a:ln w="19050">
            <a:solidFill>
              <a:srgbClr val="2A2F3A"/>
            </a:solidFill>
            <a:prstDash val="solid"/>
          </a:ln>
        </p:spPr>
      </p:sp>
      <p:sp>
        <p:nvSpPr>
          <p:cNvPr id="6" name="Text 4"/>
          <p:cNvSpPr/>
          <p:nvPr/>
        </p:nvSpPr>
        <p:spPr>
          <a:xfrm>
            <a:off x="1295400" y="4461495"/>
            <a:ext cx="9226585"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ARTIFICIAL INTELLIGENCE</a:t>
            </a:r>
            <a:endParaRPr lang="en-US" sz="1950" dirty="0"/>
          </a:p>
        </p:txBody>
      </p:sp>
      <p:sp>
        <p:nvSpPr>
          <p:cNvPr id="7" name="Shape 5"/>
          <p:cNvSpPr/>
          <p:nvPr/>
        </p:nvSpPr>
        <p:spPr>
          <a:xfrm>
            <a:off x="1295400" y="4923458"/>
            <a:ext cx="8387804" cy="2062163"/>
          </a:xfrm>
          <a:prstGeom prst="roundRect">
            <a:avLst>
              <a:gd name="adj" fmla="val 9238"/>
            </a:avLst>
          </a:prstGeom>
          <a:solidFill>
            <a:srgbClr val="FF6A00">
              <a:alpha val="4000"/>
            </a:srgbClr>
          </a:solidFill>
          <a:ln w="19050">
            <a:solidFill>
              <a:srgbClr val="B85100"/>
            </a:solidFill>
            <a:prstDash val="solid"/>
          </a:ln>
        </p:spPr>
      </p:sp>
      <p:sp>
        <p:nvSpPr>
          <p:cNvPr id="8" name="Text 6"/>
          <p:cNvSpPr/>
          <p:nvPr/>
        </p:nvSpPr>
        <p:spPr>
          <a:xfrm>
            <a:off x="1581150" y="5209208"/>
            <a:ext cx="85979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MACHINE LEARNING</a:t>
            </a:r>
            <a:endParaRPr lang="en-US" sz="1875" dirty="0"/>
          </a:p>
        </p:txBody>
      </p:sp>
      <p:sp>
        <p:nvSpPr>
          <p:cNvPr id="9" name="Shape 7"/>
          <p:cNvSpPr/>
          <p:nvPr/>
        </p:nvSpPr>
        <p:spPr>
          <a:xfrm>
            <a:off x="1581150" y="5642595"/>
            <a:ext cx="7816304" cy="1057275"/>
          </a:xfrm>
          <a:prstGeom prst="roundRect">
            <a:avLst>
              <a:gd name="adj" fmla="val 14414"/>
            </a:avLst>
          </a:prstGeom>
          <a:solidFill>
            <a:srgbClr val="FF6A00">
              <a:alpha val="10000"/>
            </a:srgbClr>
          </a:solidFill>
          <a:ln w="19050">
            <a:solidFill>
              <a:srgbClr val="FF6A00"/>
            </a:solidFill>
            <a:prstDash val="solid"/>
          </a:ln>
        </p:spPr>
      </p:sp>
      <p:sp>
        <p:nvSpPr>
          <p:cNvPr id="10" name="Text 8"/>
          <p:cNvSpPr/>
          <p:nvPr/>
        </p:nvSpPr>
        <p:spPr>
          <a:xfrm>
            <a:off x="4791894" y="5871195"/>
            <a:ext cx="1394743" cy="638175"/>
          </a:xfrm>
          <a:prstGeom prst="rect">
            <a:avLst/>
          </a:prstGeom>
          <a:noFill/>
          <a:ln/>
        </p:spPr>
        <p:txBody>
          <a:bodyPr wrap="square" lIns="25400" tIns="25400" rIns="25400" bIns="25400" rtlCol="0" anchor="t">
            <a:normAutofit/>
          </a:bodyPr>
          <a:lstStyle/>
          <a:p>
            <a:pPr algn="ctr" indent="0" marL="0">
              <a:buNone/>
            </a:pPr>
            <a:r>
              <a:rPr lang="en-US" sz="2025" b="1" dirty="0">
                <a:solidFill>
                  <a:srgbClr val="FF6A00"/>
                </a:solidFill>
                <a:latin typeface="Arial" pitchFamily="34" charset="0"/>
                <a:ea typeface="Arial" pitchFamily="34" charset="-122"/>
                <a:cs typeface="Arial" pitchFamily="34" charset="-120"/>
              </a:rPr>
              <a:t>DEEP LEARNING</a:t>
            </a:r>
            <a:endParaRPr lang="en-US" sz="2025" dirty="0"/>
          </a:p>
        </p:txBody>
      </p:sp>
      <p:sp>
        <p:nvSpPr>
          <p:cNvPr id="11" name="Shape 9"/>
          <p:cNvSpPr/>
          <p:nvPr/>
        </p:nvSpPr>
        <p:spPr>
          <a:xfrm>
            <a:off x="10369004" y="4513883"/>
            <a:ext cx="6966496" cy="2419350"/>
          </a:xfrm>
          <a:prstGeom prst="roundRect">
            <a:avLst>
              <a:gd name="adj" fmla="val 6299"/>
            </a:avLst>
          </a:prstGeom>
          <a:solidFill>
            <a:srgbClr val="FFFFFF">
              <a:alpha val="2000"/>
            </a:srgbClr>
          </a:solidFill>
          <a:ln w="9525">
            <a:solidFill>
              <a:srgbClr val="2A2F3A"/>
            </a:solidFill>
            <a:prstDash val="solid"/>
          </a:ln>
        </p:spPr>
      </p:sp>
      <p:sp>
        <p:nvSpPr>
          <p:cNvPr id="12" name="Text 10"/>
          <p:cNvSpPr/>
          <p:nvPr/>
        </p:nvSpPr>
        <p:spPr>
          <a:xfrm>
            <a:off x="10626179" y="4771058"/>
            <a:ext cx="709736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WHERE GENERATIVE AI FITS</a:t>
            </a:r>
            <a:endParaRPr lang="en-US" sz="1800" dirty="0"/>
          </a:p>
        </p:txBody>
      </p:sp>
      <p:sp>
        <p:nvSpPr>
          <p:cNvPr id="13" name="Text 11"/>
          <p:cNvSpPr/>
          <p:nvPr/>
        </p:nvSpPr>
        <p:spPr>
          <a:xfrm>
            <a:off x="10626179" y="5152058"/>
            <a:ext cx="6645710" cy="1562100"/>
          </a:xfrm>
          <a:prstGeom prst="rect">
            <a:avLst/>
          </a:prstGeom>
          <a:noFill/>
          <a:ln/>
        </p:spPr>
        <p:txBody>
          <a:bodyPr wrap="square" lIns="25400" tIns="25400" rIns="25400" bIns="25400" rtlCol="0" anchor="t">
            <a:normAutofit/>
          </a:bodyPr>
          <a:lstStyle/>
          <a:p>
            <a:pPr algn="l" indent="0" marL="0">
              <a:lnSpc>
                <a:spcPct val="137931"/>
              </a:lnSpc>
              <a:buNone/>
            </a:pPr>
            <a:r>
              <a:rPr lang="en-US" sz="1875" dirty="0">
                <a:solidFill>
                  <a:srgbClr val="DFE3EA"/>
                </a:solidFill>
                <a:latin typeface="Arial" pitchFamily="34" charset="0"/>
                <a:ea typeface="Arial" pitchFamily="34" charset="-122"/>
                <a:cs typeface="Arial" pitchFamily="34" charset="-120"/>
              </a:rPr>
              <a:t>Generative AI is not a fourth, separate layer. It is a set of deep-learning techniques — living inside the innermost box — trained specifically to produce new content rather than just classify or predict.</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1.2 HOW THE CONCEPTS RELATE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Machine Learning</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Machine learning is the branch of AI in which systems improve at a task by learning patterns from data, rather than being explicitly told the rules for every case.</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Spam classification, product recommendations, fraud detection, demand forecasting.</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WATCH FOR</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model is only as good as the data it learned from — a recurring theme through Domains 5 and 7.</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1.2 HOW THE CONCEPTS RELATE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Deep Learning</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Deep learning is a type of machine learning that uses many-layered artificial neural networks to find patterns in large amounts of data with minimal manual effort to hand-design what the model should look for.</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WHY IT MATTERS</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Deep learning is the technique underpinning almost all of today's generative AI.</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CONNECTS TO</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Foundation models and large language models — defined later in this module.</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1.2 HOW THE CONCEPTS RELATE</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Generative AI</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Generative AI refers to deep-learning systems trained to produce new content — text, images, audio, video or code — rather than simply classifying input or predicting a number.</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tool that drafts an email, generates an image from a description, or writes a block of code.</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DISTINCT FROM</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Predictive/analytical AI, which judges input rather than creating new content — covered in Objective 1.5.</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60209" y="4548188"/>
            <a:ext cx="2824341" cy="319088"/>
          </a:xfrm>
          <a:prstGeom prst="rect">
            <a:avLst/>
          </a:prstGeom>
          <a:noFill/>
          <a:ln/>
        </p:spPr>
        <p:txBody>
          <a:bodyPr wrap="square" lIns="25400" tIns="25400" rIns="25400" bIns="25400" rtlCol="0" anchor="t">
            <a:normAutofit/>
          </a:bodyPr>
          <a:lstStyle/>
          <a:p>
            <a:pPr algn="l" indent="0" marL="0">
              <a:buNone/>
            </a:pPr>
            <a:r>
              <a:rPr lang="en-US" sz="1875" spc="38" kern="0" dirty="0">
                <a:solidFill>
                  <a:srgbClr val="B8C0CF"/>
                </a:solidFill>
                <a:latin typeface="Arial" pitchFamily="34" charset="0"/>
                <a:ea typeface="Arial" pitchFamily="34" charset="-122"/>
                <a:cs typeface="Arial" pitchFamily="34" charset="-120"/>
              </a:rPr>
              <a:t>RECAP · OBJECTIVE 1.2</a:t>
            </a:r>
            <a:endParaRPr lang="en-US" sz="1875" dirty="0"/>
          </a:p>
        </p:txBody>
      </p:sp>
      <p:sp>
        <p:nvSpPr>
          <p:cNvPr id="4" name="Shape 2"/>
          <p:cNvSpPr/>
          <p:nvPr/>
        </p:nvSpPr>
        <p:spPr>
          <a:xfrm>
            <a:off x="3202632" y="5114925"/>
            <a:ext cx="3113708" cy="623888"/>
          </a:xfrm>
          <a:prstGeom prst="roundRect">
            <a:avLst>
              <a:gd name="adj" fmla="val 50000"/>
            </a:avLst>
          </a:prstGeom>
          <a:solidFill>
            <a:srgbClr val="FFFFFF">
              <a:alpha val="3000"/>
            </a:srgbClr>
          </a:solidFill>
          <a:ln w="9525">
            <a:solidFill>
              <a:srgbClr val="2A2F3A"/>
            </a:solidFill>
            <a:prstDash val="solid"/>
          </a:ln>
        </p:spPr>
      </p:sp>
      <p:sp>
        <p:nvSpPr>
          <p:cNvPr id="5" name="Text 3"/>
          <p:cNvSpPr/>
          <p:nvPr/>
        </p:nvSpPr>
        <p:spPr>
          <a:xfrm>
            <a:off x="3478857" y="5276850"/>
            <a:ext cx="2654669" cy="338137"/>
          </a:xfrm>
          <a:prstGeom prst="rect">
            <a:avLst/>
          </a:prstGeom>
          <a:noFill/>
          <a:ln/>
        </p:spPr>
        <p:txBody>
          <a:bodyPr wrap="square" lIns="25400" tIns="25400" rIns="25400" bIns="25400" rtlCol="0" anchor="t">
            <a:normAutofit/>
          </a:bodyPr>
          <a:lstStyle/>
          <a:p>
            <a:pPr algn="l" indent="0" marL="0">
              <a:buNone/>
            </a:pPr>
            <a:r>
              <a:rPr lang="en-US" sz="2025" b="1" dirty="0">
                <a:solidFill>
                  <a:srgbClr val="F5F7FB"/>
                </a:solidFill>
                <a:latin typeface="Arial" pitchFamily="34" charset="0"/>
                <a:ea typeface="Arial" pitchFamily="34" charset="-122"/>
                <a:cs typeface="Arial" pitchFamily="34" charset="-120"/>
              </a:rPr>
              <a:t>Artificial Intelligence</a:t>
            </a:r>
            <a:endParaRPr lang="en-US" sz="2025" dirty="0"/>
          </a:p>
        </p:txBody>
      </p:sp>
      <p:sp>
        <p:nvSpPr>
          <p:cNvPr id="6" name="Text 4"/>
          <p:cNvSpPr/>
          <p:nvPr/>
        </p:nvSpPr>
        <p:spPr>
          <a:xfrm>
            <a:off x="6449690" y="5281613"/>
            <a:ext cx="30256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F6A00"/>
                </a:solidFill>
                <a:latin typeface="Arial" pitchFamily="34" charset="0"/>
                <a:ea typeface="Arial" pitchFamily="34" charset="-122"/>
                <a:cs typeface="Arial" pitchFamily="34" charset="-120"/>
              </a:rPr>
              <a:t>→</a:t>
            </a:r>
            <a:endParaRPr lang="en-US" sz="1950" dirty="0"/>
          </a:p>
        </p:txBody>
      </p:sp>
      <p:sp>
        <p:nvSpPr>
          <p:cNvPr id="7" name="Shape 5"/>
          <p:cNvSpPr/>
          <p:nvPr/>
        </p:nvSpPr>
        <p:spPr>
          <a:xfrm>
            <a:off x="6809408" y="5114925"/>
            <a:ext cx="2739777" cy="623888"/>
          </a:xfrm>
          <a:prstGeom prst="roundRect">
            <a:avLst>
              <a:gd name="adj" fmla="val 50000"/>
            </a:avLst>
          </a:prstGeom>
          <a:solidFill>
            <a:srgbClr val="FFFFFF">
              <a:alpha val="3000"/>
            </a:srgbClr>
          </a:solidFill>
          <a:ln w="9525">
            <a:solidFill>
              <a:srgbClr val="2A2F3A"/>
            </a:solidFill>
            <a:prstDash val="solid"/>
          </a:ln>
        </p:spPr>
      </p:sp>
      <p:sp>
        <p:nvSpPr>
          <p:cNvPr id="8" name="Text 6"/>
          <p:cNvSpPr/>
          <p:nvPr/>
        </p:nvSpPr>
        <p:spPr>
          <a:xfrm>
            <a:off x="7085633" y="5276850"/>
            <a:ext cx="2269520" cy="338137"/>
          </a:xfrm>
          <a:prstGeom prst="rect">
            <a:avLst/>
          </a:prstGeom>
          <a:noFill/>
          <a:ln/>
        </p:spPr>
        <p:txBody>
          <a:bodyPr wrap="square" lIns="25400" tIns="25400" rIns="25400" bIns="25400" rtlCol="0" anchor="t">
            <a:normAutofit/>
          </a:bodyPr>
          <a:lstStyle/>
          <a:p>
            <a:pPr algn="l" indent="0" marL="0">
              <a:buNone/>
            </a:pPr>
            <a:r>
              <a:rPr lang="en-US" sz="2025" b="1" dirty="0">
                <a:solidFill>
                  <a:srgbClr val="F5F7FB"/>
                </a:solidFill>
                <a:latin typeface="Arial" pitchFamily="34" charset="0"/>
                <a:ea typeface="Arial" pitchFamily="34" charset="-122"/>
                <a:cs typeface="Arial" pitchFamily="34" charset="-120"/>
              </a:rPr>
              <a:t>Machine Learning</a:t>
            </a:r>
            <a:endParaRPr lang="en-US" sz="2025" dirty="0"/>
          </a:p>
        </p:txBody>
      </p:sp>
      <p:sp>
        <p:nvSpPr>
          <p:cNvPr id="9" name="Text 7"/>
          <p:cNvSpPr/>
          <p:nvPr/>
        </p:nvSpPr>
        <p:spPr>
          <a:xfrm>
            <a:off x="9682535" y="5281613"/>
            <a:ext cx="30256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F6A00"/>
                </a:solidFill>
                <a:latin typeface="Arial" pitchFamily="34" charset="0"/>
                <a:ea typeface="Arial" pitchFamily="34" charset="-122"/>
                <a:cs typeface="Arial" pitchFamily="34" charset="-120"/>
              </a:rPr>
              <a:t>→</a:t>
            </a:r>
            <a:endParaRPr lang="en-US" sz="1950" dirty="0"/>
          </a:p>
        </p:txBody>
      </p:sp>
      <p:sp>
        <p:nvSpPr>
          <p:cNvPr id="10" name="Shape 8"/>
          <p:cNvSpPr/>
          <p:nvPr/>
        </p:nvSpPr>
        <p:spPr>
          <a:xfrm>
            <a:off x="10042252" y="5114925"/>
            <a:ext cx="2333030" cy="623888"/>
          </a:xfrm>
          <a:prstGeom prst="roundRect">
            <a:avLst>
              <a:gd name="adj" fmla="val 50000"/>
            </a:avLst>
          </a:prstGeom>
          <a:solidFill>
            <a:srgbClr val="FFFFFF">
              <a:alpha val="3000"/>
            </a:srgbClr>
          </a:solidFill>
          <a:ln w="9525">
            <a:solidFill>
              <a:srgbClr val="2A2F3A"/>
            </a:solidFill>
            <a:prstDash val="solid"/>
          </a:ln>
        </p:spPr>
      </p:sp>
      <p:sp>
        <p:nvSpPr>
          <p:cNvPr id="11" name="Text 9"/>
          <p:cNvSpPr/>
          <p:nvPr/>
        </p:nvSpPr>
        <p:spPr>
          <a:xfrm>
            <a:off x="10318477" y="5276850"/>
            <a:ext cx="1856780" cy="338137"/>
          </a:xfrm>
          <a:prstGeom prst="rect">
            <a:avLst/>
          </a:prstGeom>
          <a:noFill/>
          <a:ln/>
        </p:spPr>
        <p:txBody>
          <a:bodyPr wrap="square" lIns="25400" tIns="25400" rIns="25400" bIns="25400" rtlCol="0" anchor="t">
            <a:normAutofit/>
          </a:bodyPr>
          <a:lstStyle/>
          <a:p>
            <a:pPr algn="l" indent="0" marL="0">
              <a:buNone/>
            </a:pPr>
            <a:r>
              <a:rPr lang="en-US" sz="2025" b="1" dirty="0">
                <a:solidFill>
                  <a:srgbClr val="F5F7FB"/>
                </a:solidFill>
                <a:latin typeface="Arial" pitchFamily="34" charset="0"/>
                <a:ea typeface="Arial" pitchFamily="34" charset="-122"/>
                <a:cs typeface="Arial" pitchFamily="34" charset="-120"/>
              </a:rPr>
              <a:t>Deep Learning</a:t>
            </a:r>
            <a:endParaRPr lang="en-US" sz="2025" dirty="0"/>
          </a:p>
        </p:txBody>
      </p:sp>
      <p:sp>
        <p:nvSpPr>
          <p:cNvPr id="12" name="Text 10"/>
          <p:cNvSpPr/>
          <p:nvPr/>
        </p:nvSpPr>
        <p:spPr>
          <a:xfrm>
            <a:off x="12508632" y="5281613"/>
            <a:ext cx="30256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FF6A00"/>
                </a:solidFill>
                <a:latin typeface="Arial" pitchFamily="34" charset="0"/>
                <a:ea typeface="Arial" pitchFamily="34" charset="-122"/>
                <a:cs typeface="Arial" pitchFamily="34" charset="-120"/>
              </a:rPr>
              <a:t>→</a:t>
            </a:r>
            <a:endParaRPr lang="en-US" sz="1950" dirty="0"/>
          </a:p>
        </p:txBody>
      </p:sp>
      <p:sp>
        <p:nvSpPr>
          <p:cNvPr id="13" name="Shape 11"/>
          <p:cNvSpPr/>
          <p:nvPr/>
        </p:nvSpPr>
        <p:spPr>
          <a:xfrm>
            <a:off x="12868349" y="5114925"/>
            <a:ext cx="2216944" cy="623888"/>
          </a:xfrm>
          <a:prstGeom prst="roundRect">
            <a:avLst>
              <a:gd name="adj" fmla="val 50000"/>
            </a:avLst>
          </a:prstGeom>
          <a:solidFill>
            <a:srgbClr val="FF6A00">
              <a:alpha val="10000"/>
            </a:srgbClr>
          </a:solidFill>
          <a:ln w="9525">
            <a:solidFill>
              <a:srgbClr val="B85100"/>
            </a:solidFill>
            <a:prstDash val="solid"/>
          </a:ln>
        </p:spPr>
      </p:sp>
      <p:sp>
        <p:nvSpPr>
          <p:cNvPr id="14" name="Text 12"/>
          <p:cNvSpPr/>
          <p:nvPr/>
        </p:nvSpPr>
        <p:spPr>
          <a:xfrm>
            <a:off x="13144574" y="5276850"/>
            <a:ext cx="1740694" cy="338137"/>
          </a:xfrm>
          <a:prstGeom prst="rect">
            <a:avLst/>
          </a:prstGeom>
          <a:noFill/>
          <a:ln/>
        </p:spPr>
        <p:txBody>
          <a:bodyPr wrap="square" lIns="25400" tIns="25400" rIns="25400" bIns="25400" rtlCol="0" anchor="t">
            <a:normAutofit/>
          </a:bodyPr>
          <a:lstStyle/>
          <a:p>
            <a:pPr algn="l" indent="0" marL="0">
              <a:buNone/>
            </a:pPr>
            <a:r>
              <a:rPr lang="en-US" sz="2025" b="1" dirty="0">
                <a:solidFill>
                  <a:srgbClr val="FF6A00"/>
                </a:solidFill>
                <a:latin typeface="Arial" pitchFamily="34" charset="0"/>
                <a:ea typeface="Arial" pitchFamily="34" charset="-122"/>
                <a:cs typeface="Arial" pitchFamily="34" charset="-120"/>
              </a:rPr>
              <a:t>Generative AI</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4993" y="4336703"/>
            <a:ext cx="5418013"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1.3 · SUB-OBJECTIVE 3 OF 6</a:t>
            </a:r>
            <a:endParaRPr lang="en-US" sz="1950" dirty="0"/>
          </a:p>
        </p:txBody>
      </p:sp>
      <p:sp>
        <p:nvSpPr>
          <p:cNvPr id="4" name="Text 2"/>
          <p:cNvSpPr/>
          <p:nvPr/>
        </p:nvSpPr>
        <p:spPr>
          <a:xfrm>
            <a:off x="6424106" y="4836765"/>
            <a:ext cx="5439787"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Core AI Vocabulary</a:t>
            </a:r>
            <a:endParaRPr lang="en-US" sz="4200" dirty="0"/>
          </a:p>
        </p:txBody>
      </p:sp>
      <p:sp>
        <p:nvSpPr>
          <p:cNvPr id="5" name="Text 3"/>
          <p:cNvSpPr/>
          <p:nvPr/>
        </p:nvSpPr>
        <p:spPr>
          <a:xfrm>
            <a:off x="5692077" y="5659710"/>
            <a:ext cx="6903772" cy="328613"/>
          </a:xfrm>
          <a:prstGeom prst="rect">
            <a:avLst/>
          </a:prstGeom>
          <a:noFill/>
          <a:ln/>
        </p:spPr>
        <p:txBody>
          <a:bodyPr wrap="square" lIns="25400" tIns="25400" rIns="25400" bIns="25400" rtlCol="0" anchor="t">
            <a:normAutofit/>
          </a:bodyPr>
          <a:lstStyle/>
          <a:p>
            <a:pPr algn="ctr" indent="0" marL="0">
              <a:buNone/>
            </a:pPr>
            <a:r>
              <a:rPr lang="en-US" sz="1950" dirty="0">
                <a:solidFill>
                  <a:srgbClr val="B8C0CF"/>
                </a:solidFill>
                <a:latin typeface="Arial" pitchFamily="34" charset="0"/>
                <a:ea typeface="Arial" pitchFamily="34" charset="-122"/>
                <a:cs typeface="Arial" pitchFamily="34" charset="-120"/>
              </a:rPr>
              <a:t>Nine terms used precisely throughout the rest of the course</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Model</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A model is the trained system that takes an input and produces an output — the saved result of the training process, reusable without retraining every time it is used.</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spam-detection model; a language model that drafts text.</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CONNECTS TO</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Module 2 explains how a model is actually built and used (training vs inference).</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Dataset</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A dataset is the collection of examples used to train or evaluate a model. Its size, quality and coverage directly shape what the model can reliably do.</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Millions of text documents used to train a large language model.</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WATCH FOR</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Gaps or bias in a dataset can carry through into the model's behaviour — see Domain 7.</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Parameters</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Parameters are the internal numerical values a model adjusts during training to capture patterns in its data. More parameters let a model represent more complex patterns, but do not automatically mean a better result.</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Models are sometimes described by parameter count, e.g. "a billion-parameter model".</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WATCH FOR</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Exam distractor: "more parameters always means a smarter, more general model" — false.</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Tokens</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Tokens are the small chunks of text — often pieces of a word — that a language model reads and generates one at a time. Both a prompt and its reply are measured in tokens.</a:t>
            </a:r>
            <a:endParaRPr lang="en-US" sz="2025" dirty="0"/>
          </a:p>
        </p:txBody>
      </p:sp>
      <p:sp>
        <p:nvSpPr>
          <p:cNvPr id="6" name="Shape 4"/>
          <p:cNvSpPr/>
          <p:nvPr/>
        </p:nvSpPr>
        <p:spPr>
          <a:xfrm>
            <a:off x="952500" y="8355806"/>
            <a:ext cx="8096250" cy="1207294"/>
          </a:xfrm>
          <a:prstGeom prst="roundRect">
            <a:avLst>
              <a:gd name="adj" fmla="val 12623"/>
            </a:avLst>
          </a:prstGeom>
          <a:solidFill>
            <a:srgbClr val="FFFFFF">
              <a:alpha val="2000"/>
            </a:srgbClr>
          </a:solidFill>
          <a:ln w="9525">
            <a:solidFill>
              <a:srgbClr val="2A2F3A"/>
            </a:solidFill>
            <a:prstDash val="solid"/>
          </a:ln>
        </p:spPr>
      </p:sp>
      <p:sp>
        <p:nvSpPr>
          <p:cNvPr id="7" name="Text 5"/>
          <p:cNvSpPr/>
          <p:nvPr/>
        </p:nvSpPr>
        <p:spPr>
          <a:xfrm>
            <a:off x="1190625" y="8593931"/>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955881"/>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The word "understanding" might be split into two or three tokens.</a:t>
            </a:r>
            <a:endParaRPr lang="en-US" sz="1875" dirty="0"/>
          </a:p>
        </p:txBody>
      </p:sp>
      <p:sp>
        <p:nvSpPr>
          <p:cNvPr id="9" name="Shape 7"/>
          <p:cNvSpPr/>
          <p:nvPr/>
        </p:nvSpPr>
        <p:spPr>
          <a:xfrm>
            <a:off x="9239250" y="8355806"/>
            <a:ext cx="8096250" cy="1207294"/>
          </a:xfrm>
          <a:prstGeom prst="roundRect">
            <a:avLst>
              <a:gd name="adj" fmla="val 12623"/>
            </a:avLst>
          </a:prstGeom>
          <a:solidFill>
            <a:srgbClr val="FFFFFF">
              <a:alpha val="2000"/>
            </a:srgbClr>
          </a:solidFill>
          <a:ln w="9525">
            <a:solidFill>
              <a:srgbClr val="2A2F3A"/>
            </a:solidFill>
            <a:prstDash val="solid"/>
          </a:ln>
        </p:spPr>
      </p:sp>
      <p:sp>
        <p:nvSpPr>
          <p:cNvPr id="10" name="Text 8"/>
          <p:cNvSpPr/>
          <p:nvPr/>
        </p:nvSpPr>
        <p:spPr>
          <a:xfrm>
            <a:off x="9477375" y="8593931"/>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CONNECTS TO</a:t>
            </a:r>
            <a:endParaRPr lang="en-US" sz="1800" dirty="0"/>
          </a:p>
        </p:txBody>
      </p:sp>
      <p:sp>
        <p:nvSpPr>
          <p:cNvPr id="11" name="Text 9"/>
          <p:cNvSpPr/>
          <p:nvPr/>
        </p:nvSpPr>
        <p:spPr>
          <a:xfrm>
            <a:off x="9477375" y="8955881"/>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Module 2 explains how token limits shape cost and response length.</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Context Window</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The context window is the maximum amount of text, measured in tokens, a model can take into account at once. Anything outside it — including earlier parts of a long conversation — is effectively invisible to the model.</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WATCH FOR</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conversation that outgrows the context window loses access to its earliest details.</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CONNECTS TO</a:t>
            </a:r>
            <a:endParaRPr lang="en-US" sz="1800" dirty="0"/>
          </a:p>
        </p:txBody>
      </p:sp>
      <p:sp>
        <p:nvSpPr>
          <p:cNvPr id="11" name="Text 9"/>
          <p:cNvSpPr/>
          <p:nvPr/>
        </p:nvSpPr>
        <p:spPr>
          <a:xfrm>
            <a:off x="947737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Module 4's prompting techniques work within this limit.</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Foundation Model</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A foundation model is a large, general-purpose model trained on broad data, which can then be applied to many different tasks — writing, coding, image generation and more — rather than being built for one narrow purpose.</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One model adapted for drafting, translating and answering questions.</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DISTINCT FROM</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General AI — being broad across many tasks is still narrow AI, covered in Objective 1.4.</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Large Language Model (LLM)</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A large language model is a foundation model trained specifically on text, able to understand and generate human language for tasks such as writing, summarising, answering questions and holding a conversation.</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The technology behind most everyday AI chat and writing assistants.</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CONNECTS TO</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Module 3 explores the wider landscape of generative AI tools built on LLMs.</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Multimodal AI</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Multimodal AI describes systems that can take in and/or produce more than one type of content — for example text and images together — rather than working with a single format only.</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tool that can describe an uploaded image, or generate an image from text.</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CONNECTS TO</a:t>
            </a:r>
            <a:endParaRPr lang="en-US" sz="1800" dirty="0"/>
          </a:p>
        </p:txBody>
      </p:sp>
      <p:sp>
        <p:nvSpPr>
          <p:cNvPr id="11" name="Text 9"/>
          <p:cNvSpPr/>
          <p:nvPr/>
        </p:nvSpPr>
        <p:spPr>
          <a:xfrm>
            <a:off x="947737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Module 3, Domain 3, covers multimodal AI as a tool category in depth.</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1.3 CORE AI VOCABULARY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Embeddings</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Embeddings represent meaning numerically: words, sentences or images are converted into lists of numbers positioned so that similar meanings sit close together — which is what lets a model compare and retrieve related content.</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WHY IT MATTERS</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Retrieval-augmented generation, covered in Module 3, depends on embeddings.</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11" name="Text 9"/>
          <p:cNvSpPr/>
          <p:nvPr/>
        </p:nvSpPr>
        <p:spPr>
          <a:xfrm>
            <a:off x="947737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Search that finds relevant results by meaning, not just matching keywords.</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133350" y="4236244"/>
            <a:ext cx="18021300" cy="319088"/>
          </a:xfrm>
          <a:prstGeom prst="rect">
            <a:avLst/>
          </a:prstGeom>
          <a:noFill/>
          <a:ln/>
        </p:spPr>
        <p:txBody>
          <a:bodyPr wrap="square" lIns="25400" tIns="25400" rIns="25400" bIns="25400" rtlCol="0" anchor="t">
            <a:normAutofit/>
          </a:bodyPr>
          <a:lstStyle/>
          <a:p>
            <a:pPr algn="ctr" indent="0" marL="0">
              <a:buNone/>
            </a:pPr>
            <a:r>
              <a:rPr lang="en-US" sz="1875" spc="38" kern="0" dirty="0">
                <a:solidFill>
                  <a:srgbClr val="B8C0CF"/>
                </a:solidFill>
                <a:latin typeface="Arial" pitchFamily="34" charset="0"/>
                <a:ea typeface="Arial" pitchFamily="34" charset="-122"/>
                <a:cs typeface="Arial" pitchFamily="34" charset="-120"/>
              </a:rPr>
              <a:t>RECAP · OBJECTIVE 1.3 · NINE TERMS, ONE SHARED VOCABULARY</a:t>
            </a:r>
            <a:endParaRPr lang="en-US" sz="1875" dirty="0"/>
          </a:p>
        </p:txBody>
      </p:sp>
      <p:sp>
        <p:nvSpPr>
          <p:cNvPr id="4" name="Shape 2"/>
          <p:cNvSpPr/>
          <p:nvPr/>
        </p:nvSpPr>
        <p:spPr>
          <a:xfrm>
            <a:off x="2951038" y="4764881"/>
            <a:ext cx="1192113" cy="576263"/>
          </a:xfrm>
          <a:prstGeom prst="roundRect">
            <a:avLst>
              <a:gd name="adj" fmla="val 50000"/>
            </a:avLst>
          </a:prstGeom>
          <a:solidFill>
            <a:srgbClr val="FFFFFF">
              <a:alpha val="3000"/>
            </a:srgbClr>
          </a:solidFill>
          <a:ln w="9525">
            <a:solidFill>
              <a:srgbClr val="2A2F3A"/>
            </a:solidFill>
            <a:prstDash val="solid"/>
          </a:ln>
        </p:spPr>
      </p:sp>
      <p:sp>
        <p:nvSpPr>
          <p:cNvPr id="5" name="Text 3"/>
          <p:cNvSpPr/>
          <p:nvPr/>
        </p:nvSpPr>
        <p:spPr>
          <a:xfrm>
            <a:off x="3189163" y="4907756"/>
            <a:ext cx="792063"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Model</a:t>
            </a:r>
            <a:endParaRPr lang="en-US" sz="1950" dirty="0"/>
          </a:p>
        </p:txBody>
      </p:sp>
      <p:sp>
        <p:nvSpPr>
          <p:cNvPr id="6" name="Shape 4"/>
          <p:cNvSpPr/>
          <p:nvPr/>
        </p:nvSpPr>
        <p:spPr>
          <a:xfrm>
            <a:off x="4276502" y="4764881"/>
            <a:ext cx="1381720" cy="576263"/>
          </a:xfrm>
          <a:prstGeom prst="roundRect">
            <a:avLst>
              <a:gd name="adj" fmla="val 50000"/>
            </a:avLst>
          </a:prstGeom>
          <a:solidFill>
            <a:srgbClr val="FFFFFF">
              <a:alpha val="3000"/>
            </a:srgbClr>
          </a:solidFill>
          <a:ln w="9525">
            <a:solidFill>
              <a:srgbClr val="2A2F3A"/>
            </a:solidFill>
            <a:prstDash val="solid"/>
          </a:ln>
        </p:spPr>
      </p:sp>
      <p:sp>
        <p:nvSpPr>
          <p:cNvPr id="7" name="Text 5"/>
          <p:cNvSpPr/>
          <p:nvPr/>
        </p:nvSpPr>
        <p:spPr>
          <a:xfrm>
            <a:off x="4514627" y="4907756"/>
            <a:ext cx="981670"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Dataset</a:t>
            </a:r>
            <a:endParaRPr lang="en-US" sz="1950" dirty="0"/>
          </a:p>
        </p:txBody>
      </p:sp>
      <p:sp>
        <p:nvSpPr>
          <p:cNvPr id="8" name="Shape 6"/>
          <p:cNvSpPr/>
          <p:nvPr/>
        </p:nvSpPr>
        <p:spPr>
          <a:xfrm>
            <a:off x="5791572" y="4764881"/>
            <a:ext cx="1804243" cy="576263"/>
          </a:xfrm>
          <a:prstGeom prst="roundRect">
            <a:avLst>
              <a:gd name="adj" fmla="val 50000"/>
            </a:avLst>
          </a:prstGeom>
          <a:solidFill>
            <a:srgbClr val="FFFFFF">
              <a:alpha val="3000"/>
            </a:srgbClr>
          </a:solidFill>
          <a:ln w="9525">
            <a:solidFill>
              <a:srgbClr val="2A2F3A"/>
            </a:solidFill>
            <a:prstDash val="solid"/>
          </a:ln>
        </p:spPr>
      </p:sp>
      <p:sp>
        <p:nvSpPr>
          <p:cNvPr id="9" name="Text 7"/>
          <p:cNvSpPr/>
          <p:nvPr/>
        </p:nvSpPr>
        <p:spPr>
          <a:xfrm>
            <a:off x="6029697" y="4907756"/>
            <a:ext cx="1404193"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Parameters</a:t>
            </a:r>
            <a:endParaRPr lang="en-US" sz="1950" dirty="0"/>
          </a:p>
        </p:txBody>
      </p:sp>
      <p:sp>
        <p:nvSpPr>
          <p:cNvPr id="10" name="Shape 8"/>
          <p:cNvSpPr/>
          <p:nvPr/>
        </p:nvSpPr>
        <p:spPr>
          <a:xfrm>
            <a:off x="7729165" y="4764881"/>
            <a:ext cx="1293242" cy="576263"/>
          </a:xfrm>
          <a:prstGeom prst="roundRect">
            <a:avLst>
              <a:gd name="adj" fmla="val 50000"/>
            </a:avLst>
          </a:prstGeom>
          <a:solidFill>
            <a:srgbClr val="FFFFFF">
              <a:alpha val="3000"/>
            </a:srgbClr>
          </a:solidFill>
          <a:ln w="9525">
            <a:solidFill>
              <a:srgbClr val="2A2F3A"/>
            </a:solidFill>
            <a:prstDash val="solid"/>
          </a:ln>
        </p:spPr>
      </p:sp>
      <p:sp>
        <p:nvSpPr>
          <p:cNvPr id="11" name="Text 9"/>
          <p:cNvSpPr/>
          <p:nvPr/>
        </p:nvSpPr>
        <p:spPr>
          <a:xfrm>
            <a:off x="7967290" y="4907756"/>
            <a:ext cx="893192"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Tokens</a:t>
            </a:r>
            <a:endParaRPr lang="en-US" sz="1950" dirty="0"/>
          </a:p>
        </p:txBody>
      </p:sp>
      <p:sp>
        <p:nvSpPr>
          <p:cNvPr id="12" name="Shape 10"/>
          <p:cNvSpPr/>
          <p:nvPr/>
        </p:nvSpPr>
        <p:spPr>
          <a:xfrm>
            <a:off x="9155757" y="4764881"/>
            <a:ext cx="2395538" cy="576263"/>
          </a:xfrm>
          <a:prstGeom prst="roundRect">
            <a:avLst>
              <a:gd name="adj" fmla="val 50000"/>
            </a:avLst>
          </a:prstGeom>
          <a:solidFill>
            <a:srgbClr val="FFFFFF">
              <a:alpha val="3000"/>
            </a:srgbClr>
          </a:solidFill>
          <a:ln w="9525">
            <a:solidFill>
              <a:srgbClr val="2A2F3A"/>
            </a:solidFill>
            <a:prstDash val="solid"/>
          </a:ln>
        </p:spPr>
      </p:sp>
      <p:sp>
        <p:nvSpPr>
          <p:cNvPr id="13" name="Text 11"/>
          <p:cNvSpPr/>
          <p:nvPr/>
        </p:nvSpPr>
        <p:spPr>
          <a:xfrm>
            <a:off x="9393882" y="4907756"/>
            <a:ext cx="1995487"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Context Window</a:t>
            </a:r>
            <a:endParaRPr lang="en-US" sz="1950" dirty="0"/>
          </a:p>
        </p:txBody>
      </p:sp>
      <p:sp>
        <p:nvSpPr>
          <p:cNvPr id="14" name="Shape 12"/>
          <p:cNvSpPr/>
          <p:nvPr/>
        </p:nvSpPr>
        <p:spPr>
          <a:xfrm>
            <a:off x="11684645" y="4764881"/>
            <a:ext cx="2550914" cy="576263"/>
          </a:xfrm>
          <a:prstGeom prst="roundRect">
            <a:avLst>
              <a:gd name="adj" fmla="val 50000"/>
            </a:avLst>
          </a:prstGeom>
          <a:solidFill>
            <a:srgbClr val="FFFFFF">
              <a:alpha val="3000"/>
            </a:srgbClr>
          </a:solidFill>
          <a:ln w="9525">
            <a:solidFill>
              <a:srgbClr val="2A2F3A"/>
            </a:solidFill>
            <a:prstDash val="solid"/>
          </a:ln>
        </p:spPr>
      </p:sp>
      <p:sp>
        <p:nvSpPr>
          <p:cNvPr id="15" name="Text 13"/>
          <p:cNvSpPr/>
          <p:nvPr/>
        </p:nvSpPr>
        <p:spPr>
          <a:xfrm>
            <a:off x="11922770" y="4907756"/>
            <a:ext cx="2151191"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Foundation Model</a:t>
            </a:r>
            <a:endParaRPr lang="en-US" sz="1950" dirty="0"/>
          </a:p>
        </p:txBody>
      </p:sp>
      <p:sp>
        <p:nvSpPr>
          <p:cNvPr id="16" name="Shape 14"/>
          <p:cNvSpPr/>
          <p:nvPr/>
        </p:nvSpPr>
        <p:spPr>
          <a:xfrm>
            <a:off x="14368909" y="4764881"/>
            <a:ext cx="968053" cy="576263"/>
          </a:xfrm>
          <a:prstGeom prst="roundRect">
            <a:avLst>
              <a:gd name="adj" fmla="val 50000"/>
            </a:avLst>
          </a:prstGeom>
          <a:solidFill>
            <a:srgbClr val="FFFFFF">
              <a:alpha val="3000"/>
            </a:srgbClr>
          </a:solidFill>
          <a:ln w="9525">
            <a:solidFill>
              <a:srgbClr val="2A2F3A"/>
            </a:solidFill>
            <a:prstDash val="solid"/>
          </a:ln>
        </p:spPr>
      </p:sp>
      <p:sp>
        <p:nvSpPr>
          <p:cNvPr id="17" name="Text 15"/>
          <p:cNvSpPr/>
          <p:nvPr/>
        </p:nvSpPr>
        <p:spPr>
          <a:xfrm>
            <a:off x="14607034" y="4907756"/>
            <a:ext cx="568003"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LLM</a:t>
            </a:r>
            <a:endParaRPr lang="en-US" sz="1950" dirty="0"/>
          </a:p>
        </p:txBody>
      </p:sp>
      <p:sp>
        <p:nvSpPr>
          <p:cNvPr id="18" name="Shape 16"/>
          <p:cNvSpPr/>
          <p:nvPr/>
        </p:nvSpPr>
        <p:spPr>
          <a:xfrm>
            <a:off x="7083549" y="5474494"/>
            <a:ext cx="2066181" cy="576263"/>
          </a:xfrm>
          <a:prstGeom prst="roundRect">
            <a:avLst>
              <a:gd name="adj" fmla="val 50000"/>
            </a:avLst>
          </a:prstGeom>
          <a:solidFill>
            <a:srgbClr val="FFFFFF">
              <a:alpha val="3000"/>
            </a:srgbClr>
          </a:solidFill>
          <a:ln w="9525">
            <a:solidFill>
              <a:srgbClr val="2A2F3A"/>
            </a:solidFill>
            <a:prstDash val="solid"/>
          </a:ln>
        </p:spPr>
      </p:sp>
      <p:sp>
        <p:nvSpPr>
          <p:cNvPr id="19" name="Text 17"/>
          <p:cNvSpPr/>
          <p:nvPr/>
        </p:nvSpPr>
        <p:spPr>
          <a:xfrm>
            <a:off x="7321674" y="5617369"/>
            <a:ext cx="1666131"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Multimodal AI</a:t>
            </a:r>
            <a:endParaRPr lang="en-US" sz="1950" dirty="0"/>
          </a:p>
        </p:txBody>
      </p:sp>
      <p:sp>
        <p:nvSpPr>
          <p:cNvPr id="20" name="Shape 18"/>
          <p:cNvSpPr/>
          <p:nvPr/>
        </p:nvSpPr>
        <p:spPr>
          <a:xfrm>
            <a:off x="9283080" y="5474494"/>
            <a:ext cx="1921297" cy="576263"/>
          </a:xfrm>
          <a:prstGeom prst="roundRect">
            <a:avLst>
              <a:gd name="adj" fmla="val 50000"/>
            </a:avLst>
          </a:prstGeom>
          <a:solidFill>
            <a:srgbClr val="FF6A00">
              <a:alpha val="10000"/>
            </a:srgbClr>
          </a:solidFill>
          <a:ln w="9525">
            <a:solidFill>
              <a:srgbClr val="B85100"/>
            </a:solidFill>
            <a:prstDash val="solid"/>
          </a:ln>
        </p:spPr>
      </p:sp>
      <p:sp>
        <p:nvSpPr>
          <p:cNvPr id="21" name="Text 19"/>
          <p:cNvSpPr/>
          <p:nvPr/>
        </p:nvSpPr>
        <p:spPr>
          <a:xfrm>
            <a:off x="9521205" y="5617369"/>
            <a:ext cx="1521247"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F6A00"/>
                </a:solidFill>
                <a:latin typeface="Arial" pitchFamily="34" charset="0"/>
                <a:ea typeface="Arial" pitchFamily="34" charset="-122"/>
                <a:cs typeface="Arial" pitchFamily="34" charset="-120"/>
              </a:rPr>
              <a:t>Embeddings</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26480" y="4586734"/>
            <a:ext cx="5435039"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1.4 · SUB-OBJECTIVE 4 OF 6</a:t>
            </a:r>
            <a:endParaRPr lang="en-US" sz="1950" dirty="0"/>
          </a:p>
        </p:txBody>
      </p:sp>
      <p:sp>
        <p:nvSpPr>
          <p:cNvPr id="4" name="Text 2"/>
          <p:cNvSpPr/>
          <p:nvPr/>
        </p:nvSpPr>
        <p:spPr>
          <a:xfrm>
            <a:off x="5828362" y="5086796"/>
            <a:ext cx="6631275"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Narrow AI vs General AI</a:t>
            </a:r>
            <a:endParaRPr lang="en-US" sz="4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1.4 NARROW AI VS GENERAL AI</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Narrow (Task-Specific) AI</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Narrow AI — sometimes called "weak AI" — refers to systems designed and trained to perform one task, or a small family of related tasks, well. Every AI system in use today, including the most advanced generative AI tools, is narrow AI.</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translation tool, a chess engine, a large language model that writes fluent text.</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WHY IT MATTERS</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Fluent output can look "generally intelligent" without the system actually being general AI.</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1.4 NARROW AI VS GENERAL AI</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The Concept Of General AI</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General AI — sometimes called artificial general intelligence (AGI) — is the hypothetical concept of a system with human-like intelligence across any task, able to reason, learn and adapt as broadly as a person. It does not exist today.</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WATCH FOR</a:t>
            </a:r>
            <a:endParaRPr lang="en-US" sz="1800" dirty="0"/>
          </a:p>
        </p:txBody>
      </p:sp>
      <p:sp>
        <p:nvSpPr>
          <p:cNvPr id="8" name="Text 6"/>
          <p:cNvSpPr/>
          <p:nvPr/>
        </p:nvSpPr>
        <p:spPr>
          <a:xfrm>
            <a:off x="119062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Media and marketing language sometimes blurs this line — a well-known exam distractor pattern.</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DISTINCT FROM</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 broad, general-purpose foundation model — still narrow AI, however many tasks it covers.</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1.4 NARROW AI VS GENERAL AI</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Critical Distinction</a:t>
            </a:r>
            <a:endParaRPr lang="en-US" sz="3150" dirty="0"/>
          </a:p>
        </p:txBody>
      </p:sp>
      <p:sp>
        <p:nvSpPr>
          <p:cNvPr id="5" name="Shape 3"/>
          <p:cNvSpPr/>
          <p:nvPr/>
        </p:nvSpPr>
        <p:spPr>
          <a:xfrm>
            <a:off x="952500" y="1922115"/>
            <a:ext cx="2551212" cy="514350"/>
          </a:xfrm>
          <a:prstGeom prst="rect">
            <a:avLst/>
          </a:prstGeom>
          <a:solidFill>
            <a:srgbClr val="FF6A00">
              <a:alpha val="18000"/>
            </a:srgbClr>
          </a:solidFill>
          <a:ln/>
        </p:spPr>
      </p:sp>
      <p:sp>
        <p:nvSpPr>
          <p:cNvPr id="6" name="Shape 4"/>
          <p:cNvSpPr/>
          <p:nvPr/>
        </p:nvSpPr>
        <p:spPr>
          <a:xfrm>
            <a:off x="952500" y="2426940"/>
            <a:ext cx="2551212" cy="9525"/>
          </a:xfrm>
          <a:prstGeom prst="rect">
            <a:avLst/>
          </a:prstGeom>
          <a:solidFill>
            <a:srgbClr val="B85100"/>
          </a:solidFill>
          <a:ln/>
        </p:spPr>
      </p:sp>
      <p:sp>
        <p:nvSpPr>
          <p:cNvPr id="7" name="Shape 5"/>
          <p:cNvSpPr/>
          <p:nvPr/>
        </p:nvSpPr>
        <p:spPr>
          <a:xfrm>
            <a:off x="3503712" y="1922115"/>
            <a:ext cx="8763298" cy="514350"/>
          </a:xfrm>
          <a:prstGeom prst="rect">
            <a:avLst/>
          </a:prstGeom>
          <a:solidFill>
            <a:srgbClr val="FF6A00">
              <a:alpha val="18000"/>
            </a:srgbClr>
          </a:solidFill>
          <a:ln/>
        </p:spPr>
      </p:sp>
      <p:sp>
        <p:nvSpPr>
          <p:cNvPr id="8" name="Shape 6"/>
          <p:cNvSpPr/>
          <p:nvPr/>
        </p:nvSpPr>
        <p:spPr>
          <a:xfrm>
            <a:off x="3503712" y="2426940"/>
            <a:ext cx="8763298" cy="9525"/>
          </a:xfrm>
          <a:prstGeom prst="rect">
            <a:avLst/>
          </a:prstGeom>
          <a:solidFill>
            <a:srgbClr val="B85100"/>
          </a:solidFill>
          <a:ln/>
        </p:spPr>
      </p:sp>
      <p:sp>
        <p:nvSpPr>
          <p:cNvPr id="9" name="Text 7"/>
          <p:cNvSpPr/>
          <p:nvPr/>
        </p:nvSpPr>
        <p:spPr>
          <a:xfrm>
            <a:off x="3656112" y="2036415"/>
            <a:ext cx="8721397"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Narrow AI</a:t>
            </a:r>
            <a:endParaRPr lang="en-US" sz="1875" dirty="0"/>
          </a:p>
        </p:txBody>
      </p:sp>
      <p:sp>
        <p:nvSpPr>
          <p:cNvPr id="10" name="Shape 8"/>
          <p:cNvSpPr/>
          <p:nvPr/>
        </p:nvSpPr>
        <p:spPr>
          <a:xfrm>
            <a:off x="12267009" y="1922115"/>
            <a:ext cx="5068491" cy="514350"/>
          </a:xfrm>
          <a:prstGeom prst="rect">
            <a:avLst/>
          </a:prstGeom>
          <a:solidFill>
            <a:srgbClr val="FF6A00">
              <a:alpha val="18000"/>
            </a:srgbClr>
          </a:solidFill>
          <a:ln/>
        </p:spPr>
      </p:sp>
      <p:sp>
        <p:nvSpPr>
          <p:cNvPr id="11" name="Shape 9"/>
          <p:cNvSpPr/>
          <p:nvPr/>
        </p:nvSpPr>
        <p:spPr>
          <a:xfrm>
            <a:off x="12267009" y="2426940"/>
            <a:ext cx="5068491" cy="9525"/>
          </a:xfrm>
          <a:prstGeom prst="rect">
            <a:avLst/>
          </a:prstGeom>
          <a:solidFill>
            <a:srgbClr val="B85100"/>
          </a:solidFill>
          <a:ln/>
        </p:spPr>
      </p:sp>
      <p:sp>
        <p:nvSpPr>
          <p:cNvPr id="12" name="Text 10"/>
          <p:cNvSpPr/>
          <p:nvPr/>
        </p:nvSpPr>
        <p:spPr>
          <a:xfrm>
            <a:off x="12419409" y="2036415"/>
            <a:ext cx="4915745"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General AI (AGI)</a:t>
            </a:r>
            <a:endParaRPr lang="en-US" sz="1875" dirty="0"/>
          </a:p>
        </p:txBody>
      </p:sp>
      <p:sp>
        <p:nvSpPr>
          <p:cNvPr id="13" name="Text 11"/>
          <p:cNvSpPr/>
          <p:nvPr/>
        </p:nvSpPr>
        <p:spPr>
          <a:xfrm>
            <a:off x="1104900" y="2569815"/>
            <a:ext cx="2322948"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Exists today?</a:t>
            </a:r>
            <a:endParaRPr lang="en-US" sz="1875" dirty="0"/>
          </a:p>
        </p:txBody>
      </p:sp>
      <p:sp>
        <p:nvSpPr>
          <p:cNvPr id="14" name="Text 12"/>
          <p:cNvSpPr/>
          <p:nvPr/>
        </p:nvSpPr>
        <p:spPr>
          <a:xfrm>
            <a:off x="3656112" y="2569815"/>
            <a:ext cx="8721397"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Yes — every AI system in use</a:t>
            </a:r>
            <a:endParaRPr lang="en-US" sz="1875" dirty="0"/>
          </a:p>
        </p:txBody>
      </p:sp>
      <p:sp>
        <p:nvSpPr>
          <p:cNvPr id="15" name="Text 13"/>
          <p:cNvSpPr/>
          <p:nvPr/>
        </p:nvSpPr>
        <p:spPr>
          <a:xfrm>
            <a:off x="12419409" y="2569815"/>
            <a:ext cx="4915745"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No — hypothetical only</a:t>
            </a:r>
            <a:endParaRPr lang="en-US" sz="1875" dirty="0"/>
          </a:p>
        </p:txBody>
      </p:sp>
      <p:sp>
        <p:nvSpPr>
          <p:cNvPr id="16" name="Shape 14"/>
          <p:cNvSpPr/>
          <p:nvPr/>
        </p:nvSpPr>
        <p:spPr>
          <a:xfrm>
            <a:off x="952500" y="2988915"/>
            <a:ext cx="16383000" cy="547688"/>
          </a:xfrm>
          <a:prstGeom prst="rect">
            <a:avLst/>
          </a:prstGeom>
          <a:solidFill>
            <a:srgbClr val="FFFFFF">
              <a:alpha val="2000"/>
            </a:srgbClr>
          </a:solidFill>
          <a:ln/>
        </p:spPr>
      </p:sp>
      <p:sp>
        <p:nvSpPr>
          <p:cNvPr id="17" name="Text 15"/>
          <p:cNvSpPr/>
          <p:nvPr/>
        </p:nvSpPr>
        <p:spPr>
          <a:xfrm>
            <a:off x="1104900" y="3122265"/>
            <a:ext cx="2322948"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Scope</a:t>
            </a:r>
            <a:endParaRPr lang="en-US" sz="1875" dirty="0"/>
          </a:p>
        </p:txBody>
      </p:sp>
      <p:sp>
        <p:nvSpPr>
          <p:cNvPr id="18" name="Text 16"/>
          <p:cNvSpPr/>
          <p:nvPr/>
        </p:nvSpPr>
        <p:spPr>
          <a:xfrm>
            <a:off x="3656112" y="3122265"/>
            <a:ext cx="8721397"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One task or a related family of tasks</a:t>
            </a:r>
            <a:endParaRPr lang="en-US" sz="1875" dirty="0"/>
          </a:p>
        </p:txBody>
      </p:sp>
      <p:sp>
        <p:nvSpPr>
          <p:cNvPr id="19" name="Text 17"/>
          <p:cNvSpPr/>
          <p:nvPr/>
        </p:nvSpPr>
        <p:spPr>
          <a:xfrm>
            <a:off x="12419409" y="3122265"/>
            <a:ext cx="4915745"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Any task, human-like breadth</a:t>
            </a:r>
            <a:endParaRPr lang="en-US" sz="1875" dirty="0"/>
          </a:p>
        </p:txBody>
      </p:sp>
      <p:sp>
        <p:nvSpPr>
          <p:cNvPr id="20" name="Text 18"/>
          <p:cNvSpPr/>
          <p:nvPr/>
        </p:nvSpPr>
        <p:spPr>
          <a:xfrm>
            <a:off x="1104900" y="3669953"/>
            <a:ext cx="2322948"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Example</a:t>
            </a:r>
            <a:endParaRPr lang="en-US" sz="1875" dirty="0"/>
          </a:p>
        </p:txBody>
      </p:sp>
      <p:sp>
        <p:nvSpPr>
          <p:cNvPr id="21" name="Text 19"/>
          <p:cNvSpPr/>
          <p:nvPr/>
        </p:nvSpPr>
        <p:spPr>
          <a:xfrm>
            <a:off x="3656112" y="3669953"/>
            <a:ext cx="8721397"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broad foundation model that writes, codes and translates</a:t>
            </a:r>
            <a:endParaRPr lang="en-US" sz="1875" dirty="0"/>
          </a:p>
        </p:txBody>
      </p:sp>
      <p:sp>
        <p:nvSpPr>
          <p:cNvPr id="22" name="Text 20"/>
          <p:cNvSpPr/>
          <p:nvPr/>
        </p:nvSpPr>
        <p:spPr>
          <a:xfrm>
            <a:off x="12419409" y="3669953"/>
            <a:ext cx="4915745"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None — a concept, not a product</a:t>
            </a:r>
            <a:endParaRPr lang="en-US" sz="18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68701"/>
            <a:ext cx="38100" cy="1549598"/>
          </a:xfrm>
          <a:prstGeom prst="rect">
            <a:avLst/>
          </a:prstGeom>
          <a:solidFill>
            <a:srgbClr val="FF6A00"/>
          </a:solidFill>
          <a:ln/>
        </p:spPr>
      </p:sp>
      <p:sp>
        <p:nvSpPr>
          <p:cNvPr id="4" name="Text 2"/>
          <p:cNvSpPr/>
          <p:nvPr/>
        </p:nvSpPr>
        <p:spPr>
          <a:xfrm>
            <a:off x="1333500" y="4444901"/>
            <a:ext cx="13735050"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b="1" dirty="0">
                <a:solidFill>
                  <a:srgbClr val="F5F7FB"/>
                </a:solidFill>
                <a:latin typeface="Arial" pitchFamily="34" charset="0"/>
                <a:ea typeface="Arial" pitchFamily="34" charset="-122"/>
                <a:cs typeface="Arial" pitchFamily="34" charset="-120"/>
              </a:rPr>
              <a:t>"Every AI system available today, however capable, is narrow AI aimed at a defined task. General AI remains a concept, not a product."</a:t>
            </a:r>
            <a:endParaRPr lang="en-US" sz="2550" dirty="0"/>
          </a:p>
        </p:txBody>
      </p:sp>
      <p:sp>
        <p:nvSpPr>
          <p:cNvPr id="5" name="Text 3"/>
          <p:cNvSpPr/>
          <p:nvPr/>
        </p:nvSpPr>
        <p:spPr>
          <a:xfrm>
            <a:off x="1333500" y="5561112"/>
            <a:ext cx="17602200" cy="319088"/>
          </a:xfrm>
          <a:prstGeom prst="rect">
            <a:avLst/>
          </a:prstGeom>
          <a:noFill/>
          <a:ln/>
        </p:spPr>
        <p:txBody>
          <a:bodyPr wrap="square" lIns="25400" tIns="25400" rIns="25400" bIns="25400" rtlCol="0" anchor="t">
            <a:normAutofit/>
          </a:bodyPr>
          <a:lstStyle/>
          <a:p>
            <a:pPr algn="l" indent="0" marL="0">
              <a:buNone/>
            </a:pPr>
            <a:r>
              <a:rPr lang="en-US" sz="1875" spc="38" kern="0" dirty="0">
                <a:solidFill>
                  <a:srgbClr val="B8C0CF"/>
                </a:solidFill>
                <a:latin typeface="Arial" pitchFamily="34" charset="0"/>
                <a:ea typeface="Arial" pitchFamily="34" charset="-122"/>
                <a:cs typeface="Arial" pitchFamily="34" charset="-120"/>
              </a:rPr>
              <a:t>RECAP · OBJECTIVE 1.4</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5730" y="4586734"/>
            <a:ext cx="5416540"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1.5 · SUB-OBJECTIVE 5 OF 6</a:t>
            </a:r>
            <a:endParaRPr lang="en-US" sz="1950" dirty="0"/>
          </a:p>
        </p:txBody>
      </p:sp>
      <p:sp>
        <p:nvSpPr>
          <p:cNvPr id="4" name="Text 2"/>
          <p:cNvSpPr/>
          <p:nvPr/>
        </p:nvSpPr>
        <p:spPr>
          <a:xfrm>
            <a:off x="3397341" y="5086796"/>
            <a:ext cx="11493245"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Generative AI vs Traditional Predictive AI</a:t>
            </a:r>
            <a:endParaRPr lang="en-US" sz="4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1.5 GENERATIVE VS PREDICTIVE AI</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Predictive / Analytical AI</a:t>
            </a:r>
            <a:endParaRPr lang="en-US" sz="3150" dirty="0"/>
          </a:p>
        </p:txBody>
      </p:sp>
      <p:sp>
        <p:nvSpPr>
          <p:cNvPr id="5" name="Text 3"/>
          <p:cNvSpPr/>
          <p:nvPr/>
        </p:nvSpPr>
        <p:spPr>
          <a:xfrm>
            <a:off x="952500" y="1845915"/>
            <a:ext cx="11772900" cy="1272406"/>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Predictive or analytical AI is trained to analyse existing data and output a classification, score or prediction — for example a probability, a category, or a forecasted number. Its output is a judgement about the input, not new content.</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Credit-risk scoring, spam classification, demand forecasting.</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DISTINCT FROM</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Generative AI, which creates new content rather than judging existing input.</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1.5 GENERATIVE VS PREDICTIVE AI</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Generative AI, By Contrast</a:t>
            </a:r>
            <a:endParaRPr lang="en-US" sz="3150" dirty="0"/>
          </a:p>
        </p:txBody>
      </p:sp>
      <p:sp>
        <p:nvSpPr>
          <p:cNvPr id="5" name="Text 3"/>
          <p:cNvSpPr/>
          <p:nvPr/>
        </p:nvSpPr>
        <p:spPr>
          <a:xfrm>
            <a:off x="952500" y="1845915"/>
            <a:ext cx="1177290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Generative AI produces new content that did not exist before — a paragraph, an image, a block of code — by predicting plausible output based on patterns learned from training data.</a:t>
            </a:r>
            <a:endParaRPr lang="en-US" sz="2025" dirty="0"/>
          </a:p>
        </p:txBody>
      </p:sp>
      <p:sp>
        <p:nvSpPr>
          <p:cNvPr id="6" name="Shape 4"/>
          <p:cNvSpPr/>
          <p:nvPr/>
        </p:nvSpPr>
        <p:spPr>
          <a:xfrm>
            <a:off x="95250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7" name="Text 5"/>
          <p:cNvSpPr/>
          <p:nvPr/>
        </p:nvSpPr>
        <p:spPr>
          <a:xfrm>
            <a:off x="119062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586788"/>
            <a:ext cx="838200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Drafting a report, generating an illustration, writing a code snippet.</a:t>
            </a:r>
            <a:endParaRPr lang="en-US" sz="1875" dirty="0"/>
          </a:p>
        </p:txBody>
      </p:sp>
      <p:sp>
        <p:nvSpPr>
          <p:cNvPr id="9" name="Shape 7"/>
          <p:cNvSpPr/>
          <p:nvPr/>
        </p:nvSpPr>
        <p:spPr>
          <a:xfrm>
            <a:off x="9239250" y="7986713"/>
            <a:ext cx="8096250" cy="1576388"/>
          </a:xfrm>
          <a:prstGeom prst="roundRect">
            <a:avLst>
              <a:gd name="adj" fmla="val 9668"/>
            </a:avLst>
          </a:prstGeom>
          <a:solidFill>
            <a:srgbClr val="FFFFFF">
              <a:alpha val="2000"/>
            </a:srgbClr>
          </a:solidFill>
          <a:ln w="9525">
            <a:solidFill>
              <a:srgbClr val="2A2F3A"/>
            </a:solidFill>
            <a:prstDash val="solid"/>
          </a:ln>
        </p:spPr>
      </p:sp>
      <p:sp>
        <p:nvSpPr>
          <p:cNvPr id="10" name="Text 8"/>
          <p:cNvSpPr/>
          <p:nvPr/>
        </p:nvSpPr>
        <p:spPr>
          <a:xfrm>
            <a:off x="9477375" y="8224837"/>
            <a:ext cx="8382000" cy="304800"/>
          </a:xfrm>
          <a:prstGeom prst="rect">
            <a:avLst/>
          </a:prstGeom>
          <a:noFill/>
          <a:ln/>
        </p:spPr>
        <p:txBody>
          <a:bodyPr wrap="square" lIns="25400" tIns="25400" rIns="25400" bIns="25400" rtlCol="0" anchor="t">
            <a:normAutofit/>
          </a:bodyPr>
          <a:lstStyle/>
          <a:p>
            <a:pPr algn="l" indent="0" marL="0">
              <a:buNone/>
            </a:pPr>
            <a:r>
              <a:rPr lang="en-US" sz="1800" b="1" spc="45" kern="0" dirty="0">
                <a:solidFill>
                  <a:srgbClr val="FF6A00"/>
                </a:solidFill>
                <a:latin typeface="Arial" pitchFamily="34" charset="0"/>
                <a:ea typeface="Arial" pitchFamily="34" charset="-122"/>
                <a:cs typeface="Arial" pitchFamily="34" charset="-120"/>
              </a:rPr>
              <a:t>WATCH FOR</a:t>
            </a:r>
            <a:endParaRPr lang="en-US" sz="1800" dirty="0"/>
          </a:p>
        </p:txBody>
      </p:sp>
      <p:sp>
        <p:nvSpPr>
          <p:cNvPr id="11" name="Text 9"/>
          <p:cNvSpPr/>
          <p:nvPr/>
        </p:nvSpPr>
        <p:spPr>
          <a:xfrm>
            <a:off x="9477375" y="8586788"/>
            <a:ext cx="784860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Content is generated, not retrieved verbatim from a source — the root cause of hallucination, covered in Module 6.</a:t>
            </a:r>
            <a:endParaRPr lang="en-US" sz="18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1.5 GENERATIVE VS PREDICTIVE AI</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Predictive AI vs Generative AI</a:t>
            </a:r>
            <a:endParaRPr lang="en-US" sz="3150" dirty="0"/>
          </a:p>
        </p:txBody>
      </p:sp>
      <p:sp>
        <p:nvSpPr>
          <p:cNvPr id="5" name="Shape 3"/>
          <p:cNvSpPr/>
          <p:nvPr/>
        </p:nvSpPr>
        <p:spPr>
          <a:xfrm>
            <a:off x="952500" y="1922115"/>
            <a:ext cx="7762875" cy="7640985"/>
          </a:xfrm>
          <a:custGeom>
            <a:avLst/>
            <a:gdLst/>
            <a:ahLst/>
            <a:cxnLst/>
            <a:rect l="l" t="t" r="r" b="b"/>
            <a:pathLst>
              <a:path w="7762875" h="7640985">
                <a:moveTo>
                  <a:pt x="152400" y="0"/>
                </a:moveTo>
                <a:lnTo>
                  <a:pt x="7762875" y="0"/>
                </a:lnTo>
                <a:lnTo>
                  <a:pt x="7762875" y="7640985"/>
                </a:lnTo>
                <a:lnTo>
                  <a:pt x="152400" y="7640985"/>
                </a:lnTo>
                <a:arcTo hR="152400" wR="152400" stAng="5400000" swAng="5400000"/>
                <a:lnTo>
                  <a:pt x="0" y="152400"/>
                </a:lnTo>
                <a:arcTo hR="152400" wR="152400" stAng="10800000" swAng="5400000"/>
                <a:close/>
              </a:path>
            </a:pathLst>
          </a:custGeom>
          <a:solidFill>
            <a:srgbClr val="FFFFFF">
              <a:alpha val="2000"/>
            </a:srgbClr>
          </a:solidFill>
          <a:ln w="9525">
            <a:solidFill>
              <a:srgbClr val="2A2F3A"/>
            </a:solidFill>
            <a:prstDash val="solid"/>
          </a:ln>
        </p:spPr>
      </p:sp>
      <p:sp>
        <p:nvSpPr>
          <p:cNvPr id="6" name="Text 4"/>
          <p:cNvSpPr/>
          <p:nvPr/>
        </p:nvSpPr>
        <p:spPr>
          <a:xfrm>
            <a:off x="1247775" y="2217390"/>
            <a:ext cx="7889558"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F5F7FB"/>
                </a:solidFill>
                <a:latin typeface="Arial" pitchFamily="34" charset="0"/>
                <a:ea typeface="Arial" pitchFamily="34" charset="-122"/>
                <a:cs typeface="Arial" pitchFamily="34" charset="-120"/>
              </a:rPr>
              <a:t>Predictive AI</a:t>
            </a:r>
            <a:endParaRPr lang="en-US" sz="2100" dirty="0"/>
          </a:p>
        </p:txBody>
      </p:sp>
      <p:sp>
        <p:nvSpPr>
          <p:cNvPr id="7" name="Text 5"/>
          <p:cNvSpPr/>
          <p:nvPr/>
        </p:nvSpPr>
        <p:spPr>
          <a:xfrm>
            <a:off x="1247775" y="2665065"/>
            <a:ext cx="7387495"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Answers: "what is this, or what will happen?" Output is a score, label or forecast.</a:t>
            </a:r>
            <a:endParaRPr lang="en-US" sz="1875" dirty="0"/>
          </a:p>
        </p:txBody>
      </p:sp>
      <p:sp>
        <p:nvSpPr>
          <p:cNvPr id="8" name="Text 6"/>
          <p:cNvSpPr/>
          <p:nvPr/>
        </p:nvSpPr>
        <p:spPr>
          <a:xfrm>
            <a:off x="1247775" y="9001125"/>
            <a:ext cx="78895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B8C0CF"/>
                </a:solidFill>
                <a:latin typeface="Arial" pitchFamily="34" charset="0"/>
                <a:ea typeface="Arial" pitchFamily="34" charset="-122"/>
                <a:cs typeface="Arial" pitchFamily="34" charset="-120"/>
              </a:rPr>
              <a:t>Example: fraud-risk score</a:t>
            </a:r>
            <a:endParaRPr lang="en-US" sz="1800" dirty="0"/>
          </a:p>
        </p:txBody>
      </p:sp>
      <p:sp>
        <p:nvSpPr>
          <p:cNvPr id="9" name="Shape 7"/>
          <p:cNvSpPr/>
          <p:nvPr/>
        </p:nvSpPr>
        <p:spPr>
          <a:xfrm>
            <a:off x="8839200" y="5437808"/>
            <a:ext cx="609600" cy="609600"/>
          </a:xfrm>
          <a:prstGeom prst="ellipse">
            <a:avLst/>
          </a:prstGeom>
          <a:solidFill>
            <a:srgbClr val="FF6A00"/>
          </a:solidFill>
          <a:ln/>
          <a:effectLst>
            <a:outerShdw sx="100000" sy="100000" kx="0" ky="0" algn="bl" rotWithShape="0" blurRad="101600" dist="50800" dir="16200000">
              <a:srgbClr val="0C0D10">
                <a:alpha val="100000"/>
              </a:srgbClr>
            </a:outerShdw>
          </a:effectLst>
        </p:spPr>
      </p:sp>
      <p:sp>
        <p:nvSpPr>
          <p:cNvPr id="10" name="Text 8"/>
          <p:cNvSpPr/>
          <p:nvPr/>
        </p:nvSpPr>
        <p:spPr>
          <a:xfrm>
            <a:off x="8801100" y="5437808"/>
            <a:ext cx="685800" cy="647700"/>
          </a:xfrm>
          <a:prstGeom prst="rect">
            <a:avLst/>
          </a:prstGeom>
          <a:noFill/>
          <a:ln/>
        </p:spPr>
        <p:txBody>
          <a:bodyPr wrap="square" lIns="25400" tIns="25400" rIns="25400" bIns="25400" rtlCol="0" anchor="ctr">
            <a:normAutofit/>
          </a:bodyPr>
          <a:lstStyle/>
          <a:p>
            <a:pPr algn="ctr" indent="0" marL="0">
              <a:buNone/>
            </a:pPr>
            <a:r>
              <a:rPr lang="en-US" sz="1875" b="1" dirty="0">
                <a:solidFill>
                  <a:srgbClr val="111111"/>
                </a:solidFill>
                <a:latin typeface="Arial" pitchFamily="34" charset="0"/>
                <a:ea typeface="Arial" pitchFamily="34" charset="-122"/>
                <a:cs typeface="Arial" pitchFamily="34" charset="-120"/>
              </a:rPr>
              <a:t>VS</a:t>
            </a:r>
            <a:endParaRPr lang="en-US" sz="1875" dirty="0"/>
          </a:p>
        </p:txBody>
      </p:sp>
      <p:sp>
        <p:nvSpPr>
          <p:cNvPr id="11" name="Shape 9"/>
          <p:cNvSpPr/>
          <p:nvPr/>
        </p:nvSpPr>
        <p:spPr>
          <a:xfrm>
            <a:off x="9572625" y="1922115"/>
            <a:ext cx="7762875" cy="7640985"/>
          </a:xfrm>
          <a:custGeom>
            <a:avLst/>
            <a:gdLst/>
            <a:ahLst/>
            <a:cxnLst/>
            <a:rect l="l" t="t" r="r" b="b"/>
            <a:pathLst>
              <a:path w="7762875" h="7640985">
                <a:moveTo>
                  <a:pt x="0" y="0"/>
                </a:moveTo>
                <a:lnTo>
                  <a:pt x="7610475" y="0"/>
                </a:lnTo>
                <a:arcTo hR="152400" wR="152400" stAng="16200000" swAng="5400000"/>
                <a:lnTo>
                  <a:pt x="7762875" y="7488585"/>
                </a:lnTo>
                <a:arcTo hR="152400" wR="152400" stAng="0" swAng="5400000"/>
                <a:lnTo>
                  <a:pt x="0" y="7640985"/>
                </a:lnTo>
                <a:lnTo>
                  <a:pt x="0" y="0"/>
                </a:lnTo>
                <a:close/>
              </a:path>
            </a:pathLst>
          </a:custGeom>
          <a:solidFill>
            <a:srgbClr val="FF6A00">
              <a:alpha val="6000"/>
            </a:srgbClr>
          </a:solidFill>
          <a:ln w="9525">
            <a:solidFill>
              <a:srgbClr val="B85100"/>
            </a:solidFill>
            <a:prstDash val="solid"/>
          </a:ln>
        </p:spPr>
      </p:sp>
      <p:sp>
        <p:nvSpPr>
          <p:cNvPr id="12" name="Text 10"/>
          <p:cNvSpPr/>
          <p:nvPr/>
        </p:nvSpPr>
        <p:spPr>
          <a:xfrm>
            <a:off x="9867900" y="2217390"/>
            <a:ext cx="7889558"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FF6A00"/>
                </a:solidFill>
                <a:latin typeface="Arial" pitchFamily="34" charset="0"/>
                <a:ea typeface="Arial" pitchFamily="34" charset="-122"/>
                <a:cs typeface="Arial" pitchFamily="34" charset="-120"/>
              </a:rPr>
              <a:t>Generative AI</a:t>
            </a:r>
            <a:endParaRPr lang="en-US" sz="2100" dirty="0"/>
          </a:p>
        </p:txBody>
      </p:sp>
      <p:sp>
        <p:nvSpPr>
          <p:cNvPr id="13" name="Text 11"/>
          <p:cNvSpPr/>
          <p:nvPr/>
        </p:nvSpPr>
        <p:spPr>
          <a:xfrm>
            <a:off x="9867900" y="2665065"/>
            <a:ext cx="7387495"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DFE3EA"/>
                </a:solidFill>
                <a:latin typeface="Arial" pitchFamily="34" charset="0"/>
                <a:ea typeface="Arial" pitchFamily="34" charset="-122"/>
                <a:cs typeface="Arial" pitchFamily="34" charset="-120"/>
              </a:rPr>
              <a:t>Answers: "create something new." Output is fresh content, not a judgement.</a:t>
            </a:r>
            <a:endParaRPr lang="en-US" sz="1875" dirty="0"/>
          </a:p>
        </p:txBody>
      </p:sp>
      <p:sp>
        <p:nvSpPr>
          <p:cNvPr id="14" name="Text 12"/>
          <p:cNvSpPr/>
          <p:nvPr/>
        </p:nvSpPr>
        <p:spPr>
          <a:xfrm>
            <a:off x="9867900" y="9001125"/>
            <a:ext cx="78895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latin typeface="Arial" pitchFamily="34" charset="0"/>
                <a:ea typeface="Arial" pitchFamily="34" charset="-122"/>
                <a:cs typeface="Arial" pitchFamily="34" charset="-120"/>
              </a:rPr>
              <a:t>Example: a first-draft report</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15346"/>
            <a:ext cx="38100" cy="1656308"/>
          </a:xfrm>
          <a:prstGeom prst="rect">
            <a:avLst/>
          </a:prstGeom>
          <a:solidFill>
            <a:srgbClr val="FF6A00"/>
          </a:solidFill>
          <a:ln/>
        </p:spPr>
      </p:sp>
      <p:sp>
        <p:nvSpPr>
          <p:cNvPr id="4" name="Text 2"/>
          <p:cNvSpPr/>
          <p:nvPr/>
        </p:nvSpPr>
        <p:spPr>
          <a:xfrm>
            <a:off x="1333500" y="4391546"/>
            <a:ext cx="12753975"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"Predictive AI answers what is this, or what will happen. Generative AI creates something new."</a:t>
            </a:r>
            <a:endParaRPr lang="en-US" sz="2850" dirty="0"/>
          </a:p>
        </p:txBody>
      </p:sp>
      <p:sp>
        <p:nvSpPr>
          <p:cNvPr id="5" name="Text 3"/>
          <p:cNvSpPr/>
          <p:nvPr/>
        </p:nvSpPr>
        <p:spPr>
          <a:xfrm>
            <a:off x="1333500" y="5614467"/>
            <a:ext cx="17602200" cy="319088"/>
          </a:xfrm>
          <a:prstGeom prst="rect">
            <a:avLst/>
          </a:prstGeom>
          <a:noFill/>
          <a:ln/>
        </p:spPr>
        <p:txBody>
          <a:bodyPr wrap="square" lIns="25400" tIns="25400" rIns="25400" bIns="25400" rtlCol="0" anchor="t">
            <a:normAutofit/>
          </a:bodyPr>
          <a:lstStyle/>
          <a:p>
            <a:pPr algn="l" indent="0" marL="0">
              <a:buNone/>
            </a:pPr>
            <a:r>
              <a:rPr lang="en-US" sz="1875" spc="38" kern="0" dirty="0">
                <a:solidFill>
                  <a:srgbClr val="B8C0CF"/>
                </a:solidFill>
                <a:latin typeface="Arial" pitchFamily="34" charset="0"/>
                <a:ea typeface="Arial" pitchFamily="34" charset="-122"/>
                <a:cs typeface="Arial" pitchFamily="34" charset="-120"/>
              </a:rPr>
              <a:t>RECAP · OBJECTIVE 1.5</a:t>
            </a:r>
            <a:endParaRPr lang="en-US" sz="18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0573" y="4586734"/>
            <a:ext cx="5426854"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1.6 · SUB-OBJECTIVE 6 OF 6</a:t>
            </a:r>
            <a:endParaRPr lang="en-US" sz="1950" dirty="0"/>
          </a:p>
        </p:txBody>
      </p:sp>
      <p:sp>
        <p:nvSpPr>
          <p:cNvPr id="4" name="Text 2"/>
          <p:cNvSpPr/>
          <p:nvPr/>
        </p:nvSpPr>
        <p:spPr>
          <a:xfrm>
            <a:off x="2917418" y="5086796"/>
            <a:ext cx="12453164"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Recognising AI In Everyday Life And At Work</a:t>
            </a:r>
            <a:endParaRPr lang="en-US" sz="4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1.6 AI IN EVERYDAY LIFE AND AT WORK</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Everyday Life</a:t>
            </a:r>
            <a:endParaRPr lang="en-US" sz="3150" dirty="0"/>
          </a:p>
        </p:txBody>
      </p:sp>
      <p:sp>
        <p:nvSpPr>
          <p:cNvPr id="5" name="Shape 3"/>
          <p:cNvSpPr/>
          <p:nvPr/>
        </p:nvSpPr>
        <p:spPr>
          <a:xfrm>
            <a:off x="952500" y="1884015"/>
            <a:ext cx="5334000" cy="1481138"/>
          </a:xfrm>
          <a:prstGeom prst="roundRect">
            <a:avLst>
              <a:gd name="adj" fmla="val 10289"/>
            </a:avLst>
          </a:prstGeom>
          <a:solidFill>
            <a:srgbClr val="FFFFFF">
              <a:alpha val="2000"/>
            </a:srgbClr>
          </a:solidFill>
          <a:ln w="9525">
            <a:solidFill>
              <a:srgbClr val="2A2F3A"/>
            </a:solidFill>
            <a:prstDash val="solid"/>
          </a:ln>
        </p:spPr>
      </p:sp>
      <p:sp>
        <p:nvSpPr>
          <p:cNvPr id="6" name="Text 4"/>
          <p:cNvSpPr/>
          <p:nvPr/>
        </p:nvSpPr>
        <p:spPr>
          <a:xfrm>
            <a:off x="1171575" y="2103090"/>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Streaming &amp; Shopping</a:t>
            </a:r>
            <a:endParaRPr lang="en-US" sz="1875" dirty="0"/>
          </a:p>
        </p:txBody>
      </p:sp>
      <p:sp>
        <p:nvSpPr>
          <p:cNvPr id="7" name="Text 5"/>
          <p:cNvSpPr/>
          <p:nvPr/>
        </p:nvSpPr>
        <p:spPr>
          <a:xfrm>
            <a:off x="1171575" y="2460278"/>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Recommendation engines rank what you see next from your own behaviour.</a:t>
            </a:r>
            <a:endParaRPr lang="en-US" sz="1800" dirty="0"/>
          </a:p>
        </p:txBody>
      </p:sp>
      <p:sp>
        <p:nvSpPr>
          <p:cNvPr id="8" name="Shape 6"/>
          <p:cNvSpPr/>
          <p:nvPr/>
        </p:nvSpPr>
        <p:spPr>
          <a:xfrm>
            <a:off x="6477000" y="1884015"/>
            <a:ext cx="5334000" cy="1481138"/>
          </a:xfrm>
          <a:prstGeom prst="roundRect">
            <a:avLst>
              <a:gd name="adj" fmla="val 10289"/>
            </a:avLst>
          </a:prstGeom>
          <a:solidFill>
            <a:srgbClr val="FFFFFF">
              <a:alpha val="2000"/>
            </a:srgbClr>
          </a:solidFill>
          <a:ln w="9525">
            <a:solidFill>
              <a:srgbClr val="2A2F3A"/>
            </a:solidFill>
            <a:prstDash val="solid"/>
          </a:ln>
        </p:spPr>
      </p:sp>
      <p:sp>
        <p:nvSpPr>
          <p:cNvPr id="9" name="Text 7"/>
          <p:cNvSpPr/>
          <p:nvPr/>
        </p:nvSpPr>
        <p:spPr>
          <a:xfrm>
            <a:off x="6696075" y="2103090"/>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Navigation Apps</a:t>
            </a:r>
            <a:endParaRPr lang="en-US" sz="1875" dirty="0"/>
          </a:p>
        </p:txBody>
      </p:sp>
      <p:sp>
        <p:nvSpPr>
          <p:cNvPr id="10" name="Text 8"/>
          <p:cNvSpPr/>
          <p:nvPr/>
        </p:nvSpPr>
        <p:spPr>
          <a:xfrm>
            <a:off x="6696075" y="2460278"/>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Predict arrival time from live and historical traffic patterns.</a:t>
            </a:r>
            <a:endParaRPr lang="en-US" sz="1800" dirty="0"/>
          </a:p>
        </p:txBody>
      </p:sp>
      <p:sp>
        <p:nvSpPr>
          <p:cNvPr id="11" name="Shape 9"/>
          <p:cNvSpPr/>
          <p:nvPr/>
        </p:nvSpPr>
        <p:spPr>
          <a:xfrm>
            <a:off x="12001500" y="1884015"/>
            <a:ext cx="5334000" cy="1481138"/>
          </a:xfrm>
          <a:prstGeom prst="roundRect">
            <a:avLst>
              <a:gd name="adj" fmla="val 10289"/>
            </a:avLst>
          </a:prstGeom>
          <a:solidFill>
            <a:srgbClr val="FFFFFF">
              <a:alpha val="2000"/>
            </a:srgbClr>
          </a:solidFill>
          <a:ln w="9525">
            <a:solidFill>
              <a:srgbClr val="2A2F3A"/>
            </a:solidFill>
            <a:prstDash val="solid"/>
          </a:ln>
        </p:spPr>
      </p:sp>
      <p:sp>
        <p:nvSpPr>
          <p:cNvPr id="12" name="Text 10"/>
          <p:cNvSpPr/>
          <p:nvPr/>
        </p:nvSpPr>
        <p:spPr>
          <a:xfrm>
            <a:off x="12220575" y="2103090"/>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Spam &amp; Fraud Filters</a:t>
            </a:r>
            <a:endParaRPr lang="en-US" sz="1875" dirty="0"/>
          </a:p>
        </p:txBody>
      </p:sp>
      <p:sp>
        <p:nvSpPr>
          <p:cNvPr id="13" name="Text 11"/>
          <p:cNvSpPr/>
          <p:nvPr/>
        </p:nvSpPr>
        <p:spPr>
          <a:xfrm>
            <a:off x="12220575" y="2460278"/>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Score messages and transactions and adapt as new patterns appear.</a:t>
            </a:r>
            <a:endParaRPr lang="en-US" sz="1800" dirty="0"/>
          </a:p>
        </p:txBody>
      </p:sp>
      <p:sp>
        <p:nvSpPr>
          <p:cNvPr id="14" name="Shape 12"/>
          <p:cNvSpPr/>
          <p:nvPr/>
        </p:nvSpPr>
        <p:spPr>
          <a:xfrm>
            <a:off x="952500" y="3555653"/>
            <a:ext cx="5334000" cy="1481138"/>
          </a:xfrm>
          <a:prstGeom prst="roundRect">
            <a:avLst>
              <a:gd name="adj" fmla="val 10289"/>
            </a:avLst>
          </a:prstGeom>
          <a:solidFill>
            <a:srgbClr val="FFFFFF">
              <a:alpha val="2000"/>
            </a:srgbClr>
          </a:solidFill>
          <a:ln w="9525">
            <a:solidFill>
              <a:srgbClr val="2A2F3A"/>
            </a:solidFill>
            <a:prstDash val="solid"/>
          </a:ln>
        </p:spPr>
      </p:sp>
      <p:sp>
        <p:nvSpPr>
          <p:cNvPr id="15" name="Text 13"/>
          <p:cNvSpPr/>
          <p:nvPr/>
        </p:nvSpPr>
        <p:spPr>
          <a:xfrm>
            <a:off x="1171575" y="3774728"/>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Voice Assistants</a:t>
            </a:r>
            <a:endParaRPr lang="en-US" sz="1875" dirty="0"/>
          </a:p>
        </p:txBody>
      </p:sp>
      <p:sp>
        <p:nvSpPr>
          <p:cNvPr id="16" name="Text 14"/>
          <p:cNvSpPr/>
          <p:nvPr/>
        </p:nvSpPr>
        <p:spPr>
          <a:xfrm>
            <a:off x="1171575" y="4131915"/>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Convert speech to text and interpret spoken requests.</a:t>
            </a:r>
            <a:endParaRPr lang="en-US" sz="1800" dirty="0"/>
          </a:p>
        </p:txBody>
      </p:sp>
      <p:sp>
        <p:nvSpPr>
          <p:cNvPr id="17" name="Shape 15"/>
          <p:cNvSpPr/>
          <p:nvPr/>
        </p:nvSpPr>
        <p:spPr>
          <a:xfrm>
            <a:off x="6477000" y="3555653"/>
            <a:ext cx="5334000" cy="1481138"/>
          </a:xfrm>
          <a:prstGeom prst="roundRect">
            <a:avLst>
              <a:gd name="adj" fmla="val 10289"/>
            </a:avLst>
          </a:prstGeom>
          <a:solidFill>
            <a:srgbClr val="FFFFFF">
              <a:alpha val="2000"/>
            </a:srgbClr>
          </a:solidFill>
          <a:ln w="9525">
            <a:solidFill>
              <a:srgbClr val="2A2F3A"/>
            </a:solidFill>
            <a:prstDash val="solid"/>
          </a:ln>
        </p:spPr>
      </p:sp>
      <p:sp>
        <p:nvSpPr>
          <p:cNvPr id="18" name="Text 16"/>
          <p:cNvSpPr/>
          <p:nvPr/>
        </p:nvSpPr>
        <p:spPr>
          <a:xfrm>
            <a:off x="6696075" y="3774728"/>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Predictive Text</a:t>
            </a:r>
            <a:endParaRPr lang="en-US" sz="1875" dirty="0"/>
          </a:p>
        </p:txBody>
      </p:sp>
      <p:sp>
        <p:nvSpPr>
          <p:cNvPr id="19" name="Text 17"/>
          <p:cNvSpPr/>
          <p:nvPr/>
        </p:nvSpPr>
        <p:spPr>
          <a:xfrm>
            <a:off x="6696075" y="4131915"/>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Suggests the next word or corrects a typo from learned language patterns.</a:t>
            </a:r>
            <a:endParaRPr lang="en-US" sz="1800" dirty="0"/>
          </a:p>
        </p:txBody>
      </p:sp>
      <p:sp>
        <p:nvSpPr>
          <p:cNvPr id="20" name="Shape 18"/>
          <p:cNvSpPr/>
          <p:nvPr/>
        </p:nvSpPr>
        <p:spPr>
          <a:xfrm>
            <a:off x="12001500" y="3555653"/>
            <a:ext cx="5334000" cy="1481138"/>
          </a:xfrm>
          <a:prstGeom prst="roundRect">
            <a:avLst>
              <a:gd name="adj" fmla="val 10289"/>
            </a:avLst>
          </a:prstGeom>
          <a:solidFill>
            <a:srgbClr val="FFFFFF">
              <a:alpha val="2000"/>
            </a:srgbClr>
          </a:solidFill>
          <a:ln w="9525">
            <a:solidFill>
              <a:srgbClr val="2A2F3A"/>
            </a:solidFill>
            <a:prstDash val="solid"/>
          </a:ln>
        </p:spPr>
      </p:sp>
      <p:sp>
        <p:nvSpPr>
          <p:cNvPr id="21" name="Text 19"/>
          <p:cNvSpPr/>
          <p:nvPr/>
        </p:nvSpPr>
        <p:spPr>
          <a:xfrm>
            <a:off x="12220575" y="3774728"/>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Photo Organisation</a:t>
            </a:r>
            <a:endParaRPr lang="en-US" sz="1875" dirty="0"/>
          </a:p>
        </p:txBody>
      </p:sp>
      <p:sp>
        <p:nvSpPr>
          <p:cNvPr id="22" name="Text 20"/>
          <p:cNvSpPr/>
          <p:nvPr/>
        </p:nvSpPr>
        <p:spPr>
          <a:xfrm>
            <a:off x="12220575" y="4131915"/>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Groups and finds photos by recognising faces, objects and scenes.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1.6 AI IN EVERYDAY LIFE AND AT WORK</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At Work</a:t>
            </a:r>
            <a:endParaRPr lang="en-US" sz="3150" dirty="0"/>
          </a:p>
        </p:txBody>
      </p:sp>
      <p:sp>
        <p:nvSpPr>
          <p:cNvPr id="5" name="Shape 3"/>
          <p:cNvSpPr/>
          <p:nvPr/>
        </p:nvSpPr>
        <p:spPr>
          <a:xfrm>
            <a:off x="952500" y="1884015"/>
            <a:ext cx="5334000" cy="1481138"/>
          </a:xfrm>
          <a:prstGeom prst="roundRect">
            <a:avLst>
              <a:gd name="adj" fmla="val 10289"/>
            </a:avLst>
          </a:prstGeom>
          <a:solidFill>
            <a:srgbClr val="FFFFFF">
              <a:alpha val="2000"/>
            </a:srgbClr>
          </a:solidFill>
          <a:ln w="9525">
            <a:solidFill>
              <a:srgbClr val="2A2F3A"/>
            </a:solidFill>
            <a:prstDash val="solid"/>
          </a:ln>
        </p:spPr>
      </p:sp>
      <p:sp>
        <p:nvSpPr>
          <p:cNvPr id="6" name="Text 4"/>
          <p:cNvSpPr/>
          <p:nvPr/>
        </p:nvSpPr>
        <p:spPr>
          <a:xfrm>
            <a:off x="1171575" y="2103090"/>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Drafting &amp; Summarising</a:t>
            </a:r>
            <a:endParaRPr lang="en-US" sz="1875" dirty="0"/>
          </a:p>
        </p:txBody>
      </p:sp>
      <p:sp>
        <p:nvSpPr>
          <p:cNvPr id="7" name="Text 5"/>
          <p:cNvSpPr/>
          <p:nvPr/>
        </p:nvSpPr>
        <p:spPr>
          <a:xfrm>
            <a:off x="1171575" y="2460278"/>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Generative AI produces first drafts and condenses long documents.</a:t>
            </a:r>
            <a:endParaRPr lang="en-US" sz="1800" dirty="0"/>
          </a:p>
        </p:txBody>
      </p:sp>
      <p:sp>
        <p:nvSpPr>
          <p:cNvPr id="8" name="Shape 6"/>
          <p:cNvSpPr/>
          <p:nvPr/>
        </p:nvSpPr>
        <p:spPr>
          <a:xfrm>
            <a:off x="6477000" y="1884015"/>
            <a:ext cx="5334000" cy="1481138"/>
          </a:xfrm>
          <a:prstGeom prst="roundRect">
            <a:avLst>
              <a:gd name="adj" fmla="val 10289"/>
            </a:avLst>
          </a:prstGeom>
          <a:solidFill>
            <a:srgbClr val="FFFFFF">
              <a:alpha val="2000"/>
            </a:srgbClr>
          </a:solidFill>
          <a:ln w="9525">
            <a:solidFill>
              <a:srgbClr val="2A2F3A"/>
            </a:solidFill>
            <a:prstDash val="solid"/>
          </a:ln>
        </p:spPr>
      </p:sp>
      <p:sp>
        <p:nvSpPr>
          <p:cNvPr id="9" name="Text 7"/>
          <p:cNvSpPr/>
          <p:nvPr/>
        </p:nvSpPr>
        <p:spPr>
          <a:xfrm>
            <a:off x="6696075" y="2103090"/>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Meeting Transcription</a:t>
            </a:r>
            <a:endParaRPr lang="en-US" sz="1875" dirty="0"/>
          </a:p>
        </p:txBody>
      </p:sp>
      <p:sp>
        <p:nvSpPr>
          <p:cNvPr id="10" name="Text 8"/>
          <p:cNvSpPr/>
          <p:nvPr/>
        </p:nvSpPr>
        <p:spPr>
          <a:xfrm>
            <a:off x="6696075" y="2460278"/>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Converts speech to searchable text and generates summaries and actions.</a:t>
            </a:r>
            <a:endParaRPr lang="en-US" sz="1800" dirty="0"/>
          </a:p>
        </p:txBody>
      </p:sp>
      <p:sp>
        <p:nvSpPr>
          <p:cNvPr id="11" name="Shape 9"/>
          <p:cNvSpPr/>
          <p:nvPr/>
        </p:nvSpPr>
        <p:spPr>
          <a:xfrm>
            <a:off x="12001500" y="1884015"/>
            <a:ext cx="5334000" cy="1481138"/>
          </a:xfrm>
          <a:prstGeom prst="roundRect">
            <a:avLst>
              <a:gd name="adj" fmla="val 10289"/>
            </a:avLst>
          </a:prstGeom>
          <a:solidFill>
            <a:srgbClr val="FFFFFF">
              <a:alpha val="2000"/>
            </a:srgbClr>
          </a:solidFill>
          <a:ln w="9525">
            <a:solidFill>
              <a:srgbClr val="2A2F3A"/>
            </a:solidFill>
            <a:prstDash val="solid"/>
          </a:ln>
        </p:spPr>
      </p:sp>
      <p:sp>
        <p:nvSpPr>
          <p:cNvPr id="12" name="Text 10"/>
          <p:cNvSpPr/>
          <p:nvPr/>
        </p:nvSpPr>
        <p:spPr>
          <a:xfrm>
            <a:off x="12220575" y="2103090"/>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Customer-Service Chat</a:t>
            </a:r>
            <a:endParaRPr lang="en-US" sz="1875" dirty="0"/>
          </a:p>
        </p:txBody>
      </p:sp>
      <p:sp>
        <p:nvSpPr>
          <p:cNvPr id="13" name="Text 11"/>
          <p:cNvSpPr/>
          <p:nvPr/>
        </p:nvSpPr>
        <p:spPr>
          <a:xfrm>
            <a:off x="12220575" y="2460278"/>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Handles routine enquiries and routes complex ones to a person.</a:t>
            </a:r>
            <a:endParaRPr lang="en-US" sz="1800" dirty="0"/>
          </a:p>
        </p:txBody>
      </p:sp>
      <p:sp>
        <p:nvSpPr>
          <p:cNvPr id="14" name="Shape 12"/>
          <p:cNvSpPr/>
          <p:nvPr/>
        </p:nvSpPr>
        <p:spPr>
          <a:xfrm>
            <a:off x="952500" y="3555653"/>
            <a:ext cx="5334000" cy="1481138"/>
          </a:xfrm>
          <a:prstGeom prst="roundRect">
            <a:avLst>
              <a:gd name="adj" fmla="val 10289"/>
            </a:avLst>
          </a:prstGeom>
          <a:solidFill>
            <a:srgbClr val="FFFFFF">
              <a:alpha val="2000"/>
            </a:srgbClr>
          </a:solidFill>
          <a:ln w="9525">
            <a:solidFill>
              <a:srgbClr val="2A2F3A"/>
            </a:solidFill>
            <a:prstDash val="solid"/>
          </a:ln>
        </p:spPr>
      </p:sp>
      <p:sp>
        <p:nvSpPr>
          <p:cNvPr id="15" name="Text 13"/>
          <p:cNvSpPr/>
          <p:nvPr/>
        </p:nvSpPr>
        <p:spPr>
          <a:xfrm>
            <a:off x="1171575" y="3774728"/>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Data Analysis &amp; Forecasting</a:t>
            </a:r>
            <a:endParaRPr lang="en-US" sz="1875" dirty="0"/>
          </a:p>
        </p:txBody>
      </p:sp>
      <p:sp>
        <p:nvSpPr>
          <p:cNvPr id="16" name="Text 14"/>
          <p:cNvSpPr/>
          <p:nvPr/>
        </p:nvSpPr>
        <p:spPr>
          <a:xfrm>
            <a:off x="1171575" y="4131915"/>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Predictive AI spots trends and forecasts outcomes from historical data.</a:t>
            </a:r>
            <a:endParaRPr lang="en-US" sz="1800" dirty="0"/>
          </a:p>
        </p:txBody>
      </p:sp>
      <p:sp>
        <p:nvSpPr>
          <p:cNvPr id="17" name="Shape 15"/>
          <p:cNvSpPr/>
          <p:nvPr/>
        </p:nvSpPr>
        <p:spPr>
          <a:xfrm>
            <a:off x="6477000" y="3555653"/>
            <a:ext cx="5334000" cy="1481138"/>
          </a:xfrm>
          <a:prstGeom prst="roundRect">
            <a:avLst>
              <a:gd name="adj" fmla="val 10289"/>
            </a:avLst>
          </a:prstGeom>
          <a:solidFill>
            <a:srgbClr val="FFFFFF">
              <a:alpha val="2000"/>
            </a:srgbClr>
          </a:solidFill>
          <a:ln w="9525">
            <a:solidFill>
              <a:srgbClr val="2A2F3A"/>
            </a:solidFill>
            <a:prstDash val="solid"/>
          </a:ln>
        </p:spPr>
      </p:sp>
      <p:sp>
        <p:nvSpPr>
          <p:cNvPr id="18" name="Text 16"/>
          <p:cNvSpPr/>
          <p:nvPr/>
        </p:nvSpPr>
        <p:spPr>
          <a:xfrm>
            <a:off x="6696075" y="3774728"/>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Code-Completion Tools</a:t>
            </a:r>
            <a:endParaRPr lang="en-US" sz="1875" dirty="0"/>
          </a:p>
        </p:txBody>
      </p:sp>
      <p:sp>
        <p:nvSpPr>
          <p:cNvPr id="19" name="Text 17"/>
          <p:cNvSpPr/>
          <p:nvPr/>
        </p:nvSpPr>
        <p:spPr>
          <a:xfrm>
            <a:off x="6696075" y="4131915"/>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Generates and suggests code from natural-language descriptions.</a:t>
            </a:r>
            <a:endParaRPr lang="en-US" sz="1800" dirty="0"/>
          </a:p>
        </p:txBody>
      </p:sp>
      <p:sp>
        <p:nvSpPr>
          <p:cNvPr id="20" name="Shape 18"/>
          <p:cNvSpPr/>
          <p:nvPr/>
        </p:nvSpPr>
        <p:spPr>
          <a:xfrm>
            <a:off x="12001500" y="3555653"/>
            <a:ext cx="5334000" cy="1481138"/>
          </a:xfrm>
          <a:prstGeom prst="roundRect">
            <a:avLst>
              <a:gd name="adj" fmla="val 10289"/>
            </a:avLst>
          </a:prstGeom>
          <a:solidFill>
            <a:srgbClr val="FFFFFF">
              <a:alpha val="2000"/>
            </a:srgbClr>
          </a:solidFill>
          <a:ln w="9525">
            <a:solidFill>
              <a:srgbClr val="2A2F3A"/>
            </a:solidFill>
            <a:prstDash val="solid"/>
          </a:ln>
        </p:spPr>
      </p:sp>
      <p:sp>
        <p:nvSpPr>
          <p:cNvPr id="21" name="Text 19"/>
          <p:cNvSpPr/>
          <p:nvPr/>
        </p:nvSpPr>
        <p:spPr>
          <a:xfrm>
            <a:off x="12220575" y="3774728"/>
            <a:ext cx="538543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Scheduling &amp; Routing</a:t>
            </a:r>
            <a:endParaRPr lang="en-US" sz="1875" dirty="0"/>
          </a:p>
        </p:txBody>
      </p:sp>
      <p:sp>
        <p:nvSpPr>
          <p:cNvPr id="22" name="Text 20"/>
          <p:cNvSpPr/>
          <p:nvPr/>
        </p:nvSpPr>
        <p:spPr>
          <a:xfrm>
            <a:off x="12220575" y="4131915"/>
            <a:ext cx="5042726"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Optimises timetables and delivery routes against changing constraints.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68701"/>
            <a:ext cx="38100" cy="1549598"/>
          </a:xfrm>
          <a:prstGeom prst="rect">
            <a:avLst/>
          </a:prstGeom>
          <a:solidFill>
            <a:srgbClr val="FF6A00"/>
          </a:solidFill>
          <a:ln/>
        </p:spPr>
      </p:sp>
      <p:sp>
        <p:nvSpPr>
          <p:cNvPr id="4" name="Text 2"/>
          <p:cNvSpPr/>
          <p:nvPr/>
        </p:nvSpPr>
        <p:spPr>
          <a:xfrm>
            <a:off x="1333500" y="4444901"/>
            <a:ext cx="13735050"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b="1" dirty="0">
                <a:solidFill>
                  <a:srgbClr val="F5F7FB"/>
                </a:solidFill>
                <a:latin typeface="Arial" pitchFamily="34" charset="0"/>
                <a:ea typeface="Arial" pitchFamily="34" charset="-122"/>
                <a:cs typeface="Arial" pitchFamily="34" charset="-120"/>
              </a:rPr>
              <a:t>"If a tool adapts its output from data, or generates content on request, it's worth asking which kind of AI is actually doing the work."</a:t>
            </a:r>
            <a:endParaRPr lang="en-US" sz="2550" dirty="0"/>
          </a:p>
        </p:txBody>
      </p:sp>
      <p:sp>
        <p:nvSpPr>
          <p:cNvPr id="5" name="Text 3"/>
          <p:cNvSpPr/>
          <p:nvPr/>
        </p:nvSpPr>
        <p:spPr>
          <a:xfrm>
            <a:off x="1333500" y="5561112"/>
            <a:ext cx="17602200" cy="319088"/>
          </a:xfrm>
          <a:prstGeom prst="rect">
            <a:avLst/>
          </a:prstGeom>
          <a:noFill/>
          <a:ln/>
        </p:spPr>
        <p:txBody>
          <a:bodyPr wrap="square" lIns="25400" tIns="25400" rIns="25400" bIns="25400" rtlCol="0" anchor="t">
            <a:normAutofit/>
          </a:bodyPr>
          <a:lstStyle/>
          <a:p>
            <a:pPr algn="l" indent="0" marL="0">
              <a:buNone/>
            </a:pPr>
            <a:r>
              <a:rPr lang="en-US" sz="1875" spc="38" kern="0" dirty="0">
                <a:solidFill>
                  <a:srgbClr val="B8C0CF"/>
                </a:solidFill>
                <a:latin typeface="Arial" pitchFamily="34" charset="0"/>
                <a:ea typeface="Arial" pitchFamily="34" charset="-122"/>
                <a:cs typeface="Arial" pitchFamily="34" charset="-120"/>
              </a:rPr>
              <a:t>RECAP · OBJECTIVE 1.6</a:t>
            </a:r>
            <a:endParaRPr lang="en-US" sz="18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CRITICAL DISTINCTION</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Automation vs Artificial Intelligence</a:t>
            </a:r>
            <a:endParaRPr lang="en-US" sz="3150" dirty="0"/>
          </a:p>
        </p:txBody>
      </p:sp>
      <p:sp>
        <p:nvSpPr>
          <p:cNvPr id="5" name="Shape 3"/>
          <p:cNvSpPr/>
          <p:nvPr/>
        </p:nvSpPr>
        <p:spPr>
          <a:xfrm>
            <a:off x="952500" y="1922115"/>
            <a:ext cx="3539951" cy="514350"/>
          </a:xfrm>
          <a:prstGeom prst="rect">
            <a:avLst/>
          </a:prstGeom>
          <a:solidFill>
            <a:srgbClr val="FF6A00">
              <a:alpha val="18000"/>
            </a:srgbClr>
          </a:solidFill>
          <a:ln/>
        </p:spPr>
      </p:sp>
      <p:sp>
        <p:nvSpPr>
          <p:cNvPr id="6" name="Shape 4"/>
          <p:cNvSpPr/>
          <p:nvPr/>
        </p:nvSpPr>
        <p:spPr>
          <a:xfrm>
            <a:off x="952500" y="2426940"/>
            <a:ext cx="3539951" cy="9525"/>
          </a:xfrm>
          <a:prstGeom prst="rect">
            <a:avLst/>
          </a:prstGeom>
          <a:solidFill>
            <a:srgbClr val="B85100"/>
          </a:solidFill>
          <a:ln/>
        </p:spPr>
      </p:sp>
      <p:sp>
        <p:nvSpPr>
          <p:cNvPr id="7" name="Shape 5"/>
          <p:cNvSpPr/>
          <p:nvPr/>
        </p:nvSpPr>
        <p:spPr>
          <a:xfrm>
            <a:off x="4492451" y="1922115"/>
            <a:ext cx="6589961" cy="514350"/>
          </a:xfrm>
          <a:prstGeom prst="rect">
            <a:avLst/>
          </a:prstGeom>
          <a:solidFill>
            <a:srgbClr val="FF6A00">
              <a:alpha val="18000"/>
            </a:srgbClr>
          </a:solidFill>
          <a:ln/>
        </p:spPr>
      </p:sp>
      <p:sp>
        <p:nvSpPr>
          <p:cNvPr id="8" name="Shape 6"/>
          <p:cNvSpPr/>
          <p:nvPr/>
        </p:nvSpPr>
        <p:spPr>
          <a:xfrm>
            <a:off x="4492451" y="2426940"/>
            <a:ext cx="6589961" cy="9525"/>
          </a:xfrm>
          <a:prstGeom prst="rect">
            <a:avLst/>
          </a:prstGeom>
          <a:solidFill>
            <a:srgbClr val="B85100"/>
          </a:solidFill>
          <a:ln/>
        </p:spPr>
      </p:sp>
      <p:sp>
        <p:nvSpPr>
          <p:cNvPr id="9" name="Text 7"/>
          <p:cNvSpPr/>
          <p:nvPr/>
        </p:nvSpPr>
        <p:spPr>
          <a:xfrm>
            <a:off x="4644851" y="2036415"/>
            <a:ext cx="6482859"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Rule-Based Automation</a:t>
            </a:r>
            <a:endParaRPr lang="en-US" sz="1875" dirty="0"/>
          </a:p>
        </p:txBody>
      </p:sp>
      <p:sp>
        <p:nvSpPr>
          <p:cNvPr id="10" name="Shape 8"/>
          <p:cNvSpPr/>
          <p:nvPr/>
        </p:nvSpPr>
        <p:spPr>
          <a:xfrm>
            <a:off x="11082412" y="1922115"/>
            <a:ext cx="6253088" cy="514350"/>
          </a:xfrm>
          <a:prstGeom prst="rect">
            <a:avLst/>
          </a:prstGeom>
          <a:solidFill>
            <a:srgbClr val="FF6A00">
              <a:alpha val="18000"/>
            </a:srgbClr>
          </a:solidFill>
          <a:ln/>
        </p:spPr>
      </p:sp>
      <p:sp>
        <p:nvSpPr>
          <p:cNvPr id="11" name="Shape 9"/>
          <p:cNvSpPr/>
          <p:nvPr/>
        </p:nvSpPr>
        <p:spPr>
          <a:xfrm>
            <a:off x="11082412" y="2426940"/>
            <a:ext cx="6253088" cy="9525"/>
          </a:xfrm>
          <a:prstGeom prst="rect">
            <a:avLst/>
          </a:prstGeom>
          <a:solidFill>
            <a:srgbClr val="B85100"/>
          </a:solidFill>
          <a:ln/>
        </p:spPr>
      </p:sp>
      <p:sp>
        <p:nvSpPr>
          <p:cNvPr id="12" name="Text 10"/>
          <p:cNvSpPr/>
          <p:nvPr/>
        </p:nvSpPr>
        <p:spPr>
          <a:xfrm>
            <a:off x="11234812" y="2036415"/>
            <a:ext cx="6135881"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Artificial Intelligence</a:t>
            </a:r>
            <a:endParaRPr lang="en-US" sz="1875" dirty="0"/>
          </a:p>
        </p:txBody>
      </p:sp>
      <p:sp>
        <p:nvSpPr>
          <p:cNvPr id="13" name="Text 11"/>
          <p:cNvSpPr/>
          <p:nvPr/>
        </p:nvSpPr>
        <p:spPr>
          <a:xfrm>
            <a:off x="1104900" y="2569815"/>
            <a:ext cx="3341350"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Basis</a:t>
            </a:r>
            <a:endParaRPr lang="en-US" sz="1875" dirty="0"/>
          </a:p>
        </p:txBody>
      </p:sp>
      <p:sp>
        <p:nvSpPr>
          <p:cNvPr id="14" name="Text 12"/>
          <p:cNvSpPr/>
          <p:nvPr/>
        </p:nvSpPr>
        <p:spPr>
          <a:xfrm>
            <a:off x="4644851" y="2569815"/>
            <a:ext cx="6482859"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Fixed, pre-written instructions</a:t>
            </a:r>
            <a:endParaRPr lang="en-US" sz="1875" dirty="0"/>
          </a:p>
        </p:txBody>
      </p:sp>
      <p:sp>
        <p:nvSpPr>
          <p:cNvPr id="15" name="Text 13"/>
          <p:cNvSpPr/>
          <p:nvPr/>
        </p:nvSpPr>
        <p:spPr>
          <a:xfrm>
            <a:off x="11234812" y="2569815"/>
            <a:ext cx="6135881"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Patterns learned from data</a:t>
            </a:r>
            <a:endParaRPr lang="en-US" sz="1875" dirty="0"/>
          </a:p>
        </p:txBody>
      </p:sp>
      <p:sp>
        <p:nvSpPr>
          <p:cNvPr id="16" name="Shape 14"/>
          <p:cNvSpPr/>
          <p:nvPr/>
        </p:nvSpPr>
        <p:spPr>
          <a:xfrm>
            <a:off x="952500" y="2988915"/>
            <a:ext cx="16383000" cy="547688"/>
          </a:xfrm>
          <a:prstGeom prst="rect">
            <a:avLst/>
          </a:prstGeom>
          <a:solidFill>
            <a:srgbClr val="FFFFFF">
              <a:alpha val="2000"/>
            </a:srgbClr>
          </a:solidFill>
          <a:ln/>
        </p:spPr>
      </p:sp>
      <p:sp>
        <p:nvSpPr>
          <p:cNvPr id="17" name="Text 15"/>
          <p:cNvSpPr/>
          <p:nvPr/>
        </p:nvSpPr>
        <p:spPr>
          <a:xfrm>
            <a:off x="1104900" y="3122265"/>
            <a:ext cx="3341350"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Adapts to new data?</a:t>
            </a:r>
            <a:endParaRPr lang="en-US" sz="1875" dirty="0"/>
          </a:p>
        </p:txBody>
      </p:sp>
      <p:sp>
        <p:nvSpPr>
          <p:cNvPr id="18" name="Text 16"/>
          <p:cNvSpPr/>
          <p:nvPr/>
        </p:nvSpPr>
        <p:spPr>
          <a:xfrm>
            <a:off x="4644851" y="3122265"/>
            <a:ext cx="6482859"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No — only if a person rewrites the rules</a:t>
            </a:r>
            <a:endParaRPr lang="en-US" sz="1875" dirty="0"/>
          </a:p>
        </p:txBody>
      </p:sp>
      <p:sp>
        <p:nvSpPr>
          <p:cNvPr id="19" name="Text 17"/>
          <p:cNvSpPr/>
          <p:nvPr/>
        </p:nvSpPr>
        <p:spPr>
          <a:xfrm>
            <a:off x="11234812" y="3122265"/>
            <a:ext cx="6135881"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Yes — behaviour can shift as data changes</a:t>
            </a:r>
            <a:endParaRPr lang="en-US" sz="1875" dirty="0"/>
          </a:p>
        </p:txBody>
      </p:sp>
      <p:sp>
        <p:nvSpPr>
          <p:cNvPr id="20" name="Text 18"/>
          <p:cNvSpPr/>
          <p:nvPr/>
        </p:nvSpPr>
        <p:spPr>
          <a:xfrm>
            <a:off x="1104900" y="3669953"/>
            <a:ext cx="3341350"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Example</a:t>
            </a:r>
            <a:endParaRPr lang="en-US" sz="1875" dirty="0"/>
          </a:p>
        </p:txBody>
      </p:sp>
      <p:sp>
        <p:nvSpPr>
          <p:cNvPr id="21" name="Text 19"/>
          <p:cNvSpPr/>
          <p:nvPr/>
        </p:nvSpPr>
        <p:spPr>
          <a:xfrm>
            <a:off x="4644851" y="3669953"/>
            <a:ext cx="6482859"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thermostat, a scheduled report</a:t>
            </a:r>
            <a:endParaRPr lang="en-US" sz="1875" dirty="0"/>
          </a:p>
        </p:txBody>
      </p:sp>
      <p:sp>
        <p:nvSpPr>
          <p:cNvPr id="22" name="Text 20"/>
          <p:cNvSpPr/>
          <p:nvPr/>
        </p:nvSpPr>
        <p:spPr>
          <a:xfrm>
            <a:off x="11234812" y="3669953"/>
            <a:ext cx="6135881"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spam filter that learns from new email</a:t>
            </a:r>
            <a:endParaRPr lang="en-US" sz="1875" dirty="0"/>
          </a:p>
        </p:txBody>
      </p:sp>
      <p:sp>
        <p:nvSpPr>
          <p:cNvPr id="23" name="Shape 21"/>
          <p:cNvSpPr/>
          <p:nvPr/>
        </p:nvSpPr>
        <p:spPr>
          <a:xfrm>
            <a:off x="952500" y="4084290"/>
            <a:ext cx="16383000" cy="547688"/>
          </a:xfrm>
          <a:prstGeom prst="rect">
            <a:avLst/>
          </a:prstGeom>
          <a:solidFill>
            <a:srgbClr val="FFFFFF">
              <a:alpha val="2000"/>
            </a:srgbClr>
          </a:solidFill>
          <a:ln/>
        </p:spPr>
      </p:sp>
      <p:sp>
        <p:nvSpPr>
          <p:cNvPr id="24" name="Text 22"/>
          <p:cNvSpPr/>
          <p:nvPr/>
        </p:nvSpPr>
        <p:spPr>
          <a:xfrm>
            <a:off x="1104900" y="4217640"/>
            <a:ext cx="3341350"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Failure mode</a:t>
            </a:r>
            <a:endParaRPr lang="en-US" sz="1875" dirty="0"/>
          </a:p>
        </p:txBody>
      </p:sp>
      <p:sp>
        <p:nvSpPr>
          <p:cNvPr id="25" name="Text 23"/>
          <p:cNvSpPr/>
          <p:nvPr/>
        </p:nvSpPr>
        <p:spPr>
          <a:xfrm>
            <a:off x="4644851" y="4217640"/>
            <a:ext cx="6482859"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Breaks on any case the rules didn't anticipate</a:t>
            </a:r>
            <a:endParaRPr lang="en-US" sz="1875" dirty="0"/>
          </a:p>
        </p:txBody>
      </p:sp>
      <p:sp>
        <p:nvSpPr>
          <p:cNvPr id="26" name="Text 24"/>
          <p:cNvSpPr/>
          <p:nvPr/>
        </p:nvSpPr>
        <p:spPr>
          <a:xfrm>
            <a:off x="11234812" y="4217640"/>
            <a:ext cx="6135881"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Can be confidently wrong — see Domain 5</a:t>
            </a:r>
            <a:endParaRPr lang="en-US" sz="18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CRITICAL DISTINCTION</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Machine Learning vs Deep Learning</a:t>
            </a:r>
            <a:endParaRPr lang="en-US" sz="3150" dirty="0"/>
          </a:p>
        </p:txBody>
      </p:sp>
      <p:sp>
        <p:nvSpPr>
          <p:cNvPr id="5" name="Shape 3"/>
          <p:cNvSpPr/>
          <p:nvPr/>
        </p:nvSpPr>
        <p:spPr>
          <a:xfrm>
            <a:off x="952500" y="1922115"/>
            <a:ext cx="2446809" cy="514350"/>
          </a:xfrm>
          <a:prstGeom prst="rect">
            <a:avLst/>
          </a:prstGeom>
          <a:solidFill>
            <a:srgbClr val="FF6A00">
              <a:alpha val="18000"/>
            </a:srgbClr>
          </a:solidFill>
          <a:ln/>
        </p:spPr>
      </p:sp>
      <p:sp>
        <p:nvSpPr>
          <p:cNvPr id="6" name="Shape 4"/>
          <p:cNvSpPr/>
          <p:nvPr/>
        </p:nvSpPr>
        <p:spPr>
          <a:xfrm>
            <a:off x="952500" y="2426940"/>
            <a:ext cx="2446809" cy="9525"/>
          </a:xfrm>
          <a:prstGeom prst="rect">
            <a:avLst/>
          </a:prstGeom>
          <a:solidFill>
            <a:srgbClr val="B85100"/>
          </a:solidFill>
          <a:ln/>
        </p:spPr>
      </p:sp>
      <p:sp>
        <p:nvSpPr>
          <p:cNvPr id="7" name="Shape 5"/>
          <p:cNvSpPr/>
          <p:nvPr/>
        </p:nvSpPr>
        <p:spPr>
          <a:xfrm>
            <a:off x="3399309" y="1922115"/>
            <a:ext cx="6069360" cy="514350"/>
          </a:xfrm>
          <a:prstGeom prst="rect">
            <a:avLst/>
          </a:prstGeom>
          <a:solidFill>
            <a:srgbClr val="FF6A00">
              <a:alpha val="18000"/>
            </a:srgbClr>
          </a:solidFill>
          <a:ln/>
        </p:spPr>
      </p:sp>
      <p:sp>
        <p:nvSpPr>
          <p:cNvPr id="8" name="Shape 6"/>
          <p:cNvSpPr/>
          <p:nvPr/>
        </p:nvSpPr>
        <p:spPr>
          <a:xfrm>
            <a:off x="3399309" y="2426940"/>
            <a:ext cx="6069360" cy="9525"/>
          </a:xfrm>
          <a:prstGeom prst="rect">
            <a:avLst/>
          </a:prstGeom>
          <a:solidFill>
            <a:srgbClr val="B85100"/>
          </a:solidFill>
          <a:ln/>
        </p:spPr>
      </p:sp>
      <p:sp>
        <p:nvSpPr>
          <p:cNvPr id="9" name="Text 7"/>
          <p:cNvSpPr/>
          <p:nvPr/>
        </p:nvSpPr>
        <p:spPr>
          <a:xfrm>
            <a:off x="3551709" y="2036415"/>
            <a:ext cx="5946641"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Machine Learning</a:t>
            </a:r>
            <a:endParaRPr lang="en-US" sz="1875" dirty="0"/>
          </a:p>
        </p:txBody>
      </p:sp>
      <p:sp>
        <p:nvSpPr>
          <p:cNvPr id="10" name="Shape 8"/>
          <p:cNvSpPr/>
          <p:nvPr/>
        </p:nvSpPr>
        <p:spPr>
          <a:xfrm>
            <a:off x="9468669" y="1922115"/>
            <a:ext cx="7866831" cy="514350"/>
          </a:xfrm>
          <a:prstGeom prst="rect">
            <a:avLst/>
          </a:prstGeom>
          <a:solidFill>
            <a:srgbClr val="FF6A00">
              <a:alpha val="18000"/>
            </a:srgbClr>
          </a:solidFill>
          <a:ln/>
        </p:spPr>
      </p:sp>
      <p:sp>
        <p:nvSpPr>
          <p:cNvPr id="11" name="Shape 9"/>
          <p:cNvSpPr/>
          <p:nvPr/>
        </p:nvSpPr>
        <p:spPr>
          <a:xfrm>
            <a:off x="9468669" y="2426940"/>
            <a:ext cx="7866831" cy="9525"/>
          </a:xfrm>
          <a:prstGeom prst="rect">
            <a:avLst/>
          </a:prstGeom>
          <a:solidFill>
            <a:srgbClr val="B85100"/>
          </a:solidFill>
          <a:ln/>
        </p:spPr>
      </p:sp>
      <p:sp>
        <p:nvSpPr>
          <p:cNvPr id="12" name="Text 10"/>
          <p:cNvSpPr/>
          <p:nvPr/>
        </p:nvSpPr>
        <p:spPr>
          <a:xfrm>
            <a:off x="9621069" y="2036415"/>
            <a:ext cx="7798036"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Deep Learning</a:t>
            </a:r>
            <a:endParaRPr lang="en-US" sz="1875" dirty="0"/>
          </a:p>
        </p:txBody>
      </p:sp>
      <p:sp>
        <p:nvSpPr>
          <p:cNvPr id="13" name="Text 11"/>
          <p:cNvSpPr/>
          <p:nvPr/>
        </p:nvSpPr>
        <p:spPr>
          <a:xfrm>
            <a:off x="1104900" y="2569815"/>
            <a:ext cx="2218209"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Relationship</a:t>
            </a:r>
            <a:endParaRPr lang="en-US" sz="1875" dirty="0"/>
          </a:p>
        </p:txBody>
      </p:sp>
      <p:sp>
        <p:nvSpPr>
          <p:cNvPr id="14" name="Text 12"/>
          <p:cNvSpPr/>
          <p:nvPr/>
        </p:nvSpPr>
        <p:spPr>
          <a:xfrm>
            <a:off x="3551709" y="2569815"/>
            <a:ext cx="5946641"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The broader field</a:t>
            </a:r>
            <a:endParaRPr lang="en-US" sz="1875" dirty="0"/>
          </a:p>
        </p:txBody>
      </p:sp>
      <p:sp>
        <p:nvSpPr>
          <p:cNvPr id="15" name="Text 13"/>
          <p:cNvSpPr/>
          <p:nvPr/>
        </p:nvSpPr>
        <p:spPr>
          <a:xfrm>
            <a:off x="9621069" y="2569815"/>
            <a:ext cx="7798036"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type of machine learning</a:t>
            </a:r>
            <a:endParaRPr lang="en-US" sz="1875" dirty="0"/>
          </a:p>
        </p:txBody>
      </p:sp>
      <p:sp>
        <p:nvSpPr>
          <p:cNvPr id="16" name="Shape 14"/>
          <p:cNvSpPr/>
          <p:nvPr/>
        </p:nvSpPr>
        <p:spPr>
          <a:xfrm>
            <a:off x="952500" y="2988915"/>
            <a:ext cx="16383000" cy="547688"/>
          </a:xfrm>
          <a:prstGeom prst="rect">
            <a:avLst/>
          </a:prstGeom>
          <a:solidFill>
            <a:srgbClr val="FFFFFF">
              <a:alpha val="2000"/>
            </a:srgbClr>
          </a:solidFill>
          <a:ln/>
        </p:spPr>
      </p:sp>
      <p:sp>
        <p:nvSpPr>
          <p:cNvPr id="17" name="Text 15"/>
          <p:cNvSpPr/>
          <p:nvPr/>
        </p:nvSpPr>
        <p:spPr>
          <a:xfrm>
            <a:off x="1104900" y="3122265"/>
            <a:ext cx="2218209"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Technique</a:t>
            </a:r>
            <a:endParaRPr lang="en-US" sz="1875" dirty="0"/>
          </a:p>
        </p:txBody>
      </p:sp>
      <p:sp>
        <p:nvSpPr>
          <p:cNvPr id="18" name="Text 16"/>
          <p:cNvSpPr/>
          <p:nvPr/>
        </p:nvSpPr>
        <p:spPr>
          <a:xfrm>
            <a:off x="3551709" y="3122265"/>
            <a:ext cx="5946641"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Various statistical learning methods</a:t>
            </a:r>
            <a:endParaRPr lang="en-US" sz="1875" dirty="0"/>
          </a:p>
        </p:txBody>
      </p:sp>
      <p:sp>
        <p:nvSpPr>
          <p:cNvPr id="19" name="Text 17"/>
          <p:cNvSpPr/>
          <p:nvPr/>
        </p:nvSpPr>
        <p:spPr>
          <a:xfrm>
            <a:off x="9621069" y="3122265"/>
            <a:ext cx="7798036"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Many-layered artificial neural networks</a:t>
            </a:r>
            <a:endParaRPr lang="en-US" sz="1875" dirty="0"/>
          </a:p>
        </p:txBody>
      </p:sp>
      <p:sp>
        <p:nvSpPr>
          <p:cNvPr id="20" name="Text 18"/>
          <p:cNvSpPr/>
          <p:nvPr/>
        </p:nvSpPr>
        <p:spPr>
          <a:xfrm>
            <a:off x="1104900" y="3669953"/>
            <a:ext cx="2218209"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Typical use</a:t>
            </a:r>
            <a:endParaRPr lang="en-US" sz="1875" dirty="0"/>
          </a:p>
        </p:txBody>
      </p:sp>
      <p:sp>
        <p:nvSpPr>
          <p:cNvPr id="21" name="Text 19"/>
          <p:cNvSpPr/>
          <p:nvPr/>
        </p:nvSpPr>
        <p:spPr>
          <a:xfrm>
            <a:off x="3551709" y="3669953"/>
            <a:ext cx="5946641"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Structured-data prediction, e.g. scoring</a:t>
            </a:r>
            <a:endParaRPr lang="en-US" sz="1875" dirty="0"/>
          </a:p>
        </p:txBody>
      </p:sp>
      <p:sp>
        <p:nvSpPr>
          <p:cNvPr id="22" name="Text 20"/>
          <p:cNvSpPr/>
          <p:nvPr/>
        </p:nvSpPr>
        <p:spPr>
          <a:xfrm>
            <a:off x="9621069" y="3669953"/>
            <a:ext cx="7798036"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Language, images, audio — underpins generative AI</a:t>
            </a:r>
            <a:endParaRPr lang="en-US" sz="18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APPLIED SCENARIO</a:t>
            </a:r>
            <a:endParaRPr lang="en-US" sz="1875" dirty="0"/>
          </a:p>
        </p:txBody>
      </p:sp>
      <p:sp>
        <p:nvSpPr>
          <p:cNvPr id="4" name="Text 2"/>
          <p:cNvSpPr/>
          <p:nvPr/>
        </p:nvSpPr>
        <p:spPr>
          <a:xfrm>
            <a:off x="952500" y="1176338"/>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The Marketing Team Handover</a:t>
            </a:r>
            <a:endParaRPr lang="en-US" sz="2850" dirty="0"/>
          </a:p>
        </p:txBody>
      </p:sp>
      <p:sp>
        <p:nvSpPr>
          <p:cNvPr id="5" name="Shape 3"/>
          <p:cNvSpPr/>
          <p:nvPr/>
        </p:nvSpPr>
        <p:spPr>
          <a:xfrm>
            <a:off x="952500" y="1802085"/>
            <a:ext cx="16383000" cy="1702891"/>
          </a:xfrm>
          <a:prstGeom prst="roundRect">
            <a:avLst>
              <a:gd name="adj" fmla="val 8949"/>
            </a:avLst>
          </a:prstGeom>
          <a:solidFill>
            <a:srgbClr val="FFFFFF">
              <a:alpha val="2000"/>
            </a:srgbClr>
          </a:solidFill>
          <a:ln w="9525">
            <a:solidFill>
              <a:srgbClr val="2A2F3A"/>
            </a:solidFill>
            <a:prstDash val="solid"/>
          </a:ln>
        </p:spPr>
      </p:sp>
      <p:sp>
        <p:nvSpPr>
          <p:cNvPr id="6" name="Text 4"/>
          <p:cNvSpPr/>
          <p:nvPr/>
        </p:nvSpPr>
        <p:spPr>
          <a:xfrm>
            <a:off x="1209675" y="2059260"/>
            <a:ext cx="1636014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You have just joined a mid-sized company's marketing team. In your handover notes, your manager writes: "We use an AI system to help write our social media posts. We also tried machine learning last year to score which leads were most likely to buy. And there's an automation rule in our email tool that flags any enquiry mentioning a refund."</a:t>
            </a:r>
            <a:endParaRPr lang="en-US" sz="1950" dirty="0"/>
          </a:p>
        </p:txBody>
      </p:sp>
      <p:sp>
        <p:nvSpPr>
          <p:cNvPr id="7" name="Text 5"/>
          <p:cNvSpPr/>
          <p:nvPr/>
        </p:nvSpPr>
        <p:spPr>
          <a:xfrm>
            <a:off x="952500" y="3752627"/>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DISCUSS</a:t>
            </a:r>
            <a:endParaRPr lang="en-US" sz="1875" dirty="0"/>
          </a:p>
        </p:txBody>
      </p:sp>
      <p:sp>
        <p:nvSpPr>
          <p:cNvPr id="8" name="Text 6"/>
          <p:cNvSpPr/>
          <p:nvPr/>
        </p:nvSpPr>
        <p:spPr>
          <a:xfrm>
            <a:off x="952500" y="4166964"/>
            <a:ext cx="18021300"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1. Which of the three described tools is rule-based automation, not AI at all?</a:t>
            </a:r>
            <a:endParaRPr lang="en-US" sz="1875" dirty="0"/>
          </a:p>
        </p:txBody>
      </p:sp>
      <p:sp>
        <p:nvSpPr>
          <p:cNvPr id="9" name="Text 7"/>
          <p:cNvSpPr/>
          <p:nvPr/>
        </p:nvSpPr>
        <p:spPr>
          <a:xfrm>
            <a:off x="952500" y="4543202"/>
            <a:ext cx="18021300"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2. The lead-scoring tool and the social-post writer are both "AI" — what type of AI is each, and how do you know?</a:t>
            </a:r>
            <a:endParaRPr lang="en-US" sz="1875" dirty="0"/>
          </a:p>
        </p:txBody>
      </p:sp>
      <p:sp>
        <p:nvSpPr>
          <p:cNvPr id="10" name="Text 8"/>
          <p:cNvSpPr/>
          <p:nvPr/>
        </p:nvSpPr>
        <p:spPr>
          <a:xfrm>
            <a:off x="952500" y="4919439"/>
            <a:ext cx="18021300"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3. Which one is generative AI specifically, and which is predictive/analytical AI?</a:t>
            </a:r>
            <a:endParaRPr lang="en-US" sz="18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PRACTICAL APPLICATION</a:t>
            </a:r>
            <a:endParaRPr lang="en-US" sz="1875" dirty="0"/>
          </a:p>
        </p:txBody>
      </p:sp>
      <p:sp>
        <p:nvSpPr>
          <p:cNvPr id="4" name="Text 2"/>
          <p:cNvSpPr/>
          <p:nvPr/>
        </p:nvSpPr>
        <p:spPr>
          <a:xfrm>
            <a:off x="952500" y="1176338"/>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Classify The Technology</a:t>
            </a:r>
            <a:endParaRPr lang="en-US" sz="2850" dirty="0"/>
          </a:p>
        </p:txBody>
      </p:sp>
      <p:sp>
        <p:nvSpPr>
          <p:cNvPr id="5" name="Text 3"/>
          <p:cNvSpPr/>
          <p:nvPr/>
        </p:nvSpPr>
        <p:spPr>
          <a:xfrm>
            <a:off x="952500" y="1821135"/>
            <a:ext cx="1802130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For each system, decide: rule-based automation, or artificial intelligence?</a:t>
            </a:r>
            <a:endParaRPr lang="en-US" sz="1950" dirty="0"/>
          </a:p>
        </p:txBody>
      </p:sp>
      <p:sp>
        <p:nvSpPr>
          <p:cNvPr id="6" name="Shape 4"/>
          <p:cNvSpPr/>
          <p:nvPr/>
        </p:nvSpPr>
        <p:spPr>
          <a:xfrm>
            <a:off x="952500" y="2407816"/>
            <a:ext cx="8115300" cy="681038"/>
          </a:xfrm>
          <a:prstGeom prst="roundRect">
            <a:avLst>
              <a:gd name="adj" fmla="val 19580"/>
            </a:avLst>
          </a:prstGeom>
          <a:solidFill>
            <a:srgbClr val="FFFFFF">
              <a:alpha val="2000"/>
            </a:srgbClr>
          </a:solidFill>
          <a:ln w="9525">
            <a:solidFill>
              <a:srgbClr val="2A2F3A"/>
            </a:solidFill>
            <a:prstDash val="solid"/>
          </a:ln>
        </p:spPr>
      </p:sp>
      <p:sp>
        <p:nvSpPr>
          <p:cNvPr id="7" name="Text 5"/>
          <p:cNvSpPr/>
          <p:nvPr/>
        </p:nvSpPr>
        <p:spPr>
          <a:xfrm>
            <a:off x="1152525" y="2607841"/>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thermostat that switches on at a fixed temperature</a:t>
            </a:r>
            <a:endParaRPr lang="en-US" sz="1875" dirty="0"/>
          </a:p>
        </p:txBody>
      </p:sp>
      <p:sp>
        <p:nvSpPr>
          <p:cNvPr id="8" name="Shape 6"/>
          <p:cNvSpPr/>
          <p:nvPr/>
        </p:nvSpPr>
        <p:spPr>
          <a:xfrm>
            <a:off x="9220200" y="2407816"/>
            <a:ext cx="8115300" cy="681038"/>
          </a:xfrm>
          <a:prstGeom prst="roundRect">
            <a:avLst>
              <a:gd name="adj" fmla="val 19580"/>
            </a:avLst>
          </a:prstGeom>
          <a:solidFill>
            <a:srgbClr val="FFFFFF">
              <a:alpha val="2000"/>
            </a:srgbClr>
          </a:solidFill>
          <a:ln w="9525">
            <a:solidFill>
              <a:srgbClr val="2A2F3A"/>
            </a:solidFill>
            <a:prstDash val="solid"/>
          </a:ln>
        </p:spPr>
      </p:sp>
      <p:sp>
        <p:nvSpPr>
          <p:cNvPr id="9" name="Text 7"/>
          <p:cNvSpPr/>
          <p:nvPr/>
        </p:nvSpPr>
        <p:spPr>
          <a:xfrm>
            <a:off x="9420225" y="2607841"/>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spam filter that adjusts its own criteria from past email</a:t>
            </a:r>
            <a:endParaRPr lang="en-US" sz="1875" dirty="0"/>
          </a:p>
        </p:txBody>
      </p:sp>
      <p:sp>
        <p:nvSpPr>
          <p:cNvPr id="10" name="Shape 8"/>
          <p:cNvSpPr/>
          <p:nvPr/>
        </p:nvSpPr>
        <p:spPr>
          <a:xfrm>
            <a:off x="952500" y="3241253"/>
            <a:ext cx="8115300" cy="681038"/>
          </a:xfrm>
          <a:prstGeom prst="roundRect">
            <a:avLst>
              <a:gd name="adj" fmla="val 19580"/>
            </a:avLst>
          </a:prstGeom>
          <a:solidFill>
            <a:srgbClr val="FFFFFF">
              <a:alpha val="2000"/>
            </a:srgbClr>
          </a:solidFill>
          <a:ln w="9525">
            <a:solidFill>
              <a:srgbClr val="2A2F3A"/>
            </a:solidFill>
            <a:prstDash val="solid"/>
          </a:ln>
        </p:spPr>
      </p:sp>
      <p:sp>
        <p:nvSpPr>
          <p:cNvPr id="11" name="Text 9"/>
          <p:cNvSpPr/>
          <p:nvPr/>
        </p:nvSpPr>
        <p:spPr>
          <a:xfrm>
            <a:off x="1152525" y="3441278"/>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tool that drafts a first version of a report from a short prompt</a:t>
            </a:r>
            <a:endParaRPr lang="en-US" sz="1875" dirty="0"/>
          </a:p>
        </p:txBody>
      </p:sp>
      <p:sp>
        <p:nvSpPr>
          <p:cNvPr id="12" name="Shape 10"/>
          <p:cNvSpPr/>
          <p:nvPr/>
        </p:nvSpPr>
        <p:spPr>
          <a:xfrm>
            <a:off x="9220200" y="3241253"/>
            <a:ext cx="8115300" cy="681038"/>
          </a:xfrm>
          <a:prstGeom prst="roundRect">
            <a:avLst>
              <a:gd name="adj" fmla="val 19580"/>
            </a:avLst>
          </a:prstGeom>
          <a:solidFill>
            <a:srgbClr val="FFFFFF">
              <a:alpha val="2000"/>
            </a:srgbClr>
          </a:solidFill>
          <a:ln w="9525">
            <a:solidFill>
              <a:srgbClr val="2A2F3A"/>
            </a:solidFill>
            <a:prstDash val="solid"/>
          </a:ln>
        </p:spPr>
      </p:sp>
      <p:sp>
        <p:nvSpPr>
          <p:cNvPr id="13" name="Text 11"/>
          <p:cNvSpPr/>
          <p:nvPr/>
        </p:nvSpPr>
        <p:spPr>
          <a:xfrm>
            <a:off x="9420225" y="3441278"/>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tax calculator that applies a fixed set of published rate bands</a:t>
            </a:r>
            <a:endParaRPr lang="en-US" sz="18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PRACTICAL APPLICATION</a:t>
            </a:r>
            <a:endParaRPr lang="en-US" sz="1875" dirty="0"/>
          </a:p>
        </p:txBody>
      </p:sp>
      <p:sp>
        <p:nvSpPr>
          <p:cNvPr id="4" name="Text 2"/>
          <p:cNvSpPr/>
          <p:nvPr/>
        </p:nvSpPr>
        <p:spPr>
          <a:xfrm>
            <a:off x="952500" y="1176338"/>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Spot The Nested Layer</a:t>
            </a:r>
            <a:endParaRPr lang="en-US" sz="2850" dirty="0"/>
          </a:p>
        </p:txBody>
      </p:sp>
      <p:sp>
        <p:nvSpPr>
          <p:cNvPr id="5" name="Text 3"/>
          <p:cNvSpPr/>
          <p:nvPr/>
        </p:nvSpPr>
        <p:spPr>
          <a:xfrm>
            <a:off x="952500" y="1821135"/>
            <a:ext cx="1802130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Place each capability at its most specific level: AI, machine learning, deep learning, or generative AI.</a:t>
            </a:r>
            <a:endParaRPr lang="en-US" sz="1950" dirty="0"/>
          </a:p>
        </p:txBody>
      </p:sp>
      <p:sp>
        <p:nvSpPr>
          <p:cNvPr id="6" name="Shape 4"/>
          <p:cNvSpPr/>
          <p:nvPr/>
        </p:nvSpPr>
        <p:spPr>
          <a:xfrm>
            <a:off x="952500" y="2407816"/>
            <a:ext cx="8115300" cy="681038"/>
          </a:xfrm>
          <a:prstGeom prst="roundRect">
            <a:avLst>
              <a:gd name="adj" fmla="val 19580"/>
            </a:avLst>
          </a:prstGeom>
          <a:solidFill>
            <a:srgbClr val="FFFFFF">
              <a:alpha val="2000"/>
            </a:srgbClr>
          </a:solidFill>
          <a:ln w="9525">
            <a:solidFill>
              <a:srgbClr val="2A2F3A"/>
            </a:solidFill>
            <a:prstDash val="solid"/>
          </a:ln>
        </p:spPr>
      </p:sp>
      <p:sp>
        <p:nvSpPr>
          <p:cNvPr id="7" name="Text 5"/>
          <p:cNvSpPr/>
          <p:nvPr/>
        </p:nvSpPr>
        <p:spPr>
          <a:xfrm>
            <a:off x="1152525" y="2607841"/>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streaming service's "recommended for you" row</a:t>
            </a:r>
            <a:endParaRPr lang="en-US" sz="1875" dirty="0"/>
          </a:p>
        </p:txBody>
      </p:sp>
      <p:sp>
        <p:nvSpPr>
          <p:cNvPr id="8" name="Shape 6"/>
          <p:cNvSpPr/>
          <p:nvPr/>
        </p:nvSpPr>
        <p:spPr>
          <a:xfrm>
            <a:off x="9220200" y="2407816"/>
            <a:ext cx="8115300" cy="681038"/>
          </a:xfrm>
          <a:prstGeom prst="roundRect">
            <a:avLst>
              <a:gd name="adj" fmla="val 19580"/>
            </a:avLst>
          </a:prstGeom>
          <a:solidFill>
            <a:srgbClr val="FFFFFF">
              <a:alpha val="2000"/>
            </a:srgbClr>
          </a:solidFill>
          <a:ln w="9525">
            <a:solidFill>
              <a:srgbClr val="2A2F3A"/>
            </a:solidFill>
            <a:prstDash val="solid"/>
          </a:ln>
        </p:spPr>
      </p:sp>
      <p:sp>
        <p:nvSpPr>
          <p:cNvPr id="9" name="Text 7"/>
          <p:cNvSpPr/>
          <p:nvPr/>
        </p:nvSpPr>
        <p:spPr>
          <a:xfrm>
            <a:off x="9420225" y="2607841"/>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tool that generates a photorealistic image from a text description</a:t>
            </a:r>
            <a:endParaRPr lang="en-US" sz="1875" dirty="0"/>
          </a:p>
        </p:txBody>
      </p:sp>
      <p:sp>
        <p:nvSpPr>
          <p:cNvPr id="10" name="Shape 8"/>
          <p:cNvSpPr/>
          <p:nvPr/>
        </p:nvSpPr>
        <p:spPr>
          <a:xfrm>
            <a:off x="952500" y="3241253"/>
            <a:ext cx="8115300" cy="681038"/>
          </a:xfrm>
          <a:prstGeom prst="roundRect">
            <a:avLst>
              <a:gd name="adj" fmla="val 19580"/>
            </a:avLst>
          </a:prstGeom>
          <a:solidFill>
            <a:srgbClr val="FFFFFF">
              <a:alpha val="2000"/>
            </a:srgbClr>
          </a:solidFill>
          <a:ln w="9525">
            <a:solidFill>
              <a:srgbClr val="2A2F3A"/>
            </a:solidFill>
            <a:prstDash val="solid"/>
          </a:ln>
        </p:spPr>
      </p:sp>
      <p:sp>
        <p:nvSpPr>
          <p:cNvPr id="11" name="Text 9"/>
          <p:cNvSpPr/>
          <p:nvPr/>
        </p:nvSpPr>
        <p:spPr>
          <a:xfrm>
            <a:off x="1152525" y="3441278"/>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smart thermostat that learns your weekly routine</a:t>
            </a:r>
            <a:endParaRPr lang="en-US" sz="1875" dirty="0"/>
          </a:p>
        </p:txBody>
      </p:sp>
      <p:sp>
        <p:nvSpPr>
          <p:cNvPr id="12" name="Shape 10"/>
          <p:cNvSpPr/>
          <p:nvPr/>
        </p:nvSpPr>
        <p:spPr>
          <a:xfrm>
            <a:off x="9220200" y="3241253"/>
            <a:ext cx="8115300" cy="681038"/>
          </a:xfrm>
          <a:prstGeom prst="roundRect">
            <a:avLst>
              <a:gd name="adj" fmla="val 19580"/>
            </a:avLst>
          </a:prstGeom>
          <a:solidFill>
            <a:srgbClr val="FFFFFF">
              <a:alpha val="2000"/>
            </a:srgbClr>
          </a:solidFill>
          <a:ln w="9525">
            <a:solidFill>
              <a:srgbClr val="2A2F3A"/>
            </a:solidFill>
            <a:prstDash val="solid"/>
          </a:ln>
        </p:spPr>
      </p:sp>
      <p:sp>
        <p:nvSpPr>
          <p:cNvPr id="13" name="Text 11"/>
          <p:cNvSpPr/>
          <p:nvPr/>
        </p:nvSpPr>
        <p:spPr>
          <a:xfrm>
            <a:off x="9420225" y="3441278"/>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chatbot that holds a natural conversation and answers questions</a:t>
            </a:r>
            <a:endParaRPr lang="en-US" sz="187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PRACTICAL APPLICATION</a:t>
            </a:r>
            <a:endParaRPr lang="en-US" sz="1875" dirty="0"/>
          </a:p>
        </p:txBody>
      </p:sp>
      <p:sp>
        <p:nvSpPr>
          <p:cNvPr id="4" name="Text 2"/>
          <p:cNvSpPr/>
          <p:nvPr/>
        </p:nvSpPr>
        <p:spPr>
          <a:xfrm>
            <a:off x="952500" y="1176338"/>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The Everyday-AI Audit</a:t>
            </a:r>
            <a:endParaRPr lang="en-US" sz="2850" dirty="0"/>
          </a:p>
        </p:txBody>
      </p:sp>
      <p:sp>
        <p:nvSpPr>
          <p:cNvPr id="5" name="Text 3"/>
          <p:cNvSpPr/>
          <p:nvPr/>
        </p:nvSpPr>
        <p:spPr>
          <a:xfrm>
            <a:off x="952500" y="1821135"/>
            <a:ext cx="11772900" cy="1300981"/>
          </a:xfrm>
          <a:prstGeom prst="rect">
            <a:avLst/>
          </a:prstGeom>
          <a:noFill/>
          <a:ln/>
        </p:spPr>
        <p:txBody>
          <a:bodyPr wrap="square" lIns="25400" tIns="25400" rIns="25400" bIns="25400" rtlCol="0" anchor="t">
            <a:normAutofit/>
          </a:bodyPr>
          <a:lstStyle/>
          <a:p>
            <a:pPr algn="l" indent="0" marL="0">
              <a:lnSpc>
                <a:spcPct val="147333"/>
              </a:lnSpc>
              <a:buNone/>
            </a:pPr>
            <a:r>
              <a:rPr lang="en-US" sz="1950" dirty="0">
                <a:solidFill>
                  <a:srgbClr val="DFE3EA"/>
                </a:solidFill>
                <a:latin typeface="Arial" pitchFamily="34" charset="0"/>
                <a:ea typeface="Arial" pitchFamily="34" charset="-122"/>
                <a:cs typeface="Arial" pitchFamily="34" charset="-120"/>
              </a:rPr>
              <a:t>List three AI systems you personally interacted with in the last 24 hours. For each one, note whether it is best described as predictive/analytical AI or generative AI, and whether it is narrow AI applied broadly (a foundation model) or narrow AI applied to one specific job.</a:t>
            </a:r>
            <a:endParaRPr lang="en-US" sz="1950" dirty="0"/>
          </a:p>
        </p:txBody>
      </p:sp>
      <p:sp>
        <p:nvSpPr>
          <p:cNvPr id="6" name="Shape 4"/>
          <p:cNvSpPr/>
          <p:nvPr/>
        </p:nvSpPr>
        <p:spPr>
          <a:xfrm>
            <a:off x="952500" y="3331666"/>
            <a:ext cx="16383000" cy="1000125"/>
          </a:xfrm>
          <a:prstGeom prst="roundRect">
            <a:avLst>
              <a:gd name="adj" fmla="val 15238"/>
            </a:avLst>
          </a:prstGeom>
          <a:solidFill>
            <a:srgbClr val="FFFFFF">
              <a:alpha val="2000"/>
            </a:srgbClr>
          </a:solidFill>
          <a:ln w="9525">
            <a:solidFill>
              <a:srgbClr val="2A2F3A"/>
            </a:solidFill>
            <a:prstDash val="solid"/>
          </a:ln>
        </p:spPr>
      </p:sp>
      <p:sp>
        <p:nvSpPr>
          <p:cNvPr id="7" name="Text 5"/>
          <p:cNvSpPr/>
          <p:nvPr/>
        </p:nvSpPr>
        <p:spPr>
          <a:xfrm>
            <a:off x="1171575" y="3550741"/>
            <a:ext cx="16436340" cy="600075"/>
          </a:xfrm>
          <a:prstGeom prst="rect">
            <a:avLst/>
          </a:prstGeom>
          <a:noFill/>
          <a:ln/>
        </p:spPr>
        <p:txBody>
          <a:bodyPr wrap="square" lIns="25400" tIns="25400" rIns="25400" bIns="25400" rtlCol="0" anchor="t">
            <a:normAutofit/>
          </a:bodyPr>
          <a:lstStyle/>
          <a:p>
            <a:pPr algn="l" indent="0" marL="0">
              <a:buNone/>
            </a:pPr>
            <a:r>
              <a:rPr lang="en-US" sz="1875" dirty="0">
                <a:solidFill>
                  <a:srgbClr val="B8C0CF"/>
                </a:solidFill>
                <a:latin typeface="Arial" pitchFamily="34" charset="0"/>
                <a:ea typeface="Arial" pitchFamily="34" charset="-122"/>
                <a:cs typeface="Arial" pitchFamily="34" charset="-120"/>
              </a:rPr>
              <a:t>Tip: if you are not sure whether something used AI at all, ask what it would take to replace it with a fixed set of if-this-then-that rules. If that is impossible, data-driven learning is probably involved.</a:t>
            </a:r>
            <a:endParaRPr lang="en-US" sz="187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ACRONYM SPOTLIGHT</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1 Acronyms</a:t>
            </a:r>
            <a:endParaRPr lang="en-US" sz="3150" dirty="0"/>
          </a:p>
        </p:txBody>
      </p:sp>
      <p:sp>
        <p:nvSpPr>
          <p:cNvPr id="5" name="Shape 3"/>
          <p:cNvSpPr/>
          <p:nvPr/>
        </p:nvSpPr>
        <p:spPr>
          <a:xfrm>
            <a:off x="952500" y="1922115"/>
            <a:ext cx="1817117" cy="514350"/>
          </a:xfrm>
          <a:prstGeom prst="rect">
            <a:avLst/>
          </a:prstGeom>
          <a:solidFill>
            <a:srgbClr val="FF6A00">
              <a:alpha val="18000"/>
            </a:srgbClr>
          </a:solidFill>
          <a:ln/>
        </p:spPr>
      </p:sp>
      <p:sp>
        <p:nvSpPr>
          <p:cNvPr id="6" name="Shape 4"/>
          <p:cNvSpPr/>
          <p:nvPr/>
        </p:nvSpPr>
        <p:spPr>
          <a:xfrm>
            <a:off x="952500" y="2426940"/>
            <a:ext cx="1817117" cy="9525"/>
          </a:xfrm>
          <a:prstGeom prst="rect">
            <a:avLst/>
          </a:prstGeom>
          <a:solidFill>
            <a:srgbClr val="B85100"/>
          </a:solidFill>
          <a:ln/>
        </p:spPr>
      </p:sp>
      <p:sp>
        <p:nvSpPr>
          <p:cNvPr id="7" name="Text 5"/>
          <p:cNvSpPr/>
          <p:nvPr/>
        </p:nvSpPr>
        <p:spPr>
          <a:xfrm>
            <a:off x="1104900" y="2036415"/>
            <a:ext cx="1588517"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Acronym</a:t>
            </a:r>
            <a:endParaRPr lang="en-US" sz="1875" dirty="0"/>
          </a:p>
        </p:txBody>
      </p:sp>
      <p:sp>
        <p:nvSpPr>
          <p:cNvPr id="8" name="Shape 6"/>
          <p:cNvSpPr/>
          <p:nvPr/>
        </p:nvSpPr>
        <p:spPr>
          <a:xfrm>
            <a:off x="2769617" y="1922115"/>
            <a:ext cx="4482405" cy="514350"/>
          </a:xfrm>
          <a:prstGeom prst="rect">
            <a:avLst/>
          </a:prstGeom>
          <a:solidFill>
            <a:srgbClr val="FF6A00">
              <a:alpha val="18000"/>
            </a:srgbClr>
          </a:solidFill>
          <a:ln/>
        </p:spPr>
      </p:sp>
      <p:sp>
        <p:nvSpPr>
          <p:cNvPr id="9" name="Shape 7"/>
          <p:cNvSpPr/>
          <p:nvPr/>
        </p:nvSpPr>
        <p:spPr>
          <a:xfrm>
            <a:off x="2769617" y="2426940"/>
            <a:ext cx="4482405" cy="9525"/>
          </a:xfrm>
          <a:prstGeom prst="rect">
            <a:avLst/>
          </a:prstGeom>
          <a:solidFill>
            <a:srgbClr val="B85100"/>
          </a:solidFill>
          <a:ln/>
        </p:spPr>
      </p:sp>
      <p:sp>
        <p:nvSpPr>
          <p:cNvPr id="10" name="Text 8"/>
          <p:cNvSpPr/>
          <p:nvPr/>
        </p:nvSpPr>
        <p:spPr>
          <a:xfrm>
            <a:off x="2922017" y="2036415"/>
            <a:ext cx="4312078"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Stands For</a:t>
            </a:r>
            <a:endParaRPr lang="en-US" sz="1875" dirty="0"/>
          </a:p>
        </p:txBody>
      </p:sp>
      <p:sp>
        <p:nvSpPr>
          <p:cNvPr id="11" name="Shape 9"/>
          <p:cNvSpPr/>
          <p:nvPr/>
        </p:nvSpPr>
        <p:spPr>
          <a:xfrm>
            <a:off x="7252022" y="1922115"/>
            <a:ext cx="10083478" cy="514350"/>
          </a:xfrm>
          <a:prstGeom prst="rect">
            <a:avLst/>
          </a:prstGeom>
          <a:solidFill>
            <a:srgbClr val="FF6A00">
              <a:alpha val="18000"/>
            </a:srgbClr>
          </a:solidFill>
          <a:ln/>
        </p:spPr>
      </p:sp>
      <p:sp>
        <p:nvSpPr>
          <p:cNvPr id="12" name="Shape 10"/>
          <p:cNvSpPr/>
          <p:nvPr/>
        </p:nvSpPr>
        <p:spPr>
          <a:xfrm>
            <a:off x="7252022" y="2426940"/>
            <a:ext cx="10083478" cy="9525"/>
          </a:xfrm>
          <a:prstGeom prst="rect">
            <a:avLst/>
          </a:prstGeom>
          <a:solidFill>
            <a:srgbClr val="B85100"/>
          </a:solidFill>
          <a:ln/>
        </p:spPr>
      </p:sp>
      <p:sp>
        <p:nvSpPr>
          <p:cNvPr id="13" name="Text 11"/>
          <p:cNvSpPr/>
          <p:nvPr/>
        </p:nvSpPr>
        <p:spPr>
          <a:xfrm>
            <a:off x="7404422" y="2036415"/>
            <a:ext cx="10081182"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In One Line</a:t>
            </a:r>
            <a:endParaRPr lang="en-US" sz="1875" dirty="0"/>
          </a:p>
        </p:txBody>
      </p:sp>
      <p:sp>
        <p:nvSpPr>
          <p:cNvPr id="14" name="Text 12"/>
          <p:cNvSpPr/>
          <p:nvPr/>
        </p:nvSpPr>
        <p:spPr>
          <a:xfrm>
            <a:off x="1104900" y="2550765"/>
            <a:ext cx="1588517"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AI</a:t>
            </a:r>
            <a:endParaRPr lang="en-US" sz="1875" dirty="0"/>
          </a:p>
        </p:txBody>
      </p:sp>
      <p:sp>
        <p:nvSpPr>
          <p:cNvPr id="15" name="Text 13"/>
          <p:cNvSpPr/>
          <p:nvPr/>
        </p:nvSpPr>
        <p:spPr>
          <a:xfrm>
            <a:off x="2922017" y="2550765"/>
            <a:ext cx="4312078"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Artificial Intelligence</a:t>
            </a:r>
            <a:endParaRPr lang="en-US" sz="1875" dirty="0"/>
          </a:p>
        </p:txBody>
      </p:sp>
      <p:sp>
        <p:nvSpPr>
          <p:cNvPr id="16" name="Text 14"/>
          <p:cNvSpPr/>
          <p:nvPr/>
        </p:nvSpPr>
        <p:spPr>
          <a:xfrm>
            <a:off x="7404422" y="2550765"/>
            <a:ext cx="10081182"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Tasks normally requiring human intelligence, performed by computer</a:t>
            </a:r>
            <a:endParaRPr lang="en-US" sz="1875" dirty="0"/>
          </a:p>
        </p:txBody>
      </p:sp>
      <p:sp>
        <p:nvSpPr>
          <p:cNvPr id="17" name="Shape 15"/>
          <p:cNvSpPr/>
          <p:nvPr/>
        </p:nvSpPr>
        <p:spPr>
          <a:xfrm>
            <a:off x="952500" y="2950815"/>
            <a:ext cx="16383000" cy="509587"/>
          </a:xfrm>
          <a:prstGeom prst="rect">
            <a:avLst/>
          </a:prstGeom>
          <a:solidFill>
            <a:srgbClr val="FFFFFF">
              <a:alpha val="2000"/>
            </a:srgbClr>
          </a:solidFill>
          <a:ln/>
        </p:spPr>
      </p:sp>
      <p:sp>
        <p:nvSpPr>
          <p:cNvPr id="18" name="Text 16"/>
          <p:cNvSpPr/>
          <p:nvPr/>
        </p:nvSpPr>
        <p:spPr>
          <a:xfrm>
            <a:off x="1104900" y="3065115"/>
            <a:ext cx="1588517"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ML</a:t>
            </a:r>
            <a:endParaRPr lang="en-US" sz="1875" dirty="0"/>
          </a:p>
        </p:txBody>
      </p:sp>
      <p:sp>
        <p:nvSpPr>
          <p:cNvPr id="19" name="Text 17"/>
          <p:cNvSpPr/>
          <p:nvPr/>
        </p:nvSpPr>
        <p:spPr>
          <a:xfrm>
            <a:off x="2922017" y="3065115"/>
            <a:ext cx="4312078"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Machine Learning</a:t>
            </a:r>
            <a:endParaRPr lang="en-US" sz="1875" dirty="0"/>
          </a:p>
        </p:txBody>
      </p:sp>
      <p:sp>
        <p:nvSpPr>
          <p:cNvPr id="20" name="Text 18"/>
          <p:cNvSpPr/>
          <p:nvPr/>
        </p:nvSpPr>
        <p:spPr>
          <a:xfrm>
            <a:off x="7404422" y="3065115"/>
            <a:ext cx="1008118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Learning patterns from data instead of fixed rules</a:t>
            </a:r>
            <a:endParaRPr lang="en-US" sz="1875" dirty="0"/>
          </a:p>
        </p:txBody>
      </p:sp>
      <p:sp>
        <p:nvSpPr>
          <p:cNvPr id="21" name="Text 19"/>
          <p:cNvSpPr/>
          <p:nvPr/>
        </p:nvSpPr>
        <p:spPr>
          <a:xfrm>
            <a:off x="1104900" y="3574703"/>
            <a:ext cx="1588517"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DL</a:t>
            </a:r>
            <a:endParaRPr lang="en-US" sz="1875" dirty="0"/>
          </a:p>
        </p:txBody>
      </p:sp>
      <p:sp>
        <p:nvSpPr>
          <p:cNvPr id="22" name="Text 20"/>
          <p:cNvSpPr/>
          <p:nvPr/>
        </p:nvSpPr>
        <p:spPr>
          <a:xfrm>
            <a:off x="2922017" y="3574703"/>
            <a:ext cx="4312078"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Deep Learning</a:t>
            </a:r>
            <a:endParaRPr lang="en-US" sz="1875" dirty="0"/>
          </a:p>
        </p:txBody>
      </p:sp>
      <p:sp>
        <p:nvSpPr>
          <p:cNvPr id="23" name="Text 21"/>
          <p:cNvSpPr/>
          <p:nvPr/>
        </p:nvSpPr>
        <p:spPr>
          <a:xfrm>
            <a:off x="7404422" y="3574703"/>
            <a:ext cx="1008118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ML using many-layered neural networks</a:t>
            </a:r>
            <a:endParaRPr lang="en-US" sz="1875" dirty="0"/>
          </a:p>
        </p:txBody>
      </p:sp>
      <p:sp>
        <p:nvSpPr>
          <p:cNvPr id="24" name="Shape 22"/>
          <p:cNvSpPr/>
          <p:nvPr/>
        </p:nvSpPr>
        <p:spPr>
          <a:xfrm>
            <a:off x="952500" y="3969990"/>
            <a:ext cx="16383000" cy="509587"/>
          </a:xfrm>
          <a:prstGeom prst="rect">
            <a:avLst/>
          </a:prstGeom>
          <a:solidFill>
            <a:srgbClr val="FFFFFF">
              <a:alpha val="2000"/>
            </a:srgbClr>
          </a:solidFill>
          <a:ln/>
        </p:spPr>
      </p:sp>
      <p:sp>
        <p:nvSpPr>
          <p:cNvPr id="25" name="Text 23"/>
          <p:cNvSpPr/>
          <p:nvPr/>
        </p:nvSpPr>
        <p:spPr>
          <a:xfrm>
            <a:off x="1104900" y="4084290"/>
            <a:ext cx="1588517"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LLM</a:t>
            </a:r>
            <a:endParaRPr lang="en-US" sz="1875" dirty="0"/>
          </a:p>
        </p:txBody>
      </p:sp>
      <p:sp>
        <p:nvSpPr>
          <p:cNvPr id="26" name="Text 24"/>
          <p:cNvSpPr/>
          <p:nvPr/>
        </p:nvSpPr>
        <p:spPr>
          <a:xfrm>
            <a:off x="2922017" y="4084290"/>
            <a:ext cx="4312078"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Large Language Model</a:t>
            </a:r>
            <a:endParaRPr lang="en-US" sz="1875" dirty="0"/>
          </a:p>
        </p:txBody>
      </p:sp>
      <p:sp>
        <p:nvSpPr>
          <p:cNvPr id="27" name="Text 25"/>
          <p:cNvSpPr/>
          <p:nvPr/>
        </p:nvSpPr>
        <p:spPr>
          <a:xfrm>
            <a:off x="7404422" y="4084290"/>
            <a:ext cx="1008118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 foundation model specialised in text</a:t>
            </a:r>
            <a:endParaRPr lang="en-US" sz="1875" dirty="0"/>
          </a:p>
        </p:txBody>
      </p:sp>
      <p:sp>
        <p:nvSpPr>
          <p:cNvPr id="28" name="Text 26"/>
          <p:cNvSpPr/>
          <p:nvPr/>
        </p:nvSpPr>
        <p:spPr>
          <a:xfrm>
            <a:off x="1104900" y="4593878"/>
            <a:ext cx="1588517"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AGI</a:t>
            </a:r>
            <a:endParaRPr lang="en-US" sz="1875" dirty="0"/>
          </a:p>
        </p:txBody>
      </p:sp>
      <p:sp>
        <p:nvSpPr>
          <p:cNvPr id="29" name="Text 27"/>
          <p:cNvSpPr/>
          <p:nvPr/>
        </p:nvSpPr>
        <p:spPr>
          <a:xfrm>
            <a:off x="2922017" y="4593878"/>
            <a:ext cx="4312078"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Artificial General Intelligence</a:t>
            </a:r>
            <a:endParaRPr lang="en-US" sz="1875" dirty="0"/>
          </a:p>
        </p:txBody>
      </p:sp>
      <p:sp>
        <p:nvSpPr>
          <p:cNvPr id="30" name="Text 28"/>
          <p:cNvSpPr/>
          <p:nvPr/>
        </p:nvSpPr>
        <p:spPr>
          <a:xfrm>
            <a:off x="7404422" y="4593878"/>
            <a:ext cx="10081182"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Hypothetical human-like, any-task AI — does not exist</a:t>
            </a:r>
            <a:endParaRPr lang="en-US" sz="18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COMMON MISCONCEPTIONS</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Exam Distractor Patterns To Recognise</a:t>
            </a:r>
            <a:endParaRPr lang="en-US" sz="3150" dirty="0"/>
          </a:p>
        </p:txBody>
      </p:sp>
      <p:sp>
        <p:nvSpPr>
          <p:cNvPr id="5" name="Shape 3"/>
          <p:cNvSpPr/>
          <p:nvPr/>
        </p:nvSpPr>
        <p:spPr>
          <a:xfrm>
            <a:off x="952500" y="1884015"/>
            <a:ext cx="16383000" cy="676275"/>
          </a:xfrm>
          <a:prstGeom prst="roundRect">
            <a:avLst>
              <a:gd name="adj" fmla="val 19718"/>
            </a:avLst>
          </a:prstGeom>
          <a:solidFill>
            <a:srgbClr val="FF6A00">
              <a:alpha val="6000"/>
            </a:srgbClr>
          </a:solidFill>
          <a:ln w="9525">
            <a:solidFill>
              <a:srgbClr val="B85100"/>
            </a:solidFill>
            <a:prstDash val="solid"/>
          </a:ln>
        </p:spPr>
      </p:sp>
      <p:sp>
        <p:nvSpPr>
          <p:cNvPr id="6" name="Text 4"/>
          <p:cNvSpPr/>
          <p:nvPr/>
        </p:nvSpPr>
        <p:spPr>
          <a:xfrm>
            <a:off x="1171575" y="2064990"/>
            <a:ext cx="1643634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 "AI" and "automation" mean the same thing — automation follows fixed rules; AI learns from data.</a:t>
            </a:r>
            <a:endParaRPr lang="en-US" sz="1875" dirty="0"/>
          </a:p>
        </p:txBody>
      </p:sp>
      <p:sp>
        <p:nvSpPr>
          <p:cNvPr id="7" name="Shape 5"/>
          <p:cNvSpPr/>
          <p:nvPr/>
        </p:nvSpPr>
        <p:spPr>
          <a:xfrm>
            <a:off x="952500" y="2693640"/>
            <a:ext cx="16383000" cy="676275"/>
          </a:xfrm>
          <a:prstGeom prst="roundRect">
            <a:avLst>
              <a:gd name="adj" fmla="val 19718"/>
            </a:avLst>
          </a:prstGeom>
          <a:solidFill>
            <a:srgbClr val="FF6A00">
              <a:alpha val="6000"/>
            </a:srgbClr>
          </a:solidFill>
          <a:ln w="9525">
            <a:solidFill>
              <a:srgbClr val="B85100"/>
            </a:solidFill>
            <a:prstDash val="solid"/>
          </a:ln>
        </p:spPr>
      </p:sp>
      <p:sp>
        <p:nvSpPr>
          <p:cNvPr id="8" name="Text 6"/>
          <p:cNvSpPr/>
          <p:nvPr/>
        </p:nvSpPr>
        <p:spPr>
          <a:xfrm>
            <a:off x="1171575" y="2874615"/>
            <a:ext cx="1643634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 Generative AI is the only type of AI — predictive/analytical AI is older and just as widespread.</a:t>
            </a:r>
            <a:endParaRPr lang="en-US" sz="1875" dirty="0"/>
          </a:p>
        </p:txBody>
      </p:sp>
      <p:sp>
        <p:nvSpPr>
          <p:cNvPr id="9" name="Shape 7"/>
          <p:cNvSpPr/>
          <p:nvPr/>
        </p:nvSpPr>
        <p:spPr>
          <a:xfrm>
            <a:off x="952500" y="3503265"/>
            <a:ext cx="16383000" cy="676275"/>
          </a:xfrm>
          <a:prstGeom prst="roundRect">
            <a:avLst>
              <a:gd name="adj" fmla="val 19718"/>
            </a:avLst>
          </a:prstGeom>
          <a:solidFill>
            <a:srgbClr val="FF6A00">
              <a:alpha val="6000"/>
            </a:srgbClr>
          </a:solidFill>
          <a:ln w="9525">
            <a:solidFill>
              <a:srgbClr val="B85100"/>
            </a:solidFill>
            <a:prstDash val="solid"/>
          </a:ln>
        </p:spPr>
      </p:sp>
      <p:sp>
        <p:nvSpPr>
          <p:cNvPr id="10" name="Text 8"/>
          <p:cNvSpPr/>
          <p:nvPr/>
        </p:nvSpPr>
        <p:spPr>
          <a:xfrm>
            <a:off x="1171575" y="3684240"/>
            <a:ext cx="1643634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 A bigger model with more parameters is automatically smarter or more "general" — it is not; it is still narrow AI.</a:t>
            </a:r>
            <a:endParaRPr lang="en-US" sz="1875" dirty="0"/>
          </a:p>
        </p:txBody>
      </p:sp>
      <p:sp>
        <p:nvSpPr>
          <p:cNvPr id="11" name="Shape 9"/>
          <p:cNvSpPr/>
          <p:nvPr/>
        </p:nvSpPr>
        <p:spPr>
          <a:xfrm>
            <a:off x="952500" y="4312890"/>
            <a:ext cx="16383000" cy="676275"/>
          </a:xfrm>
          <a:prstGeom prst="roundRect">
            <a:avLst>
              <a:gd name="adj" fmla="val 19718"/>
            </a:avLst>
          </a:prstGeom>
          <a:solidFill>
            <a:srgbClr val="FF6A00">
              <a:alpha val="6000"/>
            </a:srgbClr>
          </a:solidFill>
          <a:ln w="9525">
            <a:solidFill>
              <a:srgbClr val="B85100"/>
            </a:solidFill>
            <a:prstDash val="solid"/>
          </a:ln>
        </p:spPr>
      </p:sp>
      <p:sp>
        <p:nvSpPr>
          <p:cNvPr id="12" name="Text 10"/>
          <p:cNvSpPr/>
          <p:nvPr/>
        </p:nvSpPr>
        <p:spPr>
          <a:xfrm>
            <a:off x="1171575" y="4493865"/>
            <a:ext cx="1643634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 Today's fluent chatbots are general AI (AGI) — they are not; general AI does not yet exist.</a:t>
            </a:r>
            <a:endParaRPr lang="en-US" sz="187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624766" y="3745706"/>
            <a:ext cx="3038393"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DOMAIN 1 WEIGHTING</a:t>
            </a:r>
            <a:endParaRPr lang="en-US" sz="1950" dirty="0"/>
          </a:p>
        </p:txBody>
      </p:sp>
      <p:sp>
        <p:nvSpPr>
          <p:cNvPr id="4" name="Text 2"/>
          <p:cNvSpPr/>
          <p:nvPr/>
        </p:nvSpPr>
        <p:spPr>
          <a:xfrm>
            <a:off x="7133793" y="4226719"/>
            <a:ext cx="4020413"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20%</a:t>
            </a:r>
            <a:endParaRPr lang="en-US" sz="12750" dirty="0"/>
          </a:p>
        </p:txBody>
      </p:sp>
      <p:sp>
        <p:nvSpPr>
          <p:cNvPr id="5" name="Text 3"/>
          <p:cNvSpPr/>
          <p:nvPr/>
        </p:nvSpPr>
        <p:spPr>
          <a:xfrm>
            <a:off x="4729163" y="5941219"/>
            <a:ext cx="8829675" cy="638175"/>
          </a:xfrm>
          <a:prstGeom prst="rect">
            <a:avLst/>
          </a:prstGeom>
          <a:noFill/>
          <a:ln/>
        </p:spPr>
        <p:txBody>
          <a:bodyPr wrap="square" lIns="25400" tIns="25400" rIns="25400" bIns="25400" rtlCol="0" anchor="t">
            <a:normAutofit/>
          </a:bodyPr>
          <a:lstStyle/>
          <a:p>
            <a:pPr algn="ctr" indent="0" marL="0">
              <a:buNone/>
            </a:pPr>
            <a:r>
              <a:rPr lang="en-US" sz="2025" dirty="0">
                <a:solidFill>
                  <a:srgbClr val="DFE3EA"/>
                </a:solidFill>
                <a:latin typeface="Arial" pitchFamily="34" charset="0"/>
                <a:ea typeface="Arial" pitchFamily="34" charset="-122"/>
                <a:cs typeface="Arial" pitchFamily="34" charset="-120"/>
              </a:rPr>
              <a:t>of the CAIA examination is drawn from Domain 1: AI Concepts &amp; Terminology — the single highest-weighted domain on the exam.</a:t>
            </a:r>
            <a:endParaRPr lang="en-US" sz="20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KNOWLEDGE CHECK</a:t>
            </a:r>
            <a:endParaRPr lang="en-US" sz="1875" dirty="0"/>
          </a:p>
        </p:txBody>
      </p:sp>
      <p:sp>
        <p:nvSpPr>
          <p:cNvPr id="4" name="Text 2"/>
          <p:cNvSpPr/>
          <p:nvPr/>
        </p:nvSpPr>
        <p:spPr>
          <a:xfrm>
            <a:off x="952500" y="1176338"/>
            <a:ext cx="14716125"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b="1" dirty="0">
                <a:solidFill>
                  <a:srgbClr val="F5F7FB"/>
                </a:solidFill>
                <a:latin typeface="Arial" pitchFamily="34" charset="0"/>
                <a:ea typeface="Arial" pitchFamily="34" charset="-122"/>
                <a:cs typeface="Arial" pitchFamily="34" charset="-120"/>
              </a:rPr>
              <a:t>A company's spam filter used to rely on a fixed list of banned words. It has since been replaced with a system that studies past emails and adjusts its own criteria for what counts as spam. What best explains this change?</a:t>
            </a:r>
            <a:endParaRPr lang="en-US" sz="2100" dirty="0"/>
          </a:p>
        </p:txBody>
      </p:sp>
      <p:sp>
        <p:nvSpPr>
          <p:cNvPr id="5" name="Shape 3"/>
          <p:cNvSpPr/>
          <p:nvPr/>
        </p:nvSpPr>
        <p:spPr>
          <a:xfrm>
            <a:off x="952500" y="2243138"/>
            <a:ext cx="8115300" cy="681038"/>
          </a:xfrm>
          <a:prstGeom prst="roundRect">
            <a:avLst>
              <a:gd name="adj" fmla="val 19580"/>
            </a:avLst>
          </a:prstGeom>
          <a:solidFill>
            <a:srgbClr val="FFFFFF">
              <a:alpha val="3000"/>
            </a:srgbClr>
          </a:solidFill>
          <a:ln w="9525">
            <a:solidFill>
              <a:srgbClr val="2A2F3A"/>
            </a:solidFill>
            <a:prstDash val="solid"/>
          </a:ln>
        </p:spPr>
      </p:sp>
      <p:sp>
        <p:nvSpPr>
          <p:cNvPr id="6" name="Text 4"/>
          <p:cNvSpPr/>
          <p:nvPr/>
        </p:nvSpPr>
        <p:spPr>
          <a:xfrm>
            <a:off x="1152525" y="2443163"/>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F5F7FB"/>
                </a:solidFill>
                <a:latin typeface="Arial" pitchFamily="34" charset="0"/>
                <a:ea typeface="Arial" pitchFamily="34" charset="-122"/>
                <a:cs typeface="Arial" pitchFamily="34" charset="-120"/>
              </a:rPr>
              <a:t>A. The new system is an example of general AI</a:t>
            </a:r>
            <a:endParaRPr lang="en-US" sz="1875" dirty="0"/>
          </a:p>
        </p:txBody>
      </p:sp>
      <p:sp>
        <p:nvSpPr>
          <p:cNvPr id="7" name="Shape 5"/>
          <p:cNvSpPr/>
          <p:nvPr/>
        </p:nvSpPr>
        <p:spPr>
          <a:xfrm>
            <a:off x="9220200" y="2243138"/>
            <a:ext cx="8115300" cy="681038"/>
          </a:xfrm>
          <a:prstGeom prst="roundRect">
            <a:avLst>
              <a:gd name="adj" fmla="val 19580"/>
            </a:avLst>
          </a:prstGeom>
          <a:solidFill>
            <a:srgbClr val="FFFFFF">
              <a:alpha val="3000"/>
            </a:srgbClr>
          </a:solidFill>
          <a:ln w="9525">
            <a:solidFill>
              <a:srgbClr val="2A2F3A"/>
            </a:solidFill>
            <a:prstDash val="solid"/>
          </a:ln>
        </p:spPr>
      </p:sp>
      <p:sp>
        <p:nvSpPr>
          <p:cNvPr id="8" name="Text 6"/>
          <p:cNvSpPr/>
          <p:nvPr/>
        </p:nvSpPr>
        <p:spPr>
          <a:xfrm>
            <a:off x="9420225" y="2443163"/>
            <a:ext cx="7958709" cy="319088"/>
          </a:xfrm>
          <a:prstGeom prst="rect">
            <a:avLst/>
          </a:prstGeom>
          <a:noFill/>
          <a:ln/>
        </p:spPr>
        <p:txBody>
          <a:bodyPr wrap="square" lIns="25400" tIns="25400" rIns="25400" bIns="25400" rtlCol="0" anchor="t">
            <a:normAutofit/>
          </a:bodyPr>
          <a:lstStyle/>
          <a:p>
            <a:pPr algn="l" indent="0" marL="0">
              <a:buNone/>
            </a:pPr>
            <a:r>
              <a:rPr lang="en-US" sz="1875" dirty="0">
                <a:solidFill>
                  <a:srgbClr val="F5F7FB"/>
                </a:solidFill>
                <a:latin typeface="Arial" pitchFamily="34" charset="0"/>
                <a:ea typeface="Arial" pitchFamily="34" charset="-122"/>
                <a:cs typeface="Arial" pitchFamily="34" charset="-120"/>
              </a:rPr>
              <a:t>B. The new system replaces narrow AI with full automation</a:t>
            </a:r>
            <a:endParaRPr lang="en-US" sz="1875" dirty="0"/>
          </a:p>
        </p:txBody>
      </p:sp>
      <p:sp>
        <p:nvSpPr>
          <p:cNvPr id="9" name="Shape 7"/>
          <p:cNvSpPr/>
          <p:nvPr/>
        </p:nvSpPr>
        <p:spPr>
          <a:xfrm>
            <a:off x="952500" y="3076575"/>
            <a:ext cx="8115300" cy="981075"/>
          </a:xfrm>
          <a:prstGeom prst="roundRect">
            <a:avLst>
              <a:gd name="adj" fmla="val 13592"/>
            </a:avLst>
          </a:prstGeom>
          <a:solidFill>
            <a:srgbClr val="22C55E">
              <a:alpha val="10000"/>
            </a:srgbClr>
          </a:solidFill>
          <a:ln w="19050">
            <a:solidFill>
              <a:srgbClr val="22C55E"/>
            </a:solidFill>
            <a:prstDash val="solid"/>
          </a:ln>
        </p:spPr>
      </p:sp>
      <p:sp>
        <p:nvSpPr>
          <p:cNvPr id="10" name="Text 8"/>
          <p:cNvSpPr/>
          <p:nvPr/>
        </p:nvSpPr>
        <p:spPr>
          <a:xfrm>
            <a:off x="1162050" y="3286125"/>
            <a:ext cx="7939659" cy="600075"/>
          </a:xfrm>
          <a:prstGeom prst="rect">
            <a:avLst/>
          </a:prstGeom>
          <a:noFill/>
          <a:ln/>
        </p:spPr>
        <p:txBody>
          <a:bodyPr wrap="square" lIns="25400" tIns="25400" rIns="25400" bIns="25400" rtlCol="0" anchor="t">
            <a:normAutofit/>
          </a:bodyPr>
          <a:lstStyle/>
          <a:p>
            <a:pPr algn="l" indent="0" marL="0">
              <a:buNone/>
            </a:pPr>
            <a:r>
              <a:rPr lang="en-US" sz="1875" dirty="0">
                <a:solidFill>
                  <a:srgbClr val="F5F7FB"/>
                </a:solidFill>
                <a:latin typeface="Arial" pitchFamily="34" charset="0"/>
                <a:ea typeface="Arial" pitchFamily="34" charset="-122"/>
                <a:cs typeface="Arial" pitchFamily="34" charset="-120"/>
              </a:rPr>
              <a:t>C. The system has moved from rule-based automation to machine learning ✓</a:t>
            </a:r>
            <a:endParaRPr lang="en-US" sz="1875" dirty="0"/>
          </a:p>
        </p:txBody>
      </p:sp>
      <p:sp>
        <p:nvSpPr>
          <p:cNvPr id="11" name="Shape 9"/>
          <p:cNvSpPr/>
          <p:nvPr/>
        </p:nvSpPr>
        <p:spPr>
          <a:xfrm>
            <a:off x="9220200" y="3076575"/>
            <a:ext cx="8115300" cy="981075"/>
          </a:xfrm>
          <a:prstGeom prst="roundRect">
            <a:avLst>
              <a:gd name="adj" fmla="val 13592"/>
            </a:avLst>
          </a:prstGeom>
          <a:solidFill>
            <a:srgbClr val="FFFFFF">
              <a:alpha val="3000"/>
            </a:srgbClr>
          </a:solidFill>
          <a:ln w="9525">
            <a:solidFill>
              <a:srgbClr val="2A2F3A"/>
            </a:solidFill>
            <a:prstDash val="solid"/>
          </a:ln>
        </p:spPr>
      </p:sp>
      <p:sp>
        <p:nvSpPr>
          <p:cNvPr id="12" name="Text 10"/>
          <p:cNvSpPr/>
          <p:nvPr/>
        </p:nvSpPr>
        <p:spPr>
          <a:xfrm>
            <a:off x="9420225" y="3276600"/>
            <a:ext cx="7958709" cy="619125"/>
          </a:xfrm>
          <a:prstGeom prst="rect">
            <a:avLst/>
          </a:prstGeom>
          <a:noFill/>
          <a:ln/>
        </p:spPr>
        <p:txBody>
          <a:bodyPr wrap="square" lIns="25400" tIns="25400" rIns="25400" bIns="25400" rtlCol="0" anchor="t">
            <a:normAutofit/>
          </a:bodyPr>
          <a:lstStyle/>
          <a:p>
            <a:pPr algn="l" indent="0" marL="0">
              <a:buNone/>
            </a:pPr>
            <a:r>
              <a:rPr lang="en-US" sz="1875" dirty="0">
                <a:solidFill>
                  <a:srgbClr val="F5F7FB"/>
                </a:solidFill>
                <a:latin typeface="Arial" pitchFamily="34" charset="0"/>
                <a:ea typeface="Arial" pitchFamily="34" charset="-122"/>
                <a:cs typeface="Arial" pitchFamily="34" charset="-120"/>
              </a:rPr>
              <a:t>D. The system has moved from generative AI to predictive AI</a:t>
            </a:r>
            <a:endParaRPr lang="en-US" sz="18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MODULE SUMMARY</a:t>
            </a:r>
            <a:endParaRPr lang="en-US" sz="1875" dirty="0"/>
          </a:p>
        </p:txBody>
      </p:sp>
      <p:sp>
        <p:nvSpPr>
          <p:cNvPr id="4" name="Text 2"/>
          <p:cNvSpPr/>
          <p:nvPr/>
        </p:nvSpPr>
        <p:spPr>
          <a:xfrm>
            <a:off x="952500" y="1176338"/>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1 In Six Statements</a:t>
            </a:r>
            <a:endParaRPr lang="en-US" sz="3150" dirty="0"/>
          </a:p>
        </p:txBody>
      </p:sp>
      <p:sp>
        <p:nvSpPr>
          <p:cNvPr id="5" name="Shape 3"/>
          <p:cNvSpPr/>
          <p:nvPr/>
        </p:nvSpPr>
        <p:spPr>
          <a:xfrm>
            <a:off x="952500" y="1884015"/>
            <a:ext cx="8115300" cy="942975"/>
          </a:xfrm>
          <a:prstGeom prst="roundRect">
            <a:avLst>
              <a:gd name="adj" fmla="val 14141"/>
            </a:avLst>
          </a:prstGeom>
          <a:solidFill>
            <a:srgbClr val="FFFFFF">
              <a:alpha val="2000"/>
            </a:srgbClr>
          </a:solidFill>
          <a:ln w="9525">
            <a:solidFill>
              <a:srgbClr val="2A2F3A"/>
            </a:solidFill>
            <a:prstDash val="solid"/>
          </a:ln>
        </p:spPr>
      </p:sp>
      <p:sp>
        <p:nvSpPr>
          <p:cNvPr id="6" name="Text 4"/>
          <p:cNvSpPr/>
          <p:nvPr/>
        </p:nvSpPr>
        <p:spPr>
          <a:xfrm>
            <a:off x="1171575" y="2064990"/>
            <a:ext cx="7920609" cy="619125"/>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1.1 </a:t>
            </a:r>
            <a:pPr algn="l" indent="0" marL="0">
              <a:buNone/>
            </a:pPr>
            <a:r>
              <a:rPr lang="en-US" sz="1875" dirty="0">
                <a:solidFill>
                  <a:srgbClr val="DFE3EA"/>
                </a:solidFill>
                <a:highlight>
                  <a:srgbClr val="FFFFFF"/>
                </a:highlight>
                <a:latin typeface="Arial" pitchFamily="34" charset="0"/>
                <a:ea typeface="Arial" pitchFamily="34" charset="-122"/>
                <a:cs typeface="Arial" pitchFamily="34" charset="-120"/>
              </a:rPr>
              <a:t>AI learns from data; automation follows fixed rules.</a:t>
            </a:r>
            <a:endParaRPr lang="en-US" sz="1875" dirty="0"/>
          </a:p>
        </p:txBody>
      </p:sp>
      <p:sp>
        <p:nvSpPr>
          <p:cNvPr id="7" name="Shape 5"/>
          <p:cNvSpPr/>
          <p:nvPr/>
        </p:nvSpPr>
        <p:spPr>
          <a:xfrm>
            <a:off x="9220200" y="1884015"/>
            <a:ext cx="8115300" cy="942975"/>
          </a:xfrm>
          <a:prstGeom prst="roundRect">
            <a:avLst>
              <a:gd name="adj" fmla="val 14141"/>
            </a:avLst>
          </a:prstGeom>
          <a:solidFill>
            <a:srgbClr val="FFFFFF">
              <a:alpha val="2000"/>
            </a:srgbClr>
          </a:solidFill>
          <a:ln w="9525">
            <a:solidFill>
              <a:srgbClr val="2A2F3A"/>
            </a:solidFill>
            <a:prstDash val="solid"/>
          </a:ln>
        </p:spPr>
      </p:sp>
      <p:sp>
        <p:nvSpPr>
          <p:cNvPr id="8" name="Text 6"/>
          <p:cNvSpPr/>
          <p:nvPr/>
        </p:nvSpPr>
        <p:spPr>
          <a:xfrm>
            <a:off x="9439275" y="2064990"/>
            <a:ext cx="7920609" cy="619125"/>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1.2 </a:t>
            </a:r>
            <a:pPr algn="l" indent="0" marL="0">
              <a:buNone/>
            </a:pPr>
            <a:r>
              <a:rPr lang="en-US" sz="1875" dirty="0">
                <a:solidFill>
                  <a:srgbClr val="DFE3EA"/>
                </a:solidFill>
                <a:highlight>
                  <a:srgbClr val="FFFFFF"/>
                </a:highlight>
                <a:latin typeface="Arial" pitchFamily="34" charset="0"/>
                <a:ea typeface="Arial" pitchFamily="34" charset="-122"/>
                <a:cs typeface="Arial" pitchFamily="34" charset="-120"/>
              </a:rPr>
              <a:t>AI ⊃ machine learning ⊃ deep learning; generative AI sits inside deep learning.</a:t>
            </a:r>
            <a:endParaRPr lang="en-US" sz="1875" dirty="0"/>
          </a:p>
        </p:txBody>
      </p:sp>
      <p:sp>
        <p:nvSpPr>
          <p:cNvPr id="9" name="Shape 7"/>
          <p:cNvSpPr/>
          <p:nvPr/>
        </p:nvSpPr>
        <p:spPr>
          <a:xfrm>
            <a:off x="952500" y="2979390"/>
            <a:ext cx="8115300" cy="923925"/>
          </a:xfrm>
          <a:prstGeom prst="roundRect">
            <a:avLst>
              <a:gd name="adj" fmla="val 14433"/>
            </a:avLst>
          </a:prstGeom>
          <a:solidFill>
            <a:srgbClr val="FFFFFF">
              <a:alpha val="2000"/>
            </a:srgbClr>
          </a:solidFill>
          <a:ln w="9525">
            <a:solidFill>
              <a:srgbClr val="2A2F3A"/>
            </a:solidFill>
            <a:prstDash val="solid"/>
          </a:ln>
        </p:spPr>
      </p:sp>
      <p:sp>
        <p:nvSpPr>
          <p:cNvPr id="10" name="Text 8"/>
          <p:cNvSpPr/>
          <p:nvPr/>
        </p:nvSpPr>
        <p:spPr>
          <a:xfrm>
            <a:off x="1171575" y="3160365"/>
            <a:ext cx="7920609" cy="600075"/>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1.3 </a:t>
            </a:r>
            <a:pPr algn="l" indent="0" marL="0">
              <a:buNone/>
            </a:pPr>
            <a:r>
              <a:rPr lang="en-US" sz="1875" dirty="0">
                <a:solidFill>
                  <a:srgbClr val="DFE3EA"/>
                </a:solidFill>
                <a:highlight>
                  <a:srgbClr val="FFFFFF"/>
                </a:highlight>
                <a:latin typeface="Arial" pitchFamily="34" charset="0"/>
                <a:ea typeface="Arial" pitchFamily="34" charset="-122"/>
                <a:cs typeface="Arial" pitchFamily="34" charset="-120"/>
              </a:rPr>
              <a:t>Nine shared terms: model, dataset, parameters, tokens, context window, foundation model, LLM, multimodal AI, embeddings.</a:t>
            </a:r>
            <a:endParaRPr lang="en-US" sz="1875" dirty="0"/>
          </a:p>
        </p:txBody>
      </p:sp>
      <p:sp>
        <p:nvSpPr>
          <p:cNvPr id="11" name="Shape 9"/>
          <p:cNvSpPr/>
          <p:nvPr/>
        </p:nvSpPr>
        <p:spPr>
          <a:xfrm>
            <a:off x="9220200" y="2979390"/>
            <a:ext cx="8115300" cy="923925"/>
          </a:xfrm>
          <a:prstGeom prst="roundRect">
            <a:avLst>
              <a:gd name="adj" fmla="val 14433"/>
            </a:avLst>
          </a:prstGeom>
          <a:solidFill>
            <a:srgbClr val="FFFFFF">
              <a:alpha val="2000"/>
            </a:srgbClr>
          </a:solidFill>
          <a:ln w="9525">
            <a:solidFill>
              <a:srgbClr val="2A2F3A"/>
            </a:solidFill>
            <a:prstDash val="solid"/>
          </a:ln>
        </p:spPr>
      </p:sp>
      <p:sp>
        <p:nvSpPr>
          <p:cNvPr id="12" name="Text 10"/>
          <p:cNvSpPr/>
          <p:nvPr/>
        </p:nvSpPr>
        <p:spPr>
          <a:xfrm>
            <a:off x="9439275" y="3160365"/>
            <a:ext cx="7920609" cy="600075"/>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1.4 </a:t>
            </a:r>
            <a:pPr algn="l" indent="0" marL="0">
              <a:buNone/>
            </a:pPr>
            <a:r>
              <a:rPr lang="en-US" sz="1875" dirty="0">
                <a:solidFill>
                  <a:srgbClr val="DFE3EA"/>
                </a:solidFill>
                <a:highlight>
                  <a:srgbClr val="FFFFFF"/>
                </a:highlight>
                <a:latin typeface="Arial" pitchFamily="34" charset="0"/>
                <a:ea typeface="Arial" pitchFamily="34" charset="-122"/>
                <a:cs typeface="Arial" pitchFamily="34" charset="-120"/>
              </a:rPr>
              <a:t>All of today's AI is narrow AI; general AI (AGI) does not exist.</a:t>
            </a:r>
            <a:endParaRPr lang="en-US" sz="1875" dirty="0"/>
          </a:p>
        </p:txBody>
      </p:sp>
      <p:sp>
        <p:nvSpPr>
          <p:cNvPr id="13" name="Shape 11"/>
          <p:cNvSpPr/>
          <p:nvPr/>
        </p:nvSpPr>
        <p:spPr>
          <a:xfrm>
            <a:off x="952500" y="4055715"/>
            <a:ext cx="8115300" cy="923925"/>
          </a:xfrm>
          <a:prstGeom prst="roundRect">
            <a:avLst>
              <a:gd name="adj" fmla="val 14433"/>
            </a:avLst>
          </a:prstGeom>
          <a:solidFill>
            <a:srgbClr val="FFFFFF">
              <a:alpha val="2000"/>
            </a:srgbClr>
          </a:solidFill>
          <a:ln w="9525">
            <a:solidFill>
              <a:srgbClr val="2A2F3A"/>
            </a:solidFill>
            <a:prstDash val="solid"/>
          </a:ln>
        </p:spPr>
      </p:sp>
      <p:sp>
        <p:nvSpPr>
          <p:cNvPr id="14" name="Text 12"/>
          <p:cNvSpPr/>
          <p:nvPr/>
        </p:nvSpPr>
        <p:spPr>
          <a:xfrm>
            <a:off x="1171575" y="4236690"/>
            <a:ext cx="7920609" cy="600075"/>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1.5 </a:t>
            </a:r>
            <a:pPr algn="l" indent="0" marL="0">
              <a:buNone/>
            </a:pPr>
            <a:r>
              <a:rPr lang="en-US" sz="1875" dirty="0">
                <a:solidFill>
                  <a:srgbClr val="DFE3EA"/>
                </a:solidFill>
                <a:highlight>
                  <a:srgbClr val="FFFFFF"/>
                </a:highlight>
                <a:latin typeface="Arial" pitchFamily="34" charset="0"/>
                <a:ea typeface="Arial" pitchFamily="34" charset="-122"/>
                <a:cs typeface="Arial" pitchFamily="34" charset="-120"/>
              </a:rPr>
              <a:t>Predictive AI judges input; generative AI creates new content.</a:t>
            </a:r>
            <a:endParaRPr lang="en-US" sz="1875" dirty="0"/>
          </a:p>
        </p:txBody>
      </p:sp>
      <p:sp>
        <p:nvSpPr>
          <p:cNvPr id="15" name="Shape 13"/>
          <p:cNvSpPr/>
          <p:nvPr/>
        </p:nvSpPr>
        <p:spPr>
          <a:xfrm>
            <a:off x="9220200" y="4055715"/>
            <a:ext cx="8115300" cy="923925"/>
          </a:xfrm>
          <a:prstGeom prst="roundRect">
            <a:avLst>
              <a:gd name="adj" fmla="val 14433"/>
            </a:avLst>
          </a:prstGeom>
          <a:solidFill>
            <a:srgbClr val="FFFFFF">
              <a:alpha val="2000"/>
            </a:srgbClr>
          </a:solidFill>
          <a:ln w="9525">
            <a:solidFill>
              <a:srgbClr val="2A2F3A"/>
            </a:solidFill>
            <a:prstDash val="solid"/>
          </a:ln>
        </p:spPr>
      </p:sp>
      <p:sp>
        <p:nvSpPr>
          <p:cNvPr id="16" name="Text 14"/>
          <p:cNvSpPr/>
          <p:nvPr/>
        </p:nvSpPr>
        <p:spPr>
          <a:xfrm>
            <a:off x="9439275" y="4236690"/>
            <a:ext cx="7920609" cy="600075"/>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1.6 </a:t>
            </a:r>
            <a:pPr algn="l" indent="0" marL="0">
              <a:buNone/>
            </a:pPr>
            <a:r>
              <a:rPr lang="en-US" sz="1875" dirty="0">
                <a:solidFill>
                  <a:srgbClr val="DFE3EA"/>
                </a:solidFill>
                <a:highlight>
                  <a:srgbClr val="FFFFFF"/>
                </a:highlight>
                <a:latin typeface="Arial" pitchFamily="34" charset="0"/>
                <a:ea typeface="Arial" pitchFamily="34" charset="-122"/>
                <a:cs typeface="Arial" pitchFamily="34" charset="-120"/>
              </a:rPr>
              <a:t>AI is already routine — in navigation, filters, feeds, drafting and forecasting.</a:t>
            </a:r>
            <a:endParaRPr lang="en-US" sz="187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642420"/>
            <a:ext cx="18021300" cy="31908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FF6A00"/>
                </a:solidFill>
                <a:latin typeface="Arial" pitchFamily="34" charset="0"/>
                <a:ea typeface="Arial" pitchFamily="34" charset="-122"/>
                <a:cs typeface="Arial" pitchFamily="34" charset="-120"/>
              </a:rPr>
              <a:t>NEXT STEPS</a:t>
            </a:r>
            <a:endParaRPr lang="en-US" sz="1875" dirty="0"/>
          </a:p>
        </p:txBody>
      </p:sp>
      <p:sp>
        <p:nvSpPr>
          <p:cNvPr id="4" name="Text 2"/>
          <p:cNvSpPr/>
          <p:nvPr/>
        </p:nvSpPr>
        <p:spPr>
          <a:xfrm>
            <a:off x="952500" y="4094857"/>
            <a:ext cx="18021300" cy="541958"/>
          </a:xfrm>
          <a:prstGeom prst="rect">
            <a:avLst/>
          </a:prstGeom>
          <a:noFill/>
          <a:ln/>
        </p:spPr>
        <p:txBody>
          <a:bodyPr wrap="square" lIns="25400" tIns="25400" rIns="25400" bIns="25400" rtlCol="0" anchor="t">
            <a:normAutofit/>
          </a:bodyPr>
          <a:lstStyle/>
          <a:p>
            <a:pPr algn="l" indent="0" marL="0">
              <a:lnSpc>
                <a:spcPct val="100762"/>
              </a:lnSpc>
              <a:buNone/>
            </a:pPr>
            <a:r>
              <a:rPr lang="en-US" sz="3450" b="1" dirty="0">
                <a:solidFill>
                  <a:srgbClr val="F5F7FB"/>
                </a:solidFill>
                <a:latin typeface="Arial" pitchFamily="34" charset="0"/>
                <a:ea typeface="Arial" pitchFamily="34" charset="-122"/>
                <a:cs typeface="Arial" pitchFamily="34" charset="-120"/>
              </a:rPr>
              <a:t>Coming Up In Module 2</a:t>
            </a:r>
            <a:endParaRPr lang="en-US" sz="3450" dirty="0"/>
          </a:p>
        </p:txBody>
      </p:sp>
      <p:sp>
        <p:nvSpPr>
          <p:cNvPr id="5" name="Text 3"/>
          <p:cNvSpPr/>
          <p:nvPr/>
        </p:nvSpPr>
        <p:spPr>
          <a:xfrm>
            <a:off x="952500" y="4808265"/>
            <a:ext cx="11772900" cy="168384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How AI Works (Without The Maths) — Domain 2 (15%). You now have the vocabulary; Module 2 explains the mechanics: prediction, training vs inference, how datasets and parameters shape a model, tokens and context windows in practice, knowledge cut-offs, temperature and non-determinism, and how APIs and embeddings fit together.</a:t>
            </a:r>
            <a:endParaRPr lang="en-US" sz="2025"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2026-08-10T21:40:15Z</dcterms:created>
  <dcterms:modified xsi:type="dcterms:W3CDTF">2026-08-10T21:40:15Z</dcterms:modified>
</cp:coreProperties>
</file>