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learners to Module 6. Frame it as the module that explains WHY AI output needs checking — hallucination, overconfidence, and how to verify effectively.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the six sub-objectives — they map directly onto Domain 5's exam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learners to the blueprint. Domain 5 is tied for second-highest weighting, and this module covers it in full depth after Module 5 introduced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bridge. Move quickly to 6.1.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directly back to Module 2, 2.1 — this is the direct consequence of AI generating output by prediction rather than lookup.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conceptual — the model has no internal 'is this true?' check; it only optimises for a plausible-sounding continuation.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foundational idea for the whole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phrase to land here: a model does not know when it is wrong. There is no internal confidence meter that reliably tracks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moment for a visual contrast — read both example outputs in the same tone to make the point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before knowledge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Module 2 definition, then push into the reliability angle that's new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learners discuss before revealing: the most likely explanation is a knowledge cut-off or outdated training data, not a technical 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before verification techniques.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 This is the practical payoff objective of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checklist is the practical heart of the module — spend real time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 live — this is the day-to-day habit the module is trying to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before human-in-the-loop.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organisational-level version of the personal verification habit just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Extend from a single review step to an organisational habit — this connects forward to organisational AI policy in Module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before identifying high-verification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synthesis objective — bring together everything from hallucination through human oversight into a practical priority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final sub-objective.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after discussion: A = hallucination (invented citation), B = overconfidence (no hedge on an uncertain answer), C = knowledge cut-off / outdated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Reveal: 1) likely hallucinated (oddly specific, unverifiable stat), 2) verifiable claim, 3) likely hallucinated (invented quote), 4) verifiable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Reveal: 1) ask for the source, 2) cross-check with a second query, 3) apply domain knowledge, 4) check against an independent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Consolidated pass before misconceptions.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to the most common Domain 5 distractor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Reset focus before the knowledge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learners 30 seconds before revealing that B is correct. This MCQ is reused as Question 5 of the Module 6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six objectives one final time before the 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7 briefly and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960688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 · CERTIFIED AI ASSOCIATE (CAIA)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4455988"/>
            <a:ext cx="14716125" cy="1403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24"/>
              </a:lnSpc>
              <a:buNone/>
            </a:pPr>
            <a:r>
              <a:rPr lang="en-US" sz="4800" b="1" spc="-48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Limitations, Risks &amp; Hallucination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6011987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5 · AI Limitations &amp; Verification (15% of the examination)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9715500"/>
            <a:ext cx="21286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690777" y="9715500"/>
            <a:ext cx="7209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Be Able To Do After This Module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1638300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9675" y="1993553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1100" y="200307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19275" y="2072134"/>
            <a:ext cx="983739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hallucination is and why AI can produce confident but incorrect information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52500" y="2679353"/>
            <a:ext cx="1638300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9675" y="2803178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1100" y="281270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19275" y="2881759"/>
            <a:ext cx="923976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overconfidence and the fact that a model does not "know" when it is wrong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52500" y="3488978"/>
            <a:ext cx="1638300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9675" y="3612803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1100" y="362232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19275" y="3691384"/>
            <a:ext cx="945062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knowledge cut-offs and missing or outdated information affect reliability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52500" y="4298603"/>
            <a:ext cx="1638300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9675" y="4422428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1100" y="443195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19275" y="4501009"/>
            <a:ext cx="706068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verification and source-checking techniques to AI output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52500" y="5108228"/>
            <a:ext cx="1638300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9675" y="5232053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1100" y="524157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819275" y="5310634"/>
            <a:ext cx="742461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role of human-in-the-loop review and human oversight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52500" y="5917853"/>
            <a:ext cx="1638300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9675" y="6041678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1100" y="605120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819275" y="6120259"/>
            <a:ext cx="1187092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tasks where verification is essential — facts, figures, legal, medical, financial or code-related output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BLUEPRINT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Domains, One Examination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1812578"/>
            <a:ext cx="1275397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67"/>
              </a:lnSpc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module covers Domain 5 in full depth — why AI produces incorrect information, and how to verify what it produces.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66788" y="2833539"/>
            <a:ext cx="1281931" cy="485775"/>
          </a:xfrm>
          <a:custGeom>
            <a:avLst/>
            <a:gdLst/>
            <a:ahLst/>
            <a:cxnLst/>
            <a:rect l="l" t="t" r="r" b="b"/>
            <a:pathLst>
              <a:path w="1281931" h="485775">
                <a:moveTo>
                  <a:pt x="95250" y="0"/>
                </a:moveTo>
                <a:lnTo>
                  <a:pt x="1281931" y="0"/>
                </a:lnTo>
                <a:lnTo>
                  <a:pt x="1281931" y="485775"/>
                </a:lnTo>
                <a:lnTo>
                  <a:pt x="0" y="485775"/>
                </a:lnTo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FF6A00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6788" y="3309789"/>
            <a:ext cx="1281931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8" name="Text 6"/>
          <p:cNvSpPr/>
          <p:nvPr/>
        </p:nvSpPr>
        <p:spPr>
          <a:xfrm>
            <a:off x="1119188" y="2928789"/>
            <a:ext cx="10533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2248719" y="2833539"/>
            <a:ext cx="11153105" cy="485775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248719" y="3309789"/>
            <a:ext cx="11153105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1" name="Text 9"/>
          <p:cNvSpPr/>
          <p:nvPr/>
        </p:nvSpPr>
        <p:spPr>
          <a:xfrm>
            <a:off x="2401119" y="2928789"/>
            <a:ext cx="111828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401824" y="2833539"/>
            <a:ext cx="3933676" cy="485775"/>
          </a:xfrm>
          <a:custGeom>
            <a:avLst/>
            <a:gdLst/>
            <a:ahLst/>
            <a:cxnLst/>
            <a:rect l="l" t="t" r="r" b="b"/>
            <a:pathLst>
              <a:path w="3933676" h="485775">
                <a:moveTo>
                  <a:pt x="0" y="0"/>
                </a:moveTo>
                <a:lnTo>
                  <a:pt x="3838426" y="0"/>
                </a:lnTo>
                <a:arcTo hR="95250" wR="95250" stAng="16200000" swAng="5400000"/>
                <a:lnTo>
                  <a:pt x="3933676" y="485775"/>
                </a:lnTo>
                <a:lnTo>
                  <a:pt x="0" y="485775"/>
                </a:lnTo>
                <a:lnTo>
                  <a:pt x="0" y="0"/>
                </a:lnTo>
                <a:close/>
              </a:path>
            </a:pathLst>
          </a:custGeom>
          <a:solidFill>
            <a:srgbClr val="FF6A00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401824" y="3309789"/>
            <a:ext cx="3933676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4" name="Text 12"/>
          <p:cNvSpPr/>
          <p:nvPr/>
        </p:nvSpPr>
        <p:spPr>
          <a:xfrm>
            <a:off x="13436214" y="2928789"/>
            <a:ext cx="37468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Weighting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19188" y="3414564"/>
            <a:ext cx="10533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401119" y="3414564"/>
            <a:ext cx="111828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Concepts &amp; Terminology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436214" y="3414564"/>
            <a:ext cx="37468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66788" y="3805089"/>
            <a:ext cx="16368713" cy="481012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19188" y="3900339"/>
            <a:ext cx="105333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401119" y="3900339"/>
            <a:ext cx="1118289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Systems Work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3436214" y="3900339"/>
            <a:ext cx="3746886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19188" y="4381351"/>
            <a:ext cx="105333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401119" y="4381351"/>
            <a:ext cx="1118289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&amp; AI Tools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436214" y="4381351"/>
            <a:ext cx="3746886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66788" y="4767114"/>
            <a:ext cx="16368713" cy="481012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19188" y="4862364"/>
            <a:ext cx="105333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2401119" y="4862364"/>
            <a:ext cx="1118289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&amp; Effective AI Use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436214" y="4862364"/>
            <a:ext cx="3746886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66788" y="5248126"/>
            <a:ext cx="16368713" cy="481012"/>
          </a:xfrm>
          <a:prstGeom prst="rect">
            <a:avLst/>
          </a:prstGeom>
          <a:solidFill>
            <a:srgbClr val="FF6A00">
              <a:alpha val="1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66788" y="5248126"/>
            <a:ext cx="28575" cy="48101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19188" y="5343376"/>
            <a:ext cx="105333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2401119" y="5343376"/>
            <a:ext cx="1118289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Limitations &amp; Verification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3436214" y="5343376"/>
            <a:ext cx="3746886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19188" y="5824389"/>
            <a:ext cx="105333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2401119" y="5824389"/>
            <a:ext cx="1118289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Security, Privacy &amp; Data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3436214" y="5824389"/>
            <a:ext cx="3746886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966788" y="6210151"/>
            <a:ext cx="16368713" cy="481012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119188" y="6305401"/>
            <a:ext cx="105333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2401119" y="6305401"/>
            <a:ext cx="1118289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AI, Ethics &amp; Governance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3436214" y="6305401"/>
            <a:ext cx="3746886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663851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MODULE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4102001"/>
            <a:ext cx="146685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AI Output Needs Checking. Now: Exactly Why?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5076379"/>
            <a:ext cx="12753975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established that human verification is part of normal AI use. This module explains the mechanics behind that advice — hallucination, overconfidence and knowledge limitations — and builds a practical, repeatable way to verify AI output.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57176" y="4586734"/>
            <a:ext cx="537364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6.1 · SUB-OBJECTIVE 1 OF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966698" y="5086796"/>
            <a:ext cx="6354604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Hallucination?</a:t>
            </a:r>
            <a:endParaRPr lang="en-US" sz="4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WHAT IS HALLUCINATION?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Confident, Fluent, And Wrong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1831628"/>
            <a:ext cx="12753975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is when an AI system produces output that is fluent and confident-sounding, but factually incorrect or entirely invented — a made-up statistic, a fake citation, a plausible-sounding fact that simply isn't true.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3397448"/>
            <a:ext cx="16383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0625" y="3635573"/>
            <a:ext cx="17497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90625" y="3997523"/>
            <a:ext cx="1638395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2, 2.1 — AI generates output by predicting the most likely continuation, not by retrieving stored facts. Hallucination is what happens when a fluent prediction and the truth diverge.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WHAT IS HALLUCINATION?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Happens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8096250" cy="1538288"/>
          </a:xfrm>
          <a:prstGeom prst="roundRect">
            <a:avLst>
              <a:gd name="adj" fmla="val 990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0625" y="2107853"/>
            <a:ext cx="8382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"Is This True?" Check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190625" y="2484090"/>
            <a:ext cx="78486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predicts a plausible continuation. It has no separate step that verifies the result against reality.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39250" y="1869728"/>
            <a:ext cx="8096250" cy="1538288"/>
          </a:xfrm>
          <a:prstGeom prst="roundRect">
            <a:avLst>
              <a:gd name="adj" fmla="val 990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77375" y="2107853"/>
            <a:ext cx="8382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Get Filled Fluently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477375" y="2484090"/>
            <a:ext cx="78486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training data is thin or a question is oddly specific, the model still produces a fluent answer — sometimes an invented one.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3636615"/>
            <a:ext cx="16383000" cy="819150"/>
          </a:xfrm>
          <a:prstGeom prst="roundRect">
            <a:avLst>
              <a:gd name="adj" fmla="val 18605"/>
            </a:avLst>
          </a:prstGeom>
          <a:solidFill>
            <a:srgbClr val="FF6A00">
              <a:alpha val="8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0625" y="3874740"/>
            <a:ext cx="163982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hallucinated answer looks exactly as confident and well-formatted as a correct one — fluency is not a signal of accuracy.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22490"/>
            <a:ext cx="38100" cy="1642021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398690"/>
            <a:ext cx="13735050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99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"Hallucination is fluent, confident output that is factually wrong — fluency is never proof of accuracy."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33500" y="562161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6.1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18053" y="4586734"/>
            <a:ext cx="54518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6.2 · SUB-OBJECTIVE 2 OF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866453" y="5086796"/>
            <a:ext cx="4555093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Overconfidence</a:t>
            </a:r>
            <a:endParaRPr lang="en-US" sz="4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OVERCONFIDENCE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Doesn't "Know" When It's Wrong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1831628"/>
            <a:ext cx="12753975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has no reliable internal sense of its own certainty. It presents a correct answer and an invented one in exactly the same fluent, assured tone — because both are simply the most likely continuation it generated at the time.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3397448"/>
            <a:ext cx="16383000" cy="1181100"/>
          </a:xfrm>
          <a:prstGeom prst="roundRect">
            <a:avLst>
              <a:gd name="adj" fmla="val 1290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0625" y="3635573"/>
            <a:ext cx="17497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90625" y="3997523"/>
            <a:ext cx="174974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of voice ("I'm confident that...") is not evidence. A model can say this about something false just as easily as something true.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OVERCONFIDENCE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Tone, Different Accuracy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907828"/>
            <a:ext cx="7762875" cy="7655272"/>
          </a:xfrm>
          <a:custGeom>
            <a:avLst/>
            <a:gdLst/>
            <a:ahLst/>
            <a:cxnLst/>
            <a:rect l="l" t="t" r="r" b="b"/>
            <a:pathLst>
              <a:path w="7762875" h="7655272">
                <a:moveTo>
                  <a:pt x="152400" y="0"/>
                </a:moveTo>
                <a:lnTo>
                  <a:pt x="7762875" y="0"/>
                </a:lnTo>
                <a:lnTo>
                  <a:pt x="7762875" y="7655272"/>
                </a:lnTo>
                <a:lnTo>
                  <a:pt x="152400" y="7655272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7775" y="2203103"/>
            <a:ext cx="788955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247775" y="2617440"/>
            <a:ext cx="78895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mitochondria is the powerhouse of the cell."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7775" y="9001125"/>
            <a:ext cx="78895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as plain fact, no hedging.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839200" y="5430664"/>
            <a:ext cx="609600" cy="609600"/>
          </a:xfrm>
          <a:prstGeom prst="ellipse">
            <a:avLst/>
          </a:prstGeom>
          <a:solidFill>
            <a:srgbClr val="FF6A00"/>
          </a:solidFill>
          <a:ln/>
          <a:effectLst>
            <a:outerShdw sx="100000" sy="100000" kx="0" ky="0" algn="bl" rotWithShape="0" blurRad="101600" dist="50800" dir="16200000">
              <a:srgbClr val="0C0D10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01100" y="543066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72625" y="1907828"/>
            <a:ext cx="7762875" cy="7655272"/>
          </a:xfrm>
          <a:custGeom>
            <a:avLst/>
            <a:gdLst/>
            <a:ahLst/>
            <a:cxnLst/>
            <a:rect l="l" t="t" r="r" b="b"/>
            <a:pathLst>
              <a:path w="7762875" h="7655272">
                <a:moveTo>
                  <a:pt x="0" y="0"/>
                </a:moveTo>
                <a:lnTo>
                  <a:pt x="7610475" y="0"/>
                </a:lnTo>
                <a:arcTo hR="152400" wR="152400" stAng="16200000" swAng="5400000"/>
                <a:lnTo>
                  <a:pt x="7762875" y="7502872"/>
                </a:lnTo>
                <a:arcTo hR="152400" wR="152400" stAng="0" swAng="5400000"/>
                <a:lnTo>
                  <a:pt x="0" y="7655272"/>
                </a:lnTo>
                <a:lnTo>
                  <a:pt x="0" y="0"/>
                </a:lnTo>
                <a:close/>
              </a:path>
            </a:pathLst>
          </a:cu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67900" y="2203103"/>
            <a:ext cx="788955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 Answer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9867900" y="2617440"/>
            <a:ext cx="73874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2019 study by Chen et al. found a 34% improvement." (no such study exists)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67900" y="9001125"/>
            <a:ext cx="78895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stated as plain fact, no hedging.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22490"/>
            <a:ext cx="38100" cy="1642021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398690"/>
            <a:ext cx="13735050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99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model's tone of confidence carries no information about whether it's actually correct."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33500" y="562161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6.2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12405" y="4586734"/>
            <a:ext cx="54631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6.3 · SUB-OBJECTIVE 3 OF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790652" y="5086796"/>
            <a:ext cx="10706695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Limitations And Reliability</a:t>
            </a:r>
            <a:endParaRPr lang="en-US" sz="4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 KNOWLEDGE LIMITATIONS AND RELIABILITY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Sources Of Missing Information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31628"/>
            <a:ext cx="8096250" cy="1538288"/>
          </a:xfrm>
          <a:prstGeom prst="roundRect">
            <a:avLst>
              <a:gd name="adj" fmla="val 990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0625" y="2069753"/>
            <a:ext cx="8382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Cut-off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190625" y="2445990"/>
            <a:ext cx="838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after training data stops. Recap: Module 2, 2.5.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39250" y="1831628"/>
            <a:ext cx="8096250" cy="1538288"/>
          </a:xfrm>
          <a:prstGeom prst="roundRect">
            <a:avLst>
              <a:gd name="adj" fmla="val 990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77375" y="2069753"/>
            <a:ext cx="8382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Outdated Or Missing Training Data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477375" y="2445990"/>
            <a:ext cx="78486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within its training period, coverage of any given topic may be thin, one-sided or simply out of date.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3598515"/>
            <a:ext cx="16383000" cy="819150"/>
          </a:xfrm>
          <a:prstGeom prst="roundRect">
            <a:avLst>
              <a:gd name="adj" fmla="val 18605"/>
            </a:avLst>
          </a:prstGeom>
          <a:solidFill>
            <a:srgbClr val="FF6A00">
              <a:alpha val="8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0625" y="3836640"/>
            <a:ext cx="163982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reduce reliability the same way: the model answers fluently from what it has, even when what it has is incomplete or stale.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 KNOWLEDGE LIMITATIONS AND RELIABILITY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This Happen?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52500" y="1825898"/>
            <a:ext cx="16383000" cy="1017240"/>
          </a:xfrm>
          <a:prstGeom prst="roundRect">
            <a:avLst>
              <a:gd name="adj" fmla="val 1498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7775" y="2121173"/>
            <a:ext cx="1628394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assistant confidently states a company's headquarters as a city it moved away from over a year ago.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" y="3071738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reliability issue rooted in training data — not a random error, and not evidence the tool is broken.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49130"/>
            <a:ext cx="38100" cy="158874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425330"/>
            <a:ext cx="1373505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27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knowledge cut-off and thin or outdated training data both reduce reliability the same way — fluently, and without a warning."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33500" y="559497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6.3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03888" y="4586734"/>
            <a:ext cx="548022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6.4 · SUB-OBJECTIVE 4 OF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609400" y="5086796"/>
            <a:ext cx="13069126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And Source-Checking Techniques</a:t>
            </a:r>
            <a:endParaRPr lang="en-US" sz="4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 VERIFICATION TECHNIQUES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Practical Verification Techniques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8105775" cy="1481138"/>
          </a:xfrm>
          <a:prstGeom prst="roundRect">
            <a:avLst>
              <a:gd name="adj" fmla="val 1028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1575" y="2088803"/>
            <a:ext cx="843438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Against An Independent Source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171575" y="2445990"/>
            <a:ext cx="84343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 fact, figure or citation against a source the model didn't generate.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29725" y="1869728"/>
            <a:ext cx="8105775" cy="1481138"/>
          </a:xfrm>
          <a:prstGeom prst="roundRect">
            <a:avLst>
              <a:gd name="adj" fmla="val 1028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48800" y="2088803"/>
            <a:ext cx="843438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The Source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448800" y="2445990"/>
            <a:ext cx="78976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where a claim comes from, then verify that source actually exists and says what's claimed.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3522315"/>
            <a:ext cx="8105775" cy="1138238"/>
          </a:xfrm>
          <a:prstGeom prst="roundRect">
            <a:avLst>
              <a:gd name="adj" fmla="val 1338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1575" y="3741390"/>
            <a:ext cx="843438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 With A Second Query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171575" y="4098578"/>
            <a:ext cx="84343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same question a different way, or check if the answer stays consistent.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29725" y="3522315"/>
            <a:ext cx="8105775" cy="1138238"/>
          </a:xfrm>
          <a:prstGeom prst="roundRect">
            <a:avLst>
              <a:gd name="adj" fmla="val 1338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48800" y="3741390"/>
            <a:ext cx="843438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Domain Knowledge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448800" y="4098578"/>
            <a:ext cx="84343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own expertise to sanity-check whether an answer is plausible at all.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 VERIFICATION TECHNIQUES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Verification Habit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1987302" y="2136428"/>
            <a:ext cx="3105150" cy="781050"/>
          </a:xfrm>
          <a:prstGeom prst="roundRect">
            <a:avLst>
              <a:gd name="adj" fmla="val 1951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59800" y="2393603"/>
            <a:ext cx="27601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produces an answer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44852" y="2357884"/>
            <a:ext cx="33880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659859" y="2003078"/>
            <a:ext cx="3295650" cy="1047750"/>
          </a:xfrm>
          <a:prstGeom prst="roundRect">
            <a:avLst>
              <a:gd name="adj" fmla="val 14545"/>
            </a:avLst>
          </a:prstGeom>
          <a:solidFill>
            <a:srgbClr val="FF6A00">
              <a:alpha val="10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29499" y="2260253"/>
            <a:ext cx="29563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does this decision rest on it?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07909" y="2357884"/>
            <a:ext cx="33880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522916" y="2003078"/>
            <a:ext cx="3105150" cy="1047750"/>
          </a:xfrm>
          <a:prstGeom prst="roundRect">
            <a:avLst>
              <a:gd name="adj" fmla="val 14545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5414" y="2260253"/>
            <a:ext cx="27601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yes, verify independently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780466" y="2357884"/>
            <a:ext cx="33880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3195474" y="2136428"/>
            <a:ext cx="3105150" cy="781050"/>
          </a:xfrm>
          <a:prstGeom prst="roundRect">
            <a:avLst>
              <a:gd name="adj" fmla="val 1951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367971" y="2393603"/>
            <a:ext cx="27601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with confidence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6755" y="3374678"/>
            <a:ext cx="1687449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7931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output needs the same level of scrutiny — match the effort to the stakes, covered fully in 6.6.</a:t>
            </a:r>
            <a:endParaRPr lang="en-US" sz="18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22490"/>
            <a:ext cx="38100" cy="1642021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398690"/>
            <a:ext cx="13735050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99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"Verify against an independent source, ask for the source, cross-check, and apply your own domain knowledge."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33500" y="562161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6.4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13138" y="4586734"/>
            <a:ext cx="546172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6.5 · SUB-OBJECTIVE 5 OF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052643" y="5086796"/>
            <a:ext cx="12182713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And Human Oversight</a:t>
            </a:r>
            <a:endParaRPr lang="en-US" sz="4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 HUMAN-IN-THE-LOOP AND HUMAN OVERSIGHT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A Person In The Decision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1831628"/>
            <a:ext cx="127539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means a person reviews, checks or approves AI output at a defined point before it takes effect — rather than AI output flowing straight through to a decision or action unchecked.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970758"/>
            <a:ext cx="16383000" cy="1181100"/>
          </a:xfrm>
          <a:prstGeom prst="roundRect">
            <a:avLst>
              <a:gd name="adj" fmla="val 1290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0625" y="3208883"/>
            <a:ext cx="17497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90625" y="3570833"/>
            <a:ext cx="174974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AI-drafted performance summary is reviewed and signed off by a manager before it's shared — the AI drafts, a human decides.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 HUMAN-IN-THE-LOOP AND HUMAN OVERSIGHT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Oversight Is A Habit, Not A One-Off Check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1831628"/>
            <a:ext cx="127539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oversight means consistently keeping people responsible for outcomes when AI is involved — not just checking the first few outputs and then trusting the tool by default afterwards.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970758"/>
            <a:ext cx="16383000" cy="1181100"/>
          </a:xfrm>
          <a:prstGeom prst="roundRect">
            <a:avLst>
              <a:gd name="adj" fmla="val 1290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0625" y="3208883"/>
            <a:ext cx="17497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90625" y="3570833"/>
            <a:ext cx="174974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covers accountability — the principle that humans remain responsible for decisions made with AI assistance.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22490"/>
            <a:ext cx="38100" cy="1642021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398690"/>
            <a:ext cx="13735050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99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"Human-in-the-loop keeps a person reviewing AI output at a defined point — consistently, not just at the start."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33500" y="562161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6.5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07981" y="4586734"/>
            <a:ext cx="5472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6.6 · SUB-OBJECTIVE 6 OF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837829" y="5086796"/>
            <a:ext cx="8612341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Verification Is Essential</a:t>
            </a:r>
            <a:endParaRPr lang="en-US" sz="4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 WHERE VERIFICATION IS ESSENTIAL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Categories That Always Need Checking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4779838" cy="51435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374553"/>
            <a:ext cx="4779838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1984028"/>
            <a:ext cx="46184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5732338" y="1869728"/>
            <a:ext cx="11603162" cy="51435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732338" y="2374553"/>
            <a:ext cx="11603162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5884738" y="1984028"/>
            <a:ext cx="116464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High-Stakes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04900" y="2498378"/>
            <a:ext cx="4618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&amp; figures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5884738" y="2498378"/>
            <a:ext cx="1164645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state fluently, easy to invent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52500" y="2898428"/>
            <a:ext cx="16383000" cy="50958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" y="3012728"/>
            <a:ext cx="461843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output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5884738" y="3012728"/>
            <a:ext cx="1164645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advice can have binding, costly consequences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04900" y="3522315"/>
            <a:ext cx="461843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output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5884738" y="3522315"/>
            <a:ext cx="1164645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affects health and safety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52500" y="3917603"/>
            <a:ext cx="16383000" cy="50958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04900" y="4031903"/>
            <a:ext cx="461843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output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5884738" y="4031903"/>
            <a:ext cx="1164645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can cause direct monetary loss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104900" y="4541490"/>
            <a:ext cx="461843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Code-related output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5884738" y="4541490"/>
            <a:ext cx="1164645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introduce bugs, security flaws or data loss if unchecked</a:t>
            </a:r>
            <a:endParaRPr lang="en-US" sz="18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22490"/>
            <a:ext cx="38100" cy="1642021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398690"/>
            <a:ext cx="13735050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99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"Facts, figures, and legal, medical, financial or code-related output always deserve verification before use."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33500" y="562161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6.6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The Cause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806848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situation, identify which concept from this module explains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340248"/>
            <a:ext cx="163830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0625" y="2540273"/>
            <a:ext cx="163982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An AI tool cites a specific academic paper that turns out not to exist.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3140348"/>
            <a:ext cx="163830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0625" y="3340373"/>
            <a:ext cx="163982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An AI tool states an uncertain estimate as flat, unqualified fact.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3940448"/>
            <a:ext cx="163830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0625" y="4140473"/>
            <a:ext cx="163982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An AI tool describes a company's leadership using names that left the company last year.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APPLICATION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Claims Need The Closest Check?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52500" y="180684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00687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"Exactly 73.4% of companies in this sector reported this outcome last year."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20200" y="180684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20225" y="200687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is a widely used approach in the industry."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262599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525" y="282602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the CEO said in her keynote speech, 'we will triple output by next year.'"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20200" y="262599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20225" y="282602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function may run slowly on very large inputs."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APPLICATION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Technique To The Situation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52500" y="180684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00687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tool cites a statistic with no reference given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20200" y="180684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20225" y="200687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to see if the answer is stable when reworded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262599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525" y="282602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an expert in the topic and something feels off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20200" y="262599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20225" y="282602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generated legal summary needs confirming before use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Concepts, In One Line Each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907828"/>
            <a:ext cx="4321001" cy="4619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360265"/>
            <a:ext cx="4321001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2003078"/>
            <a:ext cx="41458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273501" y="1907828"/>
            <a:ext cx="12061999" cy="4619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73501" y="2360265"/>
            <a:ext cx="12061999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5425901" y="2003078"/>
            <a:ext cx="121190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Definition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04900" y="2465040"/>
            <a:ext cx="414583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25901" y="2465040"/>
            <a:ext cx="1211905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Fluent, confident output that is factually wrong or invented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2831753"/>
            <a:ext cx="16383000" cy="4572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" y="2927003"/>
            <a:ext cx="41458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Overconfidence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25901" y="2927003"/>
            <a:ext cx="121190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model's tone carries no information about its accuracy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04900" y="3384203"/>
            <a:ext cx="41458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limitations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25901" y="3384203"/>
            <a:ext cx="121190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Cut-offs and thin or outdated data both reduce reliability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3746153"/>
            <a:ext cx="16383000" cy="4572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04900" y="3841403"/>
            <a:ext cx="41458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25901" y="3841403"/>
            <a:ext cx="121190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sources, asking for sources, cross-checking, domain knowledge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04900" y="4298603"/>
            <a:ext cx="41458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25901" y="4298603"/>
            <a:ext cx="121190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reviews AI output at a defined point before it takes effect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Distractor Patterns To Recognise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16383000" cy="661988"/>
          </a:xfrm>
          <a:prstGeom prst="roundRect">
            <a:avLst>
              <a:gd name="adj" fmla="val 20144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1575" y="2050703"/>
            <a:ext cx="164363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 confident tone means an answer is accurate — confidence and accuracy are unrelated.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" y="2665065"/>
            <a:ext cx="16383000" cy="661988"/>
          </a:xfrm>
          <a:prstGeom prst="roundRect">
            <a:avLst>
              <a:gd name="adj" fmla="val 20144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1575" y="2846040"/>
            <a:ext cx="164363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Hallucination only happens with obscure questions — it can happen on any topic where fluency and truth diverge.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3460403"/>
            <a:ext cx="16383000" cy="661988"/>
          </a:xfrm>
          <a:prstGeom prst="roundRect">
            <a:avLst>
              <a:gd name="adj" fmla="val 20144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1575" y="3641378"/>
            <a:ext cx="164363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Verification is only needed for "important" documents — the task's stakes and data sensitivity decide, not its format.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604872" y="3731419"/>
            <a:ext cx="307825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5 WEIGHTING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272784" y="4212431"/>
            <a:ext cx="3742432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7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4729163" y="5926931"/>
            <a:ext cx="88296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CAIA examination is drawn from Domain 5: AI Limitations &amp; Verification.</a:t>
            </a:r>
            <a:endParaRPr lang="en-US" sz="2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56972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tool states a fabricated statistic in exactly the same confident tone as a correct one nearby. What does this best illustrate?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2286000"/>
            <a:ext cx="8115300" cy="685800"/>
          </a:xfrm>
          <a:prstGeom prst="roundRect">
            <a:avLst>
              <a:gd name="adj" fmla="val 1944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486025"/>
            <a:ext cx="79587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The model has exceeded its context window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20200" y="2286000"/>
            <a:ext cx="8115300" cy="685800"/>
          </a:xfrm>
          <a:prstGeom prst="roundRect">
            <a:avLst>
              <a:gd name="adj" fmla="val 19444"/>
            </a:avLst>
          </a:prstGeom>
          <a:solidFill>
            <a:srgbClr val="22C55E">
              <a:alpha val="1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29750" y="2495550"/>
            <a:ext cx="7939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A model's confident tone carries no information about accuracy 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3124200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525" y="3324225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The model's temperature is set too low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20200" y="3124200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20225" y="3324225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The model is using retrieval-augmented generation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In Six Statements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8124825" cy="604838"/>
          </a:xfrm>
          <a:prstGeom prst="roundRect">
            <a:avLst>
              <a:gd name="adj" fmla="val 220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1575" y="2031653"/>
            <a:ext cx="793042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Hallucination is fluent, confident, invented output.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10675" y="1869728"/>
            <a:ext cx="8124825" cy="604838"/>
          </a:xfrm>
          <a:prstGeom prst="roundRect">
            <a:avLst>
              <a:gd name="adj" fmla="val 220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29750" y="2031653"/>
            <a:ext cx="793042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 model's confident tone is not evidence of accuracy.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2607915"/>
            <a:ext cx="8124825" cy="604838"/>
          </a:xfrm>
          <a:prstGeom prst="roundRect">
            <a:avLst>
              <a:gd name="adj" fmla="val 220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1575" y="2769840"/>
            <a:ext cx="793042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Cut-offs and outdated data both reduce reliability.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10675" y="2607915"/>
            <a:ext cx="8124825" cy="604838"/>
          </a:xfrm>
          <a:prstGeom prst="roundRect">
            <a:avLst>
              <a:gd name="adj" fmla="val 220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29750" y="2769840"/>
            <a:ext cx="793042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Verify via independent sources, sourcing, cross-checks, expertise.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3346103"/>
            <a:ext cx="8124825" cy="871538"/>
          </a:xfrm>
          <a:prstGeom prst="roundRect">
            <a:avLst>
              <a:gd name="adj" fmla="val 1530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1575" y="3508028"/>
            <a:ext cx="7930420" cy="585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keeps a person in the decision, consistently.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10675" y="3346103"/>
            <a:ext cx="8124825" cy="871538"/>
          </a:xfrm>
          <a:prstGeom prst="roundRect">
            <a:avLst>
              <a:gd name="adj" fmla="val 1530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29750" y="3508028"/>
            <a:ext cx="7930420" cy="585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Facts, figures, legal, medical, financial and code output always need checking.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832399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4270549"/>
            <a:ext cx="18021300" cy="54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762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In Module 7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952500" y="4983956"/>
            <a:ext cx="12753975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Security, Privacy &amp; Data — Domain 6 (10%). You now know how to judge whether AI output is accurate; Module 7 covers protecting the information you put into AI tools in the first place — data leakage, shadow AI, and AI-enabled threats.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9715500"/>
            <a:ext cx="21286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690777" y="9715500"/>
            <a:ext cx="7209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2026-08-10T21:28:58Z</dcterms:created>
  <dcterms:modified xsi:type="dcterms:W3CDTF">2026-08-10T21:28:58Z</dcterms:modified>
</cp:coreProperties>
</file>