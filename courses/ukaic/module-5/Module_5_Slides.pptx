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to Module 5, the most hands-on module so far: applying prompting skills to real workplace tasks, plus judgement about when AI is and isn't appropriate.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six sub-objectives. The first four apply prompting to real tasks; the last two introduce judgement and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is unusual: it draws on two domains at once. Explain that Module 4 covered prompting mechanics; this module applies them, plus opens Domain 5, which Module 6 covers in full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bridge. Move quickly to 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AI as producing a first draft, not a finished, send-ready document — the human's editing pass still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summarising.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specifying length and focus — an unscoped summary tends to just shorten everything evenly rather than highlighting what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AI as a structuring aid — turning a rough goal into a workable plan, which a person then adjusts for real-world constraints it doesn't know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research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plants the seed for Module 6: research assistance is exactly where verification matters most, since it's easy to mistake a fluent answer for a checked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judging appropriate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This objective is a shift from 'how to use AI well' to 'when to use it at all' — flag that shift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grounded in the task types just covered: drafting, summarising, planning, research are the natural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three-question checklist is the practical takeaway of 5.5 — usable well beyond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human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introductory — the full mechanics of hallucination and verification technique are Module 6's job. Here, the point is simply that a human check is part of the everyday workflow, not an optional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final sub-objective.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after discussion: this combines drafting (5.1), summarising source material (5.2) and research orientation (5.4) in one request — a good synthesis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Reveal: 1) appropriate (with review), 2) needs real caution — confidential data, 3) appropriate, 4) needs real caution — high-stakes, unchecked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Reveal: 1) drafting, 2) summarising, 3) planning, 4)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most common Domain 4/5 distractor patterns for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focus before the knowledge check — note this module draws on two domains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30 seconds before revealing that C is correct. This MCQ is reused as Question 5 of the Module 5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six objectives one final time before the transition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 briefly and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960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 · CERTIFIED AI ASSOCIATE (CAIA)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455988"/>
            <a:ext cx="14716125" cy="1403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24"/>
              </a:lnSpc>
              <a:buNone/>
            </a:pPr>
            <a:r>
              <a:rPr lang="en-US" sz="4800" b="1" spc="-48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Working With AI Day-to-Day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6011987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 4 &amp; 5 · Prompting &amp; Effective AI Use / AI Limitations &amp; Verification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715500"/>
            <a:ext cx="2128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90777" y="9715500"/>
            <a:ext cx="72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Be Able To Do After This Module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9675" y="198402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199355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9275" y="2069753"/>
            <a:ext cx="5107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 effectively to drafting and writing tasks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641253"/>
            <a:ext cx="163830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9675" y="2755553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27650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9275" y="2841278"/>
            <a:ext cx="37766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 effectively to summarising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3412778"/>
            <a:ext cx="163830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9675" y="352707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1100" y="353660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19275" y="3612803"/>
            <a:ext cx="55473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 effectively to planning and organising work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4184303"/>
            <a:ext cx="163830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9675" y="4298603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1100" y="43081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19275" y="4384328"/>
            <a:ext cx="45293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 effectively to research assistance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4955828"/>
            <a:ext cx="163830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9675" y="5070128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1100" y="507965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19275" y="5155853"/>
            <a:ext cx="75296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which tasks are appropriate for AI assistance, and which are not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5727353"/>
            <a:ext cx="163830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9675" y="5841653"/>
            <a:ext cx="438150" cy="438150"/>
          </a:xfrm>
          <a:prstGeom prst="ellipse">
            <a:avLst/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1100" y="585117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19275" y="5927378"/>
            <a:ext cx="59607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role of human verification in everyday AI use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BLUEPRINT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Domains, One Examination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12578"/>
            <a:ext cx="1275397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is unusual — it draws on two domains: applying prompting (Domain 4) to real tasks, and introducing verification and human oversight (Domain 5), which Module 6 covers in full depth.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66788" y="2833539"/>
            <a:ext cx="1296665" cy="485775"/>
          </a:xfrm>
          <a:custGeom>
            <a:avLst/>
            <a:gdLst/>
            <a:ahLst/>
            <a:cxnLst/>
            <a:rect l="l" t="t" r="r" b="b"/>
            <a:pathLst>
              <a:path w="1296665" h="485775">
                <a:moveTo>
                  <a:pt x="95250" y="0"/>
                </a:moveTo>
                <a:lnTo>
                  <a:pt x="1296665" y="0"/>
                </a:lnTo>
                <a:lnTo>
                  <a:pt x="1296665" y="485775"/>
                </a:lnTo>
                <a:lnTo>
                  <a:pt x="0" y="485775"/>
                </a:lnTo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FF6A0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6788" y="3309789"/>
            <a:ext cx="129666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8" name="Text 6"/>
          <p:cNvSpPr/>
          <p:nvPr/>
        </p:nvSpPr>
        <p:spPr>
          <a:xfrm>
            <a:off x="1119188" y="2928789"/>
            <a:ext cx="10680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2263453" y="2833539"/>
            <a:ext cx="11142241" cy="485775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63453" y="3309789"/>
            <a:ext cx="1114224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1" name="Text 9"/>
          <p:cNvSpPr/>
          <p:nvPr/>
        </p:nvSpPr>
        <p:spPr>
          <a:xfrm>
            <a:off x="2415853" y="2928789"/>
            <a:ext cx="11171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05693" y="2833539"/>
            <a:ext cx="3929807" cy="485775"/>
          </a:xfrm>
          <a:custGeom>
            <a:avLst/>
            <a:gdLst/>
            <a:ahLst/>
            <a:cxnLst/>
            <a:rect l="l" t="t" r="r" b="b"/>
            <a:pathLst>
              <a:path w="3929807" h="485775">
                <a:moveTo>
                  <a:pt x="0" y="0"/>
                </a:moveTo>
                <a:lnTo>
                  <a:pt x="3834557" y="0"/>
                </a:lnTo>
                <a:arcTo hR="95250" wR="95250" stAng="16200000" swAng="5400000"/>
                <a:lnTo>
                  <a:pt x="3929807" y="485775"/>
                </a:lnTo>
                <a:lnTo>
                  <a:pt x="0" y="485775"/>
                </a:lnTo>
                <a:lnTo>
                  <a:pt x="0" y="0"/>
                </a:lnTo>
                <a:close/>
              </a:path>
            </a:pathLst>
          </a:custGeom>
          <a:solidFill>
            <a:srgbClr val="FF6A00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405693" y="3309789"/>
            <a:ext cx="3929807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0199" y="2928789"/>
            <a:ext cx="37429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19188" y="3414564"/>
            <a:ext cx="1068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415853" y="3414564"/>
            <a:ext cx="111717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Concepts &amp; Terminology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440199" y="3414564"/>
            <a:ext cx="37429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66788" y="3805089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19188" y="3900339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415853" y="3900339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Systems Work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440199" y="3900339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19188" y="4381351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415853" y="4381351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&amp; AI Tools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440199" y="4381351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6788" y="4767114"/>
            <a:ext cx="16368713" cy="481012"/>
          </a:xfrm>
          <a:prstGeom prst="rect">
            <a:avLst/>
          </a:prstGeom>
          <a:solidFill>
            <a:srgbClr val="FF6A00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66788" y="4767114"/>
            <a:ext cx="28575" cy="48101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27" name="Text 25"/>
          <p:cNvSpPr/>
          <p:nvPr/>
        </p:nvSpPr>
        <p:spPr>
          <a:xfrm>
            <a:off x="1119188" y="4862364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2415853" y="4862364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&amp; Effective AI Use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440199" y="4862364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66788" y="5248126"/>
            <a:ext cx="16368713" cy="481012"/>
          </a:xfrm>
          <a:prstGeom prst="rect">
            <a:avLst/>
          </a:prstGeom>
          <a:solidFill>
            <a:srgbClr val="FF6A00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66788" y="5248126"/>
            <a:ext cx="28575" cy="481012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1119188" y="5343376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2415853" y="5343376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Limitations &amp; Verification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3440199" y="5343376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19188" y="5824389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2415853" y="5824389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Security, Privacy &amp; Data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3440199" y="5824389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66788" y="6210151"/>
            <a:ext cx="16368713" cy="48101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19188" y="6305401"/>
            <a:ext cx="1068065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2415853" y="6305401"/>
            <a:ext cx="11171708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AI, Ethics &amp; Governance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3440199" y="6305401"/>
            <a:ext cx="3742901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663851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MODULE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102001"/>
            <a:ext cx="146685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Write A Good Prompt. Now: Where Does That Actually Help?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5076379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applies the TCFC framework and prompting techniques to four everyday task types, then asks the harder question: when should you reach for AI at all, and how do you keep a person in control of the outcome?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59717" y="4586734"/>
            <a:ext cx="53684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5.1 · SUB-OBJECTIVE 1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231013" y="5086796"/>
            <a:ext cx="5825899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And Writing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DRAFTING AND WRITING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First-Draft Generator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well suited to producing a first draft of routine writing — emails, announcements, job descriptions, meeting agendas — from a short brief, using the TCFC framework from Module 4 to set it up well.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8039100"/>
            <a:ext cx="809625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8277225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8639175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 first version of a policy update, ready for a person to check and personalise.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9250" y="8039100"/>
            <a:ext cx="809625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77375" y="8277225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77375" y="8639175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 is a starting point, not a finished, send-ready document — review before use.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drafts routine writing quickly — a person still reviews it before it goes anywhere."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5.1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20669" y="4586734"/>
            <a:ext cx="5446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5.2 · SUB-OBJECTIVE 2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262306" y="5086796"/>
            <a:ext cx="3763387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Summarising</a:t>
            </a:r>
            <a:endParaRPr lang="en-US" sz="4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SUMMARISING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Condensing Long Material Quickly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condense long documents, meeting transcripts or email threads into a shorter version — but the result is only as useful as the brief. Specify the length and what to focus on, or the summary may treat everything as equally important.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8039100"/>
            <a:ext cx="809625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8277225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8639175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"Summarise this thread in three bullet points, focused on decisions made and open questions."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9250" y="8039100"/>
            <a:ext cx="809625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77375" y="8277225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77375" y="8639175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can omit a detail that turns out to matter — check anything a decision will rest 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good summary prompt states the length and what to focus on — otherwise everything gets shortened equally."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5.2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5021" y="4586734"/>
            <a:ext cx="54579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5.3 · SUB-OBJECTIVE 3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841598" y="5086796"/>
            <a:ext cx="8604729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And Organising Work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PLANNING AND ORGANISING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Goal Into A Structured Plan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turn a rough goal into a first-pass plan — a project outline, a checklist, a rough timeline of steps — giving you a structure to adjust rather than starting from a blank page.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8039100"/>
            <a:ext cx="809625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8277225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8639175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 step-by-step checklist for onboarding a new starter over their first two weeks."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9250" y="8039100"/>
            <a:ext cx="809625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77375" y="8277225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77375" y="8639175"/>
            <a:ext cx="7848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doesn't know your team's real constraints — capacity, dependencies, approvals — so the plan needs a human adjustment pass.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turns a rough goal into a first-pass structure — a person adjusts it for real-world constraints."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5.3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06429" y="4586734"/>
            <a:ext cx="54750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5.4 · SUB-OBJECTIVE 4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156770" y="5086796"/>
            <a:ext cx="5974385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Assistance</a:t>
            </a:r>
            <a:endParaRPr lang="en-US" sz="4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RESEARCH ASSISTANCE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Starting Point, Not A Final Source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useful for orienting quickly in an unfamiliar topic — explaining a concept, suggesting angles to explore, or drafting an initial overview to react to. It is a starting point for research, not a substitute for checking sources.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7075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20888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57083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covers why AI-generated facts and figures specifically need independent verification.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a fast way to get oriented in a topic — it is a starting point for research, not a substitute for checking sources."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5.4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5679" y="4586734"/>
            <a:ext cx="54565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5.5 · SUB-OBJECTIVE 5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681920" y="5086796"/>
            <a:ext cx="12924160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When AI Is — And Isn't — Appropriate</a:t>
            </a:r>
            <a:endParaRPr lang="en-US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JUDGING APPROPRIATE 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Fits vs Poor Fits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907828"/>
            <a:ext cx="7762875" cy="7655272"/>
          </a:xfrm>
          <a:custGeom>
            <a:avLst/>
            <a:gdLst/>
            <a:ahLst/>
            <a:cxnLst/>
            <a:rect l="l" t="t" r="r" b="b"/>
            <a:pathLst>
              <a:path w="7762875" h="7655272">
                <a:moveTo>
                  <a:pt x="152400" y="0"/>
                </a:moveTo>
                <a:lnTo>
                  <a:pt x="7762875" y="0"/>
                </a:lnTo>
                <a:lnTo>
                  <a:pt x="7762875" y="7655272"/>
                </a:lnTo>
                <a:lnTo>
                  <a:pt x="152400" y="7655272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203103"/>
            <a:ext cx="78895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Generally A Good Fit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47775" y="2626965"/>
            <a:ext cx="738749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Drafting, summarising, planning structure, research orientation, brainstorming — tasks where a person reviews the output before it's used.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39200" y="5430664"/>
            <a:ext cx="609600" cy="609600"/>
          </a:xfrm>
          <a:prstGeom prst="ellipse">
            <a:avLst/>
          </a:prstGeom>
          <a:solidFill>
            <a:srgbClr val="FF6A00"/>
          </a:solidFill>
          <a:ln/>
          <a:effectLst>
            <a:outerShdw sx="100000" sy="100000" kx="0" ky="0" algn="bl" rotWithShape="0" blurRad="101600" dist="50800" dir="16200000">
              <a:srgbClr val="0C0D10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01100" y="543066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72625" y="1907828"/>
            <a:ext cx="7762875" cy="7655272"/>
          </a:xfrm>
          <a:custGeom>
            <a:avLst/>
            <a:gdLst/>
            <a:ahLst/>
            <a:cxnLst/>
            <a:rect l="l" t="t" r="r" b="b"/>
            <a:pathLst>
              <a:path w="7762875" h="7655272">
                <a:moveTo>
                  <a:pt x="0" y="0"/>
                </a:moveTo>
                <a:lnTo>
                  <a:pt x="7610475" y="0"/>
                </a:lnTo>
                <a:arcTo hR="152400" wR="152400" stAng="16200000" swAng="5400000"/>
                <a:lnTo>
                  <a:pt x="7762875" y="7502872"/>
                </a:lnTo>
                <a:arcTo hR="152400" wR="152400" stAng="0" swAng="5400000"/>
                <a:lnTo>
                  <a:pt x="0" y="76552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7900" y="2203103"/>
            <a:ext cx="78895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Real Caution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67900" y="2626965"/>
            <a:ext cx="738749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legal, medical or financial decisions; anything sent externally unchecked; anything involving confidential data in an unapproved tool.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JUDGING APPROPRIATE 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Before You Rely On AI Output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1119188"/>
          </a:xfrm>
          <a:prstGeom prst="roundRect">
            <a:avLst>
              <a:gd name="adj" fmla="val 1361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9675" y="2088803"/>
            <a:ext cx="174555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this is wrong?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09675" y="2426940"/>
            <a:ext cx="17455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stakes call for more scrutiny before anything is used or sent.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41315"/>
            <a:ext cx="16383000" cy="1119188"/>
          </a:xfrm>
          <a:prstGeom prst="roundRect">
            <a:avLst>
              <a:gd name="adj" fmla="val 1361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75" y="3360390"/>
            <a:ext cx="174555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involve sensitive or confidential information?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9675" y="3698528"/>
            <a:ext cx="17455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so, only an approved tool is appropriate — covered fully in Module 7.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412903"/>
            <a:ext cx="16383000" cy="1119188"/>
          </a:xfrm>
          <a:prstGeom prst="roundRect">
            <a:avLst>
              <a:gd name="adj" fmla="val 1361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9675" y="4631978"/>
            <a:ext cx="174555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 person check the output before it's used?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09675" y="4970115"/>
            <a:ext cx="174555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nobody will review it, that's a reason to slow down, not a reason to skip AI entirely.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49130"/>
            <a:ext cx="38100" cy="158874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425330"/>
            <a:ext cx="137350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"Ask what happens if it's wrong, whether the data is sensitive, and whether a person will check it before it's used."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33500" y="559497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5.5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410600" y="4586734"/>
            <a:ext cx="546679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5.6 · SUB-OBJECTIVE 6 OF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738051" y="5086796"/>
            <a:ext cx="8811823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Human Verification</a:t>
            </a:r>
            <a:endParaRPr lang="en-US" sz="4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THE ROLE OF HUMAN VERIFICATION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Is Part Of The Workflow, Not An Extra Step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2500" y="1831628"/>
            <a:ext cx="1275397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type in this module — drafting, summarising, planning, research — benefits from AI speed, but still needs a person to check the output before it's relied on. Verification isn't a sign something went wrong; it's simply how AI output gets used responsibly.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397448"/>
            <a:ext cx="163830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25" y="3635573"/>
            <a:ext cx="17497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997523"/>
            <a:ext cx="17497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explains why this matters — hallucination, overconfidence, and how to verify effectively.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322490"/>
            <a:ext cx="38100" cy="1642021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398690"/>
            <a:ext cx="13735050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"Checking AI output before relying on it isn't optional caution — it's a normal part of using AI well."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33500" y="56216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OBJECTIVE 5.6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Monday Briefing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25898"/>
            <a:ext cx="16383000" cy="1413421"/>
          </a:xfrm>
          <a:prstGeom prst="roundRect">
            <a:avLst>
              <a:gd name="adj" fmla="val 1078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2121173"/>
            <a:ext cx="1628394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prepare a short briefing note for your manager: what happened last week, what's planned this week, and a quick primer on a new topic that's come up.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52500" y="348696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887019"/>
            <a:ext cx="180213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task types from this module would help with each part of this briefing, and what would you still need to check yourself?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Use, Or Not?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1806848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three-question checklist from 5.5 to each scenario.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340248"/>
            <a:ext cx="8115300" cy="93345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540273"/>
            <a:ext cx="7958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 first version of a team newsletter, to be reviewed before sending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20200" y="2340248"/>
            <a:ext cx="8115300" cy="933450"/>
          </a:xfrm>
          <a:prstGeom prst="roundRect">
            <a:avLst>
              <a:gd name="adj" fmla="val 1428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20225" y="2540273"/>
            <a:ext cx="79587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Pasting a customer's personal data into an unapproved public AI tool to draft a reply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4260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525" y="36261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 quick explanation of an unfamiliar term before a meeting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20200" y="34260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0225" y="36261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an AI-drafted contract clause straight to a client with no legal review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28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Task To Its Type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525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first version of this announcement email."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180684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0225" y="200687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"Condense this 10-page report into five key points."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5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 step-by-step timeline for this project."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2625998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2826023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an overview of this topic to get started."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Distractor Patterns To Recognise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50703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An AI-drafted document is ready to send as-is — it's a first draft, and still needs review.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665065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1575" y="2846040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AI research assistance removes the need to check sources — it's a starting point, not a final source.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460403"/>
            <a:ext cx="16383000" cy="661988"/>
          </a:xfrm>
          <a:prstGeom prst="roundRect">
            <a:avLst>
              <a:gd name="adj" fmla="val 20144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3641378"/>
            <a:ext cx="164363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If a task "isn't technical", AI use has no risk — sensitivity of data and consequences of error matter more than task type.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255103" y="3921919"/>
            <a:ext cx="37777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 4 &amp; 5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559549" y="4402931"/>
            <a:ext cx="7168902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9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+ 15%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4238625" y="5736431"/>
            <a:ext cx="9810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CAIA examination is drawn from Domains 4 and 5 combined — this module bridges both.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colleague wants to paste a customer's personal details into a public AI tool to help draft a reply. Using the checklist from this module, what is the main concern?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2228850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428875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Drafting replies is not an appropriate use of 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20200" y="2228850"/>
            <a:ext cx="8115300" cy="66675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0225" y="2428875"/>
            <a:ext cx="79587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The task will take too long for AI to help with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048000"/>
            <a:ext cx="8115300" cy="685800"/>
          </a:xfrm>
          <a:prstGeom prst="roundRect">
            <a:avLst>
              <a:gd name="adj" fmla="val 19444"/>
            </a:avLst>
          </a:prstGeom>
          <a:solidFill>
            <a:srgbClr val="22C55E">
              <a:alpha val="1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" y="3257550"/>
            <a:ext cx="793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It involves sensitive personal data in an unapproved tool 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20200" y="3048000"/>
            <a:ext cx="8115300" cy="685800"/>
          </a:xfrm>
          <a:prstGeom prst="roundRect">
            <a:avLst>
              <a:gd name="adj" fmla="val 1944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0225" y="3248025"/>
            <a:ext cx="79587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Public AI tools cannot draft replies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2050"/>
            <a:ext cx="180213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3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In Six Statements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1869728"/>
            <a:ext cx="8124825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1575" y="2031653"/>
            <a:ext cx="7930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AI drafts routine writing quickly; a person still reviews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10675" y="1869728"/>
            <a:ext cx="8124825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9750" y="2031653"/>
            <a:ext cx="7930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Good summaries need a stated length and focus.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593628"/>
            <a:ext cx="8124825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2755553"/>
            <a:ext cx="7930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AI turns a goal into a first-pass plan for a person to adjust.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10675" y="2593628"/>
            <a:ext cx="8124825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9750" y="2755553"/>
            <a:ext cx="7930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AI research is a starting point, not a final source.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3317528"/>
            <a:ext cx="8124825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1575" y="3479453"/>
            <a:ext cx="7930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Judge stakes, data sensitivity, and whether a person will check the output.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10675" y="3317528"/>
            <a:ext cx="8124825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9750" y="3479453"/>
            <a:ext cx="7930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</a:t>
            </a:r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Human verification is a normal part of using AI, not an extra step.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4045744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4483894"/>
            <a:ext cx="18021300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762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In Module 6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52500" y="5197301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Limitations, Risks &amp; Hallucination — Domain 5 (15%). You now know that AI output needs checking; Module 6 explains exactly why — hallucination, overconfidence, and how to verify effectively — in full depth.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715500"/>
            <a:ext cx="2128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90777" y="9715500"/>
            <a:ext cx="72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2026-08-10T20:40:02Z</dcterms:created>
  <dcterms:modified xsi:type="dcterms:W3CDTF">2026-08-10T20:40:02Z</dcterms:modified>
</cp:coreProperties>
</file>