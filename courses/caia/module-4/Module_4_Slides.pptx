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notesMasterIdLst>
    <p:notesMasterId r:id="rId35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learners to Module 4. Frame it as the practical skills module: how to get better results from any AI tool through better prompting.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through the five sub-objectives.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Orient learners to the blueprint.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Short bridge. Move quickly to 4.1.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four-part framework as the backbone of the whole module. Every later technique (examples, personas, refinement) builds on getting these four right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example live, pointing at each labelled part. This is the single most useful slide in the module — spend real time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framework recurs through the rest of the module.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three principles are the practical heart of good prompting.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both prompts aloud before revealing the takeaway.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before diagnosing weak prompts.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checklist is a practical diagnostic tool learners can reuse after the course.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fix live: the improved version adds context, format and a constraint.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before iterative refinement.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this as normal, expected practice, not a sign the first prompt failed.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flow live: first draft, feedback, refined result.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before examples and personas.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Giving an example is often faster and more reliable than describing the desired style in the abstract.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role/persona is an instruction about perspective and register, not a way to grant the model new factual knowledge.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the final sub-objective.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learners write their own TCFC prompt for this scenario before comparing with a neighbour.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Reveal a model improvement after discussion, e.g. adding audience, length and format.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Reveal: 1) example, 2) TCFC/format, 3) persona, 4) follow-up/iterative refinement.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Consolidated pass before misconceptions.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map to the most common Domain 4 distractor patterns.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Reset focus before the knowledge check.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learners 30 seconds before revealing that B is correct. This MCQ is reused as Question 5 of the Module 4 Quiz.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all five objectives one final time before the transition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Preview Module 5 briefly and close.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52500" y="3960688"/>
            <a:ext cx="180213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8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CYBER ACADEMY · CERTIFIED AI ASSOCIATE (CAIA)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52500" y="4455988"/>
            <a:ext cx="14716125" cy="14035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524"/>
              </a:lnSpc>
              <a:buNone/>
            </a:pPr>
            <a:r>
              <a:rPr lang="en-US" sz="4800" b="1" spc="-48" kern="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4 Prompt Engineering Fundamentals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952500" y="6011987"/>
            <a:ext cx="1802130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4 · Prompting &amp; Effective AI Use (15% of the examination)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52500" y="9715500"/>
            <a:ext cx="212865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89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Cyber Academy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690777" y="9715500"/>
            <a:ext cx="72092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5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CAIA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52500" y="723900"/>
            <a:ext cx="180213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8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OBJECTIVES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52500" y="1162050"/>
            <a:ext cx="18021300" cy="4981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588"/>
              </a:lnSpc>
              <a:buNone/>
            </a:pPr>
            <a:r>
              <a:rPr lang="en-US" sz="315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Will Be Able To Do After This Module</a:t>
            </a:r>
            <a:endParaRPr lang="en-US" sz="3150" dirty="0"/>
          </a:p>
        </p:txBody>
      </p:sp>
      <p:sp>
        <p:nvSpPr>
          <p:cNvPr id="5" name="Shape 3"/>
          <p:cNvSpPr/>
          <p:nvPr/>
        </p:nvSpPr>
        <p:spPr>
          <a:xfrm>
            <a:off x="952500" y="1869728"/>
            <a:ext cx="16383000" cy="704850"/>
          </a:xfrm>
          <a:prstGeom prst="roundRect">
            <a:avLst>
              <a:gd name="adj" fmla="val 50000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09675" y="2003078"/>
            <a:ext cx="438150" cy="438150"/>
          </a:xfrm>
          <a:prstGeom prst="ellipse">
            <a:avLst/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81100" y="2012603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819275" y="2081659"/>
            <a:ext cx="9457499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a structured approach to prompting using task, context, format and constraints</a:t>
            </a:r>
            <a:endParaRPr lang="en-US" sz="1875" dirty="0"/>
          </a:p>
        </p:txBody>
      </p:sp>
      <p:sp>
        <p:nvSpPr>
          <p:cNvPr id="9" name="Shape 7"/>
          <p:cNvSpPr/>
          <p:nvPr/>
        </p:nvSpPr>
        <p:spPr>
          <a:xfrm>
            <a:off x="952500" y="2707928"/>
            <a:ext cx="16383000" cy="704850"/>
          </a:xfrm>
          <a:prstGeom prst="roundRect">
            <a:avLst>
              <a:gd name="adj" fmla="val 50000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09675" y="2841278"/>
            <a:ext cx="438150" cy="438150"/>
          </a:xfrm>
          <a:prstGeom prst="ellipse">
            <a:avLst/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81100" y="2850803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819275" y="2919859"/>
            <a:ext cx="5058341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clear, specific and effective instructions</a:t>
            </a:r>
            <a:endParaRPr lang="en-US" sz="1875" dirty="0"/>
          </a:p>
        </p:txBody>
      </p:sp>
      <p:sp>
        <p:nvSpPr>
          <p:cNvPr id="13" name="Shape 11"/>
          <p:cNvSpPr/>
          <p:nvPr/>
        </p:nvSpPr>
        <p:spPr>
          <a:xfrm>
            <a:off x="952500" y="3546128"/>
            <a:ext cx="16383000" cy="704850"/>
          </a:xfrm>
          <a:prstGeom prst="roundRect">
            <a:avLst>
              <a:gd name="adj" fmla="val 50000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09675" y="3679478"/>
            <a:ext cx="438150" cy="438150"/>
          </a:xfrm>
          <a:prstGeom prst="ellipse">
            <a:avLst/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81100" y="3689003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819275" y="3758059"/>
            <a:ext cx="4152773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Diagnose and improve weak prompts</a:t>
            </a:r>
            <a:endParaRPr lang="en-US" sz="1875" dirty="0"/>
          </a:p>
        </p:txBody>
      </p:sp>
      <p:sp>
        <p:nvSpPr>
          <p:cNvPr id="17" name="Shape 15"/>
          <p:cNvSpPr/>
          <p:nvPr/>
        </p:nvSpPr>
        <p:spPr>
          <a:xfrm>
            <a:off x="952500" y="4384328"/>
            <a:ext cx="16383000" cy="704850"/>
          </a:xfrm>
          <a:prstGeom prst="roundRect">
            <a:avLst>
              <a:gd name="adj" fmla="val 50000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09675" y="4517678"/>
            <a:ext cx="438150" cy="438150"/>
          </a:xfrm>
          <a:prstGeom prst="ellipse">
            <a:avLst/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81100" y="4527203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819275" y="4596259"/>
            <a:ext cx="7528493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iterative refinement and follow-up prompting to improve results</a:t>
            </a:r>
            <a:endParaRPr lang="en-US" sz="1875" dirty="0"/>
          </a:p>
        </p:txBody>
      </p:sp>
      <p:sp>
        <p:nvSpPr>
          <p:cNvPr id="21" name="Shape 19"/>
          <p:cNvSpPr/>
          <p:nvPr/>
        </p:nvSpPr>
        <p:spPr>
          <a:xfrm>
            <a:off x="952500" y="5222528"/>
            <a:ext cx="16383000" cy="704850"/>
          </a:xfrm>
          <a:prstGeom prst="roundRect">
            <a:avLst>
              <a:gd name="adj" fmla="val 50000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209675" y="5355878"/>
            <a:ext cx="438150" cy="438150"/>
          </a:xfrm>
          <a:prstGeom prst="ellipse">
            <a:avLst/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81100" y="5365403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4.5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819275" y="5434459"/>
            <a:ext cx="8760827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 examples, roles or personas to guide the style and content of AI output</a:t>
            </a:r>
            <a:endParaRPr lang="en-US" sz="18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52500" y="723900"/>
            <a:ext cx="180213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8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 BLUEPRINT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52500" y="1162050"/>
            <a:ext cx="18021300" cy="4981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588"/>
              </a:lnSpc>
              <a:buNone/>
            </a:pPr>
            <a:r>
              <a:rPr lang="en-US" sz="315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Seven Domains, One Examination</a:t>
            </a:r>
            <a:endParaRPr lang="en-US" sz="3150" dirty="0"/>
          </a:p>
        </p:txBody>
      </p:sp>
      <p:sp>
        <p:nvSpPr>
          <p:cNvPr id="5" name="Text 3"/>
          <p:cNvSpPr/>
          <p:nvPr/>
        </p:nvSpPr>
        <p:spPr>
          <a:xfrm>
            <a:off x="952500" y="1812578"/>
            <a:ext cx="12753975" cy="830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667"/>
              </a:lnSpc>
              <a:buNone/>
            </a:pPr>
            <a:r>
              <a:rPr lang="en-US" sz="195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module covers the mechanics of Domain 4. Module 5 continues Domain 4 by applying these skills to everyday workplace tasks.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966788" y="2833539"/>
            <a:ext cx="1296665" cy="485775"/>
          </a:xfrm>
          <a:custGeom>
            <a:avLst/>
            <a:gdLst/>
            <a:ahLst/>
            <a:cxnLst/>
            <a:rect l="l" t="t" r="r" b="b"/>
            <a:pathLst>
              <a:path w="1296665" h="485775">
                <a:moveTo>
                  <a:pt x="95250" y="0"/>
                </a:moveTo>
                <a:lnTo>
                  <a:pt x="1296665" y="0"/>
                </a:lnTo>
                <a:lnTo>
                  <a:pt x="1296665" y="485775"/>
                </a:lnTo>
                <a:lnTo>
                  <a:pt x="0" y="485775"/>
                </a:lnTo>
                <a:lnTo>
                  <a:pt x="0" y="95250"/>
                </a:lnTo>
                <a:arcTo hR="95250" wR="95250" stAng="10800000" swAng="5400000"/>
                <a:close/>
              </a:path>
            </a:pathLst>
          </a:custGeom>
          <a:solidFill>
            <a:srgbClr val="FF6A00">
              <a:alpha val="1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966788" y="3309789"/>
            <a:ext cx="1296665" cy="9525"/>
          </a:xfrm>
          <a:prstGeom prst="rect">
            <a:avLst/>
          </a:prstGeom>
          <a:solidFill>
            <a:srgbClr val="B85100"/>
          </a:solidFill>
          <a:ln/>
        </p:spPr>
      </p:sp>
      <p:sp>
        <p:nvSpPr>
          <p:cNvPr id="8" name="Text 6"/>
          <p:cNvSpPr/>
          <p:nvPr/>
        </p:nvSpPr>
        <p:spPr>
          <a:xfrm>
            <a:off x="1119188" y="2928789"/>
            <a:ext cx="106806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2263453" y="2833539"/>
            <a:ext cx="11142241" cy="485775"/>
          </a:xfrm>
          <a:prstGeom prst="rect">
            <a:avLst/>
          </a:prstGeom>
          <a:solidFill>
            <a:srgbClr val="FF6A00">
              <a:alpha val="1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2263453" y="3309789"/>
            <a:ext cx="11142241" cy="9525"/>
          </a:xfrm>
          <a:prstGeom prst="rect">
            <a:avLst/>
          </a:prstGeom>
          <a:solidFill>
            <a:srgbClr val="B85100"/>
          </a:solidFill>
          <a:ln/>
        </p:spPr>
      </p:sp>
      <p:sp>
        <p:nvSpPr>
          <p:cNvPr id="11" name="Text 9"/>
          <p:cNvSpPr/>
          <p:nvPr/>
        </p:nvSpPr>
        <p:spPr>
          <a:xfrm>
            <a:off x="2415853" y="2928789"/>
            <a:ext cx="1117170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13405693" y="2833539"/>
            <a:ext cx="3929807" cy="485775"/>
          </a:xfrm>
          <a:custGeom>
            <a:avLst/>
            <a:gdLst/>
            <a:ahLst/>
            <a:cxnLst/>
            <a:rect l="l" t="t" r="r" b="b"/>
            <a:pathLst>
              <a:path w="3929807" h="485775">
                <a:moveTo>
                  <a:pt x="0" y="0"/>
                </a:moveTo>
                <a:lnTo>
                  <a:pt x="3834557" y="0"/>
                </a:lnTo>
                <a:arcTo hR="95250" wR="95250" stAng="16200000" swAng="5400000"/>
                <a:lnTo>
                  <a:pt x="3929807" y="485775"/>
                </a:lnTo>
                <a:lnTo>
                  <a:pt x="0" y="485775"/>
                </a:lnTo>
                <a:lnTo>
                  <a:pt x="0" y="0"/>
                </a:lnTo>
                <a:close/>
              </a:path>
            </a:pathLst>
          </a:custGeom>
          <a:solidFill>
            <a:srgbClr val="FF6A00">
              <a:alpha val="1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3405693" y="3309789"/>
            <a:ext cx="3929807" cy="9525"/>
          </a:xfrm>
          <a:prstGeom prst="rect">
            <a:avLst/>
          </a:prstGeom>
          <a:solidFill>
            <a:srgbClr val="B85100"/>
          </a:solidFill>
          <a:ln/>
        </p:spPr>
      </p:sp>
      <p:sp>
        <p:nvSpPr>
          <p:cNvPr id="14" name="Text 12"/>
          <p:cNvSpPr/>
          <p:nvPr/>
        </p:nvSpPr>
        <p:spPr>
          <a:xfrm>
            <a:off x="13440199" y="2928789"/>
            <a:ext cx="374290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95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Weighting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119188" y="3414564"/>
            <a:ext cx="106806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2415853" y="3414564"/>
            <a:ext cx="1117170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Concepts &amp; Terminology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13440199" y="3414564"/>
            <a:ext cx="374290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95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966788" y="3805089"/>
            <a:ext cx="16368713" cy="481012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1119188" y="3900339"/>
            <a:ext cx="1068065" cy="3286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2415853" y="3900339"/>
            <a:ext cx="11171708" cy="3286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AI Systems Work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13440199" y="3900339"/>
            <a:ext cx="3742901" cy="3286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95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1119188" y="4381351"/>
            <a:ext cx="1068065" cy="3286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2415853" y="4381351"/>
            <a:ext cx="11171708" cy="3286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Generative AI &amp; AI Tools</a:t>
            </a:r>
            <a:endParaRPr lang="en-US" sz="1950" dirty="0"/>
          </a:p>
        </p:txBody>
      </p:sp>
      <p:sp>
        <p:nvSpPr>
          <p:cNvPr id="24" name="Text 22"/>
          <p:cNvSpPr/>
          <p:nvPr/>
        </p:nvSpPr>
        <p:spPr>
          <a:xfrm>
            <a:off x="13440199" y="4381351"/>
            <a:ext cx="3742901" cy="3286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95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1950" dirty="0"/>
          </a:p>
        </p:txBody>
      </p:sp>
      <p:sp>
        <p:nvSpPr>
          <p:cNvPr id="25" name="Shape 23"/>
          <p:cNvSpPr/>
          <p:nvPr/>
        </p:nvSpPr>
        <p:spPr>
          <a:xfrm>
            <a:off x="966788" y="4767114"/>
            <a:ext cx="16368713" cy="481012"/>
          </a:xfrm>
          <a:prstGeom prst="rect">
            <a:avLst/>
          </a:prstGeom>
          <a:solidFill>
            <a:srgbClr val="FF6A00">
              <a:alpha val="1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966788" y="4767114"/>
            <a:ext cx="28575" cy="481012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27" name="Text 25"/>
          <p:cNvSpPr/>
          <p:nvPr/>
        </p:nvSpPr>
        <p:spPr>
          <a:xfrm>
            <a:off x="1119188" y="4862364"/>
            <a:ext cx="1068065" cy="3286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950" dirty="0"/>
          </a:p>
        </p:txBody>
      </p:sp>
      <p:sp>
        <p:nvSpPr>
          <p:cNvPr id="28" name="Text 26"/>
          <p:cNvSpPr/>
          <p:nvPr/>
        </p:nvSpPr>
        <p:spPr>
          <a:xfrm>
            <a:off x="2415853" y="4862364"/>
            <a:ext cx="11171708" cy="3286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Prompting &amp; Effective AI Use</a:t>
            </a:r>
            <a:endParaRPr lang="en-US" sz="1950" dirty="0"/>
          </a:p>
        </p:txBody>
      </p:sp>
      <p:sp>
        <p:nvSpPr>
          <p:cNvPr id="29" name="Text 27"/>
          <p:cNvSpPr/>
          <p:nvPr/>
        </p:nvSpPr>
        <p:spPr>
          <a:xfrm>
            <a:off x="13440199" y="4862364"/>
            <a:ext cx="3742901" cy="3286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95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1950" dirty="0"/>
          </a:p>
        </p:txBody>
      </p:sp>
      <p:sp>
        <p:nvSpPr>
          <p:cNvPr id="30" name="Shape 28"/>
          <p:cNvSpPr/>
          <p:nvPr/>
        </p:nvSpPr>
        <p:spPr>
          <a:xfrm>
            <a:off x="966788" y="5248126"/>
            <a:ext cx="16368713" cy="481012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1119188" y="5343376"/>
            <a:ext cx="1068065" cy="3286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950" dirty="0"/>
          </a:p>
        </p:txBody>
      </p:sp>
      <p:sp>
        <p:nvSpPr>
          <p:cNvPr id="32" name="Text 30"/>
          <p:cNvSpPr/>
          <p:nvPr/>
        </p:nvSpPr>
        <p:spPr>
          <a:xfrm>
            <a:off x="2415853" y="5343376"/>
            <a:ext cx="11171708" cy="3286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Limitations &amp; Verification</a:t>
            </a:r>
            <a:endParaRPr lang="en-US" sz="1950" dirty="0"/>
          </a:p>
        </p:txBody>
      </p:sp>
      <p:sp>
        <p:nvSpPr>
          <p:cNvPr id="33" name="Text 31"/>
          <p:cNvSpPr/>
          <p:nvPr/>
        </p:nvSpPr>
        <p:spPr>
          <a:xfrm>
            <a:off x="13440199" y="5343376"/>
            <a:ext cx="3742901" cy="3286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95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1950" dirty="0"/>
          </a:p>
        </p:txBody>
      </p:sp>
      <p:sp>
        <p:nvSpPr>
          <p:cNvPr id="34" name="Text 32"/>
          <p:cNvSpPr/>
          <p:nvPr/>
        </p:nvSpPr>
        <p:spPr>
          <a:xfrm>
            <a:off x="1119188" y="5824389"/>
            <a:ext cx="1068065" cy="3286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950" dirty="0"/>
          </a:p>
        </p:txBody>
      </p:sp>
      <p:sp>
        <p:nvSpPr>
          <p:cNvPr id="35" name="Text 33"/>
          <p:cNvSpPr/>
          <p:nvPr/>
        </p:nvSpPr>
        <p:spPr>
          <a:xfrm>
            <a:off x="2415853" y="5824389"/>
            <a:ext cx="11171708" cy="3286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Security, Privacy &amp; Data</a:t>
            </a:r>
            <a:endParaRPr lang="en-US" sz="1950" dirty="0"/>
          </a:p>
        </p:txBody>
      </p:sp>
      <p:sp>
        <p:nvSpPr>
          <p:cNvPr id="36" name="Text 34"/>
          <p:cNvSpPr/>
          <p:nvPr/>
        </p:nvSpPr>
        <p:spPr>
          <a:xfrm>
            <a:off x="13440199" y="5824389"/>
            <a:ext cx="3742901" cy="3286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95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950" dirty="0"/>
          </a:p>
        </p:txBody>
      </p:sp>
      <p:sp>
        <p:nvSpPr>
          <p:cNvPr id="37" name="Shape 35"/>
          <p:cNvSpPr/>
          <p:nvPr/>
        </p:nvSpPr>
        <p:spPr>
          <a:xfrm>
            <a:off x="966788" y="6210151"/>
            <a:ext cx="16368713" cy="481012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1119188" y="6305401"/>
            <a:ext cx="1068065" cy="3286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950" dirty="0"/>
          </a:p>
        </p:txBody>
      </p:sp>
      <p:sp>
        <p:nvSpPr>
          <p:cNvPr id="39" name="Text 37"/>
          <p:cNvSpPr/>
          <p:nvPr/>
        </p:nvSpPr>
        <p:spPr>
          <a:xfrm>
            <a:off x="2415853" y="6305401"/>
            <a:ext cx="11171708" cy="3286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Responsible AI, Ethics &amp; Governance</a:t>
            </a:r>
            <a:endParaRPr lang="en-US" sz="1950" dirty="0"/>
          </a:p>
        </p:txBody>
      </p:sp>
      <p:sp>
        <p:nvSpPr>
          <p:cNvPr id="40" name="Text 38"/>
          <p:cNvSpPr/>
          <p:nvPr/>
        </p:nvSpPr>
        <p:spPr>
          <a:xfrm>
            <a:off x="13440199" y="6305401"/>
            <a:ext cx="3742901" cy="3286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95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52500" y="3433837"/>
            <a:ext cx="180213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8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ON MODULE 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52500" y="3871987"/>
            <a:ext cx="13735050" cy="9581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588"/>
              </a:lnSpc>
              <a:buNone/>
            </a:pPr>
            <a:r>
              <a:rPr lang="en-US" sz="315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Know The Tools Available. Now: How Do You Get Good Results From Them?</a:t>
            </a:r>
            <a:endParaRPr lang="en-US" sz="3150" dirty="0"/>
          </a:p>
        </p:txBody>
      </p:sp>
      <p:sp>
        <p:nvSpPr>
          <p:cNvPr id="5" name="Text 3"/>
          <p:cNvSpPr/>
          <p:nvPr/>
        </p:nvSpPr>
        <p:spPr>
          <a:xfrm>
            <a:off x="952500" y="5306392"/>
            <a:ext cx="12753975" cy="13181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846"/>
              </a:lnSpc>
              <a:buNone/>
            </a:pPr>
            <a:r>
              <a:rPr lang="en-US" sz="21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single biggest factor in AI output quality is usually the prompt. This module builds a repeatable, structured approach to writing prompts that get useful results the first time — and to fixing the ones that don't.</a:t>
            </a:r>
            <a:endParaRPr lang="en-US" sz="2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6458813" y="4280074"/>
            <a:ext cx="5370374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spc="38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4.1 · SUB-OBJECTIVE 1 OF 5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2767013" y="4780136"/>
            <a:ext cx="12753975" cy="12648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9845"/>
              </a:lnSpc>
              <a:buNone/>
            </a:pPr>
            <a:r>
              <a:rPr lang="en-US" sz="42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Structured Approach: Task, Context, Format, Constraints</a:t>
            </a:r>
            <a:endParaRPr lang="en-US" sz="4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52500" y="723900"/>
            <a:ext cx="180213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8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 TASK, CONTEXT, FORMAT, CONSTRAINTS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52500" y="1162050"/>
            <a:ext cx="18021300" cy="4981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588"/>
              </a:lnSpc>
              <a:buNone/>
            </a:pPr>
            <a:r>
              <a:rPr lang="en-US" sz="315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Questions Behind Every Good Prompt</a:t>
            </a:r>
            <a:endParaRPr lang="en-US" sz="3150" dirty="0"/>
          </a:p>
        </p:txBody>
      </p:sp>
      <p:sp>
        <p:nvSpPr>
          <p:cNvPr id="5" name="Shape 3"/>
          <p:cNvSpPr/>
          <p:nvPr/>
        </p:nvSpPr>
        <p:spPr>
          <a:xfrm>
            <a:off x="952500" y="1869728"/>
            <a:ext cx="3981450" cy="1463873"/>
          </a:xfrm>
          <a:prstGeom prst="roundRect">
            <a:avLst>
              <a:gd name="adj" fmla="val 10411"/>
            </a:avLst>
          </a:prstGeom>
          <a:solidFill>
            <a:srgbClr val="FF6A00">
              <a:alpha val="8000"/>
            </a:srgbClr>
          </a:solidFill>
          <a:ln w="9525">
            <a:solidFill>
              <a:srgbClr val="B851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71575" y="2088803"/>
            <a:ext cx="389763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171575" y="2474565"/>
            <a:ext cx="3897630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182"/>
              </a:lnSpc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exactly should the AI do?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086350" y="1869728"/>
            <a:ext cx="3981450" cy="1463873"/>
          </a:xfrm>
          <a:prstGeom prst="roundRect">
            <a:avLst>
              <a:gd name="adj" fmla="val 1041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5425" y="2088803"/>
            <a:ext cx="389763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5305425" y="2474565"/>
            <a:ext cx="3649599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182"/>
              </a:lnSpc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background does it need to know?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220200" y="1869728"/>
            <a:ext cx="3981450" cy="1463873"/>
          </a:xfrm>
          <a:prstGeom prst="roundRect">
            <a:avLst>
              <a:gd name="adj" fmla="val 1041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439275" y="2088803"/>
            <a:ext cx="389763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9439275" y="2474565"/>
            <a:ext cx="3897630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182"/>
              </a:lnSpc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should the output look like?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3354050" y="1869728"/>
            <a:ext cx="3981450" cy="1463873"/>
          </a:xfrm>
          <a:prstGeom prst="roundRect">
            <a:avLst>
              <a:gd name="adj" fmla="val 1041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573125" y="2088803"/>
            <a:ext cx="389763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Constraints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3573125" y="2474565"/>
            <a:ext cx="3897630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182"/>
              </a:lnSpc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limits or rules must it respect?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952500" y="3619351"/>
            <a:ext cx="16383000" cy="781050"/>
          </a:xfrm>
          <a:prstGeom prst="roundRect">
            <a:avLst>
              <a:gd name="adj" fmla="val 19512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71575" y="3838426"/>
            <a:ext cx="1643634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prompt that answers all four questions almost always outperforms one that only states the task.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52500" y="723900"/>
            <a:ext cx="180213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8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 TASK, CONTEXT, FORMAT, CONSTRAINTS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52500" y="1162050"/>
            <a:ext cx="18021300" cy="4981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588"/>
              </a:lnSpc>
              <a:buNone/>
            </a:pPr>
            <a:r>
              <a:rPr lang="en-US" sz="315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Worked Example</a:t>
            </a:r>
            <a:endParaRPr lang="en-US" sz="3150" dirty="0"/>
          </a:p>
        </p:txBody>
      </p:sp>
      <p:sp>
        <p:nvSpPr>
          <p:cNvPr id="5" name="Shape 3"/>
          <p:cNvSpPr/>
          <p:nvPr/>
        </p:nvSpPr>
        <p:spPr>
          <a:xfrm>
            <a:off x="952500" y="1869728"/>
            <a:ext cx="16383000" cy="1459111"/>
          </a:xfrm>
          <a:prstGeom prst="roundRect">
            <a:avLst>
              <a:gd name="adj" fmla="val 10445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47775" y="2165003"/>
            <a:ext cx="16283940" cy="9066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818"/>
              </a:lnSpc>
              <a:buNone/>
            </a:pPr>
            <a:r>
              <a:rPr lang="en-US" sz="1800" dirty="0">
                <a:solidFill>
                  <a:srgbClr val="FFD9BF"/>
                </a:solidFill>
                <a:highlight>
                  <a:srgbClr val="FFE4D1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Write a two-paragraph summary of the attached customer feedback report </a:t>
            </a:r>
            <a:pPr algn="l" indent="0" marL="0">
              <a:lnSpc>
                <a:spcPct val="165818"/>
              </a:lnSpc>
              <a:buNone/>
            </a:pPr>
            <a:r>
              <a:rPr lang="en-US" sz="1800" dirty="0">
                <a:solidFill>
                  <a:srgbClr val="CFE0FF"/>
                </a:solidFill>
                <a:highlight>
                  <a:srgbClr val="E7F0F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for a director who has not read the full report and cares mainly about churn risk</a:t>
            </a:r>
            <a:pPr algn="l" indent="0" marL="0">
              <a:lnSpc>
                <a:spcPct val="165818"/>
              </a:lnSpc>
              <a:buNone/>
            </a:pPr>
            <a:r>
              <a:rPr lang="en-US" sz="1800" dirty="0">
                <a:solidFill>
                  <a:srgbClr val="DFE3EA"/>
                </a:solidFill>
                <a:highlight>
                  <a:srgbClr val="FFFFF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. </a:t>
            </a:r>
            <a:pPr algn="l" indent="0" marL="0">
              <a:lnSpc>
                <a:spcPct val="165818"/>
              </a:lnSpc>
              <a:buNone/>
            </a:pPr>
            <a:r>
              <a:rPr lang="en-US" sz="1800" dirty="0">
                <a:solidFill>
                  <a:srgbClr val="C9FFD6"/>
                </a:solidFill>
                <a:highlight>
                  <a:srgbClr val="EFFFF4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Use plain prose with no headings </a:t>
            </a:r>
            <a:pPr algn="l" indent="0" marL="0">
              <a:lnSpc>
                <a:spcPct val="165818"/>
              </a:lnSpc>
              <a:buNone/>
            </a:pPr>
            <a:r>
              <a:rPr lang="en-US" sz="1800" dirty="0">
                <a:solidFill>
                  <a:srgbClr val="DFE3EA"/>
                </a:solidFill>
                <a:highlight>
                  <a:srgbClr val="FFFFF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, and </a:t>
            </a:r>
            <a:pPr algn="l" indent="0" marL="0">
              <a:lnSpc>
                <a:spcPct val="165818"/>
              </a:lnSpc>
              <a:buNone/>
            </a:pPr>
            <a:r>
              <a:rPr lang="en-US" sz="1800" dirty="0">
                <a:solidFill>
                  <a:srgbClr val="FFD6D6"/>
                </a:solidFill>
                <a:highlight>
                  <a:srgbClr val="FFECEC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keep it under 150 words and avoid technical jargon</a:t>
            </a:r>
            <a:pPr algn="l" indent="0" marL="0">
              <a:lnSpc>
                <a:spcPct val="165818"/>
              </a:lnSpc>
              <a:buNone/>
            </a:pPr>
            <a:r>
              <a:rPr lang="en-US" sz="1800" dirty="0">
                <a:solidFill>
                  <a:srgbClr val="DFE3EA"/>
                </a:solidFill>
                <a:highlight>
                  <a:srgbClr val="FFFFF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52500" y="3538389"/>
            <a:ext cx="93508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D9BF"/>
                </a:solidFill>
                <a:highlight>
                  <a:srgbClr val="FFE4D1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■ </a:t>
            </a:r>
            <a:pPr algn="l" indent="0" marL="0">
              <a:buNone/>
            </a:pPr>
            <a:r>
              <a:rPr lang="en-US" sz="18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001887" y="3538389"/>
            <a:ext cx="126273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CFE0FF"/>
                </a:solidFill>
                <a:highlight>
                  <a:srgbClr val="E7F0F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■ </a:t>
            </a:r>
            <a:pPr algn="l" indent="0" marL="0">
              <a:buNone/>
            </a:pPr>
            <a:r>
              <a:rPr lang="en-US" sz="18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378919" y="3538389"/>
            <a:ext cx="118258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C9FFD6"/>
                </a:solidFill>
                <a:highlight>
                  <a:srgbClr val="EFFFF4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■ </a:t>
            </a:r>
            <a:pPr algn="l" indent="0" marL="0">
              <a:buNone/>
            </a:pPr>
            <a:r>
              <a:rPr lang="en-US" sz="18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675808" y="3538389"/>
            <a:ext cx="169735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D6D6"/>
                </a:solidFill>
                <a:highlight>
                  <a:srgbClr val="FFECEC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■ </a:t>
            </a:r>
            <a:pPr algn="l" indent="0" marL="0">
              <a:buNone/>
            </a:pPr>
            <a:r>
              <a:rPr lang="en-US" sz="18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Constraints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952500" y="4322490"/>
            <a:ext cx="38100" cy="1642021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4" name="Text 2"/>
          <p:cNvSpPr/>
          <p:nvPr/>
        </p:nvSpPr>
        <p:spPr>
          <a:xfrm>
            <a:off x="1333500" y="4398690"/>
            <a:ext cx="13735050" cy="1051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299"/>
              </a:lnSpc>
              <a:buNone/>
            </a:pPr>
            <a:r>
              <a:rPr lang="en-US" sz="285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 strong prompt usually states the task, gives context, specifies format, and names any constraints."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1333500" y="5621610"/>
            <a:ext cx="176022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8" kern="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RECAP · OBJECTIVE 4.1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6419686" y="4586734"/>
            <a:ext cx="5448627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spc="38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4.2 · SUB-OBJECTIVE 2 OF 5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4230957" y="5086796"/>
            <a:ext cx="9826012" cy="6514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9845"/>
              </a:lnSpc>
              <a:buNone/>
            </a:pPr>
            <a:r>
              <a:rPr lang="en-US" sz="42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Writing Clear, Specific Instructions</a:t>
            </a:r>
            <a:endParaRPr lang="en-US" sz="4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52500" y="723900"/>
            <a:ext cx="180213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8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 WRITING CLEAR, SPECIFIC INSTRUCTIONS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52500" y="1162050"/>
            <a:ext cx="18021300" cy="4981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588"/>
              </a:lnSpc>
              <a:buNone/>
            </a:pPr>
            <a:r>
              <a:rPr lang="en-US" sz="315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Makes An Instruction Clear?</a:t>
            </a:r>
            <a:endParaRPr lang="en-US" sz="3150" dirty="0"/>
          </a:p>
        </p:txBody>
      </p:sp>
      <p:sp>
        <p:nvSpPr>
          <p:cNvPr id="5" name="Shape 3"/>
          <p:cNvSpPr/>
          <p:nvPr/>
        </p:nvSpPr>
        <p:spPr>
          <a:xfrm>
            <a:off x="952500" y="1869728"/>
            <a:ext cx="16383000" cy="1119188"/>
          </a:xfrm>
          <a:prstGeom prst="roundRect">
            <a:avLst>
              <a:gd name="adj" fmla="val 13617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09675" y="2088803"/>
            <a:ext cx="17455515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 specific about the outcome</a:t>
            </a:r>
            <a:endParaRPr lang="en-US" sz="1875" dirty="0"/>
          </a:p>
        </p:txBody>
      </p:sp>
      <p:sp>
        <p:nvSpPr>
          <p:cNvPr id="7" name="Text 5"/>
          <p:cNvSpPr/>
          <p:nvPr/>
        </p:nvSpPr>
        <p:spPr>
          <a:xfrm>
            <a:off x="1209675" y="2426940"/>
            <a:ext cx="1745551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exactly what "done" looks like, rather than describing the topic in general terms.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52500" y="3141315"/>
            <a:ext cx="16383000" cy="1119188"/>
          </a:xfrm>
          <a:prstGeom prst="roundRect">
            <a:avLst>
              <a:gd name="adj" fmla="val 13617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09675" y="3360390"/>
            <a:ext cx="17455515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 ambiguity</a:t>
            </a:r>
            <a:endParaRPr lang="en-US" sz="1875" dirty="0"/>
          </a:p>
        </p:txBody>
      </p:sp>
      <p:sp>
        <p:nvSpPr>
          <p:cNvPr id="10" name="Text 8"/>
          <p:cNvSpPr/>
          <p:nvPr/>
        </p:nvSpPr>
        <p:spPr>
          <a:xfrm>
            <a:off x="1209675" y="3698528"/>
            <a:ext cx="1745551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Words like "good", "short" or "professional" mean different things to different people.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52500" y="4412903"/>
            <a:ext cx="16383000" cy="1119188"/>
          </a:xfrm>
          <a:prstGeom prst="roundRect">
            <a:avLst>
              <a:gd name="adj" fmla="val 13617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09675" y="4631978"/>
            <a:ext cx="17455515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it directly</a:t>
            </a:r>
            <a:endParaRPr lang="en-US" sz="1875" dirty="0"/>
          </a:p>
        </p:txBody>
      </p:sp>
      <p:sp>
        <p:nvSpPr>
          <p:cNvPr id="13" name="Text 11"/>
          <p:cNvSpPr/>
          <p:nvPr/>
        </p:nvSpPr>
        <p:spPr>
          <a:xfrm>
            <a:off x="1209675" y="4970115"/>
            <a:ext cx="1745551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instruction ("Summarise this in three bullet points") outperforms a vague hint ("Can you look at this?").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52500" y="723900"/>
            <a:ext cx="180213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8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 WRITING CLEAR, SPECIFIC INSTRUCTIONS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52500" y="1162050"/>
            <a:ext cx="18021300" cy="4981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588"/>
              </a:lnSpc>
              <a:buNone/>
            </a:pPr>
            <a:r>
              <a:rPr lang="en-US" sz="315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Vague vs Specific</a:t>
            </a:r>
            <a:endParaRPr lang="en-US" sz="3150" dirty="0"/>
          </a:p>
        </p:txBody>
      </p:sp>
      <p:sp>
        <p:nvSpPr>
          <p:cNvPr id="5" name="Shape 3"/>
          <p:cNvSpPr/>
          <p:nvPr/>
        </p:nvSpPr>
        <p:spPr>
          <a:xfrm>
            <a:off x="952500" y="1907828"/>
            <a:ext cx="7762875" cy="7655272"/>
          </a:xfrm>
          <a:custGeom>
            <a:avLst/>
            <a:gdLst/>
            <a:ahLst/>
            <a:cxnLst/>
            <a:rect l="l" t="t" r="r" b="b"/>
            <a:pathLst>
              <a:path w="7762875" h="7655272">
                <a:moveTo>
                  <a:pt x="152400" y="0"/>
                </a:moveTo>
                <a:lnTo>
                  <a:pt x="7762875" y="0"/>
                </a:lnTo>
                <a:lnTo>
                  <a:pt x="7762875" y="7655272"/>
                </a:lnTo>
                <a:lnTo>
                  <a:pt x="152400" y="7655272"/>
                </a:lnTo>
                <a:arcTo hR="152400" wR="152400" stAng="5400000" swAng="5400000"/>
                <a:lnTo>
                  <a:pt x="0" y="152400"/>
                </a:lnTo>
                <a:arcTo hR="152400" wR="152400" stAng="10800000" swAng="5400000"/>
                <a:close/>
              </a:path>
            </a:pathLst>
          </a:cu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47775" y="2203103"/>
            <a:ext cx="788955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Vague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47775" y="2603153"/>
            <a:ext cx="788955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"Write something about our new product."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47775" y="9001125"/>
            <a:ext cx="788955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Leaves length, tone, audience and purpose all undefined.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839200" y="5430664"/>
            <a:ext cx="609600" cy="609600"/>
          </a:xfrm>
          <a:prstGeom prst="ellipse">
            <a:avLst/>
          </a:prstGeom>
          <a:solidFill>
            <a:srgbClr val="FF6A00"/>
          </a:solidFill>
          <a:ln/>
          <a:effectLst>
            <a:outerShdw sx="100000" sy="100000" kx="0" ky="0" algn="bl" rotWithShape="0" blurRad="101600" dist="50800" dir="16200000">
              <a:srgbClr val="0C0D10">
                <a:alpha val="10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801100" y="5430664"/>
            <a:ext cx="6858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572625" y="1907828"/>
            <a:ext cx="7762875" cy="7655272"/>
          </a:xfrm>
          <a:custGeom>
            <a:avLst/>
            <a:gdLst/>
            <a:ahLst/>
            <a:cxnLst/>
            <a:rect l="l" t="t" r="r" b="b"/>
            <a:pathLst>
              <a:path w="7762875" h="7655272">
                <a:moveTo>
                  <a:pt x="0" y="0"/>
                </a:moveTo>
                <a:lnTo>
                  <a:pt x="7610475" y="0"/>
                </a:lnTo>
                <a:arcTo hR="152400" wR="152400" stAng="16200000" swAng="5400000"/>
                <a:lnTo>
                  <a:pt x="7762875" y="7502872"/>
                </a:lnTo>
                <a:arcTo hR="152400" wR="152400" stAng="0" swAng="5400000"/>
                <a:lnTo>
                  <a:pt x="0" y="7655272"/>
                </a:lnTo>
                <a:lnTo>
                  <a:pt x="0" y="0"/>
                </a:lnTo>
                <a:close/>
              </a:path>
            </a:pathLst>
          </a:custGeom>
          <a:solidFill>
            <a:srgbClr val="FF6A00">
              <a:alpha val="6000"/>
            </a:srgbClr>
          </a:solidFill>
          <a:ln w="9525">
            <a:solidFill>
              <a:srgbClr val="B851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867900" y="2203103"/>
            <a:ext cx="788955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867900" y="2603153"/>
            <a:ext cx="7387495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"Write a 100-word product announcement for our email newsletter, aimed at existing customers, in a friendly tone."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867900" y="9001125"/>
            <a:ext cx="788955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Defines length, channel, audience and tone.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952500" y="4322490"/>
            <a:ext cx="38100" cy="1642021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4" name="Text 2"/>
          <p:cNvSpPr/>
          <p:nvPr/>
        </p:nvSpPr>
        <p:spPr>
          <a:xfrm>
            <a:off x="1333500" y="4398690"/>
            <a:ext cx="13735050" cy="1051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299"/>
              </a:lnSpc>
              <a:buNone/>
            </a:pPr>
            <a:r>
              <a:rPr lang="en-US" sz="285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"Vague words like 'good' or 'professional' mean different things to different people — specific instructions remove that guesswork."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1333500" y="5621610"/>
            <a:ext cx="176022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8" kern="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RECAP · OBJECTIVE 4.2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6414038" y="4586734"/>
            <a:ext cx="5459923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spc="38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4.3 · SUB-OBJECTIVE 3 OF 5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3287081" y="5086796"/>
            <a:ext cx="11713763" cy="6514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9845"/>
              </a:lnSpc>
              <a:buNone/>
            </a:pPr>
            <a:r>
              <a:rPr lang="en-US" sz="42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Diagnosing And Improving Weak Prompts</a:t>
            </a:r>
            <a:endParaRPr lang="en-US" sz="4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52500" y="723900"/>
            <a:ext cx="180213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8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4.3 DIAGNOSING WEAK PROMPTS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52500" y="1162050"/>
            <a:ext cx="18021300" cy="4981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588"/>
              </a:lnSpc>
              <a:buNone/>
            </a:pPr>
            <a:r>
              <a:rPr lang="en-US" sz="315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Common Weaknesses To Check For</a:t>
            </a:r>
            <a:endParaRPr lang="en-US" sz="3150" dirty="0"/>
          </a:p>
        </p:txBody>
      </p:sp>
      <p:sp>
        <p:nvSpPr>
          <p:cNvPr id="5" name="Shape 3"/>
          <p:cNvSpPr/>
          <p:nvPr/>
        </p:nvSpPr>
        <p:spPr>
          <a:xfrm>
            <a:off x="952500" y="1869728"/>
            <a:ext cx="8105775" cy="1123950"/>
          </a:xfrm>
          <a:prstGeom prst="roundRect">
            <a:avLst>
              <a:gd name="adj" fmla="val 13559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71575" y="2088803"/>
            <a:ext cx="843438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context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71575" y="2431703"/>
            <a:ext cx="8434387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 is not told who the output is for or why it's needed.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229725" y="1869728"/>
            <a:ext cx="8105775" cy="1123950"/>
          </a:xfrm>
          <a:prstGeom prst="roundRect">
            <a:avLst>
              <a:gd name="adj" fmla="val 13559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448800" y="2088803"/>
            <a:ext cx="843438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format specified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448800" y="2431703"/>
            <a:ext cx="8434387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Length, structure or style are left to guesswork.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52500" y="3165128"/>
            <a:ext cx="8105775" cy="1123950"/>
          </a:xfrm>
          <a:prstGeom prst="roundRect">
            <a:avLst>
              <a:gd name="adj" fmla="val 13559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71575" y="3384203"/>
            <a:ext cx="843438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Bundled, unrelated asks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71575" y="3727103"/>
            <a:ext cx="8434387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Several different tasks crammed into one confusing prompt.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9229725" y="3165128"/>
            <a:ext cx="8105775" cy="1123950"/>
          </a:xfrm>
          <a:prstGeom prst="roundRect">
            <a:avLst>
              <a:gd name="adj" fmla="val 13559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448800" y="3384203"/>
            <a:ext cx="843438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constraints stated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448800" y="3727103"/>
            <a:ext cx="8434387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rules out an unwanted tone, length or approach.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52500" y="723900"/>
            <a:ext cx="180213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8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4.3 DIAGNOSING WEAK PROMPTS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52500" y="1162050"/>
            <a:ext cx="18021300" cy="4981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588"/>
              </a:lnSpc>
              <a:buNone/>
            </a:pPr>
            <a:r>
              <a:rPr lang="en-US" sz="315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And After</a:t>
            </a:r>
            <a:endParaRPr lang="en-US" sz="3150" dirty="0"/>
          </a:p>
        </p:txBody>
      </p:sp>
      <p:sp>
        <p:nvSpPr>
          <p:cNvPr id="5" name="Shape 3"/>
          <p:cNvSpPr/>
          <p:nvPr/>
        </p:nvSpPr>
        <p:spPr>
          <a:xfrm>
            <a:off x="952500" y="1869728"/>
            <a:ext cx="16383000" cy="1085850"/>
          </a:xfrm>
          <a:prstGeom prst="roundRect">
            <a:avLst>
              <a:gd name="adj" fmla="val 14035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90625" y="2107853"/>
            <a:ext cx="1749742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90625" y="2450753"/>
            <a:ext cx="1749742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"Tell me about the sales numbers."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52500" y="3107978"/>
            <a:ext cx="16383000" cy="1352550"/>
          </a:xfrm>
          <a:prstGeom prst="roundRect">
            <a:avLst>
              <a:gd name="adj" fmla="val 11268"/>
            </a:avLst>
          </a:prstGeom>
          <a:solidFill>
            <a:srgbClr val="FF6A00">
              <a:alpha val="8000"/>
            </a:srgbClr>
          </a:solidFill>
          <a:ln w="9525">
            <a:solidFill>
              <a:srgbClr val="B851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90625" y="3346103"/>
            <a:ext cx="1749742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IMPROVED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90625" y="3689003"/>
            <a:ext cx="16383953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"Summarise this quarter's sales figures in three bullet points for a non-financial audience, highlighting any month with a drop of more than 10%. Avoid financial jargon."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952500" y="4349130"/>
            <a:ext cx="38100" cy="1588740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4" name="Text 2"/>
          <p:cNvSpPr/>
          <p:nvPr/>
        </p:nvSpPr>
        <p:spPr>
          <a:xfrm>
            <a:off x="1333500" y="4425330"/>
            <a:ext cx="13735050" cy="998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927"/>
              </a:lnSpc>
              <a:buNone/>
            </a:pPr>
            <a:r>
              <a:rPr lang="en-US" sz="27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 weak prompt can usually be diagnosed against the same four checks: missing context, no format, bundled asks, no constraints."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333500" y="5594970"/>
            <a:ext cx="176022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8" kern="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RECAP · OBJECTIVE 4.3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6405447" y="4586734"/>
            <a:ext cx="547703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spc="38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4.4 · SUB-OBJECTIVE 4 OF 5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6244925" y="5086796"/>
            <a:ext cx="5798150" cy="6514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9845"/>
              </a:lnSpc>
              <a:buNone/>
            </a:pPr>
            <a:r>
              <a:rPr lang="en-US" sz="42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Iterative Refinement</a:t>
            </a:r>
            <a:endParaRPr lang="en-US" sz="4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52500" y="723900"/>
            <a:ext cx="180213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8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4.4 ITERATIVE REFINEMENT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52500" y="1162050"/>
            <a:ext cx="18021300" cy="4981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588"/>
              </a:lnSpc>
              <a:buNone/>
            </a:pPr>
            <a:r>
              <a:rPr lang="en-US" sz="315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Treat The First Response As A Draft</a:t>
            </a:r>
            <a:endParaRPr lang="en-US" sz="3150" dirty="0"/>
          </a:p>
        </p:txBody>
      </p:sp>
      <p:sp>
        <p:nvSpPr>
          <p:cNvPr id="5" name="Text 3"/>
          <p:cNvSpPr/>
          <p:nvPr/>
        </p:nvSpPr>
        <p:spPr>
          <a:xfrm>
            <a:off x="952500" y="1831628"/>
            <a:ext cx="12753975" cy="89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846"/>
              </a:lnSpc>
              <a:buNone/>
            </a:pPr>
            <a:r>
              <a:rPr lang="en-US" sz="21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Rather than trying to write one perfect prompt, most effective use of AI is a short back-and-forth: send a prompt, review the result, then send a focused follow-up asking for a specific change.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952500" y="2970758"/>
            <a:ext cx="16383000" cy="1181100"/>
          </a:xfrm>
          <a:prstGeom prst="roundRect">
            <a:avLst>
              <a:gd name="adj" fmla="val 1290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90625" y="3208883"/>
            <a:ext cx="1749742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For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90625" y="3570833"/>
            <a:ext cx="1749742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Needing a follow-up is normal, expected use — not a sign the first prompt failed.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52500" y="723900"/>
            <a:ext cx="180213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8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4.4 ITERATIVE REFINEMENT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52500" y="1162050"/>
            <a:ext cx="18021300" cy="4981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588"/>
              </a:lnSpc>
              <a:buNone/>
            </a:pPr>
            <a:r>
              <a:rPr lang="en-US" sz="315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Typical Refinement Sequence</a:t>
            </a:r>
            <a:endParaRPr lang="en-US" sz="3150" dirty="0"/>
          </a:p>
        </p:txBody>
      </p:sp>
      <p:sp>
        <p:nvSpPr>
          <p:cNvPr id="5" name="Shape 3"/>
          <p:cNvSpPr/>
          <p:nvPr/>
        </p:nvSpPr>
        <p:spPr>
          <a:xfrm>
            <a:off x="1606302" y="2136428"/>
            <a:ext cx="3295650" cy="781050"/>
          </a:xfrm>
          <a:prstGeom prst="roundRect">
            <a:avLst>
              <a:gd name="adj" fmla="val 19512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775942" y="2393603"/>
            <a:ext cx="295637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Initial prompt sent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054352" y="2357884"/>
            <a:ext cx="338807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5469359" y="2136428"/>
            <a:ext cx="3295650" cy="781050"/>
          </a:xfrm>
          <a:prstGeom prst="roundRect">
            <a:avLst>
              <a:gd name="adj" fmla="val 19512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38999" y="2393603"/>
            <a:ext cx="295637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draft reviewed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917409" y="2357884"/>
            <a:ext cx="338807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50" dirty="0"/>
          </a:p>
        </p:txBody>
      </p:sp>
      <p:sp>
        <p:nvSpPr>
          <p:cNvPr id="11" name="Shape 9"/>
          <p:cNvSpPr/>
          <p:nvPr/>
        </p:nvSpPr>
        <p:spPr>
          <a:xfrm>
            <a:off x="9332416" y="2003078"/>
            <a:ext cx="3486150" cy="1047750"/>
          </a:xfrm>
          <a:prstGeom prst="roundRect">
            <a:avLst>
              <a:gd name="adj" fmla="val 14545"/>
            </a:avLst>
          </a:prstGeom>
          <a:solidFill>
            <a:srgbClr val="FF6A00">
              <a:alpha val="10000"/>
            </a:srgbClr>
          </a:solidFill>
          <a:ln w="9525">
            <a:solidFill>
              <a:srgbClr val="B851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499199" y="2260253"/>
            <a:ext cx="3152585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"Make paragraph 2 shorter and less formal"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970966" y="2357884"/>
            <a:ext cx="338807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13385974" y="2136428"/>
            <a:ext cx="3295650" cy="781050"/>
          </a:xfrm>
          <a:prstGeom prst="roundRect">
            <a:avLst>
              <a:gd name="adj" fmla="val 19512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555614" y="2393603"/>
            <a:ext cx="295637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Refined result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06755" y="3374678"/>
            <a:ext cx="1687449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7931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follow-up should target something specific — "make it better" gives the model as little to work with as a vague first prompt.</a:t>
            </a:r>
            <a:endParaRPr lang="en-US" sz="1875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952500" y="4322490"/>
            <a:ext cx="38100" cy="1642021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4" name="Text 2"/>
          <p:cNvSpPr/>
          <p:nvPr/>
        </p:nvSpPr>
        <p:spPr>
          <a:xfrm>
            <a:off x="1333500" y="4398690"/>
            <a:ext cx="13735050" cy="1051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299"/>
              </a:lnSpc>
              <a:buNone/>
            </a:pPr>
            <a:r>
              <a:rPr lang="en-US" sz="285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"Treat the first response as a draft — a specific, targeted follow-up is often faster than trying to write one perfect prompt."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1333500" y="5621610"/>
            <a:ext cx="176022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8" kern="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RECAP · OBJECTIVE 4.4</a:t>
            </a:r>
            <a:endParaRPr lang="en-US"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6414775" y="4280074"/>
            <a:ext cx="545845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spc="38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4.5 · SUB-OBJECTIVE 5 OF 5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2767013" y="4780136"/>
            <a:ext cx="12753975" cy="12648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9845"/>
              </a:lnSpc>
              <a:buNone/>
            </a:pPr>
            <a:r>
              <a:rPr lang="en-US" sz="42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Guiding Output With Examples, Roles And Personas</a:t>
            </a:r>
            <a:endParaRPr lang="en-US" sz="4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52500" y="723900"/>
            <a:ext cx="180213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8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4.5 EXAMPLES, ROLES AND PERSONAS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52500" y="1162050"/>
            <a:ext cx="18021300" cy="4981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588"/>
              </a:lnSpc>
              <a:buNone/>
            </a:pPr>
            <a:r>
              <a:rPr lang="en-US" sz="315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Showing An Example Is Often Faster Than Describing One</a:t>
            </a:r>
            <a:endParaRPr lang="en-US" sz="3150" dirty="0"/>
          </a:p>
        </p:txBody>
      </p:sp>
      <p:sp>
        <p:nvSpPr>
          <p:cNvPr id="5" name="Text 3"/>
          <p:cNvSpPr/>
          <p:nvPr/>
        </p:nvSpPr>
        <p:spPr>
          <a:xfrm>
            <a:off x="952500" y="1831628"/>
            <a:ext cx="12753975" cy="13181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846"/>
              </a:lnSpc>
              <a:buNone/>
            </a:pPr>
            <a:r>
              <a:rPr lang="en-US" sz="21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Providing a short example of the desired output — a sample sentence, a model paragraph, a similar past email — gives the AI a concrete style and tone to match, rather than relying on it to interpret a description correctly.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952500" y="3397448"/>
            <a:ext cx="16383000" cy="1181100"/>
          </a:xfrm>
          <a:prstGeom prst="roundRect">
            <a:avLst>
              <a:gd name="adj" fmla="val 1290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90625" y="3635573"/>
            <a:ext cx="1749742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90625" y="3997523"/>
            <a:ext cx="1749742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"Write this in a similar style to the following example: [paste example]" often works better than "write this in a friendly, punchy style."</a:t>
            </a:r>
            <a:endParaRPr lang="en-US" sz="1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52500" y="723900"/>
            <a:ext cx="180213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8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4.5 EXAMPLES, ROLES AND PERSONAS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52500" y="1162050"/>
            <a:ext cx="18021300" cy="4981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588"/>
              </a:lnSpc>
              <a:buNone/>
            </a:pPr>
            <a:r>
              <a:rPr lang="en-US" sz="315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Roles And Personas Guide Perspective</a:t>
            </a:r>
            <a:endParaRPr lang="en-US" sz="3150" dirty="0"/>
          </a:p>
        </p:txBody>
      </p:sp>
      <p:sp>
        <p:nvSpPr>
          <p:cNvPr id="5" name="Text 3"/>
          <p:cNvSpPr/>
          <p:nvPr/>
        </p:nvSpPr>
        <p:spPr>
          <a:xfrm>
            <a:off x="952500" y="1831628"/>
            <a:ext cx="12753975" cy="89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846"/>
              </a:lnSpc>
              <a:buNone/>
            </a:pPr>
            <a:r>
              <a:rPr lang="en-US" sz="21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Asking the AI to respond "as" a particular role — a careful editor, a supportive mentor, a sceptical reviewer — steers its tone, priorities and level of detail without changing the underlying task.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952500" y="2970758"/>
            <a:ext cx="16383000" cy="1181100"/>
          </a:xfrm>
          <a:prstGeom prst="roundRect">
            <a:avLst>
              <a:gd name="adj" fmla="val 1290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90625" y="3208883"/>
            <a:ext cx="1749742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For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90625" y="3570833"/>
            <a:ext cx="1749742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persona changes tone and framing — it does not give the model new factual knowledge or expertise it didn't already have.</a:t>
            </a:r>
            <a:endParaRPr lang="en-US" sz="1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952500" y="4322490"/>
            <a:ext cx="38100" cy="1642021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4" name="Text 2"/>
          <p:cNvSpPr/>
          <p:nvPr/>
        </p:nvSpPr>
        <p:spPr>
          <a:xfrm>
            <a:off x="1333500" y="4398690"/>
            <a:ext cx="13735050" cy="1051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299"/>
              </a:lnSpc>
              <a:buNone/>
            </a:pPr>
            <a:r>
              <a:rPr lang="en-US" sz="285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"Examples anchor style, and roles or personas guide tone and perspective — neither adds new facts the model doesn't already have."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1333500" y="5621610"/>
            <a:ext cx="176022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8" kern="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RECAP · OBJECTIVE 4.5</a:t>
            </a:r>
            <a:endParaRPr lang="en-US" sz="1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52500" y="723900"/>
            <a:ext cx="180213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8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APPLICATION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52500" y="1162050"/>
            <a:ext cx="18021300" cy="4542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460"/>
              </a:lnSpc>
              <a:buNone/>
            </a:pPr>
            <a:r>
              <a:rPr lang="en-US" sz="285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A TCFC Prompt</a:t>
            </a:r>
            <a:endParaRPr lang="en-US" sz="2850" dirty="0"/>
          </a:p>
        </p:txBody>
      </p:sp>
      <p:sp>
        <p:nvSpPr>
          <p:cNvPr id="5" name="Shape 3"/>
          <p:cNvSpPr/>
          <p:nvPr/>
        </p:nvSpPr>
        <p:spPr>
          <a:xfrm>
            <a:off x="952500" y="1806848"/>
            <a:ext cx="16383000" cy="948630"/>
          </a:xfrm>
          <a:prstGeom prst="roundRect">
            <a:avLst>
              <a:gd name="adj" fmla="val 16065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28725" y="2083073"/>
            <a:ext cx="16322040" cy="434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667"/>
              </a:lnSpc>
              <a:buNone/>
            </a:pPr>
            <a:r>
              <a:rPr lang="en-US" sz="195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need to turn a long, technical incident report into something a non-technical executive can read in two minutes.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952500" y="3174578"/>
            <a:ext cx="18021300" cy="4038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9636"/>
              </a:lnSpc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a prompt that states the task, context, format and any constraints.</a:t>
            </a:r>
            <a:endParaRPr lang="en-US" sz="1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52500" y="723900"/>
            <a:ext cx="180213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8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APPLICATION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52500" y="1162050"/>
            <a:ext cx="18021300" cy="4542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460"/>
              </a:lnSpc>
              <a:buNone/>
            </a:pPr>
            <a:r>
              <a:rPr lang="en-US" sz="285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Diagnose And Improve</a:t>
            </a:r>
            <a:endParaRPr lang="en-US" sz="2850" dirty="0"/>
          </a:p>
        </p:txBody>
      </p:sp>
      <p:sp>
        <p:nvSpPr>
          <p:cNvPr id="5" name="Shape 3"/>
          <p:cNvSpPr/>
          <p:nvPr/>
        </p:nvSpPr>
        <p:spPr>
          <a:xfrm>
            <a:off x="952500" y="1806848"/>
            <a:ext cx="16383000" cy="852488"/>
          </a:xfrm>
          <a:prstGeom prst="roundRect">
            <a:avLst>
              <a:gd name="adj" fmla="val 17877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28725" y="2083073"/>
            <a:ext cx="1632204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"Summarise this proposal."</a:t>
            </a:r>
            <a:endParaRPr lang="en-US" sz="2025" dirty="0"/>
          </a:p>
        </p:txBody>
      </p:sp>
      <p:sp>
        <p:nvSpPr>
          <p:cNvPr id="7" name="Text 5"/>
          <p:cNvSpPr/>
          <p:nvPr/>
        </p:nvSpPr>
        <p:spPr>
          <a:xfrm>
            <a:off x="952500" y="3097485"/>
            <a:ext cx="18021300" cy="4038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9636"/>
              </a:lnSpc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of the four common weaknesses does this prompt have? Rewrite it to fix them.</a:t>
            </a:r>
            <a:endParaRPr lang="en-US" sz="1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52500" y="723900"/>
            <a:ext cx="180213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8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APPLICATION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52500" y="1162050"/>
            <a:ext cx="18021300" cy="4542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460"/>
              </a:lnSpc>
              <a:buNone/>
            </a:pPr>
            <a:r>
              <a:rPr lang="en-US" sz="285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 The Technique To The Goal</a:t>
            </a:r>
            <a:endParaRPr lang="en-US" sz="2850" dirty="0"/>
          </a:p>
        </p:txBody>
      </p:sp>
      <p:sp>
        <p:nvSpPr>
          <p:cNvPr id="5" name="Shape 3"/>
          <p:cNvSpPr/>
          <p:nvPr/>
        </p:nvSpPr>
        <p:spPr>
          <a:xfrm>
            <a:off x="952500" y="1806848"/>
            <a:ext cx="8115300" cy="666750"/>
          </a:xfrm>
          <a:prstGeom prst="roundRect">
            <a:avLst>
              <a:gd name="adj" fmla="val 20000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52525" y="2006873"/>
            <a:ext cx="795870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want the output to match the tone of a specific past email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220200" y="1806848"/>
            <a:ext cx="8115300" cy="666750"/>
          </a:xfrm>
          <a:prstGeom prst="roundRect">
            <a:avLst>
              <a:gd name="adj" fmla="val 20000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20225" y="2006873"/>
            <a:ext cx="795870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want output structured as exactly five numbered steps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52500" y="2625998"/>
            <a:ext cx="8115300" cy="666750"/>
          </a:xfrm>
          <a:prstGeom prst="roundRect">
            <a:avLst>
              <a:gd name="adj" fmla="val 20000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52525" y="2826023"/>
            <a:ext cx="795870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want the AI to review your draft as a sceptical editor would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220200" y="2625998"/>
            <a:ext cx="8115300" cy="666750"/>
          </a:xfrm>
          <a:prstGeom prst="roundRect">
            <a:avLst>
              <a:gd name="adj" fmla="val 20000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420225" y="2826023"/>
            <a:ext cx="795870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first result was close but too long</a:t>
            </a:r>
            <a:endParaRPr lang="en-US" sz="1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52500" y="723900"/>
            <a:ext cx="180213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8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REFERENCE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52500" y="1162050"/>
            <a:ext cx="18021300" cy="4981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588"/>
              </a:lnSpc>
              <a:buNone/>
            </a:pPr>
            <a:r>
              <a:rPr lang="en-US" sz="315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4 Techniques, In One Line Each</a:t>
            </a:r>
            <a:endParaRPr lang="en-US" sz="3150" dirty="0"/>
          </a:p>
        </p:txBody>
      </p:sp>
      <p:sp>
        <p:nvSpPr>
          <p:cNvPr id="5" name="Shape 3"/>
          <p:cNvSpPr/>
          <p:nvPr/>
        </p:nvSpPr>
        <p:spPr>
          <a:xfrm>
            <a:off x="952500" y="1907828"/>
            <a:ext cx="6269608" cy="461963"/>
          </a:xfrm>
          <a:prstGeom prst="rect">
            <a:avLst/>
          </a:prstGeom>
          <a:solidFill>
            <a:srgbClr val="FF6A00">
              <a:alpha val="1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952500" y="2360265"/>
            <a:ext cx="6269608" cy="9525"/>
          </a:xfrm>
          <a:prstGeom prst="rect">
            <a:avLst/>
          </a:prstGeom>
          <a:solidFill>
            <a:srgbClr val="B85100"/>
          </a:solidFill>
          <a:ln/>
        </p:spPr>
      </p:sp>
      <p:sp>
        <p:nvSpPr>
          <p:cNvPr id="7" name="Text 5"/>
          <p:cNvSpPr/>
          <p:nvPr/>
        </p:nvSpPr>
        <p:spPr>
          <a:xfrm>
            <a:off x="1104900" y="2003078"/>
            <a:ext cx="6152896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Technique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222108" y="1907828"/>
            <a:ext cx="10113392" cy="461963"/>
          </a:xfrm>
          <a:prstGeom prst="rect">
            <a:avLst/>
          </a:prstGeom>
          <a:solidFill>
            <a:srgbClr val="FF6A00">
              <a:alpha val="1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222108" y="2360265"/>
            <a:ext cx="10113392" cy="9525"/>
          </a:xfrm>
          <a:prstGeom prst="rect">
            <a:avLst/>
          </a:prstGeom>
          <a:solidFill>
            <a:srgbClr val="B85100"/>
          </a:solidFill>
          <a:ln/>
        </p:spPr>
      </p:sp>
      <p:sp>
        <p:nvSpPr>
          <p:cNvPr id="10" name="Text 8"/>
          <p:cNvSpPr/>
          <p:nvPr/>
        </p:nvSpPr>
        <p:spPr>
          <a:xfrm>
            <a:off x="7374508" y="2003078"/>
            <a:ext cx="10111994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One-Line Definition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04900" y="2465040"/>
            <a:ext cx="6152896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/ Context / Format / Constraints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374508" y="2465040"/>
            <a:ext cx="10111994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four questions behind a well-formed prompt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52500" y="2831753"/>
            <a:ext cx="16383000" cy="457200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1104900" y="2927003"/>
            <a:ext cx="615289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Specificity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374508" y="2927003"/>
            <a:ext cx="1011199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Naming exactly what "done" looks like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04900" y="3384203"/>
            <a:ext cx="615289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Iterative refinement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374508" y="3384203"/>
            <a:ext cx="1011199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Treating the first response as a draft, then giving a targeted follow-up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52500" y="3746153"/>
            <a:ext cx="16383000" cy="457200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1104900" y="3841403"/>
            <a:ext cx="615289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Examples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374508" y="3841403"/>
            <a:ext cx="1011199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Showing the desired style rather than describing it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104900" y="4298603"/>
            <a:ext cx="615289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Roles / personas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374508" y="4298603"/>
            <a:ext cx="1011199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Guiding tone and perspective, not adding new knowledge</a:t>
            </a:r>
            <a:endParaRPr lang="en-US" sz="1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52500" y="723900"/>
            <a:ext cx="180213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8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MISCONCEPTIONS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52500" y="1162050"/>
            <a:ext cx="18021300" cy="4981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588"/>
              </a:lnSpc>
              <a:buNone/>
            </a:pPr>
            <a:r>
              <a:rPr lang="en-US" sz="315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 Distractor Patterns To Recognise</a:t>
            </a:r>
            <a:endParaRPr lang="en-US" sz="3150" dirty="0"/>
          </a:p>
        </p:txBody>
      </p:sp>
      <p:sp>
        <p:nvSpPr>
          <p:cNvPr id="5" name="Shape 3"/>
          <p:cNvSpPr/>
          <p:nvPr/>
        </p:nvSpPr>
        <p:spPr>
          <a:xfrm>
            <a:off x="952500" y="1869728"/>
            <a:ext cx="16383000" cy="661988"/>
          </a:xfrm>
          <a:prstGeom prst="roundRect">
            <a:avLst>
              <a:gd name="adj" fmla="val 20144"/>
            </a:avLst>
          </a:prstGeom>
          <a:solidFill>
            <a:srgbClr val="FF6A00">
              <a:alpha val="6000"/>
            </a:srgbClr>
          </a:solidFill>
          <a:ln w="9525">
            <a:solidFill>
              <a:srgbClr val="B851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71575" y="2050703"/>
            <a:ext cx="1643634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A longer prompt is always a better prompt — clarity and specificity matter more than length.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52500" y="2665065"/>
            <a:ext cx="16383000" cy="661988"/>
          </a:xfrm>
          <a:prstGeom prst="roundRect">
            <a:avLst>
              <a:gd name="adj" fmla="val 20144"/>
            </a:avLst>
          </a:prstGeom>
          <a:solidFill>
            <a:srgbClr val="FF6A00">
              <a:alpha val="6000"/>
            </a:srgbClr>
          </a:solidFill>
          <a:ln w="9525">
            <a:solidFill>
              <a:srgbClr val="B851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71575" y="2846040"/>
            <a:ext cx="1643634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Needing a follow-up means the first prompt failed — iterative refinement is normal, expected practice.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52500" y="3460403"/>
            <a:ext cx="16383000" cy="661988"/>
          </a:xfrm>
          <a:prstGeom prst="roundRect">
            <a:avLst>
              <a:gd name="adj" fmla="val 20144"/>
            </a:avLst>
          </a:prstGeom>
          <a:solidFill>
            <a:srgbClr val="FF6A00">
              <a:alpha val="6000"/>
            </a:srgbClr>
          </a:solidFill>
          <a:ln w="9525">
            <a:solidFill>
              <a:srgbClr val="B851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71575" y="3641378"/>
            <a:ext cx="1643634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Assigning a persona gives the model new expertise — it changes tone and framing only.</a:t>
            </a:r>
            <a:endParaRPr lang="en-US" sz="1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7601679" y="3731419"/>
            <a:ext cx="308464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spc="38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4 WEIGHTING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7272784" y="4212431"/>
            <a:ext cx="3742432" cy="165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86957"/>
              </a:lnSpc>
              <a:buNone/>
            </a:pPr>
            <a:r>
              <a:rPr lang="en-US" sz="1275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12750" dirty="0"/>
          </a:p>
        </p:txBody>
      </p:sp>
      <p:sp>
        <p:nvSpPr>
          <p:cNvPr id="5" name="Text 3"/>
          <p:cNvSpPr/>
          <p:nvPr/>
        </p:nvSpPr>
        <p:spPr>
          <a:xfrm>
            <a:off x="4729163" y="5926931"/>
            <a:ext cx="8829675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the CAIA examination is drawn from Domain 4: Prompting &amp; Effective AI Use.</a:t>
            </a:r>
            <a:endParaRPr lang="en-US" sz="2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52500" y="723900"/>
            <a:ext cx="180213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8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CHECK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52500" y="1162050"/>
            <a:ext cx="15697200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435"/>
              </a:lnSpc>
              <a:buNone/>
            </a:pPr>
            <a:r>
              <a:rPr lang="en-US" sz="225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colleague writes: "Make this better." as a follow-up to an AI-drafted email. What is the main problem with this follow-up?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952500" y="2286000"/>
            <a:ext cx="8115300" cy="685800"/>
          </a:xfrm>
          <a:prstGeom prst="roundRect">
            <a:avLst>
              <a:gd name="adj" fmla="val 19444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52525" y="2486025"/>
            <a:ext cx="795870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Follow-up prompts are never appropriate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220200" y="2286000"/>
            <a:ext cx="8115300" cy="685800"/>
          </a:xfrm>
          <a:prstGeom prst="roundRect">
            <a:avLst>
              <a:gd name="adj" fmla="val 19444"/>
            </a:avLst>
          </a:prstGeom>
          <a:solidFill>
            <a:srgbClr val="22C55E">
              <a:alpha val="10000"/>
            </a:srgbClr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29750" y="2495550"/>
            <a:ext cx="793965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It is too vague to guide a specific improvement ✓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52500" y="3124200"/>
            <a:ext cx="8115300" cy="666750"/>
          </a:xfrm>
          <a:prstGeom prst="roundRect">
            <a:avLst>
              <a:gd name="adj" fmla="val 20000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52525" y="3324225"/>
            <a:ext cx="795870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It exceeds the model's context window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220200" y="3124200"/>
            <a:ext cx="8115300" cy="666750"/>
          </a:xfrm>
          <a:prstGeom prst="roundRect">
            <a:avLst>
              <a:gd name="adj" fmla="val 20000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420225" y="3324225"/>
            <a:ext cx="795870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It assigns the wrong persona</a:t>
            </a:r>
            <a:endParaRPr lang="en-US" sz="1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52500" y="723900"/>
            <a:ext cx="180213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8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SUMMARY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52500" y="1162050"/>
            <a:ext cx="18021300" cy="4981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588"/>
              </a:lnSpc>
              <a:buNone/>
            </a:pPr>
            <a:r>
              <a:rPr lang="en-US" sz="315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4 In Five Statements</a:t>
            </a:r>
            <a:endParaRPr lang="en-US" sz="3150" dirty="0"/>
          </a:p>
        </p:txBody>
      </p:sp>
      <p:sp>
        <p:nvSpPr>
          <p:cNvPr id="5" name="Shape 3"/>
          <p:cNvSpPr/>
          <p:nvPr/>
        </p:nvSpPr>
        <p:spPr>
          <a:xfrm>
            <a:off x="952500" y="1869728"/>
            <a:ext cx="16383000" cy="642938"/>
          </a:xfrm>
          <a:prstGeom prst="roundRect">
            <a:avLst>
              <a:gd name="adj" fmla="val 2074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71575" y="2050703"/>
            <a:ext cx="16436340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 </a:t>
            </a:r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highlight>
                  <a:srgbClr val="FFFFF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Task, context, format and constraints are the backbone of a strong prompt.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52500" y="2646015"/>
            <a:ext cx="16383000" cy="642938"/>
          </a:xfrm>
          <a:prstGeom prst="roundRect">
            <a:avLst>
              <a:gd name="adj" fmla="val 2074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71575" y="2826990"/>
            <a:ext cx="16436340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 </a:t>
            </a:r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highlight>
                  <a:srgbClr val="FFFFF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Specific, unambiguous instructions outperform vague ones.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52500" y="3422303"/>
            <a:ext cx="16383000" cy="642938"/>
          </a:xfrm>
          <a:prstGeom prst="roundRect">
            <a:avLst>
              <a:gd name="adj" fmla="val 2074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71575" y="3603278"/>
            <a:ext cx="16436340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4.3 </a:t>
            </a:r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highlight>
                  <a:srgbClr val="FFFFF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Weak prompts can be diagnosed against a short, repeatable checklist.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52500" y="4198590"/>
            <a:ext cx="16383000" cy="642938"/>
          </a:xfrm>
          <a:prstGeom prst="roundRect">
            <a:avLst>
              <a:gd name="adj" fmla="val 2074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71575" y="4379565"/>
            <a:ext cx="16436340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4.4 </a:t>
            </a:r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highlight>
                  <a:srgbClr val="FFFFF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Iterative refinement — a targeted follow-up — is normal, effective practice.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52500" y="4974878"/>
            <a:ext cx="16383000" cy="642938"/>
          </a:xfrm>
          <a:prstGeom prst="roundRect">
            <a:avLst>
              <a:gd name="adj" fmla="val 2074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71575" y="5155853"/>
            <a:ext cx="16436340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4.5 </a:t>
            </a:r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highlight>
                  <a:srgbClr val="FFFFF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Examples and personas guide style and tone, not factual knowledge.</a:t>
            </a:r>
            <a:endParaRPr lang="en-US" sz="18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52500" y="3832399"/>
            <a:ext cx="180213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8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52500" y="4270549"/>
            <a:ext cx="18021300" cy="5419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762"/>
              </a:lnSpc>
              <a:buNone/>
            </a:pPr>
            <a:r>
              <a:rPr lang="en-US" sz="345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Coming Up In Module 5</a:t>
            </a:r>
            <a:endParaRPr lang="en-US" sz="3450" dirty="0"/>
          </a:p>
        </p:txBody>
      </p:sp>
      <p:sp>
        <p:nvSpPr>
          <p:cNvPr id="5" name="Text 3"/>
          <p:cNvSpPr/>
          <p:nvPr/>
        </p:nvSpPr>
        <p:spPr>
          <a:xfrm>
            <a:off x="952500" y="4983956"/>
            <a:ext cx="12753975" cy="13181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846"/>
              </a:lnSpc>
              <a:buNone/>
            </a:pPr>
            <a:r>
              <a:rPr lang="en-US" sz="21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with AI Day-to-Day — Domains 4 &amp; 5. You now know how to prompt well; Module 5 applies that skill to real workplace tasks — drafting, summarising, planning and research — and introduces judgement about when AI is, and isn't, the right tool, plus the role of human verification.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52500" y="9715500"/>
            <a:ext cx="212865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89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Cyber Academy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690777" y="9715500"/>
            <a:ext cx="72092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5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CAIA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2026-08-10T20:43:44Z</dcterms:created>
  <dcterms:modified xsi:type="dcterms:W3CDTF">2026-08-10T20:43:44Z</dcterms:modified>
</cp:coreProperties>
</file>