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learners to Module 7. Frame it as a shift from judging AI output to protecting what you put INTO AI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six sub-objectives — all at awareness level, no technical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learners to the blueprint. Domain 6 is the first of the two 10%-weighted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bridge. Move quickly to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vendor-neutral: 'unapproved' means not sanctioned by the organisation, regardless of which specific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'approved' is an organisational judgement about a specific tool's handling of data — not a judgement learners make themselves per-input.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data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foundation-level and vendor-neutral: the point is that input handling varies by tool and setting, not a specific technical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term for 7.2 — define it clearly and give a concrete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shadow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parallel to 'shadow IT' if learners are familiar with it, but define it standalone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7.1 and 7.2 explicitly — shadow AI is the situation where those risks are most likely to occur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AI-enabled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Awareness level only — no technical depth on how these are produced. The point is recognition, not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learners discuss before revealing: this is a classic AI-assisted social-engineering pattern — a voice deepfake combined with urgency. The correct response is independent verification through a separate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prompt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awareness only — no need to demonstrate a working injection. The point is recognising the category of risk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pure awareness level: the practical takeaway for a foundation learner is simply 'this category of risk exists', not detection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safe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objective — bring together everything from 7.1-7.5 into a practical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final sub-objective.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1) not appropriate — unapproved tool + confidential data, 2) appropriate, 3) not appropriate — shadow AI risk, 4)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1) deepfake, 2) AI-assisted phishing, 3) misinformation, 4) prompt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Consolidated pass before misconceptions.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most common Domain 6 distractor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focus before the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30 seconds before revealing that C is correct. This MCQ is reused as Question 5 of the Module 7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six objectives one final time before the 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8 briefly and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960688"/>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MY CYBER ACADEMY · CERTIFIED AI ASSOCIATE (CAIA)</a:t>
            </a:r>
            <a:endParaRPr lang="en-US" sz="1800" dirty="0"/>
          </a:p>
        </p:txBody>
      </p:sp>
      <p:sp>
        <p:nvSpPr>
          <p:cNvPr id="4" name="Text 2"/>
          <p:cNvSpPr/>
          <p:nvPr/>
        </p:nvSpPr>
        <p:spPr>
          <a:xfrm>
            <a:off x="952500" y="4455988"/>
            <a:ext cx="14716125" cy="1403598"/>
          </a:xfrm>
          <a:prstGeom prst="rect">
            <a:avLst/>
          </a:prstGeom>
          <a:noFill/>
          <a:ln/>
        </p:spPr>
        <p:txBody>
          <a:bodyPr wrap="square" lIns="25400" tIns="25400" rIns="25400" bIns="25400" rtlCol="0" anchor="t">
            <a:normAutofit/>
          </a:bodyPr>
          <a:lstStyle/>
          <a:p>
            <a:pPr algn="l" indent="0" marL="0">
              <a:lnSpc>
                <a:spcPct val="97524"/>
              </a:lnSpc>
              <a:buNone/>
            </a:pPr>
            <a:r>
              <a:rPr lang="en-US" sz="4800" b="1" spc="-48" kern="0" dirty="0">
                <a:solidFill>
                  <a:srgbClr val="F5F7FB"/>
                </a:solidFill>
                <a:latin typeface="Arial" pitchFamily="34" charset="0"/>
                <a:ea typeface="Arial" pitchFamily="34" charset="-122"/>
                <a:cs typeface="Arial" pitchFamily="34" charset="-120"/>
              </a:rPr>
              <a:t>Module 7 AI Security, Privacy &amp; Data</a:t>
            </a:r>
            <a:endParaRPr lang="en-US" sz="4800" dirty="0"/>
          </a:p>
        </p:txBody>
      </p:sp>
      <p:sp>
        <p:nvSpPr>
          <p:cNvPr id="5" name="Text 3"/>
          <p:cNvSpPr/>
          <p:nvPr/>
        </p:nvSpPr>
        <p:spPr>
          <a:xfrm>
            <a:off x="952500" y="6011987"/>
            <a:ext cx="1802130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B8C0CF"/>
                </a:solidFill>
                <a:latin typeface="Arial" pitchFamily="34" charset="0"/>
                <a:ea typeface="Arial" pitchFamily="34" charset="-122"/>
                <a:cs typeface="Arial" pitchFamily="34" charset="-120"/>
              </a:rPr>
              <a:t>Domain 6 · AI Security, Privacy &amp; Data (10% of the examination)</a:t>
            </a:r>
            <a:endParaRPr lang="en-US" sz="2100" dirty="0"/>
          </a:p>
        </p:txBody>
      </p:sp>
      <p:sp>
        <p:nvSpPr>
          <p:cNvPr id="6" name="Text 4"/>
          <p:cNvSpPr/>
          <p:nvPr/>
        </p:nvSpPr>
        <p:spPr>
          <a:xfrm>
            <a:off x="952500" y="9715500"/>
            <a:ext cx="212865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891A1"/>
                </a:solidFill>
                <a:latin typeface="Arial" pitchFamily="34" charset="0"/>
                <a:ea typeface="Arial" pitchFamily="34" charset="-122"/>
                <a:cs typeface="Arial" pitchFamily="34" charset="-120"/>
              </a:rPr>
              <a:t>My Cyber Academy</a:t>
            </a:r>
            <a:endParaRPr lang="en-US" sz="1800" dirty="0"/>
          </a:p>
        </p:txBody>
      </p:sp>
      <p:sp>
        <p:nvSpPr>
          <p:cNvPr id="7" name="Text 5"/>
          <p:cNvSpPr/>
          <p:nvPr/>
        </p:nvSpPr>
        <p:spPr>
          <a:xfrm>
            <a:off x="16690777" y="9715500"/>
            <a:ext cx="720923"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CAIA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LEARNING OBJECTIVES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What You Will Be Able To Do After This Module</a:t>
            </a:r>
            <a:endParaRPr lang="en-US" sz="3150" dirty="0"/>
          </a:p>
        </p:txBody>
      </p:sp>
      <p:sp>
        <p:nvSpPr>
          <p:cNvPr id="5" name="Shape 3"/>
          <p:cNvSpPr/>
          <p:nvPr/>
        </p:nvSpPr>
        <p:spPr>
          <a:xfrm>
            <a:off x="952500" y="1869728"/>
            <a:ext cx="16383000" cy="666750"/>
          </a:xfrm>
          <a:prstGeom prst="roundRect">
            <a:avLst>
              <a:gd name="adj" fmla="val 50000"/>
            </a:avLst>
          </a:prstGeom>
          <a:solidFill>
            <a:srgbClr val="FFFFFF">
              <a:alpha val="3000"/>
            </a:srgbClr>
          </a:solidFill>
          <a:ln w="9525">
            <a:solidFill>
              <a:srgbClr val="2A2F3A"/>
            </a:solidFill>
            <a:prstDash val="solid"/>
          </a:ln>
        </p:spPr>
      </p:sp>
      <p:sp>
        <p:nvSpPr>
          <p:cNvPr id="6" name="Shape 4"/>
          <p:cNvSpPr/>
          <p:nvPr/>
        </p:nvSpPr>
        <p:spPr>
          <a:xfrm>
            <a:off x="1209675" y="1984028"/>
            <a:ext cx="438150" cy="438150"/>
          </a:xfrm>
          <a:prstGeom prst="ellipse">
            <a:avLst/>
          </a:prstGeom>
          <a:solidFill>
            <a:srgbClr val="FF6A00">
              <a:alpha val="15000"/>
            </a:srgbClr>
          </a:solidFill>
          <a:ln w="9525">
            <a:solidFill>
              <a:srgbClr val="FF6A00">
                <a:alpha val="35000"/>
              </a:srgbClr>
            </a:solidFill>
            <a:prstDash val="solid"/>
          </a:ln>
        </p:spPr>
      </p:sp>
      <p:sp>
        <p:nvSpPr>
          <p:cNvPr id="7" name="Text 5"/>
          <p:cNvSpPr/>
          <p:nvPr/>
        </p:nvSpPr>
        <p:spPr>
          <a:xfrm>
            <a:off x="1181100" y="199355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7.1</a:t>
            </a:r>
            <a:endParaRPr lang="en-US" sz="1800" dirty="0"/>
          </a:p>
        </p:txBody>
      </p:sp>
      <p:sp>
        <p:nvSpPr>
          <p:cNvPr id="8" name="Text 6"/>
          <p:cNvSpPr/>
          <p:nvPr/>
        </p:nvSpPr>
        <p:spPr>
          <a:xfrm>
            <a:off x="1819275" y="2069753"/>
            <a:ext cx="1237990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Explain why personal, confidential, sensitive or regulated information should not be entered into unapproved AI tools</a:t>
            </a:r>
            <a:endParaRPr lang="en-US" sz="1800" dirty="0"/>
          </a:p>
        </p:txBody>
      </p:sp>
      <p:sp>
        <p:nvSpPr>
          <p:cNvPr id="9" name="Shape 7"/>
          <p:cNvSpPr/>
          <p:nvPr/>
        </p:nvSpPr>
        <p:spPr>
          <a:xfrm>
            <a:off x="952500" y="2650778"/>
            <a:ext cx="16383000" cy="666750"/>
          </a:xfrm>
          <a:prstGeom prst="roundRect">
            <a:avLst>
              <a:gd name="adj" fmla="val 50000"/>
            </a:avLst>
          </a:prstGeom>
          <a:solidFill>
            <a:srgbClr val="FFFFFF">
              <a:alpha val="3000"/>
            </a:srgbClr>
          </a:solidFill>
          <a:ln w="9525">
            <a:solidFill>
              <a:srgbClr val="2A2F3A"/>
            </a:solidFill>
            <a:prstDash val="solid"/>
          </a:ln>
        </p:spPr>
      </p:sp>
      <p:sp>
        <p:nvSpPr>
          <p:cNvPr id="10" name="Shape 8"/>
          <p:cNvSpPr/>
          <p:nvPr/>
        </p:nvSpPr>
        <p:spPr>
          <a:xfrm>
            <a:off x="1209675" y="2765078"/>
            <a:ext cx="438150" cy="438150"/>
          </a:xfrm>
          <a:prstGeom prst="ellipse">
            <a:avLst/>
          </a:prstGeom>
          <a:solidFill>
            <a:srgbClr val="FF6A00">
              <a:alpha val="15000"/>
            </a:srgbClr>
          </a:solidFill>
          <a:ln w="9525">
            <a:solidFill>
              <a:srgbClr val="FF6A00">
                <a:alpha val="35000"/>
              </a:srgbClr>
            </a:solidFill>
            <a:prstDash val="solid"/>
          </a:ln>
        </p:spPr>
      </p:sp>
      <p:sp>
        <p:nvSpPr>
          <p:cNvPr id="11" name="Text 9"/>
          <p:cNvSpPr/>
          <p:nvPr/>
        </p:nvSpPr>
        <p:spPr>
          <a:xfrm>
            <a:off x="1181100" y="277460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7.2</a:t>
            </a:r>
            <a:endParaRPr lang="en-US" sz="1800" dirty="0"/>
          </a:p>
        </p:txBody>
      </p:sp>
      <p:sp>
        <p:nvSpPr>
          <p:cNvPr id="12" name="Text 10"/>
          <p:cNvSpPr/>
          <p:nvPr/>
        </p:nvSpPr>
        <p:spPr>
          <a:xfrm>
            <a:off x="1819275" y="2850803"/>
            <a:ext cx="847032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Describe how inputs may be stored or used, and what is meant by data leakage</a:t>
            </a:r>
            <a:endParaRPr lang="en-US" sz="1800" dirty="0"/>
          </a:p>
        </p:txBody>
      </p:sp>
      <p:sp>
        <p:nvSpPr>
          <p:cNvPr id="13" name="Shape 11"/>
          <p:cNvSpPr/>
          <p:nvPr/>
        </p:nvSpPr>
        <p:spPr>
          <a:xfrm>
            <a:off x="952500" y="3431828"/>
            <a:ext cx="16383000" cy="666750"/>
          </a:xfrm>
          <a:prstGeom prst="roundRect">
            <a:avLst>
              <a:gd name="adj" fmla="val 50000"/>
            </a:avLst>
          </a:prstGeom>
          <a:solidFill>
            <a:srgbClr val="FFFFFF">
              <a:alpha val="3000"/>
            </a:srgbClr>
          </a:solidFill>
          <a:ln w="9525">
            <a:solidFill>
              <a:srgbClr val="2A2F3A"/>
            </a:solidFill>
            <a:prstDash val="solid"/>
          </a:ln>
        </p:spPr>
      </p:sp>
      <p:sp>
        <p:nvSpPr>
          <p:cNvPr id="14" name="Shape 12"/>
          <p:cNvSpPr/>
          <p:nvPr/>
        </p:nvSpPr>
        <p:spPr>
          <a:xfrm>
            <a:off x="1209675" y="3546128"/>
            <a:ext cx="438150" cy="438150"/>
          </a:xfrm>
          <a:prstGeom prst="ellipse">
            <a:avLst/>
          </a:prstGeom>
          <a:solidFill>
            <a:srgbClr val="FF6A00">
              <a:alpha val="15000"/>
            </a:srgbClr>
          </a:solidFill>
          <a:ln w="9525">
            <a:solidFill>
              <a:srgbClr val="FF6A00">
                <a:alpha val="35000"/>
              </a:srgbClr>
            </a:solidFill>
            <a:prstDash val="solid"/>
          </a:ln>
        </p:spPr>
      </p:sp>
      <p:sp>
        <p:nvSpPr>
          <p:cNvPr id="15" name="Text 13"/>
          <p:cNvSpPr/>
          <p:nvPr/>
        </p:nvSpPr>
        <p:spPr>
          <a:xfrm>
            <a:off x="1181100" y="355565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7.3</a:t>
            </a:r>
            <a:endParaRPr lang="en-US" sz="1800" dirty="0"/>
          </a:p>
        </p:txBody>
      </p:sp>
      <p:sp>
        <p:nvSpPr>
          <p:cNvPr id="16" name="Text 14"/>
          <p:cNvSpPr/>
          <p:nvPr/>
        </p:nvSpPr>
        <p:spPr>
          <a:xfrm>
            <a:off x="1819275" y="3631853"/>
            <a:ext cx="497468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Recognise "shadow AI" and why it creates risk</a:t>
            </a:r>
            <a:endParaRPr lang="en-US" sz="1800" dirty="0"/>
          </a:p>
        </p:txBody>
      </p:sp>
      <p:sp>
        <p:nvSpPr>
          <p:cNvPr id="17" name="Shape 15"/>
          <p:cNvSpPr/>
          <p:nvPr/>
        </p:nvSpPr>
        <p:spPr>
          <a:xfrm>
            <a:off x="952500" y="4212878"/>
            <a:ext cx="16383000" cy="666750"/>
          </a:xfrm>
          <a:prstGeom prst="roundRect">
            <a:avLst>
              <a:gd name="adj" fmla="val 50000"/>
            </a:avLst>
          </a:prstGeom>
          <a:solidFill>
            <a:srgbClr val="FFFFFF">
              <a:alpha val="3000"/>
            </a:srgbClr>
          </a:solidFill>
          <a:ln w="9525">
            <a:solidFill>
              <a:srgbClr val="2A2F3A"/>
            </a:solidFill>
            <a:prstDash val="solid"/>
          </a:ln>
        </p:spPr>
      </p:sp>
      <p:sp>
        <p:nvSpPr>
          <p:cNvPr id="18" name="Shape 16"/>
          <p:cNvSpPr/>
          <p:nvPr/>
        </p:nvSpPr>
        <p:spPr>
          <a:xfrm>
            <a:off x="1209675" y="4327178"/>
            <a:ext cx="438150" cy="438150"/>
          </a:xfrm>
          <a:prstGeom prst="ellipse">
            <a:avLst/>
          </a:prstGeom>
          <a:solidFill>
            <a:srgbClr val="FF6A00">
              <a:alpha val="15000"/>
            </a:srgbClr>
          </a:solidFill>
          <a:ln w="9525">
            <a:solidFill>
              <a:srgbClr val="FF6A00">
                <a:alpha val="35000"/>
              </a:srgbClr>
            </a:solidFill>
            <a:prstDash val="solid"/>
          </a:ln>
        </p:spPr>
      </p:sp>
      <p:sp>
        <p:nvSpPr>
          <p:cNvPr id="19" name="Text 17"/>
          <p:cNvSpPr/>
          <p:nvPr/>
        </p:nvSpPr>
        <p:spPr>
          <a:xfrm>
            <a:off x="1181100" y="433670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7.4</a:t>
            </a:r>
            <a:endParaRPr lang="en-US" sz="1800" dirty="0"/>
          </a:p>
        </p:txBody>
      </p:sp>
      <p:sp>
        <p:nvSpPr>
          <p:cNvPr id="20" name="Text 18"/>
          <p:cNvSpPr/>
          <p:nvPr/>
        </p:nvSpPr>
        <p:spPr>
          <a:xfrm>
            <a:off x="1819275" y="4412903"/>
            <a:ext cx="1235526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Show awareness of AI-enabled threats: deepfakes, AI-assisted phishing and social engineering, and misinformation</a:t>
            </a:r>
            <a:endParaRPr lang="en-US" sz="1800" dirty="0"/>
          </a:p>
        </p:txBody>
      </p:sp>
      <p:sp>
        <p:nvSpPr>
          <p:cNvPr id="21" name="Shape 19"/>
          <p:cNvSpPr/>
          <p:nvPr/>
        </p:nvSpPr>
        <p:spPr>
          <a:xfrm>
            <a:off x="952500" y="4993928"/>
            <a:ext cx="16383000" cy="666750"/>
          </a:xfrm>
          <a:prstGeom prst="roundRect">
            <a:avLst>
              <a:gd name="adj" fmla="val 50000"/>
            </a:avLst>
          </a:prstGeom>
          <a:solidFill>
            <a:srgbClr val="FFFFFF">
              <a:alpha val="3000"/>
            </a:srgbClr>
          </a:solidFill>
          <a:ln w="9525">
            <a:solidFill>
              <a:srgbClr val="2A2F3A"/>
            </a:solidFill>
            <a:prstDash val="solid"/>
          </a:ln>
        </p:spPr>
      </p:sp>
      <p:sp>
        <p:nvSpPr>
          <p:cNvPr id="22" name="Shape 20"/>
          <p:cNvSpPr/>
          <p:nvPr/>
        </p:nvSpPr>
        <p:spPr>
          <a:xfrm>
            <a:off x="1209675" y="5108228"/>
            <a:ext cx="438150" cy="438150"/>
          </a:xfrm>
          <a:prstGeom prst="ellipse">
            <a:avLst/>
          </a:prstGeom>
          <a:solidFill>
            <a:srgbClr val="FF6A00">
              <a:alpha val="15000"/>
            </a:srgbClr>
          </a:solidFill>
          <a:ln w="9525">
            <a:solidFill>
              <a:srgbClr val="FF6A00">
                <a:alpha val="35000"/>
              </a:srgbClr>
            </a:solidFill>
            <a:prstDash val="solid"/>
          </a:ln>
        </p:spPr>
      </p:sp>
      <p:sp>
        <p:nvSpPr>
          <p:cNvPr id="23" name="Text 21"/>
          <p:cNvSpPr/>
          <p:nvPr/>
        </p:nvSpPr>
        <p:spPr>
          <a:xfrm>
            <a:off x="1181100" y="511775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7.5</a:t>
            </a:r>
            <a:endParaRPr lang="en-US" sz="1800" dirty="0"/>
          </a:p>
        </p:txBody>
      </p:sp>
      <p:sp>
        <p:nvSpPr>
          <p:cNvPr id="24" name="Text 22"/>
          <p:cNvSpPr/>
          <p:nvPr/>
        </p:nvSpPr>
        <p:spPr>
          <a:xfrm>
            <a:off x="1819275" y="5193953"/>
            <a:ext cx="994945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Show conceptual awareness of prompt injection and manipulated inputs as a category of risk</a:t>
            </a:r>
            <a:endParaRPr lang="en-US" sz="1800" dirty="0"/>
          </a:p>
        </p:txBody>
      </p:sp>
      <p:sp>
        <p:nvSpPr>
          <p:cNvPr id="25" name="Shape 23"/>
          <p:cNvSpPr/>
          <p:nvPr/>
        </p:nvSpPr>
        <p:spPr>
          <a:xfrm>
            <a:off x="952500" y="5774978"/>
            <a:ext cx="16383000" cy="666750"/>
          </a:xfrm>
          <a:prstGeom prst="roundRect">
            <a:avLst>
              <a:gd name="adj" fmla="val 50000"/>
            </a:avLst>
          </a:prstGeom>
          <a:solidFill>
            <a:srgbClr val="FFFFFF">
              <a:alpha val="3000"/>
            </a:srgbClr>
          </a:solidFill>
          <a:ln w="9525">
            <a:solidFill>
              <a:srgbClr val="2A2F3A"/>
            </a:solidFill>
            <a:prstDash val="solid"/>
          </a:ln>
        </p:spPr>
      </p:sp>
      <p:sp>
        <p:nvSpPr>
          <p:cNvPr id="26" name="Shape 24"/>
          <p:cNvSpPr/>
          <p:nvPr/>
        </p:nvSpPr>
        <p:spPr>
          <a:xfrm>
            <a:off x="1209675" y="5889278"/>
            <a:ext cx="438150" cy="438150"/>
          </a:xfrm>
          <a:prstGeom prst="ellipse">
            <a:avLst/>
          </a:prstGeom>
          <a:solidFill>
            <a:srgbClr val="FF6A00">
              <a:alpha val="15000"/>
            </a:srgbClr>
          </a:solidFill>
          <a:ln w="9525">
            <a:solidFill>
              <a:srgbClr val="FF6A00">
                <a:alpha val="35000"/>
              </a:srgbClr>
            </a:solidFill>
            <a:prstDash val="solid"/>
          </a:ln>
        </p:spPr>
      </p:sp>
      <p:sp>
        <p:nvSpPr>
          <p:cNvPr id="27" name="Text 25"/>
          <p:cNvSpPr/>
          <p:nvPr/>
        </p:nvSpPr>
        <p:spPr>
          <a:xfrm>
            <a:off x="1181100" y="589880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7.6</a:t>
            </a:r>
            <a:endParaRPr lang="en-US" sz="1800" dirty="0"/>
          </a:p>
        </p:txBody>
      </p:sp>
      <p:sp>
        <p:nvSpPr>
          <p:cNvPr id="28" name="Text 26"/>
          <p:cNvSpPr/>
          <p:nvPr/>
        </p:nvSpPr>
        <p:spPr>
          <a:xfrm>
            <a:off x="1819275" y="5975003"/>
            <a:ext cx="907179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Apply basic safe practices: approved tools, account security, and data-handling rules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EXAM BLUEPRINT</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Seven Domains, One Examination</a:t>
            </a:r>
            <a:endParaRPr lang="en-US" sz="3150" dirty="0"/>
          </a:p>
        </p:txBody>
      </p:sp>
      <p:sp>
        <p:nvSpPr>
          <p:cNvPr id="5" name="Text 3"/>
          <p:cNvSpPr/>
          <p:nvPr/>
        </p:nvSpPr>
        <p:spPr>
          <a:xfrm>
            <a:off x="952500" y="1812578"/>
            <a:ext cx="12753975" cy="83046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This module covers Domain 6 — protecting information and recognising AI-related security risks, all at awareness level.</a:t>
            </a:r>
            <a:endParaRPr lang="en-US" sz="1950" dirty="0"/>
          </a:p>
        </p:txBody>
      </p:sp>
      <p:sp>
        <p:nvSpPr>
          <p:cNvPr id="6" name="Shape 4"/>
          <p:cNvSpPr/>
          <p:nvPr/>
        </p:nvSpPr>
        <p:spPr>
          <a:xfrm>
            <a:off x="966788" y="2833539"/>
            <a:ext cx="1296293" cy="485775"/>
          </a:xfrm>
          <a:custGeom>
            <a:avLst/>
            <a:gdLst/>
            <a:ahLst/>
            <a:cxnLst/>
            <a:rect l="l" t="t" r="r" b="b"/>
            <a:pathLst>
              <a:path w="1296293" h="485775">
                <a:moveTo>
                  <a:pt x="95250" y="0"/>
                </a:moveTo>
                <a:lnTo>
                  <a:pt x="1296293" y="0"/>
                </a:lnTo>
                <a:lnTo>
                  <a:pt x="1296293" y="485775"/>
                </a:lnTo>
                <a:lnTo>
                  <a:pt x="0" y="485775"/>
                </a:lnTo>
                <a:lnTo>
                  <a:pt x="0" y="95250"/>
                </a:lnTo>
                <a:arcTo hR="95250" wR="95250" stAng="10800000" swAng="5400000"/>
                <a:close/>
              </a:path>
            </a:pathLst>
          </a:custGeom>
          <a:solidFill>
            <a:srgbClr val="FF6A00">
              <a:alpha val="18000"/>
            </a:srgbClr>
          </a:solidFill>
          <a:ln/>
        </p:spPr>
      </p:sp>
      <p:sp>
        <p:nvSpPr>
          <p:cNvPr id="7" name="Shape 5"/>
          <p:cNvSpPr/>
          <p:nvPr/>
        </p:nvSpPr>
        <p:spPr>
          <a:xfrm>
            <a:off x="966788" y="3309789"/>
            <a:ext cx="1296293" cy="9525"/>
          </a:xfrm>
          <a:prstGeom prst="rect">
            <a:avLst/>
          </a:prstGeom>
          <a:solidFill>
            <a:srgbClr val="B85100"/>
          </a:solidFill>
          <a:ln/>
        </p:spPr>
      </p:sp>
      <p:sp>
        <p:nvSpPr>
          <p:cNvPr id="8" name="Text 6"/>
          <p:cNvSpPr/>
          <p:nvPr/>
        </p:nvSpPr>
        <p:spPr>
          <a:xfrm>
            <a:off x="1119188" y="2928789"/>
            <a:ext cx="1067693"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a:t>
            </a:r>
            <a:endParaRPr lang="en-US" sz="1950" dirty="0"/>
          </a:p>
        </p:txBody>
      </p:sp>
      <p:sp>
        <p:nvSpPr>
          <p:cNvPr id="9" name="Shape 7"/>
          <p:cNvSpPr/>
          <p:nvPr/>
        </p:nvSpPr>
        <p:spPr>
          <a:xfrm>
            <a:off x="2263080" y="2833539"/>
            <a:ext cx="11142464" cy="485775"/>
          </a:xfrm>
          <a:prstGeom prst="rect">
            <a:avLst/>
          </a:prstGeom>
          <a:solidFill>
            <a:srgbClr val="FF6A00">
              <a:alpha val="18000"/>
            </a:srgbClr>
          </a:solidFill>
          <a:ln/>
        </p:spPr>
      </p:sp>
      <p:sp>
        <p:nvSpPr>
          <p:cNvPr id="10" name="Shape 8"/>
          <p:cNvSpPr/>
          <p:nvPr/>
        </p:nvSpPr>
        <p:spPr>
          <a:xfrm>
            <a:off x="2263080" y="3309789"/>
            <a:ext cx="11142464" cy="9525"/>
          </a:xfrm>
          <a:prstGeom prst="rect">
            <a:avLst/>
          </a:prstGeom>
          <a:solidFill>
            <a:srgbClr val="B85100"/>
          </a:solidFill>
          <a:ln/>
        </p:spPr>
      </p:sp>
      <p:sp>
        <p:nvSpPr>
          <p:cNvPr id="11" name="Text 9"/>
          <p:cNvSpPr/>
          <p:nvPr/>
        </p:nvSpPr>
        <p:spPr>
          <a:xfrm>
            <a:off x="2415480" y="2928789"/>
            <a:ext cx="11171938"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Domain</a:t>
            </a:r>
            <a:endParaRPr lang="en-US" sz="1950" dirty="0"/>
          </a:p>
        </p:txBody>
      </p:sp>
      <p:sp>
        <p:nvSpPr>
          <p:cNvPr id="12" name="Shape 10"/>
          <p:cNvSpPr/>
          <p:nvPr/>
        </p:nvSpPr>
        <p:spPr>
          <a:xfrm>
            <a:off x="13405545" y="2833539"/>
            <a:ext cx="3929955" cy="485775"/>
          </a:xfrm>
          <a:custGeom>
            <a:avLst/>
            <a:gdLst/>
            <a:ahLst/>
            <a:cxnLst/>
            <a:rect l="l" t="t" r="r" b="b"/>
            <a:pathLst>
              <a:path w="3929955" h="485775">
                <a:moveTo>
                  <a:pt x="0" y="0"/>
                </a:moveTo>
                <a:lnTo>
                  <a:pt x="3834705" y="0"/>
                </a:lnTo>
                <a:arcTo hR="95250" wR="95250" stAng="16200000" swAng="5400000"/>
                <a:lnTo>
                  <a:pt x="3929955" y="485775"/>
                </a:lnTo>
                <a:lnTo>
                  <a:pt x="0" y="485775"/>
                </a:lnTo>
                <a:lnTo>
                  <a:pt x="0" y="0"/>
                </a:lnTo>
                <a:close/>
              </a:path>
            </a:pathLst>
          </a:custGeom>
          <a:solidFill>
            <a:srgbClr val="FF6A00">
              <a:alpha val="18000"/>
            </a:srgbClr>
          </a:solidFill>
          <a:ln/>
        </p:spPr>
      </p:sp>
      <p:sp>
        <p:nvSpPr>
          <p:cNvPr id="13" name="Shape 11"/>
          <p:cNvSpPr/>
          <p:nvPr/>
        </p:nvSpPr>
        <p:spPr>
          <a:xfrm>
            <a:off x="13405545" y="3309789"/>
            <a:ext cx="3929955" cy="9525"/>
          </a:xfrm>
          <a:prstGeom prst="rect">
            <a:avLst/>
          </a:prstGeom>
          <a:solidFill>
            <a:srgbClr val="B85100"/>
          </a:solidFill>
          <a:ln/>
        </p:spPr>
      </p:sp>
      <p:sp>
        <p:nvSpPr>
          <p:cNvPr id="14" name="Text 12"/>
          <p:cNvSpPr/>
          <p:nvPr/>
        </p:nvSpPr>
        <p:spPr>
          <a:xfrm>
            <a:off x="13440046" y="2928789"/>
            <a:ext cx="3743054" cy="323850"/>
          </a:xfrm>
          <a:prstGeom prst="rect">
            <a:avLst/>
          </a:prstGeom>
          <a:noFill/>
          <a:ln/>
        </p:spPr>
        <p:txBody>
          <a:bodyPr wrap="square" lIns="25400" tIns="25400" rIns="25400" bIns="25400" rtlCol="0" anchor="ctr">
            <a:normAutofit/>
          </a:bodyPr>
          <a:lstStyle/>
          <a:p>
            <a:pPr algn="r" indent="0" marL="0">
              <a:buNone/>
            </a:pPr>
            <a:r>
              <a:rPr lang="en-US" sz="1950" b="1" dirty="0">
                <a:solidFill>
                  <a:srgbClr val="F5F7FB"/>
                </a:solidFill>
                <a:latin typeface="Arial" pitchFamily="34" charset="0"/>
                <a:ea typeface="Arial" pitchFamily="34" charset="-122"/>
                <a:cs typeface="Arial" pitchFamily="34" charset="-120"/>
              </a:rPr>
              <a:t>Weighting</a:t>
            </a:r>
            <a:endParaRPr lang="en-US" sz="1950" dirty="0"/>
          </a:p>
        </p:txBody>
      </p:sp>
      <p:sp>
        <p:nvSpPr>
          <p:cNvPr id="15" name="Text 13"/>
          <p:cNvSpPr/>
          <p:nvPr/>
        </p:nvSpPr>
        <p:spPr>
          <a:xfrm>
            <a:off x="1119188" y="3414564"/>
            <a:ext cx="1067693"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1</a:t>
            </a:r>
            <a:endParaRPr lang="en-US" sz="1950" dirty="0"/>
          </a:p>
        </p:txBody>
      </p:sp>
      <p:sp>
        <p:nvSpPr>
          <p:cNvPr id="16" name="Text 14"/>
          <p:cNvSpPr/>
          <p:nvPr/>
        </p:nvSpPr>
        <p:spPr>
          <a:xfrm>
            <a:off x="2415480" y="3414564"/>
            <a:ext cx="11171938"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AI Concepts &amp; Terminology</a:t>
            </a:r>
            <a:endParaRPr lang="en-US" sz="1950" dirty="0"/>
          </a:p>
        </p:txBody>
      </p:sp>
      <p:sp>
        <p:nvSpPr>
          <p:cNvPr id="17" name="Text 15"/>
          <p:cNvSpPr/>
          <p:nvPr/>
        </p:nvSpPr>
        <p:spPr>
          <a:xfrm>
            <a:off x="13440046" y="3414564"/>
            <a:ext cx="3743054" cy="333375"/>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20%</a:t>
            </a:r>
            <a:endParaRPr lang="en-US" sz="1950" dirty="0"/>
          </a:p>
        </p:txBody>
      </p:sp>
      <p:sp>
        <p:nvSpPr>
          <p:cNvPr id="18" name="Shape 16"/>
          <p:cNvSpPr/>
          <p:nvPr/>
        </p:nvSpPr>
        <p:spPr>
          <a:xfrm>
            <a:off x="966788" y="3805089"/>
            <a:ext cx="16368713" cy="481012"/>
          </a:xfrm>
          <a:prstGeom prst="rect">
            <a:avLst/>
          </a:prstGeom>
          <a:solidFill>
            <a:srgbClr val="FFFFFF">
              <a:alpha val="2000"/>
            </a:srgbClr>
          </a:solidFill>
          <a:ln/>
        </p:spPr>
      </p:sp>
      <p:sp>
        <p:nvSpPr>
          <p:cNvPr id="19" name="Text 17"/>
          <p:cNvSpPr/>
          <p:nvPr/>
        </p:nvSpPr>
        <p:spPr>
          <a:xfrm>
            <a:off x="1119188" y="3900339"/>
            <a:ext cx="1067693"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2</a:t>
            </a:r>
            <a:endParaRPr lang="en-US" sz="1950" dirty="0"/>
          </a:p>
        </p:txBody>
      </p:sp>
      <p:sp>
        <p:nvSpPr>
          <p:cNvPr id="20" name="Text 18"/>
          <p:cNvSpPr/>
          <p:nvPr/>
        </p:nvSpPr>
        <p:spPr>
          <a:xfrm>
            <a:off x="2415480" y="3900339"/>
            <a:ext cx="11171938"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How AI Systems Work</a:t>
            </a:r>
            <a:endParaRPr lang="en-US" sz="1950" dirty="0"/>
          </a:p>
        </p:txBody>
      </p:sp>
      <p:sp>
        <p:nvSpPr>
          <p:cNvPr id="21" name="Text 19"/>
          <p:cNvSpPr/>
          <p:nvPr/>
        </p:nvSpPr>
        <p:spPr>
          <a:xfrm>
            <a:off x="13440046" y="3900339"/>
            <a:ext cx="3743054"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22" name="Text 20"/>
          <p:cNvSpPr/>
          <p:nvPr/>
        </p:nvSpPr>
        <p:spPr>
          <a:xfrm>
            <a:off x="1119188" y="4381351"/>
            <a:ext cx="1067693"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3</a:t>
            </a:r>
            <a:endParaRPr lang="en-US" sz="1950" dirty="0"/>
          </a:p>
        </p:txBody>
      </p:sp>
      <p:sp>
        <p:nvSpPr>
          <p:cNvPr id="23" name="Text 21"/>
          <p:cNvSpPr/>
          <p:nvPr/>
        </p:nvSpPr>
        <p:spPr>
          <a:xfrm>
            <a:off x="2415480" y="4381351"/>
            <a:ext cx="11171938"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Generative AI &amp; AI Tools</a:t>
            </a:r>
            <a:endParaRPr lang="en-US" sz="1950" dirty="0"/>
          </a:p>
        </p:txBody>
      </p:sp>
      <p:sp>
        <p:nvSpPr>
          <p:cNvPr id="24" name="Text 22"/>
          <p:cNvSpPr/>
          <p:nvPr/>
        </p:nvSpPr>
        <p:spPr>
          <a:xfrm>
            <a:off x="13440046" y="4381351"/>
            <a:ext cx="3743054"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25" name="Shape 23"/>
          <p:cNvSpPr/>
          <p:nvPr/>
        </p:nvSpPr>
        <p:spPr>
          <a:xfrm>
            <a:off x="966788" y="4767114"/>
            <a:ext cx="16368713" cy="481012"/>
          </a:xfrm>
          <a:prstGeom prst="rect">
            <a:avLst/>
          </a:prstGeom>
          <a:solidFill>
            <a:srgbClr val="FFFFFF">
              <a:alpha val="2000"/>
            </a:srgbClr>
          </a:solidFill>
          <a:ln/>
        </p:spPr>
      </p:sp>
      <p:sp>
        <p:nvSpPr>
          <p:cNvPr id="26" name="Text 24"/>
          <p:cNvSpPr/>
          <p:nvPr/>
        </p:nvSpPr>
        <p:spPr>
          <a:xfrm>
            <a:off x="1119188" y="4862364"/>
            <a:ext cx="1067693"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4</a:t>
            </a:r>
            <a:endParaRPr lang="en-US" sz="1950" dirty="0"/>
          </a:p>
        </p:txBody>
      </p:sp>
      <p:sp>
        <p:nvSpPr>
          <p:cNvPr id="27" name="Text 25"/>
          <p:cNvSpPr/>
          <p:nvPr/>
        </p:nvSpPr>
        <p:spPr>
          <a:xfrm>
            <a:off x="2415480" y="4862364"/>
            <a:ext cx="11171938"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Prompting &amp; Effective AI Use</a:t>
            </a:r>
            <a:endParaRPr lang="en-US" sz="1950" dirty="0"/>
          </a:p>
        </p:txBody>
      </p:sp>
      <p:sp>
        <p:nvSpPr>
          <p:cNvPr id="28" name="Text 26"/>
          <p:cNvSpPr/>
          <p:nvPr/>
        </p:nvSpPr>
        <p:spPr>
          <a:xfrm>
            <a:off x="13440046" y="4862364"/>
            <a:ext cx="3743054"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29" name="Text 27"/>
          <p:cNvSpPr/>
          <p:nvPr/>
        </p:nvSpPr>
        <p:spPr>
          <a:xfrm>
            <a:off x="1119188" y="5343376"/>
            <a:ext cx="1067693"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5</a:t>
            </a:r>
            <a:endParaRPr lang="en-US" sz="1950" dirty="0"/>
          </a:p>
        </p:txBody>
      </p:sp>
      <p:sp>
        <p:nvSpPr>
          <p:cNvPr id="30" name="Text 28"/>
          <p:cNvSpPr/>
          <p:nvPr/>
        </p:nvSpPr>
        <p:spPr>
          <a:xfrm>
            <a:off x="2415480" y="5343376"/>
            <a:ext cx="11171938"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AI Limitations &amp; Verification</a:t>
            </a:r>
            <a:endParaRPr lang="en-US" sz="1950" dirty="0"/>
          </a:p>
        </p:txBody>
      </p:sp>
      <p:sp>
        <p:nvSpPr>
          <p:cNvPr id="31" name="Text 29"/>
          <p:cNvSpPr/>
          <p:nvPr/>
        </p:nvSpPr>
        <p:spPr>
          <a:xfrm>
            <a:off x="13440046" y="5343376"/>
            <a:ext cx="3743054"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32" name="Shape 30"/>
          <p:cNvSpPr/>
          <p:nvPr/>
        </p:nvSpPr>
        <p:spPr>
          <a:xfrm>
            <a:off x="966788" y="5729139"/>
            <a:ext cx="16368713" cy="481012"/>
          </a:xfrm>
          <a:prstGeom prst="rect">
            <a:avLst/>
          </a:prstGeom>
          <a:solidFill>
            <a:srgbClr val="FF6A00">
              <a:alpha val="10000"/>
            </a:srgbClr>
          </a:solidFill>
          <a:ln/>
        </p:spPr>
      </p:sp>
      <p:sp>
        <p:nvSpPr>
          <p:cNvPr id="33" name="Shape 31"/>
          <p:cNvSpPr/>
          <p:nvPr/>
        </p:nvSpPr>
        <p:spPr>
          <a:xfrm>
            <a:off x="966788" y="5729139"/>
            <a:ext cx="28575" cy="481012"/>
          </a:xfrm>
          <a:prstGeom prst="rect">
            <a:avLst/>
          </a:prstGeom>
          <a:solidFill>
            <a:srgbClr val="FF6A00"/>
          </a:solidFill>
          <a:ln/>
        </p:spPr>
      </p:sp>
      <p:sp>
        <p:nvSpPr>
          <p:cNvPr id="34" name="Text 32"/>
          <p:cNvSpPr/>
          <p:nvPr/>
        </p:nvSpPr>
        <p:spPr>
          <a:xfrm>
            <a:off x="1119188" y="5824389"/>
            <a:ext cx="1067693" cy="328612"/>
          </a:xfrm>
          <a:prstGeom prst="rect">
            <a:avLst/>
          </a:prstGeom>
          <a:noFill/>
          <a:ln/>
        </p:spPr>
        <p:txBody>
          <a:bodyPr wrap="square" lIns="25400" tIns="25400" rIns="25400" bIns="25400" rtlCol="0" anchor="ctr">
            <a:normAutofit/>
          </a:bodyPr>
          <a:lstStyle/>
          <a:p>
            <a:pPr algn="l" indent="0" marL="0">
              <a:buNone/>
            </a:pPr>
            <a:r>
              <a:rPr lang="en-US" sz="1950" b="1" dirty="0">
                <a:solidFill>
                  <a:srgbClr val="FF6A00"/>
                </a:solidFill>
                <a:latin typeface="Arial" pitchFamily="34" charset="0"/>
                <a:ea typeface="Arial" pitchFamily="34" charset="-122"/>
                <a:cs typeface="Arial" pitchFamily="34" charset="-120"/>
              </a:rPr>
              <a:t>6</a:t>
            </a:r>
            <a:endParaRPr lang="en-US" sz="1950" dirty="0"/>
          </a:p>
        </p:txBody>
      </p:sp>
      <p:sp>
        <p:nvSpPr>
          <p:cNvPr id="35" name="Text 33"/>
          <p:cNvSpPr/>
          <p:nvPr/>
        </p:nvSpPr>
        <p:spPr>
          <a:xfrm>
            <a:off x="2415480" y="5824389"/>
            <a:ext cx="11171938" cy="328612"/>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AI Security, Privacy &amp; Data</a:t>
            </a:r>
            <a:endParaRPr lang="en-US" sz="1950" dirty="0"/>
          </a:p>
        </p:txBody>
      </p:sp>
      <p:sp>
        <p:nvSpPr>
          <p:cNvPr id="36" name="Text 34"/>
          <p:cNvSpPr/>
          <p:nvPr/>
        </p:nvSpPr>
        <p:spPr>
          <a:xfrm>
            <a:off x="13440046" y="5824389"/>
            <a:ext cx="3743054" cy="328612"/>
          </a:xfrm>
          <a:prstGeom prst="rect">
            <a:avLst/>
          </a:prstGeom>
          <a:noFill/>
          <a:ln/>
        </p:spPr>
        <p:txBody>
          <a:bodyPr wrap="square" lIns="25400" tIns="25400" rIns="25400" bIns="25400" rtlCol="0" anchor="ctr">
            <a:normAutofit/>
          </a:bodyPr>
          <a:lstStyle/>
          <a:p>
            <a:pPr algn="r" indent="0" marL="0">
              <a:buNone/>
            </a:pPr>
            <a:r>
              <a:rPr lang="en-US" sz="1950" b="1" dirty="0">
                <a:solidFill>
                  <a:srgbClr val="FF6A00"/>
                </a:solidFill>
                <a:latin typeface="Arial" pitchFamily="34" charset="0"/>
                <a:ea typeface="Arial" pitchFamily="34" charset="-122"/>
                <a:cs typeface="Arial" pitchFamily="34" charset="-120"/>
              </a:rPr>
              <a:t>10%</a:t>
            </a:r>
            <a:endParaRPr lang="en-US" sz="1950" dirty="0"/>
          </a:p>
        </p:txBody>
      </p:sp>
      <p:sp>
        <p:nvSpPr>
          <p:cNvPr id="37" name="Shape 35"/>
          <p:cNvSpPr/>
          <p:nvPr/>
        </p:nvSpPr>
        <p:spPr>
          <a:xfrm>
            <a:off x="966788" y="6210151"/>
            <a:ext cx="16368713" cy="481012"/>
          </a:xfrm>
          <a:prstGeom prst="rect">
            <a:avLst/>
          </a:prstGeom>
          <a:solidFill>
            <a:srgbClr val="FFFFFF">
              <a:alpha val="2000"/>
            </a:srgbClr>
          </a:solidFill>
          <a:ln/>
        </p:spPr>
      </p:sp>
      <p:sp>
        <p:nvSpPr>
          <p:cNvPr id="38" name="Text 36"/>
          <p:cNvSpPr/>
          <p:nvPr/>
        </p:nvSpPr>
        <p:spPr>
          <a:xfrm>
            <a:off x="1119188" y="6305401"/>
            <a:ext cx="1067693"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7</a:t>
            </a:r>
            <a:endParaRPr lang="en-US" sz="1950" dirty="0"/>
          </a:p>
        </p:txBody>
      </p:sp>
      <p:sp>
        <p:nvSpPr>
          <p:cNvPr id="39" name="Text 37"/>
          <p:cNvSpPr/>
          <p:nvPr/>
        </p:nvSpPr>
        <p:spPr>
          <a:xfrm>
            <a:off x="2415480" y="6305401"/>
            <a:ext cx="11171938"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Responsible AI, Ethics &amp; Governance</a:t>
            </a:r>
            <a:endParaRPr lang="en-US" sz="1950" dirty="0"/>
          </a:p>
        </p:txBody>
      </p:sp>
      <p:sp>
        <p:nvSpPr>
          <p:cNvPr id="40" name="Text 38"/>
          <p:cNvSpPr/>
          <p:nvPr/>
        </p:nvSpPr>
        <p:spPr>
          <a:xfrm>
            <a:off x="13440046" y="6305401"/>
            <a:ext cx="3743054"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10%</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877196"/>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BUILDING ON MODULE 6</a:t>
            </a:r>
            <a:endParaRPr lang="en-US" sz="1800" dirty="0"/>
          </a:p>
        </p:txBody>
      </p:sp>
      <p:sp>
        <p:nvSpPr>
          <p:cNvPr id="4" name="Text 2"/>
          <p:cNvSpPr/>
          <p:nvPr/>
        </p:nvSpPr>
        <p:spPr>
          <a:xfrm>
            <a:off x="952500" y="4315346"/>
            <a:ext cx="146685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You Can Judge AI Output. Now: Protect What You Put Into AI Tools</a:t>
            </a:r>
            <a:endParaRPr lang="en-US" sz="3150" dirty="0"/>
          </a:p>
        </p:txBody>
      </p:sp>
      <p:sp>
        <p:nvSpPr>
          <p:cNvPr id="5" name="Text 3"/>
          <p:cNvSpPr/>
          <p:nvPr/>
        </p:nvSpPr>
        <p:spPr>
          <a:xfrm>
            <a:off x="952500" y="5289724"/>
            <a:ext cx="12753975" cy="891480"/>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Module 6 covered trusting what comes out of an AI tool. This module covers the other direction — protecting the information you put in, recognising unsanctioned tool use, and being aware of AI-enabled threats.</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79523" y="4280074"/>
            <a:ext cx="5328955"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7.1 · SUB-OBJECTIVE 1 OF 6</a:t>
            </a:r>
            <a:endParaRPr lang="en-US" sz="1950" dirty="0"/>
          </a:p>
        </p:txBody>
      </p:sp>
      <p:sp>
        <p:nvSpPr>
          <p:cNvPr id="4" name="Text 2"/>
          <p:cNvSpPr/>
          <p:nvPr/>
        </p:nvSpPr>
        <p:spPr>
          <a:xfrm>
            <a:off x="2767013" y="4780136"/>
            <a:ext cx="12753975" cy="1264890"/>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What Should Never Go Into An Unapproved AI Tool</a:t>
            </a:r>
            <a:endParaRPr lang="en-US" sz="4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7.1 PROTECTING SENSITIVE INFORMATION</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Four Categories That Need Care</a:t>
            </a:r>
            <a:endParaRPr lang="en-US" sz="3150" dirty="0"/>
          </a:p>
        </p:txBody>
      </p:sp>
      <p:sp>
        <p:nvSpPr>
          <p:cNvPr id="5" name="Shape 3"/>
          <p:cNvSpPr/>
          <p:nvPr/>
        </p:nvSpPr>
        <p:spPr>
          <a:xfrm>
            <a:off x="952500" y="1869728"/>
            <a:ext cx="8105775" cy="1138238"/>
          </a:xfrm>
          <a:prstGeom prst="roundRect">
            <a:avLst>
              <a:gd name="adj" fmla="val 13389"/>
            </a:avLst>
          </a:prstGeom>
          <a:solidFill>
            <a:srgbClr val="FFFFFF">
              <a:alpha val="2000"/>
            </a:srgbClr>
          </a:solidFill>
          <a:ln w="9525">
            <a:solidFill>
              <a:srgbClr val="2A2F3A"/>
            </a:solidFill>
            <a:prstDash val="solid"/>
          </a:ln>
        </p:spPr>
      </p:sp>
      <p:sp>
        <p:nvSpPr>
          <p:cNvPr id="6" name="Text 4"/>
          <p:cNvSpPr/>
          <p:nvPr/>
        </p:nvSpPr>
        <p:spPr>
          <a:xfrm>
            <a:off x="1171575" y="2088803"/>
            <a:ext cx="8434387"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Personal Information</a:t>
            </a:r>
            <a:endParaRPr lang="en-US" sz="1875" dirty="0"/>
          </a:p>
        </p:txBody>
      </p:sp>
      <p:sp>
        <p:nvSpPr>
          <p:cNvPr id="7" name="Text 5"/>
          <p:cNvSpPr/>
          <p:nvPr/>
        </p:nvSpPr>
        <p:spPr>
          <a:xfrm>
            <a:off x="1171575" y="2445990"/>
            <a:ext cx="8434387"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Names, contact details, or anything identifying a specific individual.</a:t>
            </a:r>
            <a:endParaRPr lang="en-US" sz="1800" dirty="0"/>
          </a:p>
        </p:txBody>
      </p:sp>
      <p:sp>
        <p:nvSpPr>
          <p:cNvPr id="8" name="Shape 6"/>
          <p:cNvSpPr/>
          <p:nvPr/>
        </p:nvSpPr>
        <p:spPr>
          <a:xfrm>
            <a:off x="9229725" y="1869728"/>
            <a:ext cx="8105775" cy="1138238"/>
          </a:xfrm>
          <a:prstGeom prst="roundRect">
            <a:avLst>
              <a:gd name="adj" fmla="val 13389"/>
            </a:avLst>
          </a:prstGeom>
          <a:solidFill>
            <a:srgbClr val="FFFFFF">
              <a:alpha val="2000"/>
            </a:srgbClr>
          </a:solidFill>
          <a:ln w="9525">
            <a:solidFill>
              <a:srgbClr val="2A2F3A"/>
            </a:solidFill>
            <a:prstDash val="solid"/>
          </a:ln>
        </p:spPr>
      </p:sp>
      <p:sp>
        <p:nvSpPr>
          <p:cNvPr id="9" name="Text 7"/>
          <p:cNvSpPr/>
          <p:nvPr/>
        </p:nvSpPr>
        <p:spPr>
          <a:xfrm>
            <a:off x="9448800" y="2088803"/>
            <a:ext cx="8434387"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Confidential Information</a:t>
            </a:r>
            <a:endParaRPr lang="en-US" sz="1875" dirty="0"/>
          </a:p>
        </p:txBody>
      </p:sp>
      <p:sp>
        <p:nvSpPr>
          <p:cNvPr id="10" name="Text 8"/>
          <p:cNvSpPr/>
          <p:nvPr/>
        </p:nvSpPr>
        <p:spPr>
          <a:xfrm>
            <a:off x="9448800" y="2445990"/>
            <a:ext cx="8434387"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Internal business information not meant for outside parties.</a:t>
            </a:r>
            <a:endParaRPr lang="en-US" sz="1800" dirty="0"/>
          </a:p>
        </p:txBody>
      </p:sp>
      <p:sp>
        <p:nvSpPr>
          <p:cNvPr id="11" name="Shape 9"/>
          <p:cNvSpPr/>
          <p:nvPr/>
        </p:nvSpPr>
        <p:spPr>
          <a:xfrm>
            <a:off x="952500" y="3179415"/>
            <a:ext cx="8105775" cy="1138238"/>
          </a:xfrm>
          <a:prstGeom prst="roundRect">
            <a:avLst>
              <a:gd name="adj" fmla="val 13389"/>
            </a:avLst>
          </a:prstGeom>
          <a:solidFill>
            <a:srgbClr val="FFFFFF">
              <a:alpha val="2000"/>
            </a:srgbClr>
          </a:solidFill>
          <a:ln w="9525">
            <a:solidFill>
              <a:srgbClr val="2A2F3A"/>
            </a:solidFill>
            <a:prstDash val="solid"/>
          </a:ln>
        </p:spPr>
      </p:sp>
      <p:sp>
        <p:nvSpPr>
          <p:cNvPr id="12" name="Text 10"/>
          <p:cNvSpPr/>
          <p:nvPr/>
        </p:nvSpPr>
        <p:spPr>
          <a:xfrm>
            <a:off x="1171575" y="3398490"/>
            <a:ext cx="8434387"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Sensitive Information</a:t>
            </a:r>
            <a:endParaRPr lang="en-US" sz="1875" dirty="0"/>
          </a:p>
        </p:txBody>
      </p:sp>
      <p:sp>
        <p:nvSpPr>
          <p:cNvPr id="13" name="Text 11"/>
          <p:cNvSpPr/>
          <p:nvPr/>
        </p:nvSpPr>
        <p:spPr>
          <a:xfrm>
            <a:off x="1171575" y="3755678"/>
            <a:ext cx="8434387"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Health, financial or other information that could cause harm if exposed.</a:t>
            </a:r>
            <a:endParaRPr lang="en-US" sz="1800" dirty="0"/>
          </a:p>
        </p:txBody>
      </p:sp>
      <p:sp>
        <p:nvSpPr>
          <p:cNvPr id="14" name="Shape 12"/>
          <p:cNvSpPr/>
          <p:nvPr/>
        </p:nvSpPr>
        <p:spPr>
          <a:xfrm>
            <a:off x="9229725" y="3179415"/>
            <a:ext cx="8105775" cy="1138238"/>
          </a:xfrm>
          <a:prstGeom prst="roundRect">
            <a:avLst>
              <a:gd name="adj" fmla="val 13389"/>
            </a:avLst>
          </a:prstGeom>
          <a:solidFill>
            <a:srgbClr val="FFFFFF">
              <a:alpha val="2000"/>
            </a:srgbClr>
          </a:solidFill>
          <a:ln w="9525">
            <a:solidFill>
              <a:srgbClr val="2A2F3A"/>
            </a:solidFill>
            <a:prstDash val="solid"/>
          </a:ln>
        </p:spPr>
      </p:sp>
      <p:sp>
        <p:nvSpPr>
          <p:cNvPr id="15" name="Text 13"/>
          <p:cNvSpPr/>
          <p:nvPr/>
        </p:nvSpPr>
        <p:spPr>
          <a:xfrm>
            <a:off x="9448800" y="3398490"/>
            <a:ext cx="8434387"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Regulated Information</a:t>
            </a:r>
            <a:endParaRPr lang="en-US" sz="1875" dirty="0"/>
          </a:p>
        </p:txBody>
      </p:sp>
      <p:sp>
        <p:nvSpPr>
          <p:cNvPr id="16" name="Text 14"/>
          <p:cNvSpPr/>
          <p:nvPr/>
        </p:nvSpPr>
        <p:spPr>
          <a:xfrm>
            <a:off x="9448800" y="3755678"/>
            <a:ext cx="8434387"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Information subject to specific legal protection requirements.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7.1 PROTECTING SENSITIVE INFORMATION</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Why "Approved" Matters More Than "Useful"</a:t>
            </a:r>
            <a:endParaRPr lang="en-US" sz="3150" dirty="0"/>
          </a:p>
        </p:txBody>
      </p:sp>
      <p:sp>
        <p:nvSpPr>
          <p:cNvPr id="5" name="Text 3"/>
          <p:cNvSpPr/>
          <p:nvPr/>
        </p:nvSpPr>
        <p:spPr>
          <a:xfrm>
            <a:off x="952500" y="1831628"/>
            <a:ext cx="12753975" cy="891480"/>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An organisation approves specific AI tools because it has checked how they handle data. An unapproved tool — even a well-known, widely used one — hasn't had that check, so its handling of sensitive input is unknown.</a:t>
            </a:r>
            <a:endParaRPr lang="en-US" sz="2100" dirty="0"/>
          </a:p>
        </p:txBody>
      </p:sp>
      <p:sp>
        <p:nvSpPr>
          <p:cNvPr id="6" name="Shape 4"/>
          <p:cNvSpPr/>
          <p:nvPr/>
        </p:nvSpPr>
        <p:spPr>
          <a:xfrm>
            <a:off x="952500" y="297075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20888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Watch For</a:t>
            </a:r>
            <a:endParaRPr lang="en-US" sz="1800" dirty="0"/>
          </a:p>
        </p:txBody>
      </p:sp>
      <p:sp>
        <p:nvSpPr>
          <p:cNvPr id="8" name="Text 6"/>
          <p:cNvSpPr/>
          <p:nvPr/>
        </p:nvSpPr>
        <p:spPr>
          <a:xfrm>
            <a:off x="1190625" y="357083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 tool being popular or convenient says nothing about whether it's approved for sensitive data at your organisation.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49130"/>
            <a:ext cx="38100" cy="1588740"/>
          </a:xfrm>
          <a:prstGeom prst="rect">
            <a:avLst/>
          </a:prstGeom>
          <a:solidFill>
            <a:srgbClr val="FF6A00"/>
          </a:solidFill>
          <a:ln/>
        </p:spPr>
      </p:sp>
      <p:sp>
        <p:nvSpPr>
          <p:cNvPr id="4" name="Text 2"/>
          <p:cNvSpPr/>
          <p:nvPr/>
        </p:nvSpPr>
        <p:spPr>
          <a:xfrm>
            <a:off x="1333500" y="4425330"/>
            <a:ext cx="13735050" cy="998190"/>
          </a:xfrm>
          <a:prstGeom prst="rect">
            <a:avLst/>
          </a:prstGeom>
          <a:noFill/>
          <a:ln/>
        </p:spPr>
        <p:txBody>
          <a:bodyPr wrap="square" lIns="25400" tIns="25400" rIns="25400" bIns="25400" rtlCol="0" anchor="t">
            <a:normAutofit/>
          </a:bodyPr>
          <a:lstStyle/>
          <a:p>
            <a:pPr algn="l" indent="0" marL="0">
              <a:lnSpc>
                <a:spcPct val="122927"/>
              </a:lnSpc>
              <a:buNone/>
            </a:pPr>
            <a:r>
              <a:rPr lang="en-US" sz="2700" b="1" dirty="0">
                <a:solidFill>
                  <a:srgbClr val="F5F7FB"/>
                </a:solidFill>
                <a:latin typeface="Arial" pitchFamily="34" charset="0"/>
                <a:ea typeface="Arial" pitchFamily="34" charset="-122"/>
                <a:cs typeface="Arial" pitchFamily="34" charset="-120"/>
              </a:rPr>
              <a:t>"Personal, confidential, sensitive or regulated information belongs only in AI tools your organisation has approved."</a:t>
            </a:r>
            <a:endParaRPr lang="en-US" sz="2700" dirty="0"/>
          </a:p>
        </p:txBody>
      </p:sp>
      <p:sp>
        <p:nvSpPr>
          <p:cNvPr id="5" name="Text 3"/>
          <p:cNvSpPr/>
          <p:nvPr/>
        </p:nvSpPr>
        <p:spPr>
          <a:xfrm>
            <a:off x="1333500" y="559497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7.1</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40399" y="4586734"/>
            <a:ext cx="5407127"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7.2 · SUB-OBJECTIVE 2 OF 6</a:t>
            </a:r>
            <a:endParaRPr lang="en-US" sz="1950" dirty="0"/>
          </a:p>
        </p:txBody>
      </p:sp>
      <p:sp>
        <p:nvSpPr>
          <p:cNvPr id="4" name="Text 2"/>
          <p:cNvSpPr/>
          <p:nvPr/>
        </p:nvSpPr>
        <p:spPr>
          <a:xfrm>
            <a:off x="3324813" y="5086796"/>
            <a:ext cx="11638374"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How Inputs Are Stored And Data Leakage</a:t>
            </a:r>
            <a:endParaRPr lang="en-US" sz="4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7.2 HOW INPUTS ARE STORED AND USED</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What Can Happen To What You Type In</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Depending on the tool and its settings, what you enter may be logged, stored, reviewed by staff, or in some cases used to improve future versions of the model. This varies significantly between tools and configurations — which is exactly why approval matters.</a:t>
            </a:r>
            <a:endParaRPr lang="en-US" sz="2100" dirty="0"/>
          </a:p>
        </p:txBody>
      </p:sp>
      <p:sp>
        <p:nvSpPr>
          <p:cNvPr id="6" name="Shape 4"/>
          <p:cNvSpPr/>
          <p:nvPr/>
        </p:nvSpPr>
        <p:spPr>
          <a:xfrm>
            <a:off x="952500" y="339744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63557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Watch For</a:t>
            </a:r>
            <a:endParaRPr lang="en-US" sz="1800" dirty="0"/>
          </a:p>
        </p:txBody>
      </p:sp>
      <p:sp>
        <p:nvSpPr>
          <p:cNvPr id="8" name="Text 6"/>
          <p:cNvSpPr/>
          <p:nvPr/>
        </p:nvSpPr>
        <p:spPr>
          <a:xfrm>
            <a:off x="1190625" y="399752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Once information is entered into a tool, you generally can't control where it goes next — treat submission as a one-way action.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7.2 HOW INPUTS ARE STORED AND USED</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What Is Data Leakage?</a:t>
            </a:r>
            <a:endParaRPr lang="en-US" sz="3150" dirty="0"/>
          </a:p>
        </p:txBody>
      </p:sp>
      <p:sp>
        <p:nvSpPr>
          <p:cNvPr id="5" name="Text 3"/>
          <p:cNvSpPr/>
          <p:nvPr/>
        </p:nvSpPr>
        <p:spPr>
          <a:xfrm>
            <a:off x="952500" y="1831628"/>
            <a:ext cx="12753975" cy="891480"/>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Data leakage is when confidential or sensitive information ends up somewhere it shouldn't — for example, exposed to other users, retained beyond where it should be, or later surfacing in an AI tool's output.</a:t>
            </a:r>
            <a:endParaRPr lang="en-US" sz="2100" dirty="0"/>
          </a:p>
        </p:txBody>
      </p:sp>
      <p:sp>
        <p:nvSpPr>
          <p:cNvPr id="6" name="Shape 4"/>
          <p:cNvSpPr/>
          <p:nvPr/>
        </p:nvSpPr>
        <p:spPr>
          <a:xfrm>
            <a:off x="952500" y="297075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20888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357083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Pasting an unreleased product plan into an unapproved AI tool, where it may be stored beyond your control.</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"Data leakage is confidential or sensitive information ending up somewhere it shouldn't — treat every submission as a one-way action."</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7.2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34751" y="4586734"/>
            <a:ext cx="5418423"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7.3 · SUB-OBJECTIVE 3 OF 6</a:t>
            </a:r>
            <a:endParaRPr lang="en-US" sz="1950" dirty="0"/>
          </a:p>
        </p:txBody>
      </p:sp>
      <p:sp>
        <p:nvSpPr>
          <p:cNvPr id="4" name="Text 2"/>
          <p:cNvSpPr/>
          <p:nvPr/>
        </p:nvSpPr>
        <p:spPr>
          <a:xfrm>
            <a:off x="7628528" y="5086796"/>
            <a:ext cx="3030944"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Shadow AI</a:t>
            </a:r>
            <a:endParaRPr lang="en-US" sz="4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7.3 SHADOW AI</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Unsanctioned Tools, Used With Good Intentions</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Shadow AI is the use of AI tools that haven't been reviewed or approved by an organisation — often adopted informally by employees trying to work faster, with no bad intent, but without the checks that approval would normally involve.</a:t>
            </a:r>
            <a:endParaRPr lang="en-US" sz="2100" dirty="0"/>
          </a:p>
        </p:txBody>
      </p:sp>
      <p:sp>
        <p:nvSpPr>
          <p:cNvPr id="6" name="Shape 4"/>
          <p:cNvSpPr/>
          <p:nvPr/>
        </p:nvSpPr>
        <p:spPr>
          <a:xfrm>
            <a:off x="952500" y="339744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63557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399752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An employee signs up for a free AI writing tool to speed up a task, without asking whether it's permitted.</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7.3 SHADOW AI</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Why It Creates Risk</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An unapproved tool hasn't been checked for how it handles data (7.1), which makes data leakage (7.2) more likely — and because the organisation doesn't know the tool is in use, nobody is positioned to catch or respond to a problem.</a:t>
            </a:r>
            <a:endParaRPr lang="en-US" sz="2100" dirty="0"/>
          </a:p>
        </p:txBody>
      </p:sp>
      <p:sp>
        <p:nvSpPr>
          <p:cNvPr id="6" name="Shape 4"/>
          <p:cNvSpPr/>
          <p:nvPr/>
        </p:nvSpPr>
        <p:spPr>
          <a:xfrm>
            <a:off x="952500" y="3397448"/>
            <a:ext cx="16383000" cy="819150"/>
          </a:xfrm>
          <a:prstGeom prst="roundRect">
            <a:avLst>
              <a:gd name="adj" fmla="val 18605"/>
            </a:avLst>
          </a:prstGeom>
          <a:solidFill>
            <a:srgbClr val="FF6A00">
              <a:alpha val="8000"/>
            </a:srgbClr>
          </a:solidFill>
          <a:ln w="9525">
            <a:solidFill>
              <a:srgbClr val="B85100"/>
            </a:solidFill>
            <a:prstDash val="solid"/>
          </a:ln>
        </p:spPr>
      </p:sp>
      <p:sp>
        <p:nvSpPr>
          <p:cNvPr id="7" name="Text 5"/>
          <p:cNvSpPr/>
          <p:nvPr/>
        </p:nvSpPr>
        <p:spPr>
          <a:xfrm>
            <a:off x="1190625" y="3635573"/>
            <a:ext cx="1639824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Shadow AI isn't a sign of bad intent — it's usually well-meaning employees trying to work faster. The risk comes from the lack of visibility, not the motive.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"Shadow AI is unsanctioned tool use — the risk comes from the lack of visibility, not from bad intent."</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7.3</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26235" y="4586734"/>
            <a:ext cx="5435531"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7.4 · SUB-OBJECTIVE 4 OF 6</a:t>
            </a:r>
            <a:endParaRPr lang="en-US" sz="1950" dirty="0"/>
          </a:p>
        </p:txBody>
      </p:sp>
      <p:sp>
        <p:nvSpPr>
          <p:cNvPr id="4" name="Text 2"/>
          <p:cNvSpPr/>
          <p:nvPr/>
        </p:nvSpPr>
        <p:spPr>
          <a:xfrm>
            <a:off x="6401105" y="5086796"/>
            <a:ext cx="5485790"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AI-Enabled Threats</a:t>
            </a:r>
            <a:endParaRPr lang="en-US" sz="4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7.4 AI-ENABLED THREATS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Recognising Three Common Threats</a:t>
            </a:r>
            <a:endParaRPr lang="en-US" sz="3150" dirty="0"/>
          </a:p>
        </p:txBody>
      </p:sp>
      <p:sp>
        <p:nvSpPr>
          <p:cNvPr id="5" name="Shape 3"/>
          <p:cNvSpPr/>
          <p:nvPr/>
        </p:nvSpPr>
        <p:spPr>
          <a:xfrm>
            <a:off x="952500" y="1869728"/>
            <a:ext cx="5346650" cy="1481138"/>
          </a:xfrm>
          <a:prstGeom prst="roundRect">
            <a:avLst>
              <a:gd name="adj" fmla="val 10289"/>
            </a:avLst>
          </a:prstGeom>
          <a:solidFill>
            <a:srgbClr val="FFFFFF">
              <a:alpha val="2000"/>
            </a:srgbClr>
          </a:solidFill>
          <a:ln w="9525">
            <a:solidFill>
              <a:srgbClr val="2A2F3A"/>
            </a:solidFill>
            <a:prstDash val="solid"/>
          </a:ln>
        </p:spPr>
      </p:sp>
      <p:sp>
        <p:nvSpPr>
          <p:cNvPr id="6" name="Text 4"/>
          <p:cNvSpPr/>
          <p:nvPr/>
        </p:nvSpPr>
        <p:spPr>
          <a:xfrm>
            <a:off x="1171575" y="2088803"/>
            <a:ext cx="539935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Deepfakes</a:t>
            </a:r>
            <a:endParaRPr lang="en-US" sz="1875" dirty="0"/>
          </a:p>
        </p:txBody>
      </p:sp>
      <p:sp>
        <p:nvSpPr>
          <p:cNvPr id="7" name="Text 5"/>
          <p:cNvSpPr/>
          <p:nvPr/>
        </p:nvSpPr>
        <p:spPr>
          <a:xfrm>
            <a:off x="1171575" y="2445990"/>
            <a:ext cx="5055755"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Realistic but fake AI-generated images, audio or video of a real person, used to deceive.</a:t>
            </a:r>
            <a:endParaRPr lang="en-US" sz="1800" dirty="0"/>
          </a:p>
        </p:txBody>
      </p:sp>
      <p:sp>
        <p:nvSpPr>
          <p:cNvPr id="8" name="Shape 6"/>
          <p:cNvSpPr/>
          <p:nvPr/>
        </p:nvSpPr>
        <p:spPr>
          <a:xfrm>
            <a:off x="6470600" y="1869728"/>
            <a:ext cx="5346725" cy="1481138"/>
          </a:xfrm>
          <a:prstGeom prst="roundRect">
            <a:avLst>
              <a:gd name="adj" fmla="val 10289"/>
            </a:avLst>
          </a:prstGeom>
          <a:solidFill>
            <a:srgbClr val="FFFFFF">
              <a:alpha val="2000"/>
            </a:srgbClr>
          </a:solidFill>
          <a:ln w="9525">
            <a:solidFill>
              <a:srgbClr val="2A2F3A"/>
            </a:solidFill>
            <a:prstDash val="solid"/>
          </a:ln>
        </p:spPr>
      </p:sp>
      <p:sp>
        <p:nvSpPr>
          <p:cNvPr id="9" name="Text 7"/>
          <p:cNvSpPr/>
          <p:nvPr/>
        </p:nvSpPr>
        <p:spPr>
          <a:xfrm>
            <a:off x="6689675" y="2088803"/>
            <a:ext cx="5399432"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AI-Assisted Phishing &amp; Social Engineering</a:t>
            </a:r>
            <a:endParaRPr lang="en-US" sz="1875" dirty="0"/>
          </a:p>
        </p:txBody>
      </p:sp>
      <p:sp>
        <p:nvSpPr>
          <p:cNvPr id="10" name="Text 8"/>
          <p:cNvSpPr/>
          <p:nvPr/>
        </p:nvSpPr>
        <p:spPr>
          <a:xfrm>
            <a:off x="6689675" y="2445990"/>
            <a:ext cx="5055832"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AI used to write highly convincing, personalised scam messages at scale.</a:t>
            </a:r>
            <a:endParaRPr lang="en-US" sz="1800" dirty="0"/>
          </a:p>
        </p:txBody>
      </p:sp>
      <p:sp>
        <p:nvSpPr>
          <p:cNvPr id="11" name="Shape 9"/>
          <p:cNvSpPr/>
          <p:nvPr/>
        </p:nvSpPr>
        <p:spPr>
          <a:xfrm>
            <a:off x="11988775" y="1869728"/>
            <a:ext cx="5346650" cy="1481138"/>
          </a:xfrm>
          <a:prstGeom prst="roundRect">
            <a:avLst>
              <a:gd name="adj" fmla="val 10289"/>
            </a:avLst>
          </a:prstGeom>
          <a:solidFill>
            <a:srgbClr val="FFFFFF">
              <a:alpha val="2000"/>
            </a:srgbClr>
          </a:solidFill>
          <a:ln w="9525">
            <a:solidFill>
              <a:srgbClr val="2A2F3A"/>
            </a:solidFill>
            <a:prstDash val="solid"/>
          </a:ln>
        </p:spPr>
      </p:sp>
      <p:sp>
        <p:nvSpPr>
          <p:cNvPr id="12" name="Text 10"/>
          <p:cNvSpPr/>
          <p:nvPr/>
        </p:nvSpPr>
        <p:spPr>
          <a:xfrm>
            <a:off x="12207850" y="2088803"/>
            <a:ext cx="539935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Misinformation</a:t>
            </a:r>
            <a:endParaRPr lang="en-US" sz="1875" dirty="0"/>
          </a:p>
        </p:txBody>
      </p:sp>
      <p:sp>
        <p:nvSpPr>
          <p:cNvPr id="13" name="Text 11"/>
          <p:cNvSpPr/>
          <p:nvPr/>
        </p:nvSpPr>
        <p:spPr>
          <a:xfrm>
            <a:off x="12207850" y="2445990"/>
            <a:ext cx="5055755"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AI-generated false content that looks credible enough to spread and be believed.</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7.4 AI-ENABLED THREATS</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Spot The Pattern</a:t>
            </a:r>
            <a:endParaRPr lang="en-US" sz="2850" dirty="0"/>
          </a:p>
        </p:txBody>
      </p:sp>
      <p:sp>
        <p:nvSpPr>
          <p:cNvPr id="5" name="Shape 3"/>
          <p:cNvSpPr/>
          <p:nvPr/>
        </p:nvSpPr>
        <p:spPr>
          <a:xfrm>
            <a:off x="952500" y="1825898"/>
            <a:ext cx="16383000" cy="1001985"/>
          </a:xfrm>
          <a:prstGeom prst="roundRect">
            <a:avLst>
              <a:gd name="adj" fmla="val 15210"/>
            </a:avLst>
          </a:prstGeom>
          <a:solidFill>
            <a:srgbClr val="FFFFFF">
              <a:alpha val="2000"/>
            </a:srgbClr>
          </a:solidFill>
          <a:ln w="9525">
            <a:solidFill>
              <a:srgbClr val="2A2F3A"/>
            </a:solidFill>
            <a:prstDash val="solid"/>
          </a:ln>
        </p:spPr>
      </p:sp>
      <p:sp>
        <p:nvSpPr>
          <p:cNvPr id="6" name="Text 4"/>
          <p:cNvSpPr/>
          <p:nvPr/>
        </p:nvSpPr>
        <p:spPr>
          <a:xfrm>
            <a:off x="1247775" y="2121173"/>
            <a:ext cx="16283940" cy="449535"/>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You receive an urgent voice message that sounds exactly like your manager, asking you to transfer funds immediately and to keep it quiet.</a:t>
            </a:r>
            <a:endParaRPr lang="en-US" sz="2025" dirty="0"/>
          </a:p>
        </p:txBody>
      </p:sp>
      <p:sp>
        <p:nvSpPr>
          <p:cNvPr id="7" name="Text 5"/>
          <p:cNvSpPr/>
          <p:nvPr/>
        </p:nvSpPr>
        <p:spPr>
          <a:xfrm>
            <a:off x="952500" y="3056483"/>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DISCUSS</a:t>
            </a:r>
            <a:endParaRPr lang="en-US" sz="1800" dirty="0"/>
          </a:p>
        </p:txBody>
      </p:sp>
      <p:sp>
        <p:nvSpPr>
          <p:cNvPr id="8" name="Text 6"/>
          <p:cNvSpPr/>
          <p:nvPr/>
        </p:nvSpPr>
        <p:spPr>
          <a:xfrm>
            <a:off x="952500" y="3456533"/>
            <a:ext cx="18021300" cy="434280"/>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What threat category does this match, and what should you do before acting on it?</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"Deepfakes, AI-assisted phishing and misinformation all use AI to make deception more convincing and harder to spot."</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7.4</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35484" y="4586734"/>
            <a:ext cx="5417031"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7.5 · SUB-OBJECTIVE 5 OF 6</a:t>
            </a:r>
            <a:endParaRPr lang="en-US" sz="1950" dirty="0"/>
          </a:p>
        </p:txBody>
      </p:sp>
      <p:sp>
        <p:nvSpPr>
          <p:cNvPr id="4" name="Text 2"/>
          <p:cNvSpPr/>
          <p:nvPr/>
        </p:nvSpPr>
        <p:spPr>
          <a:xfrm>
            <a:off x="3353135" y="5086796"/>
            <a:ext cx="11581730"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Prompt Injection And Manipulated Inputs</a:t>
            </a:r>
            <a:endParaRPr lang="en-US" sz="4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7.5 PROMPT INJECTION AND MANIPULATED INPUTS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Hidden Instructions In What An AI Tool Reads</a:t>
            </a:r>
            <a:endParaRPr lang="en-US" sz="3150" dirty="0"/>
          </a:p>
        </p:txBody>
      </p:sp>
      <p:sp>
        <p:nvSpPr>
          <p:cNvPr id="5" name="Text 3"/>
          <p:cNvSpPr/>
          <p:nvPr/>
        </p:nvSpPr>
        <p:spPr>
          <a:xfrm>
            <a:off x="952500" y="1831628"/>
            <a:ext cx="12753975" cy="891480"/>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Prompt injection is when hidden or disguised instructions are placed inside content an AI tool processes — a webpage, a document, an email — attempting to make it act against the user's actual intent.</a:t>
            </a:r>
            <a:endParaRPr lang="en-US" sz="2100" dirty="0"/>
          </a:p>
        </p:txBody>
      </p:sp>
      <p:sp>
        <p:nvSpPr>
          <p:cNvPr id="6" name="Shape 4"/>
          <p:cNvSpPr/>
          <p:nvPr/>
        </p:nvSpPr>
        <p:spPr>
          <a:xfrm>
            <a:off x="952500" y="297075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20888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357083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 webpage containing hidden text instructing any AI tool that reads it to ignore its original task and follow new instructions instead.</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7.5 PROMPT INJECTION AND MANIPULATED INPUTS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Why Foundation-Level Awareness Is Enough</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Detecting or preventing prompt injection is a technical, tool-provider responsibility. What matters at this level is knowing the category exists: AI tools that read external content can be manipulated by what that content contains.</a:t>
            </a:r>
            <a:endParaRPr lang="en-US" sz="2100" dirty="0"/>
          </a:p>
        </p:txBody>
      </p:sp>
      <p:sp>
        <p:nvSpPr>
          <p:cNvPr id="6" name="Shape 4"/>
          <p:cNvSpPr/>
          <p:nvPr/>
        </p:nvSpPr>
        <p:spPr>
          <a:xfrm>
            <a:off x="952500" y="339744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63557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Watch For</a:t>
            </a:r>
            <a:endParaRPr lang="en-US" sz="1800" dirty="0"/>
          </a:p>
        </p:txBody>
      </p:sp>
      <p:sp>
        <p:nvSpPr>
          <p:cNvPr id="8" name="Text 6"/>
          <p:cNvSpPr/>
          <p:nvPr/>
        </p:nvSpPr>
        <p:spPr>
          <a:xfrm>
            <a:off x="1190625" y="399752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If an AI tool's behaviour changes unexpectedly after reading a document or webpage, treat the output with extra caution.</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49130"/>
            <a:ext cx="38100" cy="1588740"/>
          </a:xfrm>
          <a:prstGeom prst="rect">
            <a:avLst/>
          </a:prstGeom>
          <a:solidFill>
            <a:srgbClr val="FF6A00"/>
          </a:solidFill>
          <a:ln/>
        </p:spPr>
      </p:sp>
      <p:sp>
        <p:nvSpPr>
          <p:cNvPr id="4" name="Text 2"/>
          <p:cNvSpPr/>
          <p:nvPr/>
        </p:nvSpPr>
        <p:spPr>
          <a:xfrm>
            <a:off x="1333500" y="4425330"/>
            <a:ext cx="13735050" cy="998190"/>
          </a:xfrm>
          <a:prstGeom prst="rect">
            <a:avLst/>
          </a:prstGeom>
          <a:noFill/>
          <a:ln/>
        </p:spPr>
        <p:txBody>
          <a:bodyPr wrap="square" lIns="25400" tIns="25400" rIns="25400" bIns="25400" rtlCol="0" anchor="t">
            <a:normAutofit/>
          </a:bodyPr>
          <a:lstStyle/>
          <a:p>
            <a:pPr algn="l" indent="0" marL="0">
              <a:lnSpc>
                <a:spcPct val="122927"/>
              </a:lnSpc>
              <a:buNone/>
            </a:pPr>
            <a:r>
              <a:rPr lang="en-US" sz="2700" b="1" dirty="0">
                <a:solidFill>
                  <a:srgbClr val="F5F7FB"/>
                </a:solidFill>
                <a:latin typeface="Arial" pitchFamily="34" charset="0"/>
                <a:ea typeface="Arial" pitchFamily="34" charset="-122"/>
                <a:cs typeface="Arial" pitchFamily="34" charset="-120"/>
              </a:rPr>
              <a:t>"Prompt injection hides instructions inside content an AI tool reads — a category of risk worth knowing exists, not something to detect yourself."</a:t>
            </a:r>
            <a:endParaRPr lang="en-US" sz="2700" dirty="0"/>
          </a:p>
        </p:txBody>
      </p:sp>
      <p:sp>
        <p:nvSpPr>
          <p:cNvPr id="5" name="Text 3"/>
          <p:cNvSpPr/>
          <p:nvPr/>
        </p:nvSpPr>
        <p:spPr>
          <a:xfrm>
            <a:off x="1333500" y="559497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7.5</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30331" y="4586734"/>
            <a:ext cx="5427263"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7.6 · SUB-OBJECTIVE 6 OF 6</a:t>
            </a:r>
            <a:endParaRPr lang="en-US" sz="1950" dirty="0"/>
          </a:p>
        </p:txBody>
      </p:sp>
      <p:sp>
        <p:nvSpPr>
          <p:cNvPr id="4" name="Text 2"/>
          <p:cNvSpPr/>
          <p:nvPr/>
        </p:nvSpPr>
        <p:spPr>
          <a:xfrm>
            <a:off x="6257776" y="5086796"/>
            <a:ext cx="5772448"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Basic Safe Practices</a:t>
            </a:r>
            <a:endParaRPr lang="en-US" sz="4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7.6 BASIC SAFE PRACTICES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Three Habits That Cover Most Everyday Risk</a:t>
            </a:r>
            <a:endParaRPr lang="en-US" sz="3150" dirty="0"/>
          </a:p>
        </p:txBody>
      </p:sp>
      <p:sp>
        <p:nvSpPr>
          <p:cNvPr id="5" name="Shape 3"/>
          <p:cNvSpPr/>
          <p:nvPr/>
        </p:nvSpPr>
        <p:spPr>
          <a:xfrm>
            <a:off x="952500" y="1869728"/>
            <a:ext cx="16383000" cy="1119188"/>
          </a:xfrm>
          <a:prstGeom prst="roundRect">
            <a:avLst>
              <a:gd name="adj" fmla="val 13617"/>
            </a:avLst>
          </a:prstGeom>
          <a:solidFill>
            <a:srgbClr val="FFFFFF">
              <a:alpha val="2000"/>
            </a:srgbClr>
          </a:solidFill>
          <a:ln w="9525">
            <a:solidFill>
              <a:srgbClr val="2A2F3A"/>
            </a:solidFill>
            <a:prstDash val="solid"/>
          </a:ln>
        </p:spPr>
      </p:sp>
      <p:sp>
        <p:nvSpPr>
          <p:cNvPr id="6" name="Text 4"/>
          <p:cNvSpPr/>
          <p:nvPr/>
        </p:nvSpPr>
        <p:spPr>
          <a:xfrm>
            <a:off x="1209675" y="2088803"/>
            <a:ext cx="1745551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Use Approved Tools Only</a:t>
            </a:r>
            <a:endParaRPr lang="en-US" sz="1875" dirty="0"/>
          </a:p>
        </p:txBody>
      </p:sp>
      <p:sp>
        <p:nvSpPr>
          <p:cNvPr id="7" name="Text 5"/>
          <p:cNvSpPr/>
          <p:nvPr/>
        </p:nvSpPr>
        <p:spPr>
          <a:xfrm>
            <a:off x="1209675" y="2426940"/>
            <a:ext cx="1745551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If unsure whether a tool is approved, ask before entering anything beyond fully public information.</a:t>
            </a:r>
            <a:endParaRPr lang="en-US" sz="1800" dirty="0"/>
          </a:p>
        </p:txBody>
      </p:sp>
      <p:sp>
        <p:nvSpPr>
          <p:cNvPr id="8" name="Shape 6"/>
          <p:cNvSpPr/>
          <p:nvPr/>
        </p:nvSpPr>
        <p:spPr>
          <a:xfrm>
            <a:off x="952500" y="3141315"/>
            <a:ext cx="16383000" cy="1119188"/>
          </a:xfrm>
          <a:prstGeom prst="roundRect">
            <a:avLst>
              <a:gd name="adj" fmla="val 13617"/>
            </a:avLst>
          </a:prstGeom>
          <a:solidFill>
            <a:srgbClr val="FFFFFF">
              <a:alpha val="2000"/>
            </a:srgbClr>
          </a:solidFill>
          <a:ln w="9525">
            <a:solidFill>
              <a:srgbClr val="2A2F3A"/>
            </a:solidFill>
            <a:prstDash val="solid"/>
          </a:ln>
        </p:spPr>
      </p:sp>
      <p:sp>
        <p:nvSpPr>
          <p:cNvPr id="9" name="Text 7"/>
          <p:cNvSpPr/>
          <p:nvPr/>
        </p:nvSpPr>
        <p:spPr>
          <a:xfrm>
            <a:off x="1209675" y="3360390"/>
            <a:ext cx="1745551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Protect Account Access And Credentials</a:t>
            </a:r>
            <a:endParaRPr lang="en-US" sz="1875" dirty="0"/>
          </a:p>
        </p:txBody>
      </p:sp>
      <p:sp>
        <p:nvSpPr>
          <p:cNvPr id="10" name="Text 8"/>
          <p:cNvSpPr/>
          <p:nvPr/>
        </p:nvSpPr>
        <p:spPr>
          <a:xfrm>
            <a:off x="1209675" y="3698528"/>
            <a:ext cx="1745551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Treat AI tool logins like any other account — strong, unique credentials, and never shared.</a:t>
            </a:r>
            <a:endParaRPr lang="en-US" sz="1800" dirty="0"/>
          </a:p>
        </p:txBody>
      </p:sp>
      <p:sp>
        <p:nvSpPr>
          <p:cNvPr id="11" name="Shape 9"/>
          <p:cNvSpPr/>
          <p:nvPr/>
        </p:nvSpPr>
        <p:spPr>
          <a:xfrm>
            <a:off x="952500" y="4412903"/>
            <a:ext cx="16383000" cy="1119188"/>
          </a:xfrm>
          <a:prstGeom prst="roundRect">
            <a:avLst>
              <a:gd name="adj" fmla="val 13617"/>
            </a:avLst>
          </a:prstGeom>
          <a:solidFill>
            <a:srgbClr val="FFFFFF">
              <a:alpha val="2000"/>
            </a:srgbClr>
          </a:solidFill>
          <a:ln w="9525">
            <a:solidFill>
              <a:srgbClr val="2A2F3A"/>
            </a:solidFill>
            <a:prstDash val="solid"/>
          </a:ln>
        </p:spPr>
      </p:sp>
      <p:sp>
        <p:nvSpPr>
          <p:cNvPr id="12" name="Text 10"/>
          <p:cNvSpPr/>
          <p:nvPr/>
        </p:nvSpPr>
        <p:spPr>
          <a:xfrm>
            <a:off x="1209675" y="4631978"/>
            <a:ext cx="17455515"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Follow Data-Classification And Handling Rules</a:t>
            </a:r>
            <a:endParaRPr lang="en-US" sz="1875" dirty="0"/>
          </a:p>
        </p:txBody>
      </p:sp>
      <p:sp>
        <p:nvSpPr>
          <p:cNvPr id="13" name="Text 11"/>
          <p:cNvSpPr/>
          <p:nvPr/>
        </p:nvSpPr>
        <p:spPr>
          <a:xfrm>
            <a:off x="1209675" y="4970115"/>
            <a:ext cx="1745551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Apply your organisation's existing rules for what data can go where — AI tools are not an exception to those rules.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"Use approved tools, protect account credentials, and follow your organisation's existing data-handling rules — AI tools are not an exception."</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7.6</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PRACTICAL APPLICATION</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Safe Practice, Or Not?</a:t>
            </a:r>
            <a:endParaRPr lang="en-US" sz="2850" dirty="0"/>
          </a:p>
        </p:txBody>
      </p:sp>
      <p:sp>
        <p:nvSpPr>
          <p:cNvPr id="5" name="Shape 3"/>
          <p:cNvSpPr/>
          <p:nvPr/>
        </p:nvSpPr>
        <p:spPr>
          <a:xfrm>
            <a:off x="952500" y="1806848"/>
            <a:ext cx="8115300" cy="666750"/>
          </a:xfrm>
          <a:prstGeom prst="roundRect">
            <a:avLst>
              <a:gd name="adj" fmla="val 20000"/>
            </a:avLst>
          </a:prstGeom>
          <a:solidFill>
            <a:srgbClr val="FFFFFF">
              <a:alpha val="2000"/>
            </a:srgbClr>
          </a:solidFill>
          <a:ln w="9525">
            <a:solidFill>
              <a:srgbClr val="2A2F3A"/>
            </a:solidFill>
            <a:prstDash val="solid"/>
          </a:ln>
        </p:spPr>
      </p:sp>
      <p:sp>
        <p:nvSpPr>
          <p:cNvPr id="6" name="Text 4"/>
          <p:cNvSpPr/>
          <p:nvPr/>
        </p:nvSpPr>
        <p:spPr>
          <a:xfrm>
            <a:off x="1152525" y="200687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Pasting a customer's medical details into a free public AI tool to draft a reply</a:t>
            </a:r>
            <a:endParaRPr lang="en-US" sz="1800" dirty="0"/>
          </a:p>
        </p:txBody>
      </p:sp>
      <p:sp>
        <p:nvSpPr>
          <p:cNvPr id="7" name="Shape 5"/>
          <p:cNvSpPr/>
          <p:nvPr/>
        </p:nvSpPr>
        <p:spPr>
          <a:xfrm>
            <a:off x="9220200" y="1806848"/>
            <a:ext cx="8115300" cy="666750"/>
          </a:xfrm>
          <a:prstGeom prst="roundRect">
            <a:avLst>
              <a:gd name="adj" fmla="val 20000"/>
            </a:avLst>
          </a:prstGeom>
          <a:solidFill>
            <a:srgbClr val="FFFFFF">
              <a:alpha val="2000"/>
            </a:srgbClr>
          </a:solidFill>
          <a:ln w="9525">
            <a:solidFill>
              <a:srgbClr val="2A2F3A"/>
            </a:solidFill>
            <a:prstDash val="solid"/>
          </a:ln>
        </p:spPr>
      </p:sp>
      <p:sp>
        <p:nvSpPr>
          <p:cNvPr id="8" name="Text 6"/>
          <p:cNvSpPr/>
          <p:nvPr/>
        </p:nvSpPr>
        <p:spPr>
          <a:xfrm>
            <a:off x="9420225" y="200687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Using your organisation's approved AI assistant for an internal task</a:t>
            </a:r>
            <a:endParaRPr lang="en-US" sz="1800" dirty="0"/>
          </a:p>
        </p:txBody>
      </p:sp>
      <p:sp>
        <p:nvSpPr>
          <p:cNvPr id="9" name="Shape 7"/>
          <p:cNvSpPr/>
          <p:nvPr/>
        </p:nvSpPr>
        <p:spPr>
          <a:xfrm>
            <a:off x="952500" y="2625998"/>
            <a:ext cx="8115300" cy="933450"/>
          </a:xfrm>
          <a:prstGeom prst="roundRect">
            <a:avLst>
              <a:gd name="adj" fmla="val 14286"/>
            </a:avLst>
          </a:prstGeom>
          <a:solidFill>
            <a:srgbClr val="FFFFFF">
              <a:alpha val="2000"/>
            </a:srgbClr>
          </a:solidFill>
          <a:ln w="9525">
            <a:solidFill>
              <a:srgbClr val="2A2F3A"/>
            </a:solidFill>
            <a:prstDash val="solid"/>
          </a:ln>
        </p:spPr>
      </p:sp>
      <p:sp>
        <p:nvSpPr>
          <p:cNvPr id="10" name="Text 8"/>
          <p:cNvSpPr/>
          <p:nvPr/>
        </p:nvSpPr>
        <p:spPr>
          <a:xfrm>
            <a:off x="1152525" y="2826023"/>
            <a:ext cx="7958709" cy="5715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Signing up for a new AI tool yourself because it looks useful, without checking if it's permitted</a:t>
            </a:r>
            <a:endParaRPr lang="en-US" sz="1800" dirty="0"/>
          </a:p>
        </p:txBody>
      </p:sp>
      <p:sp>
        <p:nvSpPr>
          <p:cNvPr id="11" name="Shape 9"/>
          <p:cNvSpPr/>
          <p:nvPr/>
        </p:nvSpPr>
        <p:spPr>
          <a:xfrm>
            <a:off x="9220200" y="2625998"/>
            <a:ext cx="8115300" cy="933450"/>
          </a:xfrm>
          <a:prstGeom prst="roundRect">
            <a:avLst>
              <a:gd name="adj" fmla="val 14286"/>
            </a:avLst>
          </a:prstGeom>
          <a:solidFill>
            <a:srgbClr val="FFFFFF">
              <a:alpha val="2000"/>
            </a:srgbClr>
          </a:solidFill>
          <a:ln w="9525">
            <a:solidFill>
              <a:srgbClr val="2A2F3A"/>
            </a:solidFill>
            <a:prstDash val="solid"/>
          </a:ln>
        </p:spPr>
      </p:sp>
      <p:sp>
        <p:nvSpPr>
          <p:cNvPr id="12" name="Text 10"/>
          <p:cNvSpPr/>
          <p:nvPr/>
        </p:nvSpPr>
        <p:spPr>
          <a:xfrm>
            <a:off x="9420225" y="2826023"/>
            <a:ext cx="7958709" cy="5715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Asking IT or security whether a tool is approved before using it for work content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PRACTICAL APPLICATION</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Match Each Scenario To Its Threat</a:t>
            </a:r>
            <a:endParaRPr lang="en-US" sz="2850" dirty="0"/>
          </a:p>
        </p:txBody>
      </p:sp>
      <p:sp>
        <p:nvSpPr>
          <p:cNvPr id="5" name="Shape 3"/>
          <p:cNvSpPr/>
          <p:nvPr/>
        </p:nvSpPr>
        <p:spPr>
          <a:xfrm>
            <a:off x="952500" y="1806848"/>
            <a:ext cx="8115300" cy="933450"/>
          </a:xfrm>
          <a:prstGeom prst="roundRect">
            <a:avLst>
              <a:gd name="adj" fmla="val 14286"/>
            </a:avLst>
          </a:prstGeom>
          <a:solidFill>
            <a:srgbClr val="FFFFFF">
              <a:alpha val="2000"/>
            </a:srgbClr>
          </a:solidFill>
          <a:ln w="9525">
            <a:solidFill>
              <a:srgbClr val="2A2F3A"/>
            </a:solidFill>
            <a:prstDash val="solid"/>
          </a:ln>
        </p:spPr>
      </p:sp>
      <p:sp>
        <p:nvSpPr>
          <p:cNvPr id="6" name="Text 4"/>
          <p:cNvSpPr/>
          <p:nvPr/>
        </p:nvSpPr>
        <p:spPr>
          <a:xfrm>
            <a:off x="1152525" y="2006873"/>
            <a:ext cx="7958709" cy="5715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fake video shows a well-known figure saying something they never said</a:t>
            </a:r>
            <a:endParaRPr lang="en-US" sz="1800" dirty="0"/>
          </a:p>
        </p:txBody>
      </p:sp>
      <p:sp>
        <p:nvSpPr>
          <p:cNvPr id="7" name="Shape 5"/>
          <p:cNvSpPr/>
          <p:nvPr/>
        </p:nvSpPr>
        <p:spPr>
          <a:xfrm>
            <a:off x="9220200" y="1806848"/>
            <a:ext cx="8115300" cy="933450"/>
          </a:xfrm>
          <a:prstGeom prst="roundRect">
            <a:avLst>
              <a:gd name="adj" fmla="val 14286"/>
            </a:avLst>
          </a:prstGeom>
          <a:solidFill>
            <a:srgbClr val="FFFFFF">
              <a:alpha val="2000"/>
            </a:srgbClr>
          </a:solidFill>
          <a:ln w="9525">
            <a:solidFill>
              <a:srgbClr val="2A2F3A"/>
            </a:solidFill>
            <a:prstDash val="solid"/>
          </a:ln>
        </p:spPr>
      </p:sp>
      <p:sp>
        <p:nvSpPr>
          <p:cNvPr id="8" name="Text 6"/>
          <p:cNvSpPr/>
          <p:nvPr/>
        </p:nvSpPr>
        <p:spPr>
          <a:xfrm>
            <a:off x="9420225" y="2006873"/>
            <a:ext cx="7958709" cy="5715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highly personalised scam email references real, accurate details about the target</a:t>
            </a:r>
            <a:endParaRPr lang="en-US" sz="1800" dirty="0"/>
          </a:p>
        </p:txBody>
      </p:sp>
      <p:sp>
        <p:nvSpPr>
          <p:cNvPr id="9" name="Shape 7"/>
          <p:cNvSpPr/>
          <p:nvPr/>
        </p:nvSpPr>
        <p:spPr>
          <a:xfrm>
            <a:off x="952500" y="2892698"/>
            <a:ext cx="8115300" cy="666750"/>
          </a:xfrm>
          <a:prstGeom prst="roundRect">
            <a:avLst>
              <a:gd name="adj" fmla="val 20000"/>
            </a:avLst>
          </a:prstGeom>
          <a:solidFill>
            <a:srgbClr val="FFFFFF">
              <a:alpha val="2000"/>
            </a:srgbClr>
          </a:solidFill>
          <a:ln w="9525">
            <a:solidFill>
              <a:srgbClr val="2A2F3A"/>
            </a:solidFill>
            <a:prstDash val="solid"/>
          </a:ln>
        </p:spPr>
      </p:sp>
      <p:sp>
        <p:nvSpPr>
          <p:cNvPr id="10" name="Text 8"/>
          <p:cNvSpPr/>
          <p:nvPr/>
        </p:nvSpPr>
        <p:spPr>
          <a:xfrm>
            <a:off x="1152525" y="309272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fabricated news-style article spreads quickly online before being debunked</a:t>
            </a:r>
            <a:endParaRPr lang="en-US" sz="1800" dirty="0"/>
          </a:p>
        </p:txBody>
      </p:sp>
      <p:sp>
        <p:nvSpPr>
          <p:cNvPr id="11" name="Shape 9"/>
          <p:cNvSpPr/>
          <p:nvPr/>
        </p:nvSpPr>
        <p:spPr>
          <a:xfrm>
            <a:off x="9220200" y="2892698"/>
            <a:ext cx="8115300" cy="666750"/>
          </a:xfrm>
          <a:prstGeom prst="roundRect">
            <a:avLst>
              <a:gd name="adj" fmla="val 20000"/>
            </a:avLst>
          </a:prstGeom>
          <a:solidFill>
            <a:srgbClr val="FFFFFF">
              <a:alpha val="2000"/>
            </a:srgbClr>
          </a:solidFill>
          <a:ln w="9525">
            <a:solidFill>
              <a:srgbClr val="2A2F3A"/>
            </a:solidFill>
            <a:prstDash val="solid"/>
          </a:ln>
        </p:spPr>
      </p:sp>
      <p:sp>
        <p:nvSpPr>
          <p:cNvPr id="12" name="Text 10"/>
          <p:cNvSpPr/>
          <p:nvPr/>
        </p:nvSpPr>
        <p:spPr>
          <a:xfrm>
            <a:off x="9420225" y="309272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An AI tool's behaviour changes unexpectedly after summarising a webpage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QUICK REFERENCE</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Module 7 Concepts, In One Line Each</a:t>
            </a:r>
            <a:endParaRPr lang="en-US" sz="3150" dirty="0"/>
          </a:p>
        </p:txBody>
      </p:sp>
      <p:sp>
        <p:nvSpPr>
          <p:cNvPr id="5" name="Shape 3"/>
          <p:cNvSpPr/>
          <p:nvPr/>
        </p:nvSpPr>
        <p:spPr>
          <a:xfrm>
            <a:off x="952500" y="1907828"/>
            <a:ext cx="3782541" cy="461963"/>
          </a:xfrm>
          <a:prstGeom prst="rect">
            <a:avLst/>
          </a:prstGeom>
          <a:solidFill>
            <a:srgbClr val="FF6A00">
              <a:alpha val="18000"/>
            </a:srgbClr>
          </a:solidFill>
          <a:ln/>
        </p:spPr>
      </p:sp>
      <p:sp>
        <p:nvSpPr>
          <p:cNvPr id="6" name="Shape 4"/>
          <p:cNvSpPr/>
          <p:nvPr/>
        </p:nvSpPr>
        <p:spPr>
          <a:xfrm>
            <a:off x="952500" y="2360265"/>
            <a:ext cx="3782541" cy="9525"/>
          </a:xfrm>
          <a:prstGeom prst="rect">
            <a:avLst/>
          </a:prstGeom>
          <a:solidFill>
            <a:srgbClr val="B85100"/>
          </a:solidFill>
          <a:ln/>
        </p:spPr>
      </p:sp>
      <p:sp>
        <p:nvSpPr>
          <p:cNvPr id="7" name="Text 5"/>
          <p:cNvSpPr/>
          <p:nvPr/>
        </p:nvSpPr>
        <p:spPr>
          <a:xfrm>
            <a:off x="1104900" y="2003078"/>
            <a:ext cx="3591217"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Concept</a:t>
            </a:r>
            <a:endParaRPr lang="en-US" sz="1800" dirty="0"/>
          </a:p>
        </p:txBody>
      </p:sp>
      <p:sp>
        <p:nvSpPr>
          <p:cNvPr id="8" name="Shape 6"/>
          <p:cNvSpPr/>
          <p:nvPr/>
        </p:nvSpPr>
        <p:spPr>
          <a:xfrm>
            <a:off x="4735041" y="1907828"/>
            <a:ext cx="12600459" cy="461963"/>
          </a:xfrm>
          <a:prstGeom prst="rect">
            <a:avLst/>
          </a:prstGeom>
          <a:solidFill>
            <a:srgbClr val="FF6A00">
              <a:alpha val="18000"/>
            </a:srgbClr>
          </a:solidFill>
          <a:ln/>
        </p:spPr>
      </p:sp>
      <p:sp>
        <p:nvSpPr>
          <p:cNvPr id="9" name="Shape 7"/>
          <p:cNvSpPr/>
          <p:nvPr/>
        </p:nvSpPr>
        <p:spPr>
          <a:xfrm>
            <a:off x="4735041" y="2360265"/>
            <a:ext cx="12600459" cy="9525"/>
          </a:xfrm>
          <a:prstGeom prst="rect">
            <a:avLst/>
          </a:prstGeom>
          <a:solidFill>
            <a:srgbClr val="B85100"/>
          </a:solidFill>
          <a:ln/>
        </p:spPr>
      </p:sp>
      <p:sp>
        <p:nvSpPr>
          <p:cNvPr id="10" name="Text 8"/>
          <p:cNvSpPr/>
          <p:nvPr/>
        </p:nvSpPr>
        <p:spPr>
          <a:xfrm>
            <a:off x="4887441" y="2003078"/>
            <a:ext cx="12673673"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One-Line Definition</a:t>
            </a:r>
            <a:endParaRPr lang="en-US" sz="1800" dirty="0"/>
          </a:p>
        </p:txBody>
      </p:sp>
      <p:sp>
        <p:nvSpPr>
          <p:cNvPr id="11" name="Text 9"/>
          <p:cNvSpPr/>
          <p:nvPr/>
        </p:nvSpPr>
        <p:spPr>
          <a:xfrm>
            <a:off x="1104900" y="2465040"/>
            <a:ext cx="3591217" cy="309563"/>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Data leakage</a:t>
            </a:r>
            <a:endParaRPr lang="en-US" sz="1800" dirty="0"/>
          </a:p>
        </p:txBody>
      </p:sp>
      <p:sp>
        <p:nvSpPr>
          <p:cNvPr id="12" name="Text 10"/>
          <p:cNvSpPr/>
          <p:nvPr/>
        </p:nvSpPr>
        <p:spPr>
          <a:xfrm>
            <a:off x="4887441" y="2465040"/>
            <a:ext cx="12673673" cy="309563"/>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Confidential or sensitive information ending up somewhere it shouldn't</a:t>
            </a:r>
            <a:endParaRPr lang="en-US" sz="1800" dirty="0"/>
          </a:p>
        </p:txBody>
      </p:sp>
      <p:sp>
        <p:nvSpPr>
          <p:cNvPr id="13" name="Shape 11"/>
          <p:cNvSpPr/>
          <p:nvPr/>
        </p:nvSpPr>
        <p:spPr>
          <a:xfrm>
            <a:off x="952500" y="2831753"/>
            <a:ext cx="16383000" cy="457200"/>
          </a:xfrm>
          <a:prstGeom prst="rect">
            <a:avLst/>
          </a:prstGeom>
          <a:solidFill>
            <a:srgbClr val="FFFFFF">
              <a:alpha val="2000"/>
            </a:srgbClr>
          </a:solidFill>
          <a:ln/>
        </p:spPr>
      </p:sp>
      <p:sp>
        <p:nvSpPr>
          <p:cNvPr id="14" name="Text 12"/>
          <p:cNvSpPr/>
          <p:nvPr/>
        </p:nvSpPr>
        <p:spPr>
          <a:xfrm>
            <a:off x="1104900" y="2927003"/>
            <a:ext cx="3591217"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Shadow AI</a:t>
            </a:r>
            <a:endParaRPr lang="en-US" sz="1800" dirty="0"/>
          </a:p>
        </p:txBody>
      </p:sp>
      <p:sp>
        <p:nvSpPr>
          <p:cNvPr id="15" name="Text 13"/>
          <p:cNvSpPr/>
          <p:nvPr/>
        </p:nvSpPr>
        <p:spPr>
          <a:xfrm>
            <a:off x="4887441" y="2927003"/>
            <a:ext cx="1267367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Unsanctioned AI tool use, usually well-intentioned but unchecked</a:t>
            </a:r>
            <a:endParaRPr lang="en-US" sz="1800" dirty="0"/>
          </a:p>
        </p:txBody>
      </p:sp>
      <p:sp>
        <p:nvSpPr>
          <p:cNvPr id="16" name="Text 14"/>
          <p:cNvSpPr/>
          <p:nvPr/>
        </p:nvSpPr>
        <p:spPr>
          <a:xfrm>
            <a:off x="1104900" y="3384203"/>
            <a:ext cx="3591217"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Deepfake</a:t>
            </a:r>
            <a:endParaRPr lang="en-US" sz="1800" dirty="0"/>
          </a:p>
        </p:txBody>
      </p:sp>
      <p:sp>
        <p:nvSpPr>
          <p:cNvPr id="17" name="Text 15"/>
          <p:cNvSpPr/>
          <p:nvPr/>
        </p:nvSpPr>
        <p:spPr>
          <a:xfrm>
            <a:off x="4887441" y="3384203"/>
            <a:ext cx="1267367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Realistic fake AI-generated media of a real person</a:t>
            </a:r>
            <a:endParaRPr lang="en-US" sz="1800" dirty="0"/>
          </a:p>
        </p:txBody>
      </p:sp>
      <p:sp>
        <p:nvSpPr>
          <p:cNvPr id="18" name="Shape 16"/>
          <p:cNvSpPr/>
          <p:nvPr/>
        </p:nvSpPr>
        <p:spPr>
          <a:xfrm>
            <a:off x="952500" y="3746153"/>
            <a:ext cx="16383000" cy="457200"/>
          </a:xfrm>
          <a:prstGeom prst="rect">
            <a:avLst/>
          </a:prstGeom>
          <a:solidFill>
            <a:srgbClr val="FFFFFF">
              <a:alpha val="2000"/>
            </a:srgbClr>
          </a:solidFill>
          <a:ln/>
        </p:spPr>
      </p:sp>
      <p:sp>
        <p:nvSpPr>
          <p:cNvPr id="19" name="Text 17"/>
          <p:cNvSpPr/>
          <p:nvPr/>
        </p:nvSpPr>
        <p:spPr>
          <a:xfrm>
            <a:off x="1104900" y="3841403"/>
            <a:ext cx="3591217"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Prompt injection</a:t>
            </a:r>
            <a:endParaRPr lang="en-US" sz="1800" dirty="0"/>
          </a:p>
        </p:txBody>
      </p:sp>
      <p:sp>
        <p:nvSpPr>
          <p:cNvPr id="20" name="Text 18"/>
          <p:cNvSpPr/>
          <p:nvPr/>
        </p:nvSpPr>
        <p:spPr>
          <a:xfrm>
            <a:off x="4887441" y="3841403"/>
            <a:ext cx="1267367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Hidden instructions placed inside content an AI tool reads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COMMON MISCONCEPTIONS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Exam Distractor Patterns To Recognise</a:t>
            </a:r>
            <a:endParaRPr lang="en-US" sz="3150" dirty="0"/>
          </a:p>
        </p:txBody>
      </p:sp>
      <p:sp>
        <p:nvSpPr>
          <p:cNvPr id="5" name="Shape 3"/>
          <p:cNvSpPr/>
          <p:nvPr/>
        </p:nvSpPr>
        <p:spPr>
          <a:xfrm>
            <a:off x="952500" y="1869728"/>
            <a:ext cx="16383000" cy="661988"/>
          </a:xfrm>
          <a:prstGeom prst="roundRect">
            <a:avLst>
              <a:gd name="adj" fmla="val 20144"/>
            </a:avLst>
          </a:prstGeom>
          <a:solidFill>
            <a:srgbClr val="FF6A00">
              <a:alpha val="6000"/>
            </a:srgbClr>
          </a:solidFill>
          <a:ln w="9525">
            <a:solidFill>
              <a:srgbClr val="B85100"/>
            </a:solidFill>
            <a:prstDash val="solid"/>
          </a:ln>
        </p:spPr>
      </p:sp>
      <p:sp>
        <p:nvSpPr>
          <p:cNvPr id="6" name="Text 4"/>
          <p:cNvSpPr/>
          <p:nvPr/>
        </p:nvSpPr>
        <p:spPr>
          <a:xfrm>
            <a:off x="1171575" y="2050703"/>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A well-known AI tool is automatically safe for confidential data — popularity is not the same as organisational approval.</a:t>
            </a:r>
            <a:endParaRPr lang="en-US" sz="1800" dirty="0"/>
          </a:p>
        </p:txBody>
      </p:sp>
      <p:sp>
        <p:nvSpPr>
          <p:cNvPr id="7" name="Shape 5"/>
          <p:cNvSpPr/>
          <p:nvPr/>
        </p:nvSpPr>
        <p:spPr>
          <a:xfrm>
            <a:off x="952500" y="2665065"/>
            <a:ext cx="16383000" cy="661988"/>
          </a:xfrm>
          <a:prstGeom prst="roundRect">
            <a:avLst>
              <a:gd name="adj" fmla="val 20144"/>
            </a:avLst>
          </a:prstGeom>
          <a:solidFill>
            <a:srgbClr val="FF6A00">
              <a:alpha val="6000"/>
            </a:srgbClr>
          </a:solidFill>
          <a:ln w="9525">
            <a:solidFill>
              <a:srgbClr val="B85100"/>
            </a:solidFill>
            <a:prstDash val="solid"/>
          </a:ln>
        </p:spPr>
      </p:sp>
      <p:sp>
        <p:nvSpPr>
          <p:cNvPr id="8" name="Text 6"/>
          <p:cNvSpPr/>
          <p:nvPr/>
        </p:nvSpPr>
        <p:spPr>
          <a:xfrm>
            <a:off x="1171575" y="2846040"/>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Shadow AI implies malicious intent — it's usually well-meaning employees working around a gap, not an attack.</a:t>
            </a:r>
            <a:endParaRPr lang="en-US" sz="1800" dirty="0"/>
          </a:p>
        </p:txBody>
      </p:sp>
      <p:sp>
        <p:nvSpPr>
          <p:cNvPr id="9" name="Shape 7"/>
          <p:cNvSpPr/>
          <p:nvPr/>
        </p:nvSpPr>
        <p:spPr>
          <a:xfrm>
            <a:off x="952500" y="3460403"/>
            <a:ext cx="16383000" cy="661988"/>
          </a:xfrm>
          <a:prstGeom prst="roundRect">
            <a:avLst>
              <a:gd name="adj" fmla="val 20144"/>
            </a:avLst>
          </a:prstGeom>
          <a:solidFill>
            <a:srgbClr val="FF6A00">
              <a:alpha val="6000"/>
            </a:srgbClr>
          </a:solidFill>
          <a:ln w="9525">
            <a:solidFill>
              <a:srgbClr val="B85100"/>
            </a:solidFill>
            <a:prstDash val="solid"/>
          </a:ln>
        </p:spPr>
      </p:sp>
      <p:sp>
        <p:nvSpPr>
          <p:cNvPr id="10" name="Text 8"/>
          <p:cNvSpPr/>
          <p:nvPr/>
        </p:nvSpPr>
        <p:spPr>
          <a:xfrm>
            <a:off x="1171575" y="3641378"/>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Prompt injection is something end users need to detect technically — foundation-level awareness that it exists is enough.</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601437" y="3731419"/>
            <a:ext cx="3085051"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DOMAIN 6 WEIGHTING</a:t>
            </a:r>
            <a:endParaRPr lang="en-US" sz="1950" dirty="0"/>
          </a:p>
        </p:txBody>
      </p:sp>
      <p:sp>
        <p:nvSpPr>
          <p:cNvPr id="4" name="Text 2"/>
          <p:cNvSpPr/>
          <p:nvPr/>
        </p:nvSpPr>
        <p:spPr>
          <a:xfrm>
            <a:off x="7240127" y="4212431"/>
            <a:ext cx="3807671" cy="1657350"/>
          </a:xfrm>
          <a:prstGeom prst="rect">
            <a:avLst/>
          </a:prstGeom>
          <a:noFill/>
          <a:ln/>
        </p:spPr>
        <p:txBody>
          <a:bodyPr wrap="square" lIns="25400" tIns="25400" rIns="25400" bIns="25400" rtlCol="0" anchor="t">
            <a:normAutofit/>
          </a:bodyPr>
          <a:lstStyle/>
          <a:p>
            <a:pPr algn="ctr" indent="0" marL="0">
              <a:lnSpc>
                <a:spcPct val="86957"/>
              </a:lnSpc>
              <a:buNone/>
            </a:pPr>
            <a:r>
              <a:rPr lang="en-US" sz="12750" b="1" dirty="0">
                <a:solidFill>
                  <a:srgbClr val="FF6A00"/>
                </a:solidFill>
                <a:latin typeface="Arial" pitchFamily="34" charset="0"/>
                <a:ea typeface="Arial" pitchFamily="34" charset="-122"/>
                <a:cs typeface="Arial" pitchFamily="34" charset="-120"/>
              </a:rPr>
              <a:t>10%</a:t>
            </a:r>
            <a:endParaRPr lang="en-US" sz="12750" dirty="0"/>
          </a:p>
        </p:txBody>
      </p:sp>
      <p:sp>
        <p:nvSpPr>
          <p:cNvPr id="5" name="Text 3"/>
          <p:cNvSpPr/>
          <p:nvPr/>
        </p:nvSpPr>
        <p:spPr>
          <a:xfrm>
            <a:off x="4729163" y="5926931"/>
            <a:ext cx="8829675" cy="666750"/>
          </a:xfrm>
          <a:prstGeom prst="rect">
            <a:avLst/>
          </a:prstGeom>
          <a:noFill/>
          <a:ln/>
        </p:spPr>
        <p:txBody>
          <a:bodyPr wrap="square" lIns="25400" tIns="25400" rIns="25400" bIns="25400" rtlCol="0" anchor="t">
            <a:normAutofit/>
          </a:bodyPr>
          <a:lstStyle/>
          <a:p>
            <a:pPr algn="ctr" indent="0" marL="0">
              <a:buNone/>
            </a:pPr>
            <a:r>
              <a:rPr lang="en-US" sz="2100" dirty="0">
                <a:solidFill>
                  <a:srgbClr val="DFE3EA"/>
                </a:solidFill>
                <a:latin typeface="Arial" pitchFamily="34" charset="0"/>
                <a:ea typeface="Arial" pitchFamily="34" charset="-122"/>
                <a:cs typeface="Arial" pitchFamily="34" charset="-120"/>
              </a:rPr>
              <a:t>of the CAIA examination is drawn from Domain 6: AI Security, Privacy &amp; Data.</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KNOWLEDGE CHECK</a:t>
            </a:r>
            <a:endParaRPr lang="en-US" sz="1800" dirty="0"/>
          </a:p>
        </p:txBody>
      </p:sp>
      <p:sp>
        <p:nvSpPr>
          <p:cNvPr id="4" name="Text 2"/>
          <p:cNvSpPr/>
          <p:nvPr/>
        </p:nvSpPr>
        <p:spPr>
          <a:xfrm>
            <a:off x="952500" y="1162050"/>
            <a:ext cx="15697200"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b="1" dirty="0">
                <a:solidFill>
                  <a:srgbClr val="F5F7FB"/>
                </a:solidFill>
                <a:latin typeface="Arial" pitchFamily="34" charset="0"/>
                <a:ea typeface="Arial" pitchFamily="34" charset="-122"/>
                <a:cs typeface="Arial" pitchFamily="34" charset="-120"/>
              </a:rPr>
              <a:t>An employee starts using a free AI tool they found online to speed up their work, without checking whether it's permitted. What is this an example of?</a:t>
            </a:r>
            <a:endParaRPr lang="en-US" sz="2250" dirty="0"/>
          </a:p>
        </p:txBody>
      </p:sp>
      <p:sp>
        <p:nvSpPr>
          <p:cNvPr id="5" name="Shape 3"/>
          <p:cNvSpPr/>
          <p:nvPr/>
        </p:nvSpPr>
        <p:spPr>
          <a:xfrm>
            <a:off x="952500" y="2286000"/>
            <a:ext cx="8115300" cy="666750"/>
          </a:xfrm>
          <a:prstGeom prst="roundRect">
            <a:avLst>
              <a:gd name="adj" fmla="val 20000"/>
            </a:avLst>
          </a:prstGeom>
          <a:solidFill>
            <a:srgbClr val="FFFFFF">
              <a:alpha val="3000"/>
            </a:srgbClr>
          </a:solidFill>
          <a:ln w="9525">
            <a:solidFill>
              <a:srgbClr val="2A2F3A"/>
            </a:solidFill>
            <a:prstDash val="solid"/>
          </a:ln>
        </p:spPr>
      </p:sp>
      <p:sp>
        <p:nvSpPr>
          <p:cNvPr id="6" name="Text 4"/>
          <p:cNvSpPr/>
          <p:nvPr/>
        </p:nvSpPr>
        <p:spPr>
          <a:xfrm>
            <a:off x="1152525" y="2486025"/>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A. Prompt injection</a:t>
            </a:r>
            <a:endParaRPr lang="en-US" sz="1800" dirty="0"/>
          </a:p>
        </p:txBody>
      </p:sp>
      <p:sp>
        <p:nvSpPr>
          <p:cNvPr id="7" name="Shape 5"/>
          <p:cNvSpPr/>
          <p:nvPr/>
        </p:nvSpPr>
        <p:spPr>
          <a:xfrm>
            <a:off x="9220200" y="2286000"/>
            <a:ext cx="8115300" cy="666750"/>
          </a:xfrm>
          <a:prstGeom prst="roundRect">
            <a:avLst>
              <a:gd name="adj" fmla="val 20000"/>
            </a:avLst>
          </a:prstGeom>
          <a:solidFill>
            <a:srgbClr val="FFFFFF">
              <a:alpha val="3000"/>
            </a:srgbClr>
          </a:solidFill>
          <a:ln w="9525">
            <a:solidFill>
              <a:srgbClr val="2A2F3A"/>
            </a:solidFill>
            <a:prstDash val="solid"/>
          </a:ln>
        </p:spPr>
      </p:sp>
      <p:sp>
        <p:nvSpPr>
          <p:cNvPr id="8" name="Text 6"/>
          <p:cNvSpPr/>
          <p:nvPr/>
        </p:nvSpPr>
        <p:spPr>
          <a:xfrm>
            <a:off x="9420225" y="2486025"/>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B. A deepfake</a:t>
            </a:r>
            <a:endParaRPr lang="en-US" sz="1800" dirty="0"/>
          </a:p>
        </p:txBody>
      </p:sp>
      <p:sp>
        <p:nvSpPr>
          <p:cNvPr id="9" name="Shape 7"/>
          <p:cNvSpPr/>
          <p:nvPr/>
        </p:nvSpPr>
        <p:spPr>
          <a:xfrm>
            <a:off x="952500" y="3105150"/>
            <a:ext cx="8115300" cy="685800"/>
          </a:xfrm>
          <a:prstGeom prst="roundRect">
            <a:avLst>
              <a:gd name="adj" fmla="val 19444"/>
            </a:avLst>
          </a:prstGeom>
          <a:solidFill>
            <a:srgbClr val="22C55E">
              <a:alpha val="10000"/>
            </a:srgbClr>
          </a:solidFill>
          <a:ln w="19050">
            <a:solidFill>
              <a:srgbClr val="22C55E"/>
            </a:solidFill>
            <a:prstDash val="solid"/>
          </a:ln>
        </p:spPr>
      </p:sp>
      <p:sp>
        <p:nvSpPr>
          <p:cNvPr id="10" name="Text 8"/>
          <p:cNvSpPr/>
          <p:nvPr/>
        </p:nvSpPr>
        <p:spPr>
          <a:xfrm>
            <a:off x="1162050" y="3314700"/>
            <a:ext cx="793965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C. Shadow AI ✓</a:t>
            </a:r>
            <a:endParaRPr lang="en-US" sz="1800" dirty="0"/>
          </a:p>
        </p:txBody>
      </p:sp>
      <p:sp>
        <p:nvSpPr>
          <p:cNvPr id="11" name="Shape 9"/>
          <p:cNvSpPr/>
          <p:nvPr/>
        </p:nvSpPr>
        <p:spPr>
          <a:xfrm>
            <a:off x="9220200" y="3105150"/>
            <a:ext cx="8115300" cy="685800"/>
          </a:xfrm>
          <a:prstGeom prst="roundRect">
            <a:avLst>
              <a:gd name="adj" fmla="val 19444"/>
            </a:avLst>
          </a:prstGeom>
          <a:solidFill>
            <a:srgbClr val="FFFFFF">
              <a:alpha val="3000"/>
            </a:srgbClr>
          </a:solidFill>
          <a:ln w="9525">
            <a:solidFill>
              <a:srgbClr val="2A2F3A"/>
            </a:solidFill>
            <a:prstDash val="solid"/>
          </a:ln>
        </p:spPr>
      </p:sp>
      <p:sp>
        <p:nvSpPr>
          <p:cNvPr id="12" name="Text 10"/>
          <p:cNvSpPr/>
          <p:nvPr/>
        </p:nvSpPr>
        <p:spPr>
          <a:xfrm>
            <a:off x="9420225" y="3305175"/>
            <a:ext cx="7958709" cy="32385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D. Data leakage</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MODULE SUMMARY</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Module 7 In Six Statements</a:t>
            </a:r>
            <a:endParaRPr lang="en-US" sz="3150" dirty="0"/>
          </a:p>
        </p:txBody>
      </p:sp>
      <p:sp>
        <p:nvSpPr>
          <p:cNvPr id="5" name="Shape 3"/>
          <p:cNvSpPr/>
          <p:nvPr/>
        </p:nvSpPr>
        <p:spPr>
          <a:xfrm>
            <a:off x="952500" y="1869728"/>
            <a:ext cx="8124825" cy="604838"/>
          </a:xfrm>
          <a:prstGeom prst="roundRect">
            <a:avLst>
              <a:gd name="adj" fmla="val 22047"/>
            </a:avLst>
          </a:prstGeom>
          <a:solidFill>
            <a:srgbClr val="FFFFFF">
              <a:alpha val="2000"/>
            </a:srgbClr>
          </a:solidFill>
          <a:ln w="9525">
            <a:solidFill>
              <a:srgbClr val="2A2F3A"/>
            </a:solidFill>
            <a:prstDash val="solid"/>
          </a:ln>
        </p:spPr>
      </p:sp>
      <p:sp>
        <p:nvSpPr>
          <p:cNvPr id="6" name="Text 4"/>
          <p:cNvSpPr/>
          <p:nvPr/>
        </p:nvSpPr>
        <p:spPr>
          <a:xfrm>
            <a:off x="1171575" y="2031653"/>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7.1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Sensitive data belongs only in approved AI tools.</a:t>
            </a:r>
            <a:endParaRPr lang="en-US" sz="1800" dirty="0"/>
          </a:p>
        </p:txBody>
      </p:sp>
      <p:sp>
        <p:nvSpPr>
          <p:cNvPr id="7" name="Shape 5"/>
          <p:cNvSpPr/>
          <p:nvPr/>
        </p:nvSpPr>
        <p:spPr>
          <a:xfrm>
            <a:off x="9210675" y="1869728"/>
            <a:ext cx="8124825" cy="604838"/>
          </a:xfrm>
          <a:prstGeom prst="roundRect">
            <a:avLst>
              <a:gd name="adj" fmla="val 22047"/>
            </a:avLst>
          </a:prstGeom>
          <a:solidFill>
            <a:srgbClr val="FFFFFF">
              <a:alpha val="2000"/>
            </a:srgbClr>
          </a:solidFill>
          <a:ln w="9525">
            <a:solidFill>
              <a:srgbClr val="2A2F3A"/>
            </a:solidFill>
            <a:prstDash val="solid"/>
          </a:ln>
        </p:spPr>
      </p:sp>
      <p:sp>
        <p:nvSpPr>
          <p:cNvPr id="8" name="Text 6"/>
          <p:cNvSpPr/>
          <p:nvPr/>
        </p:nvSpPr>
        <p:spPr>
          <a:xfrm>
            <a:off x="9429750" y="2031653"/>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7.2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Inputs may be stored or used; leakage sends data where it shouldn't go.</a:t>
            </a:r>
            <a:endParaRPr lang="en-US" sz="1800" dirty="0"/>
          </a:p>
        </p:txBody>
      </p:sp>
      <p:sp>
        <p:nvSpPr>
          <p:cNvPr id="9" name="Shape 7"/>
          <p:cNvSpPr/>
          <p:nvPr/>
        </p:nvSpPr>
        <p:spPr>
          <a:xfrm>
            <a:off x="952500" y="2607915"/>
            <a:ext cx="8124825" cy="871538"/>
          </a:xfrm>
          <a:prstGeom prst="roundRect">
            <a:avLst>
              <a:gd name="adj" fmla="val 15301"/>
            </a:avLst>
          </a:prstGeom>
          <a:solidFill>
            <a:srgbClr val="FFFFFF">
              <a:alpha val="2000"/>
            </a:srgbClr>
          </a:solidFill>
          <a:ln w="9525">
            <a:solidFill>
              <a:srgbClr val="2A2F3A"/>
            </a:solidFill>
            <a:prstDash val="solid"/>
          </a:ln>
        </p:spPr>
      </p:sp>
      <p:sp>
        <p:nvSpPr>
          <p:cNvPr id="10" name="Text 8"/>
          <p:cNvSpPr/>
          <p:nvPr/>
        </p:nvSpPr>
        <p:spPr>
          <a:xfrm>
            <a:off x="1171575" y="2769840"/>
            <a:ext cx="7930420" cy="585787"/>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7.3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Shadow AI is unsanctioned use, risky due to lack of visibility.</a:t>
            </a:r>
            <a:endParaRPr lang="en-US" sz="1800" dirty="0"/>
          </a:p>
        </p:txBody>
      </p:sp>
      <p:sp>
        <p:nvSpPr>
          <p:cNvPr id="11" name="Shape 9"/>
          <p:cNvSpPr/>
          <p:nvPr/>
        </p:nvSpPr>
        <p:spPr>
          <a:xfrm>
            <a:off x="9210675" y="2607915"/>
            <a:ext cx="8124825" cy="871538"/>
          </a:xfrm>
          <a:prstGeom prst="roundRect">
            <a:avLst>
              <a:gd name="adj" fmla="val 15301"/>
            </a:avLst>
          </a:prstGeom>
          <a:solidFill>
            <a:srgbClr val="FFFFFF">
              <a:alpha val="2000"/>
            </a:srgbClr>
          </a:solidFill>
          <a:ln w="9525">
            <a:solidFill>
              <a:srgbClr val="2A2F3A"/>
            </a:solidFill>
            <a:prstDash val="solid"/>
          </a:ln>
        </p:spPr>
      </p:sp>
      <p:sp>
        <p:nvSpPr>
          <p:cNvPr id="12" name="Text 10"/>
          <p:cNvSpPr/>
          <p:nvPr/>
        </p:nvSpPr>
        <p:spPr>
          <a:xfrm>
            <a:off x="9429750" y="2769840"/>
            <a:ext cx="7930420" cy="585787"/>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7.4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Deepfakes, AI phishing and misinformation make deception more convincing.</a:t>
            </a:r>
            <a:endParaRPr lang="en-US" sz="1800" dirty="0"/>
          </a:p>
        </p:txBody>
      </p:sp>
      <p:sp>
        <p:nvSpPr>
          <p:cNvPr id="13" name="Shape 11"/>
          <p:cNvSpPr/>
          <p:nvPr/>
        </p:nvSpPr>
        <p:spPr>
          <a:xfrm>
            <a:off x="952500" y="3612803"/>
            <a:ext cx="8124825" cy="604838"/>
          </a:xfrm>
          <a:prstGeom prst="roundRect">
            <a:avLst>
              <a:gd name="adj" fmla="val 22047"/>
            </a:avLst>
          </a:prstGeom>
          <a:solidFill>
            <a:srgbClr val="FFFFFF">
              <a:alpha val="2000"/>
            </a:srgbClr>
          </a:solidFill>
          <a:ln w="9525">
            <a:solidFill>
              <a:srgbClr val="2A2F3A"/>
            </a:solidFill>
            <a:prstDash val="solid"/>
          </a:ln>
        </p:spPr>
      </p:sp>
      <p:sp>
        <p:nvSpPr>
          <p:cNvPr id="14" name="Text 12"/>
          <p:cNvSpPr/>
          <p:nvPr/>
        </p:nvSpPr>
        <p:spPr>
          <a:xfrm>
            <a:off x="1171575" y="3774728"/>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7.5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Prompt injection hides instructions inside content AI reads.</a:t>
            </a:r>
            <a:endParaRPr lang="en-US" sz="1800" dirty="0"/>
          </a:p>
        </p:txBody>
      </p:sp>
      <p:sp>
        <p:nvSpPr>
          <p:cNvPr id="15" name="Shape 13"/>
          <p:cNvSpPr/>
          <p:nvPr/>
        </p:nvSpPr>
        <p:spPr>
          <a:xfrm>
            <a:off x="9210675" y="3612803"/>
            <a:ext cx="8124825" cy="604838"/>
          </a:xfrm>
          <a:prstGeom prst="roundRect">
            <a:avLst>
              <a:gd name="adj" fmla="val 22047"/>
            </a:avLst>
          </a:prstGeom>
          <a:solidFill>
            <a:srgbClr val="FFFFFF">
              <a:alpha val="2000"/>
            </a:srgbClr>
          </a:solidFill>
          <a:ln w="9525">
            <a:solidFill>
              <a:srgbClr val="2A2F3A"/>
            </a:solidFill>
            <a:prstDash val="solid"/>
          </a:ln>
        </p:spPr>
      </p:sp>
      <p:sp>
        <p:nvSpPr>
          <p:cNvPr id="16" name="Text 14"/>
          <p:cNvSpPr/>
          <p:nvPr/>
        </p:nvSpPr>
        <p:spPr>
          <a:xfrm>
            <a:off x="9429750" y="3774728"/>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7.6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Use approved tools, protect credentials, follow data rules.</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832399"/>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NEXT STEPS</a:t>
            </a:r>
            <a:endParaRPr lang="en-US" sz="1800" dirty="0"/>
          </a:p>
        </p:txBody>
      </p:sp>
      <p:sp>
        <p:nvSpPr>
          <p:cNvPr id="4" name="Text 2"/>
          <p:cNvSpPr/>
          <p:nvPr/>
        </p:nvSpPr>
        <p:spPr>
          <a:xfrm>
            <a:off x="952500" y="4270549"/>
            <a:ext cx="18021300" cy="541958"/>
          </a:xfrm>
          <a:prstGeom prst="rect">
            <a:avLst/>
          </a:prstGeom>
          <a:noFill/>
          <a:ln/>
        </p:spPr>
        <p:txBody>
          <a:bodyPr wrap="square" lIns="25400" tIns="25400" rIns="25400" bIns="25400" rtlCol="0" anchor="t">
            <a:normAutofit/>
          </a:bodyPr>
          <a:lstStyle/>
          <a:p>
            <a:pPr algn="l" indent="0" marL="0">
              <a:lnSpc>
                <a:spcPct val="100762"/>
              </a:lnSpc>
              <a:buNone/>
            </a:pPr>
            <a:r>
              <a:rPr lang="en-US" sz="3450" b="1" dirty="0">
                <a:solidFill>
                  <a:srgbClr val="F5F7FB"/>
                </a:solidFill>
                <a:latin typeface="Arial" pitchFamily="34" charset="0"/>
                <a:ea typeface="Arial" pitchFamily="34" charset="-122"/>
                <a:cs typeface="Arial" pitchFamily="34" charset="-120"/>
              </a:rPr>
              <a:t>Coming Up In Module 8</a:t>
            </a:r>
            <a:endParaRPr lang="en-US" sz="3450" dirty="0"/>
          </a:p>
        </p:txBody>
      </p:sp>
      <p:sp>
        <p:nvSpPr>
          <p:cNvPr id="5" name="Text 3"/>
          <p:cNvSpPr/>
          <p:nvPr/>
        </p:nvSpPr>
        <p:spPr>
          <a:xfrm>
            <a:off x="952500" y="4983956"/>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Ethics, Bias, Responsible AI &amp; Governance — Domain 7 (10%). This is the final module: bias and fairness, transparency and disclosure, accountability, organisational policy, and maintaining human oversight in workplace decisions.</a:t>
            </a:r>
            <a:endParaRPr lang="en-US" sz="2100" dirty="0"/>
          </a:p>
        </p:txBody>
      </p:sp>
      <p:sp>
        <p:nvSpPr>
          <p:cNvPr id="6" name="Text 4"/>
          <p:cNvSpPr/>
          <p:nvPr/>
        </p:nvSpPr>
        <p:spPr>
          <a:xfrm>
            <a:off x="952500" y="9715500"/>
            <a:ext cx="212865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891A1"/>
                </a:solidFill>
                <a:latin typeface="Arial" pitchFamily="34" charset="0"/>
                <a:ea typeface="Arial" pitchFamily="34" charset="-122"/>
                <a:cs typeface="Arial" pitchFamily="34" charset="-120"/>
              </a:rPr>
              <a:t>My Cyber Academy</a:t>
            </a:r>
            <a:endParaRPr lang="en-US" sz="1800" dirty="0"/>
          </a:p>
        </p:txBody>
      </p:sp>
      <p:sp>
        <p:nvSpPr>
          <p:cNvPr id="7" name="Text 5"/>
          <p:cNvSpPr/>
          <p:nvPr/>
        </p:nvSpPr>
        <p:spPr>
          <a:xfrm>
            <a:off x="16690777" y="9715500"/>
            <a:ext cx="720923"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CAIA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2026-08-10T21:33:31Z</dcterms:created>
  <dcterms:modified xsi:type="dcterms:W3CDTF">2026-08-10T21:33:31Z</dcterms:modified>
</cp:coreProperties>
</file>