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learners to Module 8, the final module of CAIA. Frame it as the module that ties together responsible, human-centred AI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 six sub-objectives — the final set of exam objectives for CAIA.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Orient learners to the blueprint — this is the final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bridge. Move quickly to 8.1.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directly back to Module 2, 2.3 — bias is the fairness-focused consequence of the same 'model reflects its training data'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concrete, low-stakes example to make the abstract idea land — a CV-screening tool trained mostly on one group's historical hiring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transparency.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terms are closely related but distinct — spend time separating them clearly, since exam distractors often swap one for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accountability.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idea in the module — say it plainly and let it sit. Connects to human-in-the-loop from Module 6, 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learners discuss before revealing: 'the AI said so' is never a valid justification — the person who acted on the output remains responsible.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foundation-level: the point is knowing these things exist and why, not memorising specific policy content, which is organisation-specific.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regulation.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strictly generic and vendor-neutral — no naming specific laws, regulators or jurisdictions. The exam point is simply that this landscape moves, and staying current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before applying responsible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synthesis objective, and the synthesis of the whole course — bring every module's judgement skill together into one working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final sub-objective of the entire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after discussion: this is a bias risk (8.1) requiring transparency/disclosure (8.2) and human review before any decision is finalised (8.3, 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1) accountability, 2) bias/fairness, 3) disclosure, 4) explainability.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1) governance/policy in action, 2) missing accountability, 3) governance in action, 4) missing human oversight.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Consolidated pass before misconceptions.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the most common Domain 7 distractor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Reset focus before the knowledge check — the final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30 seconds before revealing that B is correct. This MCQ is reused as Question 5 of the Module 8 Quiz.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all six objectives one final time before the course-completion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final slide of the entire CAIA course. Congratulate learners, then point them to the module quiz, PBQs and cheat sheet for revision, and the practice exam before booking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960688"/>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MY CYBER ACADEMY · CERTIFIED AI ASSOCIATE (CAIA)</a:t>
            </a:r>
            <a:endParaRPr lang="en-US" sz="1800" dirty="0"/>
          </a:p>
        </p:txBody>
      </p:sp>
      <p:sp>
        <p:nvSpPr>
          <p:cNvPr id="4" name="Text 2"/>
          <p:cNvSpPr/>
          <p:nvPr/>
        </p:nvSpPr>
        <p:spPr>
          <a:xfrm>
            <a:off x="952500" y="4455988"/>
            <a:ext cx="14716125" cy="1403598"/>
          </a:xfrm>
          <a:prstGeom prst="rect">
            <a:avLst/>
          </a:prstGeom>
          <a:noFill/>
          <a:ln/>
        </p:spPr>
        <p:txBody>
          <a:bodyPr wrap="square" lIns="25400" tIns="25400" rIns="25400" bIns="25400" rtlCol="0" anchor="t">
            <a:normAutofit/>
          </a:bodyPr>
          <a:lstStyle/>
          <a:p>
            <a:pPr algn="l" indent="0" marL="0">
              <a:lnSpc>
                <a:spcPct val="97524"/>
              </a:lnSpc>
              <a:buNone/>
            </a:pPr>
            <a:r>
              <a:rPr lang="en-US" sz="4800" b="1" spc="-48" kern="0" dirty="0">
                <a:solidFill>
                  <a:srgbClr val="F5F7FB"/>
                </a:solidFill>
                <a:latin typeface="Arial" pitchFamily="34" charset="0"/>
                <a:ea typeface="Arial" pitchFamily="34" charset="-122"/>
                <a:cs typeface="Arial" pitchFamily="34" charset="-120"/>
              </a:rPr>
              <a:t>Module 8 Ethics, Bias, Responsible AI &amp; Governance</a:t>
            </a:r>
            <a:endParaRPr lang="en-US" sz="4800" dirty="0"/>
          </a:p>
        </p:txBody>
      </p:sp>
      <p:sp>
        <p:nvSpPr>
          <p:cNvPr id="5" name="Text 3"/>
          <p:cNvSpPr/>
          <p:nvPr/>
        </p:nvSpPr>
        <p:spPr>
          <a:xfrm>
            <a:off x="952500" y="6011987"/>
            <a:ext cx="18021300" cy="352425"/>
          </a:xfrm>
          <a:prstGeom prst="rect">
            <a:avLst/>
          </a:prstGeom>
          <a:noFill/>
          <a:ln/>
        </p:spPr>
        <p:txBody>
          <a:bodyPr wrap="square" lIns="25400" tIns="25400" rIns="25400" bIns="25400" rtlCol="0" anchor="t">
            <a:normAutofit/>
          </a:bodyPr>
          <a:lstStyle/>
          <a:p>
            <a:pPr algn="l" indent="0" marL="0">
              <a:buNone/>
            </a:pPr>
            <a:r>
              <a:rPr lang="en-US" sz="2100" dirty="0">
                <a:solidFill>
                  <a:srgbClr val="B8C0CF"/>
                </a:solidFill>
                <a:latin typeface="Arial" pitchFamily="34" charset="0"/>
                <a:ea typeface="Arial" pitchFamily="34" charset="-122"/>
                <a:cs typeface="Arial" pitchFamily="34" charset="-120"/>
              </a:rPr>
              <a:t>Domain 7 · Responsible AI, Ethics &amp; Governance (10% of the examination)</a:t>
            </a:r>
            <a:endParaRPr lang="en-US" sz="2100" dirty="0"/>
          </a:p>
        </p:txBody>
      </p:sp>
      <p:sp>
        <p:nvSpPr>
          <p:cNvPr id="6" name="Text 4"/>
          <p:cNvSpPr/>
          <p:nvPr/>
        </p:nvSpPr>
        <p:spPr>
          <a:xfrm>
            <a:off x="952500" y="9715500"/>
            <a:ext cx="212865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8891A1"/>
                </a:solidFill>
                <a:latin typeface="Arial" pitchFamily="34" charset="0"/>
                <a:ea typeface="Arial" pitchFamily="34" charset="-122"/>
                <a:cs typeface="Arial" pitchFamily="34" charset="-120"/>
              </a:rPr>
              <a:t>My Cyber Academy</a:t>
            </a:r>
            <a:endParaRPr lang="en-US" sz="1800" dirty="0"/>
          </a:p>
        </p:txBody>
      </p:sp>
      <p:sp>
        <p:nvSpPr>
          <p:cNvPr id="7" name="Text 5"/>
          <p:cNvSpPr/>
          <p:nvPr/>
        </p:nvSpPr>
        <p:spPr>
          <a:xfrm>
            <a:off x="16690777" y="9715500"/>
            <a:ext cx="720923" cy="304800"/>
          </a:xfrm>
          <a:prstGeom prst="rect">
            <a:avLst/>
          </a:prstGeom>
          <a:noFill/>
          <a:ln/>
        </p:spPr>
        <p:txBody>
          <a:bodyPr wrap="square" lIns="25400" tIns="25400" rIns="25400" bIns="25400" rtlCol="0" anchor="t">
            <a:normAutofit/>
          </a:bodyPr>
          <a:lstStyle/>
          <a:p>
            <a:pPr algn="l" indent="0" marL="0">
              <a:buNone/>
            </a:pPr>
            <a:r>
              <a:rPr lang="en-US" sz="1800" b="1" spc="150" kern="0" dirty="0">
                <a:solidFill>
                  <a:srgbClr val="FF6A00"/>
                </a:solidFill>
                <a:latin typeface="Arial" pitchFamily="34" charset="0"/>
                <a:ea typeface="Arial" pitchFamily="34" charset="-122"/>
                <a:cs typeface="Arial" pitchFamily="34" charset="-120"/>
              </a:rPr>
              <a:t>CAIA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LEARNING OBJECTIVES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What You Will Be Able To Do After This Module</a:t>
            </a:r>
            <a:endParaRPr lang="en-US" sz="3150" dirty="0"/>
          </a:p>
        </p:txBody>
      </p:sp>
      <p:sp>
        <p:nvSpPr>
          <p:cNvPr id="5" name="Shape 3"/>
          <p:cNvSpPr/>
          <p:nvPr/>
        </p:nvSpPr>
        <p:spPr>
          <a:xfrm>
            <a:off x="952500" y="1869728"/>
            <a:ext cx="16383000" cy="666750"/>
          </a:xfrm>
          <a:prstGeom prst="roundRect">
            <a:avLst>
              <a:gd name="adj" fmla="val 50000"/>
            </a:avLst>
          </a:prstGeom>
          <a:solidFill>
            <a:srgbClr val="FFFFFF">
              <a:alpha val="3000"/>
            </a:srgbClr>
          </a:solidFill>
          <a:ln w="9525">
            <a:solidFill>
              <a:srgbClr val="2A2F3A"/>
            </a:solidFill>
            <a:prstDash val="solid"/>
          </a:ln>
        </p:spPr>
      </p:sp>
      <p:sp>
        <p:nvSpPr>
          <p:cNvPr id="6" name="Shape 4"/>
          <p:cNvSpPr/>
          <p:nvPr/>
        </p:nvSpPr>
        <p:spPr>
          <a:xfrm>
            <a:off x="1209675" y="1984028"/>
            <a:ext cx="438150" cy="438150"/>
          </a:xfrm>
          <a:prstGeom prst="ellipse">
            <a:avLst/>
          </a:prstGeom>
          <a:solidFill>
            <a:srgbClr val="FF6A00">
              <a:alpha val="15000"/>
            </a:srgbClr>
          </a:solidFill>
          <a:ln w="9525">
            <a:solidFill>
              <a:srgbClr val="FF6A00">
                <a:alpha val="35000"/>
              </a:srgbClr>
            </a:solidFill>
            <a:prstDash val="solid"/>
          </a:ln>
        </p:spPr>
      </p:sp>
      <p:sp>
        <p:nvSpPr>
          <p:cNvPr id="7" name="Text 5"/>
          <p:cNvSpPr/>
          <p:nvPr/>
        </p:nvSpPr>
        <p:spPr>
          <a:xfrm>
            <a:off x="1181100" y="199355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8.1</a:t>
            </a:r>
            <a:endParaRPr lang="en-US" sz="1800" dirty="0"/>
          </a:p>
        </p:txBody>
      </p:sp>
      <p:sp>
        <p:nvSpPr>
          <p:cNvPr id="8" name="Text 6"/>
          <p:cNvSpPr/>
          <p:nvPr/>
        </p:nvSpPr>
        <p:spPr>
          <a:xfrm>
            <a:off x="1819275" y="2069753"/>
            <a:ext cx="790846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Explain bias and fairness, and how bias can enter AI systems through data</a:t>
            </a:r>
            <a:endParaRPr lang="en-US" sz="1800" dirty="0"/>
          </a:p>
        </p:txBody>
      </p:sp>
      <p:sp>
        <p:nvSpPr>
          <p:cNvPr id="9" name="Shape 7"/>
          <p:cNvSpPr/>
          <p:nvPr/>
        </p:nvSpPr>
        <p:spPr>
          <a:xfrm>
            <a:off x="952500" y="2650778"/>
            <a:ext cx="16383000" cy="666750"/>
          </a:xfrm>
          <a:prstGeom prst="roundRect">
            <a:avLst>
              <a:gd name="adj" fmla="val 50000"/>
            </a:avLst>
          </a:prstGeom>
          <a:solidFill>
            <a:srgbClr val="FFFFFF">
              <a:alpha val="3000"/>
            </a:srgbClr>
          </a:solidFill>
          <a:ln w="9525">
            <a:solidFill>
              <a:srgbClr val="2A2F3A"/>
            </a:solidFill>
            <a:prstDash val="solid"/>
          </a:ln>
        </p:spPr>
      </p:sp>
      <p:sp>
        <p:nvSpPr>
          <p:cNvPr id="10" name="Shape 8"/>
          <p:cNvSpPr/>
          <p:nvPr/>
        </p:nvSpPr>
        <p:spPr>
          <a:xfrm>
            <a:off x="1209675" y="2765078"/>
            <a:ext cx="438150" cy="438150"/>
          </a:xfrm>
          <a:prstGeom prst="ellipse">
            <a:avLst/>
          </a:prstGeom>
          <a:solidFill>
            <a:srgbClr val="FF6A00">
              <a:alpha val="15000"/>
            </a:srgbClr>
          </a:solidFill>
          <a:ln w="9525">
            <a:solidFill>
              <a:srgbClr val="FF6A00">
                <a:alpha val="35000"/>
              </a:srgbClr>
            </a:solidFill>
            <a:prstDash val="solid"/>
          </a:ln>
        </p:spPr>
      </p:sp>
      <p:sp>
        <p:nvSpPr>
          <p:cNvPr id="11" name="Text 9"/>
          <p:cNvSpPr/>
          <p:nvPr/>
        </p:nvSpPr>
        <p:spPr>
          <a:xfrm>
            <a:off x="1181100" y="277460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8.2</a:t>
            </a:r>
            <a:endParaRPr lang="en-US" sz="1800" dirty="0"/>
          </a:p>
        </p:txBody>
      </p:sp>
      <p:sp>
        <p:nvSpPr>
          <p:cNvPr id="12" name="Text 10"/>
          <p:cNvSpPr/>
          <p:nvPr/>
        </p:nvSpPr>
        <p:spPr>
          <a:xfrm>
            <a:off x="1819275" y="2850803"/>
            <a:ext cx="829285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Explain the importance of transparency, disclosure and explainability in AI use</a:t>
            </a:r>
            <a:endParaRPr lang="en-US" sz="1800" dirty="0"/>
          </a:p>
        </p:txBody>
      </p:sp>
      <p:sp>
        <p:nvSpPr>
          <p:cNvPr id="13" name="Shape 11"/>
          <p:cNvSpPr/>
          <p:nvPr/>
        </p:nvSpPr>
        <p:spPr>
          <a:xfrm>
            <a:off x="952500" y="3431828"/>
            <a:ext cx="16383000" cy="666750"/>
          </a:xfrm>
          <a:prstGeom prst="roundRect">
            <a:avLst>
              <a:gd name="adj" fmla="val 50000"/>
            </a:avLst>
          </a:prstGeom>
          <a:solidFill>
            <a:srgbClr val="FFFFFF">
              <a:alpha val="3000"/>
            </a:srgbClr>
          </a:solidFill>
          <a:ln w="9525">
            <a:solidFill>
              <a:srgbClr val="2A2F3A"/>
            </a:solidFill>
            <a:prstDash val="solid"/>
          </a:ln>
        </p:spPr>
      </p:sp>
      <p:sp>
        <p:nvSpPr>
          <p:cNvPr id="14" name="Shape 12"/>
          <p:cNvSpPr/>
          <p:nvPr/>
        </p:nvSpPr>
        <p:spPr>
          <a:xfrm>
            <a:off x="1209675" y="3546128"/>
            <a:ext cx="438150" cy="438150"/>
          </a:xfrm>
          <a:prstGeom prst="ellipse">
            <a:avLst/>
          </a:prstGeom>
          <a:solidFill>
            <a:srgbClr val="FF6A00">
              <a:alpha val="15000"/>
            </a:srgbClr>
          </a:solidFill>
          <a:ln w="9525">
            <a:solidFill>
              <a:srgbClr val="FF6A00">
                <a:alpha val="35000"/>
              </a:srgbClr>
            </a:solidFill>
            <a:prstDash val="solid"/>
          </a:ln>
        </p:spPr>
      </p:sp>
      <p:sp>
        <p:nvSpPr>
          <p:cNvPr id="15" name="Text 13"/>
          <p:cNvSpPr/>
          <p:nvPr/>
        </p:nvSpPr>
        <p:spPr>
          <a:xfrm>
            <a:off x="1181100" y="355565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8.3</a:t>
            </a:r>
            <a:endParaRPr lang="en-US" sz="1800" dirty="0"/>
          </a:p>
        </p:txBody>
      </p:sp>
      <p:sp>
        <p:nvSpPr>
          <p:cNvPr id="16" name="Text 14"/>
          <p:cNvSpPr/>
          <p:nvPr/>
        </p:nvSpPr>
        <p:spPr>
          <a:xfrm>
            <a:off x="1819275" y="3631853"/>
            <a:ext cx="9901074"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Describe accountability — humans remain responsible for decisions made with AI assistance</a:t>
            </a:r>
            <a:endParaRPr lang="en-US" sz="1800" dirty="0"/>
          </a:p>
        </p:txBody>
      </p:sp>
      <p:sp>
        <p:nvSpPr>
          <p:cNvPr id="17" name="Shape 15"/>
          <p:cNvSpPr/>
          <p:nvPr/>
        </p:nvSpPr>
        <p:spPr>
          <a:xfrm>
            <a:off x="952500" y="4212878"/>
            <a:ext cx="16383000" cy="666750"/>
          </a:xfrm>
          <a:prstGeom prst="roundRect">
            <a:avLst>
              <a:gd name="adj" fmla="val 50000"/>
            </a:avLst>
          </a:prstGeom>
          <a:solidFill>
            <a:srgbClr val="FFFFFF">
              <a:alpha val="3000"/>
            </a:srgbClr>
          </a:solidFill>
          <a:ln w="9525">
            <a:solidFill>
              <a:srgbClr val="2A2F3A"/>
            </a:solidFill>
            <a:prstDash val="solid"/>
          </a:ln>
        </p:spPr>
      </p:sp>
      <p:sp>
        <p:nvSpPr>
          <p:cNvPr id="18" name="Shape 16"/>
          <p:cNvSpPr/>
          <p:nvPr/>
        </p:nvSpPr>
        <p:spPr>
          <a:xfrm>
            <a:off x="1209675" y="4327178"/>
            <a:ext cx="438150" cy="438150"/>
          </a:xfrm>
          <a:prstGeom prst="ellipse">
            <a:avLst/>
          </a:prstGeom>
          <a:solidFill>
            <a:srgbClr val="FF6A00">
              <a:alpha val="15000"/>
            </a:srgbClr>
          </a:solidFill>
          <a:ln w="9525">
            <a:solidFill>
              <a:srgbClr val="FF6A00">
                <a:alpha val="35000"/>
              </a:srgbClr>
            </a:solidFill>
            <a:prstDash val="solid"/>
          </a:ln>
        </p:spPr>
      </p:sp>
      <p:sp>
        <p:nvSpPr>
          <p:cNvPr id="19" name="Text 17"/>
          <p:cNvSpPr/>
          <p:nvPr/>
        </p:nvSpPr>
        <p:spPr>
          <a:xfrm>
            <a:off x="1181100" y="433670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8.4</a:t>
            </a:r>
            <a:endParaRPr lang="en-US" sz="1800" dirty="0"/>
          </a:p>
        </p:txBody>
      </p:sp>
      <p:sp>
        <p:nvSpPr>
          <p:cNvPr id="20" name="Text 18"/>
          <p:cNvSpPr/>
          <p:nvPr/>
        </p:nvSpPr>
        <p:spPr>
          <a:xfrm>
            <a:off x="1819275" y="4412903"/>
            <a:ext cx="9105111"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Understand the role of organisational AI policy, acceptable-use rules and governance</a:t>
            </a:r>
            <a:endParaRPr lang="en-US" sz="1800" dirty="0"/>
          </a:p>
        </p:txBody>
      </p:sp>
      <p:sp>
        <p:nvSpPr>
          <p:cNvPr id="21" name="Shape 19"/>
          <p:cNvSpPr/>
          <p:nvPr/>
        </p:nvSpPr>
        <p:spPr>
          <a:xfrm>
            <a:off x="952500" y="4993928"/>
            <a:ext cx="16383000" cy="666750"/>
          </a:xfrm>
          <a:prstGeom prst="roundRect">
            <a:avLst>
              <a:gd name="adj" fmla="val 50000"/>
            </a:avLst>
          </a:prstGeom>
          <a:solidFill>
            <a:srgbClr val="FFFFFF">
              <a:alpha val="3000"/>
            </a:srgbClr>
          </a:solidFill>
          <a:ln w="9525">
            <a:solidFill>
              <a:srgbClr val="2A2F3A"/>
            </a:solidFill>
            <a:prstDash val="solid"/>
          </a:ln>
        </p:spPr>
      </p:sp>
      <p:sp>
        <p:nvSpPr>
          <p:cNvPr id="22" name="Shape 20"/>
          <p:cNvSpPr/>
          <p:nvPr/>
        </p:nvSpPr>
        <p:spPr>
          <a:xfrm>
            <a:off x="1209675" y="5108228"/>
            <a:ext cx="438150" cy="438150"/>
          </a:xfrm>
          <a:prstGeom prst="ellipse">
            <a:avLst/>
          </a:prstGeom>
          <a:solidFill>
            <a:srgbClr val="FF6A00">
              <a:alpha val="15000"/>
            </a:srgbClr>
          </a:solidFill>
          <a:ln w="9525">
            <a:solidFill>
              <a:srgbClr val="FF6A00">
                <a:alpha val="35000"/>
              </a:srgbClr>
            </a:solidFill>
            <a:prstDash val="solid"/>
          </a:ln>
        </p:spPr>
      </p:sp>
      <p:sp>
        <p:nvSpPr>
          <p:cNvPr id="23" name="Text 21"/>
          <p:cNvSpPr/>
          <p:nvPr/>
        </p:nvSpPr>
        <p:spPr>
          <a:xfrm>
            <a:off x="1181100" y="511775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8.5</a:t>
            </a:r>
            <a:endParaRPr lang="en-US" sz="1800" dirty="0"/>
          </a:p>
        </p:txBody>
      </p:sp>
      <p:sp>
        <p:nvSpPr>
          <p:cNvPr id="24" name="Text 22"/>
          <p:cNvSpPr/>
          <p:nvPr/>
        </p:nvSpPr>
        <p:spPr>
          <a:xfrm>
            <a:off x="1819275" y="5193953"/>
            <a:ext cx="7503036"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Recognise that AI regulation and standards are emerging and evolving</a:t>
            </a:r>
            <a:endParaRPr lang="en-US" sz="1800" dirty="0"/>
          </a:p>
        </p:txBody>
      </p:sp>
      <p:sp>
        <p:nvSpPr>
          <p:cNvPr id="25" name="Shape 23"/>
          <p:cNvSpPr/>
          <p:nvPr/>
        </p:nvSpPr>
        <p:spPr>
          <a:xfrm>
            <a:off x="952500" y="5774978"/>
            <a:ext cx="16383000" cy="666750"/>
          </a:xfrm>
          <a:prstGeom prst="roundRect">
            <a:avLst>
              <a:gd name="adj" fmla="val 50000"/>
            </a:avLst>
          </a:prstGeom>
          <a:solidFill>
            <a:srgbClr val="FFFFFF">
              <a:alpha val="3000"/>
            </a:srgbClr>
          </a:solidFill>
          <a:ln w="9525">
            <a:solidFill>
              <a:srgbClr val="2A2F3A"/>
            </a:solidFill>
            <a:prstDash val="solid"/>
          </a:ln>
        </p:spPr>
      </p:sp>
      <p:sp>
        <p:nvSpPr>
          <p:cNvPr id="26" name="Shape 24"/>
          <p:cNvSpPr/>
          <p:nvPr/>
        </p:nvSpPr>
        <p:spPr>
          <a:xfrm>
            <a:off x="1209675" y="5889278"/>
            <a:ext cx="438150" cy="438150"/>
          </a:xfrm>
          <a:prstGeom prst="ellipse">
            <a:avLst/>
          </a:prstGeom>
          <a:solidFill>
            <a:srgbClr val="FF6A00">
              <a:alpha val="15000"/>
            </a:srgbClr>
          </a:solidFill>
          <a:ln w="9525">
            <a:solidFill>
              <a:srgbClr val="FF6A00">
                <a:alpha val="35000"/>
              </a:srgbClr>
            </a:solidFill>
            <a:prstDash val="solid"/>
          </a:ln>
        </p:spPr>
      </p:sp>
      <p:sp>
        <p:nvSpPr>
          <p:cNvPr id="27" name="Text 25"/>
          <p:cNvSpPr/>
          <p:nvPr/>
        </p:nvSpPr>
        <p:spPr>
          <a:xfrm>
            <a:off x="1181100" y="5898803"/>
            <a:ext cx="495300" cy="457200"/>
          </a:xfrm>
          <a:prstGeom prst="rect">
            <a:avLst/>
          </a:prstGeom>
          <a:noFill/>
          <a:ln/>
        </p:spPr>
        <p:txBody>
          <a:bodyPr wrap="square" lIns="25400" tIns="25400" rIns="25400" bIns="25400" rtlCol="0" anchor="ctr">
            <a:normAutofit/>
          </a:bodyPr>
          <a:lstStyle/>
          <a:p>
            <a:pPr algn="ctr" indent="0" marL="0">
              <a:buNone/>
            </a:pPr>
            <a:r>
              <a:rPr lang="en-US" sz="1800" b="1" dirty="0">
                <a:solidFill>
                  <a:srgbClr val="FFD9BF"/>
                </a:solidFill>
                <a:latin typeface="Arial" pitchFamily="34" charset="0"/>
                <a:ea typeface="Arial" pitchFamily="34" charset="-122"/>
                <a:cs typeface="Arial" pitchFamily="34" charset="-120"/>
              </a:rPr>
              <a:t>8.6</a:t>
            </a:r>
            <a:endParaRPr lang="en-US" sz="1800" dirty="0"/>
          </a:p>
        </p:txBody>
      </p:sp>
      <p:sp>
        <p:nvSpPr>
          <p:cNvPr id="28" name="Text 26"/>
          <p:cNvSpPr/>
          <p:nvPr/>
        </p:nvSpPr>
        <p:spPr>
          <a:xfrm>
            <a:off x="1819275" y="5975003"/>
            <a:ext cx="10106122"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Apply responsible-use principles and maintain human oversight in workplace decision-making</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EXAM BLUEPRINT</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Seven Domains, One Examination</a:t>
            </a:r>
            <a:endParaRPr lang="en-US" sz="3150" dirty="0"/>
          </a:p>
        </p:txBody>
      </p:sp>
      <p:sp>
        <p:nvSpPr>
          <p:cNvPr id="5" name="Text 3"/>
          <p:cNvSpPr/>
          <p:nvPr/>
        </p:nvSpPr>
        <p:spPr>
          <a:xfrm>
            <a:off x="952500" y="1812578"/>
            <a:ext cx="13620750" cy="434280"/>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DFE3EA"/>
                </a:solidFill>
                <a:latin typeface="Arial" pitchFamily="34" charset="0"/>
                <a:ea typeface="Arial" pitchFamily="34" charset="-122"/>
                <a:cs typeface="Arial" pitchFamily="34" charset="-120"/>
              </a:rPr>
              <a:t>This module covers Domain 7, the final domain — responsible, fair and accountable AI use.</a:t>
            </a:r>
            <a:endParaRPr lang="en-US" sz="1950" dirty="0"/>
          </a:p>
        </p:txBody>
      </p:sp>
      <p:sp>
        <p:nvSpPr>
          <p:cNvPr id="6" name="Shape 4"/>
          <p:cNvSpPr/>
          <p:nvPr/>
        </p:nvSpPr>
        <p:spPr>
          <a:xfrm>
            <a:off x="966788" y="2437358"/>
            <a:ext cx="1165250" cy="485775"/>
          </a:xfrm>
          <a:custGeom>
            <a:avLst/>
            <a:gdLst/>
            <a:ahLst/>
            <a:cxnLst/>
            <a:rect l="l" t="t" r="r" b="b"/>
            <a:pathLst>
              <a:path w="1165250" h="485775">
                <a:moveTo>
                  <a:pt x="95250" y="0"/>
                </a:moveTo>
                <a:lnTo>
                  <a:pt x="1165250" y="0"/>
                </a:lnTo>
                <a:lnTo>
                  <a:pt x="1165250" y="485775"/>
                </a:lnTo>
                <a:lnTo>
                  <a:pt x="0" y="485775"/>
                </a:lnTo>
                <a:lnTo>
                  <a:pt x="0" y="95250"/>
                </a:lnTo>
                <a:arcTo hR="95250" wR="95250" stAng="10800000" swAng="5400000"/>
                <a:close/>
              </a:path>
            </a:pathLst>
          </a:custGeom>
          <a:solidFill>
            <a:srgbClr val="FF6A00">
              <a:alpha val="18000"/>
            </a:srgbClr>
          </a:solidFill>
          <a:ln/>
        </p:spPr>
      </p:sp>
      <p:sp>
        <p:nvSpPr>
          <p:cNvPr id="7" name="Shape 5"/>
          <p:cNvSpPr/>
          <p:nvPr/>
        </p:nvSpPr>
        <p:spPr>
          <a:xfrm>
            <a:off x="966788" y="2913608"/>
            <a:ext cx="1165250" cy="9525"/>
          </a:xfrm>
          <a:prstGeom prst="rect">
            <a:avLst/>
          </a:prstGeom>
          <a:solidFill>
            <a:srgbClr val="B85100"/>
          </a:solidFill>
          <a:ln/>
        </p:spPr>
      </p:sp>
      <p:sp>
        <p:nvSpPr>
          <p:cNvPr id="8" name="Text 6"/>
          <p:cNvSpPr/>
          <p:nvPr/>
        </p:nvSpPr>
        <p:spPr>
          <a:xfrm>
            <a:off x="1119188" y="2532608"/>
            <a:ext cx="936650"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a:t>
            </a:r>
            <a:endParaRPr lang="en-US" sz="1950" dirty="0"/>
          </a:p>
        </p:txBody>
      </p:sp>
      <p:sp>
        <p:nvSpPr>
          <p:cNvPr id="9" name="Shape 7"/>
          <p:cNvSpPr/>
          <p:nvPr/>
        </p:nvSpPr>
        <p:spPr>
          <a:xfrm>
            <a:off x="2132037" y="2437358"/>
            <a:ext cx="11508358" cy="485775"/>
          </a:xfrm>
          <a:prstGeom prst="rect">
            <a:avLst/>
          </a:prstGeom>
          <a:solidFill>
            <a:srgbClr val="FF6A00">
              <a:alpha val="18000"/>
            </a:srgbClr>
          </a:solidFill>
          <a:ln/>
        </p:spPr>
      </p:sp>
      <p:sp>
        <p:nvSpPr>
          <p:cNvPr id="10" name="Shape 8"/>
          <p:cNvSpPr/>
          <p:nvPr/>
        </p:nvSpPr>
        <p:spPr>
          <a:xfrm>
            <a:off x="2132037" y="2913608"/>
            <a:ext cx="11508358" cy="9525"/>
          </a:xfrm>
          <a:prstGeom prst="rect">
            <a:avLst/>
          </a:prstGeom>
          <a:solidFill>
            <a:srgbClr val="B85100"/>
          </a:solidFill>
          <a:ln/>
        </p:spPr>
      </p:sp>
      <p:sp>
        <p:nvSpPr>
          <p:cNvPr id="11" name="Text 9"/>
          <p:cNvSpPr/>
          <p:nvPr/>
        </p:nvSpPr>
        <p:spPr>
          <a:xfrm>
            <a:off x="2284437" y="2532608"/>
            <a:ext cx="11548809" cy="323850"/>
          </a:xfrm>
          <a:prstGeom prst="rect">
            <a:avLst/>
          </a:prstGeom>
          <a:noFill/>
          <a:ln/>
        </p:spPr>
        <p:txBody>
          <a:bodyPr wrap="square" lIns="25400" tIns="25400" rIns="25400" bIns="25400" rtlCol="0" anchor="ctr">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Domain</a:t>
            </a:r>
            <a:endParaRPr lang="en-US" sz="1950" dirty="0"/>
          </a:p>
        </p:txBody>
      </p:sp>
      <p:sp>
        <p:nvSpPr>
          <p:cNvPr id="12" name="Shape 10"/>
          <p:cNvSpPr/>
          <p:nvPr/>
        </p:nvSpPr>
        <p:spPr>
          <a:xfrm>
            <a:off x="13640395" y="2437358"/>
            <a:ext cx="3695105" cy="485775"/>
          </a:xfrm>
          <a:custGeom>
            <a:avLst/>
            <a:gdLst/>
            <a:ahLst/>
            <a:cxnLst/>
            <a:rect l="l" t="t" r="r" b="b"/>
            <a:pathLst>
              <a:path w="3695105" h="485775">
                <a:moveTo>
                  <a:pt x="0" y="0"/>
                </a:moveTo>
                <a:lnTo>
                  <a:pt x="3599855" y="0"/>
                </a:lnTo>
                <a:arcTo hR="95250" wR="95250" stAng="16200000" swAng="5400000"/>
                <a:lnTo>
                  <a:pt x="3695105" y="485775"/>
                </a:lnTo>
                <a:lnTo>
                  <a:pt x="0" y="485775"/>
                </a:lnTo>
                <a:lnTo>
                  <a:pt x="0" y="0"/>
                </a:lnTo>
                <a:close/>
              </a:path>
            </a:pathLst>
          </a:custGeom>
          <a:solidFill>
            <a:srgbClr val="FF6A00">
              <a:alpha val="18000"/>
            </a:srgbClr>
          </a:solidFill>
          <a:ln/>
        </p:spPr>
      </p:sp>
      <p:sp>
        <p:nvSpPr>
          <p:cNvPr id="13" name="Shape 11"/>
          <p:cNvSpPr/>
          <p:nvPr/>
        </p:nvSpPr>
        <p:spPr>
          <a:xfrm>
            <a:off x="13640395" y="2913608"/>
            <a:ext cx="3695105" cy="9525"/>
          </a:xfrm>
          <a:prstGeom prst="rect">
            <a:avLst/>
          </a:prstGeom>
          <a:solidFill>
            <a:srgbClr val="B85100"/>
          </a:solidFill>
          <a:ln/>
        </p:spPr>
      </p:sp>
      <p:sp>
        <p:nvSpPr>
          <p:cNvPr id="14" name="Text 12"/>
          <p:cNvSpPr/>
          <p:nvPr/>
        </p:nvSpPr>
        <p:spPr>
          <a:xfrm>
            <a:off x="13681942" y="2532608"/>
            <a:ext cx="3501158" cy="323850"/>
          </a:xfrm>
          <a:prstGeom prst="rect">
            <a:avLst/>
          </a:prstGeom>
          <a:noFill/>
          <a:ln/>
        </p:spPr>
        <p:txBody>
          <a:bodyPr wrap="square" lIns="25400" tIns="25400" rIns="25400" bIns="25400" rtlCol="0" anchor="ctr">
            <a:normAutofit/>
          </a:bodyPr>
          <a:lstStyle/>
          <a:p>
            <a:pPr algn="r" indent="0" marL="0">
              <a:buNone/>
            </a:pPr>
            <a:r>
              <a:rPr lang="en-US" sz="1950" b="1" dirty="0">
                <a:solidFill>
                  <a:srgbClr val="F5F7FB"/>
                </a:solidFill>
                <a:latin typeface="Arial" pitchFamily="34" charset="0"/>
                <a:ea typeface="Arial" pitchFamily="34" charset="-122"/>
                <a:cs typeface="Arial" pitchFamily="34" charset="-120"/>
              </a:rPr>
              <a:t>Weighting</a:t>
            </a:r>
            <a:endParaRPr lang="en-US" sz="1950" dirty="0"/>
          </a:p>
        </p:txBody>
      </p:sp>
      <p:sp>
        <p:nvSpPr>
          <p:cNvPr id="15" name="Text 13"/>
          <p:cNvSpPr/>
          <p:nvPr/>
        </p:nvSpPr>
        <p:spPr>
          <a:xfrm>
            <a:off x="1119188" y="3018383"/>
            <a:ext cx="936650" cy="333375"/>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1</a:t>
            </a:r>
            <a:endParaRPr lang="en-US" sz="1950" dirty="0"/>
          </a:p>
        </p:txBody>
      </p:sp>
      <p:sp>
        <p:nvSpPr>
          <p:cNvPr id="16" name="Text 14"/>
          <p:cNvSpPr/>
          <p:nvPr/>
        </p:nvSpPr>
        <p:spPr>
          <a:xfrm>
            <a:off x="2284437" y="3018383"/>
            <a:ext cx="11548809" cy="333375"/>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AI Concepts &amp; Terminology</a:t>
            </a:r>
            <a:endParaRPr lang="en-US" sz="1950" dirty="0"/>
          </a:p>
        </p:txBody>
      </p:sp>
      <p:sp>
        <p:nvSpPr>
          <p:cNvPr id="17" name="Text 15"/>
          <p:cNvSpPr/>
          <p:nvPr/>
        </p:nvSpPr>
        <p:spPr>
          <a:xfrm>
            <a:off x="13681942" y="3018383"/>
            <a:ext cx="3501158" cy="333375"/>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20%</a:t>
            </a:r>
            <a:endParaRPr lang="en-US" sz="1950" dirty="0"/>
          </a:p>
        </p:txBody>
      </p:sp>
      <p:sp>
        <p:nvSpPr>
          <p:cNvPr id="18" name="Shape 16"/>
          <p:cNvSpPr/>
          <p:nvPr/>
        </p:nvSpPr>
        <p:spPr>
          <a:xfrm>
            <a:off x="966788" y="3408908"/>
            <a:ext cx="16368713" cy="481012"/>
          </a:xfrm>
          <a:prstGeom prst="rect">
            <a:avLst/>
          </a:prstGeom>
          <a:solidFill>
            <a:srgbClr val="FFFFFF">
              <a:alpha val="2000"/>
            </a:srgbClr>
          </a:solidFill>
          <a:ln/>
        </p:spPr>
      </p:sp>
      <p:sp>
        <p:nvSpPr>
          <p:cNvPr id="19" name="Text 17"/>
          <p:cNvSpPr/>
          <p:nvPr/>
        </p:nvSpPr>
        <p:spPr>
          <a:xfrm>
            <a:off x="1119188" y="3504158"/>
            <a:ext cx="936650"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2</a:t>
            </a:r>
            <a:endParaRPr lang="en-US" sz="1950" dirty="0"/>
          </a:p>
        </p:txBody>
      </p:sp>
      <p:sp>
        <p:nvSpPr>
          <p:cNvPr id="20" name="Text 18"/>
          <p:cNvSpPr/>
          <p:nvPr/>
        </p:nvSpPr>
        <p:spPr>
          <a:xfrm>
            <a:off x="2284437" y="3504158"/>
            <a:ext cx="11548809"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How AI Systems Work</a:t>
            </a:r>
            <a:endParaRPr lang="en-US" sz="1950" dirty="0"/>
          </a:p>
        </p:txBody>
      </p:sp>
      <p:sp>
        <p:nvSpPr>
          <p:cNvPr id="21" name="Text 19"/>
          <p:cNvSpPr/>
          <p:nvPr/>
        </p:nvSpPr>
        <p:spPr>
          <a:xfrm>
            <a:off x="13681942" y="3504158"/>
            <a:ext cx="3501158"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15%</a:t>
            </a:r>
            <a:endParaRPr lang="en-US" sz="1950" dirty="0"/>
          </a:p>
        </p:txBody>
      </p:sp>
      <p:sp>
        <p:nvSpPr>
          <p:cNvPr id="22" name="Text 20"/>
          <p:cNvSpPr/>
          <p:nvPr/>
        </p:nvSpPr>
        <p:spPr>
          <a:xfrm>
            <a:off x="1119188" y="3985171"/>
            <a:ext cx="936650"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3</a:t>
            </a:r>
            <a:endParaRPr lang="en-US" sz="1950" dirty="0"/>
          </a:p>
        </p:txBody>
      </p:sp>
      <p:sp>
        <p:nvSpPr>
          <p:cNvPr id="23" name="Text 21"/>
          <p:cNvSpPr/>
          <p:nvPr/>
        </p:nvSpPr>
        <p:spPr>
          <a:xfrm>
            <a:off x="2284437" y="3985171"/>
            <a:ext cx="11548809"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Generative AI &amp; AI Tools</a:t>
            </a:r>
            <a:endParaRPr lang="en-US" sz="1950" dirty="0"/>
          </a:p>
        </p:txBody>
      </p:sp>
      <p:sp>
        <p:nvSpPr>
          <p:cNvPr id="24" name="Text 22"/>
          <p:cNvSpPr/>
          <p:nvPr/>
        </p:nvSpPr>
        <p:spPr>
          <a:xfrm>
            <a:off x="13681942" y="3985171"/>
            <a:ext cx="3501158"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15%</a:t>
            </a:r>
            <a:endParaRPr lang="en-US" sz="1950" dirty="0"/>
          </a:p>
        </p:txBody>
      </p:sp>
      <p:sp>
        <p:nvSpPr>
          <p:cNvPr id="25" name="Shape 23"/>
          <p:cNvSpPr/>
          <p:nvPr/>
        </p:nvSpPr>
        <p:spPr>
          <a:xfrm>
            <a:off x="966788" y="4370933"/>
            <a:ext cx="16368713" cy="481012"/>
          </a:xfrm>
          <a:prstGeom prst="rect">
            <a:avLst/>
          </a:prstGeom>
          <a:solidFill>
            <a:srgbClr val="FFFFFF">
              <a:alpha val="2000"/>
            </a:srgbClr>
          </a:solidFill>
          <a:ln/>
        </p:spPr>
      </p:sp>
      <p:sp>
        <p:nvSpPr>
          <p:cNvPr id="26" name="Text 24"/>
          <p:cNvSpPr/>
          <p:nvPr/>
        </p:nvSpPr>
        <p:spPr>
          <a:xfrm>
            <a:off x="1119188" y="4466183"/>
            <a:ext cx="936650"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4</a:t>
            </a:r>
            <a:endParaRPr lang="en-US" sz="1950" dirty="0"/>
          </a:p>
        </p:txBody>
      </p:sp>
      <p:sp>
        <p:nvSpPr>
          <p:cNvPr id="27" name="Text 25"/>
          <p:cNvSpPr/>
          <p:nvPr/>
        </p:nvSpPr>
        <p:spPr>
          <a:xfrm>
            <a:off x="2284437" y="4466183"/>
            <a:ext cx="11548809"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Prompting &amp; Effective AI Use</a:t>
            </a:r>
            <a:endParaRPr lang="en-US" sz="1950" dirty="0"/>
          </a:p>
        </p:txBody>
      </p:sp>
      <p:sp>
        <p:nvSpPr>
          <p:cNvPr id="28" name="Text 26"/>
          <p:cNvSpPr/>
          <p:nvPr/>
        </p:nvSpPr>
        <p:spPr>
          <a:xfrm>
            <a:off x="13681942" y="4466183"/>
            <a:ext cx="3501158"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15%</a:t>
            </a:r>
            <a:endParaRPr lang="en-US" sz="1950" dirty="0"/>
          </a:p>
        </p:txBody>
      </p:sp>
      <p:sp>
        <p:nvSpPr>
          <p:cNvPr id="29" name="Text 27"/>
          <p:cNvSpPr/>
          <p:nvPr/>
        </p:nvSpPr>
        <p:spPr>
          <a:xfrm>
            <a:off x="1119188" y="4947196"/>
            <a:ext cx="936650"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5</a:t>
            </a:r>
            <a:endParaRPr lang="en-US" sz="1950" dirty="0"/>
          </a:p>
        </p:txBody>
      </p:sp>
      <p:sp>
        <p:nvSpPr>
          <p:cNvPr id="30" name="Text 28"/>
          <p:cNvSpPr/>
          <p:nvPr/>
        </p:nvSpPr>
        <p:spPr>
          <a:xfrm>
            <a:off x="2284437" y="4947196"/>
            <a:ext cx="11548809"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AI Limitations &amp; Verification</a:t>
            </a:r>
            <a:endParaRPr lang="en-US" sz="1950" dirty="0"/>
          </a:p>
        </p:txBody>
      </p:sp>
      <p:sp>
        <p:nvSpPr>
          <p:cNvPr id="31" name="Text 29"/>
          <p:cNvSpPr/>
          <p:nvPr/>
        </p:nvSpPr>
        <p:spPr>
          <a:xfrm>
            <a:off x="13681942" y="4947196"/>
            <a:ext cx="3501158"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15%</a:t>
            </a:r>
            <a:endParaRPr lang="en-US" sz="1950" dirty="0"/>
          </a:p>
        </p:txBody>
      </p:sp>
      <p:sp>
        <p:nvSpPr>
          <p:cNvPr id="32" name="Shape 30"/>
          <p:cNvSpPr/>
          <p:nvPr/>
        </p:nvSpPr>
        <p:spPr>
          <a:xfrm>
            <a:off x="966788" y="5332958"/>
            <a:ext cx="16368713" cy="481012"/>
          </a:xfrm>
          <a:prstGeom prst="rect">
            <a:avLst/>
          </a:prstGeom>
          <a:solidFill>
            <a:srgbClr val="FFFFFF">
              <a:alpha val="2000"/>
            </a:srgbClr>
          </a:solidFill>
          <a:ln/>
        </p:spPr>
      </p:sp>
      <p:sp>
        <p:nvSpPr>
          <p:cNvPr id="33" name="Text 31"/>
          <p:cNvSpPr/>
          <p:nvPr/>
        </p:nvSpPr>
        <p:spPr>
          <a:xfrm>
            <a:off x="1119188" y="5428208"/>
            <a:ext cx="936650"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6</a:t>
            </a:r>
            <a:endParaRPr lang="en-US" sz="1950" dirty="0"/>
          </a:p>
        </p:txBody>
      </p:sp>
      <p:sp>
        <p:nvSpPr>
          <p:cNvPr id="34" name="Text 32"/>
          <p:cNvSpPr/>
          <p:nvPr/>
        </p:nvSpPr>
        <p:spPr>
          <a:xfrm>
            <a:off x="2284437" y="5428208"/>
            <a:ext cx="11548809" cy="328612"/>
          </a:xfrm>
          <a:prstGeom prst="rect">
            <a:avLst/>
          </a:prstGeom>
          <a:noFill/>
          <a:ln/>
        </p:spPr>
        <p:txBody>
          <a:bodyPr wrap="square" lIns="25400" tIns="25400" rIns="25400" bIns="25400" rtlCol="0" anchor="ctr">
            <a:normAutofit/>
          </a:bodyPr>
          <a:lstStyle/>
          <a:p>
            <a:pPr algn="l" indent="0" marL="0">
              <a:buNone/>
            </a:pPr>
            <a:r>
              <a:rPr lang="en-US" sz="1950" dirty="0">
                <a:solidFill>
                  <a:srgbClr val="DFE3EA"/>
                </a:solidFill>
                <a:latin typeface="Arial" pitchFamily="34" charset="0"/>
                <a:ea typeface="Arial" pitchFamily="34" charset="-122"/>
                <a:cs typeface="Arial" pitchFamily="34" charset="-120"/>
              </a:rPr>
              <a:t>AI Security, Privacy &amp; Data</a:t>
            </a:r>
            <a:endParaRPr lang="en-US" sz="1950" dirty="0"/>
          </a:p>
        </p:txBody>
      </p:sp>
      <p:sp>
        <p:nvSpPr>
          <p:cNvPr id="35" name="Text 33"/>
          <p:cNvSpPr/>
          <p:nvPr/>
        </p:nvSpPr>
        <p:spPr>
          <a:xfrm>
            <a:off x="13681942" y="5428208"/>
            <a:ext cx="3501158" cy="328612"/>
          </a:xfrm>
          <a:prstGeom prst="rect">
            <a:avLst/>
          </a:prstGeom>
          <a:noFill/>
          <a:ln/>
        </p:spPr>
        <p:txBody>
          <a:bodyPr wrap="square" lIns="25400" tIns="25400" rIns="25400" bIns="25400" rtlCol="0" anchor="ctr">
            <a:normAutofit/>
          </a:bodyPr>
          <a:lstStyle/>
          <a:p>
            <a:pPr algn="r" indent="0" marL="0">
              <a:buNone/>
            </a:pPr>
            <a:r>
              <a:rPr lang="en-US" sz="1950" dirty="0">
                <a:solidFill>
                  <a:srgbClr val="DFE3EA"/>
                </a:solidFill>
                <a:latin typeface="Arial" pitchFamily="34" charset="0"/>
                <a:ea typeface="Arial" pitchFamily="34" charset="-122"/>
                <a:cs typeface="Arial" pitchFamily="34" charset="-120"/>
              </a:rPr>
              <a:t>10%</a:t>
            </a:r>
            <a:endParaRPr lang="en-US" sz="1950" dirty="0"/>
          </a:p>
        </p:txBody>
      </p:sp>
      <p:sp>
        <p:nvSpPr>
          <p:cNvPr id="36" name="Shape 34"/>
          <p:cNvSpPr/>
          <p:nvPr/>
        </p:nvSpPr>
        <p:spPr>
          <a:xfrm>
            <a:off x="966788" y="5813971"/>
            <a:ext cx="16368713" cy="481012"/>
          </a:xfrm>
          <a:prstGeom prst="rect">
            <a:avLst/>
          </a:prstGeom>
          <a:solidFill>
            <a:srgbClr val="FF6A00">
              <a:alpha val="10000"/>
            </a:srgbClr>
          </a:solidFill>
          <a:ln/>
        </p:spPr>
      </p:sp>
      <p:sp>
        <p:nvSpPr>
          <p:cNvPr id="37" name="Shape 35"/>
          <p:cNvSpPr/>
          <p:nvPr/>
        </p:nvSpPr>
        <p:spPr>
          <a:xfrm>
            <a:off x="966788" y="5813971"/>
            <a:ext cx="28575" cy="481012"/>
          </a:xfrm>
          <a:prstGeom prst="rect">
            <a:avLst/>
          </a:prstGeom>
          <a:solidFill>
            <a:srgbClr val="FF6A00"/>
          </a:solidFill>
          <a:ln/>
        </p:spPr>
      </p:sp>
      <p:sp>
        <p:nvSpPr>
          <p:cNvPr id="38" name="Text 36"/>
          <p:cNvSpPr/>
          <p:nvPr/>
        </p:nvSpPr>
        <p:spPr>
          <a:xfrm>
            <a:off x="1119188" y="5909221"/>
            <a:ext cx="936650" cy="328612"/>
          </a:xfrm>
          <a:prstGeom prst="rect">
            <a:avLst/>
          </a:prstGeom>
          <a:noFill/>
          <a:ln/>
        </p:spPr>
        <p:txBody>
          <a:bodyPr wrap="square" lIns="25400" tIns="25400" rIns="25400" bIns="25400" rtlCol="0" anchor="ctr">
            <a:normAutofit/>
          </a:bodyPr>
          <a:lstStyle/>
          <a:p>
            <a:pPr algn="l" indent="0" marL="0">
              <a:buNone/>
            </a:pPr>
            <a:r>
              <a:rPr lang="en-US" sz="1950" b="1" dirty="0">
                <a:solidFill>
                  <a:srgbClr val="FF6A00"/>
                </a:solidFill>
                <a:latin typeface="Arial" pitchFamily="34" charset="0"/>
                <a:ea typeface="Arial" pitchFamily="34" charset="-122"/>
                <a:cs typeface="Arial" pitchFamily="34" charset="-120"/>
              </a:rPr>
              <a:t>7</a:t>
            </a:r>
            <a:endParaRPr lang="en-US" sz="1950" dirty="0"/>
          </a:p>
        </p:txBody>
      </p:sp>
      <p:sp>
        <p:nvSpPr>
          <p:cNvPr id="39" name="Text 37"/>
          <p:cNvSpPr/>
          <p:nvPr/>
        </p:nvSpPr>
        <p:spPr>
          <a:xfrm>
            <a:off x="2284437" y="5909221"/>
            <a:ext cx="11548809" cy="328612"/>
          </a:xfrm>
          <a:prstGeom prst="rect">
            <a:avLst/>
          </a:prstGeom>
          <a:noFill/>
          <a:ln/>
        </p:spPr>
        <p:txBody>
          <a:bodyPr wrap="square" lIns="25400" tIns="25400" rIns="25400" bIns="25400" rtlCol="0" anchor="ctr">
            <a:normAutofit/>
          </a:bodyPr>
          <a:lstStyle/>
          <a:p>
            <a:pPr algn="l" indent="0" marL="0">
              <a:buNone/>
            </a:pPr>
            <a:r>
              <a:rPr lang="en-US" sz="1950" b="1" dirty="0">
                <a:solidFill>
                  <a:srgbClr val="F5F7FB"/>
                </a:solidFill>
                <a:latin typeface="Arial" pitchFamily="34" charset="0"/>
                <a:ea typeface="Arial" pitchFamily="34" charset="-122"/>
                <a:cs typeface="Arial" pitchFamily="34" charset="-120"/>
              </a:rPr>
              <a:t>Responsible AI, Ethics &amp; Governance</a:t>
            </a:r>
            <a:endParaRPr lang="en-US" sz="1950" dirty="0"/>
          </a:p>
        </p:txBody>
      </p:sp>
      <p:sp>
        <p:nvSpPr>
          <p:cNvPr id="40" name="Text 38"/>
          <p:cNvSpPr/>
          <p:nvPr/>
        </p:nvSpPr>
        <p:spPr>
          <a:xfrm>
            <a:off x="13681942" y="5909221"/>
            <a:ext cx="3501158" cy="328612"/>
          </a:xfrm>
          <a:prstGeom prst="rect">
            <a:avLst/>
          </a:prstGeom>
          <a:noFill/>
          <a:ln/>
        </p:spPr>
        <p:txBody>
          <a:bodyPr wrap="square" lIns="25400" tIns="25400" rIns="25400" bIns="25400" rtlCol="0" anchor="ctr">
            <a:normAutofit/>
          </a:bodyPr>
          <a:lstStyle/>
          <a:p>
            <a:pPr algn="r" indent="0" marL="0">
              <a:buNone/>
            </a:pPr>
            <a:r>
              <a:rPr lang="en-US" sz="1950" b="1" dirty="0">
                <a:solidFill>
                  <a:srgbClr val="FF6A00"/>
                </a:solidFill>
                <a:latin typeface="Arial" pitchFamily="34" charset="0"/>
                <a:ea typeface="Arial" pitchFamily="34" charset="-122"/>
                <a:cs typeface="Arial" pitchFamily="34" charset="-120"/>
              </a:rPr>
              <a:t>10%</a:t>
            </a:r>
            <a:endParaRPr lang="en-US" sz="1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3877196"/>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BUILDING ON MODULE 7</a:t>
            </a:r>
            <a:endParaRPr lang="en-US" sz="1800" dirty="0"/>
          </a:p>
        </p:txBody>
      </p:sp>
      <p:sp>
        <p:nvSpPr>
          <p:cNvPr id="4" name="Text 2"/>
          <p:cNvSpPr/>
          <p:nvPr/>
        </p:nvSpPr>
        <p:spPr>
          <a:xfrm>
            <a:off x="952500" y="4315346"/>
            <a:ext cx="146685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You Can Protect Your Data. Now: Use AI Responsibly, Every Time</a:t>
            </a:r>
            <a:endParaRPr lang="en-US" sz="3150" dirty="0"/>
          </a:p>
        </p:txBody>
      </p:sp>
      <p:sp>
        <p:nvSpPr>
          <p:cNvPr id="5" name="Text 3"/>
          <p:cNvSpPr/>
          <p:nvPr/>
        </p:nvSpPr>
        <p:spPr>
          <a:xfrm>
            <a:off x="952500" y="5289724"/>
            <a:ext cx="12753975" cy="891480"/>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This final module brings together fairness, transparency, accountability and governance — the principles that keep AI use responsible once the technical and security basics are in place.</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55788" y="4586734"/>
            <a:ext cx="5376349"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8.1 · SUB-OBJECTIVE 1 OF 6</a:t>
            </a:r>
            <a:endParaRPr lang="en-US" sz="1950" dirty="0"/>
          </a:p>
        </p:txBody>
      </p:sp>
      <p:sp>
        <p:nvSpPr>
          <p:cNvPr id="4" name="Text 2"/>
          <p:cNvSpPr/>
          <p:nvPr/>
        </p:nvSpPr>
        <p:spPr>
          <a:xfrm>
            <a:off x="6631037" y="5086796"/>
            <a:ext cx="5025926"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Bias And Fairness</a:t>
            </a:r>
            <a:endParaRPr lang="en-US" sz="4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8.1 BIAS AND FAIRNESS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How Bias Enters AI Systems</a:t>
            </a:r>
            <a:endParaRPr lang="en-US" sz="3150" dirty="0"/>
          </a:p>
        </p:txBody>
      </p:sp>
      <p:sp>
        <p:nvSpPr>
          <p:cNvPr id="5" name="Text 3"/>
          <p:cNvSpPr/>
          <p:nvPr/>
        </p:nvSpPr>
        <p:spPr>
          <a:xfrm>
            <a:off x="952500" y="1831628"/>
            <a:ext cx="12753975" cy="1318171"/>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Bias is a systematic skew in AI output that unfairly favours or disadvantages particular groups or outcomes. It typically enters through training data — if the data under-represents certain groups, or reflects historical inequalities, the model's output can reproduce that skew.</a:t>
            </a:r>
            <a:endParaRPr lang="en-US" sz="2100" dirty="0"/>
          </a:p>
        </p:txBody>
      </p:sp>
      <p:sp>
        <p:nvSpPr>
          <p:cNvPr id="6" name="Shape 4"/>
          <p:cNvSpPr/>
          <p:nvPr/>
        </p:nvSpPr>
        <p:spPr>
          <a:xfrm>
            <a:off x="952500" y="3397448"/>
            <a:ext cx="16383000" cy="1181100"/>
          </a:xfrm>
          <a:prstGeom prst="roundRect">
            <a:avLst>
              <a:gd name="adj" fmla="val 12903"/>
            </a:avLst>
          </a:prstGeom>
          <a:solidFill>
            <a:srgbClr val="FFFFFF">
              <a:alpha val="2000"/>
            </a:srgbClr>
          </a:solidFill>
          <a:ln w="9525">
            <a:solidFill>
              <a:srgbClr val="2A2F3A"/>
            </a:solidFill>
            <a:prstDash val="solid"/>
          </a:ln>
        </p:spPr>
      </p:sp>
      <p:sp>
        <p:nvSpPr>
          <p:cNvPr id="7" name="Text 5"/>
          <p:cNvSpPr/>
          <p:nvPr/>
        </p:nvSpPr>
        <p:spPr>
          <a:xfrm>
            <a:off x="1190625" y="3635573"/>
            <a:ext cx="1749742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Connects To</a:t>
            </a:r>
            <a:endParaRPr lang="en-US" sz="1800" dirty="0"/>
          </a:p>
        </p:txBody>
      </p:sp>
      <p:sp>
        <p:nvSpPr>
          <p:cNvPr id="8" name="Text 6"/>
          <p:cNvSpPr/>
          <p:nvPr/>
        </p:nvSpPr>
        <p:spPr>
          <a:xfrm>
            <a:off x="1190625" y="3997523"/>
            <a:ext cx="1749742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Module 2, 2.3 — a model can only reflect patterns present in its training data. Bias is what happens when those patterns are unfair.</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8.1 BIAS AND FAIRNESS</a:t>
            </a:r>
            <a:endParaRPr lang="en-US" sz="1800" dirty="0"/>
          </a:p>
        </p:txBody>
      </p:sp>
      <p:sp>
        <p:nvSpPr>
          <p:cNvPr id="4" name="Text 2"/>
          <p:cNvSpPr/>
          <p:nvPr/>
        </p:nvSpPr>
        <p:spPr>
          <a:xfrm>
            <a:off x="952500" y="1162050"/>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A Concrete Example</a:t>
            </a:r>
            <a:endParaRPr lang="en-US" sz="2850" dirty="0"/>
          </a:p>
        </p:txBody>
      </p:sp>
      <p:sp>
        <p:nvSpPr>
          <p:cNvPr id="5" name="Shape 3"/>
          <p:cNvSpPr/>
          <p:nvPr/>
        </p:nvSpPr>
        <p:spPr>
          <a:xfrm>
            <a:off x="952500" y="1825898"/>
            <a:ext cx="16383000" cy="1413421"/>
          </a:xfrm>
          <a:prstGeom prst="roundRect">
            <a:avLst>
              <a:gd name="adj" fmla="val 10782"/>
            </a:avLst>
          </a:prstGeom>
          <a:solidFill>
            <a:srgbClr val="FFFFFF">
              <a:alpha val="2000"/>
            </a:srgbClr>
          </a:solidFill>
          <a:ln w="9525">
            <a:solidFill>
              <a:srgbClr val="2A2F3A"/>
            </a:solidFill>
            <a:prstDash val="solid"/>
          </a:ln>
        </p:spPr>
      </p:sp>
      <p:sp>
        <p:nvSpPr>
          <p:cNvPr id="6" name="Text 4"/>
          <p:cNvSpPr/>
          <p:nvPr/>
        </p:nvSpPr>
        <p:spPr>
          <a:xfrm>
            <a:off x="1247775" y="2121173"/>
            <a:ext cx="16283940" cy="860971"/>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A CV-screening tool is trained mainly on the profiles of people historically hired into a role. If that history skews toward one group, the tool can learn to favour similar-looking applications — regardless of actual merit.</a:t>
            </a:r>
            <a:endParaRPr lang="en-US" sz="2025" dirty="0"/>
          </a:p>
        </p:txBody>
      </p:sp>
      <p:sp>
        <p:nvSpPr>
          <p:cNvPr id="7" name="Text 5"/>
          <p:cNvSpPr/>
          <p:nvPr/>
        </p:nvSpPr>
        <p:spPr>
          <a:xfrm>
            <a:off x="952500" y="3467919"/>
            <a:ext cx="1802130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Fairness means the outcome doesn't unfairly disadvantage anyone based on characteristics unrelated to merit.</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"Bias usually enters through training data — a model can reproduce the unfairness already present in what it learned from."</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8.1</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16739" y="4586734"/>
            <a:ext cx="5454521"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8.2 · SUB-OBJECTIVE 2 OF 6</a:t>
            </a:r>
            <a:endParaRPr lang="en-US" sz="1950" dirty="0"/>
          </a:p>
        </p:txBody>
      </p:sp>
      <p:sp>
        <p:nvSpPr>
          <p:cNvPr id="4" name="Text 2"/>
          <p:cNvSpPr/>
          <p:nvPr/>
        </p:nvSpPr>
        <p:spPr>
          <a:xfrm>
            <a:off x="2959492" y="5086796"/>
            <a:ext cx="12369016"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Transparency, Disclosure And Explainability</a:t>
            </a:r>
            <a:endParaRPr lang="en-US" sz="4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8.2 TRANSPARENCY, DISCLOSURE AND EXPLAINABILITY</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Three Related, Distinct Ideas</a:t>
            </a:r>
            <a:endParaRPr lang="en-US" sz="3150" dirty="0"/>
          </a:p>
        </p:txBody>
      </p:sp>
      <p:sp>
        <p:nvSpPr>
          <p:cNvPr id="5" name="Shape 3"/>
          <p:cNvSpPr/>
          <p:nvPr/>
        </p:nvSpPr>
        <p:spPr>
          <a:xfrm>
            <a:off x="952500" y="1869728"/>
            <a:ext cx="5346650" cy="1481138"/>
          </a:xfrm>
          <a:prstGeom prst="roundRect">
            <a:avLst>
              <a:gd name="adj" fmla="val 10289"/>
            </a:avLst>
          </a:prstGeom>
          <a:solidFill>
            <a:srgbClr val="FFFFFF">
              <a:alpha val="2000"/>
            </a:srgbClr>
          </a:solidFill>
          <a:ln w="9525">
            <a:solidFill>
              <a:srgbClr val="2A2F3A"/>
            </a:solidFill>
            <a:prstDash val="solid"/>
          </a:ln>
        </p:spPr>
      </p:sp>
      <p:sp>
        <p:nvSpPr>
          <p:cNvPr id="6" name="Text 4"/>
          <p:cNvSpPr/>
          <p:nvPr/>
        </p:nvSpPr>
        <p:spPr>
          <a:xfrm>
            <a:off x="1171575" y="2088803"/>
            <a:ext cx="539935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Transparency</a:t>
            </a:r>
            <a:endParaRPr lang="en-US" sz="1875" dirty="0"/>
          </a:p>
        </p:txBody>
      </p:sp>
      <p:sp>
        <p:nvSpPr>
          <p:cNvPr id="7" name="Text 5"/>
          <p:cNvSpPr/>
          <p:nvPr/>
        </p:nvSpPr>
        <p:spPr>
          <a:xfrm>
            <a:off x="1171575" y="2445990"/>
            <a:ext cx="5055755"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Being open about the fact that AI is involved in a process at all.</a:t>
            </a:r>
            <a:endParaRPr lang="en-US" sz="1800" dirty="0"/>
          </a:p>
        </p:txBody>
      </p:sp>
      <p:sp>
        <p:nvSpPr>
          <p:cNvPr id="8" name="Shape 6"/>
          <p:cNvSpPr/>
          <p:nvPr/>
        </p:nvSpPr>
        <p:spPr>
          <a:xfrm>
            <a:off x="6470600" y="1869728"/>
            <a:ext cx="5346725" cy="1481138"/>
          </a:xfrm>
          <a:prstGeom prst="roundRect">
            <a:avLst>
              <a:gd name="adj" fmla="val 10289"/>
            </a:avLst>
          </a:prstGeom>
          <a:solidFill>
            <a:srgbClr val="FFFFFF">
              <a:alpha val="2000"/>
            </a:srgbClr>
          </a:solidFill>
          <a:ln w="9525">
            <a:solidFill>
              <a:srgbClr val="2A2F3A"/>
            </a:solidFill>
            <a:prstDash val="solid"/>
          </a:ln>
        </p:spPr>
      </p:sp>
      <p:sp>
        <p:nvSpPr>
          <p:cNvPr id="9" name="Text 7"/>
          <p:cNvSpPr/>
          <p:nvPr/>
        </p:nvSpPr>
        <p:spPr>
          <a:xfrm>
            <a:off x="6689675" y="2088803"/>
            <a:ext cx="5399432"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Disclosure</a:t>
            </a:r>
            <a:endParaRPr lang="en-US" sz="1875" dirty="0"/>
          </a:p>
        </p:txBody>
      </p:sp>
      <p:sp>
        <p:nvSpPr>
          <p:cNvPr id="10" name="Text 8"/>
          <p:cNvSpPr/>
          <p:nvPr/>
        </p:nvSpPr>
        <p:spPr>
          <a:xfrm>
            <a:off x="6689675" y="2445990"/>
            <a:ext cx="5055832"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Actively telling the people affected that AI was used.</a:t>
            </a:r>
            <a:endParaRPr lang="en-US" sz="1800" dirty="0"/>
          </a:p>
        </p:txBody>
      </p:sp>
      <p:sp>
        <p:nvSpPr>
          <p:cNvPr id="11" name="Shape 9"/>
          <p:cNvSpPr/>
          <p:nvPr/>
        </p:nvSpPr>
        <p:spPr>
          <a:xfrm>
            <a:off x="11988775" y="1869728"/>
            <a:ext cx="5346650" cy="1481138"/>
          </a:xfrm>
          <a:prstGeom prst="roundRect">
            <a:avLst>
              <a:gd name="adj" fmla="val 10289"/>
            </a:avLst>
          </a:prstGeom>
          <a:solidFill>
            <a:srgbClr val="FFFFFF">
              <a:alpha val="2000"/>
            </a:srgbClr>
          </a:solidFill>
          <a:ln w="9525">
            <a:solidFill>
              <a:srgbClr val="2A2F3A"/>
            </a:solidFill>
            <a:prstDash val="solid"/>
          </a:ln>
        </p:spPr>
      </p:sp>
      <p:sp>
        <p:nvSpPr>
          <p:cNvPr id="12" name="Text 10"/>
          <p:cNvSpPr/>
          <p:nvPr/>
        </p:nvSpPr>
        <p:spPr>
          <a:xfrm>
            <a:off x="12207850" y="2088803"/>
            <a:ext cx="539935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Explainability</a:t>
            </a:r>
            <a:endParaRPr lang="en-US" sz="1875" dirty="0"/>
          </a:p>
        </p:txBody>
      </p:sp>
      <p:sp>
        <p:nvSpPr>
          <p:cNvPr id="13" name="Text 11"/>
          <p:cNvSpPr/>
          <p:nvPr/>
        </p:nvSpPr>
        <p:spPr>
          <a:xfrm>
            <a:off x="12207850" y="2445990"/>
            <a:ext cx="5055755"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Being able to describe, in plain terms, roughly why an AI system produced a given output.</a:t>
            </a:r>
            <a:endParaRPr lang="en-US" sz="1800" dirty="0"/>
          </a:p>
        </p:txBody>
      </p:sp>
      <p:sp>
        <p:nvSpPr>
          <p:cNvPr id="14" name="Shape 12"/>
          <p:cNvSpPr/>
          <p:nvPr/>
        </p:nvSpPr>
        <p:spPr>
          <a:xfrm>
            <a:off x="952500" y="3579465"/>
            <a:ext cx="16383000" cy="1162050"/>
          </a:xfrm>
          <a:prstGeom prst="roundRect">
            <a:avLst>
              <a:gd name="adj" fmla="val 13115"/>
            </a:avLst>
          </a:prstGeom>
          <a:solidFill>
            <a:srgbClr val="FF6A00">
              <a:alpha val="8000"/>
            </a:srgbClr>
          </a:solidFill>
          <a:ln w="9525">
            <a:solidFill>
              <a:srgbClr val="B85100"/>
            </a:solidFill>
            <a:prstDash val="solid"/>
          </a:ln>
        </p:spPr>
      </p:sp>
      <p:sp>
        <p:nvSpPr>
          <p:cNvPr id="15" name="Text 13"/>
          <p:cNvSpPr/>
          <p:nvPr/>
        </p:nvSpPr>
        <p:spPr>
          <a:xfrm>
            <a:off x="1190625" y="3817590"/>
            <a:ext cx="16398240"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Example: telling a job applicant that AI was used to screen applications is disclosure; being able to say roughly why their application was screened out is explainability.</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49130"/>
            <a:ext cx="38100" cy="1588740"/>
          </a:xfrm>
          <a:prstGeom prst="rect">
            <a:avLst/>
          </a:prstGeom>
          <a:solidFill>
            <a:srgbClr val="FF6A00"/>
          </a:solidFill>
          <a:ln/>
        </p:spPr>
      </p:sp>
      <p:sp>
        <p:nvSpPr>
          <p:cNvPr id="4" name="Text 2"/>
          <p:cNvSpPr/>
          <p:nvPr/>
        </p:nvSpPr>
        <p:spPr>
          <a:xfrm>
            <a:off x="1333500" y="4425330"/>
            <a:ext cx="13735050" cy="998190"/>
          </a:xfrm>
          <a:prstGeom prst="rect">
            <a:avLst/>
          </a:prstGeom>
          <a:noFill/>
          <a:ln/>
        </p:spPr>
        <p:txBody>
          <a:bodyPr wrap="square" lIns="25400" tIns="25400" rIns="25400" bIns="25400" rtlCol="0" anchor="t">
            <a:normAutofit/>
          </a:bodyPr>
          <a:lstStyle/>
          <a:p>
            <a:pPr algn="l" indent="0" marL="0">
              <a:lnSpc>
                <a:spcPct val="122927"/>
              </a:lnSpc>
              <a:buNone/>
            </a:pPr>
            <a:r>
              <a:rPr lang="en-US" sz="2700" b="1" dirty="0">
                <a:solidFill>
                  <a:srgbClr val="F5F7FB"/>
                </a:solidFill>
                <a:latin typeface="Arial" pitchFamily="34" charset="0"/>
                <a:ea typeface="Arial" pitchFamily="34" charset="-122"/>
                <a:cs typeface="Arial" pitchFamily="34" charset="-120"/>
              </a:rPr>
              <a:t>"Transparency is being open that AI is involved, disclosure is telling those affected, and explainability is being able to say roughly why."</a:t>
            </a:r>
            <a:endParaRPr lang="en-US" sz="2700" dirty="0"/>
          </a:p>
        </p:txBody>
      </p:sp>
      <p:sp>
        <p:nvSpPr>
          <p:cNvPr id="5" name="Text 3"/>
          <p:cNvSpPr/>
          <p:nvPr/>
        </p:nvSpPr>
        <p:spPr>
          <a:xfrm>
            <a:off x="1333500" y="559497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8.2</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11091" y="4586734"/>
            <a:ext cx="5465817"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8.3 · SUB-OBJECTIVE 3 OF 6</a:t>
            </a:r>
            <a:endParaRPr lang="en-US" sz="1950" dirty="0"/>
          </a:p>
        </p:txBody>
      </p:sp>
      <p:sp>
        <p:nvSpPr>
          <p:cNvPr id="4" name="Text 2"/>
          <p:cNvSpPr/>
          <p:nvPr/>
        </p:nvSpPr>
        <p:spPr>
          <a:xfrm>
            <a:off x="7062252" y="5086796"/>
            <a:ext cx="4163497"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Accountability</a:t>
            </a:r>
            <a:endParaRPr lang="en-US" sz="4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8.3 ACCOUNTABILITY</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AI Doesn't Take The Blame</a:t>
            </a:r>
            <a:endParaRPr lang="en-US" sz="3150" dirty="0"/>
          </a:p>
        </p:txBody>
      </p:sp>
      <p:sp>
        <p:nvSpPr>
          <p:cNvPr id="5" name="Text 3"/>
          <p:cNvSpPr/>
          <p:nvPr/>
        </p:nvSpPr>
        <p:spPr>
          <a:xfrm>
            <a:off x="952500" y="1831628"/>
            <a:ext cx="12753975" cy="1318171"/>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Accountability means humans remain responsible for decisions made with AI assistance. Using an AI tool to help reach a decision does not shift responsibility for that decision away from the person or organisation that made it.</a:t>
            </a:r>
            <a:endParaRPr lang="en-US" sz="2100" dirty="0"/>
          </a:p>
        </p:txBody>
      </p:sp>
      <p:sp>
        <p:nvSpPr>
          <p:cNvPr id="6" name="Shape 4"/>
          <p:cNvSpPr/>
          <p:nvPr/>
        </p:nvSpPr>
        <p:spPr>
          <a:xfrm>
            <a:off x="952500" y="3397448"/>
            <a:ext cx="16383000" cy="1181100"/>
          </a:xfrm>
          <a:prstGeom prst="roundRect">
            <a:avLst>
              <a:gd name="adj" fmla="val 12903"/>
            </a:avLst>
          </a:prstGeom>
          <a:solidFill>
            <a:srgbClr val="FFFFFF">
              <a:alpha val="2000"/>
            </a:srgbClr>
          </a:solidFill>
          <a:ln w="9525">
            <a:solidFill>
              <a:srgbClr val="2A2F3A"/>
            </a:solidFill>
            <a:prstDash val="solid"/>
          </a:ln>
        </p:spPr>
      </p:sp>
      <p:sp>
        <p:nvSpPr>
          <p:cNvPr id="7" name="Text 5"/>
          <p:cNvSpPr/>
          <p:nvPr/>
        </p:nvSpPr>
        <p:spPr>
          <a:xfrm>
            <a:off x="1190625" y="3635573"/>
            <a:ext cx="1749742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Connects To</a:t>
            </a:r>
            <a:endParaRPr lang="en-US" sz="1800" dirty="0"/>
          </a:p>
        </p:txBody>
      </p:sp>
      <p:sp>
        <p:nvSpPr>
          <p:cNvPr id="8" name="Text 6"/>
          <p:cNvSpPr/>
          <p:nvPr/>
        </p:nvSpPr>
        <p:spPr>
          <a:xfrm>
            <a:off x="1190625" y="3997523"/>
            <a:ext cx="1749742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Module 6, 6.5 — human-in-the-loop review is how accountability is actually exercised in practice.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8.3 ACCOUNTABILITY</a:t>
            </a:r>
            <a:endParaRPr lang="en-US" sz="1800" dirty="0"/>
          </a:p>
        </p:txBody>
      </p:sp>
      <p:sp>
        <p:nvSpPr>
          <p:cNvPr id="4" name="Text 2"/>
          <p:cNvSpPr/>
          <p:nvPr/>
        </p:nvSpPr>
        <p:spPr>
          <a:xfrm>
            <a:off x="952500" y="1162050"/>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Who Is Responsible Here?</a:t>
            </a:r>
            <a:endParaRPr lang="en-US" sz="2850" dirty="0"/>
          </a:p>
        </p:txBody>
      </p:sp>
      <p:sp>
        <p:nvSpPr>
          <p:cNvPr id="5" name="Shape 3"/>
          <p:cNvSpPr/>
          <p:nvPr/>
        </p:nvSpPr>
        <p:spPr>
          <a:xfrm>
            <a:off x="952500" y="1825898"/>
            <a:ext cx="16383000" cy="1017240"/>
          </a:xfrm>
          <a:prstGeom prst="roundRect">
            <a:avLst>
              <a:gd name="adj" fmla="val 14982"/>
            </a:avLst>
          </a:prstGeom>
          <a:solidFill>
            <a:srgbClr val="FFFFFF">
              <a:alpha val="2000"/>
            </a:srgbClr>
          </a:solidFill>
          <a:ln w="9525">
            <a:solidFill>
              <a:srgbClr val="2A2F3A"/>
            </a:solidFill>
            <a:prstDash val="solid"/>
          </a:ln>
        </p:spPr>
      </p:sp>
      <p:sp>
        <p:nvSpPr>
          <p:cNvPr id="6" name="Text 4"/>
          <p:cNvSpPr/>
          <p:nvPr/>
        </p:nvSpPr>
        <p:spPr>
          <a:xfrm>
            <a:off x="1247775" y="2121173"/>
            <a:ext cx="16283940" cy="464790"/>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An employee acts on an AI-generated recommendation that turns out to be wrong, and later says: "I just did what the AI told me."</a:t>
            </a:r>
            <a:endParaRPr lang="en-US" sz="2100" dirty="0"/>
          </a:p>
        </p:txBody>
      </p:sp>
      <p:sp>
        <p:nvSpPr>
          <p:cNvPr id="7" name="Text 5"/>
          <p:cNvSpPr/>
          <p:nvPr/>
        </p:nvSpPr>
        <p:spPr>
          <a:xfrm>
            <a:off x="952500" y="3071738"/>
            <a:ext cx="18021300" cy="3048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AI said so" is not a valid justification — the person who acted on the output remains accountable for that decision.</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"Using AI to help decide something never shifts responsibility for that decision away from the person who made it."</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8.3</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02500" y="4586734"/>
            <a:ext cx="5482925"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8.4 · SUB-OBJECTIVE 4 OF 6</a:t>
            </a:r>
            <a:endParaRPr lang="en-US" sz="1950" dirty="0"/>
          </a:p>
        </p:txBody>
      </p:sp>
      <p:sp>
        <p:nvSpPr>
          <p:cNvPr id="4" name="Text 2"/>
          <p:cNvSpPr/>
          <p:nvPr/>
        </p:nvSpPr>
        <p:spPr>
          <a:xfrm>
            <a:off x="3715427" y="5086796"/>
            <a:ext cx="10857146"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Organisational Policy And Governance</a:t>
            </a:r>
            <a:endParaRPr lang="en-US" sz="4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8.4 ORGANISATIONAL POLICY AND GOVERNANCE</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Why Organisations Set AI Rules</a:t>
            </a:r>
            <a:endParaRPr lang="en-US" sz="3150" dirty="0"/>
          </a:p>
        </p:txBody>
      </p:sp>
      <p:sp>
        <p:nvSpPr>
          <p:cNvPr id="5" name="Shape 3"/>
          <p:cNvSpPr/>
          <p:nvPr/>
        </p:nvSpPr>
        <p:spPr>
          <a:xfrm>
            <a:off x="952500" y="1869728"/>
            <a:ext cx="8096250" cy="1538288"/>
          </a:xfrm>
          <a:prstGeom prst="roundRect">
            <a:avLst>
              <a:gd name="adj" fmla="val 9907"/>
            </a:avLst>
          </a:prstGeom>
          <a:solidFill>
            <a:srgbClr val="FFFFFF">
              <a:alpha val="2000"/>
            </a:srgbClr>
          </a:solidFill>
          <a:ln w="9525">
            <a:solidFill>
              <a:srgbClr val="2A2F3A"/>
            </a:solidFill>
            <a:prstDash val="solid"/>
          </a:ln>
        </p:spPr>
      </p:sp>
      <p:sp>
        <p:nvSpPr>
          <p:cNvPr id="6" name="Text 4"/>
          <p:cNvSpPr/>
          <p:nvPr/>
        </p:nvSpPr>
        <p:spPr>
          <a:xfrm>
            <a:off x="1190625" y="2107853"/>
            <a:ext cx="838200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Acceptable-Use Rules</a:t>
            </a:r>
            <a:endParaRPr lang="en-US" sz="1875" dirty="0"/>
          </a:p>
        </p:txBody>
      </p:sp>
      <p:sp>
        <p:nvSpPr>
          <p:cNvPr id="7" name="Text 5"/>
          <p:cNvSpPr/>
          <p:nvPr/>
        </p:nvSpPr>
        <p:spPr>
          <a:xfrm>
            <a:off x="1190625" y="2484090"/>
            <a:ext cx="7848600"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Which tools are approved, for which tasks, and with what data — the practical rules covered in Module 7.</a:t>
            </a:r>
            <a:endParaRPr lang="en-US" sz="1800" dirty="0"/>
          </a:p>
        </p:txBody>
      </p:sp>
      <p:sp>
        <p:nvSpPr>
          <p:cNvPr id="8" name="Shape 6"/>
          <p:cNvSpPr/>
          <p:nvPr/>
        </p:nvSpPr>
        <p:spPr>
          <a:xfrm>
            <a:off x="9239250" y="1869728"/>
            <a:ext cx="8096250" cy="1538288"/>
          </a:xfrm>
          <a:prstGeom prst="roundRect">
            <a:avLst>
              <a:gd name="adj" fmla="val 9907"/>
            </a:avLst>
          </a:prstGeom>
          <a:solidFill>
            <a:srgbClr val="FFFFFF">
              <a:alpha val="2000"/>
            </a:srgbClr>
          </a:solidFill>
          <a:ln w="9525">
            <a:solidFill>
              <a:srgbClr val="2A2F3A"/>
            </a:solidFill>
            <a:prstDash val="solid"/>
          </a:ln>
        </p:spPr>
      </p:sp>
      <p:sp>
        <p:nvSpPr>
          <p:cNvPr id="9" name="Text 7"/>
          <p:cNvSpPr/>
          <p:nvPr/>
        </p:nvSpPr>
        <p:spPr>
          <a:xfrm>
            <a:off x="9477375" y="2107853"/>
            <a:ext cx="838200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6A00"/>
                </a:solidFill>
                <a:latin typeface="Arial" pitchFamily="34" charset="0"/>
                <a:ea typeface="Arial" pitchFamily="34" charset="-122"/>
                <a:cs typeface="Arial" pitchFamily="34" charset="-120"/>
              </a:rPr>
              <a:t>Governance</a:t>
            </a:r>
            <a:endParaRPr lang="en-US" sz="1875" dirty="0"/>
          </a:p>
        </p:txBody>
      </p:sp>
      <p:sp>
        <p:nvSpPr>
          <p:cNvPr id="10" name="Text 8"/>
          <p:cNvSpPr/>
          <p:nvPr/>
        </p:nvSpPr>
        <p:spPr>
          <a:xfrm>
            <a:off x="9477375" y="2484090"/>
            <a:ext cx="7848600" cy="7239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The broader structure of oversight, accountability and decision-making that AI policy sits within.</a:t>
            </a:r>
            <a:endParaRPr lang="en-US" sz="1800" dirty="0"/>
          </a:p>
        </p:txBody>
      </p:sp>
      <p:sp>
        <p:nvSpPr>
          <p:cNvPr id="11" name="Shape 9"/>
          <p:cNvSpPr/>
          <p:nvPr/>
        </p:nvSpPr>
        <p:spPr>
          <a:xfrm>
            <a:off x="952500" y="3636615"/>
            <a:ext cx="16383000" cy="819150"/>
          </a:xfrm>
          <a:prstGeom prst="roundRect">
            <a:avLst>
              <a:gd name="adj" fmla="val 18605"/>
            </a:avLst>
          </a:prstGeom>
          <a:solidFill>
            <a:srgbClr val="FF6A00">
              <a:alpha val="8000"/>
            </a:srgbClr>
          </a:solidFill>
          <a:ln w="9525">
            <a:solidFill>
              <a:srgbClr val="B85100"/>
            </a:solidFill>
            <a:prstDash val="solid"/>
          </a:ln>
        </p:spPr>
      </p:sp>
      <p:sp>
        <p:nvSpPr>
          <p:cNvPr id="12" name="Text 10"/>
          <p:cNvSpPr/>
          <p:nvPr/>
        </p:nvSpPr>
        <p:spPr>
          <a:xfrm>
            <a:off x="1190625" y="3874740"/>
            <a:ext cx="16398240"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Policy and governance turn the principles in this module — fairness, transparency, accountability — into rules people can actually follow day to day.</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"Organisational AI policy and governance turn responsible-AI principles into rules people can actually follow."</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8.4</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11750" y="4586734"/>
            <a:ext cx="5464426"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8.5 · SUB-OBJECTIVE 5 OF 6</a:t>
            </a:r>
            <a:endParaRPr lang="en-US" sz="1950" dirty="0"/>
          </a:p>
        </p:txBody>
      </p:sp>
      <p:sp>
        <p:nvSpPr>
          <p:cNvPr id="4" name="Text 2"/>
          <p:cNvSpPr/>
          <p:nvPr/>
        </p:nvSpPr>
        <p:spPr>
          <a:xfrm>
            <a:off x="3612453" y="5086796"/>
            <a:ext cx="11063094"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Regulation And Standards Are Evolving</a:t>
            </a:r>
            <a:endParaRPr lang="en-US" sz="4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8.5 REGULATION AND STANDARDS ARE EVOLVING</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A Generic Awareness, Not A Legal Briefing</a:t>
            </a:r>
            <a:endParaRPr lang="en-US" sz="3150" dirty="0"/>
          </a:p>
        </p:txBody>
      </p:sp>
      <p:sp>
        <p:nvSpPr>
          <p:cNvPr id="5" name="Text 3"/>
          <p:cNvSpPr/>
          <p:nvPr/>
        </p:nvSpPr>
        <p:spPr>
          <a:xfrm>
            <a:off x="952500" y="1831628"/>
            <a:ext cx="12753975" cy="1318171"/>
          </a:xfrm>
          <a:prstGeom prst="rect">
            <a:avLst/>
          </a:prstGeom>
          <a:noFill/>
          <a:ln/>
        </p:spPr>
        <p:txBody>
          <a:bodyPr wrap="square" lIns="25400" tIns="25400" rIns="25400" bIns="25400" rtlCol="0" anchor="t">
            <a:normAutofit/>
          </a:bodyPr>
          <a:lstStyle/>
          <a:p>
            <a:pPr algn="l" indent="0" marL="0">
              <a:lnSpc>
                <a:spcPct val="137846"/>
              </a:lnSpc>
              <a:buNone/>
            </a:pPr>
            <a:r>
              <a:rPr lang="en-US" sz="2100" dirty="0">
                <a:solidFill>
                  <a:srgbClr val="DFE3EA"/>
                </a:solidFill>
                <a:latin typeface="Arial" pitchFamily="34" charset="0"/>
                <a:ea typeface="Arial" pitchFamily="34" charset="-122"/>
                <a:cs typeface="Arial" pitchFamily="34" charset="-120"/>
              </a:rPr>
              <a:t>AI regulation and standards are still emerging and actively evolving around the world. Specific rules vary by location and change over time — the foundation-level takeaway is simply that this landscape is not settled, and organisational policy is what translates it into day-to-day practice.</a:t>
            </a:r>
            <a:endParaRPr lang="en-US" sz="2100" dirty="0"/>
          </a:p>
        </p:txBody>
      </p:sp>
      <p:sp>
        <p:nvSpPr>
          <p:cNvPr id="6" name="Shape 4"/>
          <p:cNvSpPr/>
          <p:nvPr/>
        </p:nvSpPr>
        <p:spPr>
          <a:xfrm>
            <a:off x="952500" y="3397448"/>
            <a:ext cx="16383000" cy="1181100"/>
          </a:xfrm>
          <a:prstGeom prst="roundRect">
            <a:avLst>
              <a:gd name="adj" fmla="val 12903"/>
            </a:avLst>
          </a:prstGeom>
          <a:solidFill>
            <a:srgbClr val="FFFFFF">
              <a:alpha val="2000"/>
            </a:srgbClr>
          </a:solidFill>
          <a:ln w="9525">
            <a:solidFill>
              <a:srgbClr val="2A2F3A"/>
            </a:solidFill>
            <a:prstDash val="solid"/>
          </a:ln>
        </p:spPr>
      </p:sp>
      <p:sp>
        <p:nvSpPr>
          <p:cNvPr id="7" name="Text 5"/>
          <p:cNvSpPr/>
          <p:nvPr/>
        </p:nvSpPr>
        <p:spPr>
          <a:xfrm>
            <a:off x="1190625" y="3635573"/>
            <a:ext cx="1749742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Watch For</a:t>
            </a:r>
            <a:endParaRPr lang="en-US" sz="1800" dirty="0"/>
          </a:p>
        </p:txBody>
      </p:sp>
      <p:sp>
        <p:nvSpPr>
          <p:cNvPr id="8" name="Text 6"/>
          <p:cNvSpPr/>
          <p:nvPr/>
        </p:nvSpPr>
        <p:spPr>
          <a:xfrm>
            <a:off x="1190625" y="3997523"/>
            <a:ext cx="1749742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CAIA does not require knowledge of any specific law or regulator — only awareness that this area is active and changing.</a:t>
            </a:r>
            <a:endParaRPr lang="en-US" sz="1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"AI regulation and standards are still emerging — no specific law is examinable, only that this landscape is actively evolving."</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8.5</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6406671" y="4586734"/>
            <a:ext cx="5474657"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OBJECTIVE 8.6 · SUB-OBJECTIVE 6 OF 6</a:t>
            </a:r>
            <a:endParaRPr lang="en-US" sz="1950" dirty="0"/>
          </a:p>
        </p:txBody>
      </p:sp>
      <p:sp>
        <p:nvSpPr>
          <p:cNvPr id="4" name="Text 2"/>
          <p:cNvSpPr/>
          <p:nvPr/>
        </p:nvSpPr>
        <p:spPr>
          <a:xfrm>
            <a:off x="3930953" y="5086796"/>
            <a:ext cx="10426095" cy="651495"/>
          </a:xfrm>
          <a:prstGeom prst="rect">
            <a:avLst/>
          </a:prstGeom>
          <a:noFill/>
          <a:ln/>
        </p:spPr>
        <p:txBody>
          <a:bodyPr wrap="square" lIns="25400" tIns="25400" rIns="25400" bIns="25400" rtlCol="0" anchor="t">
            <a:normAutofit/>
          </a:bodyPr>
          <a:lstStyle/>
          <a:p>
            <a:pPr algn="ctr" indent="0" marL="0">
              <a:lnSpc>
                <a:spcPct val="99845"/>
              </a:lnSpc>
              <a:buNone/>
            </a:pPr>
            <a:r>
              <a:rPr lang="en-US" sz="4200" b="1" dirty="0">
                <a:solidFill>
                  <a:srgbClr val="F5F7FB"/>
                </a:solidFill>
                <a:latin typeface="Arial" pitchFamily="34" charset="0"/>
                <a:ea typeface="Arial" pitchFamily="34" charset="-122"/>
                <a:cs typeface="Arial" pitchFamily="34" charset="-120"/>
              </a:rPr>
              <a:t>Applying Responsible Use, Every Day</a:t>
            </a:r>
            <a:endParaRPr lang="en-US" sz="4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8.6 APPLYING RESPONSIBLE USE, EVERY DAY</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Putting The Principles Into Practice</a:t>
            </a:r>
            <a:endParaRPr lang="en-US" sz="3150" dirty="0"/>
          </a:p>
        </p:txBody>
      </p:sp>
      <p:sp>
        <p:nvSpPr>
          <p:cNvPr id="5" name="Shape 3"/>
          <p:cNvSpPr/>
          <p:nvPr/>
        </p:nvSpPr>
        <p:spPr>
          <a:xfrm>
            <a:off x="952500" y="1869728"/>
            <a:ext cx="16383000" cy="1047750"/>
          </a:xfrm>
          <a:prstGeom prst="roundRect">
            <a:avLst>
              <a:gd name="adj" fmla="val 14545"/>
            </a:avLst>
          </a:prstGeom>
          <a:solidFill>
            <a:srgbClr val="FFFFFF">
              <a:alpha val="2000"/>
            </a:srgbClr>
          </a:solidFill>
          <a:ln w="9525">
            <a:solidFill>
              <a:srgbClr val="2A2F3A"/>
            </a:solidFill>
            <a:prstDash val="solid"/>
          </a:ln>
        </p:spPr>
      </p:sp>
      <p:sp>
        <p:nvSpPr>
          <p:cNvPr id="6" name="Text 4"/>
          <p:cNvSpPr/>
          <p:nvPr/>
        </p:nvSpPr>
        <p:spPr>
          <a:xfrm>
            <a:off x="1209675" y="2069753"/>
            <a:ext cx="1745551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Keep a person in the decision</a:t>
            </a:r>
            <a:endParaRPr lang="en-US" sz="1800" dirty="0"/>
          </a:p>
        </p:txBody>
      </p:sp>
      <p:sp>
        <p:nvSpPr>
          <p:cNvPr id="7" name="Text 5"/>
          <p:cNvSpPr/>
          <p:nvPr/>
        </p:nvSpPr>
        <p:spPr>
          <a:xfrm>
            <a:off x="1209675" y="2374553"/>
            <a:ext cx="1745551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Human oversight, from Module 6, applies here too — especially for anything with real consequences.</a:t>
            </a:r>
            <a:endParaRPr lang="en-US" sz="1800" dirty="0"/>
          </a:p>
        </p:txBody>
      </p:sp>
      <p:sp>
        <p:nvSpPr>
          <p:cNvPr id="8" name="Shape 6"/>
          <p:cNvSpPr/>
          <p:nvPr/>
        </p:nvSpPr>
        <p:spPr>
          <a:xfrm>
            <a:off x="952500" y="3060353"/>
            <a:ext cx="16383000" cy="1047750"/>
          </a:xfrm>
          <a:prstGeom prst="roundRect">
            <a:avLst>
              <a:gd name="adj" fmla="val 14545"/>
            </a:avLst>
          </a:prstGeom>
          <a:solidFill>
            <a:srgbClr val="FFFFFF">
              <a:alpha val="2000"/>
            </a:srgbClr>
          </a:solidFill>
          <a:ln w="9525">
            <a:solidFill>
              <a:srgbClr val="2A2F3A"/>
            </a:solidFill>
            <a:prstDash val="solid"/>
          </a:ln>
        </p:spPr>
      </p:sp>
      <p:sp>
        <p:nvSpPr>
          <p:cNvPr id="9" name="Text 7"/>
          <p:cNvSpPr/>
          <p:nvPr/>
        </p:nvSpPr>
        <p:spPr>
          <a:xfrm>
            <a:off x="1209675" y="3260378"/>
            <a:ext cx="1745551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Consider who could be affected unfairly</a:t>
            </a:r>
            <a:endParaRPr lang="en-US" sz="1800" dirty="0"/>
          </a:p>
        </p:txBody>
      </p:sp>
      <p:sp>
        <p:nvSpPr>
          <p:cNvPr id="10" name="Text 8"/>
          <p:cNvSpPr/>
          <p:nvPr/>
        </p:nvSpPr>
        <p:spPr>
          <a:xfrm>
            <a:off x="1209675" y="3565178"/>
            <a:ext cx="1745551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Especially for decisions about people — hiring, assessment, access to services.</a:t>
            </a:r>
            <a:endParaRPr lang="en-US" sz="1800" dirty="0"/>
          </a:p>
        </p:txBody>
      </p:sp>
      <p:sp>
        <p:nvSpPr>
          <p:cNvPr id="11" name="Shape 9"/>
          <p:cNvSpPr/>
          <p:nvPr/>
        </p:nvSpPr>
        <p:spPr>
          <a:xfrm>
            <a:off x="952500" y="4250978"/>
            <a:ext cx="16383000" cy="1047750"/>
          </a:xfrm>
          <a:prstGeom prst="roundRect">
            <a:avLst>
              <a:gd name="adj" fmla="val 14545"/>
            </a:avLst>
          </a:prstGeom>
          <a:solidFill>
            <a:srgbClr val="FFFFFF">
              <a:alpha val="2000"/>
            </a:srgbClr>
          </a:solidFill>
          <a:ln w="9525">
            <a:solidFill>
              <a:srgbClr val="2A2F3A"/>
            </a:solidFill>
            <a:prstDash val="solid"/>
          </a:ln>
        </p:spPr>
      </p:sp>
      <p:sp>
        <p:nvSpPr>
          <p:cNvPr id="12" name="Text 10"/>
          <p:cNvSpPr/>
          <p:nvPr/>
        </p:nvSpPr>
        <p:spPr>
          <a:xfrm>
            <a:off x="1209675" y="4451003"/>
            <a:ext cx="17455515"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Follow your organisation's policy</a:t>
            </a:r>
            <a:endParaRPr lang="en-US" sz="1800" dirty="0"/>
          </a:p>
        </p:txBody>
      </p:sp>
      <p:sp>
        <p:nvSpPr>
          <p:cNvPr id="13" name="Text 11"/>
          <p:cNvSpPr/>
          <p:nvPr/>
        </p:nvSpPr>
        <p:spPr>
          <a:xfrm>
            <a:off x="1209675" y="4755803"/>
            <a:ext cx="17455515" cy="381000"/>
          </a:xfrm>
          <a:prstGeom prst="rect">
            <a:avLst/>
          </a:prstGeom>
          <a:noFill/>
          <a:ln/>
        </p:spPr>
        <p:txBody>
          <a:bodyPr wrap="square" lIns="25400" tIns="25400" rIns="25400" bIns="25400" rtlCol="0" anchor="t">
            <a:normAutofit/>
          </a:bodyPr>
          <a:lstStyle/>
          <a:p>
            <a:pPr algn="l" indent="0" marL="0">
              <a:lnSpc>
                <a:spcPct val="130909"/>
              </a:lnSpc>
              <a:buNone/>
            </a:pPr>
            <a:r>
              <a:rPr lang="en-US" sz="1800" dirty="0">
                <a:solidFill>
                  <a:srgbClr val="DFE3EA"/>
                </a:solidFill>
                <a:latin typeface="Arial" pitchFamily="34" charset="0"/>
                <a:ea typeface="Arial" pitchFamily="34" charset="-122"/>
                <a:cs typeface="Arial" pitchFamily="34" charset="-120"/>
              </a:rPr>
              <a:t>It exists to translate these principles into practice — it isn't an obstacle to work around.</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Shape 1"/>
          <p:cNvSpPr/>
          <p:nvPr/>
        </p:nvSpPr>
        <p:spPr>
          <a:xfrm>
            <a:off x="952500" y="4322490"/>
            <a:ext cx="38100" cy="1642021"/>
          </a:xfrm>
          <a:prstGeom prst="rect">
            <a:avLst/>
          </a:prstGeom>
          <a:solidFill>
            <a:srgbClr val="FF6A00"/>
          </a:solidFill>
          <a:ln/>
        </p:spPr>
      </p:sp>
      <p:sp>
        <p:nvSpPr>
          <p:cNvPr id="4" name="Text 2"/>
          <p:cNvSpPr/>
          <p:nvPr/>
        </p:nvSpPr>
        <p:spPr>
          <a:xfrm>
            <a:off x="1333500" y="4398690"/>
            <a:ext cx="13735050" cy="1051471"/>
          </a:xfrm>
          <a:prstGeom prst="rect">
            <a:avLst/>
          </a:prstGeom>
          <a:noFill/>
          <a:ln/>
        </p:spPr>
        <p:txBody>
          <a:bodyPr wrap="square" lIns="25400" tIns="25400" rIns="25400" bIns="25400" rtlCol="0" anchor="t">
            <a:normAutofit/>
          </a:bodyPr>
          <a:lstStyle/>
          <a:p>
            <a:pPr algn="l" indent="0" marL="0">
              <a:lnSpc>
                <a:spcPct val="122299"/>
              </a:lnSpc>
              <a:buNone/>
            </a:pPr>
            <a:r>
              <a:rPr lang="en-US" sz="2850" b="1" dirty="0">
                <a:solidFill>
                  <a:srgbClr val="F5F7FB"/>
                </a:solidFill>
                <a:latin typeface="Arial" pitchFamily="34" charset="0"/>
                <a:ea typeface="Arial" pitchFamily="34" charset="-122"/>
                <a:cs typeface="Arial" pitchFamily="34" charset="-120"/>
              </a:rPr>
              <a:t>"Responsible AI use means keeping a person in the decision, watching for unfair impact, and following organisational policy."</a:t>
            </a:r>
            <a:endParaRPr lang="en-US" sz="2850" dirty="0"/>
          </a:p>
        </p:txBody>
      </p:sp>
      <p:sp>
        <p:nvSpPr>
          <p:cNvPr id="5" name="Text 3"/>
          <p:cNvSpPr/>
          <p:nvPr/>
        </p:nvSpPr>
        <p:spPr>
          <a:xfrm>
            <a:off x="1333500" y="5621610"/>
            <a:ext cx="17602200" cy="304800"/>
          </a:xfrm>
          <a:prstGeom prst="rect">
            <a:avLst/>
          </a:prstGeom>
          <a:noFill/>
          <a:ln/>
        </p:spPr>
        <p:txBody>
          <a:bodyPr wrap="square" lIns="25400" tIns="25400" rIns="25400" bIns="25400" rtlCol="0" anchor="t">
            <a:normAutofit/>
          </a:bodyPr>
          <a:lstStyle/>
          <a:p>
            <a:pPr algn="l" indent="0" marL="0">
              <a:buNone/>
            </a:pPr>
            <a:r>
              <a:rPr lang="en-US" sz="1800" spc="38" kern="0" dirty="0">
                <a:solidFill>
                  <a:srgbClr val="B8C0CF"/>
                </a:solidFill>
                <a:latin typeface="Arial" pitchFamily="34" charset="0"/>
                <a:ea typeface="Arial" pitchFamily="34" charset="-122"/>
                <a:cs typeface="Arial" pitchFamily="34" charset="-120"/>
              </a:rPr>
              <a:t>RECAP · OBJECTIVE 8.6</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APPLIED SCENARIO</a:t>
            </a:r>
            <a:endParaRPr lang="en-US" sz="1800" dirty="0"/>
          </a:p>
        </p:txBody>
      </p:sp>
      <p:sp>
        <p:nvSpPr>
          <p:cNvPr id="4" name="Text 2"/>
          <p:cNvSpPr/>
          <p:nvPr/>
        </p:nvSpPr>
        <p:spPr>
          <a:xfrm>
            <a:off x="952500" y="1162050"/>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The Screening Tool</a:t>
            </a:r>
            <a:endParaRPr lang="en-US" sz="2850" dirty="0"/>
          </a:p>
        </p:txBody>
      </p:sp>
      <p:sp>
        <p:nvSpPr>
          <p:cNvPr id="5" name="Shape 3"/>
          <p:cNvSpPr/>
          <p:nvPr/>
        </p:nvSpPr>
        <p:spPr>
          <a:xfrm>
            <a:off x="952500" y="1825898"/>
            <a:ext cx="16383000" cy="1413421"/>
          </a:xfrm>
          <a:prstGeom prst="roundRect">
            <a:avLst>
              <a:gd name="adj" fmla="val 10782"/>
            </a:avLst>
          </a:prstGeom>
          <a:solidFill>
            <a:srgbClr val="FFFFFF">
              <a:alpha val="2000"/>
            </a:srgbClr>
          </a:solidFill>
          <a:ln w="9525">
            <a:solidFill>
              <a:srgbClr val="2A2F3A"/>
            </a:solidFill>
            <a:prstDash val="solid"/>
          </a:ln>
        </p:spPr>
      </p:sp>
      <p:sp>
        <p:nvSpPr>
          <p:cNvPr id="6" name="Text 4"/>
          <p:cNvSpPr/>
          <p:nvPr/>
        </p:nvSpPr>
        <p:spPr>
          <a:xfrm>
            <a:off x="1247775" y="2121173"/>
            <a:ext cx="16283940" cy="860971"/>
          </a:xfrm>
          <a:prstGeom prst="rect">
            <a:avLst/>
          </a:prstGeom>
          <a:noFill/>
          <a:ln/>
        </p:spPr>
        <p:txBody>
          <a:bodyPr wrap="square" lIns="25400" tIns="25400" rIns="25400" bIns="25400" rtlCol="0" anchor="t">
            <a:normAutofit/>
          </a:bodyPr>
          <a:lstStyle/>
          <a:p>
            <a:pPr algn="l" indent="0" marL="0">
              <a:lnSpc>
                <a:spcPct val="139355"/>
              </a:lnSpc>
              <a:buNone/>
            </a:pPr>
            <a:r>
              <a:rPr lang="en-US" sz="2025" dirty="0">
                <a:solidFill>
                  <a:srgbClr val="DFE3EA"/>
                </a:solidFill>
                <a:latin typeface="Arial" pitchFamily="34" charset="0"/>
                <a:ea typeface="Arial" pitchFamily="34" charset="-122"/>
                <a:cs typeface="Arial" pitchFamily="34" charset="-120"/>
              </a:rPr>
              <a:t>Your team wants to use an AI tool to pre-screen job applications and automatically reject the lowest-scoring third, with no human review of rejections.</a:t>
            </a:r>
            <a:endParaRPr lang="en-US" sz="2025" dirty="0"/>
          </a:p>
        </p:txBody>
      </p:sp>
      <p:sp>
        <p:nvSpPr>
          <p:cNvPr id="7" name="Text 5"/>
          <p:cNvSpPr/>
          <p:nvPr/>
        </p:nvSpPr>
        <p:spPr>
          <a:xfrm>
            <a:off x="952500" y="3486969"/>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DISCUSS</a:t>
            </a:r>
            <a:endParaRPr lang="en-US" sz="1800" dirty="0"/>
          </a:p>
        </p:txBody>
      </p:sp>
      <p:sp>
        <p:nvSpPr>
          <p:cNvPr id="8" name="Text 6"/>
          <p:cNvSpPr/>
          <p:nvPr/>
        </p:nvSpPr>
        <p:spPr>
          <a:xfrm>
            <a:off x="952500" y="3887019"/>
            <a:ext cx="18021300" cy="434280"/>
          </a:xfrm>
          <a:prstGeom prst="rect">
            <a:avLst/>
          </a:prstGeom>
          <a:noFill/>
          <a:ln/>
        </p:spPr>
        <p:txBody>
          <a:bodyPr wrap="square" lIns="25400" tIns="25400" rIns="25400" bIns="25400" rtlCol="0" anchor="t">
            <a:normAutofit/>
          </a:bodyPr>
          <a:lstStyle/>
          <a:p>
            <a:pPr algn="l" indent="0" marL="0">
              <a:lnSpc>
                <a:spcPct val="138667"/>
              </a:lnSpc>
              <a:buNone/>
            </a:pPr>
            <a:r>
              <a:rPr lang="en-US" sz="1950" dirty="0">
                <a:solidFill>
                  <a:srgbClr val="DFE3EA"/>
                </a:solidFill>
                <a:latin typeface="Arial" pitchFamily="34" charset="0"/>
                <a:ea typeface="Arial" pitchFamily="34" charset="-122"/>
                <a:cs typeface="Arial" pitchFamily="34" charset="-120"/>
              </a:rPr>
              <a:t>Which principles from this module are relevant here, and what would you want to change about this plan?</a:t>
            </a:r>
            <a:endParaRPr lang="en-US" sz="1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PRACTICAL APPLICATION</a:t>
            </a:r>
            <a:endParaRPr lang="en-US" sz="1800" dirty="0"/>
          </a:p>
        </p:txBody>
      </p:sp>
      <p:sp>
        <p:nvSpPr>
          <p:cNvPr id="4" name="Text 2"/>
          <p:cNvSpPr/>
          <p:nvPr/>
        </p:nvSpPr>
        <p:spPr>
          <a:xfrm>
            <a:off x="952500" y="1162050"/>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Which Principle Applies?</a:t>
            </a:r>
            <a:endParaRPr lang="en-US" sz="2850" dirty="0"/>
          </a:p>
        </p:txBody>
      </p:sp>
      <p:sp>
        <p:nvSpPr>
          <p:cNvPr id="5" name="Shape 3"/>
          <p:cNvSpPr/>
          <p:nvPr/>
        </p:nvSpPr>
        <p:spPr>
          <a:xfrm>
            <a:off x="952500" y="1806848"/>
            <a:ext cx="16383000" cy="666750"/>
          </a:xfrm>
          <a:prstGeom prst="roundRect">
            <a:avLst>
              <a:gd name="adj" fmla="val 20000"/>
            </a:avLst>
          </a:prstGeom>
          <a:solidFill>
            <a:srgbClr val="FFFFFF">
              <a:alpha val="2000"/>
            </a:srgbClr>
          </a:solidFill>
          <a:ln w="9525">
            <a:solidFill>
              <a:srgbClr val="2A2F3A"/>
            </a:solidFill>
            <a:prstDash val="solid"/>
          </a:ln>
        </p:spPr>
      </p:sp>
      <p:sp>
        <p:nvSpPr>
          <p:cNvPr id="6" name="Text 4"/>
          <p:cNvSpPr/>
          <p:nvPr/>
        </p:nvSpPr>
        <p:spPr>
          <a:xfrm>
            <a:off x="1190625" y="2006873"/>
            <a:ext cx="1639824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A.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"The AI recommended it" is used to justify a decision that turns out to be harmful.</a:t>
            </a:r>
            <a:endParaRPr lang="en-US" sz="1800" dirty="0"/>
          </a:p>
        </p:txBody>
      </p:sp>
      <p:sp>
        <p:nvSpPr>
          <p:cNvPr id="7" name="Shape 5"/>
          <p:cNvSpPr/>
          <p:nvPr/>
        </p:nvSpPr>
        <p:spPr>
          <a:xfrm>
            <a:off x="952500" y="2606948"/>
            <a:ext cx="16383000" cy="666750"/>
          </a:xfrm>
          <a:prstGeom prst="roundRect">
            <a:avLst>
              <a:gd name="adj" fmla="val 20000"/>
            </a:avLst>
          </a:prstGeom>
          <a:solidFill>
            <a:srgbClr val="FFFFFF">
              <a:alpha val="2000"/>
            </a:srgbClr>
          </a:solidFill>
          <a:ln w="9525">
            <a:solidFill>
              <a:srgbClr val="2A2F3A"/>
            </a:solidFill>
            <a:prstDash val="solid"/>
          </a:ln>
        </p:spPr>
      </p:sp>
      <p:sp>
        <p:nvSpPr>
          <p:cNvPr id="8" name="Text 6"/>
          <p:cNvSpPr/>
          <p:nvPr/>
        </p:nvSpPr>
        <p:spPr>
          <a:xfrm>
            <a:off x="1190625" y="2806973"/>
            <a:ext cx="1639824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B.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A screening tool systematically scores one group lower due to skewed training data.</a:t>
            </a:r>
            <a:endParaRPr lang="en-US" sz="1800" dirty="0"/>
          </a:p>
        </p:txBody>
      </p:sp>
      <p:sp>
        <p:nvSpPr>
          <p:cNvPr id="9" name="Shape 7"/>
          <p:cNvSpPr/>
          <p:nvPr/>
        </p:nvSpPr>
        <p:spPr>
          <a:xfrm>
            <a:off x="952500" y="3407048"/>
            <a:ext cx="16383000" cy="666750"/>
          </a:xfrm>
          <a:prstGeom prst="roundRect">
            <a:avLst>
              <a:gd name="adj" fmla="val 20000"/>
            </a:avLst>
          </a:prstGeom>
          <a:solidFill>
            <a:srgbClr val="FFFFFF">
              <a:alpha val="2000"/>
            </a:srgbClr>
          </a:solidFill>
          <a:ln w="9525">
            <a:solidFill>
              <a:srgbClr val="2A2F3A"/>
            </a:solidFill>
            <a:prstDash val="solid"/>
          </a:ln>
        </p:spPr>
      </p:sp>
      <p:sp>
        <p:nvSpPr>
          <p:cNvPr id="10" name="Text 8"/>
          <p:cNvSpPr/>
          <p:nvPr/>
        </p:nvSpPr>
        <p:spPr>
          <a:xfrm>
            <a:off x="1190625" y="3607073"/>
            <a:ext cx="16398240" cy="304800"/>
          </a:xfrm>
          <a:prstGeom prst="rect">
            <a:avLst/>
          </a:prstGeom>
          <a:noFill/>
          <a:ln/>
        </p:spPr>
        <p:txBody>
          <a:bodyPr wrap="square" lIns="25400" tIns="25400" rIns="25400" bIns="25400" rtlCol="0" anchor="t">
            <a:normAutofit/>
          </a:bodyPr>
          <a:lstStyle/>
          <a:p>
            <a:pPr algn="l" indent="0" marL="0">
              <a:buNone/>
            </a:pPr>
            <a:r>
              <a:rPr lang="en-US" sz="1800" b="1" dirty="0">
                <a:solidFill>
                  <a:srgbClr val="FFD9BF"/>
                </a:solidFill>
                <a:latin typeface="Arial" pitchFamily="34" charset="0"/>
                <a:ea typeface="Arial" pitchFamily="34" charset="-122"/>
                <a:cs typeface="Arial" pitchFamily="34" charset="-120"/>
              </a:rPr>
              <a:t>C.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Applicants are told upfront that AI is used as part of screening.</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PRACTICAL APPLICATION</a:t>
            </a:r>
            <a:endParaRPr lang="en-US" sz="1800" dirty="0"/>
          </a:p>
        </p:txBody>
      </p:sp>
      <p:sp>
        <p:nvSpPr>
          <p:cNvPr id="4" name="Text 2"/>
          <p:cNvSpPr/>
          <p:nvPr/>
        </p:nvSpPr>
        <p:spPr>
          <a:xfrm>
            <a:off x="952500" y="1162050"/>
            <a:ext cx="18021300" cy="454298"/>
          </a:xfrm>
          <a:prstGeom prst="rect">
            <a:avLst/>
          </a:prstGeom>
          <a:noFill/>
          <a:ln/>
        </p:spPr>
        <p:txBody>
          <a:bodyPr wrap="square" lIns="25400" tIns="25400" rIns="25400" bIns="25400" rtlCol="0" anchor="t">
            <a:normAutofit/>
          </a:bodyPr>
          <a:lstStyle/>
          <a:p>
            <a:pPr algn="l" indent="0" marL="0">
              <a:lnSpc>
                <a:spcPct val="100460"/>
              </a:lnSpc>
              <a:buNone/>
            </a:pPr>
            <a:r>
              <a:rPr lang="en-US" sz="2850" b="1" dirty="0">
                <a:solidFill>
                  <a:srgbClr val="F5F7FB"/>
                </a:solidFill>
                <a:latin typeface="Arial" pitchFamily="34" charset="0"/>
                <a:ea typeface="Arial" pitchFamily="34" charset="-122"/>
                <a:cs typeface="Arial" pitchFamily="34" charset="-120"/>
              </a:rPr>
              <a:t>Responsible Practice, Or A Gap?</a:t>
            </a:r>
            <a:endParaRPr lang="en-US" sz="2850" dirty="0"/>
          </a:p>
        </p:txBody>
      </p:sp>
      <p:sp>
        <p:nvSpPr>
          <p:cNvPr id="5" name="Shape 3"/>
          <p:cNvSpPr/>
          <p:nvPr/>
        </p:nvSpPr>
        <p:spPr>
          <a:xfrm>
            <a:off x="952500" y="1806848"/>
            <a:ext cx="8115300" cy="933450"/>
          </a:xfrm>
          <a:prstGeom prst="roundRect">
            <a:avLst>
              <a:gd name="adj" fmla="val 14286"/>
            </a:avLst>
          </a:prstGeom>
          <a:solidFill>
            <a:srgbClr val="FFFFFF">
              <a:alpha val="2000"/>
            </a:srgbClr>
          </a:solidFill>
          <a:ln w="9525">
            <a:solidFill>
              <a:srgbClr val="2A2F3A"/>
            </a:solidFill>
            <a:prstDash val="solid"/>
          </a:ln>
        </p:spPr>
      </p:sp>
      <p:sp>
        <p:nvSpPr>
          <p:cNvPr id="6" name="Text 4"/>
          <p:cNvSpPr/>
          <p:nvPr/>
        </p:nvSpPr>
        <p:spPr>
          <a:xfrm>
            <a:off x="1152525" y="2006873"/>
            <a:ext cx="7958709" cy="5715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written policy sets out which AI tools are approved and for what</a:t>
            </a:r>
            <a:endParaRPr lang="en-US" sz="1800" dirty="0"/>
          </a:p>
        </p:txBody>
      </p:sp>
      <p:sp>
        <p:nvSpPr>
          <p:cNvPr id="7" name="Shape 5"/>
          <p:cNvSpPr/>
          <p:nvPr/>
        </p:nvSpPr>
        <p:spPr>
          <a:xfrm>
            <a:off x="9220200" y="1806848"/>
            <a:ext cx="8115300" cy="933450"/>
          </a:xfrm>
          <a:prstGeom prst="roundRect">
            <a:avLst>
              <a:gd name="adj" fmla="val 14286"/>
            </a:avLst>
          </a:prstGeom>
          <a:solidFill>
            <a:srgbClr val="FFFFFF">
              <a:alpha val="2000"/>
            </a:srgbClr>
          </a:solidFill>
          <a:ln w="9525">
            <a:solidFill>
              <a:srgbClr val="2A2F3A"/>
            </a:solidFill>
            <a:prstDash val="solid"/>
          </a:ln>
        </p:spPr>
      </p:sp>
      <p:sp>
        <p:nvSpPr>
          <p:cNvPr id="8" name="Text 6"/>
          <p:cNvSpPr/>
          <p:nvPr/>
        </p:nvSpPr>
        <p:spPr>
          <a:xfrm>
            <a:off x="9420225" y="2006873"/>
            <a:ext cx="7958709" cy="5715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team blames a faulty AI output with no one taking responsibility for the decision made from it</a:t>
            </a:r>
            <a:endParaRPr lang="en-US" sz="1800" dirty="0"/>
          </a:p>
        </p:txBody>
      </p:sp>
      <p:sp>
        <p:nvSpPr>
          <p:cNvPr id="9" name="Shape 7"/>
          <p:cNvSpPr/>
          <p:nvPr/>
        </p:nvSpPr>
        <p:spPr>
          <a:xfrm>
            <a:off x="952500" y="2892698"/>
            <a:ext cx="8115300" cy="933450"/>
          </a:xfrm>
          <a:prstGeom prst="roundRect">
            <a:avLst>
              <a:gd name="adj" fmla="val 14286"/>
            </a:avLst>
          </a:prstGeom>
          <a:solidFill>
            <a:srgbClr val="FFFFFF">
              <a:alpha val="2000"/>
            </a:srgbClr>
          </a:solidFill>
          <a:ln w="9525">
            <a:solidFill>
              <a:srgbClr val="2A2F3A"/>
            </a:solidFill>
            <a:prstDash val="solid"/>
          </a:ln>
        </p:spPr>
      </p:sp>
      <p:sp>
        <p:nvSpPr>
          <p:cNvPr id="10" name="Text 8"/>
          <p:cNvSpPr/>
          <p:nvPr/>
        </p:nvSpPr>
        <p:spPr>
          <a:xfrm>
            <a:off x="1152525" y="3092723"/>
            <a:ext cx="7958709" cy="5715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Regular review checks whether AI-assisted decisions are being made fairly</a:t>
            </a:r>
            <a:endParaRPr lang="en-US" sz="1800" dirty="0"/>
          </a:p>
        </p:txBody>
      </p:sp>
      <p:sp>
        <p:nvSpPr>
          <p:cNvPr id="11" name="Shape 9"/>
          <p:cNvSpPr/>
          <p:nvPr/>
        </p:nvSpPr>
        <p:spPr>
          <a:xfrm>
            <a:off x="9220200" y="2892698"/>
            <a:ext cx="8115300" cy="933450"/>
          </a:xfrm>
          <a:prstGeom prst="roundRect">
            <a:avLst>
              <a:gd name="adj" fmla="val 14286"/>
            </a:avLst>
          </a:prstGeom>
          <a:solidFill>
            <a:srgbClr val="FFFFFF">
              <a:alpha val="2000"/>
            </a:srgbClr>
          </a:solidFill>
          <a:ln w="9525">
            <a:solidFill>
              <a:srgbClr val="2A2F3A"/>
            </a:solidFill>
            <a:prstDash val="solid"/>
          </a:ln>
        </p:spPr>
      </p:sp>
      <p:sp>
        <p:nvSpPr>
          <p:cNvPr id="12" name="Text 10"/>
          <p:cNvSpPr/>
          <p:nvPr/>
        </p:nvSpPr>
        <p:spPr>
          <a:xfrm>
            <a:off x="9420225" y="3092723"/>
            <a:ext cx="7958709" cy="571500"/>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high-stakes AI recommendation is acted on automatically with no review step</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QUICK REFERENCE</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Module 8 Concepts, In One Line Each</a:t>
            </a:r>
            <a:endParaRPr lang="en-US" sz="3150" dirty="0"/>
          </a:p>
        </p:txBody>
      </p:sp>
      <p:sp>
        <p:nvSpPr>
          <p:cNvPr id="5" name="Shape 3"/>
          <p:cNvSpPr/>
          <p:nvPr/>
        </p:nvSpPr>
        <p:spPr>
          <a:xfrm>
            <a:off x="952500" y="1907828"/>
            <a:ext cx="3536677" cy="461963"/>
          </a:xfrm>
          <a:prstGeom prst="rect">
            <a:avLst/>
          </a:prstGeom>
          <a:solidFill>
            <a:srgbClr val="FF6A00">
              <a:alpha val="18000"/>
            </a:srgbClr>
          </a:solidFill>
          <a:ln/>
        </p:spPr>
      </p:sp>
      <p:sp>
        <p:nvSpPr>
          <p:cNvPr id="6" name="Shape 4"/>
          <p:cNvSpPr/>
          <p:nvPr/>
        </p:nvSpPr>
        <p:spPr>
          <a:xfrm>
            <a:off x="952500" y="2360265"/>
            <a:ext cx="3536677" cy="9525"/>
          </a:xfrm>
          <a:prstGeom prst="rect">
            <a:avLst/>
          </a:prstGeom>
          <a:solidFill>
            <a:srgbClr val="B85100"/>
          </a:solidFill>
          <a:ln/>
        </p:spPr>
      </p:sp>
      <p:sp>
        <p:nvSpPr>
          <p:cNvPr id="7" name="Text 5"/>
          <p:cNvSpPr/>
          <p:nvPr/>
        </p:nvSpPr>
        <p:spPr>
          <a:xfrm>
            <a:off x="1104900" y="2003078"/>
            <a:ext cx="3337977"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Concept</a:t>
            </a:r>
            <a:endParaRPr lang="en-US" sz="1800" dirty="0"/>
          </a:p>
        </p:txBody>
      </p:sp>
      <p:sp>
        <p:nvSpPr>
          <p:cNvPr id="8" name="Shape 6"/>
          <p:cNvSpPr/>
          <p:nvPr/>
        </p:nvSpPr>
        <p:spPr>
          <a:xfrm>
            <a:off x="4489177" y="1907828"/>
            <a:ext cx="12846323" cy="461963"/>
          </a:xfrm>
          <a:prstGeom prst="rect">
            <a:avLst/>
          </a:prstGeom>
          <a:solidFill>
            <a:srgbClr val="FF6A00">
              <a:alpha val="18000"/>
            </a:srgbClr>
          </a:solidFill>
          <a:ln/>
        </p:spPr>
      </p:sp>
      <p:sp>
        <p:nvSpPr>
          <p:cNvPr id="9" name="Shape 7"/>
          <p:cNvSpPr/>
          <p:nvPr/>
        </p:nvSpPr>
        <p:spPr>
          <a:xfrm>
            <a:off x="4489177" y="2360265"/>
            <a:ext cx="12846323" cy="9525"/>
          </a:xfrm>
          <a:prstGeom prst="rect">
            <a:avLst/>
          </a:prstGeom>
          <a:solidFill>
            <a:srgbClr val="B85100"/>
          </a:solidFill>
          <a:ln/>
        </p:spPr>
      </p:sp>
      <p:sp>
        <p:nvSpPr>
          <p:cNvPr id="10" name="Text 8"/>
          <p:cNvSpPr/>
          <p:nvPr/>
        </p:nvSpPr>
        <p:spPr>
          <a:xfrm>
            <a:off x="4641577" y="2003078"/>
            <a:ext cx="12926913" cy="300038"/>
          </a:xfrm>
          <a:prstGeom prst="rect">
            <a:avLst/>
          </a:prstGeom>
          <a:noFill/>
          <a:ln/>
        </p:spPr>
        <p:txBody>
          <a:bodyPr wrap="square" lIns="25400" tIns="25400" rIns="25400" bIns="25400" rtlCol="0" anchor="ctr">
            <a:normAutofit/>
          </a:bodyPr>
          <a:lstStyle/>
          <a:p>
            <a:pPr algn="l" indent="0" marL="0">
              <a:buNone/>
            </a:pPr>
            <a:r>
              <a:rPr lang="en-US" sz="1800" b="1" dirty="0">
                <a:solidFill>
                  <a:srgbClr val="F5F7FB"/>
                </a:solidFill>
                <a:latin typeface="Arial" pitchFamily="34" charset="0"/>
                <a:ea typeface="Arial" pitchFamily="34" charset="-122"/>
                <a:cs typeface="Arial" pitchFamily="34" charset="-120"/>
              </a:rPr>
              <a:t>One-Line Definition</a:t>
            </a:r>
            <a:endParaRPr lang="en-US" sz="1800" dirty="0"/>
          </a:p>
        </p:txBody>
      </p:sp>
      <p:sp>
        <p:nvSpPr>
          <p:cNvPr id="11" name="Text 9"/>
          <p:cNvSpPr/>
          <p:nvPr/>
        </p:nvSpPr>
        <p:spPr>
          <a:xfrm>
            <a:off x="1104900" y="2465040"/>
            <a:ext cx="3337977" cy="309563"/>
          </a:xfrm>
          <a:prstGeom prst="rect">
            <a:avLst/>
          </a:prstGeom>
          <a:noFill/>
          <a:ln/>
        </p:spPr>
        <p:txBody>
          <a:bodyPr wrap="square" lIns="25400" tIns="25400" rIns="25400" bIns="25400" rtlCol="0" anchor="ctr">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Bias</a:t>
            </a:r>
            <a:endParaRPr lang="en-US" sz="1800" dirty="0"/>
          </a:p>
        </p:txBody>
      </p:sp>
      <p:sp>
        <p:nvSpPr>
          <p:cNvPr id="12" name="Text 10"/>
          <p:cNvSpPr/>
          <p:nvPr/>
        </p:nvSpPr>
        <p:spPr>
          <a:xfrm>
            <a:off x="4641577" y="2465040"/>
            <a:ext cx="12926913" cy="309563"/>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 systematic, unfair skew in output, usually rooted in training data</a:t>
            </a:r>
            <a:endParaRPr lang="en-US" sz="1800" dirty="0"/>
          </a:p>
        </p:txBody>
      </p:sp>
      <p:sp>
        <p:nvSpPr>
          <p:cNvPr id="13" name="Shape 11"/>
          <p:cNvSpPr/>
          <p:nvPr/>
        </p:nvSpPr>
        <p:spPr>
          <a:xfrm>
            <a:off x="952500" y="2831753"/>
            <a:ext cx="16383000" cy="457200"/>
          </a:xfrm>
          <a:prstGeom prst="rect">
            <a:avLst/>
          </a:prstGeom>
          <a:solidFill>
            <a:srgbClr val="FFFFFF">
              <a:alpha val="2000"/>
            </a:srgbClr>
          </a:solidFill>
          <a:ln/>
        </p:spPr>
      </p:sp>
      <p:sp>
        <p:nvSpPr>
          <p:cNvPr id="14" name="Text 12"/>
          <p:cNvSpPr/>
          <p:nvPr/>
        </p:nvSpPr>
        <p:spPr>
          <a:xfrm>
            <a:off x="1104900" y="2927003"/>
            <a:ext cx="3337977"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Disclosure</a:t>
            </a:r>
            <a:endParaRPr lang="en-US" sz="1800" dirty="0"/>
          </a:p>
        </p:txBody>
      </p:sp>
      <p:sp>
        <p:nvSpPr>
          <p:cNvPr id="15" name="Text 13"/>
          <p:cNvSpPr/>
          <p:nvPr/>
        </p:nvSpPr>
        <p:spPr>
          <a:xfrm>
            <a:off x="4641577" y="2927003"/>
            <a:ext cx="1292691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Actively telling affected people that AI was used</a:t>
            </a:r>
            <a:endParaRPr lang="en-US" sz="1800" dirty="0"/>
          </a:p>
        </p:txBody>
      </p:sp>
      <p:sp>
        <p:nvSpPr>
          <p:cNvPr id="16" name="Text 14"/>
          <p:cNvSpPr/>
          <p:nvPr/>
        </p:nvSpPr>
        <p:spPr>
          <a:xfrm>
            <a:off x="1104900" y="3384203"/>
            <a:ext cx="3337977"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Explainability</a:t>
            </a:r>
            <a:endParaRPr lang="en-US" sz="1800" dirty="0"/>
          </a:p>
        </p:txBody>
      </p:sp>
      <p:sp>
        <p:nvSpPr>
          <p:cNvPr id="17" name="Text 15"/>
          <p:cNvSpPr/>
          <p:nvPr/>
        </p:nvSpPr>
        <p:spPr>
          <a:xfrm>
            <a:off x="4641577" y="3384203"/>
            <a:ext cx="1292691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Being able to say, in plain terms, roughly why an output occurred</a:t>
            </a:r>
            <a:endParaRPr lang="en-US" sz="1800" dirty="0"/>
          </a:p>
        </p:txBody>
      </p:sp>
      <p:sp>
        <p:nvSpPr>
          <p:cNvPr id="18" name="Shape 16"/>
          <p:cNvSpPr/>
          <p:nvPr/>
        </p:nvSpPr>
        <p:spPr>
          <a:xfrm>
            <a:off x="952500" y="3746153"/>
            <a:ext cx="16383000" cy="457200"/>
          </a:xfrm>
          <a:prstGeom prst="rect">
            <a:avLst/>
          </a:prstGeom>
          <a:solidFill>
            <a:srgbClr val="FFFFFF">
              <a:alpha val="2000"/>
            </a:srgbClr>
          </a:solidFill>
          <a:ln/>
        </p:spPr>
      </p:sp>
      <p:sp>
        <p:nvSpPr>
          <p:cNvPr id="19" name="Text 17"/>
          <p:cNvSpPr/>
          <p:nvPr/>
        </p:nvSpPr>
        <p:spPr>
          <a:xfrm>
            <a:off x="1104900" y="3841403"/>
            <a:ext cx="3337977"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Accountability</a:t>
            </a:r>
            <a:endParaRPr lang="en-US" sz="1800" dirty="0"/>
          </a:p>
        </p:txBody>
      </p:sp>
      <p:sp>
        <p:nvSpPr>
          <p:cNvPr id="20" name="Text 18"/>
          <p:cNvSpPr/>
          <p:nvPr/>
        </p:nvSpPr>
        <p:spPr>
          <a:xfrm>
            <a:off x="4641577" y="3841403"/>
            <a:ext cx="1292691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Humans remain responsible for decisions made with AI assistance</a:t>
            </a:r>
            <a:endParaRPr lang="en-US" sz="1800" dirty="0"/>
          </a:p>
        </p:txBody>
      </p:sp>
      <p:sp>
        <p:nvSpPr>
          <p:cNvPr id="21" name="Text 19"/>
          <p:cNvSpPr/>
          <p:nvPr/>
        </p:nvSpPr>
        <p:spPr>
          <a:xfrm>
            <a:off x="1104900" y="4298603"/>
            <a:ext cx="3337977" cy="304800"/>
          </a:xfrm>
          <a:prstGeom prst="rect">
            <a:avLst/>
          </a:prstGeom>
          <a:noFill/>
          <a:ln/>
        </p:spPr>
        <p:txBody>
          <a:bodyPr wrap="square" lIns="25400" tIns="25400" rIns="25400" bIns="25400" rtlCol="0" anchor="ctr">
            <a:normAutofit/>
          </a:bodyPr>
          <a:lstStyle/>
          <a:p>
            <a:pPr algn="l" indent="0" marL="0">
              <a:buNone/>
            </a:pPr>
            <a:r>
              <a:rPr lang="en-US" sz="1800" b="1" dirty="0">
                <a:solidFill>
                  <a:srgbClr val="FF6A00"/>
                </a:solidFill>
                <a:latin typeface="Arial" pitchFamily="34" charset="0"/>
                <a:ea typeface="Arial" pitchFamily="34" charset="-122"/>
                <a:cs typeface="Arial" pitchFamily="34" charset="-120"/>
              </a:rPr>
              <a:t>Governance</a:t>
            </a:r>
            <a:endParaRPr lang="en-US" sz="1800" dirty="0"/>
          </a:p>
        </p:txBody>
      </p:sp>
      <p:sp>
        <p:nvSpPr>
          <p:cNvPr id="22" name="Text 20"/>
          <p:cNvSpPr/>
          <p:nvPr/>
        </p:nvSpPr>
        <p:spPr>
          <a:xfrm>
            <a:off x="4641577" y="4298603"/>
            <a:ext cx="12926913" cy="304800"/>
          </a:xfrm>
          <a:prstGeom prst="rect">
            <a:avLst/>
          </a:prstGeom>
          <a:noFill/>
          <a:ln/>
        </p:spPr>
        <p:txBody>
          <a:bodyPr wrap="square" lIns="25400" tIns="25400" rIns="25400" bIns="25400" rtlCol="0" anchor="ctr">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The structure of policy and oversight that puts principles into practice</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COMMON MISCONCEPTIONS</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Exam Distractor Patterns To Recognise</a:t>
            </a:r>
            <a:endParaRPr lang="en-US" sz="3150" dirty="0"/>
          </a:p>
        </p:txBody>
      </p:sp>
      <p:sp>
        <p:nvSpPr>
          <p:cNvPr id="5" name="Shape 3"/>
          <p:cNvSpPr/>
          <p:nvPr/>
        </p:nvSpPr>
        <p:spPr>
          <a:xfrm>
            <a:off x="952500" y="1869728"/>
            <a:ext cx="16383000" cy="661988"/>
          </a:xfrm>
          <a:prstGeom prst="roundRect">
            <a:avLst>
              <a:gd name="adj" fmla="val 20144"/>
            </a:avLst>
          </a:prstGeom>
          <a:solidFill>
            <a:srgbClr val="FF6A00">
              <a:alpha val="6000"/>
            </a:srgbClr>
          </a:solidFill>
          <a:ln w="9525">
            <a:solidFill>
              <a:srgbClr val="B85100"/>
            </a:solidFill>
            <a:prstDash val="solid"/>
          </a:ln>
        </p:spPr>
      </p:sp>
      <p:sp>
        <p:nvSpPr>
          <p:cNvPr id="6" name="Text 4"/>
          <p:cNvSpPr/>
          <p:nvPr/>
        </p:nvSpPr>
        <p:spPr>
          <a:xfrm>
            <a:off x="1171575" y="2050703"/>
            <a:ext cx="1643634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 "The AI decided" removes human responsibility — accountability always stays with the person or organisation.</a:t>
            </a:r>
            <a:endParaRPr lang="en-US" sz="1800" dirty="0"/>
          </a:p>
        </p:txBody>
      </p:sp>
      <p:sp>
        <p:nvSpPr>
          <p:cNvPr id="7" name="Shape 5"/>
          <p:cNvSpPr/>
          <p:nvPr/>
        </p:nvSpPr>
        <p:spPr>
          <a:xfrm>
            <a:off x="952500" y="2665065"/>
            <a:ext cx="16383000" cy="661988"/>
          </a:xfrm>
          <a:prstGeom prst="roundRect">
            <a:avLst>
              <a:gd name="adj" fmla="val 20144"/>
            </a:avLst>
          </a:prstGeom>
          <a:solidFill>
            <a:srgbClr val="FF6A00">
              <a:alpha val="6000"/>
            </a:srgbClr>
          </a:solidFill>
          <a:ln w="9525">
            <a:solidFill>
              <a:srgbClr val="B85100"/>
            </a:solidFill>
            <a:prstDash val="solid"/>
          </a:ln>
        </p:spPr>
      </p:sp>
      <p:sp>
        <p:nvSpPr>
          <p:cNvPr id="8" name="Text 6"/>
          <p:cNvSpPr/>
          <p:nvPr/>
        </p:nvSpPr>
        <p:spPr>
          <a:xfrm>
            <a:off x="1171575" y="2846040"/>
            <a:ext cx="1643634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 Disclosure and explainability are the same thing — disclosure is telling people AI was used; explainability is saying roughly why it produced a result.</a:t>
            </a:r>
            <a:endParaRPr lang="en-US" sz="1800" dirty="0"/>
          </a:p>
        </p:txBody>
      </p:sp>
      <p:sp>
        <p:nvSpPr>
          <p:cNvPr id="9" name="Shape 7"/>
          <p:cNvSpPr/>
          <p:nvPr/>
        </p:nvSpPr>
        <p:spPr>
          <a:xfrm>
            <a:off x="952500" y="3460403"/>
            <a:ext cx="16383000" cy="661988"/>
          </a:xfrm>
          <a:prstGeom prst="roundRect">
            <a:avLst>
              <a:gd name="adj" fmla="val 20144"/>
            </a:avLst>
          </a:prstGeom>
          <a:solidFill>
            <a:srgbClr val="FF6A00">
              <a:alpha val="6000"/>
            </a:srgbClr>
          </a:solidFill>
          <a:ln w="9525">
            <a:solidFill>
              <a:srgbClr val="B85100"/>
            </a:solidFill>
            <a:prstDash val="solid"/>
          </a:ln>
        </p:spPr>
      </p:sp>
      <p:sp>
        <p:nvSpPr>
          <p:cNvPr id="10" name="Text 8"/>
          <p:cNvSpPr/>
          <p:nvPr/>
        </p:nvSpPr>
        <p:spPr>
          <a:xfrm>
            <a:off x="1171575" y="3641378"/>
            <a:ext cx="16436340" cy="338138"/>
          </a:xfrm>
          <a:prstGeom prst="rect">
            <a:avLst/>
          </a:prstGeom>
          <a:noFill/>
          <a:ln/>
        </p:spPr>
        <p:txBody>
          <a:bodyPr wrap="square" lIns="25400" tIns="25400" rIns="25400" bIns="25400" rtlCol="0" anchor="t">
            <a:normAutofit/>
          </a:bodyPr>
          <a:lstStyle/>
          <a:p>
            <a:pPr algn="l" indent="0" marL="0">
              <a:buNone/>
            </a:pPr>
            <a:r>
              <a:rPr lang="en-US" sz="1800" dirty="0">
                <a:solidFill>
                  <a:srgbClr val="DFE3EA"/>
                </a:solidFill>
                <a:latin typeface="Arial" pitchFamily="34" charset="0"/>
                <a:ea typeface="Arial" pitchFamily="34" charset="-122"/>
                <a:cs typeface="Arial" pitchFamily="34" charset="-120"/>
              </a:rPr>
              <a:t>⚠️ AI regulation is fixed and settled — it is actively emerging and evolving.</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612815" y="3731419"/>
            <a:ext cx="3062295" cy="328613"/>
          </a:xfrm>
          <a:prstGeom prst="rect">
            <a:avLst/>
          </a:prstGeom>
          <a:noFill/>
          <a:ln/>
        </p:spPr>
        <p:txBody>
          <a:bodyPr wrap="square" lIns="25400" tIns="25400" rIns="25400" bIns="25400" rtlCol="0" anchor="t">
            <a:normAutofit/>
          </a:bodyPr>
          <a:lstStyle/>
          <a:p>
            <a:pPr algn="ctr" indent="0" marL="0">
              <a:buNone/>
            </a:pPr>
            <a:r>
              <a:rPr lang="en-US" sz="1950" b="1" spc="38" kern="0" dirty="0">
                <a:solidFill>
                  <a:srgbClr val="FF6A00"/>
                </a:solidFill>
                <a:latin typeface="Arial" pitchFamily="34" charset="0"/>
                <a:ea typeface="Arial" pitchFamily="34" charset="-122"/>
                <a:cs typeface="Arial" pitchFamily="34" charset="-120"/>
              </a:rPr>
              <a:t>DOMAIN 7 WEIGHTING</a:t>
            </a:r>
            <a:endParaRPr lang="en-US" sz="1950" dirty="0"/>
          </a:p>
        </p:txBody>
      </p:sp>
      <p:sp>
        <p:nvSpPr>
          <p:cNvPr id="4" name="Text 2"/>
          <p:cNvSpPr/>
          <p:nvPr/>
        </p:nvSpPr>
        <p:spPr>
          <a:xfrm>
            <a:off x="7240127" y="4212431"/>
            <a:ext cx="3807671" cy="1657350"/>
          </a:xfrm>
          <a:prstGeom prst="rect">
            <a:avLst/>
          </a:prstGeom>
          <a:noFill/>
          <a:ln/>
        </p:spPr>
        <p:txBody>
          <a:bodyPr wrap="square" lIns="25400" tIns="25400" rIns="25400" bIns="25400" rtlCol="0" anchor="t">
            <a:normAutofit/>
          </a:bodyPr>
          <a:lstStyle/>
          <a:p>
            <a:pPr algn="ctr" indent="0" marL="0">
              <a:lnSpc>
                <a:spcPct val="86957"/>
              </a:lnSpc>
              <a:buNone/>
            </a:pPr>
            <a:r>
              <a:rPr lang="en-US" sz="12750" b="1" dirty="0">
                <a:solidFill>
                  <a:srgbClr val="FF6A00"/>
                </a:solidFill>
                <a:latin typeface="Arial" pitchFamily="34" charset="0"/>
                <a:ea typeface="Arial" pitchFamily="34" charset="-122"/>
                <a:cs typeface="Arial" pitchFamily="34" charset="-120"/>
              </a:rPr>
              <a:t>10%</a:t>
            </a:r>
            <a:endParaRPr lang="en-US" sz="12750" dirty="0"/>
          </a:p>
        </p:txBody>
      </p:sp>
      <p:sp>
        <p:nvSpPr>
          <p:cNvPr id="5" name="Text 3"/>
          <p:cNvSpPr/>
          <p:nvPr/>
        </p:nvSpPr>
        <p:spPr>
          <a:xfrm>
            <a:off x="4729163" y="5926931"/>
            <a:ext cx="8829675" cy="666750"/>
          </a:xfrm>
          <a:prstGeom prst="rect">
            <a:avLst/>
          </a:prstGeom>
          <a:noFill/>
          <a:ln/>
        </p:spPr>
        <p:txBody>
          <a:bodyPr wrap="square" lIns="25400" tIns="25400" rIns="25400" bIns="25400" rtlCol="0" anchor="t">
            <a:normAutofit/>
          </a:bodyPr>
          <a:lstStyle/>
          <a:p>
            <a:pPr algn="ctr" indent="0" marL="0">
              <a:buNone/>
            </a:pPr>
            <a:r>
              <a:rPr lang="en-US" sz="2100" dirty="0">
                <a:solidFill>
                  <a:srgbClr val="DFE3EA"/>
                </a:solidFill>
                <a:latin typeface="Arial" pitchFamily="34" charset="0"/>
                <a:ea typeface="Arial" pitchFamily="34" charset="-122"/>
                <a:cs typeface="Arial" pitchFamily="34" charset="-120"/>
              </a:rPr>
              <a:t>of the CAIA examination is drawn from Domain 7: Responsible AI, Ethics &amp; Governance.</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KNOWLEDGE CHECK</a:t>
            </a:r>
            <a:endParaRPr lang="en-US" sz="1800" dirty="0"/>
          </a:p>
        </p:txBody>
      </p:sp>
      <p:sp>
        <p:nvSpPr>
          <p:cNvPr id="4" name="Text 2"/>
          <p:cNvSpPr/>
          <p:nvPr/>
        </p:nvSpPr>
        <p:spPr>
          <a:xfrm>
            <a:off x="952500" y="1162050"/>
            <a:ext cx="15697200" cy="895350"/>
          </a:xfrm>
          <a:prstGeom prst="rect">
            <a:avLst/>
          </a:prstGeom>
          <a:noFill/>
          <a:ln/>
        </p:spPr>
        <p:txBody>
          <a:bodyPr wrap="square" lIns="25400" tIns="25400" rIns="25400" bIns="25400" rtlCol="0" anchor="t">
            <a:normAutofit/>
          </a:bodyPr>
          <a:lstStyle/>
          <a:p>
            <a:pPr algn="l" indent="0" marL="0">
              <a:lnSpc>
                <a:spcPct val="130435"/>
              </a:lnSpc>
              <a:buNone/>
            </a:pPr>
            <a:r>
              <a:rPr lang="en-US" sz="2250" b="1" dirty="0">
                <a:solidFill>
                  <a:srgbClr val="F5F7FB"/>
                </a:solidFill>
                <a:latin typeface="Arial" pitchFamily="34" charset="0"/>
                <a:ea typeface="Arial" pitchFamily="34" charset="-122"/>
                <a:cs typeface="Arial" pitchFamily="34" charset="-120"/>
              </a:rPr>
              <a:t>An employee acts on a flawed AI recommendation and later says: "I just did what the AI told me." What principle does this response conflict with?</a:t>
            </a:r>
            <a:endParaRPr lang="en-US" sz="2250" dirty="0"/>
          </a:p>
        </p:txBody>
      </p:sp>
      <p:sp>
        <p:nvSpPr>
          <p:cNvPr id="5" name="Shape 3"/>
          <p:cNvSpPr/>
          <p:nvPr/>
        </p:nvSpPr>
        <p:spPr>
          <a:xfrm>
            <a:off x="952500" y="2286000"/>
            <a:ext cx="8115300" cy="685800"/>
          </a:xfrm>
          <a:prstGeom prst="roundRect">
            <a:avLst>
              <a:gd name="adj" fmla="val 19444"/>
            </a:avLst>
          </a:prstGeom>
          <a:solidFill>
            <a:srgbClr val="FFFFFF">
              <a:alpha val="3000"/>
            </a:srgbClr>
          </a:solidFill>
          <a:ln w="9525">
            <a:solidFill>
              <a:srgbClr val="2A2F3A"/>
            </a:solidFill>
            <a:prstDash val="solid"/>
          </a:ln>
        </p:spPr>
      </p:sp>
      <p:sp>
        <p:nvSpPr>
          <p:cNvPr id="6" name="Text 4"/>
          <p:cNvSpPr/>
          <p:nvPr/>
        </p:nvSpPr>
        <p:spPr>
          <a:xfrm>
            <a:off x="1152525" y="2486025"/>
            <a:ext cx="7958709" cy="32385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A. Explainability</a:t>
            </a:r>
            <a:endParaRPr lang="en-US" sz="1800" dirty="0"/>
          </a:p>
        </p:txBody>
      </p:sp>
      <p:sp>
        <p:nvSpPr>
          <p:cNvPr id="7" name="Shape 5"/>
          <p:cNvSpPr/>
          <p:nvPr/>
        </p:nvSpPr>
        <p:spPr>
          <a:xfrm>
            <a:off x="9220200" y="2286000"/>
            <a:ext cx="8115300" cy="685800"/>
          </a:xfrm>
          <a:prstGeom prst="roundRect">
            <a:avLst>
              <a:gd name="adj" fmla="val 19444"/>
            </a:avLst>
          </a:prstGeom>
          <a:solidFill>
            <a:srgbClr val="22C55E">
              <a:alpha val="10000"/>
            </a:srgbClr>
          </a:solidFill>
          <a:ln w="19050">
            <a:solidFill>
              <a:srgbClr val="22C55E"/>
            </a:solidFill>
            <a:prstDash val="solid"/>
          </a:ln>
        </p:spPr>
      </p:sp>
      <p:sp>
        <p:nvSpPr>
          <p:cNvPr id="8" name="Text 6"/>
          <p:cNvSpPr/>
          <p:nvPr/>
        </p:nvSpPr>
        <p:spPr>
          <a:xfrm>
            <a:off x="9429750" y="2495550"/>
            <a:ext cx="793965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B. Accountability ✓</a:t>
            </a:r>
            <a:endParaRPr lang="en-US" sz="1800" dirty="0"/>
          </a:p>
        </p:txBody>
      </p:sp>
      <p:sp>
        <p:nvSpPr>
          <p:cNvPr id="9" name="Shape 7"/>
          <p:cNvSpPr/>
          <p:nvPr/>
        </p:nvSpPr>
        <p:spPr>
          <a:xfrm>
            <a:off x="952500" y="3124200"/>
            <a:ext cx="8115300" cy="666750"/>
          </a:xfrm>
          <a:prstGeom prst="roundRect">
            <a:avLst>
              <a:gd name="adj" fmla="val 20000"/>
            </a:avLst>
          </a:prstGeom>
          <a:solidFill>
            <a:srgbClr val="FFFFFF">
              <a:alpha val="3000"/>
            </a:srgbClr>
          </a:solidFill>
          <a:ln w="9525">
            <a:solidFill>
              <a:srgbClr val="2A2F3A"/>
            </a:solidFill>
            <a:prstDash val="solid"/>
          </a:ln>
        </p:spPr>
      </p:sp>
      <p:sp>
        <p:nvSpPr>
          <p:cNvPr id="10" name="Text 8"/>
          <p:cNvSpPr/>
          <p:nvPr/>
        </p:nvSpPr>
        <p:spPr>
          <a:xfrm>
            <a:off x="1152525" y="3324225"/>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C. Disclosure</a:t>
            </a:r>
            <a:endParaRPr lang="en-US" sz="1800" dirty="0"/>
          </a:p>
        </p:txBody>
      </p:sp>
      <p:sp>
        <p:nvSpPr>
          <p:cNvPr id="11" name="Shape 9"/>
          <p:cNvSpPr/>
          <p:nvPr/>
        </p:nvSpPr>
        <p:spPr>
          <a:xfrm>
            <a:off x="9220200" y="3124200"/>
            <a:ext cx="8115300" cy="666750"/>
          </a:xfrm>
          <a:prstGeom prst="roundRect">
            <a:avLst>
              <a:gd name="adj" fmla="val 20000"/>
            </a:avLst>
          </a:prstGeom>
          <a:solidFill>
            <a:srgbClr val="FFFFFF">
              <a:alpha val="3000"/>
            </a:srgbClr>
          </a:solidFill>
          <a:ln w="9525">
            <a:solidFill>
              <a:srgbClr val="2A2F3A"/>
            </a:solidFill>
            <a:prstDash val="solid"/>
          </a:ln>
        </p:spPr>
      </p:sp>
      <p:sp>
        <p:nvSpPr>
          <p:cNvPr id="12" name="Text 10"/>
          <p:cNvSpPr/>
          <p:nvPr/>
        </p:nvSpPr>
        <p:spPr>
          <a:xfrm>
            <a:off x="9420225" y="3324225"/>
            <a:ext cx="7958709" cy="304800"/>
          </a:xfrm>
          <a:prstGeom prst="rect">
            <a:avLst/>
          </a:prstGeom>
          <a:noFill/>
          <a:ln/>
        </p:spPr>
        <p:txBody>
          <a:bodyPr wrap="square" lIns="25400" tIns="25400" rIns="25400" bIns="25400" rtlCol="0" anchor="t">
            <a:normAutofit/>
          </a:bodyPr>
          <a:lstStyle/>
          <a:p>
            <a:pPr algn="l" indent="0" marL="0">
              <a:buNone/>
            </a:pPr>
            <a:r>
              <a:rPr lang="en-US" sz="1800" dirty="0">
                <a:solidFill>
                  <a:srgbClr val="F5F7FB"/>
                </a:solidFill>
                <a:latin typeface="Arial" pitchFamily="34" charset="0"/>
                <a:ea typeface="Arial" pitchFamily="34" charset="-122"/>
                <a:cs typeface="Arial" pitchFamily="34" charset="-120"/>
              </a:rPr>
              <a:t>D. Data leakage</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952500" y="723900"/>
            <a:ext cx="18021300" cy="304800"/>
          </a:xfrm>
          <a:prstGeom prst="rect">
            <a:avLst/>
          </a:prstGeom>
          <a:noFill/>
          <a:ln/>
        </p:spPr>
        <p:txBody>
          <a:bodyPr wrap="square" lIns="25400" tIns="25400" rIns="25400" bIns="25400" rtlCol="0" anchor="t">
            <a:normAutofit/>
          </a:bodyPr>
          <a:lstStyle/>
          <a:p>
            <a:pPr algn="l" indent="0" marL="0">
              <a:buNone/>
            </a:pPr>
            <a:r>
              <a:rPr lang="en-US" sz="1800" b="1" spc="38" kern="0" dirty="0">
                <a:solidFill>
                  <a:srgbClr val="FF6A00"/>
                </a:solidFill>
                <a:latin typeface="Arial" pitchFamily="34" charset="0"/>
                <a:ea typeface="Arial" pitchFamily="34" charset="-122"/>
                <a:cs typeface="Arial" pitchFamily="34" charset="-120"/>
              </a:rPr>
              <a:t>MODULE SUMMARY</a:t>
            </a:r>
            <a:endParaRPr lang="en-US" sz="1800" dirty="0"/>
          </a:p>
        </p:txBody>
      </p:sp>
      <p:sp>
        <p:nvSpPr>
          <p:cNvPr id="4" name="Text 2"/>
          <p:cNvSpPr/>
          <p:nvPr/>
        </p:nvSpPr>
        <p:spPr>
          <a:xfrm>
            <a:off x="952500" y="1162050"/>
            <a:ext cx="18021300" cy="498128"/>
          </a:xfrm>
          <a:prstGeom prst="rect">
            <a:avLst/>
          </a:prstGeom>
          <a:noFill/>
          <a:ln/>
        </p:spPr>
        <p:txBody>
          <a:bodyPr wrap="square" lIns="25400" tIns="25400" rIns="25400" bIns="25400" rtlCol="0" anchor="t">
            <a:normAutofit/>
          </a:bodyPr>
          <a:lstStyle/>
          <a:p>
            <a:pPr algn="l" indent="0" marL="0">
              <a:lnSpc>
                <a:spcPct val="99588"/>
              </a:lnSpc>
              <a:buNone/>
            </a:pPr>
            <a:r>
              <a:rPr lang="en-US" sz="3150" b="1" dirty="0">
                <a:solidFill>
                  <a:srgbClr val="F5F7FB"/>
                </a:solidFill>
                <a:latin typeface="Arial" pitchFamily="34" charset="0"/>
                <a:ea typeface="Arial" pitchFamily="34" charset="-122"/>
                <a:cs typeface="Arial" pitchFamily="34" charset="-120"/>
              </a:rPr>
              <a:t>Module 8 In Six Statements</a:t>
            </a:r>
            <a:endParaRPr lang="en-US" sz="3150" dirty="0"/>
          </a:p>
        </p:txBody>
      </p:sp>
      <p:sp>
        <p:nvSpPr>
          <p:cNvPr id="5" name="Shape 3"/>
          <p:cNvSpPr/>
          <p:nvPr/>
        </p:nvSpPr>
        <p:spPr>
          <a:xfrm>
            <a:off x="952500" y="1869728"/>
            <a:ext cx="8124825" cy="604838"/>
          </a:xfrm>
          <a:prstGeom prst="roundRect">
            <a:avLst>
              <a:gd name="adj" fmla="val 22047"/>
            </a:avLst>
          </a:prstGeom>
          <a:solidFill>
            <a:srgbClr val="FFFFFF">
              <a:alpha val="2000"/>
            </a:srgbClr>
          </a:solidFill>
          <a:ln w="9525">
            <a:solidFill>
              <a:srgbClr val="2A2F3A"/>
            </a:solidFill>
            <a:prstDash val="solid"/>
          </a:ln>
        </p:spPr>
      </p:sp>
      <p:sp>
        <p:nvSpPr>
          <p:cNvPr id="6" name="Text 4"/>
          <p:cNvSpPr/>
          <p:nvPr/>
        </p:nvSpPr>
        <p:spPr>
          <a:xfrm>
            <a:off x="1171575" y="2031653"/>
            <a:ext cx="793042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8.1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Bias usually enters through training data.</a:t>
            </a:r>
            <a:endParaRPr lang="en-US" sz="1800" dirty="0"/>
          </a:p>
        </p:txBody>
      </p:sp>
      <p:sp>
        <p:nvSpPr>
          <p:cNvPr id="7" name="Shape 5"/>
          <p:cNvSpPr/>
          <p:nvPr/>
        </p:nvSpPr>
        <p:spPr>
          <a:xfrm>
            <a:off x="9210675" y="1869728"/>
            <a:ext cx="8124825" cy="604838"/>
          </a:xfrm>
          <a:prstGeom prst="roundRect">
            <a:avLst>
              <a:gd name="adj" fmla="val 22047"/>
            </a:avLst>
          </a:prstGeom>
          <a:solidFill>
            <a:srgbClr val="FFFFFF">
              <a:alpha val="2000"/>
            </a:srgbClr>
          </a:solidFill>
          <a:ln w="9525">
            <a:solidFill>
              <a:srgbClr val="2A2F3A"/>
            </a:solidFill>
            <a:prstDash val="solid"/>
          </a:ln>
        </p:spPr>
      </p:sp>
      <p:sp>
        <p:nvSpPr>
          <p:cNvPr id="8" name="Text 6"/>
          <p:cNvSpPr/>
          <p:nvPr/>
        </p:nvSpPr>
        <p:spPr>
          <a:xfrm>
            <a:off x="9429750" y="2031653"/>
            <a:ext cx="793042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8.2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Transparency, disclosure and explainability are distinct ideas.</a:t>
            </a:r>
            <a:endParaRPr lang="en-US" sz="1800" dirty="0"/>
          </a:p>
        </p:txBody>
      </p:sp>
      <p:sp>
        <p:nvSpPr>
          <p:cNvPr id="9" name="Shape 7"/>
          <p:cNvSpPr/>
          <p:nvPr/>
        </p:nvSpPr>
        <p:spPr>
          <a:xfrm>
            <a:off x="952500" y="2607915"/>
            <a:ext cx="8124825" cy="604838"/>
          </a:xfrm>
          <a:prstGeom prst="roundRect">
            <a:avLst>
              <a:gd name="adj" fmla="val 22047"/>
            </a:avLst>
          </a:prstGeom>
          <a:solidFill>
            <a:srgbClr val="FFFFFF">
              <a:alpha val="2000"/>
            </a:srgbClr>
          </a:solidFill>
          <a:ln w="9525">
            <a:solidFill>
              <a:srgbClr val="2A2F3A"/>
            </a:solidFill>
            <a:prstDash val="solid"/>
          </a:ln>
        </p:spPr>
      </p:sp>
      <p:sp>
        <p:nvSpPr>
          <p:cNvPr id="10" name="Text 8"/>
          <p:cNvSpPr/>
          <p:nvPr/>
        </p:nvSpPr>
        <p:spPr>
          <a:xfrm>
            <a:off x="1171575" y="2769840"/>
            <a:ext cx="793042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8.3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Humans remain accountable for AI-assisted decisions.</a:t>
            </a:r>
            <a:endParaRPr lang="en-US" sz="1800" dirty="0"/>
          </a:p>
        </p:txBody>
      </p:sp>
      <p:sp>
        <p:nvSpPr>
          <p:cNvPr id="11" name="Shape 9"/>
          <p:cNvSpPr/>
          <p:nvPr/>
        </p:nvSpPr>
        <p:spPr>
          <a:xfrm>
            <a:off x="9210675" y="2607915"/>
            <a:ext cx="8124825" cy="604838"/>
          </a:xfrm>
          <a:prstGeom prst="roundRect">
            <a:avLst>
              <a:gd name="adj" fmla="val 22047"/>
            </a:avLst>
          </a:prstGeom>
          <a:solidFill>
            <a:srgbClr val="FFFFFF">
              <a:alpha val="2000"/>
            </a:srgbClr>
          </a:solidFill>
          <a:ln w="9525">
            <a:solidFill>
              <a:srgbClr val="2A2F3A"/>
            </a:solidFill>
            <a:prstDash val="solid"/>
          </a:ln>
        </p:spPr>
      </p:sp>
      <p:sp>
        <p:nvSpPr>
          <p:cNvPr id="12" name="Text 10"/>
          <p:cNvSpPr/>
          <p:nvPr/>
        </p:nvSpPr>
        <p:spPr>
          <a:xfrm>
            <a:off x="9429750" y="2769840"/>
            <a:ext cx="793042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8.4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Policy and governance turn principles into practice.</a:t>
            </a:r>
            <a:endParaRPr lang="en-US" sz="1800" dirty="0"/>
          </a:p>
        </p:txBody>
      </p:sp>
      <p:sp>
        <p:nvSpPr>
          <p:cNvPr id="13" name="Shape 11"/>
          <p:cNvSpPr/>
          <p:nvPr/>
        </p:nvSpPr>
        <p:spPr>
          <a:xfrm>
            <a:off x="952500" y="3346103"/>
            <a:ext cx="8124825" cy="604838"/>
          </a:xfrm>
          <a:prstGeom prst="roundRect">
            <a:avLst>
              <a:gd name="adj" fmla="val 22047"/>
            </a:avLst>
          </a:prstGeom>
          <a:solidFill>
            <a:srgbClr val="FFFFFF">
              <a:alpha val="2000"/>
            </a:srgbClr>
          </a:solidFill>
          <a:ln w="9525">
            <a:solidFill>
              <a:srgbClr val="2A2F3A"/>
            </a:solidFill>
            <a:prstDash val="solid"/>
          </a:ln>
        </p:spPr>
      </p:sp>
      <p:sp>
        <p:nvSpPr>
          <p:cNvPr id="14" name="Text 12"/>
          <p:cNvSpPr/>
          <p:nvPr/>
        </p:nvSpPr>
        <p:spPr>
          <a:xfrm>
            <a:off x="1171575" y="3508028"/>
            <a:ext cx="793042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8.5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AI regulation and standards are still emerging.</a:t>
            </a:r>
            <a:endParaRPr lang="en-US" sz="1800" dirty="0"/>
          </a:p>
        </p:txBody>
      </p:sp>
      <p:sp>
        <p:nvSpPr>
          <p:cNvPr id="15" name="Shape 13"/>
          <p:cNvSpPr/>
          <p:nvPr/>
        </p:nvSpPr>
        <p:spPr>
          <a:xfrm>
            <a:off x="9210675" y="3346103"/>
            <a:ext cx="8124825" cy="604838"/>
          </a:xfrm>
          <a:prstGeom prst="roundRect">
            <a:avLst>
              <a:gd name="adj" fmla="val 22047"/>
            </a:avLst>
          </a:prstGeom>
          <a:solidFill>
            <a:srgbClr val="FFFFFF">
              <a:alpha val="2000"/>
            </a:srgbClr>
          </a:solidFill>
          <a:ln w="9525">
            <a:solidFill>
              <a:srgbClr val="2A2F3A"/>
            </a:solidFill>
            <a:prstDash val="solid"/>
          </a:ln>
        </p:spPr>
      </p:sp>
      <p:sp>
        <p:nvSpPr>
          <p:cNvPr id="16" name="Text 14"/>
          <p:cNvSpPr/>
          <p:nvPr/>
        </p:nvSpPr>
        <p:spPr>
          <a:xfrm>
            <a:off x="9429750" y="3508028"/>
            <a:ext cx="7930420" cy="319088"/>
          </a:xfrm>
          <a:prstGeom prst="rect">
            <a:avLst/>
          </a:prstGeom>
          <a:noFill/>
          <a:ln/>
        </p:spPr>
        <p:txBody>
          <a:bodyPr wrap="square" lIns="25400" tIns="25400" rIns="25400" bIns="25400" rtlCol="0" anchor="t">
            <a:normAutofit/>
          </a:bodyPr>
          <a:lstStyle/>
          <a:p>
            <a:pPr algn="l" indent="0" marL="0">
              <a:buNone/>
            </a:pPr>
            <a:r>
              <a:rPr lang="en-US" sz="1875" b="1" dirty="0">
                <a:solidFill>
                  <a:srgbClr val="FFD9BF"/>
                </a:solidFill>
                <a:latin typeface="Arial" pitchFamily="34" charset="0"/>
                <a:ea typeface="Arial" pitchFamily="34" charset="-122"/>
                <a:cs typeface="Arial" pitchFamily="34" charset="-120"/>
              </a:rPr>
              <a:t>8.6 </a:t>
            </a:r>
            <a:pPr algn="l" indent="0" marL="0">
              <a:buNone/>
            </a:pPr>
            <a:r>
              <a:rPr lang="en-US" sz="1800" dirty="0">
                <a:solidFill>
                  <a:srgbClr val="DFE3EA"/>
                </a:solidFill>
                <a:highlight>
                  <a:srgbClr val="FFFFFF"/>
                </a:highlight>
                <a:latin typeface="Arial" pitchFamily="34" charset="0"/>
                <a:ea typeface="Arial" pitchFamily="34" charset="-122"/>
                <a:cs typeface="Arial" pitchFamily="34" charset="-120"/>
              </a:rPr>
              <a:t>Responsible use means human oversight, fairness and following policy.</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C0D10"/>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0">
                <a:srgbClr val="FF6A00">
                  <a:alpha val="16000"/>
                </a:srgbClr>
              </a:gs>
              <a:gs pos="50000">
                <a:srgbClr val="FF6A00">
                  <a:alpha val="0"/>
                </a:srgbClr>
              </a:gs>
            </a:gsLst>
            <a:path path="circle">
              <a:fillToRect l="0" t="0" r="100000" b="100000"/>
            </a:path>
          </a:gradFill>
          <a:ln/>
        </p:spPr>
      </p:sp>
      <p:sp>
        <p:nvSpPr>
          <p:cNvPr id="3" name="Text 1"/>
          <p:cNvSpPr/>
          <p:nvPr/>
        </p:nvSpPr>
        <p:spPr>
          <a:xfrm>
            <a:off x="7880646" y="3791471"/>
            <a:ext cx="2526633" cy="304800"/>
          </a:xfrm>
          <a:prstGeom prst="rect">
            <a:avLst/>
          </a:prstGeom>
          <a:noFill/>
          <a:ln/>
        </p:spPr>
        <p:txBody>
          <a:bodyPr wrap="square" lIns="25400" tIns="25400" rIns="25400" bIns="25400" rtlCol="0" anchor="t">
            <a:normAutofit/>
          </a:bodyPr>
          <a:lstStyle/>
          <a:p>
            <a:pPr algn="ctr" indent="0" marL="0">
              <a:buNone/>
            </a:pPr>
            <a:r>
              <a:rPr lang="en-US" sz="1800" b="1" spc="38" kern="0" dirty="0">
                <a:solidFill>
                  <a:srgbClr val="FF6A00"/>
                </a:solidFill>
                <a:latin typeface="Arial" pitchFamily="34" charset="0"/>
                <a:ea typeface="Arial" pitchFamily="34" charset="-122"/>
                <a:cs typeface="Arial" pitchFamily="34" charset="-120"/>
              </a:rPr>
              <a:t>COURSE COMPLETE</a:t>
            </a:r>
            <a:endParaRPr lang="en-US" sz="1800" dirty="0"/>
          </a:p>
        </p:txBody>
      </p:sp>
      <p:sp>
        <p:nvSpPr>
          <p:cNvPr id="4" name="Text 2"/>
          <p:cNvSpPr/>
          <p:nvPr/>
        </p:nvSpPr>
        <p:spPr>
          <a:xfrm>
            <a:off x="3690629" y="4267721"/>
            <a:ext cx="10906668" cy="607665"/>
          </a:xfrm>
          <a:prstGeom prst="rect">
            <a:avLst/>
          </a:prstGeom>
          <a:noFill/>
          <a:ln/>
        </p:spPr>
        <p:txBody>
          <a:bodyPr wrap="square" lIns="25400" tIns="25400" rIns="25400" bIns="25400" rtlCol="0" anchor="t">
            <a:normAutofit/>
          </a:bodyPr>
          <a:lstStyle/>
          <a:p>
            <a:pPr algn="ctr" indent="0" marL="0">
              <a:lnSpc>
                <a:spcPct val="100504"/>
              </a:lnSpc>
              <a:buNone/>
            </a:pPr>
            <a:r>
              <a:rPr lang="en-US" sz="3900" b="1" dirty="0">
                <a:solidFill>
                  <a:srgbClr val="F5F7FB"/>
                </a:solidFill>
                <a:latin typeface="Arial" pitchFamily="34" charset="0"/>
                <a:ea typeface="Arial" pitchFamily="34" charset="-122"/>
                <a:cs typeface="Arial" pitchFamily="34" charset="-120"/>
              </a:rPr>
              <a:t>You've Completed All Eight CAIA Modules</a:t>
            </a:r>
            <a:endParaRPr lang="en-US" sz="3900" dirty="0"/>
          </a:p>
        </p:txBody>
      </p:sp>
      <p:sp>
        <p:nvSpPr>
          <p:cNvPr id="5" name="Text 3"/>
          <p:cNvSpPr/>
          <p:nvPr/>
        </p:nvSpPr>
        <p:spPr>
          <a:xfrm>
            <a:off x="3257550" y="5065886"/>
            <a:ext cx="11772900" cy="891480"/>
          </a:xfrm>
          <a:prstGeom prst="rect">
            <a:avLst/>
          </a:prstGeom>
          <a:noFill/>
          <a:ln/>
        </p:spPr>
        <p:txBody>
          <a:bodyPr wrap="square" lIns="25400" tIns="25400" rIns="25400" bIns="25400" rtlCol="0" anchor="t">
            <a:normAutofit/>
          </a:bodyPr>
          <a:lstStyle/>
          <a:p>
            <a:pPr algn="ctr" indent="0" marL="0">
              <a:lnSpc>
                <a:spcPct val="137846"/>
              </a:lnSpc>
              <a:buNone/>
            </a:pPr>
            <a:r>
              <a:rPr lang="en-US" sz="2100" dirty="0">
                <a:solidFill>
                  <a:srgbClr val="DFE3EA"/>
                </a:solidFill>
                <a:latin typeface="Arial" pitchFamily="34" charset="0"/>
                <a:ea typeface="Arial" pitchFamily="34" charset="-122"/>
                <a:cs typeface="Arial" pitchFamily="34" charset="-120"/>
              </a:rPr>
              <a:t>Use the module quiz, scenario-based questions and cheat sheet to consolidate what you've learned, then attempt the practice examination questions before booking the certification exam.</a:t>
            </a:r>
            <a:endParaRPr lang="en-US" sz="2100" dirty="0"/>
          </a:p>
        </p:txBody>
      </p:sp>
      <p:sp>
        <p:nvSpPr>
          <p:cNvPr id="6" name="Text 4"/>
          <p:cNvSpPr/>
          <p:nvPr/>
        </p:nvSpPr>
        <p:spPr>
          <a:xfrm>
            <a:off x="6842555" y="6205017"/>
            <a:ext cx="4602815" cy="328613"/>
          </a:xfrm>
          <a:prstGeom prst="rect">
            <a:avLst/>
          </a:prstGeom>
          <a:noFill/>
          <a:ln/>
        </p:spPr>
        <p:txBody>
          <a:bodyPr wrap="square" lIns="25400" tIns="25400" rIns="25400" bIns="25400" rtlCol="0" anchor="t">
            <a:normAutofit/>
          </a:bodyPr>
          <a:lstStyle/>
          <a:p>
            <a:pPr algn="ctr" indent="0" marL="0">
              <a:buNone/>
            </a:pPr>
            <a:r>
              <a:rPr lang="en-US" sz="1950" i="1" dirty="0">
                <a:solidFill>
                  <a:srgbClr val="B8C0CF"/>
                </a:solidFill>
                <a:latin typeface="Arial" pitchFamily="34" charset="0"/>
                <a:ea typeface="Arial" pitchFamily="34" charset="-122"/>
                <a:cs typeface="Arial" pitchFamily="34" charset="-120"/>
              </a:rPr>
              <a:t>Use AI. Verify AI. Work smarter with AI.</a:t>
            </a:r>
            <a:endParaRPr lang="en-US" sz="1950" dirty="0"/>
          </a:p>
        </p:txBody>
      </p:sp>
      <p:sp>
        <p:nvSpPr>
          <p:cNvPr id="7" name="Text 5"/>
          <p:cNvSpPr/>
          <p:nvPr/>
        </p:nvSpPr>
        <p:spPr>
          <a:xfrm>
            <a:off x="855743" y="9715500"/>
            <a:ext cx="2128651" cy="304800"/>
          </a:xfrm>
          <a:prstGeom prst="rect">
            <a:avLst/>
          </a:prstGeom>
          <a:noFill/>
          <a:ln/>
        </p:spPr>
        <p:txBody>
          <a:bodyPr wrap="square" lIns="25400" tIns="25400" rIns="25400" bIns="25400" rtlCol="0" anchor="t">
            <a:normAutofit/>
          </a:bodyPr>
          <a:lstStyle/>
          <a:p>
            <a:pPr algn="ctr" indent="0" marL="0">
              <a:buNone/>
            </a:pPr>
            <a:r>
              <a:rPr lang="en-US" sz="1800" dirty="0">
                <a:solidFill>
                  <a:srgbClr val="8891A1"/>
                </a:solidFill>
                <a:latin typeface="Arial" pitchFamily="34" charset="0"/>
                <a:ea typeface="Arial" pitchFamily="34" charset="-122"/>
                <a:cs typeface="Arial" pitchFamily="34" charset="-120"/>
              </a:rPr>
              <a:t>My Cyber Academy</a:t>
            </a:r>
            <a:endParaRPr lang="en-US" sz="1800" dirty="0"/>
          </a:p>
        </p:txBody>
      </p:sp>
      <p:sp>
        <p:nvSpPr>
          <p:cNvPr id="8" name="Text 6"/>
          <p:cNvSpPr/>
          <p:nvPr/>
        </p:nvSpPr>
        <p:spPr>
          <a:xfrm>
            <a:off x="16652677" y="9715500"/>
            <a:ext cx="720923" cy="304800"/>
          </a:xfrm>
          <a:prstGeom prst="rect">
            <a:avLst/>
          </a:prstGeom>
          <a:noFill/>
          <a:ln/>
        </p:spPr>
        <p:txBody>
          <a:bodyPr wrap="square" lIns="25400" tIns="25400" rIns="25400" bIns="25400" rtlCol="0" anchor="t">
            <a:normAutofit/>
          </a:bodyPr>
          <a:lstStyle/>
          <a:p>
            <a:pPr algn="ctr" indent="0" marL="0">
              <a:buNone/>
            </a:pPr>
            <a:r>
              <a:rPr lang="en-US" sz="1800" b="1" spc="150" kern="0" dirty="0">
                <a:solidFill>
                  <a:srgbClr val="FF6A00"/>
                </a:solidFill>
                <a:latin typeface="Arial" pitchFamily="34" charset="0"/>
                <a:ea typeface="Arial" pitchFamily="34" charset="-122"/>
                <a:cs typeface="Arial" pitchFamily="34" charset="-120"/>
              </a:rPr>
              <a:t>CAIA</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2026-08-10T21:37:46Z</dcterms:created>
  <dcterms:modified xsi:type="dcterms:W3CDTF">2026-08-10T21:37:46Z</dcterms:modified>
</cp:coreProperties>
</file>