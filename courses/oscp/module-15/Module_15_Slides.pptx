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15. Direct continuation of Module 11's limited shell. Three units: enumerate first, then two families of abuse — services, and other components.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units. Enumerating Windows carries five objectives — the largest unit, and the foundation everything else depends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15 of 24. Directly follows Password Attacks; runs parallel in structure to Module 16's Linux equivalent.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Orientation. This is where Module 11's limited shell stops being limited. Enumeration is the entire game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Divider into 15.1. Five objectives — the largest unit in the module, and the foundation for everything that follows.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15.1, task 1. The conceptual foundation — how Windows actually models privilege before any specific technique is attempted.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15.1, task 2. Situational awareness — orienting on the host itself before hunting for a specific escalation.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15.1, task 3. Sensitive information on Windows systems generally — configuration files, stored credentials, unattended install 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15.1, task 4. PowerShell-specific artefacts — given its own objective because PowerShell's history and transcript features are so commonly overlooked.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15.1, task 5. Automated tools — placed last, after the manual understanding that makes tool output actually interpretable.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15.1 before the two abuse units.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Divider into 15.2. Three objectives, all abusing the same underlying weakness: a service running with more trust than its configuration deserves.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15.2, task 1. Binary hijacking — the most direct of the three service techniques.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15.2, task 2. DLL hijacking — a related but distinct mechanism, abusing library search order rather than the executable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15.2, task 3. Unquoted service paths — a classic, frequently examined technique exploiting how Windows parses paths containing spaces.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table distinguishing the three techniques. This is the slide learners should keep pinned during practical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15.2 before other Windows components.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Divider into 15.3. Three objectives moving beyond services to scheduled tasks, broader exploit categories, and privileged execution generally.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15.3, task 1. Scheduled Tasks — a component distinct from services, often running with elevated privilege on a predictable schedule.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15.3, task 2. Understanding exploit types leading to escalation — a categorisation objective, connecting back to Modules 11 and 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15.3, task 3. Abusing privileges to execute code as a privileged account — the synthesis objective closing the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15.3, then the applied scenario.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Flow slide summarising the whole module. This is the reference slide learners keep during practical labs.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Discussion. Five minutes in pairs. Listening for a correct enumeration-first approach and correct technique matching, not just naming all six paths generically.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 skill 1. Manual verification of automated findings — direct extension of Objective 15.1's automated enumeration caveat.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 skill 2. Searching PowerShell history and transcripts systematically — an easy win most learners forget to check thoroughly.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 skill 3. Testing service restarts safely before assuming an escalation will fully succeed.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Acronym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Misconceptions. The 'DLL hijacking and unquoted paths are the same thing' one is the most common conflation.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 number. Three units, eleven objectives — five of them purely about enumeration, underscoring the module's central discipline.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check. Answer is C. Also appears as Q1 of the module quiz.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Summary. Three units in three 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Close. Preview Module 16 — the same shape, a different operating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609600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15 OF 24 · OFFSEC PEN-200 (PWK)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1181100"/>
            <a:ext cx="1835658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304"/>
              </a:lnSpc>
              <a:buNone/>
            </a:pPr>
            <a:r>
              <a:rPr lang="en-US" sz="600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Privilege Escalation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00100" y="2305050"/>
            <a:ext cx="13735050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410"/>
              </a:lnSpc>
              <a:buNone/>
            </a:pPr>
            <a:r>
              <a:rPr lang="en-US" sz="25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Enumerating Windows thoroughly, then leveraging Windows services and abusing other Windows components to escalate from limited to privileged access.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800100" y="9210675"/>
            <a:ext cx="166878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7" name="Text 5"/>
          <p:cNvSpPr/>
          <p:nvPr/>
        </p:nvSpPr>
        <p:spPr>
          <a:xfrm>
            <a:off x="800100" y="9432131"/>
            <a:ext cx="1796482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Cyber Academy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763181" y="9410700"/>
            <a:ext cx="8009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</a:t>
            </a:r>
            <a:pPr algn="l" indent="0" marL="0">
              <a:buNone/>
            </a:pPr>
            <a:r>
              <a:rPr lang="en-US" sz="1800" b="1" spc="150" kern="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081784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577084"/>
            <a:ext cx="18356580" cy="6181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96"/>
              </a:lnSpc>
              <a:buNone/>
            </a:pPr>
            <a:r>
              <a:rPr lang="en-US" sz="435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module covers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800100" y="4461942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8225" y="4642917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9650" y="4652442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15.1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952625" y="4716735"/>
            <a:ext cx="263869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Enumerating Windows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800100" y="5433492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8225" y="5614467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9650" y="5623992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952625" y="5688285"/>
            <a:ext cx="351389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Leveraging Windows Services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800100" y="6405042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8225" y="6586017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9650" y="6595542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15.3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952625" y="6659835"/>
            <a:ext cx="442780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Abusing Other Windows Components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1879774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CONTEXT · 24 LEARNING MODULES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2375074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Module 15 sits in PEN-200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3041824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2975" y="3165649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42975" y="3399011"/>
            <a:ext cx="234225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Course Introduction</a:t>
            </a:r>
            <a:endParaRPr lang="en-US" sz="1425" dirty="0"/>
          </a:p>
        </p:txBody>
      </p:sp>
      <p:sp>
        <p:nvSpPr>
          <p:cNvPr id="8" name="Shape 6"/>
          <p:cNvSpPr/>
          <p:nvPr/>
        </p:nvSpPr>
        <p:spPr>
          <a:xfrm>
            <a:off x="5000625" y="3041824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43500" y="3165649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43500" y="3399011"/>
            <a:ext cx="242537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Cybersecurity</a:t>
            </a:r>
            <a:endParaRPr lang="en-US" sz="1425" dirty="0"/>
          </a:p>
        </p:txBody>
      </p:sp>
      <p:sp>
        <p:nvSpPr>
          <p:cNvPr id="11" name="Shape 9"/>
          <p:cNvSpPr/>
          <p:nvPr/>
        </p:nvSpPr>
        <p:spPr>
          <a:xfrm>
            <a:off x="9201150" y="3041824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44025" y="3165649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44025" y="3399011"/>
            <a:ext cx="238541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Learning Strategies</a:t>
            </a:r>
            <a:endParaRPr lang="en-US" sz="1425" dirty="0"/>
          </a:p>
        </p:txBody>
      </p:sp>
      <p:sp>
        <p:nvSpPr>
          <p:cNvPr id="14" name="Shape 12"/>
          <p:cNvSpPr/>
          <p:nvPr/>
        </p:nvSpPr>
        <p:spPr>
          <a:xfrm>
            <a:off x="13401675" y="3041824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544550" y="3165649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544550" y="3399011"/>
            <a:ext cx="3120662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Writing for Penetration Testers</a:t>
            </a:r>
            <a:endParaRPr lang="en-US" sz="1425" dirty="0"/>
          </a:p>
        </p:txBody>
      </p:sp>
      <p:sp>
        <p:nvSpPr>
          <p:cNvPr id="17" name="Shape 15"/>
          <p:cNvSpPr/>
          <p:nvPr/>
        </p:nvSpPr>
        <p:spPr>
          <a:xfrm>
            <a:off x="800100" y="3858592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2975" y="3982417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42975" y="4215780"/>
            <a:ext cx="1831181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Gathering</a:t>
            </a:r>
            <a:endParaRPr lang="en-US" sz="1425" dirty="0"/>
          </a:p>
        </p:txBody>
      </p:sp>
      <p:sp>
        <p:nvSpPr>
          <p:cNvPr id="20" name="Shape 18"/>
          <p:cNvSpPr/>
          <p:nvPr/>
        </p:nvSpPr>
        <p:spPr>
          <a:xfrm>
            <a:off x="5000625" y="3858592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43500" y="3982417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43500" y="4215780"/>
            <a:ext cx="1858714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Vulnerability Scanning</a:t>
            </a:r>
            <a:endParaRPr lang="en-US" sz="1425" dirty="0"/>
          </a:p>
        </p:txBody>
      </p:sp>
      <p:sp>
        <p:nvSpPr>
          <p:cNvPr id="23" name="Shape 21"/>
          <p:cNvSpPr/>
          <p:nvPr/>
        </p:nvSpPr>
        <p:spPr>
          <a:xfrm>
            <a:off x="9201150" y="3858592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44025" y="3982417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344025" y="4215780"/>
            <a:ext cx="2704931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Web Applications</a:t>
            </a:r>
            <a:endParaRPr lang="en-US" sz="1425" dirty="0"/>
          </a:p>
        </p:txBody>
      </p:sp>
      <p:sp>
        <p:nvSpPr>
          <p:cNvPr id="26" name="Shape 24"/>
          <p:cNvSpPr/>
          <p:nvPr/>
        </p:nvSpPr>
        <p:spPr>
          <a:xfrm>
            <a:off x="13401675" y="3858592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544550" y="3982417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3544550" y="4215780"/>
            <a:ext cx="2820514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Web Application Attacks</a:t>
            </a:r>
            <a:endParaRPr lang="en-US" sz="1425" dirty="0"/>
          </a:p>
        </p:txBody>
      </p:sp>
      <p:sp>
        <p:nvSpPr>
          <p:cNvPr id="29" name="Shape 27"/>
          <p:cNvSpPr/>
          <p:nvPr/>
        </p:nvSpPr>
        <p:spPr>
          <a:xfrm>
            <a:off x="800100" y="4675361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2975" y="4799186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42975" y="5032549"/>
            <a:ext cx="179419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Injection Attacks</a:t>
            </a:r>
            <a:endParaRPr lang="en-US" sz="1425" dirty="0"/>
          </a:p>
        </p:txBody>
      </p:sp>
      <p:sp>
        <p:nvSpPr>
          <p:cNvPr id="32" name="Shape 30"/>
          <p:cNvSpPr/>
          <p:nvPr/>
        </p:nvSpPr>
        <p:spPr>
          <a:xfrm>
            <a:off x="5000625" y="4675361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43500" y="4799186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43500" y="5032549"/>
            <a:ext cx="161992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Client-Side Attacks</a:t>
            </a:r>
            <a:endParaRPr lang="en-US" sz="1425" dirty="0"/>
          </a:p>
        </p:txBody>
      </p:sp>
      <p:sp>
        <p:nvSpPr>
          <p:cNvPr id="35" name="Shape 33"/>
          <p:cNvSpPr/>
          <p:nvPr/>
        </p:nvSpPr>
        <p:spPr>
          <a:xfrm>
            <a:off x="9201150" y="4675361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44025" y="4799186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344025" y="5032549"/>
            <a:ext cx="1980009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Locating Public Exploits</a:t>
            </a:r>
            <a:endParaRPr lang="en-US" sz="1425" dirty="0"/>
          </a:p>
        </p:txBody>
      </p:sp>
      <p:sp>
        <p:nvSpPr>
          <p:cNvPr id="38" name="Shape 36"/>
          <p:cNvSpPr/>
          <p:nvPr/>
        </p:nvSpPr>
        <p:spPr>
          <a:xfrm>
            <a:off x="13401675" y="4675361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544550" y="4799186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3544550" y="5032549"/>
            <a:ext cx="1223516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Fixing Exploits</a:t>
            </a:r>
            <a:endParaRPr lang="en-US" sz="1425" dirty="0"/>
          </a:p>
        </p:txBody>
      </p:sp>
      <p:sp>
        <p:nvSpPr>
          <p:cNvPr id="41" name="Shape 39"/>
          <p:cNvSpPr/>
          <p:nvPr/>
        </p:nvSpPr>
        <p:spPr>
          <a:xfrm>
            <a:off x="800100" y="5492130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42975" y="5615955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42975" y="5849317"/>
            <a:ext cx="1443856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Antivirus Evasion</a:t>
            </a:r>
            <a:endParaRPr lang="en-US" sz="1425" dirty="0"/>
          </a:p>
        </p:txBody>
      </p:sp>
      <p:sp>
        <p:nvSpPr>
          <p:cNvPr id="44" name="Shape 42"/>
          <p:cNvSpPr/>
          <p:nvPr/>
        </p:nvSpPr>
        <p:spPr>
          <a:xfrm>
            <a:off x="5000625" y="5492130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43500" y="5615955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143500" y="5849317"/>
            <a:ext cx="149981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Attacks</a:t>
            </a:r>
            <a:endParaRPr lang="en-US" sz="1425" dirty="0"/>
          </a:p>
        </p:txBody>
      </p:sp>
      <p:sp>
        <p:nvSpPr>
          <p:cNvPr id="47" name="Shape 45"/>
          <p:cNvSpPr/>
          <p:nvPr/>
        </p:nvSpPr>
        <p:spPr>
          <a:xfrm>
            <a:off x="9201150" y="5492130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6A00">
              <a:alpha val="12000"/>
            </a:srgbClr>
          </a:solidFill>
          <a:ln w="9525">
            <a:solidFill>
              <a:srgbClr val="FF6A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344025" y="5615955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9344025" y="5849317"/>
            <a:ext cx="265426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Privilege Escalation</a:t>
            </a:r>
            <a:endParaRPr lang="en-US" sz="1425" dirty="0"/>
          </a:p>
        </p:txBody>
      </p:sp>
      <p:sp>
        <p:nvSpPr>
          <p:cNvPr id="50" name="Shape 48"/>
          <p:cNvSpPr/>
          <p:nvPr/>
        </p:nvSpPr>
        <p:spPr>
          <a:xfrm>
            <a:off x="13401675" y="5492130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544550" y="5615955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3544550" y="5849317"/>
            <a:ext cx="210405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Privilege Escalation</a:t>
            </a:r>
            <a:endParaRPr lang="en-US" sz="1425" dirty="0"/>
          </a:p>
        </p:txBody>
      </p:sp>
      <p:sp>
        <p:nvSpPr>
          <p:cNvPr id="53" name="Shape 51"/>
          <p:cNvSpPr/>
          <p:nvPr/>
        </p:nvSpPr>
        <p:spPr>
          <a:xfrm>
            <a:off x="800100" y="6308899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42975" y="6432724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942975" y="6666086"/>
            <a:ext cx="294774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Redirection and SSH Tunneling</a:t>
            </a:r>
            <a:endParaRPr lang="en-US" sz="1425" dirty="0"/>
          </a:p>
        </p:txBody>
      </p:sp>
      <p:sp>
        <p:nvSpPr>
          <p:cNvPr id="56" name="Shape 54"/>
          <p:cNvSpPr/>
          <p:nvPr/>
        </p:nvSpPr>
        <p:spPr>
          <a:xfrm>
            <a:off x="5000625" y="6308899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143500" y="6432724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5143500" y="6666086"/>
            <a:ext cx="170557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Tunneling</a:t>
            </a:r>
            <a:endParaRPr lang="en-US" sz="1425" dirty="0"/>
          </a:p>
        </p:txBody>
      </p:sp>
      <p:sp>
        <p:nvSpPr>
          <p:cNvPr id="59" name="Shape 57"/>
          <p:cNvSpPr/>
          <p:nvPr/>
        </p:nvSpPr>
        <p:spPr>
          <a:xfrm>
            <a:off x="9201150" y="6308899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344025" y="6432724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9344025" y="6666086"/>
            <a:ext cx="221716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Metasploit Framework</a:t>
            </a:r>
            <a:endParaRPr lang="en-US" sz="1425" dirty="0"/>
          </a:p>
        </p:txBody>
      </p:sp>
      <p:sp>
        <p:nvSpPr>
          <p:cNvPr id="62" name="Shape 60"/>
          <p:cNvSpPr/>
          <p:nvPr/>
        </p:nvSpPr>
        <p:spPr>
          <a:xfrm>
            <a:off x="13401675" y="6308899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3544550" y="6432724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13544550" y="6666086"/>
            <a:ext cx="274839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Introduction and Enumeration</a:t>
            </a:r>
            <a:endParaRPr lang="en-US" sz="1425" dirty="0"/>
          </a:p>
        </p:txBody>
      </p:sp>
      <p:sp>
        <p:nvSpPr>
          <p:cNvPr id="65" name="Shape 63"/>
          <p:cNvSpPr/>
          <p:nvPr/>
        </p:nvSpPr>
        <p:spPr>
          <a:xfrm>
            <a:off x="800100" y="7125667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42975" y="7249492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942975" y="7482855"/>
            <a:ext cx="233935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Attacking AD Authentication</a:t>
            </a:r>
            <a:endParaRPr lang="en-US" sz="1425" dirty="0"/>
          </a:p>
        </p:txBody>
      </p:sp>
      <p:sp>
        <p:nvSpPr>
          <p:cNvPr id="68" name="Shape 66"/>
          <p:cNvSpPr/>
          <p:nvPr/>
        </p:nvSpPr>
        <p:spPr>
          <a:xfrm>
            <a:off x="5000625" y="7125667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143500" y="7249492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5143500" y="7482855"/>
            <a:ext cx="1994892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Lateral Movement in AD</a:t>
            </a:r>
            <a:endParaRPr lang="en-US" sz="1425" dirty="0"/>
          </a:p>
        </p:txBody>
      </p:sp>
      <p:sp>
        <p:nvSpPr>
          <p:cNvPr id="71" name="Shape 69"/>
          <p:cNvSpPr/>
          <p:nvPr/>
        </p:nvSpPr>
        <p:spPr>
          <a:xfrm>
            <a:off x="9201150" y="7125667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344025" y="7249492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9344025" y="7482855"/>
            <a:ext cx="1893763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Assembling the Pieces</a:t>
            </a:r>
            <a:endParaRPr lang="en-US" sz="1425" dirty="0"/>
          </a:p>
        </p:txBody>
      </p:sp>
      <p:sp>
        <p:nvSpPr>
          <p:cNvPr id="74" name="Shape 72"/>
          <p:cNvSpPr/>
          <p:nvPr/>
        </p:nvSpPr>
        <p:spPr>
          <a:xfrm>
            <a:off x="13401675" y="7125667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3544550" y="7249492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13544550" y="7482855"/>
            <a:ext cx="2008584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Trying Harder: The Labs</a:t>
            </a:r>
            <a:endParaRPr lang="en-US" sz="1425" dirty="0"/>
          </a:p>
        </p:txBody>
      </p:sp>
      <p:sp>
        <p:nvSpPr>
          <p:cNvPr id="77" name="Text 75"/>
          <p:cNvSpPr/>
          <p:nvPr/>
        </p:nvSpPr>
        <p:spPr>
          <a:xfrm>
            <a:off x="800100" y="8075786"/>
            <a:ext cx="1634490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545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weightings: information not defined in the official exam outline.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664744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ORIENTATION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4160044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limited shell stops being limited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826794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5064919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POINT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5384006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11 ended at a limited shell deliberately. This module is what turns that limited access into something privileged.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6426175" y="4826794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64300" y="5064919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ENUMERATION FIRST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64300" y="5384006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of eleven objectives in this module are about looking, not acting. Escalation paths are found, not guessed.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2052250" y="4826794"/>
            <a:ext cx="5435650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90375" y="5064919"/>
            <a:ext cx="545534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FAMILIES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290375" y="5384006"/>
            <a:ext cx="5108182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Abusing Windows services, and abusing other components — scheduled tasks, exploits, and privileged execution more broadly.</a:t>
            </a:r>
            <a:endParaRPr lang="en-US" sz="18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47546" y="3870945"/>
            <a:ext cx="219290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15.1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216137" y="4385295"/>
            <a:ext cx="9855726" cy="91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1485"/>
              </a:lnSpc>
              <a:buNone/>
            </a:pPr>
            <a:r>
              <a:rPr lang="en-US" sz="660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Enumerating Windows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2767013" y="5532090"/>
            <a:ext cx="12753975" cy="92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405"/>
              </a:lnSpc>
              <a:buNone/>
            </a:pPr>
            <a:r>
              <a:rPr lang="en-US" sz="24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privileges and access control, situational awareness, sensitive information including PowerShell artefacts, and automated enumeration tooling.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066604"/>
            <a:ext cx="2995017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152329"/>
            <a:ext cx="2722918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15.1 · Task 1 of 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709541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privileges and access control mechanisms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376291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grants both broad privileges to accounts and fine-grained permissions to specific objects. Understanding how these two systems interact is what makes every later technique in this module comprehensible rather than a memorised list.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42493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66305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5982146"/>
            <a:ext cx="7995761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service running as SYSTEM with a writable binary path is not a coincidence — it is exactly what happens when privilege and permission are misaligned.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42493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66305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5982146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Assuming an administrator account is the only privileged target. Specific privileges can grant powerful capability even to non-administrator accounts.</a:t>
            </a:r>
            <a:endParaRPr lang="en-US" sz="18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3019276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747904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15.1 · Task 2 of 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Obtaining situational awareness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searching for a specific escalation path, establish the basics: current user and privileges, installed software, running processes, network configuration, and patch level.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Situational awareness frames every subsequent finding — a writable service path matters differently depending on what account runs that service.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5's information gathering lifecycle, applied here to a host you already have limited access to rather than one seen only from outside.</a:t>
            </a:r>
            <a:endParaRPr lang="en-US" sz="18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3024411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753193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15.1 · Task 3 of 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Searching for sensitive information on Windows systems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hosts routinely leave sensitive material scattered in predictable locations: configuration files, scripts, unattended installation files, and credentials stored in places no one remembered to remove.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a plaintext credential is frequently faster and more reliable than any exploit-based escalation route.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files, old configuration versions, and scripts left behind by administrators — these are searched far less often than they should be.</a:t>
            </a:r>
            <a:endParaRPr lang="en-US" sz="18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3027983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756872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15.1 · Task 4 of 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sensitive information generated by PowerShell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PowerShell keeps its own history and can be configured to log transcripts of entire sessions. Both routinely contain credentials or sensitive commands typed by administrators during past work.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administrator who typed a plaintext password into a PowerShell session may have left it recoverable in history long after the session ended.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Assuming command-line history is a Linux-only concern. PowerShell keeps its own, often overlooked entirely by newer Windows testers.</a:t>
            </a:r>
            <a:endParaRPr lang="en-US" sz="18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3023592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752350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15.1 · Task 5 of 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Becoming familiar with automated enumeration tools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enumeration scripts check dozens of known escalation vectors quickly, surfacing candidates that manual enumeration might take far longer to find one by one.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MANUAL UNDERSTANDING STILL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tester who understands what the tool is actually checking can correctly interpret its output and know which findings are genuinely exploitable.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Treating every automated finding as immediately exploitable. Tools flag candidates; judgement confirms which are real.</a:t>
            </a:r>
            <a:endParaRPr lang="en-US" sz="18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664744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15.1 RECAP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4160044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Enumerating Windows — what you should now hold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826794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5064919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5384006"/>
            <a:ext cx="510810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Privileges and access control mechanisms, and full situational awareness of the host.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6426175" y="4826794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64300" y="5064919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TARGETS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64300" y="5384006"/>
            <a:ext cx="510810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 information generally, and PowerShell-specific artefacts like history and transcripts.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2052250" y="4826794"/>
            <a:ext cx="5435650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90375" y="5064919"/>
            <a:ext cx="545534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290375" y="5384006"/>
            <a:ext cx="5108182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enumeration scripts, used to accelerate rather than replace manual understanding.</a:t>
            </a:r>
            <a:endParaRPr lang="en-US" sz="18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27983" y="4091955"/>
            <a:ext cx="223203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15.2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2595730" y="4606305"/>
            <a:ext cx="13096466" cy="91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1485"/>
              </a:lnSpc>
              <a:buNone/>
            </a:pPr>
            <a:r>
              <a:rPr lang="en-US" sz="660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Leveraging Windows Services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3506205" y="5753100"/>
            <a:ext cx="11275591" cy="48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405"/>
              </a:lnSpc>
              <a:buNone/>
            </a:pPr>
            <a:r>
              <a:rPr lang="en-US" sz="24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Hijack service binaries, hijack service DLLs, and abuse unquoted service paths.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3029024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757945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15.2 · Task 1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Hijacking service binaries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service's executable file is writable by a low-privileged account, replacing it with attacker-controlled content and restarting the service runs that content with whatever privilege the service holds.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access to the service binary's path, and either the ability to restart the service or patience for a scheduled restart.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15.1's access control understanding — this is precisely the misalignment between privilege and permission described there.</a:t>
            </a:r>
            <a:endParaRPr lang="en-US" sz="18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3053283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782932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15.2 · Task 2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Hijacking service DLLs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service that loads a library file without specifying its full path can be tricked into loading an attacker-supplied library instead, if a writable location earlier in the search order is exploited.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DISTINCT FROM BINARY HIJACKING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executable itself is untouched; the attack instead supplies a malicious dependency the service loads and trusts implicitly.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service binary that is otherwise correctly protected can still be vulnerable through a poorly secured dependency.</a:t>
            </a:r>
            <a:endParaRPr lang="en-US" sz="18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2661791"/>
            <a:ext cx="3058418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2747516"/>
            <a:ext cx="2788221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15.2 · Task 3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3047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Abusing unquoted service paths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39714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unquoted path containing spaces can be misinterpreted by Windows, which tries each space-delimited segment in turn as a potential executable. Placing a malicious file at one of those earlier segments can result in it running instead.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020121"/>
            <a:ext cx="16687800" cy="895350"/>
          </a:xfrm>
          <a:prstGeom prst="roundRect">
            <a:avLst>
              <a:gd name="adj" fmla="val 12766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9175" y="5201096"/>
            <a:ext cx="1675028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D9BF"/>
                </a:solidFill>
                <a:highlight>
                  <a:srgbClr val="A6A6A6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C:\Program Files\My App\service.exe (unquoted) Windows tries: C:\Program.exe, then C:\Program Files\My.exe, then the intended path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00100" y="61631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8225" y="64012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38225" y="67203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access to one of the earlier path segments Windows will try before reaching the correctly intended executable.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9248775" y="61631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86900" y="64012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486900" y="67203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Confusing this with DLL hijacking. Both exploit a search order, but one searches for an executable path segment and the other for a library.</a:t>
            </a:r>
            <a:endParaRPr lang="en-US" sz="18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181350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AID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676650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service techniques, three requirements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343400"/>
            <a:ext cx="2971800" cy="50006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00100" y="4833938"/>
            <a:ext cx="2971800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4457700"/>
            <a:ext cx="275615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771900" y="4343400"/>
            <a:ext cx="4686300" cy="50006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771900" y="4833938"/>
            <a:ext cx="4686300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10" name="Text 8"/>
          <p:cNvSpPr/>
          <p:nvPr/>
        </p:nvSpPr>
        <p:spPr>
          <a:xfrm>
            <a:off x="3924300" y="4457700"/>
            <a:ext cx="452208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requires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458200" y="4343400"/>
            <a:ext cx="9029700" cy="50006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458200" y="4833938"/>
            <a:ext cx="9029700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13" name="Text 11"/>
          <p:cNvSpPr/>
          <p:nvPr/>
        </p:nvSpPr>
        <p:spPr>
          <a:xfrm>
            <a:off x="8610600" y="4457700"/>
            <a:ext cx="899579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exploits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0100" y="4843463"/>
            <a:ext cx="2971800" cy="7524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00100" y="5586413"/>
            <a:ext cx="29718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6" name="Text 14"/>
          <p:cNvSpPr/>
          <p:nvPr/>
        </p:nvSpPr>
        <p:spPr>
          <a:xfrm>
            <a:off x="952500" y="4948238"/>
            <a:ext cx="275615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hijacking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771900" y="4843463"/>
            <a:ext cx="4686300" cy="7524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771900" y="5586413"/>
            <a:ext cx="4686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9" name="Text 17"/>
          <p:cNvSpPr/>
          <p:nvPr/>
        </p:nvSpPr>
        <p:spPr>
          <a:xfrm>
            <a:off x="3924300" y="4948238"/>
            <a:ext cx="452208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access to the service's executable itself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458200" y="4843463"/>
            <a:ext cx="9029700" cy="7524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458200" y="5586413"/>
            <a:ext cx="90297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2" name="Text 20"/>
          <p:cNvSpPr/>
          <p:nvPr/>
        </p:nvSpPr>
        <p:spPr>
          <a:xfrm>
            <a:off x="8610600" y="4948238"/>
            <a:ext cx="899579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replacement of the trusted executable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00100" y="6338888"/>
            <a:ext cx="29718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4" name="Text 22"/>
          <p:cNvSpPr/>
          <p:nvPr/>
        </p:nvSpPr>
        <p:spPr>
          <a:xfrm>
            <a:off x="952500" y="5700713"/>
            <a:ext cx="275615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DLL hijacking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771900" y="6338888"/>
            <a:ext cx="4686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6" name="Text 24"/>
          <p:cNvSpPr/>
          <p:nvPr/>
        </p:nvSpPr>
        <p:spPr>
          <a:xfrm>
            <a:off x="3924300" y="5700713"/>
            <a:ext cx="452208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access to a location earlier in the library search order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458200" y="6338888"/>
            <a:ext cx="90297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8" name="Text 26"/>
          <p:cNvSpPr/>
          <p:nvPr/>
        </p:nvSpPr>
        <p:spPr>
          <a:xfrm>
            <a:off x="8610600" y="5700713"/>
            <a:ext cx="899579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Implicit trust in an unqualified dependency path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00100" y="6348413"/>
            <a:ext cx="2971800" cy="7524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00100" y="7091363"/>
            <a:ext cx="29718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1" name="Text 29"/>
          <p:cNvSpPr/>
          <p:nvPr/>
        </p:nvSpPr>
        <p:spPr>
          <a:xfrm>
            <a:off x="952500" y="6453187"/>
            <a:ext cx="275615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Unquoted path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3771900" y="6348413"/>
            <a:ext cx="4686300" cy="7524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771900" y="7091363"/>
            <a:ext cx="4686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4" name="Text 32"/>
          <p:cNvSpPr/>
          <p:nvPr/>
        </p:nvSpPr>
        <p:spPr>
          <a:xfrm>
            <a:off x="3924300" y="6453187"/>
            <a:ext cx="452208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access to an earlier segment of an unquoted path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8458200" y="6348413"/>
            <a:ext cx="9029700" cy="7524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8458200" y="7091363"/>
            <a:ext cx="90297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7" name="Text 35"/>
          <p:cNvSpPr/>
          <p:nvPr/>
        </p:nvSpPr>
        <p:spPr>
          <a:xfrm>
            <a:off x="8610600" y="6453187"/>
            <a:ext cx="899579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Windows parses space-delimited unquoted paths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831431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15.2 RECAP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4326731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Leveraging Windows Services — what you should now hold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99348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523160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THREAD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555069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techniques exploit a service trusting something a low-privileged account can actually write to.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9248775" y="499348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86900" y="523160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DISTINGUISHING THEM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486900" y="555069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hijacking replaces the executable directly; DLL hijacking supplies a trusted dependency; unquoted paths abuse how Windows parses spaces.</a:t>
            </a:r>
            <a:endParaRPr lang="en-US" sz="187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26758" y="3689970"/>
            <a:ext cx="223440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15.3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684020" y="4204320"/>
            <a:ext cx="1491996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1304"/>
              </a:lnSpc>
              <a:buNone/>
            </a:pPr>
            <a:r>
              <a:rPr lang="en-US" sz="600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Abusing Other Windows Components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2767013" y="5271120"/>
            <a:ext cx="12753975" cy="1363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405"/>
              </a:lnSpc>
              <a:buNone/>
            </a:pPr>
            <a:r>
              <a:rPr lang="en-US" sz="24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 Scheduled Tasks to elevate privileges, understand the different types of exploits leading to privilege escalation, and abuse privileges to execute code as privileged user accounts.</a:t>
            </a:r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3030289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759248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15.3 · Task 1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Leveraging Scheduled Tasks to elevate privileges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scheduled task that runs with elevated privilege but executes a script or binary a low-privileged account can modify creates the same opportunity as a vulnerable service, on a predictable timer instead of a manual restart.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tasks are frequently overlooked relative to services, despite following an almost identical exploitation logic.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running at system startup or on a frequent interval, which reduce the wait time between planting content and it actually executing.</a:t>
            </a:r>
            <a:endParaRPr lang="en-US" sz="187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3054548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784235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15.3 · Task 2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types of exploits leading to privilege escalation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misconfiguration-based techniques, known software vulnerabilities — kernel exploits and vulnerable third-party services — can themselves provide a direct path to elevated privilege.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host resistant to every misconfiguration-based technique in this module may still be vulnerable through an unpatched known exploit.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11 and 12 directly — locating and, if necessary, fixing a public exploit applies just as much to privilege escalation as to initial access.</a:t>
            </a:r>
            <a:endParaRPr lang="en-US" sz="187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066604"/>
            <a:ext cx="3059683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152329"/>
            <a:ext cx="2789523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15.3 · Task 3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709541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Abusing privileges to execute code as privileged accounts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376291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Certain specific Windows privileges, if held by an account, permit executing code as a more privileged account directly — without needing to hijack a service or exploit any software vulnerability at all.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42493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66305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5982146"/>
            <a:ext cx="7995761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closes the module's arc: escalation is not always about finding a technical flaw, sometimes it is about privileges that were simply granted too broadly.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42493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66305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5982146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15.1's privileges and access control task — the same misalignment between granted privilege and actual need, exploited directly.</a:t>
            </a:r>
            <a:endParaRPr lang="en-US" sz="187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664744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15.3 RECAP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4160044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Abusing Other Windows Components — what you should now hold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826794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5064919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TASKS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5384006"/>
            <a:ext cx="510810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misconfiguration logic as services, on a timer rather than a manual restart.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6426175" y="4826794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64300" y="5064919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EXPLOITS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64300" y="5384006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 and third-party service vulnerabilities as a direct escalation path, independent of misconfiguration.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2052250" y="4826794"/>
            <a:ext cx="5435650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90375" y="5064919"/>
            <a:ext cx="545534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PRIVILEGE ABUSE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290375" y="5384006"/>
            <a:ext cx="5108182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granted privileges that permit privileged execution directly, with no exploit required at all.</a:t>
            </a:r>
            <a:endParaRPr lang="en-US" sz="187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2852738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348038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escalation paths, at a glance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014788"/>
            <a:ext cx="2781300" cy="50006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00100" y="4505325"/>
            <a:ext cx="2781300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4129088"/>
            <a:ext cx="255993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581400" y="4014788"/>
            <a:ext cx="13906500" cy="50006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581400" y="4505325"/>
            <a:ext cx="13906500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10" name="Text 8"/>
          <p:cNvSpPr/>
          <p:nvPr/>
        </p:nvSpPr>
        <p:spPr>
          <a:xfrm>
            <a:off x="3733800" y="4129088"/>
            <a:ext cx="1401889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check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00100" y="4514850"/>
            <a:ext cx="27813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00100" y="4991100"/>
            <a:ext cx="2781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3" name="Text 11"/>
          <p:cNvSpPr/>
          <p:nvPr/>
        </p:nvSpPr>
        <p:spPr>
          <a:xfrm>
            <a:off x="952500" y="4619625"/>
            <a:ext cx="255993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binaries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581400" y="4514850"/>
            <a:ext cx="139065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581400" y="4991100"/>
            <a:ext cx="139065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6" name="Text 14"/>
          <p:cNvSpPr/>
          <p:nvPr/>
        </p:nvSpPr>
        <p:spPr>
          <a:xfrm>
            <a:off x="3733800" y="4619625"/>
            <a:ext cx="140188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service executable itself writable by the current account?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00100" y="5476875"/>
            <a:ext cx="2781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8" name="Text 16"/>
          <p:cNvSpPr/>
          <p:nvPr/>
        </p:nvSpPr>
        <p:spPr>
          <a:xfrm>
            <a:off x="952500" y="5105400"/>
            <a:ext cx="255993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DLLs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581400" y="5476875"/>
            <a:ext cx="139065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0" name="Text 18"/>
          <p:cNvSpPr/>
          <p:nvPr/>
        </p:nvSpPr>
        <p:spPr>
          <a:xfrm>
            <a:off x="3733800" y="5105400"/>
            <a:ext cx="140188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service load a dependency from a writable, unqualified path?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00100" y="5486400"/>
            <a:ext cx="27813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00100" y="5962650"/>
            <a:ext cx="2781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3" name="Text 21"/>
          <p:cNvSpPr/>
          <p:nvPr/>
        </p:nvSpPr>
        <p:spPr>
          <a:xfrm>
            <a:off x="952500" y="5591175"/>
            <a:ext cx="255993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Unquoted paths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3581400" y="5486400"/>
            <a:ext cx="139065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581400" y="5962650"/>
            <a:ext cx="139065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6" name="Text 24"/>
          <p:cNvSpPr/>
          <p:nvPr/>
        </p:nvSpPr>
        <p:spPr>
          <a:xfrm>
            <a:off x="3733800" y="5591175"/>
            <a:ext cx="140188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an unquoted service path contain spaces and a writable earlier segment?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00100" y="6448425"/>
            <a:ext cx="2781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8" name="Text 26"/>
          <p:cNvSpPr/>
          <p:nvPr/>
        </p:nvSpPr>
        <p:spPr>
          <a:xfrm>
            <a:off x="952500" y="6076950"/>
            <a:ext cx="255993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Tasks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3581400" y="6448425"/>
            <a:ext cx="139065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0" name="Text 28"/>
          <p:cNvSpPr/>
          <p:nvPr/>
        </p:nvSpPr>
        <p:spPr>
          <a:xfrm>
            <a:off x="3733800" y="6076950"/>
            <a:ext cx="140188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a privileged task execute a script or binary the current account can modify?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800100" y="6457950"/>
            <a:ext cx="27813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800100" y="6934200"/>
            <a:ext cx="2781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3" name="Text 31"/>
          <p:cNvSpPr/>
          <p:nvPr/>
        </p:nvSpPr>
        <p:spPr>
          <a:xfrm>
            <a:off x="952500" y="6562725"/>
            <a:ext cx="255993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exploits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3581400" y="6457950"/>
            <a:ext cx="139065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581400" y="6934200"/>
            <a:ext cx="139065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6" name="Text 34"/>
          <p:cNvSpPr/>
          <p:nvPr/>
        </p:nvSpPr>
        <p:spPr>
          <a:xfrm>
            <a:off x="3733800" y="6562725"/>
            <a:ext cx="140188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patch level or installed software match a known privilege escalation vulnerability?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800100" y="7419975"/>
            <a:ext cx="2781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8" name="Text 36"/>
          <p:cNvSpPr/>
          <p:nvPr/>
        </p:nvSpPr>
        <p:spPr>
          <a:xfrm>
            <a:off x="952500" y="7048500"/>
            <a:ext cx="255993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 privileges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3581400" y="7419975"/>
            <a:ext cx="139065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40" name="Text 38"/>
          <p:cNvSpPr/>
          <p:nvPr/>
        </p:nvSpPr>
        <p:spPr>
          <a:xfrm>
            <a:off x="3733800" y="7048500"/>
            <a:ext cx="140188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current account hold a specific privilege permitting privileged execution directly?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2940174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SCENARIO · DISCUSSION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435474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an escalation path from enumeration output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0100" y="4102224"/>
            <a:ext cx="15304770" cy="12395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enumeration on a freshly compromised Windows host reports a service running as SYSTEM whose binary path is unquoted and contains a writable earlier segment, and a separate scheduled task running hourly as an administrator that executes a script writable by the current account.</a:t>
            </a:r>
            <a:endParaRPr lang="en-US" sz="2175" dirty="0"/>
          </a:p>
        </p:txBody>
      </p:sp>
      <p:sp>
        <p:nvSpPr>
          <p:cNvPr id="6" name="Shape 4"/>
          <p:cNvSpPr/>
          <p:nvPr/>
        </p:nvSpPr>
        <p:spPr>
          <a:xfrm>
            <a:off x="800100" y="5551363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8225" y="5789488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38225" y="6108576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of the two findings would you pursue first, and what from Objective 15.1 would you check to decide?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6426175" y="5551363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64300" y="5789488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64300" y="6108576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must be confirmed about each finding before treating it as genuinely exploitable, rather than a tool's suggestion?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12052250" y="5551363"/>
            <a:ext cx="5435650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90375" y="5789488"/>
            <a:ext cx="545534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290375" y="6108576"/>
            <a:ext cx="5108182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both paths were blocked entirely, which two objectives from 15.1 and 15.3 would you return to next?</a:t>
            </a:r>
            <a:endParaRPr lang="en-US" sz="187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2323505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037755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 1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Verifying automated findings manually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acting on an automated enumeration result, manually confirm the actual permission or configuration it reports — tools can misreport or flag a theoretical rather than genuinely exploitable condition.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Directly inspect the file, service, or task permissions the tool flagged, rather than trusting the summary alone.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15.1's automated enumeration task, and Module 9's manual-first discipline applied to a different domain.</a:t>
            </a:r>
            <a:endParaRPr lang="en-US" sz="187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2347764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062014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 2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Searching PowerShell artefacts thoroughly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PowerShell command history and any configured transcript logs for every user profile accessible, not only the current one — credentials typed by other administrators may remain recoverable.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frequently the fastest escalation route on a host, yet it is skipped by testers who move straight to service-based techniques.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15.1's PowerShell-specific task, applied as a concrete first check rather than an afterthought.</a:t>
            </a:r>
            <a:endParaRPr lang="en-US" sz="187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2352898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067148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 3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Confirming restart or trigger conditions before committing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replacing a service binary or DLL, confirm how and when the service or task actually restarts — an unexpected restart can disrupt the target beyond what the engagement authorised.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whether a restart requires a reboot, an administrator action, or occurs automatically on a schedule, before planting replacement content.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2's availability principle — an unplanned service disruption during testing can affect production availability beyond scope.</a:t>
            </a:r>
            <a:endParaRPr lang="en-US" sz="187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071813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ACRONYM SPOTLIGHT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567113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Terms introduced in Module 15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233863"/>
            <a:ext cx="2781300" cy="50006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00100" y="4724400"/>
            <a:ext cx="2781300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4348163"/>
            <a:ext cx="255993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581400" y="4233863"/>
            <a:ext cx="4686300" cy="50006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581400" y="4724400"/>
            <a:ext cx="4686300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10" name="Text 8"/>
          <p:cNvSpPr/>
          <p:nvPr/>
        </p:nvSpPr>
        <p:spPr>
          <a:xfrm>
            <a:off x="3733800" y="4348163"/>
            <a:ext cx="452208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267700" y="4233863"/>
            <a:ext cx="9220200" cy="50006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267700" y="4724400"/>
            <a:ext cx="9220200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13" name="Text 11"/>
          <p:cNvSpPr/>
          <p:nvPr/>
        </p:nvSpPr>
        <p:spPr>
          <a:xfrm>
            <a:off x="8420100" y="4348163"/>
            <a:ext cx="919200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appears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0100" y="4733925"/>
            <a:ext cx="27813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00100" y="5210175"/>
            <a:ext cx="2781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6" name="Text 14"/>
          <p:cNvSpPr/>
          <p:nvPr/>
        </p:nvSpPr>
        <p:spPr>
          <a:xfrm>
            <a:off x="952500" y="4838700"/>
            <a:ext cx="255993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DLL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581400" y="4733925"/>
            <a:ext cx="46863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581400" y="5210175"/>
            <a:ext cx="4686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9" name="Text 17"/>
          <p:cNvSpPr/>
          <p:nvPr/>
        </p:nvSpPr>
        <p:spPr>
          <a:xfrm>
            <a:off x="3733800" y="4838700"/>
            <a:ext cx="452208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Link Library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267700" y="4733925"/>
            <a:ext cx="92202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267700" y="5210175"/>
            <a:ext cx="92202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2" name="Text 20"/>
          <p:cNvSpPr/>
          <p:nvPr/>
        </p:nvSpPr>
        <p:spPr>
          <a:xfrm>
            <a:off x="8420100" y="4838700"/>
            <a:ext cx="919200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15.2's DLL hijacking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00100" y="5962650"/>
            <a:ext cx="2781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4" name="Text 22"/>
          <p:cNvSpPr/>
          <p:nvPr/>
        </p:nvSpPr>
        <p:spPr>
          <a:xfrm>
            <a:off x="952500" y="5324475"/>
            <a:ext cx="255993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Unquoted service path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581400" y="5962650"/>
            <a:ext cx="4686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6" name="Text 24"/>
          <p:cNvSpPr/>
          <p:nvPr/>
        </p:nvSpPr>
        <p:spPr>
          <a:xfrm>
            <a:off x="3733800" y="5324475"/>
            <a:ext cx="452208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path with spaces lacking surrounding quotation marks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267700" y="5962650"/>
            <a:ext cx="92202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8" name="Text 26"/>
          <p:cNvSpPr/>
          <p:nvPr/>
        </p:nvSpPr>
        <p:spPr>
          <a:xfrm>
            <a:off x="8420100" y="5324475"/>
            <a:ext cx="9192006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15.2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00100" y="5972175"/>
            <a:ext cx="2781300" cy="7524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00100" y="6715125"/>
            <a:ext cx="2781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1" name="Text 29"/>
          <p:cNvSpPr/>
          <p:nvPr/>
        </p:nvSpPr>
        <p:spPr>
          <a:xfrm>
            <a:off x="952500" y="6076950"/>
            <a:ext cx="255993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Task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3581400" y="5972175"/>
            <a:ext cx="4686300" cy="7524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581400" y="6715125"/>
            <a:ext cx="4686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4" name="Text 32"/>
          <p:cNvSpPr/>
          <p:nvPr/>
        </p:nvSpPr>
        <p:spPr>
          <a:xfrm>
            <a:off x="3733800" y="6076950"/>
            <a:ext cx="452208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Windows component running code on a schedule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8267700" y="5972175"/>
            <a:ext cx="9220200" cy="7524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8267700" y="6715125"/>
            <a:ext cx="92202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7" name="Text 35"/>
          <p:cNvSpPr/>
          <p:nvPr/>
        </p:nvSpPr>
        <p:spPr>
          <a:xfrm>
            <a:off x="8420100" y="6076950"/>
            <a:ext cx="9192006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15.3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800100" y="7200900"/>
            <a:ext cx="2781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9" name="Text 37"/>
          <p:cNvSpPr/>
          <p:nvPr/>
        </p:nvSpPr>
        <p:spPr>
          <a:xfrm>
            <a:off x="952500" y="6829425"/>
            <a:ext cx="255993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3581400" y="7200900"/>
            <a:ext cx="4686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41" name="Text 39"/>
          <p:cNvSpPr/>
          <p:nvPr/>
        </p:nvSpPr>
        <p:spPr>
          <a:xfrm>
            <a:off x="3733800" y="6829425"/>
            <a:ext cx="452208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highest local privilege level on Windows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8267700" y="7200900"/>
            <a:ext cx="92202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43" name="Text 41"/>
          <p:cNvSpPr/>
          <p:nvPr/>
        </p:nvSpPr>
        <p:spPr>
          <a:xfrm>
            <a:off x="8420100" y="6829425"/>
            <a:ext cx="919200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Throughout the module as the typical escalation target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2159794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MISCONCEPTIONS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2655094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learners get wrong about Module 15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3321844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355996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“DLL HIJACKING AND UNQUOTED PATHS ARE THE SAME TECHNIQUE”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3879056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exploit a search order, but one targets a library dependency and the other targets how Windows parses an unquoted executable path.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9248775" y="3321844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86900" y="355996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“AUTOMATED TOOL OUTPUT IS ALWAYS EXPLOITABLE”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486900" y="3879056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surface candidates; manual verification confirms which are genuinely usable, exactly as Objective 15.1 states.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800100" y="499348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8225" y="523160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“ESCALATION ALWAYS REQUIRES AN EXPLOIT”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38225" y="555069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15.3 shows that misconfigured services, tasks, or overly broad privileges can escalate without any software vulnerability at all.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9248775" y="499348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86900" y="523160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“POWERSHELL HISTORY IS RARELY USEFUL”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486900" y="555069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a stated Module 15 objective precisely because administrators routinely leave credentials recoverable there.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800100" y="6665119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8225" y="6903244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“ANY WRITABLE FILE NEAR A SERVICE IS EXPLOITABLE”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38225" y="7222331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service must actually load or execute that file, and the tester must be able to trigger a restart or wait for one, for the write access to matter.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9248775" y="6665119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86900" y="6903244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“RESTARTING A SERVICE TO TEST AN EXPLOIT IS ALWAYS SAFE”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486900" y="7222331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unplanned restart can affect production availability. Confirm restart conditions before acting.</a:t>
            </a:r>
            <a:endParaRPr lang="en-US" sz="187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7467600" y="3073078"/>
            <a:ext cx="33528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15 IN CONTEXT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628236" y="3549328"/>
            <a:ext cx="1031528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6957"/>
              </a:lnSpc>
              <a:buNone/>
            </a:pPr>
            <a:r>
              <a:rPr lang="en-US" sz="12000" b="1" spc="-30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702740" y="5301928"/>
            <a:ext cx="16882445" cy="520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6381"/>
              </a:lnSpc>
              <a:buNone/>
            </a:pPr>
            <a:r>
              <a:rPr lang="en-US" sz="34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eleven objectives are enumeration, before any escalation is attempted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3257550" y="6012433"/>
            <a:ext cx="11772900" cy="12395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Enumerating Windows, Leveraging Windows Services, and Abusing Other Windows Components. Percentage weightings per module: information not defined in the official exam outline.</a:t>
            </a:r>
            <a:endParaRPr lang="en-US" sz="217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2486025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2981325"/>
            <a:ext cx="17188434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service's executable path contains spaces and no surrounding quotation marks, with a writable earlier path segment. Which technique applies?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143375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8225" y="4324350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9650" y="4333875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952625" y="4398169"/>
            <a:ext cx="252417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DLL hijacking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800100" y="5095875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8225" y="5276850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9650" y="5286375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952625" y="5350669"/>
            <a:ext cx="277293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binary hijacking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800100" y="6048375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6A00">
              <a:alpha val="10000"/>
            </a:srgbClr>
          </a:solidFill>
          <a:ln w="9525">
            <a:solidFill>
              <a:srgbClr val="B851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8225" y="6229350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9650" y="6238875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952625" y="6303169"/>
            <a:ext cx="399266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Abusing an unquoted service path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800100" y="7000875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8225" y="7181850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9650" y="7191375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952625" y="7255669"/>
            <a:ext cx="262649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Task abuse</a:t>
            </a:r>
            <a:endParaRPr lang="en-US" sz="1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2814414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SUMMARY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309714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15 in three lines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3976464"/>
            <a:ext cx="16687800" cy="942975"/>
          </a:xfrm>
          <a:prstGeom prst="roundRect">
            <a:avLst>
              <a:gd name="adj" fmla="val 1414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8225" y="4228877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9650" y="4238402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15.1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952625" y="4157439"/>
            <a:ext cx="15756065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privileges and access control, gain situational awareness, and search for sensitive information including PowerShell artefacts, aided by automated tools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800100" y="5071839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8225" y="5252814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9650" y="5262339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952625" y="5326633"/>
            <a:ext cx="1210806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Hijack writable service binaries or DLLs, or abuse unquoted service paths with a writable earlier segment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800100" y="6024339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8225" y="6205314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9650" y="6214839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15.3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952625" y="6279133"/>
            <a:ext cx="1430743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 Scheduled Tasks, known software exploits, or overly broad held privileges to execute code as a privileged account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800100" y="7072089"/>
            <a:ext cx="16344900" cy="438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16 mirrors this exact structure — enumerate, then abuse — applied to Linux instead.</a:t>
            </a:r>
            <a:endParaRPr lang="en-US" sz="217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609600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1143000"/>
            <a:ext cx="18356580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741"/>
              </a:lnSpc>
              <a:buNone/>
            </a:pPr>
            <a:r>
              <a:rPr lang="en-US" sz="525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16: Linux Privilege Escalation</a:t>
            </a:r>
            <a:endParaRPr lang="en-US" sz="5250" dirty="0"/>
          </a:p>
        </p:txBody>
      </p:sp>
      <p:sp>
        <p:nvSpPr>
          <p:cNvPr id="5" name="Shape 3"/>
          <p:cNvSpPr/>
          <p:nvPr/>
        </p:nvSpPr>
        <p:spPr>
          <a:xfrm>
            <a:off x="800100" y="2128838"/>
            <a:ext cx="5435575" cy="2128838"/>
          </a:xfrm>
          <a:prstGeom prst="roundRect">
            <a:avLst>
              <a:gd name="adj" fmla="val 715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2366963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NEXT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2686050"/>
            <a:ext cx="5108105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Enumerating Linux, exposed confidential information, insecure file permissions, and insecure system components including SUID and sudo.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6426175" y="2128838"/>
            <a:ext cx="5435575" cy="2128838"/>
          </a:xfrm>
          <a:prstGeom prst="roundRect">
            <a:avLst>
              <a:gd name="adj" fmla="val 715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64300" y="2366963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THEN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64300" y="2686050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able to distinguish binary hijacking, DLL hijacking, and unquoted path abuse without hesitation.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2052250" y="2128838"/>
            <a:ext cx="5435650" cy="2128838"/>
          </a:xfrm>
          <a:prstGeom prst="roundRect">
            <a:avLst>
              <a:gd name="adj" fmla="val 715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90375" y="2366963"/>
            <a:ext cx="545534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 FORWARD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290375" y="2686050"/>
            <a:ext cx="5108182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enumerate-before-abuse discipline. Module 16 uses the identical shape on a completely different permission model.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800100" y="9210675"/>
            <a:ext cx="166878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5" name="Text 13"/>
          <p:cNvSpPr/>
          <p:nvPr/>
        </p:nvSpPr>
        <p:spPr>
          <a:xfrm>
            <a:off x="800100" y="9432131"/>
            <a:ext cx="1796482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Cyber Academy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6763181" y="9410700"/>
            <a:ext cx="8009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</a:t>
            </a:r>
            <a:pPr algn="l" indent="0" marL="0">
              <a:buNone/>
            </a:pPr>
            <a:r>
              <a:rPr lang="en-US" sz="1800" b="1" spc="150" kern="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2026-08-01T10:19:49Z</dcterms:created>
  <dcterms:modified xsi:type="dcterms:W3CDTF">2026-08-01T10:19:49Z</dcterms:modified>
</cp:coreProperties>
</file>