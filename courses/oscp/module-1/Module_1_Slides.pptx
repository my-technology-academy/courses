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group. This module is orientation only — nothing offensive is taught here. Set the expectation that everything in this course is bound to the official OffSec PEN-200 syllabus, and that Module 1 exists to make the other 23 modules navigable.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units aloud. Point out that these are verbatim from the official syllabus — not our invention. Every slide that follows maps back to one of these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course on one slide. Module 1, highlighted, is where we are. Stress the fixed order: enumeration precedes exploitation, which precedes escalation, which precedes lateral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slide. Three things define the learner's working world for the next months: the environment they build, the material they read, and the certification they are working towards. Everything in Module 1 falls into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We are entering Objective 1.1, Welcome to PWK — four stated objectives covering the course inventory and the working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 task 1. The inventory exercise is not busywork — learners who do not know what the course contains under-use it. Ask the group what they think is included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and one that trips up almost every new learner. Three names, two things. Make sure everyone can state this back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 task 2. Keep this conceptual — we are not walking through an install here. The point is that the attacking machine is the learner's own, and it persists across all 24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 task 3. The VPN is the route to course environments. Emphasise that connectivity problems are the most common reason a learner stalls in week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 task 4. Exercises are the retrieval-practice component — Module 3 explains why retrieval works. Learners who read but do not attempt exercises retain very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slide. Three tiers. This is how we scope every piece of content in this course — if it is not an objective, it is not in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of Objective 1.1. Four tasks, all environment and orientation. Check understanding before moving to the learning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Objective 1.2. This unit is short in the syllabus but sets the tone for the entire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1.2, task 1. The single most important idea in Module 1. Read the callout aloud and pause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rows. Walk down the four stages, naming where each sits in the course. Learners recognising which stage they are in is what stops them panicking at Module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1.2, task 2. The syllabus asks learners to understand the different learning components. Different components serve different cognitive purposes — that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Almost every learner initially reads increasing uncertainty as increasing difficulty. They are different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Cross-reference. Module 1 states the model; Module 3 explains the science underneath it. Flag it now so learners do not treat Module 3 as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1.2 before the module map. Two objectives, both about method rather than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Objective 1.3. One stated objective, but the widest one in the module: a high-level overview of all 24 Learning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slide. The whole course as one arc. Learners should be able to redraw this from memory by the end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group 1. These four modules produce no shells and are the ones learners most often skip. Modules 2 and 4 are the ones that make a tester employable rather than merely capable.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in detail. Six units. Note that this is where the vocabulary of the profession is fixed — risk, threat, vulnerability and exploit are four different words and learners routinely use them interchangeably.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in detail. This is the module learners most often dismiss and most often regret dismissing. The named techniques are the practical payload — retrieval practice, spaced practice, SQ3R, PQ4R, Feynman, Leitner.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in detail. Two units, but commercially the most important module in the first block. Stress note portability and screenshots — both are stated objectives, not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is where offensive technique begins. Note the passive/active split — it is the first genuinely examinable distinction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Note that scanning is treated as a discipline with considerations and trade-offs, not a button. Nessus and NSE are the two named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group: the web application track. Three modules, escalating from methodology to injection. Point out that XSS sits in Module 7, not Module 8 — a common misfiling.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10. The target shifts from the server to the person. Note this is the module that returns in Module 23 for gaining access to the domain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Modules 11 and 12 belong together: find the exploit, then make it work. The risk framing in Module 11 is a professional-conduct point, not a technical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13. Short module, three named areas. The known vs unknown threat distinction is the conceptual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14. Three units. The hash unit is the bridge into the Active Directory modules — pass-the-hash and relay both reappear in Module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privilege escalation pair. Same goal, two operating systems, different mechanisms. Both begin with enumeration — that is the transferable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15 in detail. Three units. Note that two of the three named service attacks — binary hijacking and DLL hijacking — differ only in what gets replaced, and unquoted paths is a third distinct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16 in detail. Four units. The shape mirrors Module 15 — enumerate, then abuse — but the mechanisms are entirely different. Ask the group to name the Linux equivalent of an unquoted service path; there isn't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tunnelling pair. Module 17 assumes you can reach the network; Module 18 assumes something is inspecting your traffic. That is the whole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between the two tunnelling modules. Learners routinely merge them and then cannot say why Chisel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17 in detail. Four SSH forwarding modes is the number to remember: local, dynamic, remote, remote dynamic. Learners who can name all four rarely confuse them under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18 in detail. A single unit, but a distinct problem class. Two named tools: Chisel for HTTP, dnscat for DNS.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19. Metasploit is placed late deliberately — after the manual techniques it automates. Mention the staged vs non-staged payload distinction as a classic exam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Active Directory chain — three modules in strict order: enumerate, authenticate, move. This is the heaviest block in the second half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block. Module 23 is where the increasing-uncertainty model reaches its endpoint. Module 24 covers the Challenge Labs and exam information — note that MCA delivery does not include lab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23 in detail. Six units, one continuous narrative. Point out how many earlier modules are reused: WordPress plugin abuse, SSH key cracking, sudo escalation, phishing, network enumeration, Kerberoasting, relay attacks and client-side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24 in detail. Note for MCA delivery: this module's content is entirely Challenge Lab material. We name it for completeness of the map — lab exercises themselves are outside MCA course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Do not read it aloud — point learners to it as the slide they return to. It matches the cheat sheet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1.3. The learner should now be able to place any technique they hear about into the right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slide. Give the group five minutes in pairs. There is no single right answer — you are looking for reasoning that uses the module map rather than guesswork.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1. Model this live if you have the syllabus to hand — read one objective and phrase the scope question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2. Encourage learners to build the tracker before Module 2, not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3. Tie this forward to Module 4 explicitly — the habit and the deliverable are the same skill at different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4. Snapshot discipline. Short slide, but it saves learners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Acronym table. Most will be familiar; the point is that learners can expand PWK and OSCP correctly and never conflate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Misconceptions slide. These are the distractor patterns learners fall for. Ask the group which they held before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slide. In place of a domain weighting, the honest number here is the module count. State plainly that OffSec publishes no weightings.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Answer is B, Welcome to PWK. Take hands before revealing. This question also appears as Q1 of the module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Three units, one purpose: orientation. Confirm every learner has an environment before they leave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Preview Module 2 and set the reading. Confirm environment readiness before the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1 OF 24 · OFFSEC PEN-200 (PWK)</a:t>
            </a:r>
            <a:endParaRPr lang="en-US" sz="1650" dirty="0"/>
          </a:p>
        </p:txBody>
      </p:sp>
      <p:sp>
        <p:nvSpPr>
          <p:cNvPr id="4" name="Text 2"/>
          <p:cNvSpPr/>
          <p:nvPr/>
        </p:nvSpPr>
        <p:spPr>
          <a:xfrm>
            <a:off x="800100" y="1181100"/>
            <a:ext cx="14716125" cy="1678186"/>
          </a:xfrm>
          <a:prstGeom prst="rect">
            <a:avLst/>
          </a:prstGeom>
          <a:noFill/>
          <a:ln/>
        </p:spPr>
        <p:txBody>
          <a:bodyPr wrap="square" lIns="25400" tIns="25400" rIns="25400" bIns="25400" rtlCol="0" anchor="t">
            <a:normAutofit/>
          </a:bodyPr>
          <a:lstStyle/>
          <a:p>
            <a:pPr algn="l" indent="0" marL="0">
              <a:lnSpc>
                <a:spcPct val="91596"/>
              </a:lnSpc>
              <a:buNone/>
            </a:pPr>
            <a:r>
              <a:rPr lang="en-US" sz="6150" b="1" spc="-37" kern="0" dirty="0">
                <a:solidFill>
                  <a:srgbClr val="F5F7FB"/>
                </a:solidFill>
                <a:latin typeface="Arial" pitchFamily="34" charset="0"/>
                <a:ea typeface="Arial" pitchFamily="34" charset="-122"/>
                <a:cs typeface="Arial" pitchFamily="34" charset="-120"/>
              </a:rPr>
              <a:t>Penetration Testing with Kali Linux: General Course Introduction</a:t>
            </a:r>
            <a:endParaRPr lang="en-US" sz="6150" dirty="0"/>
          </a:p>
        </p:txBody>
      </p:sp>
      <p:sp>
        <p:nvSpPr>
          <p:cNvPr id="5" name="Text 3"/>
          <p:cNvSpPr/>
          <p:nvPr/>
        </p:nvSpPr>
        <p:spPr>
          <a:xfrm>
            <a:off x="800100" y="3145036"/>
            <a:ext cx="13735050" cy="977205"/>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B8C0CF"/>
                </a:solidFill>
                <a:latin typeface="Arial" pitchFamily="34" charset="0"/>
                <a:ea typeface="Arial" pitchFamily="34" charset="-122"/>
                <a:cs typeface="Arial" pitchFamily="34" charset="-120"/>
              </a:rPr>
              <a:t>Course orientation: what PEN-200 contains, how it is designed to be learned, and a map of every Learning Module ahead.</a:t>
            </a:r>
            <a:endParaRPr lang="en-US" sz="2550" dirty="0"/>
          </a:p>
        </p:txBody>
      </p:sp>
      <p:sp>
        <p:nvSpPr>
          <p:cNvPr id="6" name="Shape 4"/>
          <p:cNvSpPr/>
          <p:nvPr/>
        </p:nvSpPr>
        <p:spPr>
          <a:xfrm>
            <a:off x="800100" y="9210675"/>
            <a:ext cx="16687800" cy="9525"/>
          </a:xfrm>
          <a:prstGeom prst="rect">
            <a:avLst/>
          </a:prstGeom>
          <a:solidFill>
            <a:srgbClr val="2A2F3A"/>
          </a:solidFill>
          <a:ln/>
        </p:spPr>
      </p:sp>
      <p:sp>
        <p:nvSpPr>
          <p:cNvPr id="7" name="Text 5"/>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8" name="Text 6"/>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710086"/>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LEARNING OBJECTIVES</a:t>
            </a:r>
            <a:endParaRPr lang="en-US" sz="1650" dirty="0"/>
          </a:p>
        </p:txBody>
      </p:sp>
      <p:sp>
        <p:nvSpPr>
          <p:cNvPr id="4" name="Text 2"/>
          <p:cNvSpPr/>
          <p:nvPr/>
        </p:nvSpPr>
        <p:spPr>
          <a:xfrm>
            <a:off x="800100" y="3205386"/>
            <a:ext cx="18356580" cy="618158"/>
          </a:xfrm>
          <a:prstGeom prst="rect">
            <a:avLst/>
          </a:prstGeom>
          <a:noFill/>
          <a:ln/>
        </p:spPr>
        <p:txBody>
          <a:bodyPr wrap="square" lIns="25400" tIns="25400" rIns="25400" bIns="25400" rtlCol="0" anchor="t">
            <a:normAutofit/>
          </a:bodyPr>
          <a:lstStyle/>
          <a:p>
            <a:pPr algn="l" indent="0" marL="0">
              <a:lnSpc>
                <a:spcPct val="90896"/>
              </a:lnSpc>
              <a:buNone/>
            </a:pPr>
            <a:r>
              <a:rPr lang="en-US" sz="4350" b="1" spc="-37" kern="0" dirty="0">
                <a:solidFill>
                  <a:srgbClr val="F5F7FB"/>
                </a:solidFill>
                <a:latin typeface="Arial" pitchFamily="34" charset="0"/>
                <a:ea typeface="Arial" pitchFamily="34" charset="-122"/>
                <a:cs typeface="Arial" pitchFamily="34" charset="-120"/>
              </a:rPr>
              <a:t>What this module covers</a:t>
            </a:r>
            <a:endParaRPr lang="en-US" sz="4350" dirty="0"/>
          </a:p>
        </p:txBody>
      </p:sp>
      <p:sp>
        <p:nvSpPr>
          <p:cNvPr id="5" name="Shape 3"/>
          <p:cNvSpPr/>
          <p:nvPr/>
        </p:nvSpPr>
        <p:spPr>
          <a:xfrm>
            <a:off x="800100" y="4090243"/>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271218"/>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280743"/>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1.1</a:t>
            </a:r>
            <a:endParaRPr lang="en-US" sz="1650" dirty="0"/>
          </a:p>
        </p:txBody>
      </p:sp>
      <p:sp>
        <p:nvSpPr>
          <p:cNvPr id="8" name="Text 6"/>
          <p:cNvSpPr/>
          <p:nvPr/>
        </p:nvSpPr>
        <p:spPr>
          <a:xfrm>
            <a:off x="1952625" y="4345037"/>
            <a:ext cx="989452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Welcome to PWK — course inventory, attacking Kali VM, PWK VPN, Module Exercises</a:t>
            </a:r>
            <a:endParaRPr lang="en-US" sz="1950" dirty="0"/>
          </a:p>
        </p:txBody>
      </p:sp>
      <p:sp>
        <p:nvSpPr>
          <p:cNvPr id="9" name="Shape 7"/>
          <p:cNvSpPr/>
          <p:nvPr/>
        </p:nvSpPr>
        <p:spPr>
          <a:xfrm>
            <a:off x="800100" y="5061793"/>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242768"/>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252293"/>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1.2</a:t>
            </a:r>
            <a:endParaRPr lang="en-US" sz="1650" dirty="0"/>
          </a:p>
        </p:txBody>
      </p:sp>
      <p:sp>
        <p:nvSpPr>
          <p:cNvPr id="12" name="Text 10"/>
          <p:cNvSpPr/>
          <p:nvPr/>
        </p:nvSpPr>
        <p:spPr>
          <a:xfrm>
            <a:off x="1952625" y="5316587"/>
            <a:ext cx="13129781"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How to Approach the Course — the increasing-uncertainty learning model and the course's learning components</a:t>
            </a:r>
            <a:endParaRPr lang="en-US" sz="1950" dirty="0"/>
          </a:p>
        </p:txBody>
      </p:sp>
      <p:sp>
        <p:nvSpPr>
          <p:cNvPr id="13" name="Shape 11"/>
          <p:cNvSpPr/>
          <p:nvPr/>
        </p:nvSpPr>
        <p:spPr>
          <a:xfrm>
            <a:off x="800100" y="6033343"/>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214318"/>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223843"/>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1.3</a:t>
            </a:r>
            <a:endParaRPr lang="en-US" sz="1650" dirty="0"/>
          </a:p>
        </p:txBody>
      </p:sp>
      <p:sp>
        <p:nvSpPr>
          <p:cNvPr id="16" name="Text 14"/>
          <p:cNvSpPr/>
          <p:nvPr/>
        </p:nvSpPr>
        <p:spPr>
          <a:xfrm>
            <a:off x="1952625" y="6288137"/>
            <a:ext cx="11521730"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Summary of PWK Learning Modules — a high-level overview of what every Learning Module covers</a:t>
            </a:r>
            <a:endParaRPr lang="en-US" sz="1950" dirty="0"/>
          </a:p>
        </p:txBody>
      </p:sp>
      <p:sp>
        <p:nvSpPr>
          <p:cNvPr id="17" name="Text 15"/>
          <p:cNvSpPr/>
          <p:nvPr/>
        </p:nvSpPr>
        <p:spPr>
          <a:xfrm>
            <a:off x="800100" y="7176343"/>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These three Learning Units are the complete scope of Module 1. Anything beyond them belongs to a later module.</a:t>
            </a:r>
            <a:endParaRPr lang="en-US" sz="21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8797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COURSE CONTEXT · 24 LEARNING MODULES</a:t>
            </a:r>
            <a:endParaRPr lang="en-US" sz="1650" dirty="0"/>
          </a:p>
        </p:txBody>
      </p:sp>
      <p:sp>
        <p:nvSpPr>
          <p:cNvPr id="4" name="Text 2"/>
          <p:cNvSpPr/>
          <p:nvPr/>
        </p:nvSpPr>
        <p:spPr>
          <a:xfrm>
            <a:off x="800100" y="23750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Where Module 1 sits in PEN-200</a:t>
            </a:r>
            <a:endParaRPr lang="en-US" sz="3000" dirty="0"/>
          </a:p>
        </p:txBody>
      </p:sp>
      <p:sp>
        <p:nvSpPr>
          <p:cNvPr id="5" name="Shape 3"/>
          <p:cNvSpPr/>
          <p:nvPr/>
        </p:nvSpPr>
        <p:spPr>
          <a:xfrm>
            <a:off x="800100" y="3041824"/>
            <a:ext cx="4086225" cy="702469"/>
          </a:xfrm>
          <a:prstGeom prst="roundRect">
            <a:avLst>
              <a:gd name="adj" fmla="val 16271"/>
            </a:avLst>
          </a:prstGeom>
          <a:solidFill>
            <a:srgbClr val="FF6A00">
              <a:alpha val="12000"/>
            </a:srgbClr>
          </a:solidFill>
          <a:ln w="9525">
            <a:solidFill>
              <a:srgbClr val="FF6A00"/>
            </a:solidFill>
            <a:prstDash val="solid"/>
          </a:ln>
        </p:spPr>
      </p:sp>
      <p:sp>
        <p:nvSpPr>
          <p:cNvPr id="6" name="Text 4"/>
          <p:cNvSpPr/>
          <p:nvPr/>
        </p:nvSpPr>
        <p:spPr>
          <a:xfrm>
            <a:off x="94297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942975" y="3399011"/>
            <a:ext cx="2566690" cy="252413"/>
          </a:xfrm>
          <a:prstGeom prst="rect">
            <a:avLst/>
          </a:prstGeom>
          <a:noFill/>
          <a:ln/>
        </p:spPr>
        <p:txBody>
          <a:bodyPr wrap="square" lIns="0" tIns="0" rIns="0" bIns="0" rtlCol="0" anchor="t">
            <a:normAutofit/>
          </a:bodyPr>
          <a:lstStyle/>
          <a:p>
            <a:pPr algn="l" indent="0" marL="0">
              <a:lnSpc>
                <a:spcPct val="110465"/>
              </a:lnSpc>
              <a:buNone/>
            </a:pPr>
            <a:r>
              <a:rPr lang="en-US" sz="1425" b="1" dirty="0">
                <a:solidFill>
                  <a:srgbClr val="F5F7FB"/>
                </a:solidFill>
                <a:latin typeface="Arial" pitchFamily="34" charset="0"/>
                <a:ea typeface="Arial" pitchFamily="34" charset="-122"/>
                <a:cs typeface="Arial" pitchFamily="34" charset="-120"/>
              </a:rPr>
              <a:t>General Course Introduction</a:t>
            </a:r>
            <a:endParaRPr lang="en-US" sz="1425" dirty="0"/>
          </a:p>
        </p:txBody>
      </p:sp>
      <p:sp>
        <p:nvSpPr>
          <p:cNvPr id="8" name="Shape 6"/>
          <p:cNvSpPr/>
          <p:nvPr/>
        </p:nvSpPr>
        <p:spPr>
          <a:xfrm>
            <a:off x="500062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9" name="Text 7"/>
          <p:cNvSpPr/>
          <p:nvPr/>
        </p:nvSpPr>
        <p:spPr>
          <a:xfrm>
            <a:off x="514350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5143500" y="3399011"/>
            <a:ext cx="242537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Cybersecurity</a:t>
            </a:r>
            <a:endParaRPr lang="en-US" sz="1425" dirty="0"/>
          </a:p>
        </p:txBody>
      </p:sp>
      <p:sp>
        <p:nvSpPr>
          <p:cNvPr id="11" name="Shape 9"/>
          <p:cNvSpPr/>
          <p:nvPr/>
        </p:nvSpPr>
        <p:spPr>
          <a:xfrm>
            <a:off x="920115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2" name="Text 10"/>
          <p:cNvSpPr/>
          <p:nvPr/>
        </p:nvSpPr>
        <p:spPr>
          <a:xfrm>
            <a:off x="934402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9344025" y="3399011"/>
            <a:ext cx="238541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Effective Learning Strategies</a:t>
            </a:r>
            <a:endParaRPr lang="en-US" sz="1425" dirty="0"/>
          </a:p>
        </p:txBody>
      </p:sp>
      <p:sp>
        <p:nvSpPr>
          <p:cNvPr id="14" name="Shape 12"/>
          <p:cNvSpPr/>
          <p:nvPr/>
        </p:nvSpPr>
        <p:spPr>
          <a:xfrm>
            <a:off x="1340167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5" name="Text 13"/>
          <p:cNvSpPr/>
          <p:nvPr/>
        </p:nvSpPr>
        <p:spPr>
          <a:xfrm>
            <a:off x="1354455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04</a:t>
            </a:r>
            <a:endParaRPr lang="en-US" sz="1200" dirty="0"/>
          </a:p>
        </p:txBody>
      </p:sp>
      <p:sp>
        <p:nvSpPr>
          <p:cNvPr id="16" name="Text 14"/>
          <p:cNvSpPr/>
          <p:nvPr/>
        </p:nvSpPr>
        <p:spPr>
          <a:xfrm>
            <a:off x="13544550" y="3399011"/>
            <a:ext cx="312066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Report Writing for Penetration Testers</a:t>
            </a:r>
            <a:endParaRPr lang="en-US" sz="1425" dirty="0"/>
          </a:p>
        </p:txBody>
      </p:sp>
      <p:sp>
        <p:nvSpPr>
          <p:cNvPr id="17" name="Shape 15"/>
          <p:cNvSpPr/>
          <p:nvPr/>
        </p:nvSpPr>
        <p:spPr>
          <a:xfrm>
            <a:off x="80010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18" name="Text 16"/>
          <p:cNvSpPr/>
          <p:nvPr/>
        </p:nvSpPr>
        <p:spPr>
          <a:xfrm>
            <a:off x="94297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05</a:t>
            </a:r>
            <a:endParaRPr lang="en-US" sz="1200" dirty="0"/>
          </a:p>
        </p:txBody>
      </p:sp>
      <p:sp>
        <p:nvSpPr>
          <p:cNvPr id="19" name="Text 17"/>
          <p:cNvSpPr/>
          <p:nvPr/>
        </p:nvSpPr>
        <p:spPr>
          <a:xfrm>
            <a:off x="942975" y="4215780"/>
            <a:ext cx="183118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Information Gathering</a:t>
            </a:r>
            <a:endParaRPr lang="en-US" sz="1425" dirty="0"/>
          </a:p>
        </p:txBody>
      </p:sp>
      <p:sp>
        <p:nvSpPr>
          <p:cNvPr id="20" name="Shape 18"/>
          <p:cNvSpPr/>
          <p:nvPr/>
        </p:nvSpPr>
        <p:spPr>
          <a:xfrm>
            <a:off x="500062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1" name="Text 19"/>
          <p:cNvSpPr/>
          <p:nvPr/>
        </p:nvSpPr>
        <p:spPr>
          <a:xfrm>
            <a:off x="514350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06</a:t>
            </a:r>
            <a:endParaRPr lang="en-US" sz="1200" dirty="0"/>
          </a:p>
        </p:txBody>
      </p:sp>
      <p:sp>
        <p:nvSpPr>
          <p:cNvPr id="22" name="Text 20"/>
          <p:cNvSpPr/>
          <p:nvPr/>
        </p:nvSpPr>
        <p:spPr>
          <a:xfrm>
            <a:off x="5143500" y="4215780"/>
            <a:ext cx="18587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Vulnerability Scanning</a:t>
            </a:r>
            <a:endParaRPr lang="en-US" sz="1425" dirty="0"/>
          </a:p>
        </p:txBody>
      </p:sp>
      <p:sp>
        <p:nvSpPr>
          <p:cNvPr id="23" name="Shape 21"/>
          <p:cNvSpPr/>
          <p:nvPr/>
        </p:nvSpPr>
        <p:spPr>
          <a:xfrm>
            <a:off x="920115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4" name="Text 22"/>
          <p:cNvSpPr/>
          <p:nvPr/>
        </p:nvSpPr>
        <p:spPr>
          <a:xfrm>
            <a:off x="934402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07</a:t>
            </a:r>
            <a:endParaRPr lang="en-US" sz="1200" dirty="0"/>
          </a:p>
        </p:txBody>
      </p:sp>
      <p:sp>
        <p:nvSpPr>
          <p:cNvPr id="25" name="Text 23"/>
          <p:cNvSpPr/>
          <p:nvPr/>
        </p:nvSpPr>
        <p:spPr>
          <a:xfrm>
            <a:off x="9344025" y="4215780"/>
            <a:ext cx="270493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Web Applications</a:t>
            </a:r>
            <a:endParaRPr lang="en-US" sz="1425" dirty="0"/>
          </a:p>
        </p:txBody>
      </p:sp>
      <p:sp>
        <p:nvSpPr>
          <p:cNvPr id="26" name="Shape 24"/>
          <p:cNvSpPr/>
          <p:nvPr/>
        </p:nvSpPr>
        <p:spPr>
          <a:xfrm>
            <a:off x="1340167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7" name="Text 25"/>
          <p:cNvSpPr/>
          <p:nvPr/>
        </p:nvSpPr>
        <p:spPr>
          <a:xfrm>
            <a:off x="1354455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08</a:t>
            </a:r>
            <a:endParaRPr lang="en-US" sz="1200" dirty="0"/>
          </a:p>
        </p:txBody>
      </p:sp>
      <p:sp>
        <p:nvSpPr>
          <p:cNvPr id="28" name="Text 26"/>
          <p:cNvSpPr/>
          <p:nvPr/>
        </p:nvSpPr>
        <p:spPr>
          <a:xfrm>
            <a:off x="13544550" y="4215780"/>
            <a:ext cx="28205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Common Web Application Attacks</a:t>
            </a:r>
            <a:endParaRPr lang="en-US" sz="1425" dirty="0"/>
          </a:p>
        </p:txBody>
      </p:sp>
      <p:sp>
        <p:nvSpPr>
          <p:cNvPr id="29" name="Shape 27"/>
          <p:cNvSpPr/>
          <p:nvPr/>
        </p:nvSpPr>
        <p:spPr>
          <a:xfrm>
            <a:off x="80010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0" name="Text 28"/>
          <p:cNvSpPr/>
          <p:nvPr/>
        </p:nvSpPr>
        <p:spPr>
          <a:xfrm>
            <a:off x="94297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09</a:t>
            </a:r>
            <a:endParaRPr lang="en-US" sz="1200" dirty="0"/>
          </a:p>
        </p:txBody>
      </p:sp>
      <p:sp>
        <p:nvSpPr>
          <p:cNvPr id="31" name="Text 29"/>
          <p:cNvSpPr/>
          <p:nvPr/>
        </p:nvSpPr>
        <p:spPr>
          <a:xfrm>
            <a:off x="942975" y="5032549"/>
            <a:ext cx="179419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SQL Injection Attacks</a:t>
            </a:r>
            <a:endParaRPr lang="en-US" sz="1425" dirty="0"/>
          </a:p>
        </p:txBody>
      </p:sp>
      <p:sp>
        <p:nvSpPr>
          <p:cNvPr id="32" name="Shape 30"/>
          <p:cNvSpPr/>
          <p:nvPr/>
        </p:nvSpPr>
        <p:spPr>
          <a:xfrm>
            <a:off x="500062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3" name="Text 31"/>
          <p:cNvSpPr/>
          <p:nvPr/>
        </p:nvSpPr>
        <p:spPr>
          <a:xfrm>
            <a:off x="514350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10</a:t>
            </a:r>
            <a:endParaRPr lang="en-US" sz="1200" dirty="0"/>
          </a:p>
        </p:txBody>
      </p:sp>
      <p:sp>
        <p:nvSpPr>
          <p:cNvPr id="34" name="Text 32"/>
          <p:cNvSpPr/>
          <p:nvPr/>
        </p:nvSpPr>
        <p:spPr>
          <a:xfrm>
            <a:off x="5143500" y="5032549"/>
            <a:ext cx="161992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Client-Side Attacks</a:t>
            </a:r>
            <a:endParaRPr lang="en-US" sz="1425" dirty="0"/>
          </a:p>
        </p:txBody>
      </p:sp>
      <p:sp>
        <p:nvSpPr>
          <p:cNvPr id="35" name="Shape 33"/>
          <p:cNvSpPr/>
          <p:nvPr/>
        </p:nvSpPr>
        <p:spPr>
          <a:xfrm>
            <a:off x="920115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6" name="Text 34"/>
          <p:cNvSpPr/>
          <p:nvPr/>
        </p:nvSpPr>
        <p:spPr>
          <a:xfrm>
            <a:off x="934402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11</a:t>
            </a:r>
            <a:endParaRPr lang="en-US" sz="1200" dirty="0"/>
          </a:p>
        </p:txBody>
      </p:sp>
      <p:sp>
        <p:nvSpPr>
          <p:cNvPr id="37" name="Text 35"/>
          <p:cNvSpPr/>
          <p:nvPr/>
        </p:nvSpPr>
        <p:spPr>
          <a:xfrm>
            <a:off x="9344025" y="5032549"/>
            <a:ext cx="1980009"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Locating Public Exploits</a:t>
            </a:r>
            <a:endParaRPr lang="en-US" sz="1425" dirty="0"/>
          </a:p>
        </p:txBody>
      </p:sp>
      <p:sp>
        <p:nvSpPr>
          <p:cNvPr id="38" name="Shape 36"/>
          <p:cNvSpPr/>
          <p:nvPr/>
        </p:nvSpPr>
        <p:spPr>
          <a:xfrm>
            <a:off x="1340167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9" name="Text 37"/>
          <p:cNvSpPr/>
          <p:nvPr/>
        </p:nvSpPr>
        <p:spPr>
          <a:xfrm>
            <a:off x="1354455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12</a:t>
            </a:r>
            <a:endParaRPr lang="en-US" sz="1200" dirty="0"/>
          </a:p>
        </p:txBody>
      </p:sp>
      <p:sp>
        <p:nvSpPr>
          <p:cNvPr id="40" name="Text 38"/>
          <p:cNvSpPr/>
          <p:nvPr/>
        </p:nvSpPr>
        <p:spPr>
          <a:xfrm>
            <a:off x="13544550" y="5032549"/>
            <a:ext cx="122351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Fixing Exploits</a:t>
            </a:r>
            <a:endParaRPr lang="en-US" sz="1425" dirty="0"/>
          </a:p>
        </p:txBody>
      </p:sp>
      <p:sp>
        <p:nvSpPr>
          <p:cNvPr id="41" name="Shape 39"/>
          <p:cNvSpPr/>
          <p:nvPr/>
        </p:nvSpPr>
        <p:spPr>
          <a:xfrm>
            <a:off x="80010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2" name="Text 40"/>
          <p:cNvSpPr/>
          <p:nvPr/>
        </p:nvSpPr>
        <p:spPr>
          <a:xfrm>
            <a:off x="94297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13</a:t>
            </a:r>
            <a:endParaRPr lang="en-US" sz="1200" dirty="0"/>
          </a:p>
        </p:txBody>
      </p:sp>
      <p:sp>
        <p:nvSpPr>
          <p:cNvPr id="43" name="Text 41"/>
          <p:cNvSpPr/>
          <p:nvPr/>
        </p:nvSpPr>
        <p:spPr>
          <a:xfrm>
            <a:off x="942975" y="5849317"/>
            <a:ext cx="144385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Antivirus Evasion</a:t>
            </a:r>
            <a:endParaRPr lang="en-US" sz="1425" dirty="0"/>
          </a:p>
        </p:txBody>
      </p:sp>
      <p:sp>
        <p:nvSpPr>
          <p:cNvPr id="44" name="Shape 42"/>
          <p:cNvSpPr/>
          <p:nvPr/>
        </p:nvSpPr>
        <p:spPr>
          <a:xfrm>
            <a:off x="500062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5" name="Text 43"/>
          <p:cNvSpPr/>
          <p:nvPr/>
        </p:nvSpPr>
        <p:spPr>
          <a:xfrm>
            <a:off x="514350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14</a:t>
            </a:r>
            <a:endParaRPr lang="en-US" sz="1200" dirty="0"/>
          </a:p>
        </p:txBody>
      </p:sp>
      <p:sp>
        <p:nvSpPr>
          <p:cNvPr id="46" name="Text 44"/>
          <p:cNvSpPr/>
          <p:nvPr/>
        </p:nvSpPr>
        <p:spPr>
          <a:xfrm>
            <a:off x="5143500" y="5849317"/>
            <a:ext cx="149981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Password Attacks</a:t>
            </a:r>
            <a:endParaRPr lang="en-US" sz="1425" dirty="0"/>
          </a:p>
        </p:txBody>
      </p:sp>
      <p:sp>
        <p:nvSpPr>
          <p:cNvPr id="47" name="Shape 45"/>
          <p:cNvSpPr/>
          <p:nvPr/>
        </p:nvSpPr>
        <p:spPr>
          <a:xfrm>
            <a:off x="920115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8" name="Text 46"/>
          <p:cNvSpPr/>
          <p:nvPr/>
        </p:nvSpPr>
        <p:spPr>
          <a:xfrm>
            <a:off x="934402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15</a:t>
            </a:r>
            <a:endParaRPr lang="en-US" sz="1200" dirty="0"/>
          </a:p>
        </p:txBody>
      </p:sp>
      <p:sp>
        <p:nvSpPr>
          <p:cNvPr id="49" name="Text 47"/>
          <p:cNvSpPr/>
          <p:nvPr/>
        </p:nvSpPr>
        <p:spPr>
          <a:xfrm>
            <a:off x="9344025" y="5849317"/>
            <a:ext cx="241280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Windows Privilege Escalation</a:t>
            </a:r>
            <a:endParaRPr lang="en-US" sz="1425" dirty="0"/>
          </a:p>
        </p:txBody>
      </p:sp>
      <p:sp>
        <p:nvSpPr>
          <p:cNvPr id="50" name="Shape 48"/>
          <p:cNvSpPr/>
          <p:nvPr/>
        </p:nvSpPr>
        <p:spPr>
          <a:xfrm>
            <a:off x="1340167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51" name="Text 49"/>
          <p:cNvSpPr/>
          <p:nvPr/>
        </p:nvSpPr>
        <p:spPr>
          <a:xfrm>
            <a:off x="1354455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16</a:t>
            </a:r>
            <a:endParaRPr lang="en-US" sz="1200" dirty="0"/>
          </a:p>
        </p:txBody>
      </p:sp>
      <p:sp>
        <p:nvSpPr>
          <p:cNvPr id="52" name="Text 50"/>
          <p:cNvSpPr/>
          <p:nvPr/>
        </p:nvSpPr>
        <p:spPr>
          <a:xfrm>
            <a:off x="13544550" y="5849317"/>
            <a:ext cx="210405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Linux Privilege Escalation</a:t>
            </a:r>
            <a:endParaRPr lang="en-US" sz="1425" dirty="0"/>
          </a:p>
        </p:txBody>
      </p:sp>
      <p:sp>
        <p:nvSpPr>
          <p:cNvPr id="53" name="Shape 51"/>
          <p:cNvSpPr/>
          <p:nvPr/>
        </p:nvSpPr>
        <p:spPr>
          <a:xfrm>
            <a:off x="80010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4" name="Text 52"/>
          <p:cNvSpPr/>
          <p:nvPr/>
        </p:nvSpPr>
        <p:spPr>
          <a:xfrm>
            <a:off x="94297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17</a:t>
            </a:r>
            <a:endParaRPr lang="en-US" sz="1200" dirty="0"/>
          </a:p>
        </p:txBody>
      </p:sp>
      <p:sp>
        <p:nvSpPr>
          <p:cNvPr id="55" name="Text 53"/>
          <p:cNvSpPr/>
          <p:nvPr/>
        </p:nvSpPr>
        <p:spPr>
          <a:xfrm>
            <a:off x="942975" y="6666086"/>
            <a:ext cx="294774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Port Redirection and SSH Tunneling</a:t>
            </a:r>
            <a:endParaRPr lang="en-US" sz="1425" dirty="0"/>
          </a:p>
        </p:txBody>
      </p:sp>
      <p:sp>
        <p:nvSpPr>
          <p:cNvPr id="56" name="Shape 54"/>
          <p:cNvSpPr/>
          <p:nvPr/>
        </p:nvSpPr>
        <p:spPr>
          <a:xfrm>
            <a:off x="500062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7" name="Text 55"/>
          <p:cNvSpPr/>
          <p:nvPr/>
        </p:nvSpPr>
        <p:spPr>
          <a:xfrm>
            <a:off x="514350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18</a:t>
            </a:r>
            <a:endParaRPr lang="en-US" sz="1200" dirty="0"/>
          </a:p>
        </p:txBody>
      </p:sp>
      <p:sp>
        <p:nvSpPr>
          <p:cNvPr id="58" name="Text 56"/>
          <p:cNvSpPr/>
          <p:nvPr/>
        </p:nvSpPr>
        <p:spPr>
          <a:xfrm>
            <a:off x="5143500" y="6666086"/>
            <a:ext cx="170557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Advanced Tunneling</a:t>
            </a:r>
            <a:endParaRPr lang="en-US" sz="1425" dirty="0"/>
          </a:p>
        </p:txBody>
      </p:sp>
      <p:sp>
        <p:nvSpPr>
          <p:cNvPr id="59" name="Shape 57"/>
          <p:cNvSpPr/>
          <p:nvPr/>
        </p:nvSpPr>
        <p:spPr>
          <a:xfrm>
            <a:off x="920115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0" name="Text 58"/>
          <p:cNvSpPr/>
          <p:nvPr/>
        </p:nvSpPr>
        <p:spPr>
          <a:xfrm>
            <a:off x="934402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19</a:t>
            </a:r>
            <a:endParaRPr lang="en-US" sz="1200" dirty="0"/>
          </a:p>
        </p:txBody>
      </p:sp>
      <p:sp>
        <p:nvSpPr>
          <p:cNvPr id="61" name="Text 59"/>
          <p:cNvSpPr/>
          <p:nvPr/>
        </p:nvSpPr>
        <p:spPr>
          <a:xfrm>
            <a:off x="9344025" y="6666086"/>
            <a:ext cx="221716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The Metasploit Framework</a:t>
            </a:r>
            <a:endParaRPr lang="en-US" sz="1425" dirty="0"/>
          </a:p>
        </p:txBody>
      </p:sp>
      <p:sp>
        <p:nvSpPr>
          <p:cNvPr id="62" name="Shape 60"/>
          <p:cNvSpPr/>
          <p:nvPr/>
        </p:nvSpPr>
        <p:spPr>
          <a:xfrm>
            <a:off x="1340167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3" name="Text 61"/>
          <p:cNvSpPr/>
          <p:nvPr/>
        </p:nvSpPr>
        <p:spPr>
          <a:xfrm>
            <a:off x="1354455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20</a:t>
            </a:r>
            <a:endParaRPr lang="en-US" sz="1200" dirty="0"/>
          </a:p>
        </p:txBody>
      </p:sp>
      <p:sp>
        <p:nvSpPr>
          <p:cNvPr id="64" name="Text 62"/>
          <p:cNvSpPr/>
          <p:nvPr/>
        </p:nvSpPr>
        <p:spPr>
          <a:xfrm>
            <a:off x="13544550" y="6666086"/>
            <a:ext cx="274839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 Introduction and Enumeration</a:t>
            </a:r>
            <a:endParaRPr lang="en-US" sz="1425" dirty="0"/>
          </a:p>
        </p:txBody>
      </p:sp>
      <p:sp>
        <p:nvSpPr>
          <p:cNvPr id="65" name="Shape 63"/>
          <p:cNvSpPr/>
          <p:nvPr/>
        </p:nvSpPr>
        <p:spPr>
          <a:xfrm>
            <a:off x="80010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6" name="Text 64"/>
          <p:cNvSpPr/>
          <p:nvPr/>
        </p:nvSpPr>
        <p:spPr>
          <a:xfrm>
            <a:off x="94297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21</a:t>
            </a:r>
            <a:endParaRPr lang="en-US" sz="1200" dirty="0"/>
          </a:p>
        </p:txBody>
      </p:sp>
      <p:sp>
        <p:nvSpPr>
          <p:cNvPr id="67" name="Text 65"/>
          <p:cNvSpPr/>
          <p:nvPr/>
        </p:nvSpPr>
        <p:spPr>
          <a:xfrm>
            <a:off x="942975" y="7482855"/>
            <a:ext cx="233935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Attacking AD Authentication</a:t>
            </a:r>
            <a:endParaRPr lang="en-US" sz="1425" dirty="0"/>
          </a:p>
        </p:txBody>
      </p:sp>
      <p:sp>
        <p:nvSpPr>
          <p:cNvPr id="68" name="Shape 66"/>
          <p:cNvSpPr/>
          <p:nvPr/>
        </p:nvSpPr>
        <p:spPr>
          <a:xfrm>
            <a:off x="500062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9" name="Text 67"/>
          <p:cNvSpPr/>
          <p:nvPr/>
        </p:nvSpPr>
        <p:spPr>
          <a:xfrm>
            <a:off x="514350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22</a:t>
            </a:r>
            <a:endParaRPr lang="en-US" sz="1200" dirty="0"/>
          </a:p>
        </p:txBody>
      </p:sp>
      <p:sp>
        <p:nvSpPr>
          <p:cNvPr id="70" name="Text 68"/>
          <p:cNvSpPr/>
          <p:nvPr/>
        </p:nvSpPr>
        <p:spPr>
          <a:xfrm>
            <a:off x="5143500" y="7482855"/>
            <a:ext cx="199489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Lateral Movement in AD</a:t>
            </a:r>
            <a:endParaRPr lang="en-US" sz="1425" dirty="0"/>
          </a:p>
        </p:txBody>
      </p:sp>
      <p:sp>
        <p:nvSpPr>
          <p:cNvPr id="71" name="Shape 69"/>
          <p:cNvSpPr/>
          <p:nvPr/>
        </p:nvSpPr>
        <p:spPr>
          <a:xfrm>
            <a:off x="920115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2" name="Text 70"/>
          <p:cNvSpPr/>
          <p:nvPr/>
        </p:nvSpPr>
        <p:spPr>
          <a:xfrm>
            <a:off x="934402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23</a:t>
            </a:r>
            <a:endParaRPr lang="en-US" sz="1200" dirty="0"/>
          </a:p>
        </p:txBody>
      </p:sp>
      <p:sp>
        <p:nvSpPr>
          <p:cNvPr id="73" name="Text 71"/>
          <p:cNvSpPr/>
          <p:nvPr/>
        </p:nvSpPr>
        <p:spPr>
          <a:xfrm>
            <a:off x="9344025" y="7482855"/>
            <a:ext cx="1893763"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Assembling the Pieces</a:t>
            </a:r>
            <a:endParaRPr lang="en-US" sz="1425" dirty="0"/>
          </a:p>
        </p:txBody>
      </p:sp>
      <p:sp>
        <p:nvSpPr>
          <p:cNvPr id="74" name="Shape 72"/>
          <p:cNvSpPr/>
          <p:nvPr/>
        </p:nvSpPr>
        <p:spPr>
          <a:xfrm>
            <a:off x="1340167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5" name="Text 73"/>
          <p:cNvSpPr/>
          <p:nvPr/>
        </p:nvSpPr>
        <p:spPr>
          <a:xfrm>
            <a:off x="1354455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24</a:t>
            </a:r>
            <a:endParaRPr lang="en-US" sz="1200" dirty="0"/>
          </a:p>
        </p:txBody>
      </p:sp>
      <p:sp>
        <p:nvSpPr>
          <p:cNvPr id="76" name="Text 74"/>
          <p:cNvSpPr/>
          <p:nvPr/>
        </p:nvSpPr>
        <p:spPr>
          <a:xfrm>
            <a:off x="13544550" y="7482855"/>
            <a:ext cx="200858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Trying Harder: The Labs</a:t>
            </a:r>
            <a:endParaRPr lang="en-US" sz="1425" dirty="0"/>
          </a:p>
        </p:txBody>
      </p:sp>
      <p:sp>
        <p:nvSpPr>
          <p:cNvPr id="77" name="Text 75"/>
          <p:cNvSpPr/>
          <p:nvPr/>
        </p:nvSpPr>
        <p:spPr>
          <a:xfrm>
            <a:off x="800100" y="8075786"/>
            <a:ext cx="16344900"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8C0CF"/>
                </a:solidFill>
                <a:latin typeface="Arial" pitchFamily="34" charset="0"/>
                <a:ea typeface="Arial" pitchFamily="34" charset="-122"/>
                <a:cs typeface="Arial" pitchFamily="34" charset="-120"/>
              </a:rPr>
              <a:t>Module weightings: information not defined in the official exam outline. OffSec publishes no percentage per Learning Module for PEN-200.</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111847"/>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ORIENTATION</a:t>
            </a:r>
            <a:endParaRPr lang="en-US" sz="1650" dirty="0"/>
          </a:p>
        </p:txBody>
      </p:sp>
      <p:sp>
        <p:nvSpPr>
          <p:cNvPr id="4" name="Text 2"/>
          <p:cNvSpPr/>
          <p:nvPr/>
        </p:nvSpPr>
        <p:spPr>
          <a:xfrm>
            <a:off x="800100" y="3607147"/>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Three things Module 1 puts in place</a:t>
            </a:r>
            <a:endParaRPr lang="en-US" sz="3000" dirty="0"/>
          </a:p>
        </p:txBody>
      </p:sp>
      <p:sp>
        <p:nvSpPr>
          <p:cNvPr id="5" name="Shape 3"/>
          <p:cNvSpPr/>
          <p:nvPr/>
        </p:nvSpPr>
        <p:spPr>
          <a:xfrm>
            <a:off x="800100" y="4331047"/>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4569172"/>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ENVIRONMENT</a:t>
            </a:r>
            <a:endParaRPr lang="en-US" sz="1500" dirty="0"/>
          </a:p>
        </p:txBody>
      </p:sp>
      <p:sp>
        <p:nvSpPr>
          <p:cNvPr id="7" name="Text 5"/>
          <p:cNvSpPr/>
          <p:nvPr/>
        </p:nvSpPr>
        <p:spPr>
          <a:xfrm>
            <a:off x="1038225" y="488826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 attacking Kali VM and a working PWK VPN connection — the platform every later module assumes you already have.</a:t>
            </a:r>
            <a:endParaRPr lang="en-US" sz="1875" dirty="0"/>
          </a:p>
        </p:txBody>
      </p:sp>
      <p:sp>
        <p:nvSpPr>
          <p:cNvPr id="8" name="Shape 6"/>
          <p:cNvSpPr/>
          <p:nvPr/>
        </p:nvSpPr>
        <p:spPr>
          <a:xfrm>
            <a:off x="6426175" y="4331047"/>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4569172"/>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METHOD</a:t>
            </a:r>
            <a:endParaRPr lang="en-US" sz="1500" dirty="0"/>
          </a:p>
        </p:txBody>
      </p:sp>
      <p:sp>
        <p:nvSpPr>
          <p:cNvPr id="10" name="Text 8"/>
          <p:cNvSpPr/>
          <p:nvPr/>
        </p:nvSpPr>
        <p:spPr>
          <a:xfrm>
            <a:off x="6664300" y="488826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learning model built on increasing uncertainty, plus the set of learning components the course delivers through.</a:t>
            </a:r>
            <a:endParaRPr lang="en-US" sz="1875" dirty="0"/>
          </a:p>
        </p:txBody>
      </p:sp>
      <p:sp>
        <p:nvSpPr>
          <p:cNvPr id="11" name="Shape 9"/>
          <p:cNvSpPr/>
          <p:nvPr/>
        </p:nvSpPr>
        <p:spPr>
          <a:xfrm>
            <a:off x="12052250" y="4331047"/>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4569172"/>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MAP</a:t>
            </a:r>
            <a:endParaRPr lang="en-US" sz="1500" dirty="0"/>
          </a:p>
        </p:txBody>
      </p:sp>
      <p:sp>
        <p:nvSpPr>
          <p:cNvPr id="13" name="Text 11"/>
          <p:cNvSpPr/>
          <p:nvPr/>
        </p:nvSpPr>
        <p:spPr>
          <a:xfrm>
            <a:off x="12290375" y="4888260"/>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high-level summary of all 24 Learning Modules, so you always know where you are and what is coming next.</a:t>
            </a:r>
            <a:endParaRPr lang="en-US" sz="1875" dirty="0"/>
          </a:p>
        </p:txBody>
      </p:sp>
      <p:sp>
        <p:nvSpPr>
          <p:cNvPr id="14" name="Text 12"/>
          <p:cNvSpPr/>
          <p:nvPr/>
        </p:nvSpPr>
        <p:spPr>
          <a:xfrm>
            <a:off x="800100" y="6374160"/>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Module 1 teaches no offensive technique. Its value is entirely in orientation — and a learner who skips it spends the rest of the course guessing at structure.</a:t>
            </a:r>
            <a:endParaRPr lang="en-US" sz="21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37018" y="3870945"/>
            <a:ext cx="2013890"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1.1</a:t>
            </a:r>
            <a:endParaRPr lang="en-US" sz="1650" dirty="0"/>
          </a:p>
        </p:txBody>
      </p:sp>
      <p:sp>
        <p:nvSpPr>
          <p:cNvPr id="4" name="Text 2"/>
          <p:cNvSpPr/>
          <p:nvPr/>
        </p:nvSpPr>
        <p:spPr>
          <a:xfrm>
            <a:off x="5431936" y="4385295"/>
            <a:ext cx="7424127"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Welcome to PWK</a:t>
            </a:r>
            <a:endParaRPr lang="en-US" sz="6600" dirty="0"/>
          </a:p>
        </p:txBody>
      </p:sp>
      <p:sp>
        <p:nvSpPr>
          <p:cNvPr id="5" name="Text 3"/>
          <p:cNvSpPr/>
          <p:nvPr/>
        </p:nvSpPr>
        <p:spPr>
          <a:xfrm>
            <a:off x="3257550" y="5532090"/>
            <a:ext cx="11772900"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Take inventory of the course, build the attacking Kali VM, connect over the PWK VPN, and understand how Module Exercises are completed.</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66355"/>
            <a:ext cx="2868513"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52080"/>
            <a:ext cx="259261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 · Task 1 of 4</a:t>
            </a:r>
            <a:endParaRPr lang="en-US" sz="1500" dirty="0"/>
          </a:p>
        </p:txBody>
      </p:sp>
      <p:sp>
        <p:nvSpPr>
          <p:cNvPr id="5" name="Text 3"/>
          <p:cNvSpPr/>
          <p:nvPr/>
        </p:nvSpPr>
        <p:spPr>
          <a:xfrm>
            <a:off x="800100" y="350929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Taking inventory of the course</a:t>
            </a:r>
            <a:endParaRPr lang="en-US" sz="3000" dirty="0"/>
          </a:p>
        </p:txBody>
      </p:sp>
      <p:sp>
        <p:nvSpPr>
          <p:cNvPr id="6" name="Text 4"/>
          <p:cNvSpPr/>
          <p:nvPr/>
        </p:nvSpPr>
        <p:spPr>
          <a:xfrm>
            <a:off x="800100" y="4176043"/>
            <a:ext cx="15304770" cy="1239589"/>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first stated objective of Welcome to PWK is to take inventory over what is included in the course. Before any technique is learned, the learner establishes what materials, environments and assessment components they have been given access to, and what each is for.</a:t>
            </a:r>
            <a:endParaRPr lang="en-US" sz="2175" dirty="0"/>
          </a:p>
        </p:txBody>
      </p:sp>
      <p:sp>
        <p:nvSpPr>
          <p:cNvPr id="7" name="Shape 5"/>
          <p:cNvSpPr/>
          <p:nvPr/>
        </p:nvSpPr>
        <p:spPr>
          <a:xfrm>
            <a:off x="800100" y="5625182"/>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863307"/>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82395"/>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Course components differ in purpose. Treating them all as "reading" wastes the ones designed for practice and retrieval, which is where technical skill actually forms.</a:t>
            </a:r>
            <a:endParaRPr lang="en-US" sz="1875" dirty="0"/>
          </a:p>
        </p:txBody>
      </p:sp>
      <p:sp>
        <p:nvSpPr>
          <p:cNvPr id="10" name="Shape 8"/>
          <p:cNvSpPr/>
          <p:nvPr/>
        </p:nvSpPr>
        <p:spPr>
          <a:xfrm>
            <a:off x="9248775" y="5625182"/>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863307"/>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82395"/>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Learners who dive straight into Module 5 for the "real" content. They arrive at Active Directory with no working environment and no note-taking habit.</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173983"/>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66928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PEN-200 · PWK · OSCP</a:t>
            </a:r>
            <a:endParaRPr lang="en-US" sz="3000" dirty="0"/>
          </a:p>
        </p:txBody>
      </p:sp>
      <p:sp>
        <p:nvSpPr>
          <p:cNvPr id="5" name="Shape 3"/>
          <p:cNvSpPr/>
          <p:nvPr/>
        </p:nvSpPr>
        <p:spPr>
          <a:xfrm>
            <a:off x="800100" y="4336033"/>
            <a:ext cx="7581900" cy="2128838"/>
          </a:xfrm>
          <a:prstGeom prst="roundRect">
            <a:avLst>
              <a:gd name="adj" fmla="val 7159"/>
            </a:avLst>
          </a:prstGeom>
          <a:solidFill>
            <a:srgbClr val="FFFFFF">
              <a:alpha val="2000"/>
            </a:srgbClr>
          </a:solidFill>
          <a:ln w="9525">
            <a:solidFill>
              <a:srgbClr val="2A2F3A"/>
            </a:solidFill>
            <a:prstDash val="solid"/>
          </a:ln>
        </p:spPr>
      </p:sp>
      <p:sp>
        <p:nvSpPr>
          <p:cNvPr id="6" name="Text 4"/>
          <p:cNvSpPr/>
          <p:nvPr/>
        </p:nvSpPr>
        <p:spPr>
          <a:xfrm>
            <a:off x="1038225" y="4574158"/>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PEN-200 = PWK</a:t>
            </a:r>
            <a:endParaRPr lang="en-US" sz="1500" dirty="0"/>
          </a:p>
        </p:txBody>
      </p:sp>
      <p:sp>
        <p:nvSpPr>
          <p:cNvPr id="7" name="Text 5"/>
          <p:cNvSpPr/>
          <p:nvPr/>
        </p:nvSpPr>
        <p:spPr>
          <a:xfrm>
            <a:off x="1038225" y="4893246"/>
            <a:ext cx="7318820"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One course under two names. PEN-200 is the current designation; PWK (Penetration Testing with Kali) is the historic short name and is still used throughout the syllabus — the document itself is versioned PWK v3.0.</a:t>
            </a:r>
            <a:endParaRPr lang="en-US" sz="1875" dirty="0"/>
          </a:p>
        </p:txBody>
      </p:sp>
      <p:sp>
        <p:nvSpPr>
          <p:cNvPr id="8" name="Text 6"/>
          <p:cNvSpPr/>
          <p:nvPr/>
        </p:nvSpPr>
        <p:spPr>
          <a:xfrm>
            <a:off x="8534400" y="4336033"/>
            <a:ext cx="1219200" cy="2166938"/>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336033"/>
            <a:ext cx="7581900" cy="2128838"/>
          </a:xfrm>
          <a:prstGeom prst="roundRect">
            <a:avLst>
              <a:gd name="adj" fmla="val 7159"/>
            </a:avLst>
          </a:prstGeom>
          <a:solidFill>
            <a:srgbClr val="FF6A00">
              <a:alpha val="6000"/>
            </a:srgbClr>
          </a:solidFill>
          <a:ln w="9525">
            <a:solidFill>
              <a:srgbClr val="B85100"/>
            </a:solidFill>
            <a:prstDash val="solid"/>
          </a:ln>
        </p:spPr>
      </p:sp>
      <p:sp>
        <p:nvSpPr>
          <p:cNvPr id="10" name="Text 8"/>
          <p:cNvSpPr/>
          <p:nvPr/>
        </p:nvSpPr>
        <p:spPr>
          <a:xfrm>
            <a:off x="10144125" y="4574158"/>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OSCP</a:t>
            </a:r>
            <a:endParaRPr lang="en-US" sz="1500" dirty="0"/>
          </a:p>
        </p:txBody>
      </p:sp>
      <p:sp>
        <p:nvSpPr>
          <p:cNvPr id="11" name="Text 9"/>
          <p:cNvSpPr/>
          <p:nvPr/>
        </p:nvSpPr>
        <p:spPr>
          <a:xfrm>
            <a:off x="10144125" y="4893246"/>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certification. OSCP is what a learner earns; PEN-200 is what they study. The syllabus is the specification for the course, and by extension the reference point for the certification.</a:t>
            </a:r>
            <a:endParaRPr lang="en-US" sz="1875" dirty="0"/>
          </a:p>
        </p:txBody>
      </p:sp>
      <p:sp>
        <p:nvSpPr>
          <p:cNvPr id="12" name="Text 10"/>
          <p:cNvSpPr/>
          <p:nvPr/>
        </p:nvSpPr>
        <p:spPr>
          <a:xfrm>
            <a:off x="800100" y="6712521"/>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Distinct from: an OffSec learning path. PEN-200 is a single course, not a bundle of courses.</a:t>
            </a:r>
            <a:endParaRPr lang="en-US" sz="21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66355"/>
            <a:ext cx="2892772"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52080"/>
            <a:ext cx="261760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 · Task 2 of 4</a:t>
            </a:r>
            <a:endParaRPr lang="en-US" sz="1500" dirty="0"/>
          </a:p>
        </p:txBody>
      </p:sp>
      <p:sp>
        <p:nvSpPr>
          <p:cNvPr id="5" name="Text 3"/>
          <p:cNvSpPr/>
          <p:nvPr/>
        </p:nvSpPr>
        <p:spPr>
          <a:xfrm>
            <a:off x="800100" y="350929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Setting up an attacking Kali VM</a:t>
            </a:r>
            <a:endParaRPr lang="en-US" sz="3000" dirty="0"/>
          </a:p>
        </p:txBody>
      </p:sp>
      <p:sp>
        <p:nvSpPr>
          <p:cNvPr id="6" name="Text 4"/>
          <p:cNvSpPr/>
          <p:nvPr/>
        </p:nvSpPr>
        <p:spPr>
          <a:xfrm>
            <a:off x="800100" y="4176043"/>
            <a:ext cx="15304770" cy="1239589"/>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syllabus requires the learner to set up an attacking Kali virtual machine. This is the single platform from which all subsequent course activity is performed, and it carries the learner's tooling, wordlists, notes and artefacts through every module that follows.</a:t>
            </a:r>
            <a:endParaRPr lang="en-US" sz="2175" dirty="0"/>
          </a:p>
        </p:txBody>
      </p:sp>
      <p:sp>
        <p:nvSpPr>
          <p:cNvPr id="7" name="Shape 5"/>
          <p:cNvSpPr/>
          <p:nvPr/>
        </p:nvSpPr>
        <p:spPr>
          <a:xfrm>
            <a:off x="800100" y="5625182"/>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863307"/>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82395"/>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Every later module — Nmap in Module 5, Burp Suite in Module 7, SearchSploit in Module 11, BloodHound in Module 20 — assumes a working Kali machine already exists.</a:t>
            </a:r>
            <a:endParaRPr lang="en-US" sz="1875" dirty="0"/>
          </a:p>
        </p:txBody>
      </p:sp>
      <p:sp>
        <p:nvSpPr>
          <p:cNvPr id="10" name="Shape 8"/>
          <p:cNvSpPr/>
          <p:nvPr/>
        </p:nvSpPr>
        <p:spPr>
          <a:xfrm>
            <a:off x="9248775" y="5625182"/>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863307"/>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TYPICAL REMEDIATION</a:t>
            </a:r>
            <a:endParaRPr lang="en-US" sz="1500" dirty="0"/>
          </a:p>
        </p:txBody>
      </p:sp>
      <p:sp>
        <p:nvSpPr>
          <p:cNvPr id="12" name="Text 10"/>
          <p:cNvSpPr/>
          <p:nvPr/>
        </p:nvSpPr>
        <p:spPr>
          <a:xfrm>
            <a:off x="9486900" y="6182395"/>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Snapshot the VM once it is configured and healthy. A broken attacking machine mid-course costs days that should have been spent on technique.</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89790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2289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 · Task 3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Connecting over the PWK VPN</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stated objective is to connect to and interact over the PWK VPN. The VPN is the route between the learner's attacking Kali machine and the environments the course provides.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SECURITY RELEVANCE</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tunnelled route into a target network is the same shape as the pivoting the course teaches later in Modules 17 and 18 — the first tunnel a learner uses is their own.</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EVIDENCE TO LOOK FOR</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Confirm interaction, not just connection. A VPN that establishes but carries no traffic looks identical to success until the first scan returns nothing.</a:t>
            </a:r>
            <a:endParaRPr lang="en-US" sz="18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0147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2657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 · Task 4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Understanding Module Exercises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Each Learning Module carries exercises, and the syllabus makes understanding how to complete them an explicit Module 1 objective — before any module content is attempted.</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Exercises are the course's retrieval-practice mechanism. Module 3, Effective Learning Strategies, sets out the theory: retrieval, not re-reading, is what makes technical skill durable.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habit formed here carries into Module 4, Report Writing, where the same discipline of recording what you did becomes a professional deliverable.</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30711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HOW THE SYLLABUS IS STRUCTURED</a:t>
            </a:r>
            <a:endParaRPr lang="en-US" sz="1650" dirty="0"/>
          </a:p>
        </p:txBody>
      </p:sp>
      <p:sp>
        <p:nvSpPr>
          <p:cNvPr id="4" name="Text 2"/>
          <p:cNvSpPr/>
          <p:nvPr/>
        </p:nvSpPr>
        <p:spPr>
          <a:xfrm>
            <a:off x="800100" y="3802410"/>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Module → Unit → Objective</a:t>
            </a:r>
            <a:endParaRPr lang="en-US" sz="3000" dirty="0"/>
          </a:p>
        </p:txBody>
      </p:sp>
      <p:sp>
        <p:nvSpPr>
          <p:cNvPr id="5" name="Shape 3"/>
          <p:cNvSpPr/>
          <p:nvPr/>
        </p:nvSpPr>
        <p:spPr>
          <a:xfrm>
            <a:off x="800100" y="4469160"/>
            <a:ext cx="494027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4707285"/>
            <a:ext cx="491042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LEARNING MODULE</a:t>
            </a:r>
            <a:endParaRPr lang="en-US" sz="1500" dirty="0"/>
          </a:p>
        </p:txBody>
      </p:sp>
      <p:sp>
        <p:nvSpPr>
          <p:cNvPr id="7" name="Text 5"/>
          <p:cNvSpPr/>
          <p:nvPr/>
        </p:nvSpPr>
        <p:spPr>
          <a:xfrm>
            <a:off x="1038225" y="5026372"/>
            <a:ext cx="4597946"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subject area. 24 in total, in fixed official order.</a:t>
            </a:r>
            <a:endParaRPr lang="en-US" sz="1875" dirty="0"/>
          </a:p>
        </p:txBody>
      </p:sp>
      <p:sp>
        <p:nvSpPr>
          <p:cNvPr id="8" name="Text 6"/>
          <p:cNvSpPr/>
          <p:nvPr/>
        </p:nvSpPr>
        <p:spPr>
          <a:xfrm>
            <a:off x="5835625" y="4952554"/>
            <a:ext cx="742950" cy="533400"/>
          </a:xfrm>
          <a:prstGeom prst="rect">
            <a:avLst/>
          </a:prstGeom>
          <a:noFill/>
          <a:ln/>
        </p:spPr>
        <p:txBody>
          <a:bodyPr wrap="square" lIns="25400" tIns="25400" rIns="25400" bIns="25400" rtlCol="0" anchor="ctr">
            <a:normAutofit/>
          </a:bodyPr>
          <a:lstStyle/>
          <a:p>
            <a:pPr algn="ctr" indent="0" marL="0">
              <a:buNone/>
            </a:pPr>
            <a:r>
              <a:rPr lang="en-US" sz="3300" dirty="0">
                <a:solidFill>
                  <a:srgbClr val="FF6A00"/>
                </a:solidFill>
                <a:latin typeface="Arial" pitchFamily="34" charset="0"/>
                <a:ea typeface="Arial" pitchFamily="34" charset="-122"/>
                <a:cs typeface="Arial" pitchFamily="34" charset="-120"/>
              </a:rPr>
              <a:t>→</a:t>
            </a:r>
            <a:endParaRPr lang="en-US" sz="3300" dirty="0"/>
          </a:p>
        </p:txBody>
      </p:sp>
      <p:sp>
        <p:nvSpPr>
          <p:cNvPr id="9" name="Shape 7"/>
          <p:cNvSpPr/>
          <p:nvPr/>
        </p:nvSpPr>
        <p:spPr>
          <a:xfrm>
            <a:off x="6673825" y="4469160"/>
            <a:ext cx="4940275" cy="1462088"/>
          </a:xfrm>
          <a:prstGeom prst="roundRect">
            <a:avLst>
              <a:gd name="adj" fmla="val 10423"/>
            </a:avLst>
          </a:prstGeom>
          <a:solidFill>
            <a:srgbClr val="FFFFFF">
              <a:alpha val="2000"/>
            </a:srgbClr>
          </a:solidFill>
          <a:ln w="9525">
            <a:solidFill>
              <a:srgbClr val="2A2F3A"/>
            </a:solidFill>
            <a:prstDash val="solid"/>
          </a:ln>
        </p:spPr>
      </p:sp>
      <p:sp>
        <p:nvSpPr>
          <p:cNvPr id="10" name="Text 8"/>
          <p:cNvSpPr/>
          <p:nvPr/>
        </p:nvSpPr>
        <p:spPr>
          <a:xfrm>
            <a:off x="6911950" y="4707285"/>
            <a:ext cx="491042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LEARNING UNIT</a:t>
            </a:r>
            <a:endParaRPr lang="en-US" sz="1500" dirty="0"/>
          </a:p>
        </p:txBody>
      </p:sp>
      <p:sp>
        <p:nvSpPr>
          <p:cNvPr id="11" name="Text 9"/>
          <p:cNvSpPr/>
          <p:nvPr/>
        </p:nvSpPr>
        <p:spPr>
          <a:xfrm>
            <a:off x="6911950" y="5026372"/>
            <a:ext cx="4597946"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theme within a module. Module 1 has three.</a:t>
            </a:r>
            <a:endParaRPr lang="en-US" sz="1875" dirty="0"/>
          </a:p>
        </p:txBody>
      </p:sp>
      <p:sp>
        <p:nvSpPr>
          <p:cNvPr id="12" name="Text 10"/>
          <p:cNvSpPr/>
          <p:nvPr/>
        </p:nvSpPr>
        <p:spPr>
          <a:xfrm>
            <a:off x="11709350" y="4952554"/>
            <a:ext cx="742950" cy="533400"/>
          </a:xfrm>
          <a:prstGeom prst="rect">
            <a:avLst/>
          </a:prstGeom>
          <a:noFill/>
          <a:ln/>
        </p:spPr>
        <p:txBody>
          <a:bodyPr wrap="square" lIns="25400" tIns="25400" rIns="25400" bIns="25400" rtlCol="0" anchor="ctr">
            <a:normAutofit/>
          </a:bodyPr>
          <a:lstStyle/>
          <a:p>
            <a:pPr algn="ctr" indent="0" marL="0">
              <a:buNone/>
            </a:pPr>
            <a:r>
              <a:rPr lang="en-US" sz="3300" dirty="0">
                <a:solidFill>
                  <a:srgbClr val="FF6A00"/>
                </a:solidFill>
                <a:latin typeface="Arial" pitchFamily="34" charset="0"/>
                <a:ea typeface="Arial" pitchFamily="34" charset="-122"/>
                <a:cs typeface="Arial" pitchFamily="34" charset="-120"/>
              </a:rPr>
              <a:t>→</a:t>
            </a:r>
            <a:endParaRPr lang="en-US" sz="3300" dirty="0"/>
          </a:p>
        </p:txBody>
      </p:sp>
      <p:sp>
        <p:nvSpPr>
          <p:cNvPr id="13" name="Shape 11"/>
          <p:cNvSpPr/>
          <p:nvPr/>
        </p:nvSpPr>
        <p:spPr>
          <a:xfrm>
            <a:off x="12547550" y="4469160"/>
            <a:ext cx="4940350" cy="1462088"/>
          </a:xfrm>
          <a:prstGeom prst="roundRect">
            <a:avLst>
              <a:gd name="adj" fmla="val 10423"/>
            </a:avLst>
          </a:prstGeom>
          <a:solidFill>
            <a:srgbClr val="FFFFFF">
              <a:alpha val="2000"/>
            </a:srgbClr>
          </a:solidFill>
          <a:ln w="9525">
            <a:solidFill>
              <a:srgbClr val="2A2F3A"/>
            </a:solidFill>
            <a:prstDash val="solid"/>
          </a:ln>
        </p:spPr>
      </p:sp>
      <p:sp>
        <p:nvSpPr>
          <p:cNvPr id="14" name="Text 12"/>
          <p:cNvSpPr/>
          <p:nvPr/>
        </p:nvSpPr>
        <p:spPr>
          <a:xfrm>
            <a:off x="12785675" y="4707285"/>
            <a:ext cx="491051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LEARNING OBJECTIVE</a:t>
            </a:r>
            <a:endParaRPr lang="en-US" sz="1500" dirty="0"/>
          </a:p>
        </p:txBody>
      </p:sp>
      <p:sp>
        <p:nvSpPr>
          <p:cNvPr id="15" name="Text 13"/>
          <p:cNvSpPr/>
          <p:nvPr/>
        </p:nvSpPr>
        <p:spPr>
          <a:xfrm>
            <a:off x="12785675" y="5026372"/>
            <a:ext cx="4598023"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single stated capability. The scope boundary.</a:t>
            </a:r>
            <a:endParaRPr lang="en-US" sz="1875" dirty="0"/>
          </a:p>
        </p:txBody>
      </p:sp>
      <p:sp>
        <p:nvSpPr>
          <p:cNvPr id="16" name="Text 14"/>
          <p:cNvSpPr/>
          <p:nvPr/>
        </p:nvSpPr>
        <p:spPr>
          <a:xfrm>
            <a:off x="800100" y="6178897"/>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If something is not stated at objective level, it is not part of the course. That rule is what keeps a study plan honest and an assessment fair.</a:t>
            </a:r>
            <a:endParaRPr lang="en-US" sz="21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1.1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Welcome to PWK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ESTABLISHED</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 inventory of the course, an attacking Kali VM, a working PWK VPN connection, and a clear understanding of Module Exercises.</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TERMINOLOGY FIXED</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PEN-200 and PWK name the same course; OSCP names the certification. Module, Unit and Objective name the three tiers of the syllabus.</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17454" y="3870945"/>
            <a:ext cx="2053017"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1.2</a:t>
            </a:r>
            <a:endParaRPr lang="en-US" sz="1650" dirty="0"/>
          </a:p>
        </p:txBody>
      </p:sp>
      <p:sp>
        <p:nvSpPr>
          <p:cNvPr id="4" name="Text 2"/>
          <p:cNvSpPr/>
          <p:nvPr/>
        </p:nvSpPr>
        <p:spPr>
          <a:xfrm>
            <a:off x="2881893" y="4385295"/>
            <a:ext cx="12524214"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How to Approach the Course</a:t>
            </a:r>
            <a:endParaRPr lang="en-US" sz="6600" dirty="0"/>
          </a:p>
        </p:txBody>
      </p:sp>
      <p:sp>
        <p:nvSpPr>
          <p:cNvPr id="5" name="Text 3"/>
          <p:cNvSpPr/>
          <p:nvPr/>
        </p:nvSpPr>
        <p:spPr>
          <a:xfrm>
            <a:off x="3257550" y="5532090"/>
            <a:ext cx="11772900"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Conceptualise a learning model based on increasing uncertainty, and understand the different learning components included in PEN-200.</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335462"/>
            <a:ext cx="2892996"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421187"/>
            <a:ext cx="261783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1.2 · Task 1 of 2</a:t>
            </a:r>
            <a:endParaRPr lang="en-US" sz="1500" dirty="0"/>
          </a:p>
        </p:txBody>
      </p:sp>
      <p:sp>
        <p:nvSpPr>
          <p:cNvPr id="5" name="Shape 3"/>
          <p:cNvSpPr/>
          <p:nvPr/>
        </p:nvSpPr>
        <p:spPr>
          <a:xfrm>
            <a:off x="800100" y="4073649"/>
            <a:ext cx="57150" cy="1333500"/>
          </a:xfrm>
          <a:prstGeom prst="rect">
            <a:avLst/>
          </a:prstGeom>
          <a:solidFill>
            <a:srgbClr val="FF6A00"/>
          </a:solidFill>
          <a:ln/>
        </p:spPr>
      </p:sp>
      <p:sp>
        <p:nvSpPr>
          <p:cNvPr id="6" name="Text 4"/>
          <p:cNvSpPr/>
          <p:nvPr/>
        </p:nvSpPr>
        <p:spPr>
          <a:xfrm>
            <a:off x="1162050" y="4245099"/>
            <a:ext cx="16826484" cy="1028700"/>
          </a:xfrm>
          <a:prstGeom prst="rect">
            <a:avLst/>
          </a:prstGeom>
          <a:noFill/>
          <a:ln/>
        </p:spPr>
        <p:txBody>
          <a:bodyPr wrap="square" lIns="25400" tIns="25400" rIns="25400" bIns="25400" rtlCol="0" anchor="t">
            <a:normAutofit/>
          </a:bodyPr>
          <a:lstStyle/>
          <a:p>
            <a:pPr algn="l" indent="0" marL="0">
              <a:lnSpc>
                <a:spcPct val="113043"/>
              </a:lnSpc>
              <a:buNone/>
            </a:pPr>
            <a:r>
              <a:rPr lang="en-US" sz="3000" b="1" dirty="0">
                <a:solidFill>
                  <a:srgbClr val="F5F7FB"/>
                </a:solidFill>
                <a:latin typeface="Arial" pitchFamily="34" charset="0"/>
                <a:ea typeface="Arial" pitchFamily="34" charset="-122"/>
                <a:cs typeface="Arial" pitchFamily="34" charset="-120"/>
              </a:rPr>
              <a:t>PEN-200 is built on a learning model of </a:t>
            </a:r>
            <a:pPr algn="l" indent="0" marL="0">
              <a:lnSpc>
                <a:spcPct val="113043"/>
              </a:lnSpc>
              <a:buNone/>
            </a:pPr>
            <a:r>
              <a:rPr lang="en-US" sz="3000" b="1" dirty="0">
                <a:solidFill>
                  <a:srgbClr val="FF6A00"/>
                </a:solidFill>
                <a:latin typeface="Arial" pitchFamily="34" charset="0"/>
                <a:ea typeface="Arial" pitchFamily="34" charset="-122"/>
                <a:cs typeface="Arial" pitchFamily="34" charset="-120"/>
              </a:rPr>
              <a:t>increasing uncertainty </a:t>
            </a:r>
            <a:pPr algn="l" indent="0" marL="0">
              <a:lnSpc>
                <a:spcPct val="113043"/>
              </a:lnSpc>
              <a:buNone/>
            </a:pPr>
            <a:r>
              <a:rPr lang="en-US" sz="3000" b="1" dirty="0">
                <a:solidFill>
                  <a:srgbClr val="F5F7FB"/>
                </a:solidFill>
                <a:latin typeface="Arial" pitchFamily="34" charset="0"/>
                <a:ea typeface="Arial" pitchFamily="34" charset="-122"/>
                <a:cs typeface="Arial" pitchFamily="34" charset="-120"/>
              </a:rPr>
              <a:t>— each stage deliberately tells you less than the last.</a:t>
            </a:r>
            <a:endParaRPr lang="en-US" sz="3000" dirty="0"/>
          </a:p>
        </p:txBody>
      </p:sp>
      <p:sp>
        <p:nvSpPr>
          <p:cNvPr id="7" name="Text 5"/>
          <p:cNvSpPr/>
          <p:nvPr/>
        </p:nvSpPr>
        <p:spPr>
          <a:xfrm>
            <a:off x="800100" y="5750049"/>
            <a:ext cx="15304770" cy="1239589"/>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course does not gradually raise difficulty while holding your hand. It gradually removes the hand. Early material demonstrates; later material expects you to determine the approach yourself, because that is the condition of a real engagement.</a:t>
            </a:r>
            <a:endParaRPr lang="en-US" sz="21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73367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THE MODEL IN STAGES</a:t>
            </a:r>
            <a:endParaRPr lang="en-US" sz="1650" dirty="0"/>
          </a:p>
        </p:txBody>
      </p:sp>
      <p:sp>
        <p:nvSpPr>
          <p:cNvPr id="4" name="Text 2"/>
          <p:cNvSpPr/>
          <p:nvPr/>
        </p:nvSpPr>
        <p:spPr>
          <a:xfrm>
            <a:off x="800100" y="3228975"/>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How certainty is withdrawn</a:t>
            </a:r>
            <a:endParaRPr lang="en-US" sz="3000" dirty="0"/>
          </a:p>
        </p:txBody>
      </p:sp>
      <p:sp>
        <p:nvSpPr>
          <p:cNvPr id="5" name="Shape 3"/>
          <p:cNvSpPr/>
          <p:nvPr/>
        </p:nvSpPr>
        <p:spPr>
          <a:xfrm>
            <a:off x="800100" y="3895725"/>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07670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08622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a:t>
            </a:r>
            <a:endParaRPr lang="en-US" sz="1650" dirty="0"/>
          </a:p>
        </p:txBody>
      </p:sp>
      <p:sp>
        <p:nvSpPr>
          <p:cNvPr id="8" name="Text 6"/>
          <p:cNvSpPr/>
          <p:nvPr/>
        </p:nvSpPr>
        <p:spPr>
          <a:xfrm>
            <a:off x="1952625" y="4150519"/>
            <a:ext cx="910658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Demonstrated — the material shows the technique and the reasoning behind it</a:t>
            </a:r>
            <a:endParaRPr lang="en-US" sz="1950" dirty="0"/>
          </a:p>
        </p:txBody>
      </p:sp>
      <p:sp>
        <p:nvSpPr>
          <p:cNvPr id="9" name="Shape 7"/>
          <p:cNvSpPr/>
          <p:nvPr/>
        </p:nvSpPr>
        <p:spPr>
          <a:xfrm>
            <a:off x="800100" y="4848225"/>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02920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03872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a:t>
            </a:r>
            <a:endParaRPr lang="en-US" sz="1650" dirty="0"/>
          </a:p>
        </p:txBody>
      </p:sp>
      <p:sp>
        <p:nvSpPr>
          <p:cNvPr id="12" name="Text 10"/>
          <p:cNvSpPr/>
          <p:nvPr/>
        </p:nvSpPr>
        <p:spPr>
          <a:xfrm>
            <a:off x="1952625" y="5103019"/>
            <a:ext cx="8813051"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Guided — exercises ask you to reproduce the technique with the goal stated</a:t>
            </a:r>
            <a:endParaRPr lang="en-US" sz="1950" dirty="0"/>
          </a:p>
        </p:txBody>
      </p:sp>
      <p:sp>
        <p:nvSpPr>
          <p:cNvPr id="13" name="Shape 11"/>
          <p:cNvSpPr/>
          <p:nvPr/>
        </p:nvSpPr>
        <p:spPr>
          <a:xfrm>
            <a:off x="800100" y="5800725"/>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598170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599122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a:t>
            </a:r>
            <a:endParaRPr lang="en-US" sz="1650" dirty="0"/>
          </a:p>
        </p:txBody>
      </p:sp>
      <p:sp>
        <p:nvSpPr>
          <p:cNvPr id="16" name="Text 14"/>
          <p:cNvSpPr/>
          <p:nvPr/>
        </p:nvSpPr>
        <p:spPr>
          <a:xfrm>
            <a:off x="1952625" y="6055519"/>
            <a:ext cx="7842572"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Applied — a scenario states an outcome and leaves the route to you</a:t>
            </a:r>
            <a:endParaRPr lang="en-US" sz="1950" dirty="0"/>
          </a:p>
        </p:txBody>
      </p:sp>
      <p:sp>
        <p:nvSpPr>
          <p:cNvPr id="17" name="Shape 15"/>
          <p:cNvSpPr/>
          <p:nvPr/>
        </p:nvSpPr>
        <p:spPr>
          <a:xfrm>
            <a:off x="800100" y="6753225"/>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693420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694372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4</a:t>
            </a:r>
            <a:endParaRPr lang="en-US" sz="1650" dirty="0"/>
          </a:p>
        </p:txBody>
      </p:sp>
      <p:sp>
        <p:nvSpPr>
          <p:cNvPr id="20" name="Text 18"/>
          <p:cNvSpPr/>
          <p:nvPr/>
        </p:nvSpPr>
        <p:spPr>
          <a:xfrm>
            <a:off x="1952625" y="7008019"/>
            <a:ext cx="12251062"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Unscripted — nothing is stated but the objective, which is where Module 23, Assembling the Pieces, lands</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1732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4289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1.2 · Task 2 of 2</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Understanding the learning components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PEN-200 delivers learning through several distinct components rather than one continuous text. The syllabus makes recognising them, and what each is for, an explicit objective.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Reading builds recognition; exercises build recall; applied work builds judgement. A learner using only the first will recognise a technique in a write-up and still fail to produce it unaided.</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TRADE-OFF</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Component variety costs time. The learner who skips the slower components moves faster through the syllabus and slower through the certification.</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34067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83597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Increasing uncertainty is not increasing difficulty</a:t>
            </a:r>
            <a:endParaRPr lang="en-US" sz="3000" dirty="0"/>
          </a:p>
        </p:txBody>
      </p:sp>
      <p:sp>
        <p:nvSpPr>
          <p:cNvPr id="5" name="Shape 3"/>
          <p:cNvSpPr/>
          <p:nvPr/>
        </p:nvSpPr>
        <p:spPr>
          <a:xfrm>
            <a:off x="800100" y="4502721"/>
            <a:ext cx="7581900" cy="1795463"/>
          </a:xfrm>
          <a:prstGeom prst="roundRect">
            <a:avLst>
              <a:gd name="adj" fmla="val 8488"/>
            </a:avLst>
          </a:prstGeom>
          <a:solidFill>
            <a:srgbClr val="FF6A00">
              <a:alpha val="6000"/>
            </a:srgbClr>
          </a:solidFill>
          <a:ln w="9525">
            <a:solidFill>
              <a:srgbClr val="B85100"/>
            </a:solidFill>
            <a:prstDash val="solid"/>
          </a:ln>
        </p:spPr>
      </p:sp>
      <p:sp>
        <p:nvSpPr>
          <p:cNvPr id="6" name="Text 4"/>
          <p:cNvSpPr/>
          <p:nvPr/>
        </p:nvSpPr>
        <p:spPr>
          <a:xfrm>
            <a:off x="1038225" y="474084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INCREASING UNCERTAINTY</a:t>
            </a:r>
            <a:endParaRPr lang="en-US" sz="1500" dirty="0"/>
          </a:p>
        </p:txBody>
      </p:sp>
      <p:sp>
        <p:nvSpPr>
          <p:cNvPr id="7" name="Text 5"/>
          <p:cNvSpPr/>
          <p:nvPr/>
        </p:nvSpPr>
        <p:spPr>
          <a:xfrm>
            <a:off x="1038225" y="5059933"/>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variable is how much you are told. The technique may be no harder — you are simply no longer told which one to reach for, or that it is the right one.</a:t>
            </a:r>
            <a:endParaRPr lang="en-US" sz="1875" dirty="0"/>
          </a:p>
        </p:txBody>
      </p:sp>
      <p:sp>
        <p:nvSpPr>
          <p:cNvPr id="8" name="Text 6"/>
          <p:cNvSpPr/>
          <p:nvPr/>
        </p:nvSpPr>
        <p:spPr>
          <a:xfrm>
            <a:off x="8534400" y="4502721"/>
            <a:ext cx="1219200" cy="1833563"/>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502721"/>
            <a:ext cx="7581900"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10144125" y="474084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INCREASING DIFFICULTY</a:t>
            </a:r>
            <a:endParaRPr lang="en-US" sz="1500" dirty="0"/>
          </a:p>
        </p:txBody>
      </p:sp>
      <p:sp>
        <p:nvSpPr>
          <p:cNvPr id="11" name="Text 9"/>
          <p:cNvSpPr/>
          <p:nvPr/>
        </p:nvSpPr>
        <p:spPr>
          <a:xfrm>
            <a:off x="10144125" y="5059933"/>
            <a:ext cx="7318820"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variable is the target. Harder targets, more obscure vulnerabilities, deeper chains — while still being told what you are looking for.</a:t>
            </a:r>
            <a:endParaRPr lang="en-US" sz="1875" dirty="0"/>
          </a:p>
        </p:txBody>
      </p:sp>
      <p:sp>
        <p:nvSpPr>
          <p:cNvPr id="12" name="Text 10"/>
          <p:cNvSpPr/>
          <p:nvPr/>
        </p:nvSpPr>
        <p:spPr>
          <a:xfrm>
            <a:off x="800100" y="6545833"/>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Watch for: a learner who says "this got hard suddenly" at Module 23. Usually nothing got harder; the instructions stopped.</a:t>
            </a:r>
            <a:endParaRPr lang="en-US" sz="21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140422"/>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CONNECTS TO</a:t>
            </a:r>
            <a:endParaRPr lang="en-US" sz="1650" dirty="0"/>
          </a:p>
        </p:txBody>
      </p:sp>
      <p:sp>
        <p:nvSpPr>
          <p:cNvPr id="4" name="Text 2"/>
          <p:cNvSpPr/>
          <p:nvPr/>
        </p:nvSpPr>
        <p:spPr>
          <a:xfrm>
            <a:off x="800100" y="363572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Module 3: Effective Learning Strategies</a:t>
            </a:r>
            <a:endParaRPr lang="en-US" sz="3000" dirty="0"/>
          </a:p>
        </p:txBody>
      </p:sp>
      <p:sp>
        <p:nvSpPr>
          <p:cNvPr id="5" name="Text 3"/>
          <p:cNvSpPr/>
          <p:nvPr/>
        </p:nvSpPr>
        <p:spPr>
          <a:xfrm>
            <a:off x="800100" y="4302472"/>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Module 1 states how the course is designed to be learned. Module 3 explains why that design works, and gives the learner concrete tactics to work with it.</a:t>
            </a:r>
            <a:endParaRPr lang="en-US" sz="2175" dirty="0"/>
          </a:p>
        </p:txBody>
      </p:sp>
      <p:sp>
        <p:nvSpPr>
          <p:cNvPr id="6" name="Shape 4"/>
          <p:cNvSpPr/>
          <p:nvPr/>
        </p:nvSpPr>
        <p:spPr>
          <a:xfrm>
            <a:off x="800100" y="5351115"/>
            <a:ext cx="5435575" cy="1795463"/>
          </a:xfrm>
          <a:prstGeom prst="roundRect">
            <a:avLst>
              <a:gd name="adj" fmla="val 8488"/>
            </a:avLst>
          </a:prstGeom>
          <a:solidFill>
            <a:srgbClr val="FFFFFF">
              <a:alpha val="2000"/>
            </a:srgbClr>
          </a:solidFill>
          <a:ln w="9525">
            <a:solidFill>
              <a:srgbClr val="2A2F3A"/>
            </a:solidFill>
            <a:prstDash val="solid"/>
          </a:ln>
        </p:spPr>
      </p:sp>
      <p:sp>
        <p:nvSpPr>
          <p:cNvPr id="7" name="Text 5"/>
          <p:cNvSpPr/>
          <p:nvPr/>
        </p:nvSpPr>
        <p:spPr>
          <a:xfrm>
            <a:off x="1038225" y="5589240"/>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THEORY</a:t>
            </a:r>
            <a:endParaRPr lang="en-US" sz="1500" dirty="0"/>
          </a:p>
        </p:txBody>
      </p:sp>
      <p:sp>
        <p:nvSpPr>
          <p:cNvPr id="8" name="Text 6"/>
          <p:cNvSpPr/>
          <p:nvPr/>
        </p:nvSpPr>
        <p:spPr>
          <a:xfrm>
            <a:off x="1038225" y="5908328"/>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Memory mechanisms, dual encoding, the Curve of Forgetting, and cognitive load.</a:t>
            </a:r>
            <a:endParaRPr lang="en-US" sz="1875" dirty="0"/>
          </a:p>
        </p:txBody>
      </p:sp>
      <p:sp>
        <p:nvSpPr>
          <p:cNvPr id="9" name="Shape 7"/>
          <p:cNvSpPr/>
          <p:nvPr/>
        </p:nvSpPr>
        <p:spPr>
          <a:xfrm>
            <a:off x="6426175" y="5351115"/>
            <a:ext cx="543557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6664300" y="5589240"/>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11" name="Text 9"/>
          <p:cNvSpPr/>
          <p:nvPr/>
        </p:nvSpPr>
        <p:spPr>
          <a:xfrm>
            <a:off x="6664300" y="5908328"/>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OffSec's Demonstrative Methodology, and the unique challenges of learning technical skills remotely.</a:t>
            </a:r>
            <a:endParaRPr lang="en-US" sz="1875" dirty="0"/>
          </a:p>
        </p:txBody>
      </p:sp>
      <p:sp>
        <p:nvSpPr>
          <p:cNvPr id="12" name="Shape 10"/>
          <p:cNvSpPr/>
          <p:nvPr/>
        </p:nvSpPr>
        <p:spPr>
          <a:xfrm>
            <a:off x="12052250" y="5351115"/>
            <a:ext cx="5435650"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12290375" y="5589240"/>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TACTICS</a:t>
            </a:r>
            <a:endParaRPr lang="en-US" sz="1500" dirty="0"/>
          </a:p>
        </p:txBody>
      </p:sp>
      <p:sp>
        <p:nvSpPr>
          <p:cNvPr id="14" name="Text 12"/>
          <p:cNvSpPr/>
          <p:nvPr/>
        </p:nvSpPr>
        <p:spPr>
          <a:xfrm>
            <a:off x="12290375" y="5908328"/>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Retrieval practice, spaced practice, SQ3R and PQ4R, the Feynman Technique, and the Leitner System.</a:t>
            </a:r>
            <a:endParaRPr lang="en-US" sz="18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1.2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How to Approach the Course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MODEL</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Increasing uncertainty: the course progressively withdraws instruction rather than progressively raising target difficulty.</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COMPONENTS</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Several distinct learning components, each serving a different purpose — recognition, recall, and judgement.</a:t>
            </a:r>
            <a:endParaRPr lang="en-US" sz="18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16305" y="4091955"/>
            <a:ext cx="2055391"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1.3</a:t>
            </a:r>
            <a:endParaRPr lang="en-US" sz="1650" dirty="0"/>
          </a:p>
        </p:txBody>
      </p:sp>
      <p:sp>
        <p:nvSpPr>
          <p:cNvPr id="4" name="Text 2"/>
          <p:cNvSpPr/>
          <p:nvPr/>
        </p:nvSpPr>
        <p:spPr>
          <a:xfrm>
            <a:off x="1366994" y="4606305"/>
            <a:ext cx="15554012"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Summary of PWK Learning Modules</a:t>
            </a:r>
            <a:endParaRPr lang="en-US" sz="6600" dirty="0"/>
          </a:p>
        </p:txBody>
      </p:sp>
      <p:sp>
        <p:nvSpPr>
          <p:cNvPr id="5" name="Text 3"/>
          <p:cNvSpPr/>
          <p:nvPr/>
        </p:nvSpPr>
        <p:spPr>
          <a:xfrm>
            <a:off x="3210706" y="5753100"/>
            <a:ext cx="11866587" cy="480045"/>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Obtain a high-level overview of what is covered in each PEN-200 Learning Module.</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140422"/>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THE ARC OF THE COURSE</a:t>
            </a:r>
            <a:endParaRPr lang="en-US" sz="1650" dirty="0"/>
          </a:p>
        </p:txBody>
      </p:sp>
      <p:sp>
        <p:nvSpPr>
          <p:cNvPr id="4" name="Text 2"/>
          <p:cNvSpPr/>
          <p:nvPr/>
        </p:nvSpPr>
        <p:spPr>
          <a:xfrm>
            <a:off x="800100" y="363572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From orientation to a full attack chain</a:t>
            </a:r>
            <a:endParaRPr lang="en-US" sz="3000" dirty="0"/>
          </a:p>
        </p:txBody>
      </p:sp>
      <p:sp>
        <p:nvSpPr>
          <p:cNvPr id="5" name="Shape 3"/>
          <p:cNvSpPr/>
          <p:nvPr/>
        </p:nvSpPr>
        <p:spPr>
          <a:xfrm>
            <a:off x="800100" y="4469160"/>
            <a:ext cx="3657600"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4707285"/>
            <a:ext cx="349948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MODULES 1–4</a:t>
            </a:r>
            <a:endParaRPr lang="en-US" sz="1500" dirty="0"/>
          </a:p>
        </p:txBody>
      </p:sp>
      <p:sp>
        <p:nvSpPr>
          <p:cNvPr id="7" name="Text 5"/>
          <p:cNvSpPr/>
          <p:nvPr/>
        </p:nvSpPr>
        <p:spPr>
          <a:xfrm>
            <a:off x="1038225" y="5026372"/>
            <a:ext cx="327679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Orientation, mindset, learning method and reporting.</a:t>
            </a:r>
            <a:endParaRPr lang="en-US" sz="1875" dirty="0"/>
          </a:p>
        </p:txBody>
      </p:sp>
      <p:sp>
        <p:nvSpPr>
          <p:cNvPr id="8" name="Text 6"/>
          <p:cNvSpPr/>
          <p:nvPr/>
        </p:nvSpPr>
        <p:spPr>
          <a:xfrm>
            <a:off x="4514850" y="4952554"/>
            <a:ext cx="571500" cy="533400"/>
          </a:xfrm>
          <a:prstGeom prst="rect">
            <a:avLst/>
          </a:prstGeom>
          <a:noFill/>
          <a:ln/>
        </p:spPr>
        <p:txBody>
          <a:bodyPr wrap="square" lIns="25400" tIns="25400" rIns="25400" bIns="25400" rtlCol="0" anchor="ctr">
            <a:normAutofit/>
          </a:bodyPr>
          <a:lstStyle/>
          <a:p>
            <a:pPr algn="ctr" indent="0" marL="0">
              <a:buNone/>
            </a:pPr>
            <a:r>
              <a:rPr lang="en-US" sz="3300" dirty="0">
                <a:solidFill>
                  <a:srgbClr val="FF6A00"/>
                </a:solidFill>
                <a:latin typeface="Arial" pitchFamily="34" charset="0"/>
                <a:ea typeface="Arial" pitchFamily="34" charset="-122"/>
                <a:cs typeface="Arial" pitchFamily="34" charset="-120"/>
              </a:rPr>
              <a:t>→</a:t>
            </a:r>
            <a:endParaRPr lang="en-US" sz="3300" dirty="0"/>
          </a:p>
        </p:txBody>
      </p:sp>
      <p:sp>
        <p:nvSpPr>
          <p:cNvPr id="9" name="Shape 7"/>
          <p:cNvSpPr/>
          <p:nvPr/>
        </p:nvSpPr>
        <p:spPr>
          <a:xfrm>
            <a:off x="5143500" y="4469160"/>
            <a:ext cx="3657600" cy="1462088"/>
          </a:xfrm>
          <a:prstGeom prst="roundRect">
            <a:avLst>
              <a:gd name="adj" fmla="val 10423"/>
            </a:avLst>
          </a:prstGeom>
          <a:solidFill>
            <a:srgbClr val="FFFFFF">
              <a:alpha val="2000"/>
            </a:srgbClr>
          </a:solidFill>
          <a:ln w="9525">
            <a:solidFill>
              <a:srgbClr val="2A2F3A"/>
            </a:solidFill>
            <a:prstDash val="solid"/>
          </a:ln>
        </p:spPr>
      </p:sp>
      <p:sp>
        <p:nvSpPr>
          <p:cNvPr id="10" name="Text 8"/>
          <p:cNvSpPr/>
          <p:nvPr/>
        </p:nvSpPr>
        <p:spPr>
          <a:xfrm>
            <a:off x="5381625" y="4707285"/>
            <a:ext cx="349948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MODULES 5–9</a:t>
            </a:r>
            <a:endParaRPr lang="en-US" sz="1500" dirty="0"/>
          </a:p>
        </p:txBody>
      </p:sp>
      <p:sp>
        <p:nvSpPr>
          <p:cNvPr id="11" name="Text 9"/>
          <p:cNvSpPr/>
          <p:nvPr/>
        </p:nvSpPr>
        <p:spPr>
          <a:xfrm>
            <a:off x="5381625" y="5026372"/>
            <a:ext cx="327679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Enumeration, scanning and web application attacks.</a:t>
            </a:r>
            <a:endParaRPr lang="en-US" sz="1875" dirty="0"/>
          </a:p>
        </p:txBody>
      </p:sp>
      <p:sp>
        <p:nvSpPr>
          <p:cNvPr id="12" name="Text 10"/>
          <p:cNvSpPr/>
          <p:nvPr/>
        </p:nvSpPr>
        <p:spPr>
          <a:xfrm>
            <a:off x="8858250" y="4952554"/>
            <a:ext cx="571500" cy="533400"/>
          </a:xfrm>
          <a:prstGeom prst="rect">
            <a:avLst/>
          </a:prstGeom>
          <a:noFill/>
          <a:ln/>
        </p:spPr>
        <p:txBody>
          <a:bodyPr wrap="square" lIns="25400" tIns="25400" rIns="25400" bIns="25400" rtlCol="0" anchor="ctr">
            <a:normAutofit/>
          </a:bodyPr>
          <a:lstStyle/>
          <a:p>
            <a:pPr algn="ctr" indent="0" marL="0">
              <a:buNone/>
            </a:pPr>
            <a:r>
              <a:rPr lang="en-US" sz="3300" dirty="0">
                <a:solidFill>
                  <a:srgbClr val="FF6A00"/>
                </a:solidFill>
                <a:latin typeface="Arial" pitchFamily="34" charset="0"/>
                <a:ea typeface="Arial" pitchFamily="34" charset="-122"/>
                <a:cs typeface="Arial" pitchFamily="34" charset="-120"/>
              </a:rPr>
              <a:t>→</a:t>
            </a:r>
            <a:endParaRPr lang="en-US" sz="3300" dirty="0"/>
          </a:p>
        </p:txBody>
      </p:sp>
      <p:sp>
        <p:nvSpPr>
          <p:cNvPr id="13" name="Shape 11"/>
          <p:cNvSpPr/>
          <p:nvPr/>
        </p:nvSpPr>
        <p:spPr>
          <a:xfrm>
            <a:off x="9486900" y="4302472"/>
            <a:ext cx="3657600" cy="1795463"/>
          </a:xfrm>
          <a:prstGeom prst="roundRect">
            <a:avLst>
              <a:gd name="adj" fmla="val 8488"/>
            </a:avLst>
          </a:prstGeom>
          <a:solidFill>
            <a:srgbClr val="FFFFFF">
              <a:alpha val="2000"/>
            </a:srgbClr>
          </a:solidFill>
          <a:ln w="9525">
            <a:solidFill>
              <a:srgbClr val="2A2F3A"/>
            </a:solidFill>
            <a:prstDash val="solid"/>
          </a:ln>
        </p:spPr>
      </p:sp>
      <p:sp>
        <p:nvSpPr>
          <p:cNvPr id="14" name="Text 12"/>
          <p:cNvSpPr/>
          <p:nvPr/>
        </p:nvSpPr>
        <p:spPr>
          <a:xfrm>
            <a:off x="9725025" y="4540597"/>
            <a:ext cx="349948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MODULES 10–19</a:t>
            </a:r>
            <a:endParaRPr lang="en-US" sz="1500" dirty="0"/>
          </a:p>
        </p:txBody>
      </p:sp>
      <p:sp>
        <p:nvSpPr>
          <p:cNvPr id="15" name="Text 13"/>
          <p:cNvSpPr/>
          <p:nvPr/>
        </p:nvSpPr>
        <p:spPr>
          <a:xfrm>
            <a:off x="9725025" y="4859685"/>
            <a:ext cx="327679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Exploitation, evasion, credentials, escalation and pivoting.</a:t>
            </a:r>
            <a:endParaRPr lang="en-US" sz="1875" dirty="0"/>
          </a:p>
        </p:txBody>
      </p:sp>
      <p:sp>
        <p:nvSpPr>
          <p:cNvPr id="16" name="Text 14"/>
          <p:cNvSpPr/>
          <p:nvPr/>
        </p:nvSpPr>
        <p:spPr>
          <a:xfrm>
            <a:off x="13201650" y="4952554"/>
            <a:ext cx="571500" cy="533400"/>
          </a:xfrm>
          <a:prstGeom prst="rect">
            <a:avLst/>
          </a:prstGeom>
          <a:noFill/>
          <a:ln/>
        </p:spPr>
        <p:txBody>
          <a:bodyPr wrap="square" lIns="25400" tIns="25400" rIns="25400" bIns="25400" rtlCol="0" anchor="ctr">
            <a:normAutofit/>
          </a:bodyPr>
          <a:lstStyle/>
          <a:p>
            <a:pPr algn="ctr" indent="0" marL="0">
              <a:buNone/>
            </a:pPr>
            <a:r>
              <a:rPr lang="en-US" sz="3300" dirty="0">
                <a:solidFill>
                  <a:srgbClr val="FF6A00"/>
                </a:solidFill>
                <a:latin typeface="Arial" pitchFamily="34" charset="0"/>
                <a:ea typeface="Arial" pitchFamily="34" charset="-122"/>
                <a:cs typeface="Arial" pitchFamily="34" charset="-120"/>
              </a:rPr>
              <a:t>→</a:t>
            </a:r>
            <a:endParaRPr lang="en-US" sz="3300" dirty="0"/>
          </a:p>
        </p:txBody>
      </p:sp>
      <p:sp>
        <p:nvSpPr>
          <p:cNvPr id="17" name="Shape 15"/>
          <p:cNvSpPr/>
          <p:nvPr/>
        </p:nvSpPr>
        <p:spPr>
          <a:xfrm>
            <a:off x="13830300" y="4302472"/>
            <a:ext cx="3657600" cy="1795463"/>
          </a:xfrm>
          <a:prstGeom prst="roundRect">
            <a:avLst>
              <a:gd name="adj" fmla="val 8488"/>
            </a:avLst>
          </a:prstGeom>
          <a:solidFill>
            <a:srgbClr val="FFFFFF">
              <a:alpha val="2000"/>
            </a:srgbClr>
          </a:solidFill>
          <a:ln w="9525">
            <a:solidFill>
              <a:srgbClr val="2A2F3A"/>
            </a:solidFill>
            <a:prstDash val="solid"/>
          </a:ln>
        </p:spPr>
      </p:sp>
      <p:sp>
        <p:nvSpPr>
          <p:cNvPr id="18" name="Text 16"/>
          <p:cNvSpPr/>
          <p:nvPr/>
        </p:nvSpPr>
        <p:spPr>
          <a:xfrm>
            <a:off x="14068425" y="4540597"/>
            <a:ext cx="349948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MODULES 20–24</a:t>
            </a:r>
            <a:endParaRPr lang="en-US" sz="1500" dirty="0"/>
          </a:p>
        </p:txBody>
      </p:sp>
      <p:sp>
        <p:nvSpPr>
          <p:cNvPr id="19" name="Text 17"/>
          <p:cNvSpPr/>
          <p:nvPr/>
        </p:nvSpPr>
        <p:spPr>
          <a:xfrm>
            <a:off x="14068425" y="4859685"/>
            <a:ext cx="327679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Active Directory, then consolidation of the whole chain.</a:t>
            </a:r>
            <a:endParaRPr lang="en-US" sz="1875" dirty="0"/>
          </a:p>
        </p:txBody>
      </p:sp>
      <p:sp>
        <p:nvSpPr>
          <p:cNvPr id="20" name="Text 18"/>
          <p:cNvSpPr/>
          <p:nvPr/>
        </p:nvSpPr>
        <p:spPr>
          <a:xfrm>
            <a:off x="800100" y="6345585"/>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order is not arbitrary. You cannot escalate on a host you have not exploited, and you cannot exploit a service you have not enumerated.</a:t>
            </a:r>
            <a:endParaRPr lang="en-US" sz="21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106936"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83819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Modules 1–4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Orientation, mindset and method</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opening block establishes how to work before establishing what to do. It covers the course itself, the security context a tester operates in, how to learn technical skills, and how to record and communicate findings.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 SCOPE</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2 covers threats and threat actors, the CIA triad, security principles and controls, and the legal and regulatory landscape. Module 4 covers note-taking, note portability, screenshots and technical report structure.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report is the deliverable a client pays for. A tester who compromises a domain and cannot evidence it has produced nothing of commercial value.</a:t>
            </a:r>
            <a:endParaRPr lang="en-US" sz="18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566541"/>
            <a:ext cx="275532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652266"/>
            <a:ext cx="247603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2</a:t>
            </a:r>
            <a:endParaRPr lang="en-US" sz="1500" dirty="0"/>
          </a:p>
        </p:txBody>
      </p:sp>
      <p:sp>
        <p:nvSpPr>
          <p:cNvPr id="5" name="Text 3"/>
          <p:cNvSpPr/>
          <p:nvPr/>
        </p:nvSpPr>
        <p:spPr>
          <a:xfrm>
            <a:off x="800100" y="320947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Introduction to Cybersecurity</a:t>
            </a:r>
            <a:endParaRPr lang="en-US" sz="3000" dirty="0"/>
          </a:p>
        </p:txBody>
      </p:sp>
      <p:sp>
        <p:nvSpPr>
          <p:cNvPr id="6" name="Text 4"/>
          <p:cNvSpPr/>
          <p:nvPr/>
        </p:nvSpPr>
        <p:spPr>
          <a:xfrm>
            <a:off x="800100" y="387622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Six Learning Units establish the professional context a penetration tester works inside: the practice itself, who the adversaries are, what is being protected, how organisations defend, and what the law requires.</a:t>
            </a:r>
            <a:endParaRPr lang="en-US" sz="2175" dirty="0"/>
          </a:p>
        </p:txBody>
      </p:sp>
      <p:sp>
        <p:nvSpPr>
          <p:cNvPr id="7" name="Shape 5"/>
          <p:cNvSpPr/>
          <p:nvPr/>
        </p:nvSpPr>
        <p:spPr>
          <a:xfrm>
            <a:off x="800100" y="4924871"/>
            <a:ext cx="5435575" cy="2795588"/>
          </a:xfrm>
          <a:prstGeom prst="roundRect">
            <a:avLst>
              <a:gd name="adj" fmla="val 5451"/>
            </a:avLst>
          </a:prstGeom>
          <a:solidFill>
            <a:srgbClr val="FFFFFF">
              <a:alpha val="2000"/>
            </a:srgbClr>
          </a:solidFill>
          <a:ln w="9525">
            <a:solidFill>
              <a:srgbClr val="2A2F3A"/>
            </a:solidFill>
            <a:prstDash val="solid"/>
          </a:ln>
        </p:spPr>
      </p:sp>
      <p:sp>
        <p:nvSpPr>
          <p:cNvPr id="8" name="Text 6"/>
          <p:cNvSpPr/>
          <p:nvPr/>
        </p:nvSpPr>
        <p:spPr>
          <a:xfrm>
            <a:off x="1038225" y="516299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PRACTICE AND THREATS</a:t>
            </a:r>
            <a:endParaRPr lang="en-US" sz="1500" dirty="0"/>
          </a:p>
        </p:txBody>
      </p:sp>
      <p:sp>
        <p:nvSpPr>
          <p:cNvPr id="9" name="Text 7"/>
          <p:cNvSpPr/>
          <p:nvPr/>
        </p:nvSpPr>
        <p:spPr>
          <a:xfrm>
            <a:off x="1038225" y="5482084"/>
            <a:ext cx="5108105" cy="20383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challenges unique to information security, how offensive and defensive security reflect each other, how attackers and defenders learn from each other, the difference between risks, threats, vulnerabilities and exploits, and the classes of threat actor.</a:t>
            </a:r>
            <a:endParaRPr lang="en-US" sz="1875" dirty="0"/>
          </a:p>
        </p:txBody>
      </p:sp>
      <p:sp>
        <p:nvSpPr>
          <p:cNvPr id="10" name="Shape 8"/>
          <p:cNvSpPr/>
          <p:nvPr/>
        </p:nvSpPr>
        <p:spPr>
          <a:xfrm>
            <a:off x="6426175" y="4924871"/>
            <a:ext cx="5435575" cy="2795588"/>
          </a:xfrm>
          <a:prstGeom prst="roundRect">
            <a:avLst>
              <a:gd name="adj" fmla="val 5451"/>
            </a:avLst>
          </a:prstGeom>
          <a:solidFill>
            <a:srgbClr val="FFFFFF">
              <a:alpha val="2000"/>
            </a:srgbClr>
          </a:solidFill>
          <a:ln w="9525">
            <a:solidFill>
              <a:srgbClr val="2A2F3A"/>
            </a:solidFill>
            <a:prstDash val="solid"/>
          </a:ln>
        </p:spPr>
      </p:sp>
      <p:sp>
        <p:nvSpPr>
          <p:cNvPr id="11" name="Text 9"/>
          <p:cNvSpPr/>
          <p:nvPr/>
        </p:nvSpPr>
        <p:spPr>
          <a:xfrm>
            <a:off x="6664300" y="516299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PRINCIPLES AND CONTROLS</a:t>
            </a:r>
            <a:endParaRPr lang="en-US" sz="1500" dirty="0"/>
          </a:p>
        </p:txBody>
      </p:sp>
      <p:sp>
        <p:nvSpPr>
          <p:cNvPr id="12" name="Text 10"/>
          <p:cNvSpPr/>
          <p:nvPr/>
        </p:nvSpPr>
        <p:spPr>
          <a:xfrm>
            <a:off x="6664300" y="5482084"/>
            <a:ext cx="5108105" cy="17049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CIA triad in full — confidentiality, integrity, availability — then layered defence, threat intelligence, least privilege, why security must not depend on secrecy, and the policies and controls that mitigate threats.</a:t>
            </a:r>
            <a:endParaRPr lang="en-US" sz="1875" dirty="0"/>
          </a:p>
        </p:txBody>
      </p:sp>
      <p:sp>
        <p:nvSpPr>
          <p:cNvPr id="13" name="Shape 11"/>
          <p:cNvSpPr/>
          <p:nvPr/>
        </p:nvSpPr>
        <p:spPr>
          <a:xfrm>
            <a:off x="12052250" y="4924871"/>
            <a:ext cx="5435650" cy="2795588"/>
          </a:xfrm>
          <a:prstGeom prst="roundRect">
            <a:avLst>
              <a:gd name="adj" fmla="val 5451"/>
            </a:avLst>
          </a:prstGeom>
          <a:solidFill>
            <a:srgbClr val="FFFFFF">
              <a:alpha val="2000"/>
            </a:srgbClr>
          </a:solidFill>
          <a:ln w="9525">
            <a:solidFill>
              <a:srgbClr val="2A2F3A"/>
            </a:solidFill>
            <a:prstDash val="solid"/>
          </a:ln>
        </p:spPr>
      </p:sp>
      <p:sp>
        <p:nvSpPr>
          <p:cNvPr id="14" name="Text 12"/>
          <p:cNvSpPr/>
          <p:nvPr/>
        </p:nvSpPr>
        <p:spPr>
          <a:xfrm>
            <a:off x="12290375" y="5162996"/>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LAW AND CAREER</a:t>
            </a:r>
            <a:endParaRPr lang="en-US" sz="1500" dirty="0"/>
          </a:p>
        </p:txBody>
      </p:sp>
      <p:sp>
        <p:nvSpPr>
          <p:cNvPr id="15" name="Text 13"/>
          <p:cNvSpPr/>
          <p:nvPr/>
        </p:nvSpPr>
        <p:spPr>
          <a:xfrm>
            <a:off x="12290375" y="5482084"/>
            <a:ext cx="5108182"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legal and regulatory issues surrounding cybersecurity, the frameworks and standards organisations orient their activity around, and career opportunities in the field.</a:t>
            </a:r>
            <a:endParaRPr lang="en-US" sz="18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99916"/>
            <a:ext cx="276046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85641"/>
            <a:ext cx="248132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3</a:t>
            </a:r>
            <a:endParaRPr lang="en-US" sz="1500" dirty="0"/>
          </a:p>
        </p:txBody>
      </p:sp>
      <p:sp>
        <p:nvSpPr>
          <p:cNvPr id="5" name="Text 3"/>
          <p:cNvSpPr/>
          <p:nvPr/>
        </p:nvSpPr>
        <p:spPr>
          <a:xfrm>
            <a:off x="800100" y="35428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Effective Learning Strategies</a:t>
            </a:r>
            <a:endParaRPr lang="en-US" sz="3000" dirty="0"/>
          </a:p>
        </p:txBody>
      </p:sp>
      <p:sp>
        <p:nvSpPr>
          <p:cNvPr id="6" name="Text 4"/>
          <p:cNvSpPr/>
          <p:nvPr/>
        </p:nvSpPr>
        <p:spPr>
          <a:xfrm>
            <a:off x="800100" y="42096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Seven Learning Units on how to learn a technical skill that will be tested under uncertainty. It explains the model Module 1 introduced and supplies named techniques to work with it.</a:t>
            </a:r>
            <a:endParaRPr lang="en-US" sz="2175" dirty="0"/>
          </a:p>
        </p:txBody>
      </p:sp>
      <p:sp>
        <p:nvSpPr>
          <p:cNvPr id="7" name="Shape 5"/>
          <p:cNvSpPr/>
          <p:nvPr/>
        </p:nvSpPr>
        <p:spPr>
          <a:xfrm>
            <a:off x="800100" y="5258246"/>
            <a:ext cx="8239125"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496371"/>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THEORY AND METHOD</a:t>
            </a:r>
            <a:endParaRPr lang="en-US" sz="1500" dirty="0"/>
          </a:p>
        </p:txBody>
      </p:sp>
      <p:sp>
        <p:nvSpPr>
          <p:cNvPr id="9" name="Text 7"/>
          <p:cNvSpPr/>
          <p:nvPr/>
        </p:nvSpPr>
        <p:spPr>
          <a:xfrm>
            <a:off x="1038225" y="5815459"/>
            <a:ext cx="7995761"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Learning theory, memory mechanisms and dual encoding, the Curve of Forgetting and cognitive load; the unique challenges of learning technical skills digitally and asynchronously; and OffSec's Demonstrative Methodology, illustrated by the </a:t>
            </a:r>
            <a:pPr algn="l" indent="0" marL="0">
              <a:lnSpc>
                <a:spcPct val="120690"/>
              </a:lnSpc>
              <a:buNone/>
            </a:pPr>
            <a:r>
              <a:rPr lang="en-US" sz="1875" i="1" dirty="0">
                <a:solidFill>
                  <a:srgbClr val="DFE3EA"/>
                </a:solidFill>
                <a:latin typeface="Arial" pitchFamily="34" charset="0"/>
                <a:ea typeface="Arial" pitchFamily="34" charset="-122"/>
                <a:cs typeface="Arial" pitchFamily="34" charset="-120"/>
              </a:rPr>
              <a:t>chmod -x chmod </a:t>
            </a:r>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case study.</a:t>
            </a:r>
            <a:endParaRPr lang="en-US" sz="1875" dirty="0"/>
          </a:p>
        </p:txBody>
      </p:sp>
      <p:sp>
        <p:nvSpPr>
          <p:cNvPr id="10" name="Shape 8"/>
          <p:cNvSpPr/>
          <p:nvPr/>
        </p:nvSpPr>
        <p:spPr>
          <a:xfrm>
            <a:off x="9248775" y="5258246"/>
            <a:ext cx="8239125"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9486900" y="5496371"/>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NAMED TACTICS</a:t>
            </a:r>
            <a:endParaRPr lang="en-US" sz="1500" dirty="0"/>
          </a:p>
        </p:txBody>
      </p:sp>
      <p:sp>
        <p:nvSpPr>
          <p:cNvPr id="12" name="Text 10"/>
          <p:cNvSpPr/>
          <p:nvPr/>
        </p:nvSpPr>
        <p:spPr>
          <a:xfrm>
            <a:off x="9486900" y="5815459"/>
            <a:ext cx="7995761"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Retrieval Practice, Spaced Practice, the SQ3R and PQ4R methods, the Feynman Technique and the Leitner System — then advice on exam stress, judging readiness, long-term strategy, time allotment and finding a community of co-learners.</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99916"/>
            <a:ext cx="2763962"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85641"/>
            <a:ext cx="248493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4</a:t>
            </a:r>
            <a:endParaRPr lang="en-US" sz="1500" dirty="0"/>
          </a:p>
        </p:txBody>
      </p:sp>
      <p:sp>
        <p:nvSpPr>
          <p:cNvPr id="5" name="Text 3"/>
          <p:cNvSpPr/>
          <p:nvPr/>
        </p:nvSpPr>
        <p:spPr>
          <a:xfrm>
            <a:off x="800100" y="35428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Report Writing for Penetration Testers</a:t>
            </a:r>
            <a:endParaRPr lang="en-US" sz="3000" dirty="0"/>
          </a:p>
        </p:txBody>
      </p:sp>
      <p:sp>
        <p:nvSpPr>
          <p:cNvPr id="6" name="Text 4"/>
          <p:cNvSpPr/>
          <p:nvPr/>
        </p:nvSpPr>
        <p:spPr>
          <a:xfrm>
            <a:off x="800100" y="42096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Two Learning Units covering the record a tester keeps during an engagement, and the document they hand over at the end of it.</a:t>
            </a:r>
            <a:endParaRPr lang="en-US" sz="2175" dirty="0"/>
          </a:p>
        </p:txBody>
      </p:sp>
      <p:sp>
        <p:nvSpPr>
          <p:cNvPr id="7" name="Shape 5"/>
          <p:cNvSpPr/>
          <p:nvPr/>
        </p:nvSpPr>
        <p:spPr>
          <a:xfrm>
            <a:off x="800100" y="5258246"/>
            <a:ext cx="8239125"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496371"/>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UNDERSTANDING NOTE-TAKING</a:t>
            </a:r>
            <a:endParaRPr lang="en-US" sz="1500" dirty="0"/>
          </a:p>
        </p:txBody>
      </p:sp>
      <p:sp>
        <p:nvSpPr>
          <p:cNvPr id="9" name="Text 7"/>
          <p:cNvSpPr/>
          <p:nvPr/>
        </p:nvSpPr>
        <p:spPr>
          <a:xfrm>
            <a:off x="1038225" y="5815459"/>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deliverables of a penetration testing engagement, the importance of note portability, the general structure of pentesting documentation, choosing the right tool, and why and how to take screenshots.</a:t>
            </a:r>
            <a:endParaRPr lang="en-US" sz="1875" dirty="0"/>
          </a:p>
        </p:txBody>
      </p:sp>
      <p:sp>
        <p:nvSpPr>
          <p:cNvPr id="10" name="Shape 8"/>
          <p:cNvSpPr/>
          <p:nvPr/>
        </p:nvSpPr>
        <p:spPr>
          <a:xfrm>
            <a:off x="9248775" y="5258246"/>
            <a:ext cx="8239125"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9486900" y="5496371"/>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WRITING THE TECHNICAL REPORT</a:t>
            </a:r>
            <a:endParaRPr lang="en-US" sz="1500" dirty="0"/>
          </a:p>
        </p:txBody>
      </p:sp>
      <p:sp>
        <p:nvSpPr>
          <p:cNvPr id="12" name="Text 10"/>
          <p:cNvSpPr/>
          <p:nvPr/>
        </p:nvSpPr>
        <p:spPr>
          <a:xfrm>
            <a:off x="9486900" y="5815459"/>
            <a:ext cx="7995761"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purpose of a technical report, tailoring content to its reader, constructing an executive summary, accounting for test environment considerations, creating a technical summary, describing findings and recommendations, and when to use appendices and references.</a:t>
            </a:r>
            <a:endParaRPr lang="en-US" sz="18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75957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48040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5</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Information Gathering</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penetration testing lifecycle, the role of information gathering within each stage, and the split between passive and active approaches. The first module in which offensive technique is taught.</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PASSIVE</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Two distinct passive approaches, open source intelligence (OSINT), and passive web server and DNS gathering — performed without touching the target directly.</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ACTIVE</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Netcat and Nmap port scanning; DNS, SMB, SMTP and SNMP enumeration; and living off the land techniques.</a:t>
            </a:r>
            <a:endParaRPr lang="en-US" sz="18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763813"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484777"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6</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Vulnerability Scanning</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Scanning theory first — the process, the types of scan, and the considerations that govern their use — then two named toolsets: Nessus and the Nmap Scripting Engine.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NESSUS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Installation, components, configuring and performing a scan, working with results, supplying credentials for an authenticated scan, and understanding plugins.</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NMAP NSE</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basics of the Nmap Scripting Engine, performing a lightweight vulnerability scan, and working with custom NSE scripts.</a:t>
            </a:r>
            <a:endParaRPr lang="en-US" sz="18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99916"/>
            <a:ext cx="312367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85641"/>
            <a:ext cx="285543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Modules 7–9</a:t>
            </a:r>
            <a:endParaRPr lang="en-US" sz="1500" dirty="0"/>
          </a:p>
        </p:txBody>
      </p:sp>
      <p:sp>
        <p:nvSpPr>
          <p:cNvPr id="5" name="Text 3"/>
          <p:cNvSpPr/>
          <p:nvPr/>
        </p:nvSpPr>
        <p:spPr>
          <a:xfrm>
            <a:off x="800100" y="35428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web application track</a:t>
            </a:r>
            <a:endParaRPr lang="en-US" sz="3000" dirty="0"/>
          </a:p>
        </p:txBody>
      </p:sp>
      <p:sp>
        <p:nvSpPr>
          <p:cNvPr id="6" name="Text 4"/>
          <p:cNvSpPr/>
          <p:nvPr/>
        </p:nvSpPr>
        <p:spPr>
          <a:xfrm>
            <a:off x="800100" y="42096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Three consecutive modules take the learner from web assessment methodology through to database compromise, and together form the largest single subject block in the syllabus.</a:t>
            </a:r>
            <a:endParaRPr lang="en-US" sz="2175" dirty="0"/>
          </a:p>
        </p:txBody>
      </p:sp>
      <p:sp>
        <p:nvSpPr>
          <p:cNvPr id="7" name="Shape 5"/>
          <p:cNvSpPr/>
          <p:nvPr/>
        </p:nvSpPr>
        <p:spPr>
          <a:xfrm>
            <a:off x="800100" y="5258246"/>
            <a:ext cx="5435575"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49637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07 · INTRODUCTION</a:t>
            </a:r>
            <a:endParaRPr lang="en-US" sz="1500" dirty="0"/>
          </a:p>
        </p:txBody>
      </p:sp>
      <p:sp>
        <p:nvSpPr>
          <p:cNvPr id="9" name="Text 7"/>
          <p:cNvSpPr/>
          <p:nvPr/>
        </p:nvSpPr>
        <p:spPr>
          <a:xfrm>
            <a:off x="1038225" y="5815459"/>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Assessment methodology, the OWASP Top 10, web proxies and Burp Suite, enumeration of headers, cookies and source, API testing, and Cross-Site Scripting.</a:t>
            </a:r>
            <a:endParaRPr lang="en-US" sz="1875" dirty="0"/>
          </a:p>
        </p:txBody>
      </p:sp>
      <p:sp>
        <p:nvSpPr>
          <p:cNvPr id="10" name="Shape 8"/>
          <p:cNvSpPr/>
          <p:nvPr/>
        </p:nvSpPr>
        <p:spPr>
          <a:xfrm>
            <a:off x="6426175" y="5258246"/>
            <a:ext cx="5435575"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6664300" y="549637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08 · COMMON ATTACKS</a:t>
            </a:r>
            <a:endParaRPr lang="en-US" sz="1500" dirty="0"/>
          </a:p>
        </p:txBody>
      </p:sp>
      <p:sp>
        <p:nvSpPr>
          <p:cNvPr id="12" name="Text 10"/>
          <p:cNvSpPr/>
          <p:nvPr/>
        </p:nvSpPr>
        <p:spPr>
          <a:xfrm>
            <a:off x="6664300" y="5815459"/>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Directory traversal, file inclusion (LFI and RFI, PHP wrappers), file upload vulnerabilities, and command injection.</a:t>
            </a:r>
            <a:endParaRPr lang="en-US" sz="1875" dirty="0"/>
          </a:p>
        </p:txBody>
      </p:sp>
      <p:sp>
        <p:nvSpPr>
          <p:cNvPr id="13" name="Shape 11"/>
          <p:cNvSpPr/>
          <p:nvPr/>
        </p:nvSpPr>
        <p:spPr>
          <a:xfrm>
            <a:off x="12052250" y="5258246"/>
            <a:ext cx="5435650" cy="2128838"/>
          </a:xfrm>
          <a:prstGeom prst="roundRect">
            <a:avLst>
              <a:gd name="adj" fmla="val 7159"/>
            </a:avLst>
          </a:prstGeom>
          <a:solidFill>
            <a:srgbClr val="FFFFFF">
              <a:alpha val="2000"/>
            </a:srgbClr>
          </a:solidFill>
          <a:ln w="9525">
            <a:solidFill>
              <a:srgbClr val="2A2F3A"/>
            </a:solidFill>
            <a:prstDash val="solid"/>
          </a:ln>
        </p:spPr>
      </p:sp>
      <p:sp>
        <p:nvSpPr>
          <p:cNvPr id="14" name="Text 12"/>
          <p:cNvSpPr/>
          <p:nvPr/>
        </p:nvSpPr>
        <p:spPr>
          <a:xfrm>
            <a:off x="12290375" y="5496371"/>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09 · SQL INJECTION</a:t>
            </a:r>
            <a:endParaRPr lang="en-US" sz="1500" dirty="0"/>
          </a:p>
        </p:txBody>
      </p:sp>
      <p:sp>
        <p:nvSpPr>
          <p:cNvPr id="15" name="Text 13"/>
          <p:cNvSpPr/>
          <p:nvPr/>
        </p:nvSpPr>
        <p:spPr>
          <a:xfrm>
            <a:off x="12290375" y="5815459"/>
            <a:ext cx="5108182"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SQL theory and database types, manual exploitation via UNION, error and blind payloads, xp_cmdshell on MSSQL, and automation with SQLmap.</a:t>
            </a:r>
            <a:endParaRPr lang="en-US" sz="18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86881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59292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10</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Client-Side Attacks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target changes from an exposed service to a user's workstation. Reconnaissance and fingerprinting prepare the attack; Microsoft Office and Windows library files carry it.</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 SCOPE</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Target reconnaissance and client fingerprinting, variations of Microsoft Office client-side attacks including Word macros, and abusing Windows library files and shortcuts for code execution.</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23 reuses these techniques verbatim — its final unit, Gaining Access to the Domain Controller, is client-side reconnaissance and fingerprinting again.</a:t>
            </a:r>
            <a:endParaRPr lang="en-US" sz="187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100164"/>
            <a:ext cx="330651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85889"/>
            <a:ext cx="304376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Modules 11–12</a:t>
            </a:r>
            <a:endParaRPr lang="en-US" sz="1500" dirty="0"/>
          </a:p>
        </p:txBody>
      </p:sp>
      <p:sp>
        <p:nvSpPr>
          <p:cNvPr id="5" name="Text 3"/>
          <p:cNvSpPr/>
          <p:nvPr/>
        </p:nvSpPr>
        <p:spPr>
          <a:xfrm>
            <a:off x="800100" y="374310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Finding exploits, then making them work</a:t>
            </a:r>
            <a:endParaRPr lang="en-US" sz="3000" dirty="0"/>
          </a:p>
        </p:txBody>
      </p:sp>
      <p:sp>
        <p:nvSpPr>
          <p:cNvPr id="6" name="Text 4"/>
          <p:cNvSpPr/>
          <p:nvPr/>
        </p:nvSpPr>
        <p:spPr>
          <a:xfrm>
            <a:off x="800100" y="4409852"/>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Public exploit code is rarely usable as found. One module teaches locating it responsibly; the next teaches repairing it.</a:t>
            </a:r>
            <a:endParaRPr lang="en-US" sz="2175" dirty="0"/>
          </a:p>
        </p:txBody>
      </p:sp>
      <p:sp>
        <p:nvSpPr>
          <p:cNvPr id="7" name="Shape 5"/>
          <p:cNvSpPr/>
          <p:nvPr/>
        </p:nvSpPr>
        <p:spPr>
          <a:xfrm>
            <a:off x="800100" y="5057998"/>
            <a:ext cx="8239125"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296123"/>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11 · LOCATING PUBLIC EXPLOITS</a:t>
            </a:r>
            <a:endParaRPr lang="en-US" sz="1500" dirty="0"/>
          </a:p>
        </p:txBody>
      </p:sp>
      <p:sp>
        <p:nvSpPr>
          <p:cNvPr id="9" name="Text 7"/>
          <p:cNvSpPr/>
          <p:nvPr/>
        </p:nvSpPr>
        <p:spPr>
          <a:xfrm>
            <a:off x="1038225" y="5615211"/>
            <a:ext cx="7995761"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risk of executing untrusted exploits and the importance of reading exploit code first; online resources and Google search operators; offline resources including SearchSploit and Nmap NSE; then a full workflow from enumeration to a limited shell.</a:t>
            </a:r>
            <a:endParaRPr lang="en-US" sz="1875" dirty="0"/>
          </a:p>
        </p:txBody>
      </p:sp>
      <p:sp>
        <p:nvSpPr>
          <p:cNvPr id="10" name="Shape 8"/>
          <p:cNvSpPr/>
          <p:nvPr/>
        </p:nvSpPr>
        <p:spPr>
          <a:xfrm>
            <a:off x="9248775" y="5057998"/>
            <a:ext cx="8239125"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9486900" y="5296123"/>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12 · FIXING EXPLOITS</a:t>
            </a:r>
            <a:endParaRPr lang="en-US" sz="1500" dirty="0"/>
          </a:p>
        </p:txBody>
      </p:sp>
      <p:sp>
        <p:nvSpPr>
          <p:cNvPr id="12" name="Text 10"/>
          <p:cNvSpPr/>
          <p:nvPr/>
        </p:nvSpPr>
        <p:spPr>
          <a:xfrm>
            <a:off x="9486900" y="5615211"/>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High-level buffer overflow theory, cross-compiling binaries, and modifying memory corruption exploits — then fixing and troubleshooting web application exploits.</a:t>
            </a:r>
            <a:endParaRPr lang="en-US" sz="18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433539"/>
            <a:ext cx="286456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519264"/>
            <a:ext cx="258855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13</a:t>
            </a:r>
            <a:endParaRPr lang="en-US" sz="1500" dirty="0"/>
          </a:p>
        </p:txBody>
      </p:sp>
      <p:sp>
        <p:nvSpPr>
          <p:cNvPr id="5" name="Text 3"/>
          <p:cNvSpPr/>
          <p:nvPr/>
        </p:nvSpPr>
        <p:spPr>
          <a:xfrm>
            <a:off x="800100" y="4076477"/>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Antivirus Evasion</a:t>
            </a:r>
            <a:endParaRPr lang="en-US" sz="3000" dirty="0"/>
          </a:p>
        </p:txBody>
      </p:sp>
      <p:sp>
        <p:nvSpPr>
          <p:cNvPr id="6" name="Text 4"/>
          <p:cNvSpPr/>
          <p:nvPr/>
        </p:nvSpPr>
        <p:spPr>
          <a:xfrm>
            <a:off x="800100" y="4743227"/>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How antivirus software decides what is malicious, and what that implies for a tester whose payload must reach execution.</a:t>
            </a:r>
            <a:endParaRPr lang="en-US" sz="2175" dirty="0"/>
          </a:p>
        </p:txBody>
      </p:sp>
      <p:sp>
        <p:nvSpPr>
          <p:cNvPr id="7" name="Shape 5"/>
          <p:cNvSpPr/>
          <p:nvPr/>
        </p:nvSpPr>
        <p:spPr>
          <a:xfrm>
            <a:off x="800100" y="5391373"/>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629498"/>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KEY COMPONENTS</a:t>
            </a:r>
            <a:endParaRPr lang="en-US" sz="1500" dirty="0"/>
          </a:p>
        </p:txBody>
      </p:sp>
      <p:sp>
        <p:nvSpPr>
          <p:cNvPr id="9" name="Text 7"/>
          <p:cNvSpPr/>
          <p:nvPr/>
        </p:nvSpPr>
        <p:spPr>
          <a:xfrm>
            <a:off x="1038225" y="594858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Recognising known versus unknown threats, understanding AV key components, and understanding AV detection engines.</a:t>
            </a:r>
            <a:endParaRPr lang="en-US" sz="1875" dirty="0"/>
          </a:p>
        </p:txBody>
      </p:sp>
      <p:sp>
        <p:nvSpPr>
          <p:cNvPr id="10" name="Shape 8"/>
          <p:cNvSpPr/>
          <p:nvPr/>
        </p:nvSpPr>
        <p:spPr>
          <a:xfrm>
            <a:off x="9248775" y="5391373"/>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629498"/>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 PRACTICE</a:t>
            </a:r>
            <a:endParaRPr lang="en-US" sz="1500" dirty="0"/>
          </a:p>
        </p:txBody>
      </p:sp>
      <p:sp>
        <p:nvSpPr>
          <p:cNvPr id="12" name="Text 10"/>
          <p:cNvSpPr/>
          <p:nvPr/>
        </p:nvSpPr>
        <p:spPr>
          <a:xfrm>
            <a:off x="9486900" y="594858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Antivirus evasion testing best practices, manual evasion of AV solutions, and leveraging automated tools for evasion.</a:t>
            </a:r>
            <a:endParaRPr lang="en-US" sz="187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99916"/>
            <a:ext cx="286806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85641"/>
            <a:ext cx="259215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14</a:t>
            </a:r>
            <a:endParaRPr lang="en-US" sz="1500" dirty="0"/>
          </a:p>
        </p:txBody>
      </p:sp>
      <p:sp>
        <p:nvSpPr>
          <p:cNvPr id="5" name="Text 3"/>
          <p:cNvSpPr/>
          <p:nvPr/>
        </p:nvSpPr>
        <p:spPr>
          <a:xfrm>
            <a:off x="800100" y="35428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Password Attacks</a:t>
            </a:r>
            <a:endParaRPr lang="en-US" sz="3000" dirty="0"/>
          </a:p>
        </p:txBody>
      </p:sp>
      <p:sp>
        <p:nvSpPr>
          <p:cNvPr id="6" name="Text 4"/>
          <p:cNvSpPr/>
          <p:nvPr/>
        </p:nvSpPr>
        <p:spPr>
          <a:xfrm>
            <a:off x="800100" y="42096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Credentials are the connective tissue of the whole course. This module covers attacking logins, cracking passwords, and working directly with hashes.</a:t>
            </a:r>
            <a:endParaRPr lang="en-US" sz="2175" dirty="0"/>
          </a:p>
        </p:txBody>
      </p:sp>
      <p:sp>
        <p:nvSpPr>
          <p:cNvPr id="7" name="Shape 5"/>
          <p:cNvSpPr/>
          <p:nvPr/>
        </p:nvSpPr>
        <p:spPr>
          <a:xfrm>
            <a:off x="800100" y="5258246"/>
            <a:ext cx="5435575"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49637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NETWORK SERVICES</a:t>
            </a:r>
            <a:endParaRPr lang="en-US" sz="1500" dirty="0"/>
          </a:p>
        </p:txBody>
      </p:sp>
      <p:sp>
        <p:nvSpPr>
          <p:cNvPr id="9" name="Text 7"/>
          <p:cNvSpPr/>
          <p:nvPr/>
        </p:nvSpPr>
        <p:spPr>
          <a:xfrm>
            <a:off x="1038225" y="5815459"/>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Attacking SSH and RDP logins, and attacking HTTP POST login forms.</a:t>
            </a:r>
            <a:endParaRPr lang="en-US" sz="1875" dirty="0"/>
          </a:p>
        </p:txBody>
      </p:sp>
      <p:sp>
        <p:nvSpPr>
          <p:cNvPr id="10" name="Shape 8"/>
          <p:cNvSpPr/>
          <p:nvPr/>
        </p:nvSpPr>
        <p:spPr>
          <a:xfrm>
            <a:off x="6426175" y="5258246"/>
            <a:ext cx="5435575"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6664300" y="549637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CRACKING FUNDAMENTALS</a:t>
            </a:r>
            <a:endParaRPr lang="en-US" sz="1500" dirty="0"/>
          </a:p>
        </p:txBody>
      </p:sp>
      <p:sp>
        <p:nvSpPr>
          <p:cNvPr id="12" name="Text 10"/>
          <p:cNvSpPr/>
          <p:nvPr/>
        </p:nvSpPr>
        <p:spPr>
          <a:xfrm>
            <a:off x="6664300" y="5815459"/>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Cracking fundamentals and methodology, mutating wordlists, attacking password manager key files, and attacking SSH private key passphrases.</a:t>
            </a:r>
            <a:endParaRPr lang="en-US" sz="1875" dirty="0"/>
          </a:p>
        </p:txBody>
      </p:sp>
      <p:sp>
        <p:nvSpPr>
          <p:cNvPr id="13" name="Shape 11"/>
          <p:cNvSpPr/>
          <p:nvPr/>
        </p:nvSpPr>
        <p:spPr>
          <a:xfrm>
            <a:off x="12052250" y="5258246"/>
            <a:ext cx="5435650" cy="2128838"/>
          </a:xfrm>
          <a:prstGeom prst="roundRect">
            <a:avLst>
              <a:gd name="adj" fmla="val 7159"/>
            </a:avLst>
          </a:prstGeom>
          <a:solidFill>
            <a:srgbClr val="FFFFFF">
              <a:alpha val="2000"/>
            </a:srgbClr>
          </a:solidFill>
          <a:ln w="9525">
            <a:solidFill>
              <a:srgbClr val="2A2F3A"/>
            </a:solidFill>
            <a:prstDash val="solid"/>
          </a:ln>
        </p:spPr>
      </p:sp>
      <p:sp>
        <p:nvSpPr>
          <p:cNvPr id="14" name="Text 12"/>
          <p:cNvSpPr/>
          <p:nvPr/>
        </p:nvSpPr>
        <p:spPr>
          <a:xfrm>
            <a:off x="12290375" y="5496371"/>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PASSWORD HASHES</a:t>
            </a:r>
            <a:endParaRPr lang="en-US" sz="1500" dirty="0"/>
          </a:p>
        </p:txBody>
      </p:sp>
      <p:sp>
        <p:nvSpPr>
          <p:cNvPr id="15" name="Text 13"/>
          <p:cNvSpPr/>
          <p:nvPr/>
        </p:nvSpPr>
        <p:spPr>
          <a:xfrm>
            <a:off x="12290375" y="5815459"/>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Obtaining and cracking NTLM hashes, passing NTLM hashes, and obtaining, cracking and relaying Net-NTLMv2 hashes.</a:t>
            </a:r>
            <a:endParaRPr lang="en-US" sz="187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100164"/>
            <a:ext cx="3343573"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85889"/>
            <a:ext cx="308193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Modules 15–16</a:t>
            </a:r>
            <a:endParaRPr lang="en-US" sz="1500" dirty="0"/>
          </a:p>
        </p:txBody>
      </p:sp>
      <p:sp>
        <p:nvSpPr>
          <p:cNvPr id="5" name="Text 3"/>
          <p:cNvSpPr/>
          <p:nvPr/>
        </p:nvSpPr>
        <p:spPr>
          <a:xfrm>
            <a:off x="800100" y="374310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Privilege escalation, both platforms</a:t>
            </a:r>
            <a:endParaRPr lang="en-US" sz="3000" dirty="0"/>
          </a:p>
        </p:txBody>
      </p:sp>
      <p:sp>
        <p:nvSpPr>
          <p:cNvPr id="6" name="Text 4"/>
          <p:cNvSpPr/>
          <p:nvPr/>
        </p:nvSpPr>
        <p:spPr>
          <a:xfrm>
            <a:off x="800100" y="4409852"/>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Two parallel modules with the same shape: enumerate the system thoroughly, then abuse whatever the enumeration exposed.</a:t>
            </a:r>
            <a:endParaRPr lang="en-US" sz="2175" dirty="0"/>
          </a:p>
        </p:txBody>
      </p:sp>
      <p:sp>
        <p:nvSpPr>
          <p:cNvPr id="7" name="Shape 5"/>
          <p:cNvSpPr/>
          <p:nvPr/>
        </p:nvSpPr>
        <p:spPr>
          <a:xfrm>
            <a:off x="800100" y="5057998"/>
            <a:ext cx="8239125"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296123"/>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15 · WINDOWS</a:t>
            </a:r>
            <a:endParaRPr lang="en-US" sz="1500" dirty="0"/>
          </a:p>
        </p:txBody>
      </p:sp>
      <p:sp>
        <p:nvSpPr>
          <p:cNvPr id="9" name="Text 7"/>
          <p:cNvSpPr/>
          <p:nvPr/>
        </p:nvSpPr>
        <p:spPr>
          <a:xfrm>
            <a:off x="1038225" y="5615211"/>
            <a:ext cx="7995761"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Windows privileges and access control, situational awareness, sensitive information including PowerShell artefacts, automated enumeration; then service binary and DLL hijacking, unquoted service paths, scheduled tasks and privilege abuse.</a:t>
            </a:r>
            <a:endParaRPr lang="en-US" sz="1875" dirty="0"/>
          </a:p>
        </p:txBody>
      </p:sp>
      <p:sp>
        <p:nvSpPr>
          <p:cNvPr id="10" name="Shape 8"/>
          <p:cNvSpPr/>
          <p:nvPr/>
        </p:nvSpPr>
        <p:spPr>
          <a:xfrm>
            <a:off x="9248775" y="5057998"/>
            <a:ext cx="8239125"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9486900" y="5296123"/>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16 · LINUX</a:t>
            </a:r>
            <a:endParaRPr lang="en-US" sz="1500" dirty="0"/>
          </a:p>
        </p:txBody>
      </p:sp>
      <p:sp>
        <p:nvSpPr>
          <p:cNvPr id="12" name="Text 10"/>
          <p:cNvSpPr/>
          <p:nvPr/>
        </p:nvSpPr>
        <p:spPr>
          <a:xfrm>
            <a:off x="9486900" y="5615211"/>
            <a:ext cx="7995761"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Files and user privileges, manual and automated enumeration; exposed confidential information in user and system trails; insecure cron jobs and file permissions; SUID programs, capabilities, special sudo permissions and kernel vulnerabilities.</a:t>
            </a:r>
            <a:endParaRPr lang="en-US" sz="187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733229"/>
            <a:ext cx="286375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818954"/>
            <a:ext cx="258771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15</a:t>
            </a:r>
            <a:endParaRPr lang="en-US" sz="1500" dirty="0"/>
          </a:p>
        </p:txBody>
      </p:sp>
      <p:sp>
        <p:nvSpPr>
          <p:cNvPr id="5" name="Text 3"/>
          <p:cNvSpPr/>
          <p:nvPr/>
        </p:nvSpPr>
        <p:spPr>
          <a:xfrm>
            <a:off x="800100" y="3376166"/>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Windows Privilege Escalation</a:t>
            </a:r>
            <a:endParaRPr lang="en-US" sz="3000" dirty="0"/>
          </a:p>
        </p:txBody>
      </p:sp>
      <p:sp>
        <p:nvSpPr>
          <p:cNvPr id="6" name="Text 4"/>
          <p:cNvSpPr/>
          <p:nvPr/>
        </p:nvSpPr>
        <p:spPr>
          <a:xfrm>
            <a:off x="800100" y="4042916"/>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Three Learning Units. Enumeration first, then two families of abuse: the services a Windows host runs, and the other components it exposes.</a:t>
            </a:r>
            <a:endParaRPr lang="en-US" sz="2175" dirty="0"/>
          </a:p>
        </p:txBody>
      </p:sp>
      <p:sp>
        <p:nvSpPr>
          <p:cNvPr id="7" name="Shape 5"/>
          <p:cNvSpPr/>
          <p:nvPr/>
        </p:nvSpPr>
        <p:spPr>
          <a:xfrm>
            <a:off x="800100" y="5091559"/>
            <a:ext cx="5435575" cy="2462213"/>
          </a:xfrm>
          <a:prstGeom prst="roundRect">
            <a:avLst>
              <a:gd name="adj" fmla="val 6190"/>
            </a:avLst>
          </a:prstGeom>
          <a:solidFill>
            <a:srgbClr val="FFFFFF">
              <a:alpha val="2000"/>
            </a:srgbClr>
          </a:solidFill>
          <a:ln w="9525">
            <a:solidFill>
              <a:srgbClr val="2A2F3A"/>
            </a:solidFill>
            <a:prstDash val="solid"/>
          </a:ln>
        </p:spPr>
      </p:sp>
      <p:sp>
        <p:nvSpPr>
          <p:cNvPr id="8" name="Text 6"/>
          <p:cNvSpPr/>
          <p:nvPr/>
        </p:nvSpPr>
        <p:spPr>
          <a:xfrm>
            <a:off x="1038225" y="5329684"/>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ENUMERATING WINDOWS</a:t>
            </a:r>
            <a:endParaRPr lang="en-US" sz="1500" dirty="0"/>
          </a:p>
        </p:txBody>
      </p:sp>
      <p:sp>
        <p:nvSpPr>
          <p:cNvPr id="9" name="Text 7"/>
          <p:cNvSpPr/>
          <p:nvPr/>
        </p:nvSpPr>
        <p:spPr>
          <a:xfrm>
            <a:off x="1038225" y="5648771"/>
            <a:ext cx="5108105" cy="17049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Windows privileges and access control mechanisms, obtaining situational awareness, searching for sensitive information including artefacts generated by PowerShell, and automated enumeration tooling.</a:t>
            </a:r>
            <a:endParaRPr lang="en-US" sz="1875" dirty="0"/>
          </a:p>
        </p:txBody>
      </p:sp>
      <p:sp>
        <p:nvSpPr>
          <p:cNvPr id="10" name="Shape 8"/>
          <p:cNvSpPr/>
          <p:nvPr/>
        </p:nvSpPr>
        <p:spPr>
          <a:xfrm>
            <a:off x="6426175" y="5091559"/>
            <a:ext cx="5435575" cy="2462213"/>
          </a:xfrm>
          <a:prstGeom prst="roundRect">
            <a:avLst>
              <a:gd name="adj" fmla="val 6190"/>
            </a:avLst>
          </a:prstGeom>
          <a:solidFill>
            <a:srgbClr val="FFFFFF">
              <a:alpha val="2000"/>
            </a:srgbClr>
          </a:solidFill>
          <a:ln w="9525">
            <a:solidFill>
              <a:srgbClr val="2A2F3A"/>
            </a:solidFill>
            <a:prstDash val="solid"/>
          </a:ln>
        </p:spPr>
      </p:sp>
      <p:sp>
        <p:nvSpPr>
          <p:cNvPr id="11" name="Text 9"/>
          <p:cNvSpPr/>
          <p:nvPr/>
        </p:nvSpPr>
        <p:spPr>
          <a:xfrm>
            <a:off x="6664300" y="5329684"/>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LEVERAGING WINDOWS SERVICES</a:t>
            </a:r>
            <a:endParaRPr lang="en-US" sz="1500" dirty="0"/>
          </a:p>
        </p:txBody>
      </p:sp>
      <p:sp>
        <p:nvSpPr>
          <p:cNvPr id="12" name="Text 10"/>
          <p:cNvSpPr/>
          <p:nvPr/>
        </p:nvSpPr>
        <p:spPr>
          <a:xfrm>
            <a:off x="6664300" y="5648771"/>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Hijacking service binaries, hijacking service DLLs, and abusing unquoted service paths.</a:t>
            </a:r>
            <a:endParaRPr lang="en-US" sz="1875" dirty="0"/>
          </a:p>
        </p:txBody>
      </p:sp>
      <p:sp>
        <p:nvSpPr>
          <p:cNvPr id="13" name="Shape 11"/>
          <p:cNvSpPr/>
          <p:nvPr/>
        </p:nvSpPr>
        <p:spPr>
          <a:xfrm>
            <a:off x="12052250" y="5091559"/>
            <a:ext cx="5435650" cy="2462213"/>
          </a:xfrm>
          <a:prstGeom prst="roundRect">
            <a:avLst>
              <a:gd name="adj" fmla="val 6190"/>
            </a:avLst>
          </a:prstGeom>
          <a:solidFill>
            <a:srgbClr val="FFFFFF">
              <a:alpha val="2000"/>
            </a:srgbClr>
          </a:solidFill>
          <a:ln w="9525">
            <a:solidFill>
              <a:srgbClr val="2A2F3A"/>
            </a:solidFill>
            <a:prstDash val="solid"/>
          </a:ln>
        </p:spPr>
      </p:sp>
      <p:sp>
        <p:nvSpPr>
          <p:cNvPr id="14" name="Text 12"/>
          <p:cNvSpPr/>
          <p:nvPr/>
        </p:nvSpPr>
        <p:spPr>
          <a:xfrm>
            <a:off x="12290375" y="5329684"/>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OTHER COMPONENTS</a:t>
            </a:r>
            <a:endParaRPr lang="en-US" sz="1500" dirty="0"/>
          </a:p>
        </p:txBody>
      </p:sp>
      <p:sp>
        <p:nvSpPr>
          <p:cNvPr id="15" name="Text 13"/>
          <p:cNvSpPr/>
          <p:nvPr/>
        </p:nvSpPr>
        <p:spPr>
          <a:xfrm>
            <a:off x="12290375" y="5648771"/>
            <a:ext cx="5108182"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Leveraging scheduled tasks, the different types of exploit that lead to privilege escalation, and abusing privileges to execute code as privileged user accounts.</a:t>
            </a:r>
            <a:endParaRPr lang="en-US" sz="18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99916"/>
            <a:ext cx="286791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85641"/>
            <a:ext cx="259200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16</a:t>
            </a:r>
            <a:endParaRPr lang="en-US" sz="1500" dirty="0"/>
          </a:p>
        </p:txBody>
      </p:sp>
      <p:sp>
        <p:nvSpPr>
          <p:cNvPr id="5" name="Text 3"/>
          <p:cNvSpPr/>
          <p:nvPr/>
        </p:nvSpPr>
        <p:spPr>
          <a:xfrm>
            <a:off x="800100" y="35428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Linux Privilege Escalation</a:t>
            </a:r>
            <a:endParaRPr lang="en-US" sz="3000" dirty="0"/>
          </a:p>
        </p:txBody>
      </p:sp>
      <p:sp>
        <p:nvSpPr>
          <p:cNvPr id="6" name="Text 4"/>
          <p:cNvSpPr/>
          <p:nvPr/>
        </p:nvSpPr>
        <p:spPr>
          <a:xfrm>
            <a:off x="800100" y="42096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Four Learning Units. The same enumerate-then-abuse shape as Windows, applied to a permission model built on files, users and processes.</a:t>
            </a:r>
            <a:endParaRPr lang="en-US" sz="2175" dirty="0"/>
          </a:p>
        </p:txBody>
      </p:sp>
      <p:sp>
        <p:nvSpPr>
          <p:cNvPr id="7" name="Shape 5"/>
          <p:cNvSpPr/>
          <p:nvPr/>
        </p:nvSpPr>
        <p:spPr>
          <a:xfrm>
            <a:off x="800100"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ENUMERATING LINUX</a:t>
            </a:r>
            <a:endParaRPr lang="en-US" sz="1500" dirty="0"/>
          </a:p>
        </p:txBody>
      </p:sp>
      <p:sp>
        <p:nvSpPr>
          <p:cNvPr id="9" name="Text 7"/>
          <p:cNvSpPr/>
          <p:nvPr/>
        </p:nvSpPr>
        <p:spPr>
          <a:xfrm>
            <a:off x="1038225" y="5815459"/>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Files and user privileges on Linux, manual enumeration, and automated enumeration.</a:t>
            </a:r>
            <a:endParaRPr lang="en-US" sz="1875" dirty="0"/>
          </a:p>
        </p:txBody>
      </p:sp>
      <p:sp>
        <p:nvSpPr>
          <p:cNvPr id="10" name="Shape 8"/>
          <p:cNvSpPr/>
          <p:nvPr/>
        </p:nvSpPr>
        <p:spPr>
          <a:xfrm>
            <a:off x="5014913"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5253038"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EXPOSED INFORMATION</a:t>
            </a:r>
            <a:endParaRPr lang="en-US" sz="1500" dirty="0"/>
          </a:p>
        </p:txBody>
      </p:sp>
      <p:sp>
        <p:nvSpPr>
          <p:cNvPr id="12" name="Text 10"/>
          <p:cNvSpPr/>
          <p:nvPr/>
        </p:nvSpPr>
        <p:spPr>
          <a:xfrm>
            <a:off x="5253038" y="5815459"/>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User history files, and inspecting user trails and system trails for credential harvesting.</a:t>
            </a:r>
            <a:endParaRPr lang="en-US" sz="1875" dirty="0"/>
          </a:p>
        </p:txBody>
      </p:sp>
      <p:sp>
        <p:nvSpPr>
          <p:cNvPr id="13" name="Shape 11"/>
          <p:cNvSpPr/>
          <p:nvPr/>
        </p:nvSpPr>
        <p:spPr>
          <a:xfrm>
            <a:off x="9229725"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14" name="Text 12"/>
          <p:cNvSpPr/>
          <p:nvPr/>
        </p:nvSpPr>
        <p:spPr>
          <a:xfrm>
            <a:off x="9467850"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INSECURE PERMISSIONS</a:t>
            </a:r>
            <a:endParaRPr lang="en-US" sz="1500" dirty="0"/>
          </a:p>
        </p:txBody>
      </p:sp>
      <p:sp>
        <p:nvSpPr>
          <p:cNvPr id="15" name="Text 13"/>
          <p:cNvSpPr/>
          <p:nvPr/>
        </p:nvSpPr>
        <p:spPr>
          <a:xfrm>
            <a:off x="9467850" y="5815459"/>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Abusing insecure cron jobs, and abusing insecure file permissions, to escalate privileges.</a:t>
            </a:r>
            <a:endParaRPr lang="en-US" sz="1875" dirty="0"/>
          </a:p>
        </p:txBody>
      </p:sp>
      <p:sp>
        <p:nvSpPr>
          <p:cNvPr id="16" name="Shape 14"/>
          <p:cNvSpPr/>
          <p:nvPr/>
        </p:nvSpPr>
        <p:spPr>
          <a:xfrm>
            <a:off x="13444538"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17" name="Text 15"/>
          <p:cNvSpPr/>
          <p:nvPr/>
        </p:nvSpPr>
        <p:spPr>
          <a:xfrm>
            <a:off x="13682663"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INSECURE COMPONENTS</a:t>
            </a:r>
            <a:endParaRPr lang="en-US" sz="1500" dirty="0"/>
          </a:p>
        </p:txBody>
      </p:sp>
      <p:sp>
        <p:nvSpPr>
          <p:cNvPr id="18" name="Text 16"/>
          <p:cNvSpPr/>
          <p:nvPr/>
        </p:nvSpPr>
        <p:spPr>
          <a:xfrm>
            <a:off x="13682663" y="5815459"/>
            <a:ext cx="3674126"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SUID programs and capabilities, circumventing special sudo permissions, and enumerating the kernel for known vulnerabilities.</a:t>
            </a:r>
            <a:endParaRPr lang="en-US" sz="187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33389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307196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Modules 17–18</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Moving traffic where it should not go</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Once a foothold exists, reaching the rest of the network becomes the problem. Two modules address it at increasing levels of resistance.</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17 · PORT REDIRECTION AND SSH TUNNELING</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Port forwarding theory and Socat; SSH local, dynamic, remote and remote dynamic port forwarding; and Windows tooling — ssh.exe, Plink and Netsh.</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18 · ADVANCED TUNNELING</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Tunnelling through deep packet inspection: HTTP tunnelling with Chisel, and DNS tunnelling with dnscat.</a:t>
            </a:r>
            <a:endParaRPr lang="en-US" sz="187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34067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83597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Port redirection versus advanced tunnelling</a:t>
            </a:r>
            <a:endParaRPr lang="en-US" sz="3000" dirty="0"/>
          </a:p>
        </p:txBody>
      </p:sp>
      <p:sp>
        <p:nvSpPr>
          <p:cNvPr id="5" name="Shape 3"/>
          <p:cNvSpPr/>
          <p:nvPr/>
        </p:nvSpPr>
        <p:spPr>
          <a:xfrm>
            <a:off x="800100" y="4502721"/>
            <a:ext cx="7581900"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474084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MODULE 17</a:t>
            </a:r>
            <a:endParaRPr lang="en-US" sz="1500" dirty="0"/>
          </a:p>
        </p:txBody>
      </p:sp>
      <p:sp>
        <p:nvSpPr>
          <p:cNvPr id="7" name="Text 5"/>
          <p:cNvSpPr/>
          <p:nvPr/>
        </p:nvSpPr>
        <p:spPr>
          <a:xfrm>
            <a:off x="1038225" y="5059933"/>
            <a:ext cx="7318820"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Solves reachability. The network will carry your traffic; you simply have no route. Socat and the four SSH forwarding modes create one.</a:t>
            </a:r>
            <a:endParaRPr lang="en-US" sz="1875" dirty="0"/>
          </a:p>
        </p:txBody>
      </p:sp>
      <p:sp>
        <p:nvSpPr>
          <p:cNvPr id="8" name="Text 6"/>
          <p:cNvSpPr/>
          <p:nvPr/>
        </p:nvSpPr>
        <p:spPr>
          <a:xfrm>
            <a:off x="8534400" y="4502721"/>
            <a:ext cx="1219200" cy="1833563"/>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502721"/>
            <a:ext cx="7581900" cy="1795463"/>
          </a:xfrm>
          <a:prstGeom prst="roundRect">
            <a:avLst>
              <a:gd name="adj" fmla="val 8488"/>
            </a:avLst>
          </a:prstGeom>
          <a:solidFill>
            <a:srgbClr val="FF6A00">
              <a:alpha val="6000"/>
            </a:srgbClr>
          </a:solidFill>
          <a:ln w="9525">
            <a:solidFill>
              <a:srgbClr val="B85100"/>
            </a:solidFill>
            <a:prstDash val="solid"/>
          </a:ln>
        </p:spPr>
      </p:sp>
      <p:sp>
        <p:nvSpPr>
          <p:cNvPr id="10" name="Text 8"/>
          <p:cNvSpPr/>
          <p:nvPr/>
        </p:nvSpPr>
        <p:spPr>
          <a:xfrm>
            <a:off x="10144125" y="474084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MODULE 18</a:t>
            </a:r>
            <a:endParaRPr lang="en-US" sz="1500" dirty="0"/>
          </a:p>
        </p:txBody>
      </p:sp>
      <p:sp>
        <p:nvSpPr>
          <p:cNvPr id="11" name="Text 9"/>
          <p:cNvSpPr/>
          <p:nvPr/>
        </p:nvSpPr>
        <p:spPr>
          <a:xfrm>
            <a:off x="10144125" y="5059933"/>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Solves inspection. Something between you and the target is examining traffic, so the tunnel must ride inside a protocol that is permitted — HTTP via Chisel, or DNS via dnscat.</a:t>
            </a:r>
            <a:endParaRPr lang="en-US" sz="1875" dirty="0"/>
          </a:p>
        </p:txBody>
      </p:sp>
      <p:sp>
        <p:nvSpPr>
          <p:cNvPr id="12" name="Text 10"/>
          <p:cNvSpPr/>
          <p:nvPr/>
        </p:nvSpPr>
        <p:spPr>
          <a:xfrm>
            <a:off x="800100" y="6545833"/>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One question separates them: is the problem that traffic cannot get there, or that traffic gets there and is rejected?</a:t>
            </a:r>
            <a:endParaRPr lang="en-US" sz="217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100164"/>
            <a:ext cx="285206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85889"/>
            <a:ext cx="257568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17</a:t>
            </a:r>
            <a:endParaRPr lang="en-US" sz="1500" dirty="0"/>
          </a:p>
        </p:txBody>
      </p:sp>
      <p:sp>
        <p:nvSpPr>
          <p:cNvPr id="5" name="Text 3"/>
          <p:cNvSpPr/>
          <p:nvPr/>
        </p:nvSpPr>
        <p:spPr>
          <a:xfrm>
            <a:off x="800100" y="374310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Port Redirection and SSH Tunneling</a:t>
            </a:r>
            <a:endParaRPr lang="en-US" sz="3000" dirty="0"/>
          </a:p>
        </p:txBody>
      </p:sp>
      <p:sp>
        <p:nvSpPr>
          <p:cNvPr id="6" name="Text 4"/>
          <p:cNvSpPr/>
          <p:nvPr/>
        </p:nvSpPr>
        <p:spPr>
          <a:xfrm>
            <a:off x="800100" y="4409852"/>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Three Learning Units covering the same problem on two platforms: creating a route from where you are to where the target is.</a:t>
            </a:r>
            <a:endParaRPr lang="en-US" sz="2175" dirty="0"/>
          </a:p>
        </p:txBody>
      </p:sp>
      <p:sp>
        <p:nvSpPr>
          <p:cNvPr id="7" name="Shape 5"/>
          <p:cNvSpPr/>
          <p:nvPr/>
        </p:nvSpPr>
        <p:spPr>
          <a:xfrm>
            <a:off x="800100" y="5057998"/>
            <a:ext cx="5435575"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29612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*NIX TOOLS</a:t>
            </a:r>
            <a:endParaRPr lang="en-US" sz="1500" dirty="0"/>
          </a:p>
        </p:txBody>
      </p:sp>
      <p:sp>
        <p:nvSpPr>
          <p:cNvPr id="9" name="Text 7"/>
          <p:cNvSpPr/>
          <p:nvPr/>
        </p:nvSpPr>
        <p:spPr>
          <a:xfrm>
            <a:off x="1038225" y="5615211"/>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What port forwarding is, why and when to use it, and using Socat to perform it.</a:t>
            </a:r>
            <a:endParaRPr lang="en-US" sz="1875" dirty="0"/>
          </a:p>
        </p:txBody>
      </p:sp>
      <p:sp>
        <p:nvSpPr>
          <p:cNvPr id="10" name="Shape 8"/>
          <p:cNvSpPr/>
          <p:nvPr/>
        </p:nvSpPr>
        <p:spPr>
          <a:xfrm>
            <a:off x="6426175" y="5057998"/>
            <a:ext cx="5435575"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6664300" y="529612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SSH TUNNELLING</a:t>
            </a:r>
            <a:endParaRPr lang="en-US" sz="1500" dirty="0"/>
          </a:p>
        </p:txBody>
      </p:sp>
      <p:sp>
        <p:nvSpPr>
          <p:cNvPr id="12" name="Text 10"/>
          <p:cNvSpPr/>
          <p:nvPr/>
        </p:nvSpPr>
        <p:spPr>
          <a:xfrm>
            <a:off x="6664300" y="5615211"/>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Four named forwarding modes: local port forwarding, dynamic port forwarding, remote port forwarding, and remote dynamic port forwarding.</a:t>
            </a:r>
            <a:endParaRPr lang="en-US" sz="1875" dirty="0"/>
          </a:p>
        </p:txBody>
      </p:sp>
      <p:sp>
        <p:nvSpPr>
          <p:cNvPr id="13" name="Shape 11"/>
          <p:cNvSpPr/>
          <p:nvPr/>
        </p:nvSpPr>
        <p:spPr>
          <a:xfrm>
            <a:off x="12052250" y="5057998"/>
            <a:ext cx="5435650" cy="2128838"/>
          </a:xfrm>
          <a:prstGeom prst="roundRect">
            <a:avLst>
              <a:gd name="adj" fmla="val 7159"/>
            </a:avLst>
          </a:prstGeom>
          <a:solidFill>
            <a:srgbClr val="FFFFFF">
              <a:alpha val="2000"/>
            </a:srgbClr>
          </a:solidFill>
          <a:ln w="9525">
            <a:solidFill>
              <a:srgbClr val="2A2F3A"/>
            </a:solidFill>
            <a:prstDash val="solid"/>
          </a:ln>
        </p:spPr>
      </p:sp>
      <p:sp>
        <p:nvSpPr>
          <p:cNvPr id="14" name="Text 12"/>
          <p:cNvSpPr/>
          <p:nvPr/>
        </p:nvSpPr>
        <p:spPr>
          <a:xfrm>
            <a:off x="12290375" y="5296123"/>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WINDOWS TOOLS</a:t>
            </a:r>
            <a:endParaRPr lang="en-US" sz="1500" dirty="0"/>
          </a:p>
        </p:txBody>
      </p:sp>
      <p:sp>
        <p:nvSpPr>
          <p:cNvPr id="15" name="Text 13"/>
          <p:cNvSpPr/>
          <p:nvPr/>
        </p:nvSpPr>
        <p:spPr>
          <a:xfrm>
            <a:off x="12290375" y="5615211"/>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Forwarding and tunnelling with ssh.exe on Windows, with Plink, and port forwarding with Netsh.</a:t>
            </a:r>
            <a:endParaRPr lang="en-US" sz="187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869853"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59399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18</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Advanced Tunneling</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One Learning Unit — tunnelling through deep packet inspection — addressing the case where a route exists but the traffic crossing it is being examined and rejected.</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HTTP TUNNELLING</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What HTTP tunnelling is, and performing it with Chisel — carrying the tunnel inside a protocol the inspection device is already permitting.</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DNS TUNNELLING</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What DNS tunnelling is, and performing it with dnscat — the fallback when even HTTP is filtered but name resolution still leaves the network.</a:t>
            </a:r>
            <a:endParaRPr lang="en-US" sz="187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66852"/>
            <a:ext cx="286776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52577"/>
            <a:ext cx="259185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19</a:t>
            </a:r>
            <a:endParaRPr lang="en-US" sz="1500" dirty="0"/>
          </a:p>
        </p:txBody>
      </p:sp>
      <p:sp>
        <p:nvSpPr>
          <p:cNvPr id="5" name="Text 3"/>
          <p:cNvSpPr/>
          <p:nvPr/>
        </p:nvSpPr>
        <p:spPr>
          <a:xfrm>
            <a:off x="800100" y="390978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Metasploit Framework</a:t>
            </a:r>
            <a:endParaRPr lang="en-US" sz="3000" dirty="0"/>
          </a:p>
        </p:txBody>
      </p:sp>
      <p:sp>
        <p:nvSpPr>
          <p:cNvPr id="6" name="Text 4"/>
          <p:cNvSpPr/>
          <p:nvPr/>
        </p:nvSpPr>
        <p:spPr>
          <a:xfrm>
            <a:off x="800100" y="4576539"/>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framework module placed deliberately late, after the manual techniques it automates have already been learned.</a:t>
            </a:r>
            <a:endParaRPr lang="en-US" sz="2175" dirty="0"/>
          </a:p>
        </p:txBody>
      </p:sp>
      <p:sp>
        <p:nvSpPr>
          <p:cNvPr id="7" name="Shape 5"/>
          <p:cNvSpPr/>
          <p:nvPr/>
        </p:nvSpPr>
        <p:spPr>
          <a:xfrm>
            <a:off x="800100" y="5224686"/>
            <a:ext cx="4043363"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46281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GETTING FAMILIAR</a:t>
            </a:r>
            <a:endParaRPr lang="en-US" sz="1500" dirty="0"/>
          </a:p>
        </p:txBody>
      </p:sp>
      <p:sp>
        <p:nvSpPr>
          <p:cNvPr id="9" name="Text 7"/>
          <p:cNvSpPr/>
          <p:nvPr/>
        </p:nvSpPr>
        <p:spPr>
          <a:xfrm>
            <a:off x="1038225" y="5781898"/>
            <a:ext cx="3674126"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Setup and navigation, auxiliary modules, and exploit modules.</a:t>
            </a:r>
            <a:endParaRPr lang="en-US" sz="1875" dirty="0"/>
          </a:p>
        </p:txBody>
      </p:sp>
      <p:sp>
        <p:nvSpPr>
          <p:cNvPr id="10" name="Shape 8"/>
          <p:cNvSpPr/>
          <p:nvPr/>
        </p:nvSpPr>
        <p:spPr>
          <a:xfrm>
            <a:off x="5014913" y="5224686"/>
            <a:ext cx="4043363"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5253038" y="546281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PAYLOADS</a:t>
            </a:r>
            <a:endParaRPr lang="en-US" sz="1500" dirty="0"/>
          </a:p>
        </p:txBody>
      </p:sp>
      <p:sp>
        <p:nvSpPr>
          <p:cNvPr id="12" name="Text 10"/>
          <p:cNvSpPr/>
          <p:nvPr/>
        </p:nvSpPr>
        <p:spPr>
          <a:xfrm>
            <a:off x="5253038" y="5781898"/>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Staged versus non-staged payloads, the Meterpreter payload, and creating executable payloads.</a:t>
            </a:r>
            <a:endParaRPr lang="en-US" sz="1875" dirty="0"/>
          </a:p>
        </p:txBody>
      </p:sp>
      <p:sp>
        <p:nvSpPr>
          <p:cNvPr id="13" name="Shape 11"/>
          <p:cNvSpPr/>
          <p:nvPr/>
        </p:nvSpPr>
        <p:spPr>
          <a:xfrm>
            <a:off x="9229725" y="5224686"/>
            <a:ext cx="4043363" cy="1795463"/>
          </a:xfrm>
          <a:prstGeom prst="roundRect">
            <a:avLst>
              <a:gd name="adj" fmla="val 8488"/>
            </a:avLst>
          </a:prstGeom>
          <a:solidFill>
            <a:srgbClr val="FFFFFF">
              <a:alpha val="2000"/>
            </a:srgbClr>
          </a:solidFill>
          <a:ln w="9525">
            <a:solidFill>
              <a:srgbClr val="2A2F3A"/>
            </a:solidFill>
            <a:prstDash val="solid"/>
          </a:ln>
        </p:spPr>
      </p:sp>
      <p:sp>
        <p:nvSpPr>
          <p:cNvPr id="14" name="Text 12"/>
          <p:cNvSpPr/>
          <p:nvPr/>
        </p:nvSpPr>
        <p:spPr>
          <a:xfrm>
            <a:off x="9467850" y="546281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POST-EXPLOITATION</a:t>
            </a:r>
            <a:endParaRPr lang="en-US" sz="1500" dirty="0"/>
          </a:p>
        </p:txBody>
      </p:sp>
      <p:sp>
        <p:nvSpPr>
          <p:cNvPr id="15" name="Text 13"/>
          <p:cNvSpPr/>
          <p:nvPr/>
        </p:nvSpPr>
        <p:spPr>
          <a:xfrm>
            <a:off x="9467850" y="5781898"/>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Core Meterpreter features, post-exploitation modules, and pivoting with Metasploit.</a:t>
            </a:r>
            <a:endParaRPr lang="en-US" sz="1875" dirty="0"/>
          </a:p>
        </p:txBody>
      </p:sp>
      <p:sp>
        <p:nvSpPr>
          <p:cNvPr id="16" name="Shape 14"/>
          <p:cNvSpPr/>
          <p:nvPr/>
        </p:nvSpPr>
        <p:spPr>
          <a:xfrm>
            <a:off x="13444538" y="5224686"/>
            <a:ext cx="4043363" cy="1795463"/>
          </a:xfrm>
          <a:prstGeom prst="roundRect">
            <a:avLst>
              <a:gd name="adj" fmla="val 8488"/>
            </a:avLst>
          </a:prstGeom>
          <a:solidFill>
            <a:srgbClr val="FFFFFF">
              <a:alpha val="2000"/>
            </a:srgbClr>
          </a:solidFill>
          <a:ln w="9525">
            <a:solidFill>
              <a:srgbClr val="2A2F3A"/>
            </a:solidFill>
            <a:prstDash val="solid"/>
          </a:ln>
        </p:spPr>
      </p:sp>
      <p:sp>
        <p:nvSpPr>
          <p:cNvPr id="17" name="Text 15"/>
          <p:cNvSpPr/>
          <p:nvPr/>
        </p:nvSpPr>
        <p:spPr>
          <a:xfrm>
            <a:off x="13682663" y="546281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AUTOMATION</a:t>
            </a:r>
            <a:endParaRPr lang="en-US" sz="1500" dirty="0"/>
          </a:p>
        </p:txBody>
      </p:sp>
      <p:sp>
        <p:nvSpPr>
          <p:cNvPr id="18" name="Text 16"/>
          <p:cNvSpPr/>
          <p:nvPr/>
        </p:nvSpPr>
        <p:spPr>
          <a:xfrm>
            <a:off x="13682663" y="5781898"/>
            <a:ext cx="3674126"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Creating resource scripts and using them within Metasploit.</a:t>
            </a:r>
            <a:endParaRPr lang="en-US" sz="187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566541"/>
            <a:ext cx="338866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652266"/>
            <a:ext cx="312837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Modules 20–22</a:t>
            </a:r>
            <a:endParaRPr lang="en-US" sz="1500" dirty="0"/>
          </a:p>
        </p:txBody>
      </p:sp>
      <p:sp>
        <p:nvSpPr>
          <p:cNvPr id="5" name="Text 3"/>
          <p:cNvSpPr/>
          <p:nvPr/>
        </p:nvSpPr>
        <p:spPr>
          <a:xfrm>
            <a:off x="800100" y="320947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Active Directory chain</a:t>
            </a:r>
            <a:endParaRPr lang="en-US" sz="3000" dirty="0"/>
          </a:p>
        </p:txBody>
      </p:sp>
      <p:sp>
        <p:nvSpPr>
          <p:cNvPr id="6" name="Text 4"/>
          <p:cNvSpPr/>
          <p:nvPr/>
        </p:nvSpPr>
        <p:spPr>
          <a:xfrm>
            <a:off x="800100" y="387622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Three modules in a strict progression. Each depends entirely on the one before it: you cannot attack authentication for a domain you have not enumerated, and you cannot move laterally without credentials.</a:t>
            </a:r>
            <a:endParaRPr lang="en-US" sz="2175" dirty="0"/>
          </a:p>
        </p:txBody>
      </p:sp>
      <p:sp>
        <p:nvSpPr>
          <p:cNvPr id="7" name="Shape 5"/>
          <p:cNvSpPr/>
          <p:nvPr/>
        </p:nvSpPr>
        <p:spPr>
          <a:xfrm>
            <a:off x="800100" y="4924871"/>
            <a:ext cx="5435575" cy="2795588"/>
          </a:xfrm>
          <a:prstGeom prst="roundRect">
            <a:avLst>
              <a:gd name="adj" fmla="val 5451"/>
            </a:avLst>
          </a:prstGeom>
          <a:solidFill>
            <a:srgbClr val="FFFFFF">
              <a:alpha val="2000"/>
            </a:srgbClr>
          </a:solidFill>
          <a:ln w="9525">
            <a:solidFill>
              <a:srgbClr val="2A2F3A"/>
            </a:solidFill>
            <a:prstDash val="solid"/>
          </a:ln>
        </p:spPr>
      </p:sp>
      <p:sp>
        <p:nvSpPr>
          <p:cNvPr id="8" name="Text 6"/>
          <p:cNvSpPr/>
          <p:nvPr/>
        </p:nvSpPr>
        <p:spPr>
          <a:xfrm>
            <a:off x="1038225" y="516299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20 · ENUMERATION</a:t>
            </a:r>
            <a:endParaRPr lang="en-US" sz="1500" dirty="0"/>
          </a:p>
        </p:txBody>
      </p:sp>
      <p:sp>
        <p:nvSpPr>
          <p:cNvPr id="9" name="Text 7"/>
          <p:cNvSpPr/>
          <p:nvPr/>
        </p:nvSpPr>
        <p:spPr>
          <a:xfrm>
            <a:off x="1038225" y="5482084"/>
            <a:ext cx="5108105" cy="20383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Manual enumeration with legacy Windows applications, PowerShell and .NET; operating system permissions, logged-on users, service principal names, object permissions and domain shares; then automated collection with SharpHound and analysis with BloodHound.</a:t>
            </a:r>
            <a:endParaRPr lang="en-US" sz="1875" dirty="0"/>
          </a:p>
        </p:txBody>
      </p:sp>
      <p:sp>
        <p:nvSpPr>
          <p:cNvPr id="10" name="Shape 8"/>
          <p:cNvSpPr/>
          <p:nvPr/>
        </p:nvSpPr>
        <p:spPr>
          <a:xfrm>
            <a:off x="6426175" y="4924871"/>
            <a:ext cx="5435575" cy="2795588"/>
          </a:xfrm>
          <a:prstGeom prst="roundRect">
            <a:avLst>
              <a:gd name="adj" fmla="val 5451"/>
            </a:avLst>
          </a:prstGeom>
          <a:solidFill>
            <a:srgbClr val="FFFFFF">
              <a:alpha val="2000"/>
            </a:srgbClr>
          </a:solidFill>
          <a:ln w="9525">
            <a:solidFill>
              <a:srgbClr val="2A2F3A"/>
            </a:solidFill>
            <a:prstDash val="solid"/>
          </a:ln>
        </p:spPr>
      </p:sp>
      <p:sp>
        <p:nvSpPr>
          <p:cNvPr id="11" name="Text 9"/>
          <p:cNvSpPr/>
          <p:nvPr/>
        </p:nvSpPr>
        <p:spPr>
          <a:xfrm>
            <a:off x="6664300" y="516299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21 · AUTHENTICATION</a:t>
            </a:r>
            <a:endParaRPr lang="en-US" sz="1500" dirty="0"/>
          </a:p>
        </p:txBody>
      </p:sp>
      <p:sp>
        <p:nvSpPr>
          <p:cNvPr id="12" name="Text 10"/>
          <p:cNvSpPr/>
          <p:nvPr/>
        </p:nvSpPr>
        <p:spPr>
          <a:xfrm>
            <a:off x="6664300" y="5482084"/>
            <a:ext cx="5108105" cy="17049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NTLM and Kerberos authentication and cached credentials; then password attacks, abusing account options, abusing the Kerberos SPN mechanism, forging service tickets, and impersonating a domain controller.</a:t>
            </a:r>
            <a:endParaRPr lang="en-US" sz="1875" dirty="0"/>
          </a:p>
        </p:txBody>
      </p:sp>
      <p:sp>
        <p:nvSpPr>
          <p:cNvPr id="13" name="Shape 11"/>
          <p:cNvSpPr/>
          <p:nvPr/>
        </p:nvSpPr>
        <p:spPr>
          <a:xfrm>
            <a:off x="12052250" y="4924871"/>
            <a:ext cx="5435650" cy="2795588"/>
          </a:xfrm>
          <a:prstGeom prst="roundRect">
            <a:avLst>
              <a:gd name="adj" fmla="val 5451"/>
            </a:avLst>
          </a:prstGeom>
          <a:solidFill>
            <a:srgbClr val="FFFFFF">
              <a:alpha val="2000"/>
            </a:srgbClr>
          </a:solidFill>
          <a:ln w="9525">
            <a:solidFill>
              <a:srgbClr val="2A2F3A"/>
            </a:solidFill>
            <a:prstDash val="solid"/>
          </a:ln>
        </p:spPr>
      </p:sp>
      <p:sp>
        <p:nvSpPr>
          <p:cNvPr id="14" name="Text 12"/>
          <p:cNvSpPr/>
          <p:nvPr/>
        </p:nvSpPr>
        <p:spPr>
          <a:xfrm>
            <a:off x="12290375" y="5162996"/>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22 · LATERAL MOVEMENT</a:t>
            </a:r>
            <a:endParaRPr lang="en-US" sz="1500" dirty="0"/>
          </a:p>
        </p:txBody>
      </p:sp>
      <p:sp>
        <p:nvSpPr>
          <p:cNvPr id="15" name="Text 13"/>
          <p:cNvSpPr/>
          <p:nvPr/>
        </p:nvSpPr>
        <p:spPr>
          <a:xfrm>
            <a:off x="12290375" y="5482084"/>
            <a:ext cx="5108182"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WMI, WinRS and WinRM techniques, PsExec, Pass the Hash and Overpass the Hash, and DCOM misuse; then persistence via golden tickets and shadow copies.</a:t>
            </a:r>
            <a:endParaRPr lang="en-US" sz="187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99916"/>
            <a:ext cx="339209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85641"/>
            <a:ext cx="313190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Modules 23–24</a:t>
            </a:r>
            <a:endParaRPr lang="en-US" sz="1500" dirty="0"/>
          </a:p>
        </p:txBody>
      </p:sp>
      <p:sp>
        <p:nvSpPr>
          <p:cNvPr id="5" name="Text 3"/>
          <p:cNvSpPr/>
          <p:nvPr/>
        </p:nvSpPr>
        <p:spPr>
          <a:xfrm>
            <a:off x="800100" y="35428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Consolidation</a:t>
            </a:r>
            <a:endParaRPr lang="en-US" sz="3000" dirty="0"/>
          </a:p>
        </p:txBody>
      </p:sp>
      <p:sp>
        <p:nvSpPr>
          <p:cNvPr id="6" name="Text 4"/>
          <p:cNvSpPr/>
          <p:nvPr/>
        </p:nvSpPr>
        <p:spPr>
          <a:xfrm>
            <a:off x="800100" y="42096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final two modules stop introducing technique and start combining it. This is where the increasing-uncertainty model reaches its endpoint.</a:t>
            </a:r>
            <a:endParaRPr lang="en-US" sz="2175" dirty="0"/>
          </a:p>
        </p:txBody>
      </p:sp>
      <p:sp>
        <p:nvSpPr>
          <p:cNvPr id="7" name="Shape 5"/>
          <p:cNvSpPr/>
          <p:nvPr/>
        </p:nvSpPr>
        <p:spPr>
          <a:xfrm>
            <a:off x="800100" y="5258246"/>
            <a:ext cx="8239125"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496371"/>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23 · ASSEMBLING THE PIECES</a:t>
            </a:r>
            <a:endParaRPr lang="en-US" sz="1500" dirty="0"/>
          </a:p>
        </p:txBody>
      </p:sp>
      <p:sp>
        <p:nvSpPr>
          <p:cNvPr id="9" name="Text 7"/>
          <p:cNvSpPr/>
          <p:nvPr/>
        </p:nvSpPr>
        <p:spPr>
          <a:xfrm>
            <a:off x="1038225" y="5815459"/>
            <a:ext cx="7995761"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One continuous scenario: enumerating the public network, attacking WEBSRV1, gaining access to the internal network, enumerating it, attacking the web application on INTERNALSRV1 including Kerberoasting, and finally gaining access to the domain controller.</a:t>
            </a:r>
            <a:endParaRPr lang="en-US" sz="1875" dirty="0"/>
          </a:p>
        </p:txBody>
      </p:sp>
      <p:sp>
        <p:nvSpPr>
          <p:cNvPr id="10" name="Shape 8"/>
          <p:cNvSpPr/>
          <p:nvPr/>
        </p:nvSpPr>
        <p:spPr>
          <a:xfrm>
            <a:off x="9248775" y="5258246"/>
            <a:ext cx="8239125"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9486900" y="5496371"/>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24 · TRYING HARDER: THE LABS</a:t>
            </a:r>
            <a:endParaRPr lang="en-US" sz="1500" dirty="0"/>
          </a:p>
        </p:txBody>
      </p:sp>
      <p:sp>
        <p:nvSpPr>
          <p:cNvPr id="12" name="Text 10"/>
          <p:cNvSpPr/>
          <p:nvPr/>
        </p:nvSpPr>
        <p:spPr>
          <a:xfrm>
            <a:off x="9486900" y="5815459"/>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Challenge Lab overview and details — dependency, IP address ordering, decoy machines, routers and NAT, and credentials — plus OSCP certification exam information.</a:t>
            </a:r>
            <a:endParaRPr lang="en-US" sz="187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566541"/>
            <a:ext cx="288882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652266"/>
            <a:ext cx="261354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23</a:t>
            </a:r>
            <a:endParaRPr lang="en-US" sz="1500" dirty="0"/>
          </a:p>
        </p:txBody>
      </p:sp>
      <p:sp>
        <p:nvSpPr>
          <p:cNvPr id="5" name="Text 3"/>
          <p:cNvSpPr/>
          <p:nvPr/>
        </p:nvSpPr>
        <p:spPr>
          <a:xfrm>
            <a:off x="800100" y="320947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Assembling the Pieces</a:t>
            </a:r>
            <a:endParaRPr lang="en-US" sz="3000" dirty="0"/>
          </a:p>
        </p:txBody>
      </p:sp>
      <p:sp>
        <p:nvSpPr>
          <p:cNvPr id="6" name="Text 4"/>
          <p:cNvSpPr/>
          <p:nvPr/>
        </p:nvSpPr>
        <p:spPr>
          <a:xfrm>
            <a:off x="800100" y="387622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Six Learning Units forming a single continuous engagement from the public perimeter through to the domain controller. Every technique in it was taught earlier; nothing new is introduced.</a:t>
            </a:r>
            <a:endParaRPr lang="en-US" sz="2175" dirty="0"/>
          </a:p>
        </p:txBody>
      </p:sp>
      <p:sp>
        <p:nvSpPr>
          <p:cNvPr id="7" name="Shape 5"/>
          <p:cNvSpPr/>
          <p:nvPr/>
        </p:nvSpPr>
        <p:spPr>
          <a:xfrm>
            <a:off x="800100" y="4924871"/>
            <a:ext cx="5435575" cy="2795588"/>
          </a:xfrm>
          <a:prstGeom prst="roundRect">
            <a:avLst>
              <a:gd name="adj" fmla="val 5451"/>
            </a:avLst>
          </a:prstGeom>
          <a:solidFill>
            <a:srgbClr val="FFFFFF">
              <a:alpha val="2000"/>
            </a:srgbClr>
          </a:solidFill>
          <a:ln w="9525">
            <a:solidFill>
              <a:srgbClr val="2A2F3A"/>
            </a:solidFill>
            <a:prstDash val="solid"/>
          </a:ln>
        </p:spPr>
      </p:sp>
      <p:sp>
        <p:nvSpPr>
          <p:cNvPr id="8" name="Text 6"/>
          <p:cNvSpPr/>
          <p:nvPr/>
        </p:nvSpPr>
        <p:spPr>
          <a:xfrm>
            <a:off x="1038225" y="516299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PERIMETER</a:t>
            </a:r>
            <a:endParaRPr lang="en-US" sz="1500" dirty="0"/>
          </a:p>
        </p:txBody>
      </p:sp>
      <p:sp>
        <p:nvSpPr>
          <p:cNvPr id="9" name="Text 7"/>
          <p:cNvSpPr/>
          <p:nvPr/>
        </p:nvSpPr>
        <p:spPr>
          <a:xfrm>
            <a:off x="1038225" y="5482084"/>
            <a:ext cx="5108105" cy="20383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Enumerating machines on a public network and obtaining information for later attacks; then attacking WEBSRV1 via WordPress plugin vulnerabilities, cracking an SSH private key passphrase, escalating with sudo, and leveraging developer artefacts.</a:t>
            </a:r>
            <a:endParaRPr lang="en-US" sz="1875" dirty="0"/>
          </a:p>
        </p:txBody>
      </p:sp>
      <p:sp>
        <p:nvSpPr>
          <p:cNvPr id="10" name="Shape 8"/>
          <p:cNvSpPr/>
          <p:nvPr/>
        </p:nvSpPr>
        <p:spPr>
          <a:xfrm>
            <a:off x="6426175" y="4924871"/>
            <a:ext cx="5435575" cy="2795588"/>
          </a:xfrm>
          <a:prstGeom prst="roundRect">
            <a:avLst>
              <a:gd name="adj" fmla="val 5451"/>
            </a:avLst>
          </a:prstGeom>
          <a:solidFill>
            <a:srgbClr val="FFFFFF">
              <a:alpha val="2000"/>
            </a:srgbClr>
          </a:solidFill>
          <a:ln w="9525">
            <a:solidFill>
              <a:srgbClr val="2A2F3A"/>
            </a:solidFill>
            <a:prstDash val="solid"/>
          </a:ln>
        </p:spPr>
      </p:sp>
      <p:sp>
        <p:nvSpPr>
          <p:cNvPr id="11" name="Text 9"/>
          <p:cNvSpPr/>
          <p:nvPr/>
        </p:nvSpPr>
        <p:spPr>
          <a:xfrm>
            <a:off x="6664300" y="516299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INTERNAL NETWORK</a:t>
            </a:r>
            <a:endParaRPr lang="en-US" sz="1500" dirty="0"/>
          </a:p>
        </p:txBody>
      </p:sp>
      <p:sp>
        <p:nvSpPr>
          <p:cNvPr id="12" name="Text 10"/>
          <p:cNvSpPr/>
          <p:nvPr/>
        </p:nvSpPr>
        <p:spPr>
          <a:xfrm>
            <a:off x="6664300" y="5482084"/>
            <a:ext cx="5108105" cy="17049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Validating domain credentials from a non-domain-joined machine and phishing for internal access; then situational awareness, enumerating hosts, services and sessions, and identifying attack vectors.</a:t>
            </a:r>
            <a:endParaRPr lang="en-US" sz="1875" dirty="0"/>
          </a:p>
        </p:txBody>
      </p:sp>
      <p:sp>
        <p:nvSpPr>
          <p:cNvPr id="13" name="Shape 11"/>
          <p:cNvSpPr/>
          <p:nvPr/>
        </p:nvSpPr>
        <p:spPr>
          <a:xfrm>
            <a:off x="12052250" y="4924871"/>
            <a:ext cx="5435650" cy="2795588"/>
          </a:xfrm>
          <a:prstGeom prst="roundRect">
            <a:avLst>
              <a:gd name="adj" fmla="val 5451"/>
            </a:avLst>
          </a:prstGeom>
          <a:solidFill>
            <a:srgbClr val="FFFFFF">
              <a:alpha val="2000"/>
            </a:srgbClr>
          </a:solidFill>
          <a:ln w="9525">
            <a:solidFill>
              <a:srgbClr val="2A2F3A"/>
            </a:solidFill>
            <a:prstDash val="solid"/>
          </a:ln>
        </p:spPr>
      </p:sp>
      <p:sp>
        <p:nvSpPr>
          <p:cNvPr id="14" name="Text 12"/>
          <p:cNvSpPr/>
          <p:nvPr/>
        </p:nvSpPr>
        <p:spPr>
          <a:xfrm>
            <a:off x="12290375" y="5162996"/>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DOMAIN</a:t>
            </a:r>
            <a:endParaRPr lang="en-US" sz="1500" dirty="0"/>
          </a:p>
        </p:txBody>
      </p:sp>
      <p:sp>
        <p:nvSpPr>
          <p:cNvPr id="15" name="Text 13"/>
          <p:cNvSpPr/>
          <p:nvPr/>
        </p:nvSpPr>
        <p:spPr>
          <a:xfrm>
            <a:off x="12290375" y="5482084"/>
            <a:ext cx="5108182" cy="17049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Attacking the web application on INTERNALSRV1 through Kerberoasting and abusing a WordPress plugin function for a relay attack; then client-side reconnaissance and fingerprinting to reach the domain controller.</a:t>
            </a:r>
            <a:endParaRPr lang="en-US" sz="187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733229"/>
            <a:ext cx="289128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818954"/>
            <a:ext cx="261607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1.3 · Module 24</a:t>
            </a:r>
            <a:endParaRPr lang="en-US" sz="1500" dirty="0"/>
          </a:p>
        </p:txBody>
      </p:sp>
      <p:sp>
        <p:nvSpPr>
          <p:cNvPr id="5" name="Text 3"/>
          <p:cNvSpPr/>
          <p:nvPr/>
        </p:nvSpPr>
        <p:spPr>
          <a:xfrm>
            <a:off x="800100" y="3376166"/>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Trying Harder: The Labs</a:t>
            </a:r>
            <a:endParaRPr lang="en-US" sz="3000" dirty="0"/>
          </a:p>
        </p:txBody>
      </p:sp>
      <p:sp>
        <p:nvSpPr>
          <p:cNvPr id="6" name="Text 4"/>
          <p:cNvSpPr/>
          <p:nvPr/>
        </p:nvSpPr>
        <p:spPr>
          <a:xfrm>
            <a:off x="800100" y="4042916"/>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Three Learning Units closing the syllabus: an overview of the Challenge Labs, the details that govern how they behave, and information about the OSCP certification exam.</a:t>
            </a:r>
            <a:endParaRPr lang="en-US" sz="2175" dirty="0"/>
          </a:p>
        </p:txBody>
      </p:sp>
      <p:sp>
        <p:nvSpPr>
          <p:cNvPr id="7" name="Shape 5"/>
          <p:cNvSpPr/>
          <p:nvPr/>
        </p:nvSpPr>
        <p:spPr>
          <a:xfrm>
            <a:off x="800100" y="5091559"/>
            <a:ext cx="5435575" cy="2462213"/>
          </a:xfrm>
          <a:prstGeom prst="roundRect">
            <a:avLst>
              <a:gd name="adj" fmla="val 6190"/>
            </a:avLst>
          </a:prstGeom>
          <a:solidFill>
            <a:srgbClr val="FFFFFF">
              <a:alpha val="2000"/>
            </a:srgbClr>
          </a:solidFill>
          <a:ln w="9525">
            <a:solidFill>
              <a:srgbClr val="2A2F3A"/>
            </a:solidFill>
            <a:prstDash val="solid"/>
          </a:ln>
        </p:spPr>
      </p:sp>
      <p:sp>
        <p:nvSpPr>
          <p:cNvPr id="8" name="Text 6"/>
          <p:cNvSpPr/>
          <p:nvPr/>
        </p:nvSpPr>
        <p:spPr>
          <a:xfrm>
            <a:off x="1038225" y="5329684"/>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OVERVIEW</a:t>
            </a:r>
            <a:endParaRPr lang="en-US" sz="1500" dirty="0"/>
          </a:p>
        </p:txBody>
      </p:sp>
      <p:sp>
        <p:nvSpPr>
          <p:cNvPr id="9" name="Text 7"/>
          <p:cNvSpPr/>
          <p:nvPr/>
        </p:nvSpPr>
        <p:spPr>
          <a:xfrm>
            <a:off x="1038225" y="5648771"/>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different kinds of Challenge Lab, a high-level overview of each scenario, and how to treat the mock OSCP Challenge Labs.</a:t>
            </a:r>
            <a:endParaRPr lang="en-US" sz="1875" dirty="0"/>
          </a:p>
        </p:txBody>
      </p:sp>
      <p:sp>
        <p:nvSpPr>
          <p:cNvPr id="10" name="Shape 8"/>
          <p:cNvSpPr/>
          <p:nvPr/>
        </p:nvSpPr>
        <p:spPr>
          <a:xfrm>
            <a:off x="6426175" y="5091559"/>
            <a:ext cx="5435575" cy="2462213"/>
          </a:xfrm>
          <a:prstGeom prst="roundRect">
            <a:avLst>
              <a:gd name="adj" fmla="val 6190"/>
            </a:avLst>
          </a:prstGeom>
          <a:solidFill>
            <a:srgbClr val="FFFFFF">
              <a:alpha val="2000"/>
            </a:srgbClr>
          </a:solidFill>
          <a:ln w="9525">
            <a:solidFill>
              <a:srgbClr val="2A2F3A"/>
            </a:solidFill>
            <a:prstDash val="solid"/>
          </a:ln>
        </p:spPr>
      </p:sp>
      <p:sp>
        <p:nvSpPr>
          <p:cNvPr id="11" name="Text 9"/>
          <p:cNvSpPr/>
          <p:nvPr/>
        </p:nvSpPr>
        <p:spPr>
          <a:xfrm>
            <a:off x="6664300" y="5329684"/>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DETAILS</a:t>
            </a:r>
            <a:endParaRPr lang="en-US" sz="1500" dirty="0"/>
          </a:p>
        </p:txBody>
      </p:sp>
      <p:sp>
        <p:nvSpPr>
          <p:cNvPr id="12" name="Text 10"/>
          <p:cNvSpPr/>
          <p:nvPr/>
        </p:nvSpPr>
        <p:spPr>
          <a:xfrm>
            <a:off x="6664300" y="5648771"/>
            <a:ext cx="5108105" cy="17049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concept of dependency, the lack of meaning inherent to IP address ordering, decoy machines, how routers and network address translation affect the scenarios, and how to treat credentials and password attacks.</a:t>
            </a:r>
            <a:endParaRPr lang="en-US" sz="1875" dirty="0"/>
          </a:p>
        </p:txBody>
      </p:sp>
      <p:sp>
        <p:nvSpPr>
          <p:cNvPr id="13" name="Shape 11"/>
          <p:cNvSpPr/>
          <p:nvPr/>
        </p:nvSpPr>
        <p:spPr>
          <a:xfrm>
            <a:off x="12052250" y="5091559"/>
            <a:ext cx="5435650" cy="2462213"/>
          </a:xfrm>
          <a:prstGeom prst="roundRect">
            <a:avLst>
              <a:gd name="adj" fmla="val 6190"/>
            </a:avLst>
          </a:prstGeom>
          <a:solidFill>
            <a:srgbClr val="FFFFFF">
              <a:alpha val="2000"/>
            </a:srgbClr>
          </a:solidFill>
          <a:ln w="9525">
            <a:solidFill>
              <a:srgbClr val="2A2F3A"/>
            </a:solidFill>
            <a:prstDash val="solid"/>
          </a:ln>
        </p:spPr>
      </p:sp>
      <p:sp>
        <p:nvSpPr>
          <p:cNvPr id="14" name="Text 12"/>
          <p:cNvSpPr/>
          <p:nvPr/>
        </p:nvSpPr>
        <p:spPr>
          <a:xfrm>
            <a:off x="12290375" y="5329684"/>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EXAM</a:t>
            </a:r>
            <a:endParaRPr lang="en-US" sz="1500" dirty="0"/>
          </a:p>
        </p:txBody>
      </p:sp>
      <p:sp>
        <p:nvSpPr>
          <p:cNvPr id="15" name="Text 13"/>
          <p:cNvSpPr/>
          <p:nvPr/>
        </p:nvSpPr>
        <p:spPr>
          <a:xfrm>
            <a:off x="12290375" y="5648771"/>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Information about the OSCP certification exam itself — the final stated objective in the official syllabus.</a:t>
            </a:r>
            <a:endParaRPr lang="en-US" sz="187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12407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REFERENCE</a:t>
            </a:r>
            <a:endParaRPr lang="en-US" sz="1650" dirty="0"/>
          </a:p>
        </p:txBody>
      </p:sp>
      <p:sp>
        <p:nvSpPr>
          <p:cNvPr id="4" name="Text 2"/>
          <p:cNvSpPr/>
          <p:nvPr/>
        </p:nvSpPr>
        <p:spPr>
          <a:xfrm>
            <a:off x="800100" y="2619375"/>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24 Learning Modules, grouped</a:t>
            </a:r>
            <a:endParaRPr lang="en-US" sz="3000" dirty="0"/>
          </a:p>
        </p:txBody>
      </p:sp>
      <p:sp>
        <p:nvSpPr>
          <p:cNvPr id="5" name="Shape 3"/>
          <p:cNvSpPr/>
          <p:nvPr/>
        </p:nvSpPr>
        <p:spPr>
          <a:xfrm>
            <a:off x="800100" y="3286125"/>
            <a:ext cx="2019300" cy="500063"/>
          </a:xfrm>
          <a:prstGeom prst="rect">
            <a:avLst/>
          </a:prstGeom>
          <a:solidFill>
            <a:srgbClr val="FF6A00">
              <a:alpha val="18000"/>
            </a:srgbClr>
          </a:solidFill>
          <a:ln/>
        </p:spPr>
      </p:sp>
      <p:sp>
        <p:nvSpPr>
          <p:cNvPr id="6" name="Shape 4"/>
          <p:cNvSpPr/>
          <p:nvPr/>
        </p:nvSpPr>
        <p:spPr>
          <a:xfrm>
            <a:off x="800100" y="3776662"/>
            <a:ext cx="2019300" cy="9525"/>
          </a:xfrm>
          <a:prstGeom prst="rect">
            <a:avLst/>
          </a:prstGeom>
          <a:solidFill>
            <a:srgbClr val="B85100"/>
          </a:solidFill>
          <a:ln/>
        </p:spPr>
      </p:sp>
      <p:sp>
        <p:nvSpPr>
          <p:cNvPr id="7" name="Text 5"/>
          <p:cNvSpPr/>
          <p:nvPr/>
        </p:nvSpPr>
        <p:spPr>
          <a:xfrm>
            <a:off x="952500" y="3400425"/>
            <a:ext cx="1790700"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Modules</a:t>
            </a:r>
            <a:endParaRPr lang="en-US" sz="1800" dirty="0"/>
          </a:p>
        </p:txBody>
      </p:sp>
      <p:sp>
        <p:nvSpPr>
          <p:cNvPr id="8" name="Shape 6"/>
          <p:cNvSpPr/>
          <p:nvPr/>
        </p:nvSpPr>
        <p:spPr>
          <a:xfrm>
            <a:off x="2819400" y="3286125"/>
            <a:ext cx="3543300" cy="500063"/>
          </a:xfrm>
          <a:prstGeom prst="rect">
            <a:avLst/>
          </a:prstGeom>
          <a:solidFill>
            <a:srgbClr val="FF6A00">
              <a:alpha val="18000"/>
            </a:srgbClr>
          </a:solidFill>
          <a:ln/>
        </p:spPr>
      </p:sp>
      <p:sp>
        <p:nvSpPr>
          <p:cNvPr id="9" name="Shape 7"/>
          <p:cNvSpPr/>
          <p:nvPr/>
        </p:nvSpPr>
        <p:spPr>
          <a:xfrm>
            <a:off x="2819400" y="3776662"/>
            <a:ext cx="3543300" cy="9525"/>
          </a:xfrm>
          <a:prstGeom prst="rect">
            <a:avLst/>
          </a:prstGeom>
          <a:solidFill>
            <a:srgbClr val="B85100"/>
          </a:solidFill>
          <a:ln/>
        </p:spPr>
      </p:sp>
      <p:sp>
        <p:nvSpPr>
          <p:cNvPr id="10" name="Text 8"/>
          <p:cNvSpPr/>
          <p:nvPr/>
        </p:nvSpPr>
        <p:spPr>
          <a:xfrm>
            <a:off x="2971800" y="3400425"/>
            <a:ext cx="334479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Block</a:t>
            </a:r>
            <a:endParaRPr lang="en-US" sz="1800" dirty="0"/>
          </a:p>
        </p:txBody>
      </p:sp>
      <p:sp>
        <p:nvSpPr>
          <p:cNvPr id="11" name="Shape 9"/>
          <p:cNvSpPr/>
          <p:nvPr/>
        </p:nvSpPr>
        <p:spPr>
          <a:xfrm>
            <a:off x="6362700" y="3286125"/>
            <a:ext cx="11125200" cy="500063"/>
          </a:xfrm>
          <a:prstGeom prst="rect">
            <a:avLst/>
          </a:prstGeom>
          <a:solidFill>
            <a:srgbClr val="FF6A00">
              <a:alpha val="18000"/>
            </a:srgbClr>
          </a:solidFill>
          <a:ln/>
        </p:spPr>
      </p:sp>
      <p:sp>
        <p:nvSpPr>
          <p:cNvPr id="12" name="Shape 10"/>
          <p:cNvSpPr/>
          <p:nvPr/>
        </p:nvSpPr>
        <p:spPr>
          <a:xfrm>
            <a:off x="6362700" y="3776662"/>
            <a:ext cx="11125200" cy="9525"/>
          </a:xfrm>
          <a:prstGeom prst="rect">
            <a:avLst/>
          </a:prstGeom>
          <a:solidFill>
            <a:srgbClr val="B85100"/>
          </a:solidFill>
          <a:ln/>
        </p:spPr>
      </p:sp>
      <p:sp>
        <p:nvSpPr>
          <p:cNvPr id="13" name="Text 11"/>
          <p:cNvSpPr/>
          <p:nvPr/>
        </p:nvSpPr>
        <p:spPr>
          <a:xfrm>
            <a:off x="6515100" y="3400425"/>
            <a:ext cx="11154156"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Focus</a:t>
            </a:r>
            <a:endParaRPr lang="en-US" sz="1800" dirty="0"/>
          </a:p>
        </p:txBody>
      </p:sp>
      <p:sp>
        <p:nvSpPr>
          <p:cNvPr id="14" name="Shape 12"/>
          <p:cNvSpPr/>
          <p:nvPr/>
        </p:nvSpPr>
        <p:spPr>
          <a:xfrm>
            <a:off x="800100" y="3786188"/>
            <a:ext cx="2019300" cy="485775"/>
          </a:xfrm>
          <a:prstGeom prst="rect">
            <a:avLst/>
          </a:prstGeom>
          <a:solidFill>
            <a:srgbClr val="FFFFFF">
              <a:alpha val="2000"/>
            </a:srgbClr>
          </a:solidFill>
          <a:ln/>
        </p:spPr>
      </p:sp>
      <p:sp>
        <p:nvSpPr>
          <p:cNvPr id="15" name="Shape 13"/>
          <p:cNvSpPr/>
          <p:nvPr/>
        </p:nvSpPr>
        <p:spPr>
          <a:xfrm>
            <a:off x="800100" y="4262438"/>
            <a:ext cx="2019300" cy="9525"/>
          </a:xfrm>
          <a:prstGeom prst="rect">
            <a:avLst/>
          </a:prstGeom>
          <a:solidFill>
            <a:srgbClr val="2A2F3A"/>
          </a:solidFill>
          <a:ln/>
        </p:spPr>
      </p:sp>
      <p:sp>
        <p:nvSpPr>
          <p:cNvPr id="16" name="Text 14"/>
          <p:cNvSpPr/>
          <p:nvPr/>
        </p:nvSpPr>
        <p:spPr>
          <a:xfrm>
            <a:off x="952500" y="3890962"/>
            <a:ext cx="1790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1–4</a:t>
            </a:r>
            <a:endParaRPr lang="en-US" sz="1800" dirty="0"/>
          </a:p>
        </p:txBody>
      </p:sp>
      <p:sp>
        <p:nvSpPr>
          <p:cNvPr id="17" name="Shape 15"/>
          <p:cNvSpPr/>
          <p:nvPr/>
        </p:nvSpPr>
        <p:spPr>
          <a:xfrm>
            <a:off x="2819400" y="3786188"/>
            <a:ext cx="3543300" cy="485775"/>
          </a:xfrm>
          <a:prstGeom prst="rect">
            <a:avLst/>
          </a:prstGeom>
          <a:solidFill>
            <a:srgbClr val="FFFFFF">
              <a:alpha val="2000"/>
            </a:srgbClr>
          </a:solidFill>
          <a:ln/>
        </p:spPr>
      </p:sp>
      <p:sp>
        <p:nvSpPr>
          <p:cNvPr id="18" name="Shape 16"/>
          <p:cNvSpPr/>
          <p:nvPr/>
        </p:nvSpPr>
        <p:spPr>
          <a:xfrm>
            <a:off x="2819400" y="4262438"/>
            <a:ext cx="3543300" cy="9525"/>
          </a:xfrm>
          <a:prstGeom prst="rect">
            <a:avLst/>
          </a:prstGeom>
          <a:solidFill>
            <a:srgbClr val="2A2F3A"/>
          </a:solidFill>
          <a:ln/>
        </p:spPr>
      </p:sp>
      <p:sp>
        <p:nvSpPr>
          <p:cNvPr id="19" name="Text 17"/>
          <p:cNvSpPr/>
          <p:nvPr/>
        </p:nvSpPr>
        <p:spPr>
          <a:xfrm>
            <a:off x="2971800" y="3890962"/>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Orientation and method</a:t>
            </a:r>
            <a:endParaRPr lang="en-US" sz="1800" dirty="0"/>
          </a:p>
        </p:txBody>
      </p:sp>
      <p:sp>
        <p:nvSpPr>
          <p:cNvPr id="20" name="Shape 18"/>
          <p:cNvSpPr/>
          <p:nvPr/>
        </p:nvSpPr>
        <p:spPr>
          <a:xfrm>
            <a:off x="6362700" y="3786188"/>
            <a:ext cx="11125200" cy="485775"/>
          </a:xfrm>
          <a:prstGeom prst="rect">
            <a:avLst/>
          </a:prstGeom>
          <a:solidFill>
            <a:srgbClr val="FFFFFF">
              <a:alpha val="2000"/>
            </a:srgbClr>
          </a:solidFill>
          <a:ln/>
        </p:spPr>
      </p:sp>
      <p:sp>
        <p:nvSpPr>
          <p:cNvPr id="21" name="Shape 19"/>
          <p:cNvSpPr/>
          <p:nvPr/>
        </p:nvSpPr>
        <p:spPr>
          <a:xfrm>
            <a:off x="6362700" y="4262438"/>
            <a:ext cx="11125200" cy="9525"/>
          </a:xfrm>
          <a:prstGeom prst="rect">
            <a:avLst/>
          </a:prstGeom>
          <a:solidFill>
            <a:srgbClr val="2A2F3A"/>
          </a:solidFill>
          <a:ln/>
        </p:spPr>
      </p:sp>
      <p:sp>
        <p:nvSpPr>
          <p:cNvPr id="22" name="Text 20"/>
          <p:cNvSpPr/>
          <p:nvPr/>
        </p:nvSpPr>
        <p:spPr>
          <a:xfrm>
            <a:off x="6515100" y="3890962"/>
            <a:ext cx="111541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Course introduction, cybersecurity context, learning strategies, report writing</a:t>
            </a:r>
            <a:endParaRPr lang="en-US" sz="1800" dirty="0"/>
          </a:p>
        </p:txBody>
      </p:sp>
      <p:sp>
        <p:nvSpPr>
          <p:cNvPr id="23" name="Shape 21"/>
          <p:cNvSpPr/>
          <p:nvPr/>
        </p:nvSpPr>
        <p:spPr>
          <a:xfrm>
            <a:off x="800100" y="4748213"/>
            <a:ext cx="2019300" cy="9525"/>
          </a:xfrm>
          <a:prstGeom prst="rect">
            <a:avLst/>
          </a:prstGeom>
          <a:solidFill>
            <a:srgbClr val="2A2F3A"/>
          </a:solidFill>
          <a:ln/>
        </p:spPr>
      </p:sp>
      <p:sp>
        <p:nvSpPr>
          <p:cNvPr id="24" name="Text 22"/>
          <p:cNvSpPr/>
          <p:nvPr/>
        </p:nvSpPr>
        <p:spPr>
          <a:xfrm>
            <a:off x="952500" y="4376738"/>
            <a:ext cx="1790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5–6</a:t>
            </a:r>
            <a:endParaRPr lang="en-US" sz="1800" dirty="0"/>
          </a:p>
        </p:txBody>
      </p:sp>
      <p:sp>
        <p:nvSpPr>
          <p:cNvPr id="25" name="Shape 23"/>
          <p:cNvSpPr/>
          <p:nvPr/>
        </p:nvSpPr>
        <p:spPr>
          <a:xfrm>
            <a:off x="2819400" y="4748213"/>
            <a:ext cx="3543300" cy="9525"/>
          </a:xfrm>
          <a:prstGeom prst="rect">
            <a:avLst/>
          </a:prstGeom>
          <a:solidFill>
            <a:srgbClr val="2A2F3A"/>
          </a:solidFill>
          <a:ln/>
        </p:spPr>
      </p:sp>
      <p:sp>
        <p:nvSpPr>
          <p:cNvPr id="26" name="Text 24"/>
          <p:cNvSpPr/>
          <p:nvPr/>
        </p:nvSpPr>
        <p:spPr>
          <a:xfrm>
            <a:off x="2971800" y="4376738"/>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Enumeration</a:t>
            </a:r>
            <a:endParaRPr lang="en-US" sz="1800" dirty="0"/>
          </a:p>
        </p:txBody>
      </p:sp>
      <p:sp>
        <p:nvSpPr>
          <p:cNvPr id="27" name="Shape 25"/>
          <p:cNvSpPr/>
          <p:nvPr/>
        </p:nvSpPr>
        <p:spPr>
          <a:xfrm>
            <a:off x="6362700" y="4748213"/>
            <a:ext cx="11125200" cy="9525"/>
          </a:xfrm>
          <a:prstGeom prst="rect">
            <a:avLst/>
          </a:prstGeom>
          <a:solidFill>
            <a:srgbClr val="2A2F3A"/>
          </a:solidFill>
          <a:ln/>
        </p:spPr>
      </p:sp>
      <p:sp>
        <p:nvSpPr>
          <p:cNvPr id="28" name="Text 26"/>
          <p:cNvSpPr/>
          <p:nvPr/>
        </p:nvSpPr>
        <p:spPr>
          <a:xfrm>
            <a:off x="6515100" y="4376738"/>
            <a:ext cx="111541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Information gathering (passive and active), vulnerability scanning with Nessus and NSE</a:t>
            </a:r>
            <a:endParaRPr lang="en-US" sz="1800" dirty="0"/>
          </a:p>
        </p:txBody>
      </p:sp>
      <p:sp>
        <p:nvSpPr>
          <p:cNvPr id="29" name="Shape 27"/>
          <p:cNvSpPr/>
          <p:nvPr/>
        </p:nvSpPr>
        <p:spPr>
          <a:xfrm>
            <a:off x="800100" y="4757738"/>
            <a:ext cx="2019300" cy="485775"/>
          </a:xfrm>
          <a:prstGeom prst="rect">
            <a:avLst/>
          </a:prstGeom>
          <a:solidFill>
            <a:srgbClr val="FFFFFF">
              <a:alpha val="2000"/>
            </a:srgbClr>
          </a:solidFill>
          <a:ln/>
        </p:spPr>
      </p:sp>
      <p:sp>
        <p:nvSpPr>
          <p:cNvPr id="30" name="Shape 28"/>
          <p:cNvSpPr/>
          <p:nvPr/>
        </p:nvSpPr>
        <p:spPr>
          <a:xfrm>
            <a:off x="800100" y="5233988"/>
            <a:ext cx="2019300" cy="9525"/>
          </a:xfrm>
          <a:prstGeom prst="rect">
            <a:avLst/>
          </a:prstGeom>
          <a:solidFill>
            <a:srgbClr val="2A2F3A"/>
          </a:solidFill>
          <a:ln/>
        </p:spPr>
      </p:sp>
      <p:sp>
        <p:nvSpPr>
          <p:cNvPr id="31" name="Text 29"/>
          <p:cNvSpPr/>
          <p:nvPr/>
        </p:nvSpPr>
        <p:spPr>
          <a:xfrm>
            <a:off x="952500" y="4862513"/>
            <a:ext cx="1790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7–9</a:t>
            </a:r>
            <a:endParaRPr lang="en-US" sz="1800" dirty="0"/>
          </a:p>
        </p:txBody>
      </p:sp>
      <p:sp>
        <p:nvSpPr>
          <p:cNvPr id="32" name="Shape 30"/>
          <p:cNvSpPr/>
          <p:nvPr/>
        </p:nvSpPr>
        <p:spPr>
          <a:xfrm>
            <a:off x="2819400" y="4757738"/>
            <a:ext cx="3543300" cy="485775"/>
          </a:xfrm>
          <a:prstGeom prst="rect">
            <a:avLst/>
          </a:prstGeom>
          <a:solidFill>
            <a:srgbClr val="FFFFFF">
              <a:alpha val="2000"/>
            </a:srgbClr>
          </a:solidFill>
          <a:ln/>
        </p:spPr>
      </p:sp>
      <p:sp>
        <p:nvSpPr>
          <p:cNvPr id="33" name="Shape 31"/>
          <p:cNvSpPr/>
          <p:nvPr/>
        </p:nvSpPr>
        <p:spPr>
          <a:xfrm>
            <a:off x="2819400" y="5233988"/>
            <a:ext cx="3543300" cy="9525"/>
          </a:xfrm>
          <a:prstGeom prst="rect">
            <a:avLst/>
          </a:prstGeom>
          <a:solidFill>
            <a:srgbClr val="2A2F3A"/>
          </a:solidFill>
          <a:ln/>
        </p:spPr>
      </p:sp>
      <p:sp>
        <p:nvSpPr>
          <p:cNvPr id="34" name="Text 32"/>
          <p:cNvSpPr/>
          <p:nvPr/>
        </p:nvSpPr>
        <p:spPr>
          <a:xfrm>
            <a:off x="2971800" y="4862513"/>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Web applications</a:t>
            </a:r>
            <a:endParaRPr lang="en-US" sz="1800" dirty="0"/>
          </a:p>
        </p:txBody>
      </p:sp>
      <p:sp>
        <p:nvSpPr>
          <p:cNvPr id="35" name="Shape 33"/>
          <p:cNvSpPr/>
          <p:nvPr/>
        </p:nvSpPr>
        <p:spPr>
          <a:xfrm>
            <a:off x="6362700" y="4757738"/>
            <a:ext cx="11125200" cy="485775"/>
          </a:xfrm>
          <a:prstGeom prst="rect">
            <a:avLst/>
          </a:prstGeom>
          <a:solidFill>
            <a:srgbClr val="FFFFFF">
              <a:alpha val="2000"/>
            </a:srgbClr>
          </a:solidFill>
          <a:ln/>
        </p:spPr>
      </p:sp>
      <p:sp>
        <p:nvSpPr>
          <p:cNvPr id="36" name="Shape 34"/>
          <p:cNvSpPr/>
          <p:nvPr/>
        </p:nvSpPr>
        <p:spPr>
          <a:xfrm>
            <a:off x="6362700" y="5233988"/>
            <a:ext cx="11125200" cy="9525"/>
          </a:xfrm>
          <a:prstGeom prst="rect">
            <a:avLst/>
          </a:prstGeom>
          <a:solidFill>
            <a:srgbClr val="2A2F3A"/>
          </a:solidFill>
          <a:ln/>
        </p:spPr>
      </p:sp>
      <p:sp>
        <p:nvSpPr>
          <p:cNvPr id="37" name="Text 35"/>
          <p:cNvSpPr/>
          <p:nvPr/>
        </p:nvSpPr>
        <p:spPr>
          <a:xfrm>
            <a:off x="6515100" y="4862513"/>
            <a:ext cx="111541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Methodology and XSS, common web attacks, SQL injection</a:t>
            </a:r>
            <a:endParaRPr lang="en-US" sz="1800" dirty="0"/>
          </a:p>
        </p:txBody>
      </p:sp>
      <p:sp>
        <p:nvSpPr>
          <p:cNvPr id="38" name="Shape 36"/>
          <p:cNvSpPr/>
          <p:nvPr/>
        </p:nvSpPr>
        <p:spPr>
          <a:xfrm>
            <a:off x="800100" y="5719763"/>
            <a:ext cx="2019300" cy="9525"/>
          </a:xfrm>
          <a:prstGeom prst="rect">
            <a:avLst/>
          </a:prstGeom>
          <a:solidFill>
            <a:srgbClr val="2A2F3A"/>
          </a:solidFill>
          <a:ln/>
        </p:spPr>
      </p:sp>
      <p:sp>
        <p:nvSpPr>
          <p:cNvPr id="39" name="Text 37"/>
          <p:cNvSpPr/>
          <p:nvPr/>
        </p:nvSpPr>
        <p:spPr>
          <a:xfrm>
            <a:off x="952500" y="5348288"/>
            <a:ext cx="1790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10–12</a:t>
            </a:r>
            <a:endParaRPr lang="en-US" sz="1800" dirty="0"/>
          </a:p>
        </p:txBody>
      </p:sp>
      <p:sp>
        <p:nvSpPr>
          <p:cNvPr id="40" name="Shape 38"/>
          <p:cNvSpPr/>
          <p:nvPr/>
        </p:nvSpPr>
        <p:spPr>
          <a:xfrm>
            <a:off x="2819400" y="5719763"/>
            <a:ext cx="3543300" cy="9525"/>
          </a:xfrm>
          <a:prstGeom prst="rect">
            <a:avLst/>
          </a:prstGeom>
          <a:solidFill>
            <a:srgbClr val="2A2F3A"/>
          </a:solidFill>
          <a:ln/>
        </p:spPr>
      </p:sp>
      <p:sp>
        <p:nvSpPr>
          <p:cNvPr id="41" name="Text 39"/>
          <p:cNvSpPr/>
          <p:nvPr/>
        </p:nvSpPr>
        <p:spPr>
          <a:xfrm>
            <a:off x="2971800" y="5348288"/>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Exploitation</a:t>
            </a:r>
            <a:endParaRPr lang="en-US" sz="1800" dirty="0"/>
          </a:p>
        </p:txBody>
      </p:sp>
      <p:sp>
        <p:nvSpPr>
          <p:cNvPr id="42" name="Shape 40"/>
          <p:cNvSpPr/>
          <p:nvPr/>
        </p:nvSpPr>
        <p:spPr>
          <a:xfrm>
            <a:off x="6362700" y="5719763"/>
            <a:ext cx="11125200" cy="9525"/>
          </a:xfrm>
          <a:prstGeom prst="rect">
            <a:avLst/>
          </a:prstGeom>
          <a:solidFill>
            <a:srgbClr val="2A2F3A"/>
          </a:solidFill>
          <a:ln/>
        </p:spPr>
      </p:sp>
      <p:sp>
        <p:nvSpPr>
          <p:cNvPr id="43" name="Text 41"/>
          <p:cNvSpPr/>
          <p:nvPr/>
        </p:nvSpPr>
        <p:spPr>
          <a:xfrm>
            <a:off x="6515100" y="5348288"/>
            <a:ext cx="111541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Client-side attacks, locating public exploits, fixing exploits</a:t>
            </a:r>
            <a:endParaRPr lang="en-US" sz="1800" dirty="0"/>
          </a:p>
        </p:txBody>
      </p:sp>
      <p:sp>
        <p:nvSpPr>
          <p:cNvPr id="44" name="Shape 42"/>
          <p:cNvSpPr/>
          <p:nvPr/>
        </p:nvSpPr>
        <p:spPr>
          <a:xfrm>
            <a:off x="800100" y="5729288"/>
            <a:ext cx="2019300" cy="485775"/>
          </a:xfrm>
          <a:prstGeom prst="rect">
            <a:avLst/>
          </a:prstGeom>
          <a:solidFill>
            <a:srgbClr val="FFFFFF">
              <a:alpha val="2000"/>
            </a:srgbClr>
          </a:solidFill>
          <a:ln/>
        </p:spPr>
      </p:sp>
      <p:sp>
        <p:nvSpPr>
          <p:cNvPr id="45" name="Shape 43"/>
          <p:cNvSpPr/>
          <p:nvPr/>
        </p:nvSpPr>
        <p:spPr>
          <a:xfrm>
            <a:off x="800100" y="6205538"/>
            <a:ext cx="2019300" cy="9525"/>
          </a:xfrm>
          <a:prstGeom prst="rect">
            <a:avLst/>
          </a:prstGeom>
          <a:solidFill>
            <a:srgbClr val="2A2F3A"/>
          </a:solidFill>
          <a:ln/>
        </p:spPr>
      </p:sp>
      <p:sp>
        <p:nvSpPr>
          <p:cNvPr id="46" name="Text 44"/>
          <p:cNvSpPr/>
          <p:nvPr/>
        </p:nvSpPr>
        <p:spPr>
          <a:xfrm>
            <a:off x="952500" y="5834063"/>
            <a:ext cx="1790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13–14</a:t>
            </a:r>
            <a:endParaRPr lang="en-US" sz="1800" dirty="0"/>
          </a:p>
        </p:txBody>
      </p:sp>
      <p:sp>
        <p:nvSpPr>
          <p:cNvPr id="47" name="Shape 45"/>
          <p:cNvSpPr/>
          <p:nvPr/>
        </p:nvSpPr>
        <p:spPr>
          <a:xfrm>
            <a:off x="2819400" y="5729288"/>
            <a:ext cx="3543300" cy="485775"/>
          </a:xfrm>
          <a:prstGeom prst="rect">
            <a:avLst/>
          </a:prstGeom>
          <a:solidFill>
            <a:srgbClr val="FFFFFF">
              <a:alpha val="2000"/>
            </a:srgbClr>
          </a:solidFill>
          <a:ln/>
        </p:spPr>
      </p:sp>
      <p:sp>
        <p:nvSpPr>
          <p:cNvPr id="48" name="Shape 46"/>
          <p:cNvSpPr/>
          <p:nvPr/>
        </p:nvSpPr>
        <p:spPr>
          <a:xfrm>
            <a:off x="2819400" y="6205538"/>
            <a:ext cx="3543300" cy="9525"/>
          </a:xfrm>
          <a:prstGeom prst="rect">
            <a:avLst/>
          </a:prstGeom>
          <a:solidFill>
            <a:srgbClr val="2A2F3A"/>
          </a:solidFill>
          <a:ln/>
        </p:spPr>
      </p:sp>
      <p:sp>
        <p:nvSpPr>
          <p:cNvPr id="49" name="Text 47"/>
          <p:cNvSpPr/>
          <p:nvPr/>
        </p:nvSpPr>
        <p:spPr>
          <a:xfrm>
            <a:off x="2971800" y="5834063"/>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Evasion and credentials</a:t>
            </a:r>
            <a:endParaRPr lang="en-US" sz="1800" dirty="0"/>
          </a:p>
        </p:txBody>
      </p:sp>
      <p:sp>
        <p:nvSpPr>
          <p:cNvPr id="50" name="Shape 48"/>
          <p:cNvSpPr/>
          <p:nvPr/>
        </p:nvSpPr>
        <p:spPr>
          <a:xfrm>
            <a:off x="6362700" y="5729288"/>
            <a:ext cx="11125200" cy="485775"/>
          </a:xfrm>
          <a:prstGeom prst="rect">
            <a:avLst/>
          </a:prstGeom>
          <a:solidFill>
            <a:srgbClr val="FFFFFF">
              <a:alpha val="2000"/>
            </a:srgbClr>
          </a:solidFill>
          <a:ln/>
        </p:spPr>
      </p:sp>
      <p:sp>
        <p:nvSpPr>
          <p:cNvPr id="51" name="Shape 49"/>
          <p:cNvSpPr/>
          <p:nvPr/>
        </p:nvSpPr>
        <p:spPr>
          <a:xfrm>
            <a:off x="6362700" y="6205538"/>
            <a:ext cx="11125200" cy="9525"/>
          </a:xfrm>
          <a:prstGeom prst="rect">
            <a:avLst/>
          </a:prstGeom>
          <a:solidFill>
            <a:srgbClr val="2A2F3A"/>
          </a:solidFill>
          <a:ln/>
        </p:spPr>
      </p:sp>
      <p:sp>
        <p:nvSpPr>
          <p:cNvPr id="52" name="Text 50"/>
          <p:cNvSpPr/>
          <p:nvPr/>
        </p:nvSpPr>
        <p:spPr>
          <a:xfrm>
            <a:off x="6515100" y="5834063"/>
            <a:ext cx="111541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Antivirus evasion, password attacks and hashes</a:t>
            </a:r>
            <a:endParaRPr lang="en-US" sz="1800" dirty="0"/>
          </a:p>
        </p:txBody>
      </p:sp>
      <p:sp>
        <p:nvSpPr>
          <p:cNvPr id="53" name="Shape 51"/>
          <p:cNvSpPr/>
          <p:nvPr/>
        </p:nvSpPr>
        <p:spPr>
          <a:xfrm>
            <a:off x="800100" y="6691313"/>
            <a:ext cx="2019300" cy="9525"/>
          </a:xfrm>
          <a:prstGeom prst="rect">
            <a:avLst/>
          </a:prstGeom>
          <a:solidFill>
            <a:srgbClr val="2A2F3A"/>
          </a:solidFill>
          <a:ln/>
        </p:spPr>
      </p:sp>
      <p:sp>
        <p:nvSpPr>
          <p:cNvPr id="54" name="Text 52"/>
          <p:cNvSpPr/>
          <p:nvPr/>
        </p:nvSpPr>
        <p:spPr>
          <a:xfrm>
            <a:off x="952500" y="6319838"/>
            <a:ext cx="1790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15–16</a:t>
            </a:r>
            <a:endParaRPr lang="en-US" sz="1800" dirty="0"/>
          </a:p>
        </p:txBody>
      </p:sp>
      <p:sp>
        <p:nvSpPr>
          <p:cNvPr id="55" name="Shape 53"/>
          <p:cNvSpPr/>
          <p:nvPr/>
        </p:nvSpPr>
        <p:spPr>
          <a:xfrm>
            <a:off x="2819400" y="6691313"/>
            <a:ext cx="3543300" cy="9525"/>
          </a:xfrm>
          <a:prstGeom prst="rect">
            <a:avLst/>
          </a:prstGeom>
          <a:solidFill>
            <a:srgbClr val="2A2F3A"/>
          </a:solidFill>
          <a:ln/>
        </p:spPr>
      </p:sp>
      <p:sp>
        <p:nvSpPr>
          <p:cNvPr id="56" name="Text 54"/>
          <p:cNvSpPr/>
          <p:nvPr/>
        </p:nvSpPr>
        <p:spPr>
          <a:xfrm>
            <a:off x="2971800" y="6319838"/>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Privilege escalation</a:t>
            </a:r>
            <a:endParaRPr lang="en-US" sz="1800" dirty="0"/>
          </a:p>
        </p:txBody>
      </p:sp>
      <p:sp>
        <p:nvSpPr>
          <p:cNvPr id="57" name="Shape 55"/>
          <p:cNvSpPr/>
          <p:nvPr/>
        </p:nvSpPr>
        <p:spPr>
          <a:xfrm>
            <a:off x="6362700" y="6691313"/>
            <a:ext cx="11125200" cy="9525"/>
          </a:xfrm>
          <a:prstGeom prst="rect">
            <a:avLst/>
          </a:prstGeom>
          <a:solidFill>
            <a:srgbClr val="2A2F3A"/>
          </a:solidFill>
          <a:ln/>
        </p:spPr>
      </p:sp>
      <p:sp>
        <p:nvSpPr>
          <p:cNvPr id="58" name="Text 56"/>
          <p:cNvSpPr/>
          <p:nvPr/>
        </p:nvSpPr>
        <p:spPr>
          <a:xfrm>
            <a:off x="6515100" y="6319838"/>
            <a:ext cx="111541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Windows and Linux escalation</a:t>
            </a:r>
            <a:endParaRPr lang="en-US" sz="1800" dirty="0"/>
          </a:p>
        </p:txBody>
      </p:sp>
      <p:sp>
        <p:nvSpPr>
          <p:cNvPr id="59" name="Shape 57"/>
          <p:cNvSpPr/>
          <p:nvPr/>
        </p:nvSpPr>
        <p:spPr>
          <a:xfrm>
            <a:off x="800100" y="6700838"/>
            <a:ext cx="2019300" cy="485775"/>
          </a:xfrm>
          <a:prstGeom prst="rect">
            <a:avLst/>
          </a:prstGeom>
          <a:solidFill>
            <a:srgbClr val="FFFFFF">
              <a:alpha val="2000"/>
            </a:srgbClr>
          </a:solidFill>
          <a:ln/>
        </p:spPr>
      </p:sp>
      <p:sp>
        <p:nvSpPr>
          <p:cNvPr id="60" name="Shape 58"/>
          <p:cNvSpPr/>
          <p:nvPr/>
        </p:nvSpPr>
        <p:spPr>
          <a:xfrm>
            <a:off x="800100" y="7177088"/>
            <a:ext cx="2019300" cy="9525"/>
          </a:xfrm>
          <a:prstGeom prst="rect">
            <a:avLst/>
          </a:prstGeom>
          <a:solidFill>
            <a:srgbClr val="2A2F3A"/>
          </a:solidFill>
          <a:ln/>
        </p:spPr>
      </p:sp>
      <p:sp>
        <p:nvSpPr>
          <p:cNvPr id="61" name="Text 59"/>
          <p:cNvSpPr/>
          <p:nvPr/>
        </p:nvSpPr>
        <p:spPr>
          <a:xfrm>
            <a:off x="952500" y="6805613"/>
            <a:ext cx="1790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17–19</a:t>
            </a:r>
            <a:endParaRPr lang="en-US" sz="1800" dirty="0"/>
          </a:p>
        </p:txBody>
      </p:sp>
      <p:sp>
        <p:nvSpPr>
          <p:cNvPr id="62" name="Shape 60"/>
          <p:cNvSpPr/>
          <p:nvPr/>
        </p:nvSpPr>
        <p:spPr>
          <a:xfrm>
            <a:off x="2819400" y="6700838"/>
            <a:ext cx="3543300" cy="485775"/>
          </a:xfrm>
          <a:prstGeom prst="rect">
            <a:avLst/>
          </a:prstGeom>
          <a:solidFill>
            <a:srgbClr val="FFFFFF">
              <a:alpha val="2000"/>
            </a:srgbClr>
          </a:solidFill>
          <a:ln/>
        </p:spPr>
      </p:sp>
      <p:sp>
        <p:nvSpPr>
          <p:cNvPr id="63" name="Shape 61"/>
          <p:cNvSpPr/>
          <p:nvPr/>
        </p:nvSpPr>
        <p:spPr>
          <a:xfrm>
            <a:off x="2819400" y="7177088"/>
            <a:ext cx="3543300" cy="9525"/>
          </a:xfrm>
          <a:prstGeom prst="rect">
            <a:avLst/>
          </a:prstGeom>
          <a:solidFill>
            <a:srgbClr val="2A2F3A"/>
          </a:solidFill>
          <a:ln/>
        </p:spPr>
      </p:sp>
      <p:sp>
        <p:nvSpPr>
          <p:cNvPr id="64" name="Text 62"/>
          <p:cNvSpPr/>
          <p:nvPr/>
        </p:nvSpPr>
        <p:spPr>
          <a:xfrm>
            <a:off x="2971800" y="6805613"/>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Movement and tooling</a:t>
            </a:r>
            <a:endParaRPr lang="en-US" sz="1800" dirty="0"/>
          </a:p>
        </p:txBody>
      </p:sp>
      <p:sp>
        <p:nvSpPr>
          <p:cNvPr id="65" name="Shape 63"/>
          <p:cNvSpPr/>
          <p:nvPr/>
        </p:nvSpPr>
        <p:spPr>
          <a:xfrm>
            <a:off x="6362700" y="6700838"/>
            <a:ext cx="11125200" cy="485775"/>
          </a:xfrm>
          <a:prstGeom prst="rect">
            <a:avLst/>
          </a:prstGeom>
          <a:solidFill>
            <a:srgbClr val="FFFFFF">
              <a:alpha val="2000"/>
            </a:srgbClr>
          </a:solidFill>
          <a:ln/>
        </p:spPr>
      </p:sp>
      <p:sp>
        <p:nvSpPr>
          <p:cNvPr id="66" name="Shape 64"/>
          <p:cNvSpPr/>
          <p:nvPr/>
        </p:nvSpPr>
        <p:spPr>
          <a:xfrm>
            <a:off x="6362700" y="7177088"/>
            <a:ext cx="11125200" cy="9525"/>
          </a:xfrm>
          <a:prstGeom prst="rect">
            <a:avLst/>
          </a:prstGeom>
          <a:solidFill>
            <a:srgbClr val="2A2F3A"/>
          </a:solidFill>
          <a:ln/>
        </p:spPr>
      </p:sp>
      <p:sp>
        <p:nvSpPr>
          <p:cNvPr id="67" name="Text 65"/>
          <p:cNvSpPr/>
          <p:nvPr/>
        </p:nvSpPr>
        <p:spPr>
          <a:xfrm>
            <a:off x="6515100" y="6805613"/>
            <a:ext cx="111541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Port redirection and SSH tunnelling, advanced tunnelling, Metasploit</a:t>
            </a:r>
            <a:endParaRPr lang="en-US" sz="1800" dirty="0"/>
          </a:p>
        </p:txBody>
      </p:sp>
      <p:sp>
        <p:nvSpPr>
          <p:cNvPr id="68" name="Shape 66"/>
          <p:cNvSpPr/>
          <p:nvPr/>
        </p:nvSpPr>
        <p:spPr>
          <a:xfrm>
            <a:off x="800100" y="7662863"/>
            <a:ext cx="2019300" cy="9525"/>
          </a:xfrm>
          <a:prstGeom prst="rect">
            <a:avLst/>
          </a:prstGeom>
          <a:solidFill>
            <a:srgbClr val="2A2F3A"/>
          </a:solidFill>
          <a:ln/>
        </p:spPr>
      </p:sp>
      <p:sp>
        <p:nvSpPr>
          <p:cNvPr id="69" name="Text 67"/>
          <p:cNvSpPr/>
          <p:nvPr/>
        </p:nvSpPr>
        <p:spPr>
          <a:xfrm>
            <a:off x="952500" y="7291388"/>
            <a:ext cx="1790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20–22</a:t>
            </a:r>
            <a:endParaRPr lang="en-US" sz="1800" dirty="0"/>
          </a:p>
        </p:txBody>
      </p:sp>
      <p:sp>
        <p:nvSpPr>
          <p:cNvPr id="70" name="Shape 68"/>
          <p:cNvSpPr/>
          <p:nvPr/>
        </p:nvSpPr>
        <p:spPr>
          <a:xfrm>
            <a:off x="2819400" y="7662863"/>
            <a:ext cx="3543300" cy="9525"/>
          </a:xfrm>
          <a:prstGeom prst="rect">
            <a:avLst/>
          </a:prstGeom>
          <a:solidFill>
            <a:srgbClr val="2A2F3A"/>
          </a:solidFill>
          <a:ln/>
        </p:spPr>
      </p:sp>
      <p:sp>
        <p:nvSpPr>
          <p:cNvPr id="71" name="Text 69"/>
          <p:cNvSpPr/>
          <p:nvPr/>
        </p:nvSpPr>
        <p:spPr>
          <a:xfrm>
            <a:off x="2971800" y="7291388"/>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Active Directory</a:t>
            </a:r>
            <a:endParaRPr lang="en-US" sz="1800" dirty="0"/>
          </a:p>
        </p:txBody>
      </p:sp>
      <p:sp>
        <p:nvSpPr>
          <p:cNvPr id="72" name="Shape 70"/>
          <p:cNvSpPr/>
          <p:nvPr/>
        </p:nvSpPr>
        <p:spPr>
          <a:xfrm>
            <a:off x="6362700" y="7662863"/>
            <a:ext cx="11125200" cy="9525"/>
          </a:xfrm>
          <a:prstGeom prst="rect">
            <a:avLst/>
          </a:prstGeom>
          <a:solidFill>
            <a:srgbClr val="2A2F3A"/>
          </a:solidFill>
          <a:ln/>
        </p:spPr>
      </p:sp>
      <p:sp>
        <p:nvSpPr>
          <p:cNvPr id="73" name="Text 71"/>
          <p:cNvSpPr/>
          <p:nvPr/>
        </p:nvSpPr>
        <p:spPr>
          <a:xfrm>
            <a:off x="6515100" y="7291388"/>
            <a:ext cx="111541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Enumeration, authentication attacks, lateral movement and persistence</a:t>
            </a:r>
            <a:endParaRPr lang="en-US" sz="1800" dirty="0"/>
          </a:p>
        </p:txBody>
      </p:sp>
      <p:sp>
        <p:nvSpPr>
          <p:cNvPr id="74" name="Shape 72"/>
          <p:cNvSpPr/>
          <p:nvPr/>
        </p:nvSpPr>
        <p:spPr>
          <a:xfrm>
            <a:off x="800100" y="7672388"/>
            <a:ext cx="2019300" cy="485775"/>
          </a:xfrm>
          <a:prstGeom prst="rect">
            <a:avLst/>
          </a:prstGeom>
          <a:solidFill>
            <a:srgbClr val="FFFFFF">
              <a:alpha val="2000"/>
            </a:srgbClr>
          </a:solidFill>
          <a:ln/>
        </p:spPr>
      </p:sp>
      <p:sp>
        <p:nvSpPr>
          <p:cNvPr id="75" name="Shape 73"/>
          <p:cNvSpPr/>
          <p:nvPr/>
        </p:nvSpPr>
        <p:spPr>
          <a:xfrm>
            <a:off x="800100" y="8148638"/>
            <a:ext cx="2019300" cy="9525"/>
          </a:xfrm>
          <a:prstGeom prst="rect">
            <a:avLst/>
          </a:prstGeom>
          <a:solidFill>
            <a:srgbClr val="2A2F3A"/>
          </a:solidFill>
          <a:ln/>
        </p:spPr>
      </p:sp>
      <p:sp>
        <p:nvSpPr>
          <p:cNvPr id="76" name="Text 74"/>
          <p:cNvSpPr/>
          <p:nvPr/>
        </p:nvSpPr>
        <p:spPr>
          <a:xfrm>
            <a:off x="952500" y="7777163"/>
            <a:ext cx="1790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23–24</a:t>
            </a:r>
            <a:endParaRPr lang="en-US" sz="1800" dirty="0"/>
          </a:p>
        </p:txBody>
      </p:sp>
      <p:sp>
        <p:nvSpPr>
          <p:cNvPr id="77" name="Shape 75"/>
          <p:cNvSpPr/>
          <p:nvPr/>
        </p:nvSpPr>
        <p:spPr>
          <a:xfrm>
            <a:off x="2819400" y="7672388"/>
            <a:ext cx="3543300" cy="485775"/>
          </a:xfrm>
          <a:prstGeom prst="rect">
            <a:avLst/>
          </a:prstGeom>
          <a:solidFill>
            <a:srgbClr val="FFFFFF">
              <a:alpha val="2000"/>
            </a:srgbClr>
          </a:solidFill>
          <a:ln/>
        </p:spPr>
      </p:sp>
      <p:sp>
        <p:nvSpPr>
          <p:cNvPr id="78" name="Shape 76"/>
          <p:cNvSpPr/>
          <p:nvPr/>
        </p:nvSpPr>
        <p:spPr>
          <a:xfrm>
            <a:off x="2819400" y="8148638"/>
            <a:ext cx="3543300" cy="9525"/>
          </a:xfrm>
          <a:prstGeom prst="rect">
            <a:avLst/>
          </a:prstGeom>
          <a:solidFill>
            <a:srgbClr val="2A2F3A"/>
          </a:solidFill>
          <a:ln/>
        </p:spPr>
      </p:sp>
      <p:sp>
        <p:nvSpPr>
          <p:cNvPr id="79" name="Text 77"/>
          <p:cNvSpPr/>
          <p:nvPr/>
        </p:nvSpPr>
        <p:spPr>
          <a:xfrm>
            <a:off x="2971800" y="7777163"/>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Consolidation</a:t>
            </a:r>
            <a:endParaRPr lang="en-US" sz="1800" dirty="0"/>
          </a:p>
        </p:txBody>
      </p:sp>
      <p:sp>
        <p:nvSpPr>
          <p:cNvPr id="80" name="Shape 78"/>
          <p:cNvSpPr/>
          <p:nvPr/>
        </p:nvSpPr>
        <p:spPr>
          <a:xfrm>
            <a:off x="6362700" y="7672388"/>
            <a:ext cx="11125200" cy="485775"/>
          </a:xfrm>
          <a:prstGeom prst="rect">
            <a:avLst/>
          </a:prstGeom>
          <a:solidFill>
            <a:srgbClr val="FFFFFF">
              <a:alpha val="2000"/>
            </a:srgbClr>
          </a:solidFill>
          <a:ln/>
        </p:spPr>
      </p:sp>
      <p:sp>
        <p:nvSpPr>
          <p:cNvPr id="81" name="Shape 79"/>
          <p:cNvSpPr/>
          <p:nvPr/>
        </p:nvSpPr>
        <p:spPr>
          <a:xfrm>
            <a:off x="6362700" y="8148638"/>
            <a:ext cx="11125200" cy="9525"/>
          </a:xfrm>
          <a:prstGeom prst="rect">
            <a:avLst/>
          </a:prstGeom>
          <a:solidFill>
            <a:srgbClr val="2A2F3A"/>
          </a:solidFill>
          <a:ln/>
        </p:spPr>
      </p:sp>
      <p:sp>
        <p:nvSpPr>
          <p:cNvPr id="82" name="Text 80"/>
          <p:cNvSpPr/>
          <p:nvPr/>
        </p:nvSpPr>
        <p:spPr>
          <a:xfrm>
            <a:off x="6515100" y="7777163"/>
            <a:ext cx="111541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Assembling the pieces, Challenge Labs and exam information</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1.3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Summary of PWK Learning Modules — what you should now hold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SCALE</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24 Learning Modules in a fixed official order, each divided into Learning Units and Learning Objectives.</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SHAPE</a:t>
            </a:r>
            <a:endParaRPr lang="en-US" sz="1500" dirty="0"/>
          </a:p>
        </p:txBody>
      </p:sp>
      <p:sp>
        <p:nvSpPr>
          <p:cNvPr id="10" name="Text 8"/>
          <p:cNvSpPr/>
          <p:nvPr/>
        </p:nvSpPr>
        <p:spPr>
          <a:xfrm>
            <a:off x="6664300"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Orientation, then enumeration, exploitation, escalation, movement, Active Directory, and finally consolidation.</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USE</a:t>
            </a:r>
            <a:endParaRPr lang="en-US" sz="1500" dirty="0"/>
          </a:p>
        </p:txBody>
      </p:sp>
      <p:sp>
        <p:nvSpPr>
          <p:cNvPr id="13" name="Text 11"/>
          <p:cNvSpPr/>
          <p:nvPr/>
        </p:nvSpPr>
        <p:spPr>
          <a:xfrm>
            <a:off x="12290375" y="538400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ability to place any named technique into the module that owns it — and to know what you have not yet covered.</a:t>
            </a:r>
            <a:endParaRPr lang="en-US" sz="187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9401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APPLIED SCENARIO · DISCUSSION</a:t>
            </a:r>
            <a:endParaRPr lang="en-US" sz="1650" dirty="0"/>
          </a:p>
        </p:txBody>
      </p:sp>
      <p:sp>
        <p:nvSpPr>
          <p:cNvPr id="4" name="Text 2"/>
          <p:cNvSpPr/>
          <p:nvPr/>
        </p:nvSpPr>
        <p:spPr>
          <a:xfrm>
            <a:off x="800100" y="34354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Planning a route through the syllabus</a:t>
            </a:r>
            <a:endParaRPr lang="en-US" sz="3000" dirty="0"/>
          </a:p>
        </p:txBody>
      </p:sp>
      <p:sp>
        <p:nvSpPr>
          <p:cNvPr id="5" name="Text 3"/>
          <p:cNvSpPr/>
          <p:nvPr/>
        </p:nvSpPr>
        <p:spPr>
          <a:xfrm>
            <a:off x="800100" y="4102224"/>
            <a:ext cx="15304770" cy="1239589"/>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new junior tester joins your team. They have three months before a client engagement in which they will assess an internal Windows estate with a domain, and one internet-facing web application. They ask which parts of PEN-200 to prioritise, and in what order.</a:t>
            </a:r>
            <a:endParaRPr lang="en-US" sz="2175" dirty="0"/>
          </a:p>
        </p:txBody>
      </p:sp>
      <p:sp>
        <p:nvSpPr>
          <p:cNvPr id="6" name="Shape 4"/>
          <p:cNvSpPr/>
          <p:nvPr/>
        </p:nvSpPr>
        <p:spPr>
          <a:xfrm>
            <a:off x="800100" y="5551363"/>
            <a:ext cx="5435575" cy="1795463"/>
          </a:xfrm>
          <a:prstGeom prst="roundRect">
            <a:avLst>
              <a:gd name="adj" fmla="val 8488"/>
            </a:avLst>
          </a:prstGeom>
          <a:solidFill>
            <a:srgbClr val="FFFFFF">
              <a:alpha val="2000"/>
            </a:srgbClr>
          </a:solidFill>
          <a:ln w="9525">
            <a:solidFill>
              <a:srgbClr val="2A2F3A"/>
            </a:solidFill>
            <a:prstDash val="solid"/>
          </a:ln>
        </p:spPr>
      </p:sp>
      <p:sp>
        <p:nvSpPr>
          <p:cNvPr id="7" name="Text 5"/>
          <p:cNvSpPr/>
          <p:nvPr/>
        </p:nvSpPr>
        <p:spPr>
          <a:xfrm>
            <a:off x="1038225" y="5789488"/>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8" name="Text 6"/>
          <p:cNvSpPr/>
          <p:nvPr/>
        </p:nvSpPr>
        <p:spPr>
          <a:xfrm>
            <a:off x="1038225" y="610857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Which modules are prerequisites for the Active Directory chain, and which can be deferred without breaking the dependency order?</a:t>
            </a:r>
            <a:endParaRPr lang="en-US" sz="1875" dirty="0"/>
          </a:p>
        </p:txBody>
      </p:sp>
      <p:sp>
        <p:nvSpPr>
          <p:cNvPr id="9" name="Shape 7"/>
          <p:cNvSpPr/>
          <p:nvPr/>
        </p:nvSpPr>
        <p:spPr>
          <a:xfrm>
            <a:off x="6426175" y="5551363"/>
            <a:ext cx="543557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6664300" y="5789488"/>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1" name="Text 9"/>
          <p:cNvSpPr/>
          <p:nvPr/>
        </p:nvSpPr>
        <p:spPr>
          <a:xfrm>
            <a:off x="6664300" y="610857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Where does Module 4, Report Writing, belong in that plan — and what happens to the engagement if it is skipped?</a:t>
            </a:r>
            <a:endParaRPr lang="en-US" sz="1875" dirty="0"/>
          </a:p>
        </p:txBody>
      </p:sp>
      <p:sp>
        <p:nvSpPr>
          <p:cNvPr id="12" name="Shape 10"/>
          <p:cNvSpPr/>
          <p:nvPr/>
        </p:nvSpPr>
        <p:spPr>
          <a:xfrm>
            <a:off x="12052250" y="5551363"/>
            <a:ext cx="5435650"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12290375" y="5789488"/>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4" name="Text 12"/>
          <p:cNvSpPr/>
          <p:nvPr/>
        </p:nvSpPr>
        <p:spPr>
          <a:xfrm>
            <a:off x="12290375" y="610857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How does the increasing-uncertainty model change how you would judge whether they are ready?</a:t>
            </a:r>
            <a:endParaRPr lang="en-US" sz="187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27002"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4125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1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Reading the syllabus as a scope contract</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Treat each Learning Objective as a testable statement. If a claim cannot be traced to an objective, it is outside the course — regardless of how commonly it appears in third-party material.</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For any topic, ask three questions in order: which module, which unit, which objective? If the third has no answer, the topic is out of scope.</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Third-party blogs and community lists that contradict the official outline on module names, ordering, or coverage. The vendor document wins, always.</a:t>
            </a:r>
            <a:endParaRPr lang="en-US" sz="187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35126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065511"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2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Building a module tracker</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Create a single record listing all 24 modules with their units, and mark each one as not started, read, practised, or recalled without notes. The last state is the only one that counts.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Curve of Forgetting, covered in Module 3, means read material decays quickly. A tracker distinguishes coverage from retention, which self-assessment alone will not.</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EVIDENCE TO LOOK FOR</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Modules marked "read" for more than a fortnight with no recall attempt. Those are the modules that will fail you under uncertainty.</a:t>
            </a:r>
            <a:endParaRPr lang="en-US" sz="187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356396"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07064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3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Note discipline from module one</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Start the note-taking practice that Module 4 formalises on day one, not at Module 4. Notes taken retrospectively are reconstructions, and reconstructions lose the detail that matters.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4 covers note portability, the general structure of pentesting documentation, choosing a tool, and taking screenshots — all of which assume notes already exist to structure.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LIMITATION</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Notes are only portable if the tool is. Choose one you can export from before you have three months of material inside it.</a:t>
            </a:r>
            <a:endParaRPr lang="en-US" sz="187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35996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07421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4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Protecting the working environment</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attacking Kali VM built in Objective 1.1 is a dependency for all 23 remaining modules. Treat it as production, because for the duration of the course it is.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Snapshot after initial configuration, and again after each major tooling change. Keep notes and artefacts somewhere the VM's failure cannot take them with it.</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TRADE-OFF</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Snapshots cost disk. A rebuilt environment costs days — and always at the point in the course where momentum matters most.</a:t>
            </a:r>
            <a:endParaRPr lang="en-US" sz="187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366963"/>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ACRONYM SPOTLIGHT</a:t>
            </a:r>
            <a:endParaRPr lang="en-US" sz="1650" dirty="0"/>
          </a:p>
        </p:txBody>
      </p:sp>
      <p:sp>
        <p:nvSpPr>
          <p:cNvPr id="4" name="Text 2"/>
          <p:cNvSpPr/>
          <p:nvPr/>
        </p:nvSpPr>
        <p:spPr>
          <a:xfrm>
            <a:off x="800100" y="286226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Terms introduced in Module 1</a:t>
            </a:r>
            <a:endParaRPr lang="en-US" sz="3000" dirty="0"/>
          </a:p>
        </p:txBody>
      </p:sp>
      <p:sp>
        <p:nvSpPr>
          <p:cNvPr id="5" name="Shape 3"/>
          <p:cNvSpPr/>
          <p:nvPr/>
        </p:nvSpPr>
        <p:spPr>
          <a:xfrm>
            <a:off x="800100" y="3529013"/>
            <a:ext cx="2400300" cy="500063"/>
          </a:xfrm>
          <a:prstGeom prst="rect">
            <a:avLst/>
          </a:prstGeom>
          <a:solidFill>
            <a:srgbClr val="FF6A00">
              <a:alpha val="18000"/>
            </a:srgbClr>
          </a:solidFill>
          <a:ln/>
        </p:spPr>
      </p:sp>
      <p:sp>
        <p:nvSpPr>
          <p:cNvPr id="6" name="Shape 4"/>
          <p:cNvSpPr/>
          <p:nvPr/>
        </p:nvSpPr>
        <p:spPr>
          <a:xfrm>
            <a:off x="800100" y="4019550"/>
            <a:ext cx="2400300" cy="9525"/>
          </a:xfrm>
          <a:prstGeom prst="rect">
            <a:avLst/>
          </a:prstGeom>
          <a:solidFill>
            <a:srgbClr val="B85100"/>
          </a:solidFill>
          <a:ln/>
        </p:spPr>
      </p:sp>
      <p:sp>
        <p:nvSpPr>
          <p:cNvPr id="7" name="Text 5"/>
          <p:cNvSpPr/>
          <p:nvPr/>
        </p:nvSpPr>
        <p:spPr>
          <a:xfrm>
            <a:off x="952500" y="3643313"/>
            <a:ext cx="2171700"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Acronym</a:t>
            </a:r>
            <a:endParaRPr lang="en-US" sz="1800" dirty="0"/>
          </a:p>
        </p:txBody>
      </p:sp>
      <p:sp>
        <p:nvSpPr>
          <p:cNvPr id="8" name="Shape 6"/>
          <p:cNvSpPr/>
          <p:nvPr/>
        </p:nvSpPr>
        <p:spPr>
          <a:xfrm>
            <a:off x="3200400" y="3529013"/>
            <a:ext cx="5257800" cy="500063"/>
          </a:xfrm>
          <a:prstGeom prst="rect">
            <a:avLst/>
          </a:prstGeom>
          <a:solidFill>
            <a:srgbClr val="FF6A00">
              <a:alpha val="18000"/>
            </a:srgbClr>
          </a:solidFill>
          <a:ln/>
        </p:spPr>
      </p:sp>
      <p:sp>
        <p:nvSpPr>
          <p:cNvPr id="9" name="Shape 7"/>
          <p:cNvSpPr/>
          <p:nvPr/>
        </p:nvSpPr>
        <p:spPr>
          <a:xfrm>
            <a:off x="3200400" y="4019550"/>
            <a:ext cx="5257800" cy="9525"/>
          </a:xfrm>
          <a:prstGeom prst="rect">
            <a:avLst/>
          </a:prstGeom>
          <a:solidFill>
            <a:srgbClr val="B85100"/>
          </a:solidFill>
          <a:ln/>
        </p:spPr>
      </p:sp>
      <p:sp>
        <p:nvSpPr>
          <p:cNvPr id="10" name="Text 8"/>
          <p:cNvSpPr/>
          <p:nvPr/>
        </p:nvSpPr>
        <p:spPr>
          <a:xfrm>
            <a:off x="3352800" y="3643313"/>
            <a:ext cx="511073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Expansion</a:t>
            </a:r>
            <a:endParaRPr lang="en-US" sz="1800" dirty="0"/>
          </a:p>
        </p:txBody>
      </p:sp>
      <p:sp>
        <p:nvSpPr>
          <p:cNvPr id="11" name="Shape 9"/>
          <p:cNvSpPr/>
          <p:nvPr/>
        </p:nvSpPr>
        <p:spPr>
          <a:xfrm>
            <a:off x="8458200" y="3529013"/>
            <a:ext cx="9029700" cy="500063"/>
          </a:xfrm>
          <a:prstGeom prst="rect">
            <a:avLst/>
          </a:prstGeom>
          <a:solidFill>
            <a:srgbClr val="FF6A00">
              <a:alpha val="18000"/>
            </a:srgbClr>
          </a:solidFill>
          <a:ln/>
        </p:spPr>
      </p:sp>
      <p:sp>
        <p:nvSpPr>
          <p:cNvPr id="12" name="Shape 10"/>
          <p:cNvSpPr/>
          <p:nvPr/>
        </p:nvSpPr>
        <p:spPr>
          <a:xfrm>
            <a:off x="8458200" y="4019550"/>
            <a:ext cx="9029700" cy="9525"/>
          </a:xfrm>
          <a:prstGeom prst="rect">
            <a:avLst/>
          </a:prstGeom>
          <a:solidFill>
            <a:srgbClr val="B85100"/>
          </a:solidFill>
          <a:ln/>
        </p:spPr>
      </p:sp>
      <p:sp>
        <p:nvSpPr>
          <p:cNvPr id="13" name="Text 11"/>
          <p:cNvSpPr/>
          <p:nvPr/>
        </p:nvSpPr>
        <p:spPr>
          <a:xfrm>
            <a:off x="8610600" y="3643313"/>
            <a:ext cx="8995791"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names</a:t>
            </a:r>
            <a:endParaRPr lang="en-US" sz="1800" dirty="0"/>
          </a:p>
        </p:txBody>
      </p:sp>
      <p:sp>
        <p:nvSpPr>
          <p:cNvPr id="14" name="Shape 12"/>
          <p:cNvSpPr/>
          <p:nvPr/>
        </p:nvSpPr>
        <p:spPr>
          <a:xfrm>
            <a:off x="800100" y="4029075"/>
            <a:ext cx="2400300" cy="485775"/>
          </a:xfrm>
          <a:prstGeom prst="rect">
            <a:avLst/>
          </a:prstGeom>
          <a:solidFill>
            <a:srgbClr val="FFFFFF">
              <a:alpha val="2000"/>
            </a:srgbClr>
          </a:solidFill>
          <a:ln/>
        </p:spPr>
      </p:sp>
      <p:sp>
        <p:nvSpPr>
          <p:cNvPr id="15" name="Shape 13"/>
          <p:cNvSpPr/>
          <p:nvPr/>
        </p:nvSpPr>
        <p:spPr>
          <a:xfrm>
            <a:off x="800100" y="4505325"/>
            <a:ext cx="2400300" cy="9525"/>
          </a:xfrm>
          <a:prstGeom prst="rect">
            <a:avLst/>
          </a:prstGeom>
          <a:solidFill>
            <a:srgbClr val="2A2F3A"/>
          </a:solidFill>
          <a:ln/>
        </p:spPr>
      </p:sp>
      <p:sp>
        <p:nvSpPr>
          <p:cNvPr id="16" name="Text 14"/>
          <p:cNvSpPr/>
          <p:nvPr/>
        </p:nvSpPr>
        <p:spPr>
          <a:xfrm>
            <a:off x="952500" y="4133850"/>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PEN-200</a:t>
            </a:r>
            <a:endParaRPr lang="en-US" sz="1800" dirty="0"/>
          </a:p>
        </p:txBody>
      </p:sp>
      <p:sp>
        <p:nvSpPr>
          <p:cNvPr id="17" name="Shape 15"/>
          <p:cNvSpPr/>
          <p:nvPr/>
        </p:nvSpPr>
        <p:spPr>
          <a:xfrm>
            <a:off x="3200400" y="4029075"/>
            <a:ext cx="5257800" cy="485775"/>
          </a:xfrm>
          <a:prstGeom prst="rect">
            <a:avLst/>
          </a:prstGeom>
          <a:solidFill>
            <a:srgbClr val="FFFFFF">
              <a:alpha val="2000"/>
            </a:srgbClr>
          </a:solidFill>
          <a:ln/>
        </p:spPr>
      </p:sp>
      <p:sp>
        <p:nvSpPr>
          <p:cNvPr id="18" name="Shape 16"/>
          <p:cNvSpPr/>
          <p:nvPr/>
        </p:nvSpPr>
        <p:spPr>
          <a:xfrm>
            <a:off x="3200400" y="4505325"/>
            <a:ext cx="5257800" cy="9525"/>
          </a:xfrm>
          <a:prstGeom prst="rect">
            <a:avLst/>
          </a:prstGeom>
          <a:solidFill>
            <a:srgbClr val="2A2F3A"/>
          </a:solidFill>
          <a:ln/>
        </p:spPr>
      </p:sp>
      <p:sp>
        <p:nvSpPr>
          <p:cNvPr id="19" name="Text 17"/>
          <p:cNvSpPr/>
          <p:nvPr/>
        </p:nvSpPr>
        <p:spPr>
          <a:xfrm>
            <a:off x="3352800" y="4133850"/>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 (course code)</a:t>
            </a:r>
            <a:endParaRPr lang="en-US" sz="1800" dirty="0"/>
          </a:p>
        </p:txBody>
      </p:sp>
      <p:sp>
        <p:nvSpPr>
          <p:cNvPr id="20" name="Shape 18"/>
          <p:cNvSpPr/>
          <p:nvPr/>
        </p:nvSpPr>
        <p:spPr>
          <a:xfrm>
            <a:off x="8458200" y="4029075"/>
            <a:ext cx="9029700" cy="485775"/>
          </a:xfrm>
          <a:prstGeom prst="rect">
            <a:avLst/>
          </a:prstGeom>
          <a:solidFill>
            <a:srgbClr val="FFFFFF">
              <a:alpha val="2000"/>
            </a:srgbClr>
          </a:solidFill>
          <a:ln/>
        </p:spPr>
      </p:sp>
      <p:sp>
        <p:nvSpPr>
          <p:cNvPr id="21" name="Shape 19"/>
          <p:cNvSpPr/>
          <p:nvPr/>
        </p:nvSpPr>
        <p:spPr>
          <a:xfrm>
            <a:off x="8458200" y="4505325"/>
            <a:ext cx="9029700" cy="9525"/>
          </a:xfrm>
          <a:prstGeom prst="rect">
            <a:avLst/>
          </a:prstGeom>
          <a:solidFill>
            <a:srgbClr val="2A2F3A"/>
          </a:solidFill>
          <a:ln/>
        </p:spPr>
      </p:sp>
      <p:sp>
        <p:nvSpPr>
          <p:cNvPr id="22" name="Text 20"/>
          <p:cNvSpPr/>
          <p:nvPr/>
        </p:nvSpPr>
        <p:spPr>
          <a:xfrm>
            <a:off x="8610600" y="4133850"/>
            <a:ext cx="899579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OffSec's Penetration Testing with Kali Linux course</a:t>
            </a:r>
            <a:endParaRPr lang="en-US" sz="1800" dirty="0"/>
          </a:p>
        </p:txBody>
      </p:sp>
      <p:sp>
        <p:nvSpPr>
          <p:cNvPr id="23" name="Shape 21"/>
          <p:cNvSpPr/>
          <p:nvPr/>
        </p:nvSpPr>
        <p:spPr>
          <a:xfrm>
            <a:off x="800100" y="4991100"/>
            <a:ext cx="2400300" cy="9525"/>
          </a:xfrm>
          <a:prstGeom prst="rect">
            <a:avLst/>
          </a:prstGeom>
          <a:solidFill>
            <a:srgbClr val="2A2F3A"/>
          </a:solidFill>
          <a:ln/>
        </p:spPr>
      </p:sp>
      <p:sp>
        <p:nvSpPr>
          <p:cNvPr id="24" name="Text 22"/>
          <p:cNvSpPr/>
          <p:nvPr/>
        </p:nvSpPr>
        <p:spPr>
          <a:xfrm>
            <a:off x="952500" y="4619625"/>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PWK</a:t>
            </a:r>
            <a:endParaRPr lang="en-US" sz="1800" dirty="0"/>
          </a:p>
        </p:txBody>
      </p:sp>
      <p:sp>
        <p:nvSpPr>
          <p:cNvPr id="25" name="Shape 23"/>
          <p:cNvSpPr/>
          <p:nvPr/>
        </p:nvSpPr>
        <p:spPr>
          <a:xfrm>
            <a:off x="3200400" y="4991100"/>
            <a:ext cx="5257800" cy="9525"/>
          </a:xfrm>
          <a:prstGeom prst="rect">
            <a:avLst/>
          </a:prstGeom>
          <a:solidFill>
            <a:srgbClr val="2A2F3A"/>
          </a:solidFill>
          <a:ln/>
        </p:spPr>
      </p:sp>
      <p:sp>
        <p:nvSpPr>
          <p:cNvPr id="26" name="Text 24"/>
          <p:cNvSpPr/>
          <p:nvPr/>
        </p:nvSpPr>
        <p:spPr>
          <a:xfrm>
            <a:off x="3352800" y="4619625"/>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Penetration Testing with Kali</a:t>
            </a:r>
            <a:endParaRPr lang="en-US" sz="1800" dirty="0"/>
          </a:p>
        </p:txBody>
      </p:sp>
      <p:sp>
        <p:nvSpPr>
          <p:cNvPr id="27" name="Shape 25"/>
          <p:cNvSpPr/>
          <p:nvPr/>
        </p:nvSpPr>
        <p:spPr>
          <a:xfrm>
            <a:off x="8458200" y="4991100"/>
            <a:ext cx="9029700" cy="9525"/>
          </a:xfrm>
          <a:prstGeom prst="rect">
            <a:avLst/>
          </a:prstGeom>
          <a:solidFill>
            <a:srgbClr val="2A2F3A"/>
          </a:solidFill>
          <a:ln/>
        </p:spPr>
      </p:sp>
      <p:sp>
        <p:nvSpPr>
          <p:cNvPr id="28" name="Text 26"/>
          <p:cNvSpPr/>
          <p:nvPr/>
        </p:nvSpPr>
        <p:spPr>
          <a:xfrm>
            <a:off x="8610600" y="4619625"/>
            <a:ext cx="899579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historic short name for the same course; the syllabus is versioned PWK v3.0</a:t>
            </a:r>
            <a:endParaRPr lang="en-US" sz="1800" dirty="0"/>
          </a:p>
        </p:txBody>
      </p:sp>
      <p:sp>
        <p:nvSpPr>
          <p:cNvPr id="29" name="Shape 27"/>
          <p:cNvSpPr/>
          <p:nvPr/>
        </p:nvSpPr>
        <p:spPr>
          <a:xfrm>
            <a:off x="800100" y="5000625"/>
            <a:ext cx="2400300" cy="485775"/>
          </a:xfrm>
          <a:prstGeom prst="rect">
            <a:avLst/>
          </a:prstGeom>
          <a:solidFill>
            <a:srgbClr val="FFFFFF">
              <a:alpha val="2000"/>
            </a:srgbClr>
          </a:solidFill>
          <a:ln/>
        </p:spPr>
      </p:sp>
      <p:sp>
        <p:nvSpPr>
          <p:cNvPr id="30" name="Shape 28"/>
          <p:cNvSpPr/>
          <p:nvPr/>
        </p:nvSpPr>
        <p:spPr>
          <a:xfrm>
            <a:off x="800100" y="5476875"/>
            <a:ext cx="2400300" cy="9525"/>
          </a:xfrm>
          <a:prstGeom prst="rect">
            <a:avLst/>
          </a:prstGeom>
          <a:solidFill>
            <a:srgbClr val="2A2F3A"/>
          </a:solidFill>
          <a:ln/>
        </p:spPr>
      </p:sp>
      <p:sp>
        <p:nvSpPr>
          <p:cNvPr id="31" name="Text 29"/>
          <p:cNvSpPr/>
          <p:nvPr/>
        </p:nvSpPr>
        <p:spPr>
          <a:xfrm>
            <a:off x="952500" y="5105400"/>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OSCP</a:t>
            </a:r>
            <a:endParaRPr lang="en-US" sz="1800" dirty="0"/>
          </a:p>
        </p:txBody>
      </p:sp>
      <p:sp>
        <p:nvSpPr>
          <p:cNvPr id="32" name="Shape 30"/>
          <p:cNvSpPr/>
          <p:nvPr/>
        </p:nvSpPr>
        <p:spPr>
          <a:xfrm>
            <a:off x="3200400" y="5000625"/>
            <a:ext cx="5257800" cy="485775"/>
          </a:xfrm>
          <a:prstGeom prst="rect">
            <a:avLst/>
          </a:prstGeom>
          <a:solidFill>
            <a:srgbClr val="FFFFFF">
              <a:alpha val="2000"/>
            </a:srgbClr>
          </a:solidFill>
          <a:ln/>
        </p:spPr>
      </p:sp>
      <p:sp>
        <p:nvSpPr>
          <p:cNvPr id="33" name="Shape 31"/>
          <p:cNvSpPr/>
          <p:nvPr/>
        </p:nvSpPr>
        <p:spPr>
          <a:xfrm>
            <a:off x="3200400" y="5476875"/>
            <a:ext cx="5257800" cy="9525"/>
          </a:xfrm>
          <a:prstGeom prst="rect">
            <a:avLst/>
          </a:prstGeom>
          <a:solidFill>
            <a:srgbClr val="2A2F3A"/>
          </a:solidFill>
          <a:ln/>
        </p:spPr>
      </p:sp>
      <p:sp>
        <p:nvSpPr>
          <p:cNvPr id="34" name="Text 32"/>
          <p:cNvSpPr/>
          <p:nvPr/>
        </p:nvSpPr>
        <p:spPr>
          <a:xfrm>
            <a:off x="3352800" y="5105400"/>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OffSec Certified Professional</a:t>
            </a:r>
            <a:endParaRPr lang="en-US" sz="1800" dirty="0"/>
          </a:p>
        </p:txBody>
      </p:sp>
      <p:sp>
        <p:nvSpPr>
          <p:cNvPr id="35" name="Shape 33"/>
          <p:cNvSpPr/>
          <p:nvPr/>
        </p:nvSpPr>
        <p:spPr>
          <a:xfrm>
            <a:off x="8458200" y="5000625"/>
            <a:ext cx="9029700" cy="485775"/>
          </a:xfrm>
          <a:prstGeom prst="rect">
            <a:avLst/>
          </a:prstGeom>
          <a:solidFill>
            <a:srgbClr val="FFFFFF">
              <a:alpha val="2000"/>
            </a:srgbClr>
          </a:solidFill>
          <a:ln/>
        </p:spPr>
      </p:sp>
      <p:sp>
        <p:nvSpPr>
          <p:cNvPr id="36" name="Shape 34"/>
          <p:cNvSpPr/>
          <p:nvPr/>
        </p:nvSpPr>
        <p:spPr>
          <a:xfrm>
            <a:off x="8458200" y="5476875"/>
            <a:ext cx="9029700" cy="9525"/>
          </a:xfrm>
          <a:prstGeom prst="rect">
            <a:avLst/>
          </a:prstGeom>
          <a:solidFill>
            <a:srgbClr val="2A2F3A"/>
          </a:solidFill>
          <a:ln/>
        </p:spPr>
      </p:sp>
      <p:sp>
        <p:nvSpPr>
          <p:cNvPr id="37" name="Text 35"/>
          <p:cNvSpPr/>
          <p:nvPr/>
        </p:nvSpPr>
        <p:spPr>
          <a:xfrm>
            <a:off x="8610600" y="5105400"/>
            <a:ext cx="899579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certification associated with PEN-200</a:t>
            </a:r>
            <a:endParaRPr lang="en-US" sz="1800" dirty="0"/>
          </a:p>
        </p:txBody>
      </p:sp>
      <p:sp>
        <p:nvSpPr>
          <p:cNvPr id="38" name="Shape 36"/>
          <p:cNvSpPr/>
          <p:nvPr/>
        </p:nvSpPr>
        <p:spPr>
          <a:xfrm>
            <a:off x="800100" y="5962650"/>
            <a:ext cx="2400300" cy="9525"/>
          </a:xfrm>
          <a:prstGeom prst="rect">
            <a:avLst/>
          </a:prstGeom>
          <a:solidFill>
            <a:srgbClr val="2A2F3A"/>
          </a:solidFill>
          <a:ln/>
        </p:spPr>
      </p:sp>
      <p:sp>
        <p:nvSpPr>
          <p:cNvPr id="39" name="Text 37"/>
          <p:cNvSpPr/>
          <p:nvPr/>
        </p:nvSpPr>
        <p:spPr>
          <a:xfrm>
            <a:off x="952500" y="5591175"/>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VM</a:t>
            </a:r>
            <a:endParaRPr lang="en-US" sz="1800" dirty="0"/>
          </a:p>
        </p:txBody>
      </p:sp>
      <p:sp>
        <p:nvSpPr>
          <p:cNvPr id="40" name="Shape 38"/>
          <p:cNvSpPr/>
          <p:nvPr/>
        </p:nvSpPr>
        <p:spPr>
          <a:xfrm>
            <a:off x="3200400" y="5962650"/>
            <a:ext cx="5257800" cy="9525"/>
          </a:xfrm>
          <a:prstGeom prst="rect">
            <a:avLst/>
          </a:prstGeom>
          <a:solidFill>
            <a:srgbClr val="2A2F3A"/>
          </a:solidFill>
          <a:ln/>
        </p:spPr>
      </p:sp>
      <p:sp>
        <p:nvSpPr>
          <p:cNvPr id="41" name="Text 39"/>
          <p:cNvSpPr/>
          <p:nvPr/>
        </p:nvSpPr>
        <p:spPr>
          <a:xfrm>
            <a:off x="3352800" y="5591175"/>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Virtual Machine</a:t>
            </a:r>
            <a:endParaRPr lang="en-US" sz="1800" dirty="0"/>
          </a:p>
        </p:txBody>
      </p:sp>
      <p:sp>
        <p:nvSpPr>
          <p:cNvPr id="42" name="Shape 40"/>
          <p:cNvSpPr/>
          <p:nvPr/>
        </p:nvSpPr>
        <p:spPr>
          <a:xfrm>
            <a:off x="8458200" y="5962650"/>
            <a:ext cx="9029700" cy="9525"/>
          </a:xfrm>
          <a:prstGeom prst="rect">
            <a:avLst/>
          </a:prstGeom>
          <a:solidFill>
            <a:srgbClr val="2A2F3A"/>
          </a:solidFill>
          <a:ln/>
        </p:spPr>
      </p:sp>
      <p:sp>
        <p:nvSpPr>
          <p:cNvPr id="43" name="Text 41"/>
          <p:cNvSpPr/>
          <p:nvPr/>
        </p:nvSpPr>
        <p:spPr>
          <a:xfrm>
            <a:off x="8610600" y="5591175"/>
            <a:ext cx="899579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attacking Kali environment built in Objective 1.1</a:t>
            </a:r>
            <a:endParaRPr lang="en-US" sz="1800" dirty="0"/>
          </a:p>
        </p:txBody>
      </p:sp>
      <p:sp>
        <p:nvSpPr>
          <p:cNvPr id="44" name="Shape 42"/>
          <p:cNvSpPr/>
          <p:nvPr/>
        </p:nvSpPr>
        <p:spPr>
          <a:xfrm>
            <a:off x="800100" y="5972175"/>
            <a:ext cx="2400300" cy="485775"/>
          </a:xfrm>
          <a:prstGeom prst="rect">
            <a:avLst/>
          </a:prstGeom>
          <a:solidFill>
            <a:srgbClr val="FFFFFF">
              <a:alpha val="2000"/>
            </a:srgbClr>
          </a:solidFill>
          <a:ln/>
        </p:spPr>
      </p:sp>
      <p:sp>
        <p:nvSpPr>
          <p:cNvPr id="45" name="Shape 43"/>
          <p:cNvSpPr/>
          <p:nvPr/>
        </p:nvSpPr>
        <p:spPr>
          <a:xfrm>
            <a:off x="800100" y="6448425"/>
            <a:ext cx="2400300" cy="9525"/>
          </a:xfrm>
          <a:prstGeom prst="rect">
            <a:avLst/>
          </a:prstGeom>
          <a:solidFill>
            <a:srgbClr val="2A2F3A"/>
          </a:solidFill>
          <a:ln/>
        </p:spPr>
      </p:sp>
      <p:sp>
        <p:nvSpPr>
          <p:cNvPr id="46" name="Text 44"/>
          <p:cNvSpPr/>
          <p:nvPr/>
        </p:nvSpPr>
        <p:spPr>
          <a:xfrm>
            <a:off x="952500" y="6076950"/>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VPN</a:t>
            </a:r>
            <a:endParaRPr lang="en-US" sz="1800" dirty="0"/>
          </a:p>
        </p:txBody>
      </p:sp>
      <p:sp>
        <p:nvSpPr>
          <p:cNvPr id="47" name="Shape 45"/>
          <p:cNvSpPr/>
          <p:nvPr/>
        </p:nvSpPr>
        <p:spPr>
          <a:xfrm>
            <a:off x="3200400" y="5972175"/>
            <a:ext cx="5257800" cy="485775"/>
          </a:xfrm>
          <a:prstGeom prst="rect">
            <a:avLst/>
          </a:prstGeom>
          <a:solidFill>
            <a:srgbClr val="FFFFFF">
              <a:alpha val="2000"/>
            </a:srgbClr>
          </a:solidFill>
          <a:ln/>
        </p:spPr>
      </p:sp>
      <p:sp>
        <p:nvSpPr>
          <p:cNvPr id="48" name="Shape 46"/>
          <p:cNvSpPr/>
          <p:nvPr/>
        </p:nvSpPr>
        <p:spPr>
          <a:xfrm>
            <a:off x="3200400" y="6448425"/>
            <a:ext cx="5257800" cy="9525"/>
          </a:xfrm>
          <a:prstGeom prst="rect">
            <a:avLst/>
          </a:prstGeom>
          <a:solidFill>
            <a:srgbClr val="2A2F3A"/>
          </a:solidFill>
          <a:ln/>
        </p:spPr>
      </p:sp>
      <p:sp>
        <p:nvSpPr>
          <p:cNvPr id="49" name="Text 47"/>
          <p:cNvSpPr/>
          <p:nvPr/>
        </p:nvSpPr>
        <p:spPr>
          <a:xfrm>
            <a:off x="3352800" y="6076950"/>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Virtual Private Network</a:t>
            </a:r>
            <a:endParaRPr lang="en-US" sz="1800" dirty="0"/>
          </a:p>
        </p:txBody>
      </p:sp>
      <p:sp>
        <p:nvSpPr>
          <p:cNvPr id="50" name="Shape 48"/>
          <p:cNvSpPr/>
          <p:nvPr/>
        </p:nvSpPr>
        <p:spPr>
          <a:xfrm>
            <a:off x="8458200" y="5972175"/>
            <a:ext cx="9029700" cy="485775"/>
          </a:xfrm>
          <a:prstGeom prst="rect">
            <a:avLst/>
          </a:prstGeom>
          <a:solidFill>
            <a:srgbClr val="FFFFFF">
              <a:alpha val="2000"/>
            </a:srgbClr>
          </a:solidFill>
          <a:ln/>
        </p:spPr>
      </p:sp>
      <p:sp>
        <p:nvSpPr>
          <p:cNvPr id="51" name="Shape 49"/>
          <p:cNvSpPr/>
          <p:nvPr/>
        </p:nvSpPr>
        <p:spPr>
          <a:xfrm>
            <a:off x="8458200" y="6448425"/>
            <a:ext cx="9029700" cy="9525"/>
          </a:xfrm>
          <a:prstGeom prst="rect">
            <a:avLst/>
          </a:prstGeom>
          <a:solidFill>
            <a:srgbClr val="2A2F3A"/>
          </a:solidFill>
          <a:ln/>
        </p:spPr>
      </p:sp>
      <p:sp>
        <p:nvSpPr>
          <p:cNvPr id="52" name="Text 50"/>
          <p:cNvSpPr/>
          <p:nvPr/>
        </p:nvSpPr>
        <p:spPr>
          <a:xfrm>
            <a:off x="8610600" y="6076950"/>
            <a:ext cx="899579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PWK VPN connected to and interacted over in Objective 1.1</a:t>
            </a:r>
            <a:endParaRPr lang="en-US" sz="1800" dirty="0"/>
          </a:p>
        </p:txBody>
      </p:sp>
      <p:sp>
        <p:nvSpPr>
          <p:cNvPr id="53" name="Shape 51"/>
          <p:cNvSpPr/>
          <p:nvPr/>
        </p:nvSpPr>
        <p:spPr>
          <a:xfrm>
            <a:off x="800100" y="6934200"/>
            <a:ext cx="2400300" cy="9525"/>
          </a:xfrm>
          <a:prstGeom prst="rect">
            <a:avLst/>
          </a:prstGeom>
          <a:solidFill>
            <a:srgbClr val="2A2F3A"/>
          </a:solidFill>
          <a:ln/>
        </p:spPr>
      </p:sp>
      <p:sp>
        <p:nvSpPr>
          <p:cNvPr id="54" name="Text 52"/>
          <p:cNvSpPr/>
          <p:nvPr/>
        </p:nvSpPr>
        <p:spPr>
          <a:xfrm>
            <a:off x="952500" y="6562725"/>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OSINT</a:t>
            </a:r>
            <a:endParaRPr lang="en-US" sz="1800" dirty="0"/>
          </a:p>
        </p:txBody>
      </p:sp>
      <p:sp>
        <p:nvSpPr>
          <p:cNvPr id="55" name="Shape 53"/>
          <p:cNvSpPr/>
          <p:nvPr/>
        </p:nvSpPr>
        <p:spPr>
          <a:xfrm>
            <a:off x="3200400" y="6934200"/>
            <a:ext cx="5257800" cy="9525"/>
          </a:xfrm>
          <a:prstGeom prst="rect">
            <a:avLst/>
          </a:prstGeom>
          <a:solidFill>
            <a:srgbClr val="2A2F3A"/>
          </a:solidFill>
          <a:ln/>
        </p:spPr>
      </p:sp>
      <p:sp>
        <p:nvSpPr>
          <p:cNvPr id="56" name="Text 54"/>
          <p:cNvSpPr/>
          <p:nvPr/>
        </p:nvSpPr>
        <p:spPr>
          <a:xfrm>
            <a:off x="3352800" y="6562725"/>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Open Source Intelligence</a:t>
            </a:r>
            <a:endParaRPr lang="en-US" sz="1800" dirty="0"/>
          </a:p>
        </p:txBody>
      </p:sp>
      <p:sp>
        <p:nvSpPr>
          <p:cNvPr id="57" name="Shape 55"/>
          <p:cNvSpPr/>
          <p:nvPr/>
        </p:nvSpPr>
        <p:spPr>
          <a:xfrm>
            <a:off x="8458200" y="6934200"/>
            <a:ext cx="9029700" cy="9525"/>
          </a:xfrm>
          <a:prstGeom prst="rect">
            <a:avLst/>
          </a:prstGeom>
          <a:solidFill>
            <a:srgbClr val="2A2F3A"/>
          </a:solidFill>
          <a:ln/>
        </p:spPr>
      </p:sp>
      <p:sp>
        <p:nvSpPr>
          <p:cNvPr id="58" name="Text 56"/>
          <p:cNvSpPr/>
          <p:nvPr/>
        </p:nvSpPr>
        <p:spPr>
          <a:xfrm>
            <a:off x="8610600" y="6562725"/>
            <a:ext cx="899579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Named in Module 5, Passive Information Gathering</a:t>
            </a:r>
            <a:endParaRPr lang="en-US" sz="1800" dirty="0"/>
          </a:p>
        </p:txBody>
      </p:sp>
      <p:sp>
        <p:nvSpPr>
          <p:cNvPr id="59" name="Shape 57"/>
          <p:cNvSpPr/>
          <p:nvPr/>
        </p:nvSpPr>
        <p:spPr>
          <a:xfrm>
            <a:off x="800100" y="6943725"/>
            <a:ext cx="2400300" cy="485775"/>
          </a:xfrm>
          <a:prstGeom prst="rect">
            <a:avLst/>
          </a:prstGeom>
          <a:solidFill>
            <a:srgbClr val="FFFFFF">
              <a:alpha val="2000"/>
            </a:srgbClr>
          </a:solidFill>
          <a:ln/>
        </p:spPr>
      </p:sp>
      <p:sp>
        <p:nvSpPr>
          <p:cNvPr id="60" name="Shape 58"/>
          <p:cNvSpPr/>
          <p:nvPr/>
        </p:nvSpPr>
        <p:spPr>
          <a:xfrm>
            <a:off x="800100" y="7419975"/>
            <a:ext cx="2400300" cy="9525"/>
          </a:xfrm>
          <a:prstGeom prst="rect">
            <a:avLst/>
          </a:prstGeom>
          <a:solidFill>
            <a:srgbClr val="2A2F3A"/>
          </a:solidFill>
          <a:ln/>
        </p:spPr>
      </p:sp>
      <p:sp>
        <p:nvSpPr>
          <p:cNvPr id="61" name="Text 59"/>
          <p:cNvSpPr/>
          <p:nvPr/>
        </p:nvSpPr>
        <p:spPr>
          <a:xfrm>
            <a:off x="952500" y="7048500"/>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NSE</a:t>
            </a:r>
            <a:endParaRPr lang="en-US" sz="1800" dirty="0"/>
          </a:p>
        </p:txBody>
      </p:sp>
      <p:sp>
        <p:nvSpPr>
          <p:cNvPr id="62" name="Shape 60"/>
          <p:cNvSpPr/>
          <p:nvPr/>
        </p:nvSpPr>
        <p:spPr>
          <a:xfrm>
            <a:off x="3200400" y="6943725"/>
            <a:ext cx="5257800" cy="485775"/>
          </a:xfrm>
          <a:prstGeom prst="rect">
            <a:avLst/>
          </a:prstGeom>
          <a:solidFill>
            <a:srgbClr val="FFFFFF">
              <a:alpha val="2000"/>
            </a:srgbClr>
          </a:solidFill>
          <a:ln/>
        </p:spPr>
      </p:sp>
      <p:sp>
        <p:nvSpPr>
          <p:cNvPr id="63" name="Shape 61"/>
          <p:cNvSpPr/>
          <p:nvPr/>
        </p:nvSpPr>
        <p:spPr>
          <a:xfrm>
            <a:off x="3200400" y="7419975"/>
            <a:ext cx="5257800" cy="9525"/>
          </a:xfrm>
          <a:prstGeom prst="rect">
            <a:avLst/>
          </a:prstGeom>
          <a:solidFill>
            <a:srgbClr val="2A2F3A"/>
          </a:solidFill>
          <a:ln/>
        </p:spPr>
      </p:sp>
      <p:sp>
        <p:nvSpPr>
          <p:cNvPr id="64" name="Text 62"/>
          <p:cNvSpPr/>
          <p:nvPr/>
        </p:nvSpPr>
        <p:spPr>
          <a:xfrm>
            <a:off x="3352800" y="7048500"/>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Nmap Scripting Engine</a:t>
            </a:r>
            <a:endParaRPr lang="en-US" sz="1800" dirty="0"/>
          </a:p>
        </p:txBody>
      </p:sp>
      <p:sp>
        <p:nvSpPr>
          <p:cNvPr id="65" name="Shape 63"/>
          <p:cNvSpPr/>
          <p:nvPr/>
        </p:nvSpPr>
        <p:spPr>
          <a:xfrm>
            <a:off x="8458200" y="6943725"/>
            <a:ext cx="9029700" cy="485775"/>
          </a:xfrm>
          <a:prstGeom prst="rect">
            <a:avLst/>
          </a:prstGeom>
          <a:solidFill>
            <a:srgbClr val="FFFFFF">
              <a:alpha val="2000"/>
            </a:srgbClr>
          </a:solidFill>
          <a:ln/>
        </p:spPr>
      </p:sp>
      <p:sp>
        <p:nvSpPr>
          <p:cNvPr id="66" name="Shape 64"/>
          <p:cNvSpPr/>
          <p:nvPr/>
        </p:nvSpPr>
        <p:spPr>
          <a:xfrm>
            <a:off x="8458200" y="7419975"/>
            <a:ext cx="9029700" cy="9525"/>
          </a:xfrm>
          <a:prstGeom prst="rect">
            <a:avLst/>
          </a:prstGeom>
          <a:solidFill>
            <a:srgbClr val="2A2F3A"/>
          </a:solidFill>
          <a:ln/>
        </p:spPr>
      </p:sp>
      <p:sp>
        <p:nvSpPr>
          <p:cNvPr id="67" name="Text 65"/>
          <p:cNvSpPr/>
          <p:nvPr/>
        </p:nvSpPr>
        <p:spPr>
          <a:xfrm>
            <a:off x="8610600" y="7048500"/>
            <a:ext cx="899579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Named in Module 6, Vulnerability Scanning with Nmap</a:t>
            </a:r>
            <a:endParaRPr lang="en-US" sz="1800" dirty="0"/>
          </a:p>
        </p:txBody>
      </p:sp>
      <p:sp>
        <p:nvSpPr>
          <p:cNvPr id="68" name="Shape 66"/>
          <p:cNvSpPr/>
          <p:nvPr/>
        </p:nvSpPr>
        <p:spPr>
          <a:xfrm>
            <a:off x="800100" y="7905750"/>
            <a:ext cx="2400300" cy="9525"/>
          </a:xfrm>
          <a:prstGeom prst="rect">
            <a:avLst/>
          </a:prstGeom>
          <a:solidFill>
            <a:srgbClr val="2A2F3A"/>
          </a:solidFill>
          <a:ln/>
        </p:spPr>
      </p:sp>
      <p:sp>
        <p:nvSpPr>
          <p:cNvPr id="69" name="Text 67"/>
          <p:cNvSpPr/>
          <p:nvPr/>
        </p:nvSpPr>
        <p:spPr>
          <a:xfrm>
            <a:off x="952500" y="7534275"/>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AD</a:t>
            </a:r>
            <a:endParaRPr lang="en-US" sz="1800" dirty="0"/>
          </a:p>
        </p:txBody>
      </p:sp>
      <p:sp>
        <p:nvSpPr>
          <p:cNvPr id="70" name="Shape 68"/>
          <p:cNvSpPr/>
          <p:nvPr/>
        </p:nvSpPr>
        <p:spPr>
          <a:xfrm>
            <a:off x="3200400" y="7905750"/>
            <a:ext cx="5257800" cy="9525"/>
          </a:xfrm>
          <a:prstGeom prst="rect">
            <a:avLst/>
          </a:prstGeom>
          <a:solidFill>
            <a:srgbClr val="2A2F3A"/>
          </a:solidFill>
          <a:ln/>
        </p:spPr>
      </p:sp>
      <p:sp>
        <p:nvSpPr>
          <p:cNvPr id="71" name="Text 69"/>
          <p:cNvSpPr/>
          <p:nvPr/>
        </p:nvSpPr>
        <p:spPr>
          <a:xfrm>
            <a:off x="3352800" y="7534275"/>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Active Directory</a:t>
            </a:r>
            <a:endParaRPr lang="en-US" sz="1800" dirty="0"/>
          </a:p>
        </p:txBody>
      </p:sp>
      <p:sp>
        <p:nvSpPr>
          <p:cNvPr id="72" name="Shape 70"/>
          <p:cNvSpPr/>
          <p:nvPr/>
        </p:nvSpPr>
        <p:spPr>
          <a:xfrm>
            <a:off x="8458200" y="7905750"/>
            <a:ext cx="9029700" cy="9525"/>
          </a:xfrm>
          <a:prstGeom prst="rect">
            <a:avLst/>
          </a:prstGeom>
          <a:solidFill>
            <a:srgbClr val="2A2F3A"/>
          </a:solidFill>
          <a:ln/>
        </p:spPr>
      </p:sp>
      <p:sp>
        <p:nvSpPr>
          <p:cNvPr id="73" name="Text 71"/>
          <p:cNvSpPr/>
          <p:nvPr/>
        </p:nvSpPr>
        <p:spPr>
          <a:xfrm>
            <a:off x="8610600" y="7534275"/>
            <a:ext cx="899579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subject of Modules 20 to 22</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15979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COMMON MISCONCEPTIONS</a:t>
            </a:r>
            <a:endParaRPr lang="en-US" sz="1650" dirty="0"/>
          </a:p>
        </p:txBody>
      </p:sp>
      <p:sp>
        <p:nvSpPr>
          <p:cNvPr id="4" name="Text 2"/>
          <p:cNvSpPr/>
          <p:nvPr/>
        </p:nvSpPr>
        <p:spPr>
          <a:xfrm>
            <a:off x="800100" y="265509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What learners get wrong about Module 1</a:t>
            </a:r>
            <a:endParaRPr lang="en-US" sz="3000" dirty="0"/>
          </a:p>
        </p:txBody>
      </p:sp>
      <p:sp>
        <p:nvSpPr>
          <p:cNvPr id="5" name="Shape 3"/>
          <p:cNvSpPr/>
          <p:nvPr/>
        </p:nvSpPr>
        <p:spPr>
          <a:xfrm>
            <a:off x="800100"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“PWK AND PEN-200 ARE DIFFERENT COURSES”</a:t>
            </a:r>
            <a:endParaRPr lang="en-US" sz="1500" dirty="0"/>
          </a:p>
        </p:txBody>
      </p:sp>
      <p:sp>
        <p:nvSpPr>
          <p:cNvPr id="7" name="Text 5"/>
          <p:cNvSpPr/>
          <p:nvPr/>
        </p:nvSpPr>
        <p:spPr>
          <a:xfrm>
            <a:off x="1038225" y="387905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They are one course with two names. The official syllabus is titled PEN-200 (PWK) and versioned PWK v3.0.</a:t>
            </a:r>
            <a:endParaRPr lang="en-US" sz="1875" dirty="0"/>
          </a:p>
        </p:txBody>
      </p:sp>
      <p:sp>
        <p:nvSpPr>
          <p:cNvPr id="8" name="Shape 6"/>
          <p:cNvSpPr/>
          <p:nvPr/>
        </p:nvSpPr>
        <p:spPr>
          <a:xfrm>
            <a:off x="9248775"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“OSCP IS THE COURSE”</a:t>
            </a:r>
            <a:endParaRPr lang="en-US" sz="1500" dirty="0"/>
          </a:p>
        </p:txBody>
      </p:sp>
      <p:sp>
        <p:nvSpPr>
          <p:cNvPr id="10" name="Text 8"/>
          <p:cNvSpPr/>
          <p:nvPr/>
        </p:nvSpPr>
        <p:spPr>
          <a:xfrm>
            <a:off x="9486900" y="3879056"/>
            <a:ext cx="8539163" cy="3714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OSCP is the certification. PEN-200 is the course studied to earn it.</a:t>
            </a:r>
            <a:endParaRPr lang="en-US" sz="1875" dirty="0"/>
          </a:p>
        </p:txBody>
      </p:sp>
      <p:sp>
        <p:nvSpPr>
          <p:cNvPr id="11" name="Shape 9"/>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COURSE GETS HARDER”</a:t>
            </a:r>
            <a:endParaRPr lang="en-US" sz="1500" dirty="0"/>
          </a:p>
        </p:txBody>
      </p:sp>
      <p:sp>
        <p:nvSpPr>
          <p:cNvPr id="13" name="Text 11"/>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model is increasing uncertainty. What changes is how much you are told, not how difficult the target is.</a:t>
            </a:r>
            <a:endParaRPr lang="en-US" sz="1875" dirty="0"/>
          </a:p>
        </p:txBody>
      </p:sp>
      <p:sp>
        <p:nvSpPr>
          <p:cNvPr id="14" name="Shape 12"/>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5" name="Text 13"/>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“MODULE 1 CAN BE SKIPPED”</a:t>
            </a:r>
            <a:endParaRPr lang="en-US" sz="1500" dirty="0"/>
          </a:p>
        </p:txBody>
      </p:sp>
      <p:sp>
        <p:nvSpPr>
          <p:cNvPr id="16" name="Text 14"/>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 builds the environment every later module depends on, and the map that makes the other 23 navigable.</a:t>
            </a:r>
            <a:endParaRPr lang="en-US" sz="1875" dirty="0"/>
          </a:p>
        </p:txBody>
      </p:sp>
      <p:sp>
        <p:nvSpPr>
          <p:cNvPr id="17" name="Shape 15"/>
          <p:cNvSpPr/>
          <p:nvPr/>
        </p:nvSpPr>
        <p:spPr>
          <a:xfrm>
            <a:off x="800100"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18" name="Text 16"/>
          <p:cNvSpPr/>
          <p:nvPr/>
        </p:nvSpPr>
        <p:spPr>
          <a:xfrm>
            <a:off x="1038225"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“EACH MODULE HAS A PUBLISHED WEIGHTING”</a:t>
            </a:r>
            <a:endParaRPr lang="en-US" sz="1500" dirty="0"/>
          </a:p>
        </p:txBody>
      </p:sp>
      <p:sp>
        <p:nvSpPr>
          <p:cNvPr id="19" name="Text 17"/>
          <p:cNvSpPr/>
          <p:nvPr/>
        </p:nvSpPr>
        <p:spPr>
          <a:xfrm>
            <a:off x="1038225"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Information not defined in the official exam outline. OffSec publishes no percentage per Learning Module for PEN-200.</a:t>
            </a:r>
            <a:endParaRPr lang="en-US" sz="1875" dirty="0"/>
          </a:p>
        </p:txBody>
      </p:sp>
      <p:sp>
        <p:nvSpPr>
          <p:cNvPr id="20" name="Shape 18"/>
          <p:cNvSpPr/>
          <p:nvPr/>
        </p:nvSpPr>
        <p:spPr>
          <a:xfrm>
            <a:off x="9248775"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21" name="Text 19"/>
          <p:cNvSpPr/>
          <p:nvPr/>
        </p:nvSpPr>
        <p:spPr>
          <a:xfrm>
            <a:off x="9486900"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“MODULE ORDER IS A SUGGESTION”</a:t>
            </a:r>
            <a:endParaRPr lang="en-US" sz="1500" dirty="0"/>
          </a:p>
        </p:txBody>
      </p:sp>
      <p:sp>
        <p:nvSpPr>
          <p:cNvPr id="22" name="Text 20"/>
          <p:cNvSpPr/>
          <p:nvPr/>
        </p:nvSpPr>
        <p:spPr>
          <a:xfrm>
            <a:off x="9486900"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order encodes dependency. Escalation assumes exploitation; exploitation assumes enumeration.</a:t>
            </a:r>
            <a:endParaRPr lang="en-US" sz="187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557723" y="3273326"/>
            <a:ext cx="3172554"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MODULE 1 IN CONTEXT</a:t>
            </a:r>
            <a:endParaRPr lang="en-US" sz="1650" dirty="0"/>
          </a:p>
        </p:txBody>
      </p:sp>
      <p:sp>
        <p:nvSpPr>
          <p:cNvPr id="4" name="Text 2"/>
          <p:cNvSpPr/>
          <p:nvPr/>
        </p:nvSpPr>
        <p:spPr>
          <a:xfrm>
            <a:off x="8096090" y="3749576"/>
            <a:ext cx="2095746" cy="1562100"/>
          </a:xfrm>
          <a:prstGeom prst="rect">
            <a:avLst/>
          </a:prstGeom>
          <a:noFill/>
          <a:ln/>
        </p:spPr>
        <p:txBody>
          <a:bodyPr wrap="square" lIns="25400" tIns="25400" rIns="25400" bIns="25400" rtlCol="0" anchor="t">
            <a:normAutofit/>
          </a:bodyPr>
          <a:lstStyle/>
          <a:p>
            <a:pPr algn="ctr" indent="0" marL="0">
              <a:lnSpc>
                <a:spcPct val="86957"/>
              </a:lnSpc>
              <a:buNone/>
            </a:pPr>
            <a:r>
              <a:rPr lang="en-US" sz="12000" b="1" spc="-300" kern="0" dirty="0">
                <a:solidFill>
                  <a:srgbClr val="FF6A00"/>
                </a:solidFill>
                <a:latin typeface="Arial" pitchFamily="34" charset="0"/>
                <a:ea typeface="Arial" pitchFamily="34" charset="-122"/>
                <a:cs typeface="Arial" pitchFamily="34" charset="-120"/>
              </a:rPr>
              <a:t>24</a:t>
            </a:r>
            <a:endParaRPr lang="en-US" sz="12000" dirty="0"/>
          </a:p>
        </p:txBody>
      </p:sp>
      <p:sp>
        <p:nvSpPr>
          <p:cNvPr id="5" name="Text 3"/>
          <p:cNvSpPr/>
          <p:nvPr/>
        </p:nvSpPr>
        <p:spPr>
          <a:xfrm>
            <a:off x="3342907" y="5502176"/>
            <a:ext cx="11602112" cy="520005"/>
          </a:xfrm>
          <a:prstGeom prst="rect">
            <a:avLst/>
          </a:prstGeom>
          <a:noFill/>
          <a:ln/>
        </p:spPr>
        <p:txBody>
          <a:bodyPr wrap="square" lIns="25400" tIns="25400" rIns="25400" bIns="25400" rtlCol="0" anchor="t">
            <a:normAutofit/>
          </a:bodyPr>
          <a:lstStyle/>
          <a:p>
            <a:pPr algn="ctr" indent="0" marL="0">
              <a:lnSpc>
                <a:spcPct val="96381"/>
              </a:lnSpc>
              <a:buNone/>
            </a:pPr>
            <a:r>
              <a:rPr lang="en-US" sz="3450" b="1" dirty="0">
                <a:solidFill>
                  <a:srgbClr val="F5F7FB"/>
                </a:solidFill>
                <a:latin typeface="Arial" pitchFamily="34" charset="0"/>
                <a:ea typeface="Arial" pitchFamily="34" charset="-122"/>
                <a:cs typeface="Arial" pitchFamily="34" charset="-120"/>
              </a:rPr>
              <a:t>Learning Modules in the official PEN-200 syllabus</a:t>
            </a:r>
            <a:endParaRPr lang="en-US" sz="3450" dirty="0"/>
          </a:p>
        </p:txBody>
      </p:sp>
      <p:sp>
        <p:nvSpPr>
          <p:cNvPr id="6" name="Text 4"/>
          <p:cNvSpPr/>
          <p:nvPr/>
        </p:nvSpPr>
        <p:spPr>
          <a:xfrm>
            <a:off x="3257550" y="6212681"/>
            <a:ext cx="11772900" cy="839093"/>
          </a:xfrm>
          <a:prstGeom prst="rect">
            <a:avLst/>
          </a:prstGeom>
          <a:noFill/>
          <a:ln/>
        </p:spPr>
        <p:txBody>
          <a:bodyPr wrap="square" lIns="25400" tIns="25400" rIns="25400" bIns="25400" rtlCol="0" anchor="t">
            <a:normAutofit/>
          </a:bodyPr>
          <a:lstStyle/>
          <a:p>
            <a:pPr algn="ctr" indent="0" marL="0">
              <a:lnSpc>
                <a:spcPct val="125522"/>
              </a:lnSpc>
              <a:buNone/>
            </a:pPr>
            <a:r>
              <a:rPr lang="en-US" sz="2175" dirty="0">
                <a:solidFill>
                  <a:srgbClr val="B8C0CF"/>
                </a:solidFill>
                <a:latin typeface="Arial" pitchFamily="34" charset="0"/>
                <a:ea typeface="Arial" pitchFamily="34" charset="-122"/>
                <a:cs typeface="Arial" pitchFamily="34" charset="-120"/>
              </a:rPr>
              <a:t>Module 1 is one of them, and the only one whose subject is the course itself. Percentage weightings per module: information not defined in the official exam outline.</a:t>
            </a:r>
            <a:endParaRPr lang="en-US" sz="217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48602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KNOWLEDGE CHECK</a:t>
            </a:r>
            <a:endParaRPr lang="en-US" sz="1650" dirty="0"/>
          </a:p>
        </p:txBody>
      </p:sp>
      <p:sp>
        <p:nvSpPr>
          <p:cNvPr id="4" name="Text 2"/>
          <p:cNvSpPr/>
          <p:nvPr/>
        </p:nvSpPr>
        <p:spPr>
          <a:xfrm>
            <a:off x="800100" y="2981325"/>
            <a:ext cx="17188434" cy="8763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Which Learning Unit covers the course inventory, the attacking Kali VM, the PWK VPN, and Module Exercises?</a:t>
            </a:r>
            <a:endParaRPr lang="en-US" sz="3000" dirty="0"/>
          </a:p>
        </p:txBody>
      </p:sp>
      <p:sp>
        <p:nvSpPr>
          <p:cNvPr id="5" name="Shape 3"/>
          <p:cNvSpPr/>
          <p:nvPr/>
        </p:nvSpPr>
        <p:spPr>
          <a:xfrm>
            <a:off x="800100" y="4143375"/>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324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333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A</a:t>
            </a:r>
            <a:endParaRPr lang="en-US" sz="1650" dirty="0"/>
          </a:p>
        </p:txBody>
      </p:sp>
      <p:sp>
        <p:nvSpPr>
          <p:cNvPr id="8" name="Text 6"/>
          <p:cNvSpPr/>
          <p:nvPr/>
        </p:nvSpPr>
        <p:spPr>
          <a:xfrm>
            <a:off x="1952625" y="4398169"/>
            <a:ext cx="3380876"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How to Approach the Course</a:t>
            </a:r>
            <a:endParaRPr lang="en-US" sz="1950" dirty="0"/>
          </a:p>
        </p:txBody>
      </p:sp>
      <p:sp>
        <p:nvSpPr>
          <p:cNvPr id="9" name="Shape 7"/>
          <p:cNvSpPr/>
          <p:nvPr/>
        </p:nvSpPr>
        <p:spPr>
          <a:xfrm>
            <a:off x="800100" y="5095875"/>
            <a:ext cx="16687800" cy="800100"/>
          </a:xfrm>
          <a:prstGeom prst="roundRect">
            <a:avLst>
              <a:gd name="adj" fmla="val 16667"/>
            </a:avLst>
          </a:prstGeom>
          <a:solidFill>
            <a:srgbClr val="FF6A00">
              <a:alpha val="10000"/>
            </a:srgbClr>
          </a:solidFill>
          <a:ln w="9525">
            <a:solidFill>
              <a:srgbClr val="B85100"/>
            </a:solidFill>
            <a:prstDash val="solid"/>
          </a:ln>
        </p:spPr>
      </p:sp>
      <p:sp>
        <p:nvSpPr>
          <p:cNvPr id="10" name="Shape 8"/>
          <p:cNvSpPr/>
          <p:nvPr/>
        </p:nvSpPr>
        <p:spPr>
          <a:xfrm>
            <a:off x="1038225" y="5276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286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B</a:t>
            </a:r>
            <a:endParaRPr lang="en-US" sz="1650" dirty="0"/>
          </a:p>
        </p:txBody>
      </p:sp>
      <p:sp>
        <p:nvSpPr>
          <p:cNvPr id="12" name="Text 10"/>
          <p:cNvSpPr/>
          <p:nvPr/>
        </p:nvSpPr>
        <p:spPr>
          <a:xfrm>
            <a:off x="1952625" y="5350669"/>
            <a:ext cx="2031080"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Welcome to PWK</a:t>
            </a:r>
            <a:endParaRPr lang="en-US" sz="1950" dirty="0"/>
          </a:p>
        </p:txBody>
      </p:sp>
      <p:sp>
        <p:nvSpPr>
          <p:cNvPr id="13" name="Shape 11"/>
          <p:cNvSpPr/>
          <p:nvPr/>
        </p:nvSpPr>
        <p:spPr>
          <a:xfrm>
            <a:off x="800100" y="6048375"/>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229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238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C</a:t>
            </a:r>
            <a:endParaRPr lang="en-US" sz="1650" dirty="0"/>
          </a:p>
        </p:txBody>
      </p:sp>
      <p:sp>
        <p:nvSpPr>
          <p:cNvPr id="16" name="Text 14"/>
          <p:cNvSpPr/>
          <p:nvPr/>
        </p:nvSpPr>
        <p:spPr>
          <a:xfrm>
            <a:off x="1952625" y="6303169"/>
            <a:ext cx="4217439"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Summary of PWK Learning Modules</a:t>
            </a:r>
            <a:endParaRPr lang="en-US" sz="1950" dirty="0"/>
          </a:p>
        </p:txBody>
      </p:sp>
      <p:sp>
        <p:nvSpPr>
          <p:cNvPr id="17" name="Shape 15"/>
          <p:cNvSpPr/>
          <p:nvPr/>
        </p:nvSpPr>
        <p:spPr>
          <a:xfrm>
            <a:off x="800100" y="7000875"/>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7181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7191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D</a:t>
            </a:r>
            <a:endParaRPr lang="en-US" sz="1650" dirty="0"/>
          </a:p>
        </p:txBody>
      </p:sp>
      <p:sp>
        <p:nvSpPr>
          <p:cNvPr id="20" name="Text 18"/>
          <p:cNvSpPr/>
          <p:nvPr/>
        </p:nvSpPr>
        <p:spPr>
          <a:xfrm>
            <a:off x="1952625" y="7255669"/>
            <a:ext cx="3345760"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Effective Learning Strategies</a:t>
            </a:r>
            <a:endParaRPr lang="en-US" sz="1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885852"/>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SUMMARY</a:t>
            </a:r>
            <a:endParaRPr lang="en-US" sz="1650" dirty="0"/>
          </a:p>
        </p:txBody>
      </p:sp>
      <p:sp>
        <p:nvSpPr>
          <p:cNvPr id="4" name="Text 2"/>
          <p:cNvSpPr/>
          <p:nvPr/>
        </p:nvSpPr>
        <p:spPr>
          <a:xfrm>
            <a:off x="800100" y="338115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Module 1 in three lines</a:t>
            </a:r>
            <a:endParaRPr lang="en-US" sz="3000" dirty="0"/>
          </a:p>
        </p:txBody>
      </p:sp>
      <p:sp>
        <p:nvSpPr>
          <p:cNvPr id="5" name="Shape 3"/>
          <p:cNvSpPr/>
          <p:nvPr/>
        </p:nvSpPr>
        <p:spPr>
          <a:xfrm>
            <a:off x="800100" y="4047902"/>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22887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23840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1.1</a:t>
            </a:r>
            <a:endParaRPr lang="en-US" sz="1650" dirty="0"/>
          </a:p>
        </p:txBody>
      </p:sp>
      <p:sp>
        <p:nvSpPr>
          <p:cNvPr id="8" name="Text 6"/>
          <p:cNvSpPr/>
          <p:nvPr/>
        </p:nvSpPr>
        <p:spPr>
          <a:xfrm>
            <a:off x="1952625" y="4302696"/>
            <a:ext cx="15823399"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Welcome to PWK — inventory the course, build the attacking Kali VM, connect over the PWK VPN, and know how Module Exercises work</a:t>
            </a:r>
            <a:endParaRPr lang="en-US" sz="1950" dirty="0"/>
          </a:p>
        </p:txBody>
      </p:sp>
      <p:sp>
        <p:nvSpPr>
          <p:cNvPr id="9" name="Shape 7"/>
          <p:cNvSpPr/>
          <p:nvPr/>
        </p:nvSpPr>
        <p:spPr>
          <a:xfrm>
            <a:off x="800100" y="5000402"/>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18137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19090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1.2</a:t>
            </a:r>
            <a:endParaRPr lang="en-US" sz="1650" dirty="0"/>
          </a:p>
        </p:txBody>
      </p:sp>
      <p:sp>
        <p:nvSpPr>
          <p:cNvPr id="12" name="Text 10"/>
          <p:cNvSpPr/>
          <p:nvPr/>
        </p:nvSpPr>
        <p:spPr>
          <a:xfrm>
            <a:off x="1952625" y="5255196"/>
            <a:ext cx="1507024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How to Approach the Course — a learning model of increasing uncertainty, delivered through several distinct learning components</a:t>
            </a:r>
            <a:endParaRPr lang="en-US" sz="1950" dirty="0"/>
          </a:p>
        </p:txBody>
      </p:sp>
      <p:sp>
        <p:nvSpPr>
          <p:cNvPr id="13" name="Shape 11"/>
          <p:cNvSpPr/>
          <p:nvPr/>
        </p:nvSpPr>
        <p:spPr>
          <a:xfrm>
            <a:off x="800100" y="5952902"/>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13387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14340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1.3</a:t>
            </a:r>
            <a:endParaRPr lang="en-US" sz="1650" dirty="0"/>
          </a:p>
        </p:txBody>
      </p:sp>
      <p:sp>
        <p:nvSpPr>
          <p:cNvPr id="16" name="Text 14"/>
          <p:cNvSpPr/>
          <p:nvPr/>
        </p:nvSpPr>
        <p:spPr>
          <a:xfrm>
            <a:off x="1952625" y="6207696"/>
            <a:ext cx="1412358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Summary of PWK Learning Modules — a high-level overview of all 24 modules and the dependency order that binds them</a:t>
            </a:r>
            <a:endParaRPr lang="en-US" sz="1950" dirty="0"/>
          </a:p>
        </p:txBody>
      </p:sp>
      <p:sp>
        <p:nvSpPr>
          <p:cNvPr id="17" name="Text 15"/>
          <p:cNvSpPr/>
          <p:nvPr/>
        </p:nvSpPr>
        <p:spPr>
          <a:xfrm>
            <a:off x="800100" y="7000652"/>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Nothing offensive was taught in this module. Everything necessary to learn offensively was put in place.</a:t>
            </a:r>
            <a:endParaRPr lang="en-US" sz="217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NEXT STEPS</a:t>
            </a:r>
            <a:endParaRPr lang="en-US" sz="1650" dirty="0"/>
          </a:p>
        </p:txBody>
      </p:sp>
      <p:sp>
        <p:nvSpPr>
          <p:cNvPr id="4" name="Text 2"/>
          <p:cNvSpPr/>
          <p:nvPr/>
        </p:nvSpPr>
        <p:spPr>
          <a:xfrm>
            <a:off x="800100" y="1143000"/>
            <a:ext cx="18356580" cy="738188"/>
          </a:xfrm>
          <a:prstGeom prst="rect">
            <a:avLst/>
          </a:prstGeom>
          <a:noFill/>
          <a:ln/>
        </p:spPr>
        <p:txBody>
          <a:bodyPr wrap="square" lIns="25400" tIns="25400" rIns="25400" bIns="25400" rtlCol="0" anchor="t">
            <a:normAutofit/>
          </a:bodyPr>
          <a:lstStyle/>
          <a:p>
            <a:pPr algn="l" indent="0" marL="0">
              <a:lnSpc>
                <a:spcPct val="90741"/>
              </a:lnSpc>
              <a:buNone/>
            </a:pPr>
            <a:r>
              <a:rPr lang="en-US" sz="5250" b="1" spc="-37" kern="0" dirty="0">
                <a:solidFill>
                  <a:srgbClr val="F5F7FB"/>
                </a:solidFill>
                <a:latin typeface="Arial" pitchFamily="34" charset="0"/>
                <a:ea typeface="Arial" pitchFamily="34" charset="-122"/>
                <a:cs typeface="Arial" pitchFamily="34" charset="-120"/>
              </a:rPr>
              <a:t>Module 2: Introduction to Cybersecurity</a:t>
            </a:r>
            <a:endParaRPr lang="en-US" sz="5250" dirty="0"/>
          </a:p>
        </p:txBody>
      </p:sp>
      <p:sp>
        <p:nvSpPr>
          <p:cNvPr id="5" name="Shape 3"/>
          <p:cNvSpPr/>
          <p:nvPr/>
        </p:nvSpPr>
        <p:spPr>
          <a:xfrm>
            <a:off x="800100" y="2128838"/>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COMING NEXT</a:t>
            </a:r>
            <a:endParaRPr lang="en-US" sz="1500" dirty="0"/>
          </a:p>
        </p:txBody>
      </p:sp>
      <p:sp>
        <p:nvSpPr>
          <p:cNvPr id="7" name="Text 5"/>
          <p:cNvSpPr/>
          <p:nvPr/>
        </p:nvSpPr>
        <p:spPr>
          <a:xfrm>
            <a:off x="1038225"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practice of cybersecurity, threats and threat actors, the CIA triad, security principles and controls, and the legal and regulatory landscape.</a:t>
            </a:r>
            <a:endParaRPr lang="en-US" sz="1875" dirty="0"/>
          </a:p>
        </p:txBody>
      </p:sp>
      <p:sp>
        <p:nvSpPr>
          <p:cNvPr id="8" name="Shape 6"/>
          <p:cNvSpPr/>
          <p:nvPr/>
        </p:nvSpPr>
        <p:spPr>
          <a:xfrm>
            <a:off x="6426175" y="2128838"/>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BEFORE THEN</a:t>
            </a:r>
            <a:endParaRPr lang="en-US" sz="1500" dirty="0"/>
          </a:p>
        </p:txBody>
      </p:sp>
      <p:sp>
        <p:nvSpPr>
          <p:cNvPr id="10" name="Text 8"/>
          <p:cNvSpPr/>
          <p:nvPr/>
        </p:nvSpPr>
        <p:spPr>
          <a:xfrm>
            <a:off x="6664300"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Confirm your attacking Kali VM is built and snapshotted, and that you can connect to and interact over the PWK VPN.</a:t>
            </a:r>
            <a:endParaRPr lang="en-US" sz="1875" dirty="0"/>
          </a:p>
        </p:txBody>
      </p:sp>
      <p:sp>
        <p:nvSpPr>
          <p:cNvPr id="11" name="Shape 9"/>
          <p:cNvSpPr/>
          <p:nvPr/>
        </p:nvSpPr>
        <p:spPr>
          <a:xfrm>
            <a:off x="12052250" y="2128838"/>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2366963"/>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CARRY FORWARD</a:t>
            </a:r>
            <a:endParaRPr lang="en-US" sz="1500" dirty="0"/>
          </a:p>
        </p:txBody>
      </p:sp>
      <p:sp>
        <p:nvSpPr>
          <p:cNvPr id="13" name="Text 11"/>
          <p:cNvSpPr/>
          <p:nvPr/>
        </p:nvSpPr>
        <p:spPr>
          <a:xfrm>
            <a:off x="12290375" y="2686050"/>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module map from Objective 1.3. You will use it to place every technique you meet for the rest of the course.</a:t>
            </a:r>
            <a:endParaRPr lang="en-US" sz="1875" dirty="0"/>
          </a:p>
        </p:txBody>
      </p:sp>
      <p:sp>
        <p:nvSpPr>
          <p:cNvPr id="14" name="Shape 12"/>
          <p:cNvSpPr/>
          <p:nvPr/>
        </p:nvSpPr>
        <p:spPr>
          <a:xfrm>
            <a:off x="800100" y="9210675"/>
            <a:ext cx="16687800" cy="9525"/>
          </a:xfrm>
          <a:prstGeom prst="rect">
            <a:avLst/>
          </a:prstGeom>
          <a:solidFill>
            <a:srgbClr val="2A2F3A"/>
          </a:solidFill>
          <a:ln/>
        </p:spPr>
      </p:sp>
      <p:sp>
        <p:nvSpPr>
          <p:cNvPr id="15" name="Text 13"/>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16" name="Text 14"/>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2026-08-01T00:00:02Z</dcterms:created>
  <dcterms:modified xsi:type="dcterms:W3CDTF">2026-08-01T00:00:02Z</dcterms:modified>
</cp:coreProperties>
</file>