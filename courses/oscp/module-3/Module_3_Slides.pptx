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Seven Learning Units, twenty-four stated objectives — the largest module in the opening block. Open by telling the group plainly: this is the module learners skip and later wish they had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units. Point out that 3.5 and 3.7 carry five objectives each — they are the practical core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of 24 — last of the three orientation modules before reporting and then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Three reasons this module is load-bearing: volume, uncertainty, and durability of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3.1. Three objectives on the theory underneath everything else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3.1, task 1. Be honest with the group: education research is genuinely contested, and the syllabus says so. That honesty is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3.1, task 2, first half. Encoding, storage, retrieval. The practical consequence: retrieval is the trainable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3.1, task 2, second half. Dual encoding: verbal plus visual. Note that this is why diagramming an attack chain beats writing it in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3.1, task 3, first problem. The Curve of Forgetting — named explicitly in the syllabus. Retention decays steeply without deliberate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3.1, task 3, second problem. Cognitive load — working memory is small. This explains why learners stall on multi-step chains.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Both feel like 'I don't understand this' but they have opposite remedies. Getting this wrong wastes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3.2. Three objectives about what makes technical skill different from other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3.2, task 1. Digital material has real advantages — searchability, currency, executability — and one serious hazard: the illusion that having access equals having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3.2, task 2. This objective appears in both 3.2 and 3.3 in the syllabus — it matters enough to state twice. Preparing for the unknown means practising method, not memorising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3.2, task 3. Remote and asynchronous learning: no cohort rhythm, no one noticing you have stopped. Both are structural, not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3.2, then into the methodology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3.3. OffSec Methodology — the unit that explains the pedagogy of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3.3, task 1. The core term of the unit. Demonstrative means the material shows the reasoning of an approach, then withdraws — it does not hand over a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Prescriptive teaching produces someone who can follow a walkthrough. Demonstrative teaching produces someone who can write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3.3, tasks 2 and 3 — the syllabus repeats the unknown-scenario and remote-learning objectives here deliberately, so address them through the methodology lens rather than repeating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3.3 before the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3.4. The case study unit — two objectives, and the module's worked example of its own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3.4, task 1, part one. State the problem: chmod's own executable bit is removed. Give the group a moment before revealing why it is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3.4, task 1, part two. Expanding beyond the initial information set — the actual transferable skill. Walk the four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3.4, task 2. How OffSec's approach is reflected in the sample: the material gives enough to reason from and deliberately not enough to copy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3.4. Short — the value was in doing it, not summarising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3.5. Five named techniques — the practical core of the module and the most directly usable content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3.5, task 1. The highest-value technique in the module. The discomfort is the mechanism, not a sign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3.5, task 2. Spaced practice is the direct countermeasure to the Curve of Forgetting from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3.5, task 3, first method. SQ3R: Survey, Question, Read, Recite, Review. Note the Recite step is retrieval practice embedded in a reading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3.5, task 3, second method. PQ4R: Preview, Question, Read, Reflect, Recite, Review. The Reflect step is what distinguishes it — connect to what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3.5, task 4. The Feynman Technique: explain it simply, find the gap, go back, simplify again. The gap-finding is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3.5, task 5. The Leitner System — spaced practice and retrieval practice combined into a scheduling mechanism using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Match technique to purpose. This is the slide learners should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3.5. If learners take one thing from this module, it is that retrieval beats rereading.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3.6. Three objectives on exams — stress, readiness, and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3.6, task 1. Treat stress as a performance variable to manage, not a character flaw. Rehearsal under conditions is the main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3.6, task 2. Readiness is evidenced by unaided performance on unseen material, not by feeling confident or having finished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3.6, task 3. A practical approach: enumerate broadly first, timebox, document as you go, and know when to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3.6, then the final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3.7 — five objectives, all operational. This is where the module becomes a study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3.7, task 1. A long-term strategy means a plan measured in months, expressed in modules and retrieval states rather than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3.7, task 2. Time allotment: fixed blocks, decided in advance. This is the countermeasure to the missing external pace from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3.7, task 3. When to narrow: after broad enumeration, not before. Narrowing too early is the most common study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3.7, task 4. Community answers the isolation problem from 3.2. Emphasise: explaining to a peer IS the Feynman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3.7, task 5. Pay attention to attention, and double down on what demonstrably works for you rather than what is fashionable.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You are listening for correct diagnosis — this is a forgetting-and-planning problem, not a capability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Have the group build the three-state tracker now if there is time — it takes two minutes and changes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Building a Leitner deck from the course flashcards. Point out the flashcards we issue are designed for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The Feynman pass on a report finding — ties Module 3 directly to Module 4, which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 Expand SQ3R and PQ4R in full — learners frequently know the names and not the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re-reading one is nearly universal — spend the most time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Seven units, twenty-four objectives — the largest module of the opening block. No weighting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A.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Seven units in seven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4 and connect it directly — the note-taking habit formalised there should already be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3 OF 24 · OFFSEC PEN-200 (PWK)</a:t>
            </a:r>
            <a:endParaRPr lang="en-US" sz="1650" dirty="0"/>
          </a:p>
        </p:txBody>
      </p:sp>
      <p:sp>
        <p:nvSpPr>
          <p:cNvPr id="4" name="Text 2"/>
          <p:cNvSpPr/>
          <p:nvPr/>
        </p:nvSpPr>
        <p:spPr>
          <a:xfrm>
            <a:off x="800100" y="1181100"/>
            <a:ext cx="18356580" cy="918195"/>
          </a:xfrm>
          <a:prstGeom prst="rect">
            <a:avLst/>
          </a:prstGeom>
          <a:noFill/>
          <a:ln/>
        </p:spPr>
        <p:txBody>
          <a:bodyPr wrap="square" lIns="25400" tIns="25400" rIns="25400" bIns="25400" rtlCol="0" anchor="t">
            <a:normAutofit/>
          </a:bodyPr>
          <a:lstStyle/>
          <a:p>
            <a:pPr algn="l"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Effective Learning Strategies</a:t>
            </a:r>
            <a:endParaRPr lang="en-US" sz="6600" dirty="0"/>
          </a:p>
        </p:txBody>
      </p:sp>
      <p:sp>
        <p:nvSpPr>
          <p:cNvPr id="5" name="Text 3"/>
          <p:cNvSpPr/>
          <p:nvPr/>
        </p:nvSpPr>
        <p:spPr>
          <a:xfrm>
            <a:off x="800100" y="2385045"/>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How technical skill is actually acquired, why OffSec teaches the way it does, and the named tactics that make the remaining 21 modules retainable.</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319659"/>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1814959"/>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2680767"/>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28617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28712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3.1</a:t>
            </a:r>
            <a:endParaRPr lang="en-US" sz="1650" dirty="0"/>
          </a:p>
        </p:txBody>
      </p:sp>
      <p:sp>
        <p:nvSpPr>
          <p:cNvPr id="8" name="Text 6"/>
          <p:cNvSpPr/>
          <p:nvPr/>
        </p:nvSpPr>
        <p:spPr>
          <a:xfrm>
            <a:off x="1952625" y="2935560"/>
            <a:ext cx="191271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Learning Theory</a:t>
            </a:r>
            <a:endParaRPr lang="en-US" sz="1950" dirty="0"/>
          </a:p>
        </p:txBody>
      </p:sp>
      <p:sp>
        <p:nvSpPr>
          <p:cNvPr id="9" name="Shape 7"/>
          <p:cNvSpPr/>
          <p:nvPr/>
        </p:nvSpPr>
        <p:spPr>
          <a:xfrm>
            <a:off x="800100" y="3595167"/>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37761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37856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3.2</a:t>
            </a:r>
            <a:endParaRPr lang="en-US" sz="1650" dirty="0"/>
          </a:p>
        </p:txBody>
      </p:sp>
      <p:sp>
        <p:nvSpPr>
          <p:cNvPr id="12" name="Text 10"/>
          <p:cNvSpPr/>
          <p:nvPr/>
        </p:nvSpPr>
        <p:spPr>
          <a:xfrm>
            <a:off x="1952625" y="3849960"/>
            <a:ext cx="542652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Unique Challenges to Learning Technical Skills</a:t>
            </a:r>
            <a:endParaRPr lang="en-US" sz="1950" dirty="0"/>
          </a:p>
        </p:txBody>
      </p:sp>
      <p:sp>
        <p:nvSpPr>
          <p:cNvPr id="13" name="Shape 11"/>
          <p:cNvSpPr/>
          <p:nvPr/>
        </p:nvSpPr>
        <p:spPr>
          <a:xfrm>
            <a:off x="800100" y="4509567"/>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46905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47000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3.3</a:t>
            </a:r>
            <a:endParaRPr lang="en-US" sz="1650" dirty="0"/>
          </a:p>
        </p:txBody>
      </p:sp>
      <p:sp>
        <p:nvSpPr>
          <p:cNvPr id="16" name="Text 14"/>
          <p:cNvSpPr/>
          <p:nvPr/>
        </p:nvSpPr>
        <p:spPr>
          <a:xfrm>
            <a:off x="1952625" y="4764360"/>
            <a:ext cx="243978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OffSec Methodology</a:t>
            </a:r>
            <a:endParaRPr lang="en-US" sz="1950" dirty="0"/>
          </a:p>
        </p:txBody>
      </p:sp>
      <p:sp>
        <p:nvSpPr>
          <p:cNvPr id="17" name="Shape 15"/>
          <p:cNvSpPr/>
          <p:nvPr/>
        </p:nvSpPr>
        <p:spPr>
          <a:xfrm>
            <a:off x="800100" y="5423967"/>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56049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56144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3.4</a:t>
            </a:r>
            <a:endParaRPr lang="en-US" sz="1650" dirty="0"/>
          </a:p>
        </p:txBody>
      </p:sp>
      <p:sp>
        <p:nvSpPr>
          <p:cNvPr id="20" name="Text 18"/>
          <p:cNvSpPr/>
          <p:nvPr/>
        </p:nvSpPr>
        <p:spPr>
          <a:xfrm>
            <a:off x="1952625" y="5678760"/>
            <a:ext cx="347361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Case Study: chmod -x chmod</a:t>
            </a:r>
            <a:endParaRPr lang="en-US" sz="1950" dirty="0"/>
          </a:p>
        </p:txBody>
      </p:sp>
      <p:sp>
        <p:nvSpPr>
          <p:cNvPr id="21" name="Shape 19"/>
          <p:cNvSpPr/>
          <p:nvPr/>
        </p:nvSpPr>
        <p:spPr>
          <a:xfrm>
            <a:off x="800100" y="6338367"/>
            <a:ext cx="16687800" cy="800100"/>
          </a:xfrm>
          <a:prstGeom prst="roundRect">
            <a:avLst>
              <a:gd name="adj" fmla="val 16667"/>
            </a:avLst>
          </a:prstGeom>
          <a:solidFill>
            <a:srgbClr val="FFFFFF">
              <a:alpha val="2000"/>
            </a:srgbClr>
          </a:solidFill>
          <a:ln w="9525">
            <a:solidFill>
              <a:srgbClr val="2A2F3A"/>
            </a:solidFill>
            <a:prstDash val="solid"/>
          </a:ln>
        </p:spPr>
      </p:sp>
      <p:sp>
        <p:nvSpPr>
          <p:cNvPr id="22" name="Shape 20"/>
          <p:cNvSpPr/>
          <p:nvPr/>
        </p:nvSpPr>
        <p:spPr>
          <a:xfrm>
            <a:off x="1038225" y="65193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3" name="Text 21"/>
          <p:cNvSpPr/>
          <p:nvPr/>
        </p:nvSpPr>
        <p:spPr>
          <a:xfrm>
            <a:off x="1009650" y="65288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3.5</a:t>
            </a:r>
            <a:endParaRPr lang="en-US" sz="1650" dirty="0"/>
          </a:p>
        </p:txBody>
      </p:sp>
      <p:sp>
        <p:nvSpPr>
          <p:cNvPr id="24" name="Text 22"/>
          <p:cNvSpPr/>
          <p:nvPr/>
        </p:nvSpPr>
        <p:spPr>
          <a:xfrm>
            <a:off x="1952625" y="6593160"/>
            <a:ext cx="356717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Tactics and Common Methods</a:t>
            </a:r>
            <a:endParaRPr lang="en-US" sz="1950" dirty="0"/>
          </a:p>
        </p:txBody>
      </p:sp>
      <p:sp>
        <p:nvSpPr>
          <p:cNvPr id="25" name="Shape 23"/>
          <p:cNvSpPr/>
          <p:nvPr/>
        </p:nvSpPr>
        <p:spPr>
          <a:xfrm>
            <a:off x="800100" y="7252767"/>
            <a:ext cx="16687800" cy="800100"/>
          </a:xfrm>
          <a:prstGeom prst="roundRect">
            <a:avLst>
              <a:gd name="adj" fmla="val 16667"/>
            </a:avLst>
          </a:prstGeom>
          <a:solidFill>
            <a:srgbClr val="FFFFFF">
              <a:alpha val="2000"/>
            </a:srgbClr>
          </a:solidFill>
          <a:ln w="9525">
            <a:solidFill>
              <a:srgbClr val="2A2F3A"/>
            </a:solidFill>
            <a:prstDash val="solid"/>
          </a:ln>
        </p:spPr>
      </p:sp>
      <p:sp>
        <p:nvSpPr>
          <p:cNvPr id="26" name="Shape 24"/>
          <p:cNvSpPr/>
          <p:nvPr/>
        </p:nvSpPr>
        <p:spPr>
          <a:xfrm>
            <a:off x="1038225" y="74337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7" name="Text 25"/>
          <p:cNvSpPr/>
          <p:nvPr/>
        </p:nvSpPr>
        <p:spPr>
          <a:xfrm>
            <a:off x="1009650" y="74432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3.6</a:t>
            </a:r>
            <a:endParaRPr lang="en-US" sz="1650" dirty="0"/>
          </a:p>
        </p:txBody>
      </p:sp>
      <p:sp>
        <p:nvSpPr>
          <p:cNvPr id="28" name="Text 26"/>
          <p:cNvSpPr/>
          <p:nvPr/>
        </p:nvSpPr>
        <p:spPr>
          <a:xfrm>
            <a:off x="1952625" y="7507560"/>
            <a:ext cx="402295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Advice and Suggestions on Exams</a:t>
            </a:r>
            <a:endParaRPr lang="en-US" sz="1950" dirty="0"/>
          </a:p>
        </p:txBody>
      </p:sp>
      <p:sp>
        <p:nvSpPr>
          <p:cNvPr id="29" name="Shape 27"/>
          <p:cNvSpPr/>
          <p:nvPr/>
        </p:nvSpPr>
        <p:spPr>
          <a:xfrm>
            <a:off x="800100" y="8167167"/>
            <a:ext cx="16687800" cy="800100"/>
          </a:xfrm>
          <a:prstGeom prst="roundRect">
            <a:avLst>
              <a:gd name="adj" fmla="val 16667"/>
            </a:avLst>
          </a:prstGeom>
          <a:solidFill>
            <a:srgbClr val="FFFFFF">
              <a:alpha val="2000"/>
            </a:srgbClr>
          </a:solidFill>
          <a:ln w="9525">
            <a:solidFill>
              <a:srgbClr val="2A2F3A"/>
            </a:solidFill>
            <a:prstDash val="solid"/>
          </a:ln>
        </p:spPr>
      </p:sp>
      <p:sp>
        <p:nvSpPr>
          <p:cNvPr id="30" name="Shape 28"/>
          <p:cNvSpPr/>
          <p:nvPr/>
        </p:nvSpPr>
        <p:spPr>
          <a:xfrm>
            <a:off x="1038225" y="83481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31" name="Text 29"/>
          <p:cNvSpPr/>
          <p:nvPr/>
        </p:nvSpPr>
        <p:spPr>
          <a:xfrm>
            <a:off x="1009650" y="83576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3.7</a:t>
            </a:r>
            <a:endParaRPr lang="en-US" sz="1650" dirty="0"/>
          </a:p>
        </p:txBody>
      </p:sp>
      <p:sp>
        <p:nvSpPr>
          <p:cNvPr id="32" name="Text 30"/>
          <p:cNvSpPr/>
          <p:nvPr/>
        </p:nvSpPr>
        <p:spPr>
          <a:xfrm>
            <a:off x="1952625" y="8421960"/>
            <a:ext cx="174638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Practical Steps</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3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6A00">
              <a:alpha val="12000"/>
            </a:srgbClr>
          </a:solidFill>
          <a:ln w="9525">
            <a:solidFill>
              <a:srgbClr val="FF6A00"/>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631121"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Why a technical course teaches learning</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VOLUME</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Twenty-one technical modules follow. Without a retention strategy, material read in month one is unavailable by month three.</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UNCERTAINTY</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 established the increasing-uncertainty model. This module supplies the techniques that make performing under it possible.</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DURABILITY</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Recognising a technique in a write-up is not the same as producing it unaided. Only some study methods close that gap.</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19910" y="3650010"/>
            <a:ext cx="2048106"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3.1</a:t>
            </a:r>
            <a:endParaRPr lang="en-US" sz="1650" dirty="0"/>
          </a:p>
        </p:txBody>
      </p:sp>
      <p:sp>
        <p:nvSpPr>
          <p:cNvPr id="4" name="Text 2"/>
          <p:cNvSpPr/>
          <p:nvPr/>
        </p:nvSpPr>
        <p:spPr>
          <a:xfrm>
            <a:off x="5579522" y="4164360"/>
            <a:ext cx="7128956"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Learning Theory</a:t>
            </a:r>
            <a:endParaRPr lang="en-US" sz="6600" dirty="0"/>
          </a:p>
        </p:txBody>
      </p:sp>
      <p:sp>
        <p:nvSpPr>
          <p:cNvPr id="5" name="Text 3"/>
          <p:cNvSpPr/>
          <p:nvPr/>
        </p:nvSpPr>
        <p:spPr>
          <a:xfrm>
            <a:off x="3012281" y="5311155"/>
            <a:ext cx="12263438" cy="136393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The general state of understanding about education theory, the basics of memory mechanisms and dual encoding, and the problems learners face — including the Curve of Forgetting and cognitive load.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89262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1745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3.1 · Task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general state of education theory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asks learners to understand the general state of our understanding about education and education theory. That state is genuinely unsettled: some findings replicate strongly, many popular claims do not.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Study advice circulates widely without evidence. Knowing which findings are robust lets a learner spend limited time on methods that work rather than methods that feel productive.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Confident claims about learning styles or single best methods. The robust findings are narrower and less flattering: effort during recall is what produces retention.</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1688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243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3.1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How memory works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Memory operates in three phases: encoding information as it arrives, storing it, and retrieving it later. Study methods differ enormously in which phase they exercise.</a:t>
            </a:r>
            <a:endParaRPr lang="en-US" sz="2175" dirty="0"/>
          </a:p>
        </p:txBody>
      </p:sp>
      <p:sp>
        <p:nvSpPr>
          <p:cNvPr id="7" name="Shape 5"/>
          <p:cNvSpPr/>
          <p:nvPr/>
        </p:nvSpPr>
        <p:spPr>
          <a:xfrm>
            <a:off x="800100"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ENCODING</a:t>
            </a:r>
            <a:endParaRPr lang="en-US" sz="1500" dirty="0"/>
          </a:p>
        </p:txBody>
      </p:sp>
      <p:sp>
        <p:nvSpPr>
          <p:cNvPr id="9" name="Text 7"/>
          <p:cNvSpPr/>
          <p:nvPr/>
        </p:nvSpPr>
        <p:spPr>
          <a:xfrm>
            <a:off x="1038225"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Getting information in. Improved by attention and by connecting new material to what is already known.</a:t>
            </a:r>
            <a:endParaRPr lang="en-US" sz="1875" dirty="0"/>
          </a:p>
        </p:txBody>
      </p:sp>
      <p:sp>
        <p:nvSpPr>
          <p:cNvPr id="10" name="Shape 8"/>
          <p:cNvSpPr/>
          <p:nvPr/>
        </p:nvSpPr>
        <p:spPr>
          <a:xfrm>
            <a:off x="6426175"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6664300"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STORAGE</a:t>
            </a:r>
            <a:endParaRPr lang="en-US" sz="1500" dirty="0"/>
          </a:p>
        </p:txBody>
      </p:sp>
      <p:sp>
        <p:nvSpPr>
          <p:cNvPr id="12" name="Text 10"/>
          <p:cNvSpPr/>
          <p:nvPr/>
        </p:nvSpPr>
        <p:spPr>
          <a:xfrm>
            <a:off x="6664300"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Holding it. Largely outside conscious control, and the phase learners wrongly believe re-reading strengthens.</a:t>
            </a:r>
            <a:endParaRPr lang="en-US" sz="1875" dirty="0"/>
          </a:p>
        </p:txBody>
      </p:sp>
      <p:sp>
        <p:nvSpPr>
          <p:cNvPr id="13" name="Shape 11"/>
          <p:cNvSpPr/>
          <p:nvPr/>
        </p:nvSpPr>
        <p:spPr>
          <a:xfrm>
            <a:off x="12052250" y="5424934"/>
            <a:ext cx="5435650" cy="1795463"/>
          </a:xfrm>
          <a:prstGeom prst="roundRect">
            <a:avLst>
              <a:gd name="adj" fmla="val 8488"/>
            </a:avLst>
          </a:prstGeom>
          <a:solidFill>
            <a:srgbClr val="FFFFFF">
              <a:alpha val="2000"/>
            </a:srgbClr>
          </a:solidFill>
          <a:ln w="9525">
            <a:solidFill>
              <a:srgbClr val="2A2F3A"/>
            </a:solidFill>
            <a:prstDash val="solid"/>
          </a:ln>
        </p:spPr>
      </p:sp>
      <p:sp>
        <p:nvSpPr>
          <p:cNvPr id="14" name="Text 12"/>
          <p:cNvSpPr/>
          <p:nvPr/>
        </p:nvSpPr>
        <p:spPr>
          <a:xfrm>
            <a:off x="12290375" y="566305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RETRIEVAL</a:t>
            </a:r>
            <a:endParaRPr lang="en-US" sz="1500" dirty="0"/>
          </a:p>
        </p:txBody>
      </p:sp>
      <p:sp>
        <p:nvSpPr>
          <p:cNvPr id="15" name="Text 13"/>
          <p:cNvSpPr/>
          <p:nvPr/>
        </p:nvSpPr>
        <p:spPr>
          <a:xfrm>
            <a:off x="12290375" y="598214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Getting it back out under pressure. The trainable phase, and the only one an exam or an engagement actually tests.</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1688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243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3.1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Dual encoding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Dual encoding is the finding that information encoded through two complementary channels — verbal and visual — is retained better than information encoded through either alone.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EXAMPLE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Drawing the network path of a pivot alongside writing the command that creates it. The diagram and the text encode the same fact through different routes, and each supports recall of the other.</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DISTINCT FROM</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Learning styles. Dual encoding says everyone benefits from two channels. It does not say some learners are "visual" and should abandon text.</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2201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772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3.1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Curve of Forgetting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Retention of newly learned material decays steeply and quickly unless something intervenes. The decline is fastest immediately after learning, which is precisely when learners feel most confident.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module read once and marked complete is, within weeks, functionally unread. This is the single mechanical reason a module tracker distinguishing "read" from "recalled" is worth keeping.</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TYPICAL REMEDIATION</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Spaced practice, covered in Objective 3.5. Revisiting material at widening intervals flattens the curve at a fraction of the cost of relearning it.</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2201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64772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3.1 · Task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Cognitive load</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Working memory holds very little at once. When the material demands more than it can hold, learning stops — not because the learner lacks capability, but because there is no capacity left to process with.</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Stalling on multi-step chains such as tunnelling in Module 17. Usually the individual steps are understood and the failure is load, not comprehension.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TYPICAL REMEDIATION</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Offload deliberately: write the chain down, automate the mechanical parts, and practise sub-steps to fluency so each consumes less working memory.</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4067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3597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Two different failures that feel identical</a:t>
            </a:r>
            <a:endParaRPr lang="en-US" sz="3000" dirty="0"/>
          </a:p>
        </p:txBody>
      </p:sp>
      <p:sp>
        <p:nvSpPr>
          <p:cNvPr id="5" name="Shape 3"/>
          <p:cNvSpPr/>
          <p:nvPr/>
        </p:nvSpPr>
        <p:spPr>
          <a:xfrm>
            <a:off x="800100" y="4502721"/>
            <a:ext cx="7581900"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FORGETTING</a:t>
            </a:r>
            <a:endParaRPr lang="en-US" sz="1500" dirty="0"/>
          </a:p>
        </p:txBody>
      </p:sp>
      <p:sp>
        <p:nvSpPr>
          <p:cNvPr id="7" name="Text 5"/>
          <p:cNvSpPr/>
          <p:nvPr/>
        </p:nvSpPr>
        <p:spPr>
          <a:xfrm>
            <a:off x="10382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You understood it and it has decayed. Symptom: it comes back quickly once prompted. Remedy: spaced retrieval, not rereading from scratch.</a:t>
            </a:r>
            <a:endParaRPr lang="en-US" sz="1875" dirty="0"/>
          </a:p>
        </p:txBody>
      </p:sp>
      <p:sp>
        <p:nvSpPr>
          <p:cNvPr id="8" name="Text 6"/>
          <p:cNvSpPr/>
          <p:nvPr/>
        </p:nvSpPr>
        <p:spPr>
          <a:xfrm>
            <a:off x="8534400" y="4502721"/>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502721"/>
            <a:ext cx="7581900" cy="1795463"/>
          </a:xfrm>
          <a:prstGeom prst="roundRect">
            <a:avLst>
              <a:gd name="adj" fmla="val 8488"/>
            </a:avLst>
          </a:prstGeom>
          <a:solidFill>
            <a:srgbClr val="FF6A00">
              <a:alpha val="6000"/>
            </a:srgbClr>
          </a:solidFill>
          <a:ln w="9525">
            <a:solidFill>
              <a:srgbClr val="B85100"/>
            </a:solidFill>
            <a:prstDash val="solid"/>
          </a:ln>
        </p:spPr>
      </p:sp>
      <p:sp>
        <p:nvSpPr>
          <p:cNvPr id="10" name="Text 8"/>
          <p:cNvSpPr/>
          <p:nvPr/>
        </p:nvSpPr>
        <p:spPr>
          <a:xfrm>
            <a:off x="101441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OVERLOAD</a:t>
            </a:r>
            <a:endParaRPr lang="en-US" sz="1500" dirty="0"/>
          </a:p>
        </p:txBody>
      </p:sp>
      <p:sp>
        <p:nvSpPr>
          <p:cNvPr id="11" name="Text 9"/>
          <p:cNvSpPr/>
          <p:nvPr/>
        </p:nvSpPr>
        <p:spPr>
          <a:xfrm>
            <a:off x="101441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You never encoded it because capacity ran out. Symptom: prompting does not help. Remedy: break the material down and build fluency in the parts first.</a:t>
            </a:r>
            <a:endParaRPr lang="en-US" sz="1875" dirty="0"/>
          </a:p>
        </p:txBody>
      </p:sp>
      <p:sp>
        <p:nvSpPr>
          <p:cNvPr id="12" name="Text 10"/>
          <p:cNvSpPr/>
          <p:nvPr/>
        </p:nvSpPr>
        <p:spPr>
          <a:xfrm>
            <a:off x="800100" y="654583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Diagnose before treating. Applying spaced repetition to an overload problem simply repeats the overload.</a:t>
            </a:r>
            <a:endParaRPr lang="en-US" sz="21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3.1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Learning Theory — what you should now hold</a:t>
            </a:r>
            <a:endParaRPr lang="en-US" sz="3000" dirty="0"/>
          </a:p>
        </p:txBody>
      </p:sp>
      <p:sp>
        <p:nvSpPr>
          <p:cNvPr id="5" name="Shape 3"/>
          <p:cNvSpPr/>
          <p:nvPr/>
        </p:nvSpPr>
        <p:spPr>
          <a:xfrm>
            <a:off x="800100"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FIELD</a:t>
            </a:r>
            <a:endParaRPr lang="en-US" sz="1500" dirty="0"/>
          </a:p>
        </p:txBody>
      </p:sp>
      <p:sp>
        <p:nvSpPr>
          <p:cNvPr id="7" name="Text 5"/>
          <p:cNvSpPr/>
          <p:nvPr/>
        </p:nvSpPr>
        <p:spPr>
          <a:xfrm>
            <a:off x="1038225"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Genuinely contested. Effortful retrieval is among the robust findings; learning styles is not.</a:t>
            </a:r>
            <a:endParaRPr lang="en-US" sz="1875" dirty="0"/>
          </a:p>
        </p:txBody>
      </p:sp>
      <p:sp>
        <p:nvSpPr>
          <p:cNvPr id="8" name="Shape 6"/>
          <p:cNvSpPr/>
          <p:nvPr/>
        </p:nvSpPr>
        <p:spPr>
          <a:xfrm>
            <a:off x="6426175"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6664300"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MECHANISM</a:t>
            </a:r>
            <a:endParaRPr lang="en-US" sz="1500" dirty="0"/>
          </a:p>
        </p:txBody>
      </p:sp>
      <p:sp>
        <p:nvSpPr>
          <p:cNvPr id="10" name="Text 8"/>
          <p:cNvSpPr/>
          <p:nvPr/>
        </p:nvSpPr>
        <p:spPr>
          <a:xfrm>
            <a:off x="6664300"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Encode, store, retrieve. Retrieval is the trainable phase and the only one that is tested.</a:t>
            </a:r>
            <a:endParaRPr lang="en-US" sz="1875" dirty="0"/>
          </a:p>
        </p:txBody>
      </p:sp>
      <p:sp>
        <p:nvSpPr>
          <p:cNvPr id="11" name="Shape 9"/>
          <p:cNvSpPr/>
          <p:nvPr/>
        </p:nvSpPr>
        <p:spPr>
          <a:xfrm>
            <a:off x="12052250" y="4993481"/>
            <a:ext cx="5435650"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2290375" y="5231606"/>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OBSTACLES</a:t>
            </a:r>
            <a:endParaRPr lang="en-US" sz="1500" dirty="0"/>
          </a:p>
        </p:txBody>
      </p:sp>
      <p:sp>
        <p:nvSpPr>
          <p:cNvPr id="13" name="Text 11"/>
          <p:cNvSpPr/>
          <p:nvPr/>
        </p:nvSpPr>
        <p:spPr>
          <a:xfrm>
            <a:off x="12290375" y="5550694"/>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Curve of Forgetting decays what you learned; cognitive load prevents learning it at all.</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00346" y="3910980"/>
            <a:ext cx="2087233"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3.2</a:t>
            </a:r>
            <a:endParaRPr lang="en-US" sz="1650" dirty="0"/>
          </a:p>
        </p:txBody>
      </p:sp>
      <p:sp>
        <p:nvSpPr>
          <p:cNvPr id="4" name="Text 2"/>
          <p:cNvSpPr/>
          <p:nvPr/>
        </p:nvSpPr>
        <p:spPr>
          <a:xfrm>
            <a:off x="-6783" y="4425330"/>
            <a:ext cx="18301491" cy="838200"/>
          </a:xfrm>
          <a:prstGeom prst="rect">
            <a:avLst/>
          </a:prstGeom>
          <a:noFill/>
          <a:ln/>
        </p:spPr>
        <p:txBody>
          <a:bodyPr wrap="square" lIns="25400" tIns="25400" rIns="25400" bIns="25400" rtlCol="0" anchor="t">
            <a:normAutofit/>
          </a:bodyPr>
          <a:lstStyle/>
          <a:p>
            <a:pPr algn="ctr" indent="0" marL="0">
              <a:lnSpc>
                <a:spcPct val="91304"/>
              </a:lnSpc>
              <a:buNone/>
            </a:pPr>
            <a:r>
              <a:rPr lang="en-US" sz="6000" b="1" spc="-37" kern="0" dirty="0">
                <a:solidFill>
                  <a:srgbClr val="F5F7FB"/>
                </a:solidFill>
                <a:latin typeface="Arial" pitchFamily="34" charset="0"/>
                <a:ea typeface="Arial" pitchFamily="34" charset="-122"/>
                <a:cs typeface="Arial" pitchFamily="34" charset="-120"/>
              </a:rPr>
              <a:t>Unique Challenges to Learning Technical Skills</a:t>
            </a:r>
            <a:endParaRPr lang="en-US" sz="6000" dirty="0"/>
          </a:p>
        </p:txBody>
      </p:sp>
      <p:sp>
        <p:nvSpPr>
          <p:cNvPr id="5" name="Text 3"/>
          <p:cNvSpPr/>
          <p:nvPr/>
        </p:nvSpPr>
        <p:spPr>
          <a:xfrm>
            <a:off x="2767013" y="549213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The differences and advantages of digital learning materials, the challenge of preparing for unknown scenarios, and the potential challenges of remote or asynchronous learning.</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2581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5163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3.2 · Task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Digital learning materials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asks learners to recognise the differences and advantages of digital learning materials. They are searchable, correctable, and directly executable — a technical claim can be tested the moment it is read.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ADVANTAGE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Material can be verified rather than believed. A command in the text can be run, altered, and broken deliberately to see what the boundary condition actually is.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Access mistaken for competence. Searchable material is always at hand, which makes it easy to postpone the retrieval practice that would make it usable without searching.</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007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7662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3.2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Preparing for unknown scenarios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tester cannot be told in advance what they will face. The syllabus therefore treats preparing for unknown scenarios as its own challenge — one that memorising specific answers cannot address.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technique in the course will eventually be met in a form that does not match the example. What transfers is the method of approach, not the specific sequence of commands.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Practise deriving rather than recalling. Ask why a technique works before asking how to run it, so that when the how changes the why still holds.</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520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191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3.2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Challenges of remote and asynchronous learning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Self-paced study removes the scaffolding a classroom provides: no fixed pace, no peers at the same point, and no one who notices when progress stops.</a:t>
            </a:r>
            <a:endParaRPr lang="en-US" sz="2175" dirty="0"/>
          </a:p>
        </p:txBody>
      </p:sp>
      <p:sp>
        <p:nvSpPr>
          <p:cNvPr id="7" name="Shape 5"/>
          <p:cNvSpPr/>
          <p:nvPr/>
        </p:nvSpPr>
        <p:spPr>
          <a:xfrm>
            <a:off x="800100"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NO EXTERNAL PACE</a:t>
            </a:r>
            <a:endParaRPr lang="en-US" sz="1500" dirty="0"/>
          </a:p>
        </p:txBody>
      </p:sp>
      <p:sp>
        <p:nvSpPr>
          <p:cNvPr id="9" name="Text 7"/>
          <p:cNvSpPr/>
          <p:nvPr/>
        </p:nvSpPr>
        <p:spPr>
          <a:xfrm>
            <a:off x="1038225"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Nothing forces progress. Deadlines must be self-imposed and then treated as real, which most learners find harder than the technical material.</a:t>
            </a:r>
            <a:endParaRPr lang="en-US" sz="1875" dirty="0"/>
          </a:p>
        </p:txBody>
      </p:sp>
      <p:sp>
        <p:nvSpPr>
          <p:cNvPr id="10" name="Shape 8"/>
          <p:cNvSpPr/>
          <p:nvPr/>
        </p:nvSpPr>
        <p:spPr>
          <a:xfrm>
            <a:off x="6426175"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6664300"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NO IMMEDIATE CORRECTION</a:t>
            </a:r>
            <a:endParaRPr lang="en-US" sz="1500" dirty="0"/>
          </a:p>
        </p:txBody>
      </p:sp>
      <p:sp>
        <p:nvSpPr>
          <p:cNvPr id="12" name="Text 10"/>
          <p:cNvSpPr/>
          <p:nvPr/>
        </p:nvSpPr>
        <p:spPr>
          <a:xfrm>
            <a:off x="6664300"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misconception can persist for weeks because nobody contradicts it. This is what makes retrieval practice and community both valuable.</a:t>
            </a:r>
            <a:endParaRPr lang="en-US" sz="1875" dirty="0"/>
          </a:p>
        </p:txBody>
      </p:sp>
      <p:sp>
        <p:nvSpPr>
          <p:cNvPr id="13" name="Shape 11"/>
          <p:cNvSpPr/>
          <p:nvPr/>
        </p:nvSpPr>
        <p:spPr>
          <a:xfrm>
            <a:off x="12052250" y="5424934"/>
            <a:ext cx="5435650" cy="1795463"/>
          </a:xfrm>
          <a:prstGeom prst="roundRect">
            <a:avLst>
              <a:gd name="adj" fmla="val 8488"/>
            </a:avLst>
          </a:prstGeom>
          <a:solidFill>
            <a:srgbClr val="FFFFFF">
              <a:alpha val="2000"/>
            </a:srgbClr>
          </a:solidFill>
          <a:ln w="9525">
            <a:solidFill>
              <a:srgbClr val="2A2F3A"/>
            </a:solidFill>
            <a:prstDash val="solid"/>
          </a:ln>
        </p:spPr>
      </p:sp>
      <p:sp>
        <p:nvSpPr>
          <p:cNvPr id="14" name="Text 12"/>
          <p:cNvSpPr/>
          <p:nvPr/>
        </p:nvSpPr>
        <p:spPr>
          <a:xfrm>
            <a:off x="12290375" y="566305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ISOLATION</a:t>
            </a:r>
            <a:endParaRPr lang="en-US" sz="1500" dirty="0"/>
          </a:p>
        </p:txBody>
      </p:sp>
      <p:sp>
        <p:nvSpPr>
          <p:cNvPr id="15" name="Text 13"/>
          <p:cNvSpPr/>
          <p:nvPr/>
        </p:nvSpPr>
        <p:spPr>
          <a:xfrm>
            <a:off x="12290375" y="598214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Difficulty is invisible, so learners assume they are uniquely struggling. Objective 3.7 addresses this directly through co-learners and community.</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3.2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Unique Challenges — what you should now hold</a:t>
            </a:r>
            <a:endParaRPr lang="en-US" sz="3000" dirty="0"/>
          </a:p>
        </p:txBody>
      </p:sp>
      <p:sp>
        <p:nvSpPr>
          <p:cNvPr id="5" name="Shape 3"/>
          <p:cNvSpPr/>
          <p:nvPr/>
        </p:nvSpPr>
        <p:spPr>
          <a:xfrm>
            <a:off x="800100"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DIGITAL MATERIAL</a:t>
            </a:r>
            <a:endParaRPr lang="en-US" sz="1500" dirty="0"/>
          </a:p>
        </p:txBody>
      </p:sp>
      <p:sp>
        <p:nvSpPr>
          <p:cNvPr id="7" name="Text 5"/>
          <p:cNvSpPr/>
          <p:nvPr/>
        </p:nvSpPr>
        <p:spPr>
          <a:xfrm>
            <a:off x="1038225"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Searchable, correctable and executable — but access is not competence.</a:t>
            </a:r>
            <a:endParaRPr lang="en-US" sz="1875" dirty="0"/>
          </a:p>
        </p:txBody>
      </p:sp>
      <p:sp>
        <p:nvSpPr>
          <p:cNvPr id="8" name="Shape 6"/>
          <p:cNvSpPr/>
          <p:nvPr/>
        </p:nvSpPr>
        <p:spPr>
          <a:xfrm>
            <a:off x="6426175" y="4993481"/>
            <a:ext cx="543557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6664300" y="5231606"/>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UNKNOWN SCENARIOS</a:t>
            </a:r>
            <a:endParaRPr lang="en-US" sz="1500" dirty="0"/>
          </a:p>
        </p:txBody>
      </p:sp>
      <p:sp>
        <p:nvSpPr>
          <p:cNvPr id="10" name="Text 8"/>
          <p:cNvSpPr/>
          <p:nvPr/>
        </p:nvSpPr>
        <p:spPr>
          <a:xfrm>
            <a:off x="6664300" y="5550694"/>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Method transfers; specific sequences do not. Practise deriving, not recalling.</a:t>
            </a:r>
            <a:endParaRPr lang="en-US" sz="1875" dirty="0"/>
          </a:p>
        </p:txBody>
      </p:sp>
      <p:sp>
        <p:nvSpPr>
          <p:cNvPr id="11" name="Shape 9"/>
          <p:cNvSpPr/>
          <p:nvPr/>
        </p:nvSpPr>
        <p:spPr>
          <a:xfrm>
            <a:off x="12052250" y="4993481"/>
            <a:ext cx="5435650"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2290375" y="5231606"/>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REMOTE STUDY</a:t>
            </a:r>
            <a:endParaRPr lang="en-US" sz="1500" dirty="0"/>
          </a:p>
        </p:txBody>
      </p:sp>
      <p:sp>
        <p:nvSpPr>
          <p:cNvPr id="13" name="Text 11"/>
          <p:cNvSpPr/>
          <p:nvPr/>
        </p:nvSpPr>
        <p:spPr>
          <a:xfrm>
            <a:off x="12290375" y="5550694"/>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No external pace, no immediate correction, and difficulty that feels personal but is structural.</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9197" y="3870945"/>
            <a:ext cx="2089606"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3.3</a:t>
            </a:r>
            <a:endParaRPr lang="en-US" sz="1650" dirty="0"/>
          </a:p>
        </p:txBody>
      </p:sp>
      <p:sp>
        <p:nvSpPr>
          <p:cNvPr id="4" name="Text 2"/>
          <p:cNvSpPr/>
          <p:nvPr/>
        </p:nvSpPr>
        <p:spPr>
          <a:xfrm>
            <a:off x="4622140" y="4385295"/>
            <a:ext cx="9043720"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OffSec Methodology</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Understand what is meant by a Demonstrative Methodology, and revisit the challenges of unknown scenarios and of remote or asynchronous learning through that lens.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335462"/>
            <a:ext cx="292707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421187"/>
            <a:ext cx="265293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3.3 · Task 1 of 3</a:t>
            </a:r>
            <a:endParaRPr lang="en-US" sz="1500" dirty="0"/>
          </a:p>
        </p:txBody>
      </p:sp>
      <p:sp>
        <p:nvSpPr>
          <p:cNvPr id="5" name="Shape 3"/>
          <p:cNvSpPr/>
          <p:nvPr/>
        </p:nvSpPr>
        <p:spPr>
          <a:xfrm>
            <a:off x="800100" y="4073649"/>
            <a:ext cx="57150" cy="1333500"/>
          </a:xfrm>
          <a:prstGeom prst="rect">
            <a:avLst/>
          </a:prstGeom>
          <a:solidFill>
            <a:srgbClr val="FF6A00"/>
          </a:solidFill>
          <a:ln/>
        </p:spPr>
      </p:sp>
      <p:sp>
        <p:nvSpPr>
          <p:cNvPr id="6" name="Text 4"/>
          <p:cNvSpPr/>
          <p:nvPr/>
        </p:nvSpPr>
        <p:spPr>
          <a:xfrm>
            <a:off x="1162050" y="4245099"/>
            <a:ext cx="16826484" cy="1028700"/>
          </a:xfrm>
          <a:prstGeom prst="rect">
            <a:avLst/>
          </a:prstGeom>
          <a:noFill/>
          <a:ln/>
        </p:spPr>
        <p:txBody>
          <a:bodyPr wrap="square" lIns="25400" tIns="25400" rIns="25400" bIns="25400" rtlCol="0" anchor="t">
            <a:normAutofit/>
          </a:bodyPr>
          <a:lstStyle/>
          <a:p>
            <a:pPr algn="l" indent="0" marL="0">
              <a:lnSpc>
                <a:spcPct val="113043"/>
              </a:lnSpc>
              <a:buNone/>
            </a:pPr>
            <a:r>
              <a:rPr lang="en-US" sz="3000" b="1" dirty="0">
                <a:solidFill>
                  <a:srgbClr val="F5F7FB"/>
                </a:solidFill>
                <a:latin typeface="Arial" pitchFamily="34" charset="0"/>
                <a:ea typeface="Arial" pitchFamily="34" charset="-122"/>
                <a:cs typeface="Arial" pitchFamily="34" charset="-120"/>
              </a:rPr>
              <a:t>A </a:t>
            </a:r>
            <a:pPr algn="l" indent="0" marL="0">
              <a:lnSpc>
                <a:spcPct val="113043"/>
              </a:lnSpc>
              <a:buNone/>
            </a:pPr>
            <a:r>
              <a:rPr lang="en-US" sz="3000" b="1" dirty="0">
                <a:solidFill>
                  <a:srgbClr val="FF6A00"/>
                </a:solidFill>
                <a:latin typeface="Arial" pitchFamily="34" charset="0"/>
                <a:ea typeface="Arial" pitchFamily="34" charset="-122"/>
                <a:cs typeface="Arial" pitchFamily="34" charset="-120"/>
              </a:rPr>
              <a:t>Demonstrative Methodology </a:t>
            </a:r>
            <a:pPr algn="l" indent="0" marL="0">
              <a:lnSpc>
                <a:spcPct val="113043"/>
              </a:lnSpc>
              <a:buNone/>
            </a:pPr>
            <a:r>
              <a:rPr lang="en-US" sz="3000" b="1" dirty="0">
                <a:solidFill>
                  <a:srgbClr val="F5F7FB"/>
                </a:solidFill>
                <a:latin typeface="Arial" pitchFamily="34" charset="0"/>
                <a:ea typeface="Arial" pitchFamily="34" charset="-122"/>
                <a:cs typeface="Arial" pitchFamily="34" charset="-120"/>
              </a:rPr>
              <a:t>shows the reasoning behind an approach, then requires the learner to extend it — rather than supplying a procedure to follow.</a:t>
            </a:r>
            <a:endParaRPr lang="en-US" sz="3000" dirty="0"/>
          </a:p>
        </p:txBody>
      </p:sp>
      <p:sp>
        <p:nvSpPr>
          <p:cNvPr id="7" name="Text 5"/>
          <p:cNvSpPr/>
          <p:nvPr/>
        </p:nvSpPr>
        <p:spPr>
          <a:xfrm>
            <a:off x="800100" y="5750049"/>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material demonstrates how a problem is thought about, including the dead ends. The learner is then expected to carry that reasoning to a case the material never covered. This is the mechanism by which the increasing-uncertainty model from Module 1 is actually delivered.</a:t>
            </a:r>
            <a:endParaRPr lang="en-US" sz="21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Demonstrative versus prescriptive teaching</a:t>
            </a:r>
            <a:endParaRPr lang="en-US" sz="3000" dirty="0"/>
          </a:p>
        </p:txBody>
      </p:sp>
      <p:sp>
        <p:nvSpPr>
          <p:cNvPr id="5" name="Shape 3"/>
          <p:cNvSpPr/>
          <p:nvPr/>
        </p:nvSpPr>
        <p:spPr>
          <a:xfrm>
            <a:off x="800100" y="4302472"/>
            <a:ext cx="7581900" cy="1795463"/>
          </a:xfrm>
          <a:prstGeom prst="roundRect">
            <a:avLst>
              <a:gd name="adj" fmla="val 8488"/>
            </a:avLst>
          </a:prstGeom>
          <a:solidFill>
            <a:srgbClr val="FF6A00">
              <a:alpha val="6000"/>
            </a:srgbClr>
          </a:solidFill>
          <a:ln w="9525">
            <a:solidFill>
              <a:srgbClr val="B85100"/>
            </a:solidFill>
            <a:prstDash val="solid"/>
          </a:ln>
        </p:spPr>
      </p:sp>
      <p:sp>
        <p:nvSpPr>
          <p:cNvPr id="6" name="Text 4"/>
          <p:cNvSpPr/>
          <p:nvPr/>
        </p:nvSpPr>
        <p:spPr>
          <a:xfrm>
            <a:off x="10382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DEMONSTRATIVE</a:t>
            </a:r>
            <a:endParaRPr lang="en-US" sz="1500" dirty="0"/>
          </a:p>
        </p:txBody>
      </p:sp>
      <p:sp>
        <p:nvSpPr>
          <p:cNvPr id="7" name="Text 5"/>
          <p:cNvSpPr/>
          <p:nvPr/>
        </p:nvSpPr>
        <p:spPr>
          <a:xfrm>
            <a:off x="1038225" y="4859685"/>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Shows the reasoning, including what was tried and rejected. Produces a learner who can approach an unseen target. Slower, and uncomfortable by design.</a:t>
            </a:r>
            <a:endParaRPr lang="en-US" sz="1875" dirty="0"/>
          </a:p>
        </p:txBody>
      </p:sp>
      <p:sp>
        <p:nvSpPr>
          <p:cNvPr id="8" name="Text 6"/>
          <p:cNvSpPr/>
          <p:nvPr/>
        </p:nvSpPr>
        <p:spPr>
          <a:xfrm>
            <a:off x="8534400" y="4302472"/>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302472"/>
            <a:ext cx="7581900"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1441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PRESCRIPTIVE</a:t>
            </a:r>
            <a:endParaRPr lang="en-US" sz="1500" dirty="0"/>
          </a:p>
        </p:txBody>
      </p:sp>
      <p:sp>
        <p:nvSpPr>
          <p:cNvPr id="11" name="Text 9"/>
          <p:cNvSpPr/>
          <p:nvPr/>
        </p:nvSpPr>
        <p:spPr>
          <a:xfrm>
            <a:off x="10144125" y="4859685"/>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Supplies a correct sequence to follow. Produces a learner who can reproduce that sequence. Faster, and fails the moment the target differs.</a:t>
            </a:r>
            <a:endParaRPr lang="en-US" sz="1875" dirty="0"/>
          </a:p>
        </p:txBody>
      </p:sp>
      <p:sp>
        <p:nvSpPr>
          <p:cNvPr id="12" name="Text 10"/>
          <p:cNvSpPr/>
          <p:nvPr/>
        </p:nvSpPr>
        <p:spPr>
          <a:xfrm>
            <a:off x="800100" y="6345585"/>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Watch for: learners seeking walkthroughs for course material. It converts a demonstrative course into a prescriptive one and removes the entire benefit.</a:t>
            </a:r>
            <a:endParaRPr lang="en-US" sz="21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6684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341656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3.3 · Tasks 2 and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Why the methodology answers both challenges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restates the unknown-scenario and remote-learning challenges inside this unit. The point is that the Demonstrative Methodology is the response to both, not a separate topic.</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UNKNOWN SCENARIOS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demonstrated line of reasoning transfers to a target the material never described. A memorised procedure does not. Teaching reasoning is therefore the only viable preparation for the unknown.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REMOTE STUDY</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With no instructor present to correct a wrong turn, the learner must be able to evaluate their own approach. Demonstrating reasoning — including rejected paths — is what makes self-correction possible.</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3.3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OffSec Methodology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TERM</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Demonstrative Methodology shows reasoning and requires the learner to extend it, rather than supplying a procedure.</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PURPOSE</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the delivery mechanism for increasing uncertainty, and the only approach that prepares a learner for targets the material never covered.</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4453" y="3670027"/>
            <a:ext cx="2099020"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3.4</a:t>
            </a:r>
            <a:endParaRPr lang="en-US" sz="1650" dirty="0"/>
          </a:p>
        </p:txBody>
      </p:sp>
      <p:sp>
        <p:nvSpPr>
          <p:cNvPr id="4" name="Text 2"/>
          <p:cNvSpPr/>
          <p:nvPr/>
        </p:nvSpPr>
        <p:spPr>
          <a:xfrm>
            <a:off x="3076955" y="4184377"/>
            <a:ext cx="12134091" cy="878160"/>
          </a:xfrm>
          <a:prstGeom prst="rect">
            <a:avLst/>
          </a:prstGeom>
          <a:noFill/>
          <a:ln/>
        </p:spPr>
        <p:txBody>
          <a:bodyPr wrap="square" lIns="25400" tIns="25400" rIns="25400" bIns="25400" rtlCol="0" anchor="t">
            <a:normAutofit/>
          </a:bodyPr>
          <a:lstStyle/>
          <a:p>
            <a:pPr algn="ctr" indent="0" marL="0">
              <a:lnSpc>
                <a:spcPct val="91399"/>
              </a:lnSpc>
              <a:buNone/>
            </a:pPr>
            <a:r>
              <a:rPr lang="en-US" sz="6300" b="1" spc="-37" kern="0" dirty="0">
                <a:solidFill>
                  <a:srgbClr val="F5F7FB"/>
                </a:solidFill>
                <a:latin typeface="Arial" pitchFamily="34" charset="0"/>
                <a:ea typeface="Arial" pitchFamily="34" charset="-122"/>
                <a:cs typeface="Arial" pitchFamily="34" charset="-120"/>
              </a:rPr>
              <a:t>Case Study: chmod -x chmod</a:t>
            </a:r>
            <a:endParaRPr lang="en-US" sz="6300" dirty="0"/>
          </a:p>
        </p:txBody>
      </p:sp>
      <p:sp>
        <p:nvSpPr>
          <p:cNvPr id="5" name="Text 3"/>
          <p:cNvSpPr/>
          <p:nvPr/>
        </p:nvSpPr>
        <p:spPr>
          <a:xfrm>
            <a:off x="3012281" y="5291138"/>
            <a:ext cx="12263438" cy="136393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Review a sample of learning material about the executable permission, expand beyond the initial information set, work through a problem, and see how OffSec's approach to teaching is reflected in that sample.</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418680"/>
            <a:ext cx="292945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504405"/>
            <a:ext cx="265539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3.4 · Task 1 of 2</a:t>
            </a:r>
            <a:endParaRPr lang="en-US" sz="1500" dirty="0"/>
          </a:p>
        </p:txBody>
      </p:sp>
      <p:sp>
        <p:nvSpPr>
          <p:cNvPr id="5" name="Text 3"/>
          <p:cNvSpPr/>
          <p:nvPr/>
        </p:nvSpPr>
        <p:spPr>
          <a:xfrm>
            <a:off x="800100" y="306161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problem as stated</a:t>
            </a:r>
            <a:endParaRPr lang="en-US" sz="3000" dirty="0"/>
          </a:p>
        </p:txBody>
      </p:sp>
      <p:sp>
        <p:nvSpPr>
          <p:cNvPr id="6" name="Shape 4"/>
          <p:cNvSpPr/>
          <p:nvPr/>
        </p:nvSpPr>
        <p:spPr>
          <a:xfrm>
            <a:off x="800100" y="3728368"/>
            <a:ext cx="16687800" cy="647700"/>
          </a:xfrm>
          <a:prstGeom prst="roundRect">
            <a:avLst>
              <a:gd name="adj" fmla="val 17647"/>
            </a:avLst>
          </a:prstGeom>
          <a:solidFill>
            <a:srgbClr val="000000">
              <a:alpha val="35000"/>
            </a:srgbClr>
          </a:solidFill>
          <a:ln w="9525">
            <a:solidFill>
              <a:srgbClr val="2A2F3A"/>
            </a:solidFill>
            <a:prstDash val="solid"/>
          </a:ln>
        </p:spPr>
      </p:sp>
      <p:sp>
        <p:nvSpPr>
          <p:cNvPr id="7" name="Text 5"/>
          <p:cNvSpPr/>
          <p:nvPr/>
        </p:nvSpPr>
        <p:spPr>
          <a:xfrm>
            <a:off x="1019175" y="3909343"/>
            <a:ext cx="16750284" cy="323850"/>
          </a:xfrm>
          <a:prstGeom prst="rect">
            <a:avLst/>
          </a:prstGeom>
          <a:noFill/>
          <a:ln/>
        </p:spPr>
        <p:txBody>
          <a:bodyPr wrap="square" lIns="25400" tIns="25400" rIns="25400" bIns="25400" rtlCol="0" anchor="t">
            <a:normAutofit/>
          </a:bodyPr>
          <a:lstStyle/>
          <a:p>
            <a:pPr algn="l" indent="0" marL="0">
              <a:buNone/>
            </a:pPr>
            <a:r>
              <a:rPr lang="en-US" sz="1950" dirty="0">
                <a:solidFill>
                  <a:srgbClr val="FFD9BF"/>
                </a:solidFill>
                <a:latin typeface="Courier New" pitchFamily="34" charset="0"/>
                <a:ea typeface="Courier New" pitchFamily="34" charset="-122"/>
                <a:cs typeface="Courier New" pitchFamily="34" charset="-120"/>
              </a:rPr>
              <a:t>$ chmod -x /bin/chmod</a:t>
            </a:r>
            <a:endParaRPr lang="en-US" sz="1950" dirty="0"/>
          </a:p>
        </p:txBody>
      </p:sp>
      <p:sp>
        <p:nvSpPr>
          <p:cNvPr id="8" name="Text 6"/>
          <p:cNvSpPr/>
          <p:nvPr/>
        </p:nvSpPr>
        <p:spPr>
          <a:xfrm>
            <a:off x="800100" y="4623718"/>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command that changes permissions has had its own executable permission removed. The tool needed to fix the situation is the tool that has just been disabled. The syllabus uses this as its sample of learning material about the executable permission.</a:t>
            </a:r>
            <a:endParaRPr lang="en-US" sz="2175" dirty="0"/>
          </a:p>
        </p:txBody>
      </p:sp>
      <p:sp>
        <p:nvSpPr>
          <p:cNvPr id="9" name="Shape 7"/>
          <p:cNvSpPr/>
          <p:nvPr/>
        </p:nvSpPr>
        <p:spPr>
          <a:xfrm>
            <a:off x="800100" y="6072857"/>
            <a:ext cx="823912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38225" y="6310982"/>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THIS EXAMPLE</a:t>
            </a:r>
            <a:endParaRPr lang="en-US" sz="1500" dirty="0"/>
          </a:p>
        </p:txBody>
      </p:sp>
      <p:sp>
        <p:nvSpPr>
          <p:cNvPr id="11" name="Text 9"/>
          <p:cNvSpPr/>
          <p:nvPr/>
        </p:nvSpPr>
        <p:spPr>
          <a:xfrm>
            <a:off x="1038225" y="6630070"/>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small enough to hold entirely in working memory, and its solution is not contained in the material that introduced the permission. The learner must go beyond what was given.</a:t>
            </a:r>
            <a:endParaRPr lang="en-US" sz="1875" dirty="0"/>
          </a:p>
        </p:txBody>
      </p:sp>
      <p:sp>
        <p:nvSpPr>
          <p:cNvPr id="12" name="Shape 10"/>
          <p:cNvSpPr/>
          <p:nvPr/>
        </p:nvSpPr>
        <p:spPr>
          <a:xfrm>
            <a:off x="9248775" y="6072857"/>
            <a:ext cx="8239125"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9486900" y="6310982"/>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4" name="Text 12"/>
          <p:cNvSpPr/>
          <p:nvPr/>
        </p:nvSpPr>
        <p:spPr>
          <a:xfrm>
            <a:off x="9486900" y="6630070"/>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Learners who look up the answer. The point of the case study is the search process, not the result — and the syllabus states the objective as working through the problem.</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92945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65539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3.4 · Task 1 of 2</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Expanding beyond the initial information set</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material that taught the executable permission does not contain the answer. Solving the problem requires deliberately widening the information set — the skill the whole course exercises.</a:t>
            </a:r>
            <a:endParaRPr lang="en-US" sz="2175" dirty="0"/>
          </a:p>
        </p:txBody>
      </p:sp>
      <p:sp>
        <p:nvSpPr>
          <p:cNvPr id="7" name="Shape 5"/>
          <p:cNvSpPr/>
          <p:nvPr/>
        </p:nvSpPr>
        <p:spPr>
          <a:xfrm>
            <a:off x="800100"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RESTATE</a:t>
            </a:r>
            <a:endParaRPr lang="en-US" sz="1500" dirty="0"/>
          </a:p>
        </p:txBody>
      </p:sp>
      <p:sp>
        <p:nvSpPr>
          <p:cNvPr id="9" name="Text 7"/>
          <p:cNvSpPr/>
          <p:nvPr/>
        </p:nvSpPr>
        <p:spPr>
          <a:xfrm>
            <a:off x="1038225" y="5815459"/>
            <a:ext cx="3674126"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exactly is now impossible, and what remains possible? Precision here eliminates most wrong directions immediately.</a:t>
            </a:r>
            <a:endParaRPr lang="en-US" sz="1875" dirty="0"/>
          </a:p>
        </p:txBody>
      </p:sp>
      <p:sp>
        <p:nvSpPr>
          <p:cNvPr id="10" name="Shape 8"/>
          <p:cNvSpPr/>
          <p:nvPr/>
        </p:nvSpPr>
        <p:spPr>
          <a:xfrm>
            <a:off x="5014913"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5253038"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QUESTION ASSUMPTIONS</a:t>
            </a:r>
            <a:endParaRPr lang="en-US" sz="1500" dirty="0"/>
          </a:p>
        </p:txBody>
      </p:sp>
      <p:sp>
        <p:nvSpPr>
          <p:cNvPr id="12" name="Text 10"/>
          <p:cNvSpPr/>
          <p:nvPr/>
        </p:nvSpPr>
        <p:spPr>
          <a:xfrm>
            <a:off x="5253038" y="5815459"/>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Is </a:t>
            </a:r>
            <a:pPr algn="l" indent="0" marL="0">
              <a:lnSpc>
                <a:spcPct val="120690"/>
              </a:lnSpc>
              <a:buNone/>
            </a:pPr>
            <a:r>
              <a:rPr lang="en-US" sz="1875" i="1" dirty="0">
                <a:solidFill>
                  <a:srgbClr val="DFE3EA"/>
                </a:solidFill>
                <a:latin typeface="Arial" pitchFamily="34" charset="0"/>
                <a:ea typeface="Arial" pitchFamily="34" charset="-122"/>
                <a:cs typeface="Arial" pitchFamily="34" charset="-120"/>
              </a:rPr>
              <a:t>chmod </a:t>
            </a:r>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genuinely the only way to change a permission bit, or only the way you were taught?</a:t>
            </a:r>
            <a:endParaRPr lang="en-US" sz="1875" dirty="0"/>
          </a:p>
        </p:txBody>
      </p:sp>
      <p:sp>
        <p:nvSpPr>
          <p:cNvPr id="13" name="Shape 11"/>
          <p:cNvSpPr/>
          <p:nvPr/>
        </p:nvSpPr>
        <p:spPr>
          <a:xfrm>
            <a:off x="9229725"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9467850"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WIDEN</a:t>
            </a:r>
            <a:endParaRPr lang="en-US" sz="1500" dirty="0"/>
          </a:p>
        </p:txBody>
      </p:sp>
      <p:sp>
        <p:nvSpPr>
          <p:cNvPr id="15" name="Text 13"/>
          <p:cNvSpPr/>
          <p:nvPr/>
        </p:nvSpPr>
        <p:spPr>
          <a:xfrm>
            <a:off x="9467850" y="5815459"/>
            <a:ext cx="3674126"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else on the system can set permissions, load a binary, or interpret one? The answer lies outside the original lesson.</a:t>
            </a:r>
            <a:endParaRPr lang="en-US" sz="1875" dirty="0"/>
          </a:p>
        </p:txBody>
      </p:sp>
      <p:sp>
        <p:nvSpPr>
          <p:cNvPr id="16" name="Shape 14"/>
          <p:cNvSpPr/>
          <p:nvPr/>
        </p:nvSpPr>
        <p:spPr>
          <a:xfrm>
            <a:off x="13444538" y="5258246"/>
            <a:ext cx="4043363" cy="2128838"/>
          </a:xfrm>
          <a:prstGeom prst="roundRect">
            <a:avLst>
              <a:gd name="adj" fmla="val 7159"/>
            </a:avLst>
          </a:prstGeom>
          <a:solidFill>
            <a:srgbClr val="FFFFFF">
              <a:alpha val="2000"/>
            </a:srgbClr>
          </a:solidFill>
          <a:ln w="9525">
            <a:solidFill>
              <a:srgbClr val="2A2F3A"/>
            </a:solidFill>
            <a:prstDash val="solid"/>
          </a:ln>
        </p:spPr>
      </p:sp>
      <p:sp>
        <p:nvSpPr>
          <p:cNvPr id="17" name="Text 15"/>
          <p:cNvSpPr/>
          <p:nvPr/>
        </p:nvSpPr>
        <p:spPr>
          <a:xfrm>
            <a:off x="13682663" y="5496371"/>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TEST</a:t>
            </a:r>
            <a:endParaRPr lang="en-US" sz="1500" dirty="0"/>
          </a:p>
        </p:txBody>
      </p:sp>
      <p:sp>
        <p:nvSpPr>
          <p:cNvPr id="18" name="Text 16"/>
          <p:cNvSpPr/>
          <p:nvPr/>
        </p:nvSpPr>
        <p:spPr>
          <a:xfrm>
            <a:off x="13682663" y="5815459"/>
            <a:ext cx="3674126"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Try the candidate approach, observe precisely what happens, and let the failure narrow the next attempt.</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371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037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3.4 · Task 2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How OffSec's approach is reflected in the sample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case study is not a puzzle for its own sake. It is the Demonstrative Methodology in miniature: sufficient information to reason from, deliberately insufficient information to copy from.</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IT MODELS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technical module that follows has the same structure — a demonstrated case, then a situation that does not match it. The response is always the four steps in the previous slide.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12, Fixing Exploits, is this case study at full scale: exploit code that does not work, and no material telling you why.</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3.4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Case Study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TRANSFERABLE MOVE</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Restate precisely, question the assumption, widen the information set, then test and let failure narrow the next attempt.</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LESSON ABOUT THE COURSE</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Material that appears incomplete is usually complete for reasoning and incomplete for copying — by design.</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9528" y="3870945"/>
            <a:ext cx="2088870"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3.5</a:t>
            </a:r>
            <a:endParaRPr lang="en-US" sz="1650" dirty="0"/>
          </a:p>
        </p:txBody>
      </p:sp>
      <p:sp>
        <p:nvSpPr>
          <p:cNvPr id="4" name="Text 2"/>
          <p:cNvSpPr/>
          <p:nvPr/>
        </p:nvSpPr>
        <p:spPr>
          <a:xfrm>
            <a:off x="2571583" y="4385295"/>
            <a:ext cx="13144760"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Tactics and Common Methods</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Retrieval Practice, Spaced Practice, the SQ3R and PQ4R methods, the Feynman Technique, and the Leitner System.</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49552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323844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3.5 · Technique 1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Retrieval Practice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Retrieval practice means recalling material from memory without looking at it. The act of retrieval, not the act of reading, is what strengthens later access to the same information.</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exercises the only phase an exam or an engagement tests. Re-reading exercises recognition, which is why it feels effective and measures nothing.</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discomfort of failing to recall being read as evidence the method is not working. That difficulty is the mechanism — effortful retrieval is what produces the gain.</a:t>
            </a:r>
            <a:endParaRPr lang="en-US" sz="18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51978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326342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3.5 · Technique 2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Spaced Practice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Spaced practice distributes study of the same material across widening intervals rather than concentrating it in one session. It is the direct countermeasure to the Curve of Forgetting.</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same total hours produce substantially better retention when distributed. Massed study produces high confidence and poor durability — the worst combination available.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Revisit a module shortly after first study, then again at a longer interval, then longer again. Each successful recall justifies a wider gap before the next.</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52492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326871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3.5 · Technique 3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SQ3R Method</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structured reading method: Survey, Question, Read, Recite, Review. It converts passive reading into an activity with a retrieval step built into it.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FIVE STEPS</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Survey the material's structure; turn headings into questions; read to answer them; recite the answers without looking; review to confirm and repair.</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WORKS</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Question step supplies purpose, so attention improves encoding. The Recite step is retrieval practice, so the reading itself produces durable memory.</a:t>
            </a:r>
            <a:endParaRPr lang="en-US" sz="18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52492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326871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3.5 · Technique 3 of 5</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PQ4R Method</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six-step variant: Preview, Question, Read, Reflect, Recite, Review. The additional Reflect step asks the learner to connect new material to what they already know before attempting recall.</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REFLECT ADDS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Elaboration. Connecting a new technique to one already understood improves encoding and gives retrieval a second route to the same fact.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DISTINCT FROM SQ3R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SQ3R moves from reading straight to recall. PQ4R inserts deliberate connection-making first, which suits dense conceptual material better.</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52841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327232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3.5 · Technique 4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Feynman Technique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Explain the concept in plain language as if teaching someone unfamiliar with it. Wherever the explanation becomes vague or falls back on jargon, an understanding gap has been located precisely.</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Write the explanation in simple words; mark every point where you stall or hide behind terminology; return to the source for those points only; then simplify the explanation again.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converts a vague sense of not understanding into a specific list. That is directly useful in reporting too, where a finding must be explained to a non-technical reader.</a:t>
            </a:r>
            <a:endParaRPr lang="en-US" sz="18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52402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326779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3.5 · Technique 5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Leitner System</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card-based scheduling system. Cards recalled correctly move to a box reviewed less often; cards recalled incorrectly move back to a box reviewed more often. Effort concentrates automatically where it is needed.</a:t>
            </a:r>
            <a:endParaRPr lang="en-US" sz="2175" dirty="0"/>
          </a:p>
        </p:txBody>
      </p:sp>
      <p:sp>
        <p:nvSpPr>
          <p:cNvPr id="7" name="Shape 5"/>
          <p:cNvSpPr/>
          <p:nvPr/>
        </p:nvSpPr>
        <p:spPr>
          <a:xfrm>
            <a:off x="800100"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MECHANISM</a:t>
            </a:r>
            <a:endParaRPr lang="en-US" sz="1500" dirty="0"/>
          </a:p>
        </p:txBody>
      </p:sp>
      <p:sp>
        <p:nvSpPr>
          <p:cNvPr id="9" name="Text 7"/>
          <p:cNvSpPr/>
          <p:nvPr/>
        </p:nvSpPr>
        <p:spPr>
          <a:xfrm>
            <a:off x="1038225"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Boxes represent review intervals. Success promotes a card to a longer interval; failure demotes it to the shortest.</a:t>
            </a:r>
            <a:endParaRPr lang="en-US" sz="1875" dirty="0"/>
          </a:p>
        </p:txBody>
      </p:sp>
      <p:sp>
        <p:nvSpPr>
          <p:cNvPr id="10" name="Shape 8"/>
          <p:cNvSpPr/>
          <p:nvPr/>
        </p:nvSpPr>
        <p:spPr>
          <a:xfrm>
            <a:off x="6426175"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6664300"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IT COMBINES</a:t>
            </a:r>
            <a:endParaRPr lang="en-US" sz="1500" dirty="0"/>
          </a:p>
        </p:txBody>
      </p:sp>
      <p:sp>
        <p:nvSpPr>
          <p:cNvPr id="12" name="Text 10"/>
          <p:cNvSpPr/>
          <p:nvPr/>
        </p:nvSpPr>
        <p:spPr>
          <a:xfrm>
            <a:off x="6664300"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Retrieval practice as the action, spaced practice as the schedule — the two robust findings from Objective 3.1 in one system.</a:t>
            </a:r>
            <a:endParaRPr lang="en-US" sz="1875" dirty="0"/>
          </a:p>
        </p:txBody>
      </p:sp>
      <p:sp>
        <p:nvSpPr>
          <p:cNvPr id="13" name="Shape 11"/>
          <p:cNvSpPr/>
          <p:nvPr/>
        </p:nvSpPr>
        <p:spPr>
          <a:xfrm>
            <a:off x="12052250" y="5424934"/>
            <a:ext cx="5435650" cy="1795463"/>
          </a:xfrm>
          <a:prstGeom prst="roundRect">
            <a:avLst>
              <a:gd name="adj" fmla="val 8488"/>
            </a:avLst>
          </a:prstGeom>
          <a:solidFill>
            <a:srgbClr val="FFFFFF">
              <a:alpha val="2000"/>
            </a:srgbClr>
          </a:solidFill>
          <a:ln w="9525">
            <a:solidFill>
              <a:srgbClr val="2A2F3A"/>
            </a:solidFill>
            <a:prstDash val="solid"/>
          </a:ln>
        </p:spPr>
      </p:sp>
      <p:sp>
        <p:nvSpPr>
          <p:cNvPr id="14" name="Text 12"/>
          <p:cNvSpPr/>
          <p:nvPr/>
        </p:nvSpPr>
        <p:spPr>
          <a:xfrm>
            <a:off x="12290375" y="566305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5" name="Text 13"/>
          <p:cNvSpPr/>
          <p:nvPr/>
        </p:nvSpPr>
        <p:spPr>
          <a:xfrm>
            <a:off x="12290375" y="598214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flashcards issued with every module of this course are built to be used this way rather than read straight through.</a:t>
            </a:r>
            <a:endParaRPr lang="en-US" sz="18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85988"/>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DECISION AID</a:t>
            </a:r>
            <a:endParaRPr lang="en-US" sz="1650" dirty="0"/>
          </a:p>
        </p:txBody>
      </p:sp>
      <p:sp>
        <p:nvSpPr>
          <p:cNvPr id="4" name="Text 2"/>
          <p:cNvSpPr/>
          <p:nvPr/>
        </p:nvSpPr>
        <p:spPr>
          <a:xfrm>
            <a:off x="800100" y="268128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Which technique, and when</a:t>
            </a:r>
            <a:endParaRPr lang="en-US" sz="3000" dirty="0"/>
          </a:p>
        </p:txBody>
      </p:sp>
      <p:sp>
        <p:nvSpPr>
          <p:cNvPr id="5" name="Shape 3"/>
          <p:cNvSpPr/>
          <p:nvPr/>
        </p:nvSpPr>
        <p:spPr>
          <a:xfrm>
            <a:off x="800100" y="3348038"/>
            <a:ext cx="2971800" cy="500063"/>
          </a:xfrm>
          <a:prstGeom prst="rect">
            <a:avLst/>
          </a:prstGeom>
          <a:solidFill>
            <a:srgbClr val="FF6A00">
              <a:alpha val="18000"/>
            </a:srgbClr>
          </a:solidFill>
          <a:ln/>
        </p:spPr>
      </p:sp>
      <p:sp>
        <p:nvSpPr>
          <p:cNvPr id="6" name="Shape 4"/>
          <p:cNvSpPr/>
          <p:nvPr/>
        </p:nvSpPr>
        <p:spPr>
          <a:xfrm>
            <a:off x="800100" y="3838575"/>
            <a:ext cx="2971800" cy="9525"/>
          </a:xfrm>
          <a:prstGeom prst="rect">
            <a:avLst/>
          </a:prstGeom>
          <a:solidFill>
            <a:srgbClr val="B85100"/>
          </a:solidFill>
          <a:ln/>
        </p:spPr>
      </p:sp>
      <p:sp>
        <p:nvSpPr>
          <p:cNvPr id="7" name="Text 5"/>
          <p:cNvSpPr/>
          <p:nvPr/>
        </p:nvSpPr>
        <p:spPr>
          <a:xfrm>
            <a:off x="952500" y="3462338"/>
            <a:ext cx="275615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Technique</a:t>
            </a:r>
            <a:endParaRPr lang="en-US" sz="1800" dirty="0"/>
          </a:p>
        </p:txBody>
      </p:sp>
      <p:sp>
        <p:nvSpPr>
          <p:cNvPr id="8" name="Shape 6"/>
          <p:cNvSpPr/>
          <p:nvPr/>
        </p:nvSpPr>
        <p:spPr>
          <a:xfrm>
            <a:off x="3771900" y="3348038"/>
            <a:ext cx="4305300" cy="500063"/>
          </a:xfrm>
          <a:prstGeom prst="rect">
            <a:avLst/>
          </a:prstGeom>
          <a:solidFill>
            <a:srgbClr val="FF6A00">
              <a:alpha val="18000"/>
            </a:srgbClr>
          </a:solidFill>
          <a:ln/>
        </p:spPr>
      </p:sp>
      <p:sp>
        <p:nvSpPr>
          <p:cNvPr id="9" name="Shape 7"/>
          <p:cNvSpPr/>
          <p:nvPr/>
        </p:nvSpPr>
        <p:spPr>
          <a:xfrm>
            <a:off x="3771900" y="3838575"/>
            <a:ext cx="4305300" cy="9525"/>
          </a:xfrm>
          <a:prstGeom prst="rect">
            <a:avLst/>
          </a:prstGeom>
          <a:solidFill>
            <a:srgbClr val="B85100"/>
          </a:solidFill>
          <a:ln/>
        </p:spPr>
      </p:sp>
      <p:sp>
        <p:nvSpPr>
          <p:cNvPr id="10" name="Text 8"/>
          <p:cNvSpPr/>
          <p:nvPr/>
        </p:nvSpPr>
        <p:spPr>
          <a:xfrm>
            <a:off x="3924300" y="3462338"/>
            <a:ext cx="412965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Use it when</a:t>
            </a:r>
            <a:endParaRPr lang="en-US" sz="1800" dirty="0"/>
          </a:p>
        </p:txBody>
      </p:sp>
      <p:sp>
        <p:nvSpPr>
          <p:cNvPr id="11" name="Shape 9"/>
          <p:cNvSpPr/>
          <p:nvPr/>
        </p:nvSpPr>
        <p:spPr>
          <a:xfrm>
            <a:off x="8077200" y="3348038"/>
            <a:ext cx="9410700" cy="500063"/>
          </a:xfrm>
          <a:prstGeom prst="rect">
            <a:avLst/>
          </a:prstGeom>
          <a:solidFill>
            <a:srgbClr val="FF6A00">
              <a:alpha val="18000"/>
            </a:srgbClr>
          </a:solidFill>
          <a:ln/>
        </p:spPr>
      </p:sp>
      <p:sp>
        <p:nvSpPr>
          <p:cNvPr id="12" name="Shape 10"/>
          <p:cNvSpPr/>
          <p:nvPr/>
        </p:nvSpPr>
        <p:spPr>
          <a:xfrm>
            <a:off x="8077200" y="3838575"/>
            <a:ext cx="9410700" cy="9525"/>
          </a:xfrm>
          <a:prstGeom prst="rect">
            <a:avLst/>
          </a:prstGeom>
          <a:solidFill>
            <a:srgbClr val="B85100"/>
          </a:solidFill>
          <a:ln/>
        </p:spPr>
      </p:sp>
      <p:sp>
        <p:nvSpPr>
          <p:cNvPr id="13" name="Text 11"/>
          <p:cNvSpPr/>
          <p:nvPr/>
        </p:nvSpPr>
        <p:spPr>
          <a:xfrm>
            <a:off x="8229600" y="3462338"/>
            <a:ext cx="938822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exercises</a:t>
            </a:r>
            <a:endParaRPr lang="en-US" sz="1800" dirty="0"/>
          </a:p>
        </p:txBody>
      </p:sp>
      <p:sp>
        <p:nvSpPr>
          <p:cNvPr id="14" name="Shape 12"/>
          <p:cNvSpPr/>
          <p:nvPr/>
        </p:nvSpPr>
        <p:spPr>
          <a:xfrm>
            <a:off x="800100" y="3848100"/>
            <a:ext cx="2971800" cy="752475"/>
          </a:xfrm>
          <a:prstGeom prst="rect">
            <a:avLst/>
          </a:prstGeom>
          <a:solidFill>
            <a:srgbClr val="FFFFFF">
              <a:alpha val="2000"/>
            </a:srgbClr>
          </a:solidFill>
          <a:ln/>
        </p:spPr>
      </p:sp>
      <p:sp>
        <p:nvSpPr>
          <p:cNvPr id="15" name="Shape 13"/>
          <p:cNvSpPr/>
          <p:nvPr/>
        </p:nvSpPr>
        <p:spPr>
          <a:xfrm>
            <a:off x="800100" y="4591050"/>
            <a:ext cx="2971800" cy="9525"/>
          </a:xfrm>
          <a:prstGeom prst="rect">
            <a:avLst/>
          </a:prstGeom>
          <a:solidFill>
            <a:srgbClr val="2A2F3A"/>
          </a:solidFill>
          <a:ln/>
        </p:spPr>
      </p:sp>
      <p:sp>
        <p:nvSpPr>
          <p:cNvPr id="16" name="Text 14"/>
          <p:cNvSpPr/>
          <p:nvPr/>
        </p:nvSpPr>
        <p:spPr>
          <a:xfrm>
            <a:off x="952500" y="3952875"/>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Retrieval Practice</a:t>
            </a:r>
            <a:endParaRPr lang="en-US" sz="1800" dirty="0"/>
          </a:p>
        </p:txBody>
      </p:sp>
      <p:sp>
        <p:nvSpPr>
          <p:cNvPr id="17" name="Shape 15"/>
          <p:cNvSpPr/>
          <p:nvPr/>
        </p:nvSpPr>
        <p:spPr>
          <a:xfrm>
            <a:off x="3771900" y="3848100"/>
            <a:ext cx="4305300" cy="752475"/>
          </a:xfrm>
          <a:prstGeom prst="rect">
            <a:avLst/>
          </a:prstGeom>
          <a:solidFill>
            <a:srgbClr val="FFFFFF">
              <a:alpha val="2000"/>
            </a:srgbClr>
          </a:solidFill>
          <a:ln/>
        </p:spPr>
      </p:sp>
      <p:sp>
        <p:nvSpPr>
          <p:cNvPr id="18" name="Shape 16"/>
          <p:cNvSpPr/>
          <p:nvPr/>
        </p:nvSpPr>
        <p:spPr>
          <a:xfrm>
            <a:off x="3771900" y="4591050"/>
            <a:ext cx="4305300" cy="9525"/>
          </a:xfrm>
          <a:prstGeom prst="rect">
            <a:avLst/>
          </a:prstGeom>
          <a:solidFill>
            <a:srgbClr val="2A2F3A"/>
          </a:solidFill>
          <a:ln/>
        </p:spPr>
      </p:sp>
      <p:sp>
        <p:nvSpPr>
          <p:cNvPr id="19" name="Text 17"/>
          <p:cNvSpPr/>
          <p:nvPr/>
        </p:nvSpPr>
        <p:spPr>
          <a:xfrm>
            <a:off x="3924300" y="3952875"/>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You have read material and need it to be usable</a:t>
            </a:r>
            <a:endParaRPr lang="en-US" sz="1800" dirty="0"/>
          </a:p>
        </p:txBody>
      </p:sp>
      <p:sp>
        <p:nvSpPr>
          <p:cNvPr id="20" name="Shape 18"/>
          <p:cNvSpPr/>
          <p:nvPr/>
        </p:nvSpPr>
        <p:spPr>
          <a:xfrm>
            <a:off x="8077200" y="3848100"/>
            <a:ext cx="9410700" cy="752475"/>
          </a:xfrm>
          <a:prstGeom prst="rect">
            <a:avLst/>
          </a:prstGeom>
          <a:solidFill>
            <a:srgbClr val="FFFFFF">
              <a:alpha val="2000"/>
            </a:srgbClr>
          </a:solidFill>
          <a:ln/>
        </p:spPr>
      </p:sp>
      <p:sp>
        <p:nvSpPr>
          <p:cNvPr id="21" name="Shape 19"/>
          <p:cNvSpPr/>
          <p:nvPr/>
        </p:nvSpPr>
        <p:spPr>
          <a:xfrm>
            <a:off x="8077200" y="4591050"/>
            <a:ext cx="9410700" cy="9525"/>
          </a:xfrm>
          <a:prstGeom prst="rect">
            <a:avLst/>
          </a:prstGeom>
          <a:solidFill>
            <a:srgbClr val="2A2F3A"/>
          </a:solidFill>
          <a:ln/>
        </p:spPr>
      </p:sp>
      <p:sp>
        <p:nvSpPr>
          <p:cNvPr id="22" name="Text 20"/>
          <p:cNvSpPr/>
          <p:nvPr/>
        </p:nvSpPr>
        <p:spPr>
          <a:xfrm>
            <a:off x="8229600" y="395287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Recall under effort — the tested phase</a:t>
            </a:r>
            <a:endParaRPr lang="en-US" sz="1800" dirty="0"/>
          </a:p>
        </p:txBody>
      </p:sp>
      <p:sp>
        <p:nvSpPr>
          <p:cNvPr id="23" name="Shape 21"/>
          <p:cNvSpPr/>
          <p:nvPr/>
        </p:nvSpPr>
        <p:spPr>
          <a:xfrm>
            <a:off x="800100" y="5076825"/>
            <a:ext cx="2971800" cy="9525"/>
          </a:xfrm>
          <a:prstGeom prst="rect">
            <a:avLst/>
          </a:prstGeom>
          <a:solidFill>
            <a:srgbClr val="2A2F3A"/>
          </a:solidFill>
          <a:ln/>
        </p:spPr>
      </p:sp>
      <p:sp>
        <p:nvSpPr>
          <p:cNvPr id="24" name="Text 22"/>
          <p:cNvSpPr/>
          <p:nvPr/>
        </p:nvSpPr>
        <p:spPr>
          <a:xfrm>
            <a:off x="952500" y="4705350"/>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Spaced Practice</a:t>
            </a:r>
            <a:endParaRPr lang="en-US" sz="1800" dirty="0"/>
          </a:p>
        </p:txBody>
      </p:sp>
      <p:sp>
        <p:nvSpPr>
          <p:cNvPr id="25" name="Shape 23"/>
          <p:cNvSpPr/>
          <p:nvPr/>
        </p:nvSpPr>
        <p:spPr>
          <a:xfrm>
            <a:off x="3771900" y="5076825"/>
            <a:ext cx="4305300" cy="9525"/>
          </a:xfrm>
          <a:prstGeom prst="rect">
            <a:avLst/>
          </a:prstGeom>
          <a:solidFill>
            <a:srgbClr val="2A2F3A"/>
          </a:solidFill>
          <a:ln/>
        </p:spPr>
      </p:sp>
      <p:sp>
        <p:nvSpPr>
          <p:cNvPr id="26" name="Text 24"/>
          <p:cNvSpPr/>
          <p:nvPr/>
        </p:nvSpPr>
        <p:spPr>
          <a:xfrm>
            <a:off x="3924300" y="470535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Material must survive weeks or months</a:t>
            </a:r>
            <a:endParaRPr lang="en-US" sz="1800" dirty="0"/>
          </a:p>
        </p:txBody>
      </p:sp>
      <p:sp>
        <p:nvSpPr>
          <p:cNvPr id="27" name="Shape 25"/>
          <p:cNvSpPr/>
          <p:nvPr/>
        </p:nvSpPr>
        <p:spPr>
          <a:xfrm>
            <a:off x="8077200" y="5076825"/>
            <a:ext cx="9410700" cy="9525"/>
          </a:xfrm>
          <a:prstGeom prst="rect">
            <a:avLst/>
          </a:prstGeom>
          <a:solidFill>
            <a:srgbClr val="2A2F3A"/>
          </a:solidFill>
          <a:ln/>
        </p:spPr>
      </p:sp>
      <p:sp>
        <p:nvSpPr>
          <p:cNvPr id="28" name="Text 26"/>
          <p:cNvSpPr/>
          <p:nvPr/>
        </p:nvSpPr>
        <p:spPr>
          <a:xfrm>
            <a:off x="8229600" y="4705350"/>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Durability against the Curve of Forgetting</a:t>
            </a:r>
            <a:endParaRPr lang="en-US" sz="1800" dirty="0"/>
          </a:p>
        </p:txBody>
      </p:sp>
      <p:sp>
        <p:nvSpPr>
          <p:cNvPr id="29" name="Shape 27"/>
          <p:cNvSpPr/>
          <p:nvPr/>
        </p:nvSpPr>
        <p:spPr>
          <a:xfrm>
            <a:off x="800100" y="5086350"/>
            <a:ext cx="2971800" cy="752475"/>
          </a:xfrm>
          <a:prstGeom prst="rect">
            <a:avLst/>
          </a:prstGeom>
          <a:solidFill>
            <a:srgbClr val="FFFFFF">
              <a:alpha val="2000"/>
            </a:srgbClr>
          </a:solidFill>
          <a:ln/>
        </p:spPr>
      </p:sp>
      <p:sp>
        <p:nvSpPr>
          <p:cNvPr id="30" name="Shape 28"/>
          <p:cNvSpPr/>
          <p:nvPr/>
        </p:nvSpPr>
        <p:spPr>
          <a:xfrm>
            <a:off x="800100" y="5829300"/>
            <a:ext cx="2971800" cy="9525"/>
          </a:xfrm>
          <a:prstGeom prst="rect">
            <a:avLst/>
          </a:prstGeom>
          <a:solidFill>
            <a:srgbClr val="2A2F3A"/>
          </a:solidFill>
          <a:ln/>
        </p:spPr>
      </p:sp>
      <p:sp>
        <p:nvSpPr>
          <p:cNvPr id="31" name="Text 29"/>
          <p:cNvSpPr/>
          <p:nvPr/>
        </p:nvSpPr>
        <p:spPr>
          <a:xfrm>
            <a:off x="952500" y="5191125"/>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SQ3R</a:t>
            </a:r>
            <a:endParaRPr lang="en-US" sz="1800" dirty="0"/>
          </a:p>
        </p:txBody>
      </p:sp>
      <p:sp>
        <p:nvSpPr>
          <p:cNvPr id="32" name="Shape 30"/>
          <p:cNvSpPr/>
          <p:nvPr/>
        </p:nvSpPr>
        <p:spPr>
          <a:xfrm>
            <a:off x="3771900" y="5086350"/>
            <a:ext cx="4305300" cy="752475"/>
          </a:xfrm>
          <a:prstGeom prst="rect">
            <a:avLst/>
          </a:prstGeom>
          <a:solidFill>
            <a:srgbClr val="FFFFFF">
              <a:alpha val="2000"/>
            </a:srgbClr>
          </a:solidFill>
          <a:ln/>
        </p:spPr>
      </p:sp>
      <p:sp>
        <p:nvSpPr>
          <p:cNvPr id="33" name="Shape 31"/>
          <p:cNvSpPr/>
          <p:nvPr/>
        </p:nvSpPr>
        <p:spPr>
          <a:xfrm>
            <a:off x="3771900" y="5829300"/>
            <a:ext cx="4305300" cy="9525"/>
          </a:xfrm>
          <a:prstGeom prst="rect">
            <a:avLst/>
          </a:prstGeom>
          <a:solidFill>
            <a:srgbClr val="2A2F3A"/>
          </a:solidFill>
          <a:ln/>
        </p:spPr>
      </p:sp>
      <p:sp>
        <p:nvSpPr>
          <p:cNvPr id="34" name="Text 32"/>
          <p:cNvSpPr/>
          <p:nvPr/>
        </p:nvSpPr>
        <p:spPr>
          <a:xfrm>
            <a:off x="3924300" y="5191125"/>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Working through procedural or structured material</a:t>
            </a:r>
            <a:endParaRPr lang="en-US" sz="1800" dirty="0"/>
          </a:p>
        </p:txBody>
      </p:sp>
      <p:sp>
        <p:nvSpPr>
          <p:cNvPr id="35" name="Shape 33"/>
          <p:cNvSpPr/>
          <p:nvPr/>
        </p:nvSpPr>
        <p:spPr>
          <a:xfrm>
            <a:off x="8077200" y="5086350"/>
            <a:ext cx="9410700" cy="752475"/>
          </a:xfrm>
          <a:prstGeom prst="rect">
            <a:avLst/>
          </a:prstGeom>
          <a:solidFill>
            <a:srgbClr val="FFFFFF">
              <a:alpha val="2000"/>
            </a:srgbClr>
          </a:solidFill>
          <a:ln/>
        </p:spPr>
      </p:sp>
      <p:sp>
        <p:nvSpPr>
          <p:cNvPr id="36" name="Shape 34"/>
          <p:cNvSpPr/>
          <p:nvPr/>
        </p:nvSpPr>
        <p:spPr>
          <a:xfrm>
            <a:off x="8077200" y="5829300"/>
            <a:ext cx="9410700" cy="9525"/>
          </a:xfrm>
          <a:prstGeom prst="rect">
            <a:avLst/>
          </a:prstGeom>
          <a:solidFill>
            <a:srgbClr val="2A2F3A"/>
          </a:solidFill>
          <a:ln/>
        </p:spPr>
      </p:sp>
      <p:sp>
        <p:nvSpPr>
          <p:cNvPr id="37" name="Text 35"/>
          <p:cNvSpPr/>
          <p:nvPr/>
        </p:nvSpPr>
        <p:spPr>
          <a:xfrm>
            <a:off x="8229600" y="519112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Purposeful reading with recall built in</a:t>
            </a:r>
            <a:endParaRPr lang="en-US" sz="1800" dirty="0"/>
          </a:p>
        </p:txBody>
      </p:sp>
      <p:sp>
        <p:nvSpPr>
          <p:cNvPr id="38" name="Shape 36"/>
          <p:cNvSpPr/>
          <p:nvPr/>
        </p:nvSpPr>
        <p:spPr>
          <a:xfrm>
            <a:off x="800100" y="6581775"/>
            <a:ext cx="2971800" cy="9525"/>
          </a:xfrm>
          <a:prstGeom prst="rect">
            <a:avLst/>
          </a:prstGeom>
          <a:solidFill>
            <a:srgbClr val="2A2F3A"/>
          </a:solidFill>
          <a:ln/>
        </p:spPr>
      </p:sp>
      <p:sp>
        <p:nvSpPr>
          <p:cNvPr id="39" name="Text 37"/>
          <p:cNvSpPr/>
          <p:nvPr/>
        </p:nvSpPr>
        <p:spPr>
          <a:xfrm>
            <a:off x="952500" y="5943600"/>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PQ4R</a:t>
            </a:r>
            <a:endParaRPr lang="en-US" sz="1800" dirty="0"/>
          </a:p>
        </p:txBody>
      </p:sp>
      <p:sp>
        <p:nvSpPr>
          <p:cNvPr id="40" name="Shape 38"/>
          <p:cNvSpPr/>
          <p:nvPr/>
        </p:nvSpPr>
        <p:spPr>
          <a:xfrm>
            <a:off x="3771900" y="6581775"/>
            <a:ext cx="4305300" cy="9525"/>
          </a:xfrm>
          <a:prstGeom prst="rect">
            <a:avLst/>
          </a:prstGeom>
          <a:solidFill>
            <a:srgbClr val="2A2F3A"/>
          </a:solidFill>
          <a:ln/>
        </p:spPr>
      </p:sp>
      <p:sp>
        <p:nvSpPr>
          <p:cNvPr id="41" name="Text 39"/>
          <p:cNvSpPr/>
          <p:nvPr/>
        </p:nvSpPr>
        <p:spPr>
          <a:xfrm>
            <a:off x="3924300" y="5943600"/>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Working through dense conceptual material</a:t>
            </a:r>
            <a:endParaRPr lang="en-US" sz="1800" dirty="0"/>
          </a:p>
        </p:txBody>
      </p:sp>
      <p:sp>
        <p:nvSpPr>
          <p:cNvPr id="42" name="Shape 40"/>
          <p:cNvSpPr/>
          <p:nvPr/>
        </p:nvSpPr>
        <p:spPr>
          <a:xfrm>
            <a:off x="8077200" y="6581775"/>
            <a:ext cx="9410700" cy="9525"/>
          </a:xfrm>
          <a:prstGeom prst="rect">
            <a:avLst/>
          </a:prstGeom>
          <a:solidFill>
            <a:srgbClr val="2A2F3A"/>
          </a:solidFill>
          <a:ln/>
        </p:spPr>
      </p:sp>
      <p:sp>
        <p:nvSpPr>
          <p:cNvPr id="43" name="Text 41"/>
          <p:cNvSpPr/>
          <p:nvPr/>
        </p:nvSpPr>
        <p:spPr>
          <a:xfrm>
            <a:off x="8229600" y="5943600"/>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Reading plus deliberate connection-making</a:t>
            </a:r>
            <a:endParaRPr lang="en-US" sz="1800" dirty="0"/>
          </a:p>
        </p:txBody>
      </p:sp>
      <p:sp>
        <p:nvSpPr>
          <p:cNvPr id="44" name="Shape 42"/>
          <p:cNvSpPr/>
          <p:nvPr/>
        </p:nvSpPr>
        <p:spPr>
          <a:xfrm>
            <a:off x="800100" y="6591300"/>
            <a:ext cx="2971800" cy="752475"/>
          </a:xfrm>
          <a:prstGeom prst="rect">
            <a:avLst/>
          </a:prstGeom>
          <a:solidFill>
            <a:srgbClr val="FFFFFF">
              <a:alpha val="2000"/>
            </a:srgbClr>
          </a:solidFill>
          <a:ln/>
        </p:spPr>
      </p:sp>
      <p:sp>
        <p:nvSpPr>
          <p:cNvPr id="45" name="Shape 43"/>
          <p:cNvSpPr/>
          <p:nvPr/>
        </p:nvSpPr>
        <p:spPr>
          <a:xfrm>
            <a:off x="800100" y="7334250"/>
            <a:ext cx="2971800" cy="9525"/>
          </a:xfrm>
          <a:prstGeom prst="rect">
            <a:avLst/>
          </a:prstGeom>
          <a:solidFill>
            <a:srgbClr val="2A2F3A"/>
          </a:solidFill>
          <a:ln/>
        </p:spPr>
      </p:sp>
      <p:sp>
        <p:nvSpPr>
          <p:cNvPr id="46" name="Text 44"/>
          <p:cNvSpPr/>
          <p:nvPr/>
        </p:nvSpPr>
        <p:spPr>
          <a:xfrm>
            <a:off x="952500" y="6696075"/>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Feynman Technique</a:t>
            </a:r>
            <a:endParaRPr lang="en-US" sz="1800" dirty="0"/>
          </a:p>
        </p:txBody>
      </p:sp>
      <p:sp>
        <p:nvSpPr>
          <p:cNvPr id="47" name="Shape 45"/>
          <p:cNvSpPr/>
          <p:nvPr/>
        </p:nvSpPr>
        <p:spPr>
          <a:xfrm>
            <a:off x="3771900" y="6591300"/>
            <a:ext cx="4305300" cy="752475"/>
          </a:xfrm>
          <a:prstGeom prst="rect">
            <a:avLst/>
          </a:prstGeom>
          <a:solidFill>
            <a:srgbClr val="FFFFFF">
              <a:alpha val="2000"/>
            </a:srgbClr>
          </a:solidFill>
          <a:ln/>
        </p:spPr>
      </p:sp>
      <p:sp>
        <p:nvSpPr>
          <p:cNvPr id="48" name="Shape 46"/>
          <p:cNvSpPr/>
          <p:nvPr/>
        </p:nvSpPr>
        <p:spPr>
          <a:xfrm>
            <a:off x="3771900" y="7334250"/>
            <a:ext cx="4305300" cy="9525"/>
          </a:xfrm>
          <a:prstGeom prst="rect">
            <a:avLst/>
          </a:prstGeom>
          <a:solidFill>
            <a:srgbClr val="2A2F3A"/>
          </a:solidFill>
          <a:ln/>
        </p:spPr>
      </p:sp>
      <p:sp>
        <p:nvSpPr>
          <p:cNvPr id="49" name="Text 47"/>
          <p:cNvSpPr/>
          <p:nvPr/>
        </p:nvSpPr>
        <p:spPr>
          <a:xfrm>
            <a:off x="3924300" y="6696075"/>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You suspect you understand less than you think</a:t>
            </a:r>
            <a:endParaRPr lang="en-US" sz="1800" dirty="0"/>
          </a:p>
        </p:txBody>
      </p:sp>
      <p:sp>
        <p:nvSpPr>
          <p:cNvPr id="50" name="Shape 48"/>
          <p:cNvSpPr/>
          <p:nvPr/>
        </p:nvSpPr>
        <p:spPr>
          <a:xfrm>
            <a:off x="8077200" y="6591300"/>
            <a:ext cx="9410700" cy="752475"/>
          </a:xfrm>
          <a:prstGeom prst="rect">
            <a:avLst/>
          </a:prstGeom>
          <a:solidFill>
            <a:srgbClr val="FFFFFF">
              <a:alpha val="2000"/>
            </a:srgbClr>
          </a:solidFill>
          <a:ln/>
        </p:spPr>
      </p:sp>
      <p:sp>
        <p:nvSpPr>
          <p:cNvPr id="51" name="Shape 49"/>
          <p:cNvSpPr/>
          <p:nvPr/>
        </p:nvSpPr>
        <p:spPr>
          <a:xfrm>
            <a:off x="8077200" y="7334250"/>
            <a:ext cx="9410700" cy="9525"/>
          </a:xfrm>
          <a:prstGeom prst="rect">
            <a:avLst/>
          </a:prstGeom>
          <a:solidFill>
            <a:srgbClr val="2A2F3A"/>
          </a:solidFill>
          <a:ln/>
        </p:spPr>
      </p:sp>
      <p:sp>
        <p:nvSpPr>
          <p:cNvPr id="52" name="Text 50"/>
          <p:cNvSpPr/>
          <p:nvPr/>
        </p:nvSpPr>
        <p:spPr>
          <a:xfrm>
            <a:off x="8229600" y="669607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Precise location of understanding gaps</a:t>
            </a:r>
            <a:endParaRPr lang="en-US" sz="1800" dirty="0"/>
          </a:p>
        </p:txBody>
      </p:sp>
      <p:sp>
        <p:nvSpPr>
          <p:cNvPr id="53" name="Shape 51"/>
          <p:cNvSpPr/>
          <p:nvPr/>
        </p:nvSpPr>
        <p:spPr>
          <a:xfrm>
            <a:off x="800100" y="8086725"/>
            <a:ext cx="2971800" cy="9525"/>
          </a:xfrm>
          <a:prstGeom prst="rect">
            <a:avLst/>
          </a:prstGeom>
          <a:solidFill>
            <a:srgbClr val="2A2F3A"/>
          </a:solidFill>
          <a:ln/>
        </p:spPr>
      </p:sp>
      <p:sp>
        <p:nvSpPr>
          <p:cNvPr id="54" name="Text 52"/>
          <p:cNvSpPr/>
          <p:nvPr/>
        </p:nvSpPr>
        <p:spPr>
          <a:xfrm>
            <a:off x="952500" y="7448550"/>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Leitner System</a:t>
            </a:r>
            <a:endParaRPr lang="en-US" sz="1800" dirty="0"/>
          </a:p>
        </p:txBody>
      </p:sp>
      <p:sp>
        <p:nvSpPr>
          <p:cNvPr id="55" name="Shape 53"/>
          <p:cNvSpPr/>
          <p:nvPr/>
        </p:nvSpPr>
        <p:spPr>
          <a:xfrm>
            <a:off x="3771900" y="8086725"/>
            <a:ext cx="4305300" cy="9525"/>
          </a:xfrm>
          <a:prstGeom prst="rect">
            <a:avLst/>
          </a:prstGeom>
          <a:solidFill>
            <a:srgbClr val="2A2F3A"/>
          </a:solidFill>
          <a:ln/>
        </p:spPr>
      </p:sp>
      <p:sp>
        <p:nvSpPr>
          <p:cNvPr id="56" name="Text 54"/>
          <p:cNvSpPr/>
          <p:nvPr/>
        </p:nvSpPr>
        <p:spPr>
          <a:xfrm>
            <a:off x="3924300" y="7448550"/>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Large volumes of discrete facts and terminology</a:t>
            </a:r>
            <a:endParaRPr lang="en-US" sz="1800" dirty="0"/>
          </a:p>
        </p:txBody>
      </p:sp>
      <p:sp>
        <p:nvSpPr>
          <p:cNvPr id="57" name="Shape 55"/>
          <p:cNvSpPr/>
          <p:nvPr/>
        </p:nvSpPr>
        <p:spPr>
          <a:xfrm>
            <a:off x="8077200" y="8086725"/>
            <a:ext cx="9410700" cy="9525"/>
          </a:xfrm>
          <a:prstGeom prst="rect">
            <a:avLst/>
          </a:prstGeom>
          <a:solidFill>
            <a:srgbClr val="2A2F3A"/>
          </a:solidFill>
          <a:ln/>
        </p:spPr>
      </p:sp>
      <p:sp>
        <p:nvSpPr>
          <p:cNvPr id="58" name="Text 56"/>
          <p:cNvSpPr/>
          <p:nvPr/>
        </p:nvSpPr>
        <p:spPr>
          <a:xfrm>
            <a:off x="8229600" y="7448550"/>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Automatic scheduling of retrieval where it is weakest</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3.5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Tactics and Common Methods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TWO FOUNDATIONS</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Retrieval practice supplies the action; spaced practice supplies the schedule. Everything else is scaffolding around them.</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READING METHODS</a:t>
            </a:r>
            <a:endParaRPr lang="en-US" sz="1500" dirty="0"/>
          </a:p>
        </p:txBody>
      </p:sp>
      <p:sp>
        <p:nvSpPr>
          <p:cNvPr id="10" name="Text 8"/>
          <p:cNvSpPr/>
          <p:nvPr/>
        </p:nvSpPr>
        <p:spPr>
          <a:xfrm>
            <a:off x="6664300" y="5384006"/>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SQ3R for structured material, PQ4R when deliberate connection-making is needed.</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DIAGNOSTICS</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Feynman locates gaps precisely; Leitner schedules effort where recall is weakest.</a:t>
            </a:r>
            <a:endParaRPr lang="en-US" sz="18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8546" y="3870945"/>
            <a:ext cx="2090834"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3.6</a:t>
            </a:r>
            <a:endParaRPr lang="en-US" sz="1650" dirty="0"/>
          </a:p>
        </p:txBody>
      </p:sp>
      <p:sp>
        <p:nvSpPr>
          <p:cNvPr id="4" name="Text 2"/>
          <p:cNvSpPr/>
          <p:nvPr/>
        </p:nvSpPr>
        <p:spPr>
          <a:xfrm>
            <a:off x="1700227" y="4385295"/>
            <a:ext cx="14887545"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Advice and Suggestions on Exams</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Develop strategies for dealing with exam-related stress, recognise when you might be ready, and understand a practical approach to exams.</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92722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65309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3.6 · Task 1 of 3</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Strategies for exam-related stress</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Stress narrows working memory precisely when the most working memory is needed. It is therefore a performance variable to be managed, not a personal weakness to be endured.</a:t>
            </a:r>
            <a:endParaRPr lang="en-US" sz="2175" dirty="0"/>
          </a:p>
        </p:txBody>
      </p:sp>
      <p:sp>
        <p:nvSpPr>
          <p:cNvPr id="7" name="Shape 5"/>
          <p:cNvSpPr/>
          <p:nvPr/>
        </p:nvSpPr>
        <p:spPr>
          <a:xfrm>
            <a:off x="800100"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REHEARSE THE CONDITIONS</a:t>
            </a:r>
            <a:endParaRPr lang="en-US" sz="1500" dirty="0"/>
          </a:p>
        </p:txBody>
      </p:sp>
      <p:sp>
        <p:nvSpPr>
          <p:cNvPr id="9" name="Text 7"/>
          <p:cNvSpPr/>
          <p:nvPr/>
        </p:nvSpPr>
        <p:spPr>
          <a:xfrm>
            <a:off x="1038225" y="581545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Practise under the constraints that will apply — time limits, no walkthroughs, notes only. Familiar conditions consume less capacity than novel ones.</a:t>
            </a:r>
            <a:endParaRPr lang="en-US" sz="1875" dirty="0"/>
          </a:p>
        </p:txBody>
      </p:sp>
      <p:sp>
        <p:nvSpPr>
          <p:cNvPr id="10" name="Shape 8"/>
          <p:cNvSpPr/>
          <p:nvPr/>
        </p:nvSpPr>
        <p:spPr>
          <a:xfrm>
            <a:off x="6426175"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PRE-DECIDE THE ROUTINE</a:t>
            </a:r>
            <a:endParaRPr lang="en-US" sz="1500" dirty="0"/>
          </a:p>
        </p:txBody>
      </p:sp>
      <p:sp>
        <p:nvSpPr>
          <p:cNvPr id="12" name="Text 10"/>
          <p:cNvSpPr/>
          <p:nvPr/>
        </p:nvSpPr>
        <p:spPr>
          <a:xfrm>
            <a:off x="6664300" y="581545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Decide in advance what you do in the first ten minutes and what you do when stuck. Decisions made calmly do not have to be made under pressure.</a:t>
            </a:r>
            <a:endParaRPr lang="en-US" sz="1875" dirty="0"/>
          </a:p>
        </p:txBody>
      </p:sp>
      <p:sp>
        <p:nvSpPr>
          <p:cNvPr id="13" name="Shape 11"/>
          <p:cNvSpPr/>
          <p:nvPr/>
        </p:nvSpPr>
        <p:spPr>
          <a:xfrm>
            <a:off x="12052250" y="5258246"/>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549637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MANAGE THE PHYSICAL</a:t>
            </a:r>
            <a:endParaRPr lang="en-US" sz="1500" dirty="0"/>
          </a:p>
        </p:txBody>
      </p:sp>
      <p:sp>
        <p:nvSpPr>
          <p:cNvPr id="15" name="Text 13"/>
          <p:cNvSpPr/>
          <p:nvPr/>
        </p:nvSpPr>
        <p:spPr>
          <a:xfrm>
            <a:off x="12290375" y="5815459"/>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Sleep, breaks and food are performance inputs on a long assessment. Sacrificing them to gain study hours is a net loss.</a:t>
            </a:r>
            <a:endParaRPr lang="en-US" sz="18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148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7808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3.6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Recognising when you might be ready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Readiness is not the feeling of confidence, and it is not having read every module. It is demonstrated performance on material you have not seen before, without assistance.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EVIDENCE TO LOOK FOR</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Unfamiliar targets approached with a method rather than a guess; steady progress when the first idea fails; and notes good enough to work from without searching.</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Two opposite errors: sitting the exam because the material is finished, and postponing indefinitely because confidence never arrives. Neither is evidence.</a:t>
            </a:r>
            <a:endParaRPr lang="en-US" sz="18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164110"/>
            <a:ext cx="295662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249835"/>
            <a:ext cx="268336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3.6 · Task 3 of 3</a:t>
            </a:r>
            <a:endParaRPr lang="en-US" sz="1500" dirty="0"/>
          </a:p>
        </p:txBody>
      </p:sp>
      <p:sp>
        <p:nvSpPr>
          <p:cNvPr id="5" name="Text 3"/>
          <p:cNvSpPr/>
          <p:nvPr/>
        </p:nvSpPr>
        <p:spPr>
          <a:xfrm>
            <a:off x="800100" y="280704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 practical approach to exams</a:t>
            </a:r>
            <a:endParaRPr lang="en-US" sz="3000" dirty="0"/>
          </a:p>
        </p:txBody>
      </p:sp>
      <p:sp>
        <p:nvSpPr>
          <p:cNvPr id="6" name="Text 4"/>
          <p:cNvSpPr/>
          <p:nvPr/>
        </p:nvSpPr>
        <p:spPr>
          <a:xfrm>
            <a:off x="800100" y="3473797"/>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Under time pressure, process beats intuition. A pre-agreed sequence protects against the two common failures: fixating on one target, and abandoning targets too early.</a:t>
            </a:r>
            <a:endParaRPr lang="en-US" sz="2175" dirty="0"/>
          </a:p>
        </p:txBody>
      </p:sp>
      <p:sp>
        <p:nvSpPr>
          <p:cNvPr id="7" name="Shape 5"/>
          <p:cNvSpPr/>
          <p:nvPr/>
        </p:nvSpPr>
        <p:spPr>
          <a:xfrm>
            <a:off x="800100" y="4522440"/>
            <a:ext cx="16687800" cy="800100"/>
          </a:xfrm>
          <a:prstGeom prst="roundRect">
            <a:avLst>
              <a:gd name="adj" fmla="val 16667"/>
            </a:avLst>
          </a:prstGeom>
          <a:solidFill>
            <a:srgbClr val="FFFFFF">
              <a:alpha val="2000"/>
            </a:srgbClr>
          </a:solidFill>
          <a:ln w="9525">
            <a:solidFill>
              <a:srgbClr val="2A2F3A"/>
            </a:solidFill>
            <a:prstDash val="solid"/>
          </a:ln>
        </p:spPr>
      </p:sp>
      <p:sp>
        <p:nvSpPr>
          <p:cNvPr id="8" name="Shape 6"/>
          <p:cNvSpPr/>
          <p:nvPr/>
        </p:nvSpPr>
        <p:spPr>
          <a:xfrm>
            <a:off x="1038225" y="4703415"/>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9" name="Text 7"/>
          <p:cNvSpPr/>
          <p:nvPr/>
        </p:nvSpPr>
        <p:spPr>
          <a:xfrm>
            <a:off x="1009650" y="4712940"/>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1</a:t>
            </a:r>
            <a:endParaRPr lang="en-US" sz="1650" dirty="0"/>
          </a:p>
        </p:txBody>
      </p:sp>
      <p:sp>
        <p:nvSpPr>
          <p:cNvPr id="10" name="Text 8"/>
          <p:cNvSpPr/>
          <p:nvPr/>
        </p:nvSpPr>
        <p:spPr>
          <a:xfrm>
            <a:off x="1952625" y="4777234"/>
            <a:ext cx="8860282"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Enumerate everything available before committing depth to any single target</a:t>
            </a:r>
            <a:endParaRPr lang="en-US" sz="1950" dirty="0"/>
          </a:p>
        </p:txBody>
      </p:sp>
      <p:sp>
        <p:nvSpPr>
          <p:cNvPr id="11" name="Shape 9"/>
          <p:cNvSpPr/>
          <p:nvPr/>
        </p:nvSpPr>
        <p:spPr>
          <a:xfrm>
            <a:off x="800100" y="5455890"/>
            <a:ext cx="16687800" cy="800100"/>
          </a:xfrm>
          <a:prstGeom prst="roundRect">
            <a:avLst>
              <a:gd name="adj" fmla="val 16667"/>
            </a:avLst>
          </a:prstGeom>
          <a:solidFill>
            <a:srgbClr val="FFFFFF">
              <a:alpha val="2000"/>
            </a:srgbClr>
          </a:solidFill>
          <a:ln w="9525">
            <a:solidFill>
              <a:srgbClr val="2A2F3A"/>
            </a:solidFill>
            <a:prstDash val="solid"/>
          </a:ln>
        </p:spPr>
      </p:sp>
      <p:sp>
        <p:nvSpPr>
          <p:cNvPr id="12" name="Shape 10"/>
          <p:cNvSpPr/>
          <p:nvPr/>
        </p:nvSpPr>
        <p:spPr>
          <a:xfrm>
            <a:off x="1038225" y="5636865"/>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3" name="Text 11"/>
          <p:cNvSpPr/>
          <p:nvPr/>
        </p:nvSpPr>
        <p:spPr>
          <a:xfrm>
            <a:off x="1009650" y="5646390"/>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a:t>
            </a:r>
            <a:endParaRPr lang="en-US" sz="1650" dirty="0"/>
          </a:p>
        </p:txBody>
      </p:sp>
      <p:sp>
        <p:nvSpPr>
          <p:cNvPr id="14" name="Text 12"/>
          <p:cNvSpPr/>
          <p:nvPr/>
        </p:nvSpPr>
        <p:spPr>
          <a:xfrm>
            <a:off x="1952625" y="5710684"/>
            <a:ext cx="1166669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Timebox each avenue in advance, and stop when the box expires rather than when frustration arrives</a:t>
            </a:r>
            <a:endParaRPr lang="en-US" sz="1950" dirty="0"/>
          </a:p>
        </p:txBody>
      </p:sp>
      <p:sp>
        <p:nvSpPr>
          <p:cNvPr id="15" name="Shape 13"/>
          <p:cNvSpPr/>
          <p:nvPr/>
        </p:nvSpPr>
        <p:spPr>
          <a:xfrm>
            <a:off x="800100" y="6389340"/>
            <a:ext cx="16687800" cy="800100"/>
          </a:xfrm>
          <a:prstGeom prst="roundRect">
            <a:avLst>
              <a:gd name="adj" fmla="val 16667"/>
            </a:avLst>
          </a:prstGeom>
          <a:solidFill>
            <a:srgbClr val="FFFFFF">
              <a:alpha val="2000"/>
            </a:srgbClr>
          </a:solidFill>
          <a:ln w="9525">
            <a:solidFill>
              <a:srgbClr val="2A2F3A"/>
            </a:solidFill>
            <a:prstDash val="solid"/>
          </a:ln>
        </p:spPr>
      </p:sp>
      <p:sp>
        <p:nvSpPr>
          <p:cNvPr id="16" name="Shape 14"/>
          <p:cNvSpPr/>
          <p:nvPr/>
        </p:nvSpPr>
        <p:spPr>
          <a:xfrm>
            <a:off x="1038225" y="6570315"/>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7" name="Text 15"/>
          <p:cNvSpPr/>
          <p:nvPr/>
        </p:nvSpPr>
        <p:spPr>
          <a:xfrm>
            <a:off x="1009650" y="6579840"/>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a:t>
            </a:r>
            <a:endParaRPr lang="en-US" sz="1650" dirty="0"/>
          </a:p>
        </p:txBody>
      </p:sp>
      <p:sp>
        <p:nvSpPr>
          <p:cNvPr id="18" name="Text 16"/>
          <p:cNvSpPr/>
          <p:nvPr/>
        </p:nvSpPr>
        <p:spPr>
          <a:xfrm>
            <a:off x="1952625" y="6644134"/>
            <a:ext cx="735307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Document as you go — evidence gathered later is evidence lost</a:t>
            </a:r>
            <a:endParaRPr lang="en-US" sz="1950" dirty="0"/>
          </a:p>
        </p:txBody>
      </p:sp>
      <p:sp>
        <p:nvSpPr>
          <p:cNvPr id="19" name="Shape 17"/>
          <p:cNvSpPr/>
          <p:nvPr/>
        </p:nvSpPr>
        <p:spPr>
          <a:xfrm>
            <a:off x="800100" y="7322790"/>
            <a:ext cx="16687800" cy="800100"/>
          </a:xfrm>
          <a:prstGeom prst="roundRect">
            <a:avLst>
              <a:gd name="adj" fmla="val 16667"/>
            </a:avLst>
          </a:prstGeom>
          <a:solidFill>
            <a:srgbClr val="FFFFFF">
              <a:alpha val="2000"/>
            </a:srgbClr>
          </a:solidFill>
          <a:ln w="9525">
            <a:solidFill>
              <a:srgbClr val="2A2F3A"/>
            </a:solidFill>
            <a:prstDash val="solid"/>
          </a:ln>
        </p:spPr>
      </p:sp>
      <p:sp>
        <p:nvSpPr>
          <p:cNvPr id="20" name="Shape 18"/>
          <p:cNvSpPr/>
          <p:nvPr/>
        </p:nvSpPr>
        <p:spPr>
          <a:xfrm>
            <a:off x="1038225" y="7503765"/>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1" name="Text 19"/>
          <p:cNvSpPr/>
          <p:nvPr/>
        </p:nvSpPr>
        <p:spPr>
          <a:xfrm>
            <a:off x="1009650" y="7513290"/>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4</a:t>
            </a:r>
            <a:endParaRPr lang="en-US" sz="1650" dirty="0"/>
          </a:p>
        </p:txBody>
      </p:sp>
      <p:sp>
        <p:nvSpPr>
          <p:cNvPr id="22" name="Text 20"/>
          <p:cNvSpPr/>
          <p:nvPr/>
        </p:nvSpPr>
        <p:spPr>
          <a:xfrm>
            <a:off x="1952625" y="7577584"/>
            <a:ext cx="1202776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Rotate back to earlier targets with what you have learned since; new information changes old dead ends</a:t>
            </a:r>
            <a:endParaRPr lang="en-US" sz="1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3.6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Advice on Exams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STRESS</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performance variable. Rehearse the conditions, pre-decide the routine, protect sleep and breaks.</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READINESS</a:t>
            </a:r>
            <a:endParaRPr lang="en-US" sz="1500" dirty="0"/>
          </a:p>
        </p:txBody>
      </p:sp>
      <p:sp>
        <p:nvSpPr>
          <p:cNvPr id="10" name="Text 8"/>
          <p:cNvSpPr/>
          <p:nvPr/>
        </p:nvSpPr>
        <p:spPr>
          <a:xfrm>
            <a:off x="6664300" y="5384006"/>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Evidenced by unaided performance on unseen material — not by confidence or completion.</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APPROACH</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Enumerate broadly, timebox, document continuously, rotate back with new information.</a:t>
            </a:r>
            <a:endParaRPr lang="en-US" sz="18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07219" y="3870945"/>
            <a:ext cx="2073563"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3.7</a:t>
            </a:r>
            <a:endParaRPr lang="en-US" sz="1650" dirty="0"/>
          </a:p>
        </p:txBody>
      </p:sp>
      <p:sp>
        <p:nvSpPr>
          <p:cNvPr id="4" name="Text 2"/>
          <p:cNvSpPr/>
          <p:nvPr/>
        </p:nvSpPr>
        <p:spPr>
          <a:xfrm>
            <a:off x="5842605" y="4385295"/>
            <a:ext cx="6602790"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Practical Steps</a:t>
            </a:r>
            <a:endParaRPr lang="en-US" sz="6600" dirty="0"/>
          </a:p>
        </p:txBody>
      </p:sp>
      <p:sp>
        <p:nvSpPr>
          <p:cNvPr id="5" name="Text 3"/>
          <p:cNvSpPr/>
          <p:nvPr/>
        </p:nvSpPr>
        <p:spPr>
          <a:xfrm>
            <a:off x="2767013" y="553209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Create a long-term strategy, use a time allotment strategy, learn how and when to narrow your focus, find a group of co-learners, and capitalise on the learning strategies that work for you.</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128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3830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3.7 · Task 1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Creating a long-term strategy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course of this size fails on planning long before it fails on difficulty. A long-term strategy states which modules are covered when, and what state each must reach — not merely how many hours will be spent.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Sequence the 24 modules across the available months in official order, respecting dependency. Mark for each: read, practised, recalled unaided. Only the third counts as complete.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Plans measured purely in hours studied. Hours are an input; retrieval state is the output, and only one of them predicts performance.</a:t>
            </a:r>
            <a:endParaRPr lang="en-US" sz="18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3712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6328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3.7 · Task 2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Using a time allotment strategy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Allocate fixed blocks of time to specific work in advance, and treat the boundary as real. Without an external pace, the boundary is the only thing preventing a single problem consuming a week.</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Timeboxing forces the decision to move on, which is the same discipline the exam approach in Objective 3.6 requires. Practising it during study is what makes it available under pressure.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Shorter blocks for retrieval and review, longer blocks for practical work. Schedule the review blocks first — they are the ones that get dropped.</a:t>
            </a:r>
            <a:endParaRPr lang="en-US" sz="187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4225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66857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3.7 · Task 3 of 5</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How and when to narrow your focus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Depth is valuable, but only once breadth has established where depth is warranted. Narrowing early produces a learner who is excellent at one technique and unable to recognise when it does not apply.</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NARROW WHEN</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You have surveyed the whole module or estate, identified where the evidence points, and can state why the other avenues were set aside.</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DO NOT NARROW WHEN</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You are narrowing because an avenue is comfortable rather than because it is indicated. That is preference disguised as prioritisation.</a:t>
            </a:r>
            <a:endParaRPr lang="en-US" sz="187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4575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7217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3.7 · Task 4 of 5</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Co-learners and community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group of co-learners supplies what remote study removes: correction, pace, and evidence that difficulty is normal rather than personal.</a:t>
            </a:r>
            <a:endParaRPr lang="en-US" sz="2175" dirty="0"/>
          </a:p>
        </p:txBody>
      </p:sp>
      <p:sp>
        <p:nvSpPr>
          <p:cNvPr id="7" name="Shape 5"/>
          <p:cNvSpPr/>
          <p:nvPr/>
        </p:nvSpPr>
        <p:spPr>
          <a:xfrm>
            <a:off x="800100"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CORRECTION</a:t>
            </a:r>
            <a:endParaRPr lang="en-US" sz="1500" dirty="0"/>
          </a:p>
        </p:txBody>
      </p:sp>
      <p:sp>
        <p:nvSpPr>
          <p:cNvPr id="9" name="Text 7"/>
          <p:cNvSpPr/>
          <p:nvPr/>
        </p:nvSpPr>
        <p:spPr>
          <a:xfrm>
            <a:off x="1038225"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misconception held privately can survive for weeks. Stated to a peer, it usually survives minutes.</a:t>
            </a:r>
            <a:endParaRPr lang="en-US" sz="1875" dirty="0"/>
          </a:p>
        </p:txBody>
      </p:sp>
      <p:sp>
        <p:nvSpPr>
          <p:cNvPr id="10" name="Shape 8"/>
          <p:cNvSpPr/>
          <p:nvPr/>
        </p:nvSpPr>
        <p:spPr>
          <a:xfrm>
            <a:off x="6426175" y="5424934"/>
            <a:ext cx="543557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6664300" y="566305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RETRIEVAL</a:t>
            </a:r>
            <a:endParaRPr lang="en-US" sz="1500" dirty="0"/>
          </a:p>
        </p:txBody>
      </p:sp>
      <p:sp>
        <p:nvSpPr>
          <p:cNvPr id="12" name="Text 10"/>
          <p:cNvSpPr/>
          <p:nvPr/>
        </p:nvSpPr>
        <p:spPr>
          <a:xfrm>
            <a:off x="6664300" y="598214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Explaining a technique to someone else is the Feynman Technique performed live, with a built-in detector for vagueness.</a:t>
            </a:r>
            <a:endParaRPr lang="en-US" sz="1875" dirty="0"/>
          </a:p>
        </p:txBody>
      </p:sp>
      <p:sp>
        <p:nvSpPr>
          <p:cNvPr id="13" name="Shape 11"/>
          <p:cNvSpPr/>
          <p:nvPr/>
        </p:nvSpPr>
        <p:spPr>
          <a:xfrm>
            <a:off x="12052250" y="5424934"/>
            <a:ext cx="5435650" cy="1795463"/>
          </a:xfrm>
          <a:prstGeom prst="roundRect">
            <a:avLst>
              <a:gd name="adj" fmla="val 8488"/>
            </a:avLst>
          </a:prstGeom>
          <a:solidFill>
            <a:srgbClr val="FFFFFF">
              <a:alpha val="2000"/>
            </a:srgbClr>
          </a:solidFill>
          <a:ln w="9525">
            <a:solidFill>
              <a:srgbClr val="2A2F3A"/>
            </a:solidFill>
            <a:prstDash val="solid"/>
          </a:ln>
        </p:spPr>
      </p:sp>
      <p:sp>
        <p:nvSpPr>
          <p:cNvPr id="14" name="Text 12"/>
          <p:cNvSpPr/>
          <p:nvPr/>
        </p:nvSpPr>
        <p:spPr>
          <a:xfrm>
            <a:off x="12290375" y="566305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CALIBRATION</a:t>
            </a:r>
            <a:endParaRPr lang="en-US" sz="1500" dirty="0"/>
          </a:p>
        </p:txBody>
      </p:sp>
      <p:sp>
        <p:nvSpPr>
          <p:cNvPr id="15" name="Text 13"/>
          <p:cNvSpPr/>
          <p:nvPr/>
        </p:nvSpPr>
        <p:spPr>
          <a:xfrm>
            <a:off x="12290375" y="598214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Seeing that competent peers also struggle at Module 20 prevents the misreading of normal difficulty as personal inadequacy.</a:t>
            </a:r>
            <a:endParaRPr lang="en-US" sz="187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94136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66765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3.7 · Task 5 of 5</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Attention, and capitalising on what works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Attention is the input to encoding, so protecting it is a study technique in itself. And once a method has demonstrably worked for you, the correct response is to use it more — not to keep sampling new ones.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PROTECT ATTENTION</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Single-task during study blocks. Divided attention degrades encoding, which means the time is spent without the memory being formed.</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CAPITALISE DELIBERATELY</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Track which methods preceded your successful unaided recalls. Keep those; discard the ones that only produced a feeling of progress.</a:t>
            </a:r>
            <a:endParaRPr lang="en-US" sz="187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3.7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Practical Steps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PLAN</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long-term strategy stated in modules and retrieval states, with time allotted in blocks and treated as real.</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FOCUS</a:t>
            </a:r>
            <a:endParaRPr lang="en-US" sz="1500" dirty="0"/>
          </a:p>
        </p:txBody>
      </p:sp>
      <p:sp>
        <p:nvSpPr>
          <p:cNvPr id="10" name="Text 8"/>
          <p:cNvSpPr/>
          <p:nvPr/>
        </p:nvSpPr>
        <p:spPr>
          <a:xfrm>
            <a:off x="6664300" y="5384006"/>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Breadth first, then depth where the evidence points — never where it is merely comfortable.</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PEOPLE AND ATTENTION</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Co-learners for correction and calibration; single-tasking to protect encoding; and more of whatever demonstrably worked.</a:t>
            </a:r>
            <a:endParaRPr lang="en-US" sz="187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401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4354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Diagnosing a stalled learner</a:t>
            </a:r>
            <a:endParaRPr lang="en-US" sz="3000" dirty="0"/>
          </a:p>
        </p:txBody>
      </p:sp>
      <p:sp>
        <p:nvSpPr>
          <p:cNvPr id="5" name="Text 3"/>
          <p:cNvSpPr/>
          <p:nvPr/>
        </p:nvSpPr>
        <p:spPr>
          <a:xfrm>
            <a:off x="800100" y="4102224"/>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learner has read modules 1 to 14 in six weeks and marked them complete. Asked to approach an unfamiliar Windows host, they recognise the techniques when named but cannot produce any of them unaided. They have three months remaining and are considering starting the course again.</a:t>
            </a:r>
            <a:endParaRPr lang="en-US" sz="2175" dirty="0"/>
          </a:p>
        </p:txBody>
      </p:sp>
      <p:sp>
        <p:nvSpPr>
          <p:cNvPr id="6" name="Shape 4"/>
          <p:cNvSpPr/>
          <p:nvPr/>
        </p:nvSpPr>
        <p:spPr>
          <a:xfrm>
            <a:off x="800100"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Is this forgetting or overload? Which evidence in the description tells you, and what would you ask to confirm?</a:t>
            </a:r>
            <a:endParaRPr lang="en-US" sz="1875" dirty="0"/>
          </a:p>
        </p:txBody>
      </p:sp>
      <p:sp>
        <p:nvSpPr>
          <p:cNvPr id="9" name="Shape 7"/>
          <p:cNvSpPr/>
          <p:nvPr/>
        </p:nvSpPr>
        <p:spPr>
          <a:xfrm>
            <a:off x="6426175"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of the five named techniques would you introduce first, and what would you have them stop doing?</a:t>
            </a:r>
            <a:endParaRPr lang="en-US" sz="1875" dirty="0"/>
          </a:p>
        </p:txBody>
      </p:sp>
      <p:sp>
        <p:nvSpPr>
          <p:cNvPr id="12" name="Shape 10"/>
          <p:cNvSpPr/>
          <p:nvPr/>
        </p:nvSpPr>
        <p:spPr>
          <a:xfrm>
            <a:off x="12052250" y="5551363"/>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789488"/>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610857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Restarting the course reads material a second time. Under what conditions is that the wrong use of the remaining three months?</a:t>
            </a:r>
            <a:endParaRPr lang="en-US" sz="18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2350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3775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Tracking retrieval state, not coverage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Record every module against three states: read, practised, recalled unaided. Only the third state predicts performance under uncertainty.</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Promote a module to "recalled" only after reproducing its key techniques from memory, with notes closed, at least a week after first study.</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EVIDENCE TO LOOK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Modules sitting in "read" for more than a fortnight. Under the Curve of Forgetting those are already decaying, and they are where your next hour should go.</a:t>
            </a:r>
            <a:endParaRPr lang="en-US" sz="187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477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20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Running a Leitner deck</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Convert each module's terminology into cards and run them through boxes rather than reading them in sequence. Effort then concentrates automatically on what you cannot yet recall.</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Three boxes is enough: daily, weekly, monthly. Correct recall promotes a card one box; any failure returns it to daily regardless of how long it had survived.</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flashcards issued with every module of this course carry a tag per sub-topic precisely so they can be split into boxes by area of weakness.</a:t>
            </a:r>
            <a:endParaRPr lang="en-US" sz="187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28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6714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 Feynman pass before writing anything up</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Before documenting a technique or a finding, explain it in plain language with the source closed. Every point at which you stall is a gap that would otherwise reach the reader.</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Write the explanation for a competent non-specialist. Mark each vague clause, return to the source for those clauses only, then rewrite more simply than before.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 Report Writing, requires tailoring content to its reader and constructing an executive summary. This is the study technique that makes both achievable.</a:t>
            </a:r>
            <a:endParaRPr lang="en-US" sz="187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765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297180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3</a:t>
            </a:r>
            <a:endParaRPr lang="en-US" sz="3000" dirty="0"/>
          </a:p>
        </p:txBody>
      </p:sp>
      <p:sp>
        <p:nvSpPr>
          <p:cNvPr id="5" name="Shape 3"/>
          <p:cNvSpPr/>
          <p:nvPr/>
        </p:nvSpPr>
        <p:spPr>
          <a:xfrm>
            <a:off x="800100" y="3638550"/>
            <a:ext cx="2209800" cy="500063"/>
          </a:xfrm>
          <a:prstGeom prst="rect">
            <a:avLst/>
          </a:prstGeom>
          <a:solidFill>
            <a:srgbClr val="FF6A00">
              <a:alpha val="18000"/>
            </a:srgbClr>
          </a:solidFill>
          <a:ln/>
        </p:spPr>
      </p:sp>
      <p:sp>
        <p:nvSpPr>
          <p:cNvPr id="6" name="Shape 4"/>
          <p:cNvSpPr/>
          <p:nvPr/>
        </p:nvSpPr>
        <p:spPr>
          <a:xfrm>
            <a:off x="800100" y="4129088"/>
            <a:ext cx="2209800" cy="9525"/>
          </a:xfrm>
          <a:prstGeom prst="rect">
            <a:avLst/>
          </a:prstGeom>
          <a:solidFill>
            <a:srgbClr val="B85100"/>
          </a:solidFill>
          <a:ln/>
        </p:spPr>
      </p:sp>
      <p:sp>
        <p:nvSpPr>
          <p:cNvPr id="7" name="Text 5"/>
          <p:cNvSpPr/>
          <p:nvPr/>
        </p:nvSpPr>
        <p:spPr>
          <a:xfrm>
            <a:off x="952500" y="3752850"/>
            <a:ext cx="19812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009900" y="3638550"/>
            <a:ext cx="5257800" cy="500063"/>
          </a:xfrm>
          <a:prstGeom prst="rect">
            <a:avLst/>
          </a:prstGeom>
          <a:solidFill>
            <a:srgbClr val="FF6A00">
              <a:alpha val="18000"/>
            </a:srgbClr>
          </a:solidFill>
          <a:ln/>
        </p:spPr>
      </p:sp>
      <p:sp>
        <p:nvSpPr>
          <p:cNvPr id="9" name="Shape 7"/>
          <p:cNvSpPr/>
          <p:nvPr/>
        </p:nvSpPr>
        <p:spPr>
          <a:xfrm>
            <a:off x="3009900" y="4129088"/>
            <a:ext cx="5257800" cy="9525"/>
          </a:xfrm>
          <a:prstGeom prst="rect">
            <a:avLst/>
          </a:prstGeom>
          <a:solidFill>
            <a:srgbClr val="B85100"/>
          </a:solidFill>
          <a:ln/>
        </p:spPr>
      </p:sp>
      <p:sp>
        <p:nvSpPr>
          <p:cNvPr id="10" name="Text 8"/>
          <p:cNvSpPr/>
          <p:nvPr/>
        </p:nvSpPr>
        <p:spPr>
          <a:xfrm>
            <a:off x="3162300" y="3752850"/>
            <a:ext cx="511073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Expansion</a:t>
            </a:r>
            <a:endParaRPr lang="en-US" sz="1800" dirty="0"/>
          </a:p>
        </p:txBody>
      </p:sp>
      <p:sp>
        <p:nvSpPr>
          <p:cNvPr id="11" name="Shape 9"/>
          <p:cNvSpPr/>
          <p:nvPr/>
        </p:nvSpPr>
        <p:spPr>
          <a:xfrm>
            <a:off x="8267700" y="3638550"/>
            <a:ext cx="9220200" cy="500063"/>
          </a:xfrm>
          <a:prstGeom prst="rect">
            <a:avLst/>
          </a:prstGeom>
          <a:solidFill>
            <a:srgbClr val="FF6A00">
              <a:alpha val="18000"/>
            </a:srgbClr>
          </a:solidFill>
          <a:ln/>
        </p:spPr>
      </p:sp>
      <p:sp>
        <p:nvSpPr>
          <p:cNvPr id="12" name="Shape 10"/>
          <p:cNvSpPr/>
          <p:nvPr/>
        </p:nvSpPr>
        <p:spPr>
          <a:xfrm>
            <a:off x="8267700" y="4129088"/>
            <a:ext cx="9220200" cy="9525"/>
          </a:xfrm>
          <a:prstGeom prst="rect">
            <a:avLst/>
          </a:prstGeom>
          <a:solidFill>
            <a:srgbClr val="B85100"/>
          </a:solidFill>
          <a:ln/>
        </p:spPr>
      </p:sp>
      <p:sp>
        <p:nvSpPr>
          <p:cNvPr id="13" name="Text 11"/>
          <p:cNvSpPr/>
          <p:nvPr/>
        </p:nvSpPr>
        <p:spPr>
          <a:xfrm>
            <a:off x="8420100" y="3752850"/>
            <a:ext cx="919200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names</a:t>
            </a:r>
            <a:endParaRPr lang="en-US" sz="1800" dirty="0"/>
          </a:p>
        </p:txBody>
      </p:sp>
      <p:sp>
        <p:nvSpPr>
          <p:cNvPr id="14" name="Shape 12"/>
          <p:cNvSpPr/>
          <p:nvPr/>
        </p:nvSpPr>
        <p:spPr>
          <a:xfrm>
            <a:off x="800100" y="4138613"/>
            <a:ext cx="2209800" cy="485775"/>
          </a:xfrm>
          <a:prstGeom prst="rect">
            <a:avLst/>
          </a:prstGeom>
          <a:solidFill>
            <a:srgbClr val="FFFFFF">
              <a:alpha val="2000"/>
            </a:srgbClr>
          </a:solidFill>
          <a:ln/>
        </p:spPr>
      </p:sp>
      <p:sp>
        <p:nvSpPr>
          <p:cNvPr id="15" name="Shape 13"/>
          <p:cNvSpPr/>
          <p:nvPr/>
        </p:nvSpPr>
        <p:spPr>
          <a:xfrm>
            <a:off x="800100" y="4614863"/>
            <a:ext cx="2209800" cy="9525"/>
          </a:xfrm>
          <a:prstGeom prst="rect">
            <a:avLst/>
          </a:prstGeom>
          <a:solidFill>
            <a:srgbClr val="2A2F3A"/>
          </a:solidFill>
          <a:ln/>
        </p:spPr>
      </p:sp>
      <p:sp>
        <p:nvSpPr>
          <p:cNvPr id="16" name="Text 14"/>
          <p:cNvSpPr/>
          <p:nvPr/>
        </p:nvSpPr>
        <p:spPr>
          <a:xfrm>
            <a:off x="952500" y="4243388"/>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SQ3R</a:t>
            </a:r>
            <a:endParaRPr lang="en-US" sz="1800" dirty="0"/>
          </a:p>
        </p:txBody>
      </p:sp>
      <p:sp>
        <p:nvSpPr>
          <p:cNvPr id="17" name="Shape 15"/>
          <p:cNvSpPr/>
          <p:nvPr/>
        </p:nvSpPr>
        <p:spPr>
          <a:xfrm>
            <a:off x="3009900" y="4138613"/>
            <a:ext cx="5257800" cy="485775"/>
          </a:xfrm>
          <a:prstGeom prst="rect">
            <a:avLst/>
          </a:prstGeom>
          <a:solidFill>
            <a:srgbClr val="FFFFFF">
              <a:alpha val="2000"/>
            </a:srgbClr>
          </a:solidFill>
          <a:ln/>
        </p:spPr>
      </p:sp>
      <p:sp>
        <p:nvSpPr>
          <p:cNvPr id="18" name="Shape 16"/>
          <p:cNvSpPr/>
          <p:nvPr/>
        </p:nvSpPr>
        <p:spPr>
          <a:xfrm>
            <a:off x="3009900" y="4614863"/>
            <a:ext cx="5257800" cy="9525"/>
          </a:xfrm>
          <a:prstGeom prst="rect">
            <a:avLst/>
          </a:prstGeom>
          <a:solidFill>
            <a:srgbClr val="2A2F3A"/>
          </a:solidFill>
          <a:ln/>
        </p:spPr>
      </p:sp>
      <p:sp>
        <p:nvSpPr>
          <p:cNvPr id="19" name="Text 17"/>
          <p:cNvSpPr/>
          <p:nvPr/>
        </p:nvSpPr>
        <p:spPr>
          <a:xfrm>
            <a:off x="3162300" y="4243388"/>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Survey, Question, Read, Recite, Review</a:t>
            </a:r>
            <a:endParaRPr lang="en-US" sz="1800" dirty="0"/>
          </a:p>
        </p:txBody>
      </p:sp>
      <p:sp>
        <p:nvSpPr>
          <p:cNvPr id="20" name="Shape 18"/>
          <p:cNvSpPr/>
          <p:nvPr/>
        </p:nvSpPr>
        <p:spPr>
          <a:xfrm>
            <a:off x="8267700" y="4138613"/>
            <a:ext cx="9220200" cy="485775"/>
          </a:xfrm>
          <a:prstGeom prst="rect">
            <a:avLst/>
          </a:prstGeom>
          <a:solidFill>
            <a:srgbClr val="FFFFFF">
              <a:alpha val="2000"/>
            </a:srgbClr>
          </a:solidFill>
          <a:ln/>
        </p:spPr>
      </p:sp>
      <p:sp>
        <p:nvSpPr>
          <p:cNvPr id="21" name="Shape 19"/>
          <p:cNvSpPr/>
          <p:nvPr/>
        </p:nvSpPr>
        <p:spPr>
          <a:xfrm>
            <a:off x="8267700" y="4614863"/>
            <a:ext cx="9220200" cy="9525"/>
          </a:xfrm>
          <a:prstGeom prst="rect">
            <a:avLst/>
          </a:prstGeom>
          <a:solidFill>
            <a:srgbClr val="2A2F3A"/>
          </a:solidFill>
          <a:ln/>
        </p:spPr>
      </p:sp>
      <p:sp>
        <p:nvSpPr>
          <p:cNvPr id="22" name="Text 20"/>
          <p:cNvSpPr/>
          <p:nvPr/>
        </p:nvSpPr>
        <p:spPr>
          <a:xfrm>
            <a:off x="8420100" y="4243388"/>
            <a:ext cx="919200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five-step structured reading method</a:t>
            </a:r>
            <a:endParaRPr lang="en-US" sz="1800" dirty="0"/>
          </a:p>
        </p:txBody>
      </p:sp>
      <p:sp>
        <p:nvSpPr>
          <p:cNvPr id="23" name="Shape 21"/>
          <p:cNvSpPr/>
          <p:nvPr/>
        </p:nvSpPr>
        <p:spPr>
          <a:xfrm>
            <a:off x="800100" y="5100638"/>
            <a:ext cx="2209800" cy="9525"/>
          </a:xfrm>
          <a:prstGeom prst="rect">
            <a:avLst/>
          </a:prstGeom>
          <a:solidFill>
            <a:srgbClr val="2A2F3A"/>
          </a:solidFill>
          <a:ln/>
        </p:spPr>
      </p:sp>
      <p:sp>
        <p:nvSpPr>
          <p:cNvPr id="24" name="Text 22"/>
          <p:cNvSpPr/>
          <p:nvPr/>
        </p:nvSpPr>
        <p:spPr>
          <a:xfrm>
            <a:off x="952500" y="4729163"/>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PQ4R</a:t>
            </a:r>
            <a:endParaRPr lang="en-US" sz="1800" dirty="0"/>
          </a:p>
        </p:txBody>
      </p:sp>
      <p:sp>
        <p:nvSpPr>
          <p:cNvPr id="25" name="Shape 23"/>
          <p:cNvSpPr/>
          <p:nvPr/>
        </p:nvSpPr>
        <p:spPr>
          <a:xfrm>
            <a:off x="3009900" y="5100638"/>
            <a:ext cx="5257800" cy="9525"/>
          </a:xfrm>
          <a:prstGeom prst="rect">
            <a:avLst/>
          </a:prstGeom>
          <a:solidFill>
            <a:srgbClr val="2A2F3A"/>
          </a:solidFill>
          <a:ln/>
        </p:spPr>
      </p:sp>
      <p:sp>
        <p:nvSpPr>
          <p:cNvPr id="26" name="Text 24"/>
          <p:cNvSpPr/>
          <p:nvPr/>
        </p:nvSpPr>
        <p:spPr>
          <a:xfrm>
            <a:off x="3162300" y="4729163"/>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Preview, Question, Read, Reflect, Recite, Review</a:t>
            </a:r>
            <a:endParaRPr lang="en-US" sz="1800" dirty="0"/>
          </a:p>
        </p:txBody>
      </p:sp>
      <p:sp>
        <p:nvSpPr>
          <p:cNvPr id="27" name="Shape 25"/>
          <p:cNvSpPr/>
          <p:nvPr/>
        </p:nvSpPr>
        <p:spPr>
          <a:xfrm>
            <a:off x="8267700" y="5100638"/>
            <a:ext cx="9220200" cy="9525"/>
          </a:xfrm>
          <a:prstGeom prst="rect">
            <a:avLst/>
          </a:prstGeom>
          <a:solidFill>
            <a:srgbClr val="2A2F3A"/>
          </a:solidFill>
          <a:ln/>
        </p:spPr>
      </p:sp>
      <p:sp>
        <p:nvSpPr>
          <p:cNvPr id="28" name="Text 26"/>
          <p:cNvSpPr/>
          <p:nvPr/>
        </p:nvSpPr>
        <p:spPr>
          <a:xfrm>
            <a:off x="8420100" y="4729163"/>
            <a:ext cx="919200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six-step variant adding deliberate connection-making</a:t>
            </a:r>
            <a:endParaRPr lang="en-US" sz="1800" dirty="0"/>
          </a:p>
        </p:txBody>
      </p:sp>
      <p:sp>
        <p:nvSpPr>
          <p:cNvPr id="29" name="Shape 27"/>
          <p:cNvSpPr/>
          <p:nvPr/>
        </p:nvSpPr>
        <p:spPr>
          <a:xfrm>
            <a:off x="800100" y="5110163"/>
            <a:ext cx="2209800" cy="485775"/>
          </a:xfrm>
          <a:prstGeom prst="rect">
            <a:avLst/>
          </a:prstGeom>
          <a:solidFill>
            <a:srgbClr val="FFFFFF">
              <a:alpha val="2000"/>
            </a:srgbClr>
          </a:solidFill>
          <a:ln/>
        </p:spPr>
      </p:sp>
      <p:sp>
        <p:nvSpPr>
          <p:cNvPr id="30" name="Shape 28"/>
          <p:cNvSpPr/>
          <p:nvPr/>
        </p:nvSpPr>
        <p:spPr>
          <a:xfrm>
            <a:off x="800100" y="5586413"/>
            <a:ext cx="2209800" cy="9525"/>
          </a:xfrm>
          <a:prstGeom prst="rect">
            <a:avLst/>
          </a:prstGeom>
          <a:solidFill>
            <a:srgbClr val="2A2F3A"/>
          </a:solidFill>
          <a:ln/>
        </p:spPr>
      </p:sp>
      <p:sp>
        <p:nvSpPr>
          <p:cNvPr id="31" name="Text 29"/>
          <p:cNvSpPr/>
          <p:nvPr/>
        </p:nvSpPr>
        <p:spPr>
          <a:xfrm>
            <a:off x="952500" y="5214938"/>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Leitner System</a:t>
            </a:r>
            <a:endParaRPr lang="en-US" sz="1800" dirty="0"/>
          </a:p>
        </p:txBody>
      </p:sp>
      <p:sp>
        <p:nvSpPr>
          <p:cNvPr id="32" name="Shape 30"/>
          <p:cNvSpPr/>
          <p:nvPr/>
        </p:nvSpPr>
        <p:spPr>
          <a:xfrm>
            <a:off x="3009900" y="5110163"/>
            <a:ext cx="5257800" cy="485775"/>
          </a:xfrm>
          <a:prstGeom prst="rect">
            <a:avLst/>
          </a:prstGeom>
          <a:solidFill>
            <a:srgbClr val="FFFFFF">
              <a:alpha val="2000"/>
            </a:srgbClr>
          </a:solidFill>
          <a:ln/>
        </p:spPr>
      </p:sp>
      <p:sp>
        <p:nvSpPr>
          <p:cNvPr id="33" name="Shape 31"/>
          <p:cNvSpPr/>
          <p:nvPr/>
        </p:nvSpPr>
        <p:spPr>
          <a:xfrm>
            <a:off x="3009900" y="5586413"/>
            <a:ext cx="5257800" cy="9525"/>
          </a:xfrm>
          <a:prstGeom prst="rect">
            <a:avLst/>
          </a:prstGeom>
          <a:solidFill>
            <a:srgbClr val="2A2F3A"/>
          </a:solidFill>
          <a:ln/>
        </p:spPr>
      </p:sp>
      <p:sp>
        <p:nvSpPr>
          <p:cNvPr id="34" name="Text 32"/>
          <p:cNvSpPr/>
          <p:nvPr/>
        </p:nvSpPr>
        <p:spPr>
          <a:xfrm>
            <a:off x="3162300" y="5214938"/>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35" name="Shape 33"/>
          <p:cNvSpPr/>
          <p:nvPr/>
        </p:nvSpPr>
        <p:spPr>
          <a:xfrm>
            <a:off x="8267700" y="5110163"/>
            <a:ext cx="9220200" cy="485775"/>
          </a:xfrm>
          <a:prstGeom prst="rect">
            <a:avLst/>
          </a:prstGeom>
          <a:solidFill>
            <a:srgbClr val="FFFFFF">
              <a:alpha val="2000"/>
            </a:srgbClr>
          </a:solidFill>
          <a:ln/>
        </p:spPr>
      </p:sp>
      <p:sp>
        <p:nvSpPr>
          <p:cNvPr id="36" name="Shape 34"/>
          <p:cNvSpPr/>
          <p:nvPr/>
        </p:nvSpPr>
        <p:spPr>
          <a:xfrm>
            <a:off x="8267700" y="5586413"/>
            <a:ext cx="9220200" cy="9525"/>
          </a:xfrm>
          <a:prstGeom prst="rect">
            <a:avLst/>
          </a:prstGeom>
          <a:solidFill>
            <a:srgbClr val="2A2F3A"/>
          </a:solidFill>
          <a:ln/>
        </p:spPr>
      </p:sp>
      <p:sp>
        <p:nvSpPr>
          <p:cNvPr id="37" name="Text 35"/>
          <p:cNvSpPr/>
          <p:nvPr/>
        </p:nvSpPr>
        <p:spPr>
          <a:xfrm>
            <a:off x="8420100" y="5214938"/>
            <a:ext cx="919200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Box-based scheduling of retrieval by recall success</a:t>
            </a:r>
            <a:endParaRPr lang="en-US" sz="1800" dirty="0"/>
          </a:p>
        </p:txBody>
      </p:sp>
      <p:sp>
        <p:nvSpPr>
          <p:cNvPr id="38" name="Shape 36"/>
          <p:cNvSpPr/>
          <p:nvPr/>
        </p:nvSpPr>
        <p:spPr>
          <a:xfrm>
            <a:off x="800100" y="6338888"/>
            <a:ext cx="2209800" cy="9525"/>
          </a:xfrm>
          <a:prstGeom prst="rect">
            <a:avLst/>
          </a:prstGeom>
          <a:solidFill>
            <a:srgbClr val="2A2F3A"/>
          </a:solidFill>
          <a:ln/>
        </p:spPr>
      </p:sp>
      <p:sp>
        <p:nvSpPr>
          <p:cNvPr id="39" name="Text 37"/>
          <p:cNvSpPr/>
          <p:nvPr/>
        </p:nvSpPr>
        <p:spPr>
          <a:xfrm>
            <a:off x="952500" y="5700713"/>
            <a:ext cx="1981200"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Feynman Technique</a:t>
            </a:r>
            <a:endParaRPr lang="en-US" sz="1800" dirty="0"/>
          </a:p>
        </p:txBody>
      </p:sp>
      <p:sp>
        <p:nvSpPr>
          <p:cNvPr id="40" name="Shape 38"/>
          <p:cNvSpPr/>
          <p:nvPr/>
        </p:nvSpPr>
        <p:spPr>
          <a:xfrm>
            <a:off x="3009900" y="6338888"/>
            <a:ext cx="5257800" cy="9525"/>
          </a:xfrm>
          <a:prstGeom prst="rect">
            <a:avLst/>
          </a:prstGeom>
          <a:solidFill>
            <a:srgbClr val="2A2F3A"/>
          </a:solidFill>
          <a:ln/>
        </p:spPr>
      </p:sp>
      <p:sp>
        <p:nvSpPr>
          <p:cNvPr id="41" name="Text 39"/>
          <p:cNvSpPr/>
          <p:nvPr/>
        </p:nvSpPr>
        <p:spPr>
          <a:xfrm>
            <a:off x="3162300" y="5700713"/>
            <a:ext cx="511073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42" name="Shape 40"/>
          <p:cNvSpPr/>
          <p:nvPr/>
        </p:nvSpPr>
        <p:spPr>
          <a:xfrm>
            <a:off x="8267700" y="6338888"/>
            <a:ext cx="9220200" cy="9525"/>
          </a:xfrm>
          <a:prstGeom prst="rect">
            <a:avLst/>
          </a:prstGeom>
          <a:solidFill>
            <a:srgbClr val="2A2F3A"/>
          </a:solidFill>
          <a:ln/>
        </p:spPr>
      </p:sp>
      <p:sp>
        <p:nvSpPr>
          <p:cNvPr id="43" name="Text 41"/>
          <p:cNvSpPr/>
          <p:nvPr/>
        </p:nvSpPr>
        <p:spPr>
          <a:xfrm>
            <a:off x="8420100" y="5700713"/>
            <a:ext cx="919200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Explaining simply to locate understanding gaps</a:t>
            </a:r>
            <a:endParaRPr lang="en-US" sz="1800" dirty="0"/>
          </a:p>
        </p:txBody>
      </p:sp>
      <p:sp>
        <p:nvSpPr>
          <p:cNvPr id="44" name="Shape 42"/>
          <p:cNvSpPr/>
          <p:nvPr/>
        </p:nvSpPr>
        <p:spPr>
          <a:xfrm>
            <a:off x="800100" y="6348413"/>
            <a:ext cx="2209800" cy="485775"/>
          </a:xfrm>
          <a:prstGeom prst="rect">
            <a:avLst/>
          </a:prstGeom>
          <a:solidFill>
            <a:srgbClr val="FFFFFF">
              <a:alpha val="2000"/>
            </a:srgbClr>
          </a:solidFill>
          <a:ln/>
        </p:spPr>
      </p:sp>
      <p:sp>
        <p:nvSpPr>
          <p:cNvPr id="45" name="Shape 43"/>
          <p:cNvSpPr/>
          <p:nvPr/>
        </p:nvSpPr>
        <p:spPr>
          <a:xfrm>
            <a:off x="800100" y="6824663"/>
            <a:ext cx="2209800" cy="9525"/>
          </a:xfrm>
          <a:prstGeom prst="rect">
            <a:avLst/>
          </a:prstGeom>
          <a:solidFill>
            <a:srgbClr val="2A2F3A"/>
          </a:solidFill>
          <a:ln/>
        </p:spPr>
      </p:sp>
      <p:sp>
        <p:nvSpPr>
          <p:cNvPr id="46" name="Text 44"/>
          <p:cNvSpPr/>
          <p:nvPr/>
        </p:nvSpPr>
        <p:spPr>
          <a:xfrm>
            <a:off x="952500" y="6453187"/>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Dual encoding</a:t>
            </a:r>
            <a:endParaRPr lang="en-US" sz="1800" dirty="0"/>
          </a:p>
        </p:txBody>
      </p:sp>
      <p:sp>
        <p:nvSpPr>
          <p:cNvPr id="47" name="Shape 45"/>
          <p:cNvSpPr/>
          <p:nvPr/>
        </p:nvSpPr>
        <p:spPr>
          <a:xfrm>
            <a:off x="3009900" y="6348413"/>
            <a:ext cx="5257800" cy="485775"/>
          </a:xfrm>
          <a:prstGeom prst="rect">
            <a:avLst/>
          </a:prstGeom>
          <a:solidFill>
            <a:srgbClr val="FFFFFF">
              <a:alpha val="2000"/>
            </a:srgbClr>
          </a:solidFill>
          <a:ln/>
        </p:spPr>
      </p:sp>
      <p:sp>
        <p:nvSpPr>
          <p:cNvPr id="48" name="Shape 46"/>
          <p:cNvSpPr/>
          <p:nvPr/>
        </p:nvSpPr>
        <p:spPr>
          <a:xfrm>
            <a:off x="3009900" y="6824663"/>
            <a:ext cx="5257800" cy="9525"/>
          </a:xfrm>
          <a:prstGeom prst="rect">
            <a:avLst/>
          </a:prstGeom>
          <a:solidFill>
            <a:srgbClr val="2A2F3A"/>
          </a:solidFill>
          <a:ln/>
        </p:spPr>
      </p:sp>
      <p:sp>
        <p:nvSpPr>
          <p:cNvPr id="49" name="Text 47"/>
          <p:cNvSpPr/>
          <p:nvPr/>
        </p:nvSpPr>
        <p:spPr>
          <a:xfrm>
            <a:off x="3162300" y="6453187"/>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50" name="Shape 48"/>
          <p:cNvSpPr/>
          <p:nvPr/>
        </p:nvSpPr>
        <p:spPr>
          <a:xfrm>
            <a:off x="8267700" y="6348413"/>
            <a:ext cx="9220200" cy="485775"/>
          </a:xfrm>
          <a:prstGeom prst="rect">
            <a:avLst/>
          </a:prstGeom>
          <a:solidFill>
            <a:srgbClr val="FFFFFF">
              <a:alpha val="2000"/>
            </a:srgbClr>
          </a:solidFill>
          <a:ln/>
        </p:spPr>
      </p:sp>
      <p:sp>
        <p:nvSpPr>
          <p:cNvPr id="51" name="Shape 49"/>
          <p:cNvSpPr/>
          <p:nvPr/>
        </p:nvSpPr>
        <p:spPr>
          <a:xfrm>
            <a:off x="8267700" y="6824663"/>
            <a:ext cx="9220200" cy="9525"/>
          </a:xfrm>
          <a:prstGeom prst="rect">
            <a:avLst/>
          </a:prstGeom>
          <a:solidFill>
            <a:srgbClr val="2A2F3A"/>
          </a:solidFill>
          <a:ln/>
        </p:spPr>
      </p:sp>
      <p:sp>
        <p:nvSpPr>
          <p:cNvPr id="52" name="Text 50"/>
          <p:cNvSpPr/>
          <p:nvPr/>
        </p:nvSpPr>
        <p:spPr>
          <a:xfrm>
            <a:off x="8420100" y="6453187"/>
            <a:ext cx="919200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Encoding through verbal and visual channels together</a:t>
            </a:r>
            <a:endParaRPr lang="en-US" sz="1800" dirty="0"/>
          </a:p>
        </p:txBody>
      </p:sp>
      <p:sp>
        <p:nvSpPr>
          <p:cNvPr id="53" name="Shape 51"/>
          <p:cNvSpPr/>
          <p:nvPr/>
        </p:nvSpPr>
        <p:spPr>
          <a:xfrm>
            <a:off x="800100" y="7310438"/>
            <a:ext cx="2209800" cy="9525"/>
          </a:xfrm>
          <a:prstGeom prst="rect">
            <a:avLst/>
          </a:prstGeom>
          <a:solidFill>
            <a:srgbClr val="2A2F3A"/>
          </a:solidFill>
          <a:ln/>
        </p:spPr>
      </p:sp>
      <p:sp>
        <p:nvSpPr>
          <p:cNvPr id="54" name="Text 52"/>
          <p:cNvSpPr/>
          <p:nvPr/>
        </p:nvSpPr>
        <p:spPr>
          <a:xfrm>
            <a:off x="952500" y="6938962"/>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Curve of Forgetting</a:t>
            </a:r>
            <a:endParaRPr lang="en-US" sz="1800" dirty="0"/>
          </a:p>
        </p:txBody>
      </p:sp>
      <p:sp>
        <p:nvSpPr>
          <p:cNvPr id="55" name="Shape 53"/>
          <p:cNvSpPr/>
          <p:nvPr/>
        </p:nvSpPr>
        <p:spPr>
          <a:xfrm>
            <a:off x="3009900" y="7310438"/>
            <a:ext cx="5257800" cy="9525"/>
          </a:xfrm>
          <a:prstGeom prst="rect">
            <a:avLst/>
          </a:prstGeom>
          <a:solidFill>
            <a:srgbClr val="2A2F3A"/>
          </a:solidFill>
          <a:ln/>
        </p:spPr>
      </p:sp>
      <p:sp>
        <p:nvSpPr>
          <p:cNvPr id="56" name="Text 54"/>
          <p:cNvSpPr/>
          <p:nvPr/>
        </p:nvSpPr>
        <p:spPr>
          <a:xfrm>
            <a:off x="3162300" y="6938962"/>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57" name="Shape 55"/>
          <p:cNvSpPr/>
          <p:nvPr/>
        </p:nvSpPr>
        <p:spPr>
          <a:xfrm>
            <a:off x="8267700" y="7310438"/>
            <a:ext cx="9220200" cy="9525"/>
          </a:xfrm>
          <a:prstGeom prst="rect">
            <a:avLst/>
          </a:prstGeom>
          <a:solidFill>
            <a:srgbClr val="2A2F3A"/>
          </a:solidFill>
          <a:ln/>
        </p:spPr>
      </p:sp>
      <p:sp>
        <p:nvSpPr>
          <p:cNvPr id="58" name="Text 56"/>
          <p:cNvSpPr/>
          <p:nvPr/>
        </p:nvSpPr>
        <p:spPr>
          <a:xfrm>
            <a:off x="8420100" y="6938962"/>
            <a:ext cx="919200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Steep decay of retention without deliberate intervention</a:t>
            </a:r>
            <a:endParaRPr lang="en-US" sz="1800" dirty="0"/>
          </a:p>
        </p:txBody>
      </p:sp>
      <p:sp>
        <p:nvSpPr>
          <p:cNvPr id="59" name="Shape 57"/>
          <p:cNvSpPr/>
          <p:nvPr/>
        </p:nvSpPr>
        <p:spPr>
          <a:xfrm>
            <a:off x="800100" y="7319963"/>
            <a:ext cx="2209800" cy="485775"/>
          </a:xfrm>
          <a:prstGeom prst="rect">
            <a:avLst/>
          </a:prstGeom>
          <a:solidFill>
            <a:srgbClr val="FFFFFF">
              <a:alpha val="2000"/>
            </a:srgbClr>
          </a:solidFill>
          <a:ln/>
        </p:spPr>
      </p:sp>
      <p:sp>
        <p:nvSpPr>
          <p:cNvPr id="60" name="Shape 58"/>
          <p:cNvSpPr/>
          <p:nvPr/>
        </p:nvSpPr>
        <p:spPr>
          <a:xfrm>
            <a:off x="800100" y="7796212"/>
            <a:ext cx="2209800" cy="9525"/>
          </a:xfrm>
          <a:prstGeom prst="rect">
            <a:avLst/>
          </a:prstGeom>
          <a:solidFill>
            <a:srgbClr val="2A2F3A"/>
          </a:solidFill>
          <a:ln/>
        </p:spPr>
      </p:sp>
      <p:sp>
        <p:nvSpPr>
          <p:cNvPr id="61" name="Text 59"/>
          <p:cNvSpPr/>
          <p:nvPr/>
        </p:nvSpPr>
        <p:spPr>
          <a:xfrm>
            <a:off x="952500" y="7424738"/>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Cognitive load</a:t>
            </a:r>
            <a:endParaRPr lang="en-US" sz="1800" dirty="0"/>
          </a:p>
        </p:txBody>
      </p:sp>
      <p:sp>
        <p:nvSpPr>
          <p:cNvPr id="62" name="Shape 60"/>
          <p:cNvSpPr/>
          <p:nvPr/>
        </p:nvSpPr>
        <p:spPr>
          <a:xfrm>
            <a:off x="3009900" y="7319963"/>
            <a:ext cx="5257800" cy="485775"/>
          </a:xfrm>
          <a:prstGeom prst="rect">
            <a:avLst/>
          </a:prstGeom>
          <a:solidFill>
            <a:srgbClr val="FFFFFF">
              <a:alpha val="2000"/>
            </a:srgbClr>
          </a:solidFill>
          <a:ln/>
        </p:spPr>
      </p:sp>
      <p:sp>
        <p:nvSpPr>
          <p:cNvPr id="63" name="Shape 61"/>
          <p:cNvSpPr/>
          <p:nvPr/>
        </p:nvSpPr>
        <p:spPr>
          <a:xfrm>
            <a:off x="3009900" y="7796212"/>
            <a:ext cx="5257800" cy="9525"/>
          </a:xfrm>
          <a:prstGeom prst="rect">
            <a:avLst/>
          </a:prstGeom>
          <a:solidFill>
            <a:srgbClr val="2A2F3A"/>
          </a:solidFill>
          <a:ln/>
        </p:spPr>
      </p:sp>
      <p:sp>
        <p:nvSpPr>
          <p:cNvPr id="64" name="Text 62"/>
          <p:cNvSpPr/>
          <p:nvPr/>
        </p:nvSpPr>
        <p:spPr>
          <a:xfrm>
            <a:off x="3162300" y="7424738"/>
            <a:ext cx="511073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65" name="Shape 63"/>
          <p:cNvSpPr/>
          <p:nvPr/>
        </p:nvSpPr>
        <p:spPr>
          <a:xfrm>
            <a:off x="8267700" y="7319963"/>
            <a:ext cx="9220200" cy="485775"/>
          </a:xfrm>
          <a:prstGeom prst="rect">
            <a:avLst/>
          </a:prstGeom>
          <a:solidFill>
            <a:srgbClr val="FFFFFF">
              <a:alpha val="2000"/>
            </a:srgbClr>
          </a:solidFill>
          <a:ln/>
        </p:spPr>
      </p:sp>
      <p:sp>
        <p:nvSpPr>
          <p:cNvPr id="66" name="Shape 64"/>
          <p:cNvSpPr/>
          <p:nvPr/>
        </p:nvSpPr>
        <p:spPr>
          <a:xfrm>
            <a:off x="8267700" y="7796212"/>
            <a:ext cx="9220200" cy="9525"/>
          </a:xfrm>
          <a:prstGeom prst="rect">
            <a:avLst/>
          </a:prstGeom>
          <a:solidFill>
            <a:srgbClr val="2A2F3A"/>
          </a:solidFill>
          <a:ln/>
        </p:spPr>
      </p:sp>
      <p:sp>
        <p:nvSpPr>
          <p:cNvPr id="67" name="Text 65"/>
          <p:cNvSpPr/>
          <p:nvPr/>
        </p:nvSpPr>
        <p:spPr>
          <a:xfrm>
            <a:off x="8420100" y="7424738"/>
            <a:ext cx="919200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limited capacity of working memory during learning</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5979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65509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3</a:t>
            </a:r>
            <a:endParaRPr lang="en-US" sz="3000" dirty="0"/>
          </a:p>
        </p:txBody>
      </p:sp>
      <p:sp>
        <p:nvSpPr>
          <p:cNvPr id="5" name="Shape 3"/>
          <p:cNvSpPr/>
          <p:nvPr/>
        </p:nvSpPr>
        <p:spPr>
          <a:xfrm>
            <a:off x="800100"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“RE-READING IS STUDYING”</a:t>
            </a:r>
            <a:endParaRPr lang="en-US" sz="1500" dirty="0"/>
          </a:p>
        </p:txBody>
      </p:sp>
      <p:sp>
        <p:nvSpPr>
          <p:cNvPr id="7" name="Text 5"/>
          <p:cNvSpPr/>
          <p:nvPr/>
        </p:nvSpPr>
        <p:spPr>
          <a:xfrm>
            <a:off x="1038225"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Re-reading exercises recognition. Only retrieval exercises the phase an exam or engagement actually tests.</a:t>
            </a:r>
            <a:endParaRPr lang="en-US" sz="1875" dirty="0"/>
          </a:p>
        </p:txBody>
      </p:sp>
      <p:sp>
        <p:nvSpPr>
          <p:cNvPr id="8" name="Shape 6"/>
          <p:cNvSpPr/>
          <p:nvPr/>
        </p:nvSpPr>
        <p:spPr>
          <a:xfrm>
            <a:off x="9248775"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“IF IT FEELS HARD, IT IS NOT WORKING”</a:t>
            </a:r>
            <a:endParaRPr lang="en-US" sz="1500" dirty="0"/>
          </a:p>
        </p:txBody>
      </p:sp>
      <p:sp>
        <p:nvSpPr>
          <p:cNvPr id="10" name="Text 8"/>
          <p:cNvSpPr/>
          <p:nvPr/>
        </p:nvSpPr>
        <p:spPr>
          <a:xfrm>
            <a:off x="9486900"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Effortful retrieval is the mechanism. Difficulty during recall is the evidence that learning is occurring.</a:t>
            </a:r>
            <a:endParaRPr lang="en-US" sz="1875" dirty="0"/>
          </a:p>
        </p:txBody>
      </p:sp>
      <p:sp>
        <p:nvSpPr>
          <p:cNvPr id="11" name="Shape 9"/>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“DUAL ENCODING MEANS I HAVE A LEARNING STYLE”</a:t>
            </a:r>
            <a:endParaRPr lang="en-US" sz="1500" dirty="0"/>
          </a:p>
        </p:txBody>
      </p:sp>
      <p:sp>
        <p:nvSpPr>
          <p:cNvPr id="13" name="Text 11"/>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Dual encoding says two channels beat one for everyone. It does not license abandoning text.</a:t>
            </a:r>
            <a:endParaRPr lang="en-US" sz="1875" dirty="0"/>
          </a:p>
        </p:txBody>
      </p:sp>
      <p:sp>
        <p:nvSpPr>
          <p:cNvPr id="14" name="Shape 12"/>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“THIS MODULE IS SOFT CONTENT”</a:t>
            </a:r>
            <a:endParaRPr lang="en-US" sz="1500" dirty="0"/>
          </a:p>
        </p:txBody>
      </p:sp>
      <p:sp>
        <p:nvSpPr>
          <p:cNvPr id="16" name="Text 14"/>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carries twenty-four stated objectives and five named techniques, and it determines whether the other twenty-one modules are retained.</a:t>
            </a:r>
            <a:endParaRPr lang="en-US" sz="1875" dirty="0"/>
          </a:p>
        </p:txBody>
      </p:sp>
      <p:sp>
        <p:nvSpPr>
          <p:cNvPr id="17" name="Shape 15"/>
          <p:cNvSpPr/>
          <p:nvPr/>
        </p:nvSpPr>
        <p:spPr>
          <a:xfrm>
            <a:off x="800100"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“READINESS IS A FEELING”</a:t>
            </a:r>
            <a:endParaRPr lang="en-US" sz="1500" dirty="0"/>
          </a:p>
        </p:txBody>
      </p:sp>
      <p:sp>
        <p:nvSpPr>
          <p:cNvPr id="19" name="Text 17"/>
          <p:cNvSpPr/>
          <p:nvPr/>
        </p:nvSpPr>
        <p:spPr>
          <a:xfrm>
            <a:off x="1038225"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Readiness is unaided performance on unseen material. Confidence and completion are not evidence.</a:t>
            </a:r>
            <a:endParaRPr lang="en-US" sz="1875" dirty="0"/>
          </a:p>
        </p:txBody>
      </p:sp>
      <p:sp>
        <p:nvSpPr>
          <p:cNvPr id="20" name="Shape 18"/>
          <p:cNvSpPr/>
          <p:nvPr/>
        </p:nvSpPr>
        <p:spPr>
          <a:xfrm>
            <a:off x="9248775"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“NARROW FOCUS EARLY TO GO DEEP”</a:t>
            </a:r>
            <a:endParaRPr lang="en-US" sz="1500" dirty="0"/>
          </a:p>
        </p:txBody>
      </p:sp>
      <p:sp>
        <p:nvSpPr>
          <p:cNvPr id="22" name="Text 20"/>
          <p:cNvSpPr/>
          <p:nvPr/>
        </p:nvSpPr>
        <p:spPr>
          <a:xfrm>
            <a:off x="9486900"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Breadth establishes where depth is warranted. Narrowing first produces expertise that cannot recognise its own limits.</a:t>
            </a:r>
            <a:endParaRPr lang="en-US" sz="187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540124" y="3273326"/>
            <a:ext cx="3207752"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3 IN CONTEXT</a:t>
            </a:r>
            <a:endParaRPr lang="en-US" sz="1650" dirty="0"/>
          </a:p>
        </p:txBody>
      </p:sp>
      <p:sp>
        <p:nvSpPr>
          <p:cNvPr id="4" name="Text 2"/>
          <p:cNvSpPr/>
          <p:nvPr/>
        </p:nvSpPr>
        <p:spPr>
          <a:xfrm>
            <a:off x="8676233" y="3749576"/>
            <a:ext cx="935534"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7</a:t>
            </a:r>
            <a:endParaRPr lang="en-US" sz="12000" dirty="0"/>
          </a:p>
        </p:txBody>
      </p:sp>
      <p:sp>
        <p:nvSpPr>
          <p:cNvPr id="5" name="Text 3"/>
          <p:cNvSpPr/>
          <p:nvPr/>
        </p:nvSpPr>
        <p:spPr>
          <a:xfrm>
            <a:off x="2550464" y="5502176"/>
            <a:ext cx="13186998"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Learning Units — the largest module in the opening block</a:t>
            </a:r>
            <a:endParaRPr lang="en-US" sz="3450" dirty="0"/>
          </a:p>
        </p:txBody>
      </p:sp>
      <p:sp>
        <p:nvSpPr>
          <p:cNvPr id="6" name="Text 4"/>
          <p:cNvSpPr/>
          <p:nvPr/>
        </p:nvSpPr>
        <p:spPr>
          <a:xfrm>
            <a:off x="3257550" y="6212681"/>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Twenty-four stated Learning Objectives and five named study techniques. Percentage weightings per module: information not defined in the official exam outline.</a:t>
            </a:r>
            <a:endParaRPr lang="en-US" sz="217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 learner reads a technique, recognises it later in a write-up, but cannot reproduce it unaided. Which technique addresses this gap most directly?</a:t>
            </a:r>
            <a:endParaRPr lang="en-US" sz="3000" dirty="0"/>
          </a:p>
        </p:txBody>
      </p:sp>
      <p:sp>
        <p:nvSpPr>
          <p:cNvPr id="5" name="Shape 3"/>
          <p:cNvSpPr/>
          <p:nvPr/>
        </p:nvSpPr>
        <p:spPr>
          <a:xfrm>
            <a:off x="800100" y="4143375"/>
            <a:ext cx="16687800" cy="800100"/>
          </a:xfrm>
          <a:prstGeom prst="roundRect">
            <a:avLst>
              <a:gd name="adj" fmla="val 16667"/>
            </a:avLst>
          </a:prstGeom>
          <a:solidFill>
            <a:srgbClr val="FF6A00">
              <a:alpha val="10000"/>
            </a:srgbClr>
          </a:solidFill>
          <a:ln w="9525">
            <a:solidFill>
              <a:srgbClr val="B85100"/>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202919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Retrieval Practice</a:t>
            </a:r>
            <a:endParaRPr lang="en-US" sz="1950" dirty="0"/>
          </a:p>
        </p:txBody>
      </p:sp>
      <p:sp>
        <p:nvSpPr>
          <p:cNvPr id="9" name="Shape 7"/>
          <p:cNvSpPr/>
          <p:nvPr/>
        </p:nvSpPr>
        <p:spPr>
          <a:xfrm>
            <a:off x="800100" y="5095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529457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Re-reading the original module a second time</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549946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Increasing the number of hours studied per day</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460166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Switching to a visual-only learning style</a:t>
            </a:r>
            <a:endParaRPr lang="en-US" sz="1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4192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191452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3 in seven lines</a:t>
            </a:r>
            <a:endParaRPr lang="en-US" sz="3000" dirty="0"/>
          </a:p>
        </p:txBody>
      </p:sp>
      <p:sp>
        <p:nvSpPr>
          <p:cNvPr id="5" name="Shape 3"/>
          <p:cNvSpPr/>
          <p:nvPr/>
        </p:nvSpPr>
        <p:spPr>
          <a:xfrm>
            <a:off x="800100" y="25812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27622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27717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3.1</a:t>
            </a:r>
            <a:endParaRPr lang="en-US" sz="1650" dirty="0"/>
          </a:p>
        </p:txBody>
      </p:sp>
      <p:sp>
        <p:nvSpPr>
          <p:cNvPr id="8" name="Text 6"/>
          <p:cNvSpPr/>
          <p:nvPr/>
        </p:nvSpPr>
        <p:spPr>
          <a:xfrm>
            <a:off x="1952625" y="2836069"/>
            <a:ext cx="1111327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Retrieval is the trainable phase; the Curve of Forgetting and cognitive load are the two obstacles</a:t>
            </a:r>
            <a:endParaRPr lang="en-US" sz="1950" dirty="0"/>
          </a:p>
        </p:txBody>
      </p:sp>
      <p:sp>
        <p:nvSpPr>
          <p:cNvPr id="9" name="Shape 7"/>
          <p:cNvSpPr/>
          <p:nvPr/>
        </p:nvSpPr>
        <p:spPr>
          <a:xfrm>
            <a:off x="800100" y="349567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36766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36861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3.2</a:t>
            </a:r>
            <a:endParaRPr lang="en-US" sz="1650" dirty="0"/>
          </a:p>
        </p:txBody>
      </p:sp>
      <p:sp>
        <p:nvSpPr>
          <p:cNvPr id="12" name="Text 10"/>
          <p:cNvSpPr/>
          <p:nvPr/>
        </p:nvSpPr>
        <p:spPr>
          <a:xfrm>
            <a:off x="1952625" y="3750469"/>
            <a:ext cx="1075605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Digital material, unknown scenarios and remote study each carry their own distinct challenge</a:t>
            </a:r>
            <a:endParaRPr lang="en-US" sz="1950" dirty="0"/>
          </a:p>
        </p:txBody>
      </p:sp>
      <p:sp>
        <p:nvSpPr>
          <p:cNvPr id="13" name="Shape 11"/>
          <p:cNvSpPr/>
          <p:nvPr/>
        </p:nvSpPr>
        <p:spPr>
          <a:xfrm>
            <a:off x="800100" y="4410075"/>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45910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46005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3.3</a:t>
            </a:r>
            <a:endParaRPr lang="en-US" sz="1650" dirty="0"/>
          </a:p>
        </p:txBody>
      </p:sp>
      <p:sp>
        <p:nvSpPr>
          <p:cNvPr id="16" name="Text 14"/>
          <p:cNvSpPr/>
          <p:nvPr/>
        </p:nvSpPr>
        <p:spPr>
          <a:xfrm>
            <a:off x="1952625" y="4664869"/>
            <a:ext cx="975799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 Demonstrative Methodology shows reasoning and requires the learner to extend it</a:t>
            </a:r>
            <a:endParaRPr lang="en-US" sz="1950" dirty="0"/>
          </a:p>
        </p:txBody>
      </p:sp>
      <p:sp>
        <p:nvSpPr>
          <p:cNvPr id="17" name="Shape 15"/>
          <p:cNvSpPr/>
          <p:nvPr/>
        </p:nvSpPr>
        <p:spPr>
          <a:xfrm>
            <a:off x="800100" y="53244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55054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55149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3.4</a:t>
            </a:r>
            <a:endParaRPr lang="en-US" sz="1650" dirty="0"/>
          </a:p>
        </p:txBody>
      </p:sp>
      <p:sp>
        <p:nvSpPr>
          <p:cNvPr id="20" name="Text 18"/>
          <p:cNvSpPr/>
          <p:nvPr/>
        </p:nvSpPr>
        <p:spPr>
          <a:xfrm>
            <a:off x="1952625" y="5579269"/>
            <a:ext cx="991400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The chmod -x chmod case study models expanding beyond the given information set</a:t>
            </a:r>
            <a:endParaRPr lang="en-US" sz="1950" dirty="0"/>
          </a:p>
        </p:txBody>
      </p:sp>
      <p:sp>
        <p:nvSpPr>
          <p:cNvPr id="21" name="Shape 19"/>
          <p:cNvSpPr/>
          <p:nvPr/>
        </p:nvSpPr>
        <p:spPr>
          <a:xfrm>
            <a:off x="800100" y="6238875"/>
            <a:ext cx="16687800" cy="800100"/>
          </a:xfrm>
          <a:prstGeom prst="roundRect">
            <a:avLst>
              <a:gd name="adj" fmla="val 16667"/>
            </a:avLst>
          </a:prstGeom>
          <a:solidFill>
            <a:srgbClr val="FFFFFF">
              <a:alpha val="2000"/>
            </a:srgbClr>
          </a:solidFill>
          <a:ln w="9525">
            <a:solidFill>
              <a:srgbClr val="2A2F3A"/>
            </a:solidFill>
            <a:prstDash val="solid"/>
          </a:ln>
        </p:spPr>
      </p:sp>
      <p:sp>
        <p:nvSpPr>
          <p:cNvPr id="22" name="Shape 20"/>
          <p:cNvSpPr/>
          <p:nvPr/>
        </p:nvSpPr>
        <p:spPr>
          <a:xfrm>
            <a:off x="1038225" y="6419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3" name="Text 21"/>
          <p:cNvSpPr/>
          <p:nvPr/>
        </p:nvSpPr>
        <p:spPr>
          <a:xfrm>
            <a:off x="1009650" y="6429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3.5</a:t>
            </a:r>
            <a:endParaRPr lang="en-US" sz="1650" dirty="0"/>
          </a:p>
        </p:txBody>
      </p:sp>
      <p:sp>
        <p:nvSpPr>
          <p:cNvPr id="24" name="Text 22"/>
          <p:cNvSpPr/>
          <p:nvPr/>
        </p:nvSpPr>
        <p:spPr>
          <a:xfrm>
            <a:off x="1952625" y="6493669"/>
            <a:ext cx="1136645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Retrieval Practice, Spaced Practice, SQ3R, PQ4R, the Feynman Technique, and the Leitner System</a:t>
            </a:r>
            <a:endParaRPr lang="en-US" sz="1950" dirty="0"/>
          </a:p>
        </p:txBody>
      </p:sp>
      <p:sp>
        <p:nvSpPr>
          <p:cNvPr id="25" name="Shape 23"/>
          <p:cNvSpPr/>
          <p:nvPr/>
        </p:nvSpPr>
        <p:spPr>
          <a:xfrm>
            <a:off x="800100" y="7153275"/>
            <a:ext cx="16687800" cy="800100"/>
          </a:xfrm>
          <a:prstGeom prst="roundRect">
            <a:avLst>
              <a:gd name="adj" fmla="val 16667"/>
            </a:avLst>
          </a:prstGeom>
          <a:solidFill>
            <a:srgbClr val="FFFFFF">
              <a:alpha val="2000"/>
            </a:srgbClr>
          </a:solidFill>
          <a:ln w="9525">
            <a:solidFill>
              <a:srgbClr val="2A2F3A"/>
            </a:solidFill>
            <a:prstDash val="solid"/>
          </a:ln>
        </p:spPr>
      </p:sp>
      <p:sp>
        <p:nvSpPr>
          <p:cNvPr id="26" name="Shape 24"/>
          <p:cNvSpPr/>
          <p:nvPr/>
        </p:nvSpPr>
        <p:spPr>
          <a:xfrm>
            <a:off x="1038225" y="73342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7" name="Text 25"/>
          <p:cNvSpPr/>
          <p:nvPr/>
        </p:nvSpPr>
        <p:spPr>
          <a:xfrm>
            <a:off x="1009650" y="73437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3.6</a:t>
            </a:r>
            <a:endParaRPr lang="en-US" sz="1650" dirty="0"/>
          </a:p>
        </p:txBody>
      </p:sp>
      <p:sp>
        <p:nvSpPr>
          <p:cNvPr id="28" name="Text 26"/>
          <p:cNvSpPr/>
          <p:nvPr/>
        </p:nvSpPr>
        <p:spPr>
          <a:xfrm>
            <a:off x="1952625" y="7408069"/>
            <a:ext cx="751801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Manage exam stress deliberately; readiness is evidenced, not felt</a:t>
            </a:r>
            <a:endParaRPr lang="en-US" sz="1950" dirty="0"/>
          </a:p>
        </p:txBody>
      </p:sp>
      <p:sp>
        <p:nvSpPr>
          <p:cNvPr id="29" name="Shape 27"/>
          <p:cNvSpPr/>
          <p:nvPr/>
        </p:nvSpPr>
        <p:spPr>
          <a:xfrm>
            <a:off x="800100" y="8067675"/>
            <a:ext cx="16687800" cy="800100"/>
          </a:xfrm>
          <a:prstGeom prst="roundRect">
            <a:avLst>
              <a:gd name="adj" fmla="val 16667"/>
            </a:avLst>
          </a:prstGeom>
          <a:solidFill>
            <a:srgbClr val="FFFFFF">
              <a:alpha val="2000"/>
            </a:srgbClr>
          </a:solidFill>
          <a:ln w="9525">
            <a:solidFill>
              <a:srgbClr val="2A2F3A"/>
            </a:solidFill>
            <a:prstDash val="solid"/>
          </a:ln>
        </p:spPr>
      </p:sp>
      <p:sp>
        <p:nvSpPr>
          <p:cNvPr id="30" name="Shape 28"/>
          <p:cNvSpPr/>
          <p:nvPr/>
        </p:nvSpPr>
        <p:spPr>
          <a:xfrm>
            <a:off x="1038225" y="82486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31" name="Text 29"/>
          <p:cNvSpPr/>
          <p:nvPr/>
        </p:nvSpPr>
        <p:spPr>
          <a:xfrm>
            <a:off x="1009650" y="82581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3.7</a:t>
            </a:r>
            <a:endParaRPr lang="en-US" sz="1650" dirty="0"/>
          </a:p>
        </p:txBody>
      </p:sp>
      <p:sp>
        <p:nvSpPr>
          <p:cNvPr id="32" name="Text 30"/>
          <p:cNvSpPr/>
          <p:nvPr/>
        </p:nvSpPr>
        <p:spPr>
          <a:xfrm>
            <a:off x="1952625" y="8322469"/>
            <a:ext cx="1017373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Plan long-term, allot time in blocks, narrow focus only after breadth, and use co-learners</a:t>
            </a:r>
            <a:endParaRPr lang="en-US" sz="1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4: Report Writing for Penetration Testers</a:t>
            </a:r>
            <a:endParaRPr lang="en-US" sz="5250" dirty="0"/>
          </a:p>
        </p:txBody>
      </p:sp>
      <p:sp>
        <p:nvSpPr>
          <p:cNvPr id="5" name="Shape 3"/>
          <p:cNvSpPr/>
          <p:nvPr/>
        </p:nvSpPr>
        <p:spPr>
          <a:xfrm>
            <a:off x="800100"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Note-taking structure and portability, and writing technical reports including the executive summary and findings.</a:t>
            </a:r>
            <a:endParaRPr lang="en-US" sz="1875" dirty="0"/>
          </a:p>
        </p:txBody>
      </p:sp>
      <p:sp>
        <p:nvSpPr>
          <p:cNvPr id="8" name="Shape 6"/>
          <p:cNvSpPr/>
          <p:nvPr/>
        </p:nvSpPr>
        <p:spPr>
          <a:xfrm>
            <a:off x="6426175" y="2128838"/>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Have a three-state tracker running for Modules 1 to 3, and at least one technique from Objective 3.5 in active use.</a:t>
            </a:r>
            <a:endParaRPr lang="en-US" sz="1875" dirty="0"/>
          </a:p>
        </p:txBody>
      </p:sp>
      <p:sp>
        <p:nvSpPr>
          <p:cNvPr id="11" name="Shape 9"/>
          <p:cNvSpPr/>
          <p:nvPr/>
        </p:nvSpPr>
        <p:spPr>
          <a:xfrm>
            <a:off x="12052250" y="2128838"/>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Feynman pass from Practical skill 3. Module 4 asks you to write for a reader, and this is how you find out if you actually can.</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2026-08-01T00:30:02Z</dcterms:created>
  <dcterms:modified xsi:type="dcterms:W3CDTF">2026-08-01T00:30:02Z</dcterms:modified>
</cp:coreProperties>
</file>