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16. The Linux mirror of Module 15 — same enumerate-then-abuse shape, entirely different permission model. Four units this time, not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units, one more than Module 15's Windows equivalent. The Linux permission model is broken into more distinct problem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16 of 24. Directly parallels Module 15 in shape and directly precedes the tunnelling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Same principle as Module 15, entirely different mechanics — Linux has no services registry or unquoted-path parsing equivalent.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16.1. Three objectives on the Linux permission model and how to survey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16.1, task 1. The conceptual foundation — read/write/execute, ownership, and the special bits that make later objectives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16.1, task 2. Manual enumeration — checking permissions, ownership and configuration directly rather than trusting a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16.1, task 3. Automated tools, same caveat as Module 15 — verify before trusting.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16.1 before exposed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16.2. Three objectives on credential material left behind rather than protected by a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16.2, task 1. Shell history — the Linux counterpart to Module 15's PowerShell history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16.2, task 2. User trails beyond shell history — configuration files, saved sessions, and other user-owned artefacts.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16.2, task 3. System-level trails — logs and configuration outside any single user's home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16.2 before file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16.3. Two objectives on permissions that are simply wrong, rather than credentials left carelessly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16.3, task 1. Cron jobs — the Linux equivalent of Module 15's Scheduled Tasks, same underlying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16.3, task 2. Insecure file permissions generally — the broader category cron jobs are one specific instance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16.3 before system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16.4 — three objectives on components that are insecure by configuration rather than by simple file permission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16.4, task 1. SUID and Linux capabilities — the special bits from Objective 16.1 made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16.4, task 2. Special sudo permissions — a configuration-level weakness rather than a file permission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16.4, task 3. Kernel exploits — the Linux equivalent of Module 15's known-exploit escalation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slide summarising the whole module. This is the slide learners keep pinned during practical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Five minutes in pairs. Listening for a correct enumeration-first approach and correct reasoning about which path is lowest-risk to attempt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1. Verifying automated output manually — the exact same discipline as Module 15's equivalent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2. Searching both user and system trails systematically rather than stopping at shell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3. Testing sudo and SUID findings carefully to confirm real exploitability before committing.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closing the module, comparing directly to Module 15. This is the slide that ties the two privilege escalation modules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Acronym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Misconceptions. The 'SUID always means instant root' one is common and worth correcting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number. Four units — one more than Module 15's Windows equivalent, reflecting how the Linux permission model splits into more distinct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Answer is A. Also appears as Q1 of the module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Four units in four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Preview Module 17 — from escalating on one host to moving traffic through the network beyond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16 OF 24 · OFFSEC PEN-200 (PWK)</a:t>
            </a:r>
            <a:endParaRPr lang="en-US" sz="1650" dirty="0"/>
          </a:p>
        </p:txBody>
      </p:sp>
      <p:sp>
        <p:nvSpPr>
          <p:cNvPr id="4" name="Text 2"/>
          <p:cNvSpPr/>
          <p:nvPr/>
        </p:nvSpPr>
        <p:spPr>
          <a:xfrm>
            <a:off x="800100" y="1181100"/>
            <a:ext cx="18356580" cy="878160"/>
          </a:xfrm>
          <a:prstGeom prst="rect">
            <a:avLst/>
          </a:prstGeom>
          <a:noFill/>
          <a:ln/>
        </p:spPr>
        <p:txBody>
          <a:bodyPr wrap="square" lIns="25400" tIns="25400" rIns="25400" bIns="25400" rtlCol="0" anchor="t">
            <a:normAutofit/>
          </a:bodyPr>
          <a:lstStyle/>
          <a:p>
            <a:pPr algn="l" indent="0" marL="0">
              <a:lnSpc>
                <a:spcPct val="91399"/>
              </a:lnSpc>
              <a:buNone/>
            </a:pPr>
            <a:r>
              <a:rPr lang="en-US" sz="6300" b="1" spc="-37" kern="0" dirty="0">
                <a:solidFill>
                  <a:srgbClr val="F5F7FB"/>
                </a:solidFill>
                <a:latin typeface="Arial" pitchFamily="34" charset="0"/>
                <a:ea typeface="Arial" pitchFamily="34" charset="-122"/>
                <a:cs typeface="Arial" pitchFamily="34" charset="-120"/>
              </a:rPr>
              <a:t>Linux Privilege Escalation</a:t>
            </a:r>
            <a:endParaRPr lang="en-US" sz="6300" dirty="0"/>
          </a:p>
        </p:txBody>
      </p:sp>
      <p:sp>
        <p:nvSpPr>
          <p:cNvPr id="5" name="Text 3"/>
          <p:cNvSpPr/>
          <p:nvPr/>
        </p:nvSpPr>
        <p:spPr>
          <a:xfrm>
            <a:off x="800100" y="2345010"/>
            <a:ext cx="13735050" cy="977205"/>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B8C0CF"/>
                </a:solidFill>
                <a:latin typeface="Arial" pitchFamily="34" charset="0"/>
                <a:ea typeface="Arial" pitchFamily="34" charset="-122"/>
                <a:cs typeface="Arial" pitchFamily="34" charset="-120"/>
              </a:rPr>
              <a:t>Enumerating Linux thoroughly, then exposed credentials, insecure file permissions, and insecure system components including SUID and sudo.</a:t>
            </a:r>
            <a:endParaRPr lang="en-US" sz="2550" dirty="0"/>
          </a:p>
        </p:txBody>
      </p:sp>
      <p:sp>
        <p:nvSpPr>
          <p:cNvPr id="6" name="Shape 4"/>
          <p:cNvSpPr/>
          <p:nvPr/>
        </p:nvSpPr>
        <p:spPr>
          <a:xfrm>
            <a:off x="800100" y="9210675"/>
            <a:ext cx="16687800" cy="9525"/>
          </a:xfrm>
          <a:prstGeom prst="rect">
            <a:avLst/>
          </a:prstGeom>
          <a:solidFill>
            <a:srgbClr val="2A2F3A"/>
          </a:solidFill>
          <a:ln/>
        </p:spPr>
      </p:sp>
      <p:sp>
        <p:nvSpPr>
          <p:cNvPr id="7" name="Text 5"/>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8" name="Text 6"/>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62458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LEARNING OBJECTIVES</a:t>
            </a:r>
            <a:endParaRPr lang="en-US" sz="1650" dirty="0"/>
          </a:p>
        </p:txBody>
      </p:sp>
      <p:sp>
        <p:nvSpPr>
          <p:cNvPr id="4" name="Text 2"/>
          <p:cNvSpPr/>
          <p:nvPr/>
        </p:nvSpPr>
        <p:spPr>
          <a:xfrm>
            <a:off x="800100" y="3119884"/>
            <a:ext cx="18356580" cy="618158"/>
          </a:xfrm>
          <a:prstGeom prst="rect">
            <a:avLst/>
          </a:prstGeom>
          <a:noFill/>
          <a:ln/>
        </p:spPr>
        <p:txBody>
          <a:bodyPr wrap="square" lIns="25400" tIns="25400" rIns="25400" bIns="25400" rtlCol="0" anchor="t">
            <a:normAutofit/>
          </a:bodyPr>
          <a:lstStyle/>
          <a:p>
            <a:pPr algn="l" indent="0" marL="0">
              <a:lnSpc>
                <a:spcPct val="90896"/>
              </a:lnSpc>
              <a:buNone/>
            </a:pPr>
            <a:r>
              <a:rPr lang="en-US" sz="4350" b="1" spc="-37" kern="0" dirty="0">
                <a:solidFill>
                  <a:srgbClr val="F5F7FB"/>
                </a:solidFill>
                <a:latin typeface="Arial" pitchFamily="34" charset="0"/>
                <a:ea typeface="Arial" pitchFamily="34" charset="-122"/>
                <a:cs typeface="Arial" pitchFamily="34" charset="-120"/>
              </a:rPr>
              <a:t>What this module covers</a:t>
            </a:r>
            <a:endParaRPr lang="en-US" sz="4350" dirty="0"/>
          </a:p>
        </p:txBody>
      </p:sp>
      <p:sp>
        <p:nvSpPr>
          <p:cNvPr id="5" name="Shape 3"/>
          <p:cNvSpPr/>
          <p:nvPr/>
        </p:nvSpPr>
        <p:spPr>
          <a:xfrm>
            <a:off x="800100" y="4004742"/>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18571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19524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16.1</a:t>
            </a:r>
            <a:endParaRPr lang="en-US" sz="1650" dirty="0"/>
          </a:p>
        </p:txBody>
      </p:sp>
      <p:sp>
        <p:nvSpPr>
          <p:cNvPr id="8" name="Text 6"/>
          <p:cNvSpPr/>
          <p:nvPr/>
        </p:nvSpPr>
        <p:spPr>
          <a:xfrm>
            <a:off x="1952625" y="4259535"/>
            <a:ext cx="2177192"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Enumerating Linux</a:t>
            </a:r>
            <a:endParaRPr lang="en-US" sz="1950" dirty="0"/>
          </a:p>
        </p:txBody>
      </p:sp>
      <p:sp>
        <p:nvSpPr>
          <p:cNvPr id="9" name="Shape 7"/>
          <p:cNvSpPr/>
          <p:nvPr/>
        </p:nvSpPr>
        <p:spPr>
          <a:xfrm>
            <a:off x="800100" y="4957242"/>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513821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14774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16.2</a:t>
            </a:r>
            <a:endParaRPr lang="en-US" sz="1650" dirty="0"/>
          </a:p>
        </p:txBody>
      </p:sp>
      <p:sp>
        <p:nvSpPr>
          <p:cNvPr id="12" name="Text 10"/>
          <p:cNvSpPr/>
          <p:nvPr/>
        </p:nvSpPr>
        <p:spPr>
          <a:xfrm>
            <a:off x="1952625" y="5212035"/>
            <a:ext cx="3882077"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Exposed Confidential Information</a:t>
            </a:r>
            <a:endParaRPr lang="en-US" sz="1950" dirty="0"/>
          </a:p>
        </p:txBody>
      </p:sp>
      <p:sp>
        <p:nvSpPr>
          <p:cNvPr id="13" name="Shape 11"/>
          <p:cNvSpPr/>
          <p:nvPr/>
        </p:nvSpPr>
        <p:spPr>
          <a:xfrm>
            <a:off x="800100" y="5909742"/>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609071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10024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16.3</a:t>
            </a:r>
            <a:endParaRPr lang="en-US" sz="1650" dirty="0"/>
          </a:p>
        </p:txBody>
      </p:sp>
      <p:sp>
        <p:nvSpPr>
          <p:cNvPr id="16" name="Text 14"/>
          <p:cNvSpPr/>
          <p:nvPr/>
        </p:nvSpPr>
        <p:spPr>
          <a:xfrm>
            <a:off x="1952625" y="6164535"/>
            <a:ext cx="2941394"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Insecure File Permissions</a:t>
            </a:r>
            <a:endParaRPr lang="en-US" sz="1950" dirty="0"/>
          </a:p>
        </p:txBody>
      </p:sp>
      <p:sp>
        <p:nvSpPr>
          <p:cNvPr id="17" name="Shape 15"/>
          <p:cNvSpPr/>
          <p:nvPr/>
        </p:nvSpPr>
        <p:spPr>
          <a:xfrm>
            <a:off x="800100" y="6862242"/>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704321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705274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16.4</a:t>
            </a:r>
            <a:endParaRPr lang="en-US" sz="1650" dirty="0"/>
          </a:p>
        </p:txBody>
      </p:sp>
      <p:sp>
        <p:nvSpPr>
          <p:cNvPr id="20" name="Text 18"/>
          <p:cNvSpPr/>
          <p:nvPr/>
        </p:nvSpPr>
        <p:spPr>
          <a:xfrm>
            <a:off x="1952625" y="7117035"/>
            <a:ext cx="3513564"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Insecure System Components</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187977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COURSE CONTEXT · 24 LEARNING MODULES</a:t>
            </a:r>
            <a:endParaRPr lang="en-US" sz="1650" dirty="0"/>
          </a:p>
        </p:txBody>
      </p:sp>
      <p:sp>
        <p:nvSpPr>
          <p:cNvPr id="4" name="Text 2"/>
          <p:cNvSpPr/>
          <p:nvPr/>
        </p:nvSpPr>
        <p:spPr>
          <a:xfrm>
            <a:off x="800100" y="237507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Where Module 16 sits in PEN-200</a:t>
            </a:r>
            <a:endParaRPr lang="en-US" sz="3000" dirty="0"/>
          </a:p>
        </p:txBody>
      </p:sp>
      <p:sp>
        <p:nvSpPr>
          <p:cNvPr id="5" name="Shape 3"/>
          <p:cNvSpPr/>
          <p:nvPr/>
        </p:nvSpPr>
        <p:spPr>
          <a:xfrm>
            <a:off x="80010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6" name="Text 4"/>
          <p:cNvSpPr/>
          <p:nvPr/>
        </p:nvSpPr>
        <p:spPr>
          <a:xfrm>
            <a:off x="94297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942975" y="3399011"/>
            <a:ext cx="234225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General Course Introduction</a:t>
            </a:r>
            <a:endParaRPr lang="en-US" sz="1425" dirty="0"/>
          </a:p>
        </p:txBody>
      </p:sp>
      <p:sp>
        <p:nvSpPr>
          <p:cNvPr id="8" name="Shape 6"/>
          <p:cNvSpPr/>
          <p:nvPr/>
        </p:nvSpPr>
        <p:spPr>
          <a:xfrm>
            <a:off x="500062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9" name="Text 7"/>
          <p:cNvSpPr/>
          <p:nvPr/>
        </p:nvSpPr>
        <p:spPr>
          <a:xfrm>
            <a:off x="514350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02</a:t>
            </a:r>
            <a:endParaRPr lang="en-US" sz="1200" dirty="0"/>
          </a:p>
        </p:txBody>
      </p:sp>
      <p:sp>
        <p:nvSpPr>
          <p:cNvPr id="10" name="Text 8"/>
          <p:cNvSpPr/>
          <p:nvPr/>
        </p:nvSpPr>
        <p:spPr>
          <a:xfrm>
            <a:off x="5143500" y="3399011"/>
            <a:ext cx="242537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Cybersecurity</a:t>
            </a:r>
            <a:endParaRPr lang="en-US" sz="1425" dirty="0"/>
          </a:p>
        </p:txBody>
      </p:sp>
      <p:sp>
        <p:nvSpPr>
          <p:cNvPr id="11" name="Shape 9"/>
          <p:cNvSpPr/>
          <p:nvPr/>
        </p:nvSpPr>
        <p:spPr>
          <a:xfrm>
            <a:off x="920115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2" name="Text 10"/>
          <p:cNvSpPr/>
          <p:nvPr/>
        </p:nvSpPr>
        <p:spPr>
          <a:xfrm>
            <a:off x="934402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9344025" y="3399011"/>
            <a:ext cx="238541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Effective Learning Strategies</a:t>
            </a:r>
            <a:endParaRPr lang="en-US" sz="1425" dirty="0"/>
          </a:p>
        </p:txBody>
      </p:sp>
      <p:sp>
        <p:nvSpPr>
          <p:cNvPr id="14" name="Shape 12"/>
          <p:cNvSpPr/>
          <p:nvPr/>
        </p:nvSpPr>
        <p:spPr>
          <a:xfrm>
            <a:off x="1340167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5" name="Text 13"/>
          <p:cNvSpPr/>
          <p:nvPr/>
        </p:nvSpPr>
        <p:spPr>
          <a:xfrm>
            <a:off x="1354455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04</a:t>
            </a:r>
            <a:endParaRPr lang="en-US" sz="1200" dirty="0"/>
          </a:p>
        </p:txBody>
      </p:sp>
      <p:sp>
        <p:nvSpPr>
          <p:cNvPr id="16" name="Text 14"/>
          <p:cNvSpPr/>
          <p:nvPr/>
        </p:nvSpPr>
        <p:spPr>
          <a:xfrm>
            <a:off x="13544550" y="3399011"/>
            <a:ext cx="312066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Report Writing for Penetration Testers</a:t>
            </a:r>
            <a:endParaRPr lang="en-US" sz="1425" dirty="0"/>
          </a:p>
        </p:txBody>
      </p:sp>
      <p:sp>
        <p:nvSpPr>
          <p:cNvPr id="17" name="Shape 15"/>
          <p:cNvSpPr/>
          <p:nvPr/>
        </p:nvSpPr>
        <p:spPr>
          <a:xfrm>
            <a:off x="80010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18" name="Text 16"/>
          <p:cNvSpPr/>
          <p:nvPr/>
        </p:nvSpPr>
        <p:spPr>
          <a:xfrm>
            <a:off x="94297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05</a:t>
            </a:r>
            <a:endParaRPr lang="en-US" sz="1200" dirty="0"/>
          </a:p>
        </p:txBody>
      </p:sp>
      <p:sp>
        <p:nvSpPr>
          <p:cNvPr id="19" name="Text 17"/>
          <p:cNvSpPr/>
          <p:nvPr/>
        </p:nvSpPr>
        <p:spPr>
          <a:xfrm>
            <a:off x="942975" y="4215780"/>
            <a:ext cx="183118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Information Gathering</a:t>
            </a:r>
            <a:endParaRPr lang="en-US" sz="1425" dirty="0"/>
          </a:p>
        </p:txBody>
      </p:sp>
      <p:sp>
        <p:nvSpPr>
          <p:cNvPr id="20" name="Shape 18"/>
          <p:cNvSpPr/>
          <p:nvPr/>
        </p:nvSpPr>
        <p:spPr>
          <a:xfrm>
            <a:off x="500062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1" name="Text 19"/>
          <p:cNvSpPr/>
          <p:nvPr/>
        </p:nvSpPr>
        <p:spPr>
          <a:xfrm>
            <a:off x="514350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06</a:t>
            </a:r>
            <a:endParaRPr lang="en-US" sz="1200" dirty="0"/>
          </a:p>
        </p:txBody>
      </p:sp>
      <p:sp>
        <p:nvSpPr>
          <p:cNvPr id="22" name="Text 20"/>
          <p:cNvSpPr/>
          <p:nvPr/>
        </p:nvSpPr>
        <p:spPr>
          <a:xfrm>
            <a:off x="5143500" y="4215780"/>
            <a:ext cx="18587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Vulnerability Scanning</a:t>
            </a:r>
            <a:endParaRPr lang="en-US" sz="1425" dirty="0"/>
          </a:p>
        </p:txBody>
      </p:sp>
      <p:sp>
        <p:nvSpPr>
          <p:cNvPr id="23" name="Shape 21"/>
          <p:cNvSpPr/>
          <p:nvPr/>
        </p:nvSpPr>
        <p:spPr>
          <a:xfrm>
            <a:off x="920115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4" name="Text 22"/>
          <p:cNvSpPr/>
          <p:nvPr/>
        </p:nvSpPr>
        <p:spPr>
          <a:xfrm>
            <a:off x="934402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07</a:t>
            </a:r>
            <a:endParaRPr lang="en-US" sz="1200" dirty="0"/>
          </a:p>
        </p:txBody>
      </p:sp>
      <p:sp>
        <p:nvSpPr>
          <p:cNvPr id="25" name="Text 23"/>
          <p:cNvSpPr/>
          <p:nvPr/>
        </p:nvSpPr>
        <p:spPr>
          <a:xfrm>
            <a:off x="9344025" y="4215780"/>
            <a:ext cx="270493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Web Applications</a:t>
            </a:r>
            <a:endParaRPr lang="en-US" sz="1425" dirty="0"/>
          </a:p>
        </p:txBody>
      </p:sp>
      <p:sp>
        <p:nvSpPr>
          <p:cNvPr id="26" name="Shape 24"/>
          <p:cNvSpPr/>
          <p:nvPr/>
        </p:nvSpPr>
        <p:spPr>
          <a:xfrm>
            <a:off x="1340167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7" name="Text 25"/>
          <p:cNvSpPr/>
          <p:nvPr/>
        </p:nvSpPr>
        <p:spPr>
          <a:xfrm>
            <a:off x="1354455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08</a:t>
            </a:r>
            <a:endParaRPr lang="en-US" sz="1200" dirty="0"/>
          </a:p>
        </p:txBody>
      </p:sp>
      <p:sp>
        <p:nvSpPr>
          <p:cNvPr id="28" name="Text 26"/>
          <p:cNvSpPr/>
          <p:nvPr/>
        </p:nvSpPr>
        <p:spPr>
          <a:xfrm>
            <a:off x="13544550" y="4215780"/>
            <a:ext cx="28205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Common Web Application Attacks</a:t>
            </a:r>
            <a:endParaRPr lang="en-US" sz="1425" dirty="0"/>
          </a:p>
        </p:txBody>
      </p:sp>
      <p:sp>
        <p:nvSpPr>
          <p:cNvPr id="29" name="Shape 27"/>
          <p:cNvSpPr/>
          <p:nvPr/>
        </p:nvSpPr>
        <p:spPr>
          <a:xfrm>
            <a:off x="80010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0" name="Text 28"/>
          <p:cNvSpPr/>
          <p:nvPr/>
        </p:nvSpPr>
        <p:spPr>
          <a:xfrm>
            <a:off x="94297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09</a:t>
            </a:r>
            <a:endParaRPr lang="en-US" sz="1200" dirty="0"/>
          </a:p>
        </p:txBody>
      </p:sp>
      <p:sp>
        <p:nvSpPr>
          <p:cNvPr id="31" name="Text 29"/>
          <p:cNvSpPr/>
          <p:nvPr/>
        </p:nvSpPr>
        <p:spPr>
          <a:xfrm>
            <a:off x="942975" y="5032549"/>
            <a:ext cx="179419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SQL Injection Attacks</a:t>
            </a:r>
            <a:endParaRPr lang="en-US" sz="1425" dirty="0"/>
          </a:p>
        </p:txBody>
      </p:sp>
      <p:sp>
        <p:nvSpPr>
          <p:cNvPr id="32" name="Shape 30"/>
          <p:cNvSpPr/>
          <p:nvPr/>
        </p:nvSpPr>
        <p:spPr>
          <a:xfrm>
            <a:off x="500062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3" name="Text 31"/>
          <p:cNvSpPr/>
          <p:nvPr/>
        </p:nvSpPr>
        <p:spPr>
          <a:xfrm>
            <a:off x="514350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10</a:t>
            </a:r>
            <a:endParaRPr lang="en-US" sz="1200" dirty="0"/>
          </a:p>
        </p:txBody>
      </p:sp>
      <p:sp>
        <p:nvSpPr>
          <p:cNvPr id="34" name="Text 32"/>
          <p:cNvSpPr/>
          <p:nvPr/>
        </p:nvSpPr>
        <p:spPr>
          <a:xfrm>
            <a:off x="5143500" y="5032549"/>
            <a:ext cx="161992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Client-Side Attacks</a:t>
            </a:r>
            <a:endParaRPr lang="en-US" sz="1425" dirty="0"/>
          </a:p>
        </p:txBody>
      </p:sp>
      <p:sp>
        <p:nvSpPr>
          <p:cNvPr id="35" name="Shape 33"/>
          <p:cNvSpPr/>
          <p:nvPr/>
        </p:nvSpPr>
        <p:spPr>
          <a:xfrm>
            <a:off x="920115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6" name="Text 34"/>
          <p:cNvSpPr/>
          <p:nvPr/>
        </p:nvSpPr>
        <p:spPr>
          <a:xfrm>
            <a:off x="934402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11</a:t>
            </a:r>
            <a:endParaRPr lang="en-US" sz="1200" dirty="0"/>
          </a:p>
        </p:txBody>
      </p:sp>
      <p:sp>
        <p:nvSpPr>
          <p:cNvPr id="37" name="Text 35"/>
          <p:cNvSpPr/>
          <p:nvPr/>
        </p:nvSpPr>
        <p:spPr>
          <a:xfrm>
            <a:off x="9344025" y="5032549"/>
            <a:ext cx="1980009"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Locating Public Exploits</a:t>
            </a:r>
            <a:endParaRPr lang="en-US" sz="1425" dirty="0"/>
          </a:p>
        </p:txBody>
      </p:sp>
      <p:sp>
        <p:nvSpPr>
          <p:cNvPr id="38" name="Shape 36"/>
          <p:cNvSpPr/>
          <p:nvPr/>
        </p:nvSpPr>
        <p:spPr>
          <a:xfrm>
            <a:off x="1340167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9" name="Text 37"/>
          <p:cNvSpPr/>
          <p:nvPr/>
        </p:nvSpPr>
        <p:spPr>
          <a:xfrm>
            <a:off x="1354455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12</a:t>
            </a:r>
            <a:endParaRPr lang="en-US" sz="1200" dirty="0"/>
          </a:p>
        </p:txBody>
      </p:sp>
      <p:sp>
        <p:nvSpPr>
          <p:cNvPr id="40" name="Text 38"/>
          <p:cNvSpPr/>
          <p:nvPr/>
        </p:nvSpPr>
        <p:spPr>
          <a:xfrm>
            <a:off x="13544550" y="5032549"/>
            <a:ext cx="122351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Fixing Exploits</a:t>
            </a:r>
            <a:endParaRPr lang="en-US" sz="1425" dirty="0"/>
          </a:p>
        </p:txBody>
      </p:sp>
      <p:sp>
        <p:nvSpPr>
          <p:cNvPr id="41" name="Shape 39"/>
          <p:cNvSpPr/>
          <p:nvPr/>
        </p:nvSpPr>
        <p:spPr>
          <a:xfrm>
            <a:off x="80010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2" name="Text 40"/>
          <p:cNvSpPr/>
          <p:nvPr/>
        </p:nvSpPr>
        <p:spPr>
          <a:xfrm>
            <a:off x="94297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13</a:t>
            </a:r>
            <a:endParaRPr lang="en-US" sz="1200" dirty="0"/>
          </a:p>
        </p:txBody>
      </p:sp>
      <p:sp>
        <p:nvSpPr>
          <p:cNvPr id="43" name="Text 41"/>
          <p:cNvSpPr/>
          <p:nvPr/>
        </p:nvSpPr>
        <p:spPr>
          <a:xfrm>
            <a:off x="942975" y="5849317"/>
            <a:ext cx="144385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Antivirus Evasion</a:t>
            </a:r>
            <a:endParaRPr lang="en-US" sz="1425" dirty="0"/>
          </a:p>
        </p:txBody>
      </p:sp>
      <p:sp>
        <p:nvSpPr>
          <p:cNvPr id="44" name="Shape 42"/>
          <p:cNvSpPr/>
          <p:nvPr/>
        </p:nvSpPr>
        <p:spPr>
          <a:xfrm>
            <a:off x="500062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5" name="Text 43"/>
          <p:cNvSpPr/>
          <p:nvPr/>
        </p:nvSpPr>
        <p:spPr>
          <a:xfrm>
            <a:off x="514350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14</a:t>
            </a:r>
            <a:endParaRPr lang="en-US" sz="1200" dirty="0"/>
          </a:p>
        </p:txBody>
      </p:sp>
      <p:sp>
        <p:nvSpPr>
          <p:cNvPr id="46" name="Text 44"/>
          <p:cNvSpPr/>
          <p:nvPr/>
        </p:nvSpPr>
        <p:spPr>
          <a:xfrm>
            <a:off x="5143500" y="5849317"/>
            <a:ext cx="149981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Password Attacks</a:t>
            </a:r>
            <a:endParaRPr lang="en-US" sz="1425" dirty="0"/>
          </a:p>
        </p:txBody>
      </p:sp>
      <p:sp>
        <p:nvSpPr>
          <p:cNvPr id="47" name="Shape 45"/>
          <p:cNvSpPr/>
          <p:nvPr/>
        </p:nvSpPr>
        <p:spPr>
          <a:xfrm>
            <a:off x="920115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8" name="Text 46"/>
          <p:cNvSpPr/>
          <p:nvPr/>
        </p:nvSpPr>
        <p:spPr>
          <a:xfrm>
            <a:off x="934402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15</a:t>
            </a:r>
            <a:endParaRPr lang="en-US" sz="1200" dirty="0"/>
          </a:p>
        </p:txBody>
      </p:sp>
      <p:sp>
        <p:nvSpPr>
          <p:cNvPr id="49" name="Text 47"/>
          <p:cNvSpPr/>
          <p:nvPr/>
        </p:nvSpPr>
        <p:spPr>
          <a:xfrm>
            <a:off x="9344025" y="5849317"/>
            <a:ext cx="241280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Windows Privilege Escalation</a:t>
            </a:r>
            <a:endParaRPr lang="en-US" sz="1425" dirty="0"/>
          </a:p>
        </p:txBody>
      </p:sp>
      <p:sp>
        <p:nvSpPr>
          <p:cNvPr id="50" name="Shape 48"/>
          <p:cNvSpPr/>
          <p:nvPr/>
        </p:nvSpPr>
        <p:spPr>
          <a:xfrm>
            <a:off x="13401675" y="5492130"/>
            <a:ext cx="4086225" cy="702469"/>
          </a:xfrm>
          <a:prstGeom prst="roundRect">
            <a:avLst>
              <a:gd name="adj" fmla="val 16271"/>
            </a:avLst>
          </a:prstGeom>
          <a:solidFill>
            <a:srgbClr val="FF6A00">
              <a:alpha val="12000"/>
            </a:srgbClr>
          </a:solidFill>
          <a:ln w="9525">
            <a:solidFill>
              <a:srgbClr val="FF6A00"/>
            </a:solidFill>
            <a:prstDash val="solid"/>
          </a:ln>
        </p:spPr>
      </p:sp>
      <p:sp>
        <p:nvSpPr>
          <p:cNvPr id="51" name="Text 49"/>
          <p:cNvSpPr/>
          <p:nvPr/>
        </p:nvSpPr>
        <p:spPr>
          <a:xfrm>
            <a:off x="1354455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16</a:t>
            </a:r>
            <a:endParaRPr lang="en-US" sz="1200" dirty="0"/>
          </a:p>
        </p:txBody>
      </p:sp>
      <p:sp>
        <p:nvSpPr>
          <p:cNvPr id="52" name="Text 50"/>
          <p:cNvSpPr/>
          <p:nvPr/>
        </p:nvSpPr>
        <p:spPr>
          <a:xfrm>
            <a:off x="13544550" y="5849317"/>
            <a:ext cx="2321347" cy="252413"/>
          </a:xfrm>
          <a:prstGeom prst="rect">
            <a:avLst/>
          </a:prstGeom>
          <a:noFill/>
          <a:ln/>
        </p:spPr>
        <p:txBody>
          <a:bodyPr wrap="square" lIns="0" tIns="0" rIns="0" bIns="0" rtlCol="0" anchor="t">
            <a:normAutofit/>
          </a:bodyPr>
          <a:lstStyle/>
          <a:p>
            <a:pPr algn="l" indent="0" marL="0">
              <a:lnSpc>
                <a:spcPct val="110465"/>
              </a:lnSpc>
              <a:buNone/>
            </a:pPr>
            <a:r>
              <a:rPr lang="en-US" sz="1425" b="1" dirty="0">
                <a:solidFill>
                  <a:srgbClr val="F5F7FB"/>
                </a:solidFill>
                <a:latin typeface="Arial" pitchFamily="34" charset="0"/>
                <a:ea typeface="Arial" pitchFamily="34" charset="-122"/>
                <a:cs typeface="Arial" pitchFamily="34" charset="-120"/>
              </a:rPr>
              <a:t>Linux Privilege Escalation</a:t>
            </a:r>
            <a:endParaRPr lang="en-US" sz="1425" dirty="0"/>
          </a:p>
        </p:txBody>
      </p:sp>
      <p:sp>
        <p:nvSpPr>
          <p:cNvPr id="53" name="Shape 51"/>
          <p:cNvSpPr/>
          <p:nvPr/>
        </p:nvSpPr>
        <p:spPr>
          <a:xfrm>
            <a:off x="80010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4" name="Text 52"/>
          <p:cNvSpPr/>
          <p:nvPr/>
        </p:nvSpPr>
        <p:spPr>
          <a:xfrm>
            <a:off x="94297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17</a:t>
            </a:r>
            <a:endParaRPr lang="en-US" sz="1200" dirty="0"/>
          </a:p>
        </p:txBody>
      </p:sp>
      <p:sp>
        <p:nvSpPr>
          <p:cNvPr id="55" name="Text 53"/>
          <p:cNvSpPr/>
          <p:nvPr/>
        </p:nvSpPr>
        <p:spPr>
          <a:xfrm>
            <a:off x="942975" y="6666086"/>
            <a:ext cx="294774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Port Redirection and SSH Tunneling</a:t>
            </a:r>
            <a:endParaRPr lang="en-US" sz="1425" dirty="0"/>
          </a:p>
        </p:txBody>
      </p:sp>
      <p:sp>
        <p:nvSpPr>
          <p:cNvPr id="56" name="Shape 54"/>
          <p:cNvSpPr/>
          <p:nvPr/>
        </p:nvSpPr>
        <p:spPr>
          <a:xfrm>
            <a:off x="500062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7" name="Text 55"/>
          <p:cNvSpPr/>
          <p:nvPr/>
        </p:nvSpPr>
        <p:spPr>
          <a:xfrm>
            <a:off x="514350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18</a:t>
            </a:r>
            <a:endParaRPr lang="en-US" sz="1200" dirty="0"/>
          </a:p>
        </p:txBody>
      </p:sp>
      <p:sp>
        <p:nvSpPr>
          <p:cNvPr id="58" name="Text 56"/>
          <p:cNvSpPr/>
          <p:nvPr/>
        </p:nvSpPr>
        <p:spPr>
          <a:xfrm>
            <a:off x="5143500" y="6666086"/>
            <a:ext cx="170557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Advanced Tunneling</a:t>
            </a:r>
            <a:endParaRPr lang="en-US" sz="1425" dirty="0"/>
          </a:p>
        </p:txBody>
      </p:sp>
      <p:sp>
        <p:nvSpPr>
          <p:cNvPr id="59" name="Shape 57"/>
          <p:cNvSpPr/>
          <p:nvPr/>
        </p:nvSpPr>
        <p:spPr>
          <a:xfrm>
            <a:off x="920115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0" name="Text 58"/>
          <p:cNvSpPr/>
          <p:nvPr/>
        </p:nvSpPr>
        <p:spPr>
          <a:xfrm>
            <a:off x="934402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19</a:t>
            </a:r>
            <a:endParaRPr lang="en-US" sz="1200" dirty="0"/>
          </a:p>
        </p:txBody>
      </p:sp>
      <p:sp>
        <p:nvSpPr>
          <p:cNvPr id="61" name="Text 59"/>
          <p:cNvSpPr/>
          <p:nvPr/>
        </p:nvSpPr>
        <p:spPr>
          <a:xfrm>
            <a:off x="9344025" y="6666086"/>
            <a:ext cx="221716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The Metasploit Framework</a:t>
            </a:r>
            <a:endParaRPr lang="en-US" sz="1425" dirty="0"/>
          </a:p>
        </p:txBody>
      </p:sp>
      <p:sp>
        <p:nvSpPr>
          <p:cNvPr id="62" name="Shape 60"/>
          <p:cNvSpPr/>
          <p:nvPr/>
        </p:nvSpPr>
        <p:spPr>
          <a:xfrm>
            <a:off x="1340167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3" name="Text 61"/>
          <p:cNvSpPr/>
          <p:nvPr/>
        </p:nvSpPr>
        <p:spPr>
          <a:xfrm>
            <a:off x="1354455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20</a:t>
            </a:r>
            <a:endParaRPr lang="en-US" sz="1200" dirty="0"/>
          </a:p>
        </p:txBody>
      </p:sp>
      <p:sp>
        <p:nvSpPr>
          <p:cNvPr id="64" name="Text 62"/>
          <p:cNvSpPr/>
          <p:nvPr/>
        </p:nvSpPr>
        <p:spPr>
          <a:xfrm>
            <a:off x="13544550" y="6666086"/>
            <a:ext cx="274839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 Introduction and Enumeration</a:t>
            </a:r>
            <a:endParaRPr lang="en-US" sz="1425" dirty="0"/>
          </a:p>
        </p:txBody>
      </p:sp>
      <p:sp>
        <p:nvSpPr>
          <p:cNvPr id="65" name="Shape 63"/>
          <p:cNvSpPr/>
          <p:nvPr/>
        </p:nvSpPr>
        <p:spPr>
          <a:xfrm>
            <a:off x="80010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6" name="Text 64"/>
          <p:cNvSpPr/>
          <p:nvPr/>
        </p:nvSpPr>
        <p:spPr>
          <a:xfrm>
            <a:off x="94297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21</a:t>
            </a:r>
            <a:endParaRPr lang="en-US" sz="1200" dirty="0"/>
          </a:p>
        </p:txBody>
      </p:sp>
      <p:sp>
        <p:nvSpPr>
          <p:cNvPr id="67" name="Text 65"/>
          <p:cNvSpPr/>
          <p:nvPr/>
        </p:nvSpPr>
        <p:spPr>
          <a:xfrm>
            <a:off x="942975" y="7482855"/>
            <a:ext cx="233935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Attacking AD Authentication</a:t>
            </a:r>
            <a:endParaRPr lang="en-US" sz="1425" dirty="0"/>
          </a:p>
        </p:txBody>
      </p:sp>
      <p:sp>
        <p:nvSpPr>
          <p:cNvPr id="68" name="Shape 66"/>
          <p:cNvSpPr/>
          <p:nvPr/>
        </p:nvSpPr>
        <p:spPr>
          <a:xfrm>
            <a:off x="500062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9" name="Text 67"/>
          <p:cNvSpPr/>
          <p:nvPr/>
        </p:nvSpPr>
        <p:spPr>
          <a:xfrm>
            <a:off x="514350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22</a:t>
            </a:r>
            <a:endParaRPr lang="en-US" sz="1200" dirty="0"/>
          </a:p>
        </p:txBody>
      </p:sp>
      <p:sp>
        <p:nvSpPr>
          <p:cNvPr id="70" name="Text 68"/>
          <p:cNvSpPr/>
          <p:nvPr/>
        </p:nvSpPr>
        <p:spPr>
          <a:xfrm>
            <a:off x="5143500" y="7482855"/>
            <a:ext cx="199489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Lateral Movement in AD</a:t>
            </a:r>
            <a:endParaRPr lang="en-US" sz="1425" dirty="0"/>
          </a:p>
        </p:txBody>
      </p:sp>
      <p:sp>
        <p:nvSpPr>
          <p:cNvPr id="71" name="Shape 69"/>
          <p:cNvSpPr/>
          <p:nvPr/>
        </p:nvSpPr>
        <p:spPr>
          <a:xfrm>
            <a:off x="920115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2" name="Text 70"/>
          <p:cNvSpPr/>
          <p:nvPr/>
        </p:nvSpPr>
        <p:spPr>
          <a:xfrm>
            <a:off x="934402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23</a:t>
            </a:r>
            <a:endParaRPr lang="en-US" sz="1200" dirty="0"/>
          </a:p>
        </p:txBody>
      </p:sp>
      <p:sp>
        <p:nvSpPr>
          <p:cNvPr id="73" name="Text 71"/>
          <p:cNvSpPr/>
          <p:nvPr/>
        </p:nvSpPr>
        <p:spPr>
          <a:xfrm>
            <a:off x="9344025" y="7482855"/>
            <a:ext cx="1893763"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Assembling the Pieces</a:t>
            </a:r>
            <a:endParaRPr lang="en-US" sz="1425" dirty="0"/>
          </a:p>
        </p:txBody>
      </p:sp>
      <p:sp>
        <p:nvSpPr>
          <p:cNvPr id="74" name="Shape 72"/>
          <p:cNvSpPr/>
          <p:nvPr/>
        </p:nvSpPr>
        <p:spPr>
          <a:xfrm>
            <a:off x="1340167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5" name="Text 73"/>
          <p:cNvSpPr/>
          <p:nvPr/>
        </p:nvSpPr>
        <p:spPr>
          <a:xfrm>
            <a:off x="1354455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24</a:t>
            </a:r>
            <a:endParaRPr lang="en-US" sz="1200" dirty="0"/>
          </a:p>
        </p:txBody>
      </p:sp>
      <p:sp>
        <p:nvSpPr>
          <p:cNvPr id="76" name="Text 74"/>
          <p:cNvSpPr/>
          <p:nvPr/>
        </p:nvSpPr>
        <p:spPr>
          <a:xfrm>
            <a:off x="13544550" y="7482855"/>
            <a:ext cx="200858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Trying Harder: The Labs</a:t>
            </a:r>
            <a:endParaRPr lang="en-US" sz="1425" dirty="0"/>
          </a:p>
        </p:txBody>
      </p:sp>
      <p:sp>
        <p:nvSpPr>
          <p:cNvPr id="77" name="Text 75"/>
          <p:cNvSpPr/>
          <p:nvPr/>
        </p:nvSpPr>
        <p:spPr>
          <a:xfrm>
            <a:off x="800100" y="8075786"/>
            <a:ext cx="16344900" cy="36954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B8C0CF"/>
                </a:solidFill>
                <a:latin typeface="Arial" pitchFamily="34" charset="0"/>
                <a:ea typeface="Arial" pitchFamily="34" charset="-122"/>
                <a:cs typeface="Arial" pitchFamily="34" charset="-120"/>
              </a:rPr>
              <a:t>Module weightings: information not defined in the official exam outline.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498056"/>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ORIENTATION</a:t>
            </a:r>
            <a:endParaRPr lang="en-US" sz="1650" dirty="0"/>
          </a:p>
        </p:txBody>
      </p:sp>
      <p:sp>
        <p:nvSpPr>
          <p:cNvPr id="4" name="Text 2"/>
          <p:cNvSpPr/>
          <p:nvPr/>
        </p:nvSpPr>
        <p:spPr>
          <a:xfrm>
            <a:off x="800100" y="3993356"/>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same principle, a different permission model</a:t>
            </a:r>
            <a:endParaRPr lang="en-US" sz="3000" dirty="0"/>
          </a:p>
        </p:txBody>
      </p:sp>
      <p:sp>
        <p:nvSpPr>
          <p:cNvPr id="5" name="Shape 3"/>
          <p:cNvSpPr/>
          <p:nvPr/>
        </p:nvSpPr>
        <p:spPr>
          <a:xfrm>
            <a:off x="800100" y="4660106"/>
            <a:ext cx="5435575" cy="2128838"/>
          </a:xfrm>
          <a:prstGeom prst="roundRect">
            <a:avLst>
              <a:gd name="adj" fmla="val 7159"/>
            </a:avLst>
          </a:prstGeom>
          <a:solidFill>
            <a:srgbClr val="FFFFFF">
              <a:alpha val="2000"/>
            </a:srgbClr>
          </a:solidFill>
          <a:ln w="9525">
            <a:solidFill>
              <a:srgbClr val="2A2F3A"/>
            </a:solidFill>
            <a:prstDash val="solid"/>
          </a:ln>
        </p:spPr>
      </p:sp>
      <p:sp>
        <p:nvSpPr>
          <p:cNvPr id="6" name="Text 4"/>
          <p:cNvSpPr/>
          <p:nvPr/>
        </p:nvSpPr>
        <p:spPr>
          <a:xfrm>
            <a:off x="1038225" y="489823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SAME SHAPE</a:t>
            </a:r>
            <a:endParaRPr lang="en-US" sz="1500" dirty="0"/>
          </a:p>
        </p:txBody>
      </p:sp>
      <p:sp>
        <p:nvSpPr>
          <p:cNvPr id="7" name="Text 5"/>
          <p:cNvSpPr/>
          <p:nvPr/>
        </p:nvSpPr>
        <p:spPr>
          <a:xfrm>
            <a:off x="1038225" y="5217319"/>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Enumerate first, then abuse what enumeration reveals — identical to Module 15's structure.</a:t>
            </a:r>
            <a:endParaRPr lang="en-US" sz="1875" dirty="0"/>
          </a:p>
        </p:txBody>
      </p:sp>
      <p:sp>
        <p:nvSpPr>
          <p:cNvPr id="8" name="Shape 6"/>
          <p:cNvSpPr/>
          <p:nvPr/>
        </p:nvSpPr>
        <p:spPr>
          <a:xfrm>
            <a:off x="6426175" y="4660106"/>
            <a:ext cx="5435575" cy="2128838"/>
          </a:xfrm>
          <a:prstGeom prst="roundRect">
            <a:avLst>
              <a:gd name="adj" fmla="val 7159"/>
            </a:avLst>
          </a:prstGeom>
          <a:solidFill>
            <a:srgbClr val="FFFFFF">
              <a:alpha val="2000"/>
            </a:srgbClr>
          </a:solidFill>
          <a:ln w="9525">
            <a:solidFill>
              <a:srgbClr val="2A2F3A"/>
            </a:solidFill>
            <a:prstDash val="solid"/>
          </a:ln>
        </p:spPr>
      </p:sp>
      <p:sp>
        <p:nvSpPr>
          <p:cNvPr id="9" name="Text 7"/>
          <p:cNvSpPr/>
          <p:nvPr/>
        </p:nvSpPr>
        <p:spPr>
          <a:xfrm>
            <a:off x="6664300" y="489823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DIFFERENT MECHANICS</a:t>
            </a:r>
            <a:endParaRPr lang="en-US" sz="1500" dirty="0"/>
          </a:p>
        </p:txBody>
      </p:sp>
      <p:sp>
        <p:nvSpPr>
          <p:cNvPr id="10" name="Text 8"/>
          <p:cNvSpPr/>
          <p:nvPr/>
        </p:nvSpPr>
        <p:spPr>
          <a:xfrm>
            <a:off x="6664300" y="5217319"/>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Linux has no unquoted-path parsing or Windows-style service registry. Its own permission model creates its own distinct escalation categories.</a:t>
            </a:r>
            <a:endParaRPr lang="en-US" sz="1875" dirty="0"/>
          </a:p>
        </p:txBody>
      </p:sp>
      <p:sp>
        <p:nvSpPr>
          <p:cNvPr id="11" name="Shape 9"/>
          <p:cNvSpPr/>
          <p:nvPr/>
        </p:nvSpPr>
        <p:spPr>
          <a:xfrm>
            <a:off x="12052250" y="4660106"/>
            <a:ext cx="5435650" cy="2128838"/>
          </a:xfrm>
          <a:prstGeom prst="roundRect">
            <a:avLst>
              <a:gd name="adj" fmla="val 7159"/>
            </a:avLst>
          </a:prstGeom>
          <a:solidFill>
            <a:srgbClr val="FFFFFF">
              <a:alpha val="2000"/>
            </a:srgbClr>
          </a:solidFill>
          <a:ln w="9525">
            <a:solidFill>
              <a:srgbClr val="2A2F3A"/>
            </a:solidFill>
            <a:prstDash val="solid"/>
          </a:ln>
        </p:spPr>
      </p:sp>
      <p:sp>
        <p:nvSpPr>
          <p:cNvPr id="12" name="Text 10"/>
          <p:cNvSpPr/>
          <p:nvPr/>
        </p:nvSpPr>
        <p:spPr>
          <a:xfrm>
            <a:off x="12290375" y="4898231"/>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FOUR CATEGORIES</a:t>
            </a:r>
            <a:endParaRPr lang="en-US" sz="1500" dirty="0"/>
          </a:p>
        </p:txBody>
      </p:sp>
      <p:sp>
        <p:nvSpPr>
          <p:cNvPr id="13" name="Text 11"/>
          <p:cNvSpPr/>
          <p:nvPr/>
        </p:nvSpPr>
        <p:spPr>
          <a:xfrm>
            <a:off x="12290375" y="5217319"/>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Enumeration, exposed credentials, insecure file permissions, and insecure system components — each with its own named techniques.</a:t>
            </a:r>
            <a:endParaRPr lang="en-US" sz="18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45254" y="3870945"/>
            <a:ext cx="2197492"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16.1</a:t>
            </a:r>
            <a:endParaRPr lang="en-US" sz="1650" dirty="0"/>
          </a:p>
        </p:txBody>
      </p:sp>
      <p:sp>
        <p:nvSpPr>
          <p:cNvPr id="4" name="Text 2"/>
          <p:cNvSpPr/>
          <p:nvPr/>
        </p:nvSpPr>
        <p:spPr>
          <a:xfrm>
            <a:off x="5068989" y="4385295"/>
            <a:ext cx="8150022"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Enumerating Linux</a:t>
            </a:r>
            <a:endParaRPr lang="en-US" sz="6600" dirty="0"/>
          </a:p>
        </p:txBody>
      </p:sp>
      <p:sp>
        <p:nvSpPr>
          <p:cNvPr id="5" name="Text 3"/>
          <p:cNvSpPr/>
          <p:nvPr/>
        </p:nvSpPr>
        <p:spPr>
          <a:xfrm>
            <a:off x="3012281" y="5532090"/>
            <a:ext cx="12263438"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Understand files and user privileges on Linux, perform manual enumeration, and conduct automated enumeration.</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999780"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27823"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16.1 · Task 1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Understanding files and user privileges on Linux</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Linux permissions are built from read, write and execute bits applied separately to an owner, a group, and everyone else, alongside special bits that change how a file behaves when executed.</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Every technique in this module — from insecure permissions to SUID abuse — is a specific misuse of this same underlying model.</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Objective 16.4's SUID and sudo content directly extends the special bits introduced conceptually here.</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2403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52810"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16.1 · Task 2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Performing manual enumeration</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Manual enumeration checks users, groups, running processes, installed software, and file permissions directly, building the same situational awareness Module 15 requires for Windows.</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Manual checks build the understanding needed to correctly interpret whatever an automated tool later reports.</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15's situational awareness objective — the same discipline, applied to Linux's user and group model instead.</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29173"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5809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16.1 · Task 3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Conducting automated enumeration</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Automated Linux enumeration scripts check a long list of known escalation vectors quickly — insecure permissions, SUID binaries, cron jobs, and kernel version, among others.</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MANUAL UNDERSTANDING STILL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Interpreting and verifying tool output correctly depends on already understanding what each flagged item actually means.</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Treating every flagged item as automatically exploitable, the identical caveat from Module 15's equivalent objective.</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16.1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Enumerating Linux — what you should now hold</a:t>
            </a:r>
            <a:endParaRPr lang="en-US" sz="3000" dirty="0"/>
          </a:p>
        </p:txBody>
      </p:sp>
      <p:sp>
        <p:nvSpPr>
          <p:cNvPr id="5" name="Shape 3"/>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MODEL</a:t>
            </a:r>
            <a:endParaRPr lang="en-US" sz="1500" dirty="0"/>
          </a:p>
        </p:txBody>
      </p:sp>
      <p:sp>
        <p:nvSpPr>
          <p:cNvPr id="7" name="Text 5"/>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Read, write and execute bits per owner, group and other, plus special bits that later objectives build on directly.</a:t>
            </a:r>
            <a:endParaRPr lang="en-US" sz="1875" dirty="0"/>
          </a:p>
        </p:txBody>
      </p:sp>
      <p:sp>
        <p:nvSpPr>
          <p:cNvPr id="8" name="Shape 6"/>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METHOD</a:t>
            </a:r>
            <a:endParaRPr lang="en-US" sz="1500" dirty="0"/>
          </a:p>
        </p:txBody>
      </p:sp>
      <p:sp>
        <p:nvSpPr>
          <p:cNvPr id="10" name="Text 8"/>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Manual enumeration builds understanding; automated tools accelerate coverage but require that understanding to verify.</a:t>
            </a:r>
            <a:endParaRPr lang="en-US" sz="18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25691" y="3910980"/>
            <a:ext cx="2236619"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16.2</a:t>
            </a:r>
            <a:endParaRPr lang="en-US" sz="1650" dirty="0"/>
          </a:p>
        </p:txBody>
      </p:sp>
      <p:sp>
        <p:nvSpPr>
          <p:cNvPr id="4" name="Text 2"/>
          <p:cNvSpPr/>
          <p:nvPr/>
        </p:nvSpPr>
        <p:spPr>
          <a:xfrm>
            <a:off x="2509369" y="4425330"/>
            <a:ext cx="13269263" cy="838200"/>
          </a:xfrm>
          <a:prstGeom prst="rect">
            <a:avLst/>
          </a:prstGeom>
          <a:noFill/>
          <a:ln/>
        </p:spPr>
        <p:txBody>
          <a:bodyPr wrap="square" lIns="25400" tIns="25400" rIns="25400" bIns="25400" rtlCol="0" anchor="t">
            <a:normAutofit/>
          </a:bodyPr>
          <a:lstStyle/>
          <a:p>
            <a:pPr algn="ctr" indent="0" marL="0">
              <a:lnSpc>
                <a:spcPct val="91304"/>
              </a:lnSpc>
              <a:buNone/>
            </a:pPr>
            <a:r>
              <a:rPr lang="en-US" sz="6000" b="1" spc="-37" kern="0" dirty="0">
                <a:solidFill>
                  <a:srgbClr val="F5F7FB"/>
                </a:solidFill>
                <a:latin typeface="Arial" pitchFamily="34" charset="0"/>
                <a:ea typeface="Arial" pitchFamily="34" charset="-122"/>
                <a:cs typeface="Arial" pitchFamily="34" charset="-120"/>
              </a:rPr>
              <a:t>Exposed Confidential Information</a:t>
            </a:r>
            <a:endParaRPr lang="en-US" sz="6000" dirty="0"/>
          </a:p>
        </p:txBody>
      </p:sp>
      <p:sp>
        <p:nvSpPr>
          <p:cNvPr id="5" name="Text 3"/>
          <p:cNvSpPr/>
          <p:nvPr/>
        </p:nvSpPr>
        <p:spPr>
          <a:xfrm>
            <a:off x="2767013" y="5492130"/>
            <a:ext cx="12753975"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Understand user history files, and inspect both user trails and system trails for credential harvesting.</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3289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61931"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16.2 · Task 1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Understanding user history files</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Shell history files record commands a user has previously run, often including credentials typed directly into a command line during past administrative work.</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password typed as a command argument may remain fully recoverable in plaintext long after the original session ended.</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15's PowerShell history objective — the identical idea, applied to shell history instead.</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57153"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8691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16.2 · Task 2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Inspecting user trails for credential harvesting</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Beyond shell history, a user's own configuration files, saved connection details, and application data can carry stored or cached credentials worth harvesting systematically.</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WHERE TO LOOK</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Configuration files for common tools, browser profiles, and saved connection details for services the user regularly accesses.</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These artefacts persist independently of shell history and are searched far less consistently by testers.</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6228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92206"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16.2 · Task 3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Inspecting system trails for credential harvesting</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System-wide logs, configuration files, and application data outside any single user's home directory can carry credentials belonging to services or other accounts entirely.</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System trails can expose credentials for accounts more privileged than the one currently compromised.</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DISTINCT FROM USER TRAILS</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User trails belong to one account's activity; system trails span services and configuration the whole host relies on.</a:t>
            </a:r>
            <a:endParaRPr lang="en-US" sz="18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16.2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Exposed Confidential Information — what you should now hold</a:t>
            </a:r>
            <a:endParaRPr lang="en-US" sz="3000" dirty="0"/>
          </a:p>
        </p:txBody>
      </p:sp>
      <p:sp>
        <p:nvSpPr>
          <p:cNvPr id="5" name="Shape 3"/>
          <p:cNvSpPr/>
          <p:nvPr/>
        </p:nvSpPr>
        <p:spPr>
          <a:xfrm>
            <a:off x="800100" y="4993481"/>
            <a:ext cx="543557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HISTORY</a:t>
            </a:r>
            <a:endParaRPr lang="en-US" sz="1500" dirty="0"/>
          </a:p>
        </p:txBody>
      </p:sp>
      <p:sp>
        <p:nvSpPr>
          <p:cNvPr id="7" name="Text 5"/>
          <p:cNvSpPr/>
          <p:nvPr/>
        </p:nvSpPr>
        <p:spPr>
          <a:xfrm>
            <a:off x="1038225" y="5550694"/>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Shell history routinely holds credentials typed directly as command arguments.</a:t>
            </a:r>
            <a:endParaRPr lang="en-US" sz="1875" dirty="0"/>
          </a:p>
        </p:txBody>
      </p:sp>
      <p:sp>
        <p:nvSpPr>
          <p:cNvPr id="8" name="Shape 6"/>
          <p:cNvSpPr/>
          <p:nvPr/>
        </p:nvSpPr>
        <p:spPr>
          <a:xfrm>
            <a:off x="6426175" y="4993481"/>
            <a:ext cx="543557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6664300" y="5231606"/>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USER TRAILS</a:t>
            </a:r>
            <a:endParaRPr lang="en-US" sz="1500" dirty="0"/>
          </a:p>
        </p:txBody>
      </p:sp>
      <p:sp>
        <p:nvSpPr>
          <p:cNvPr id="10" name="Text 8"/>
          <p:cNvSpPr/>
          <p:nvPr/>
        </p:nvSpPr>
        <p:spPr>
          <a:xfrm>
            <a:off x="6664300" y="5550694"/>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Configuration files and saved sessions belonging to the current user's own activity.</a:t>
            </a:r>
            <a:endParaRPr lang="en-US" sz="1875" dirty="0"/>
          </a:p>
        </p:txBody>
      </p:sp>
      <p:sp>
        <p:nvSpPr>
          <p:cNvPr id="11" name="Shape 9"/>
          <p:cNvSpPr/>
          <p:nvPr/>
        </p:nvSpPr>
        <p:spPr>
          <a:xfrm>
            <a:off x="12052250" y="4993481"/>
            <a:ext cx="5435650" cy="1462088"/>
          </a:xfrm>
          <a:prstGeom prst="roundRect">
            <a:avLst>
              <a:gd name="adj" fmla="val 10423"/>
            </a:avLst>
          </a:prstGeom>
          <a:solidFill>
            <a:srgbClr val="FFFFFF">
              <a:alpha val="2000"/>
            </a:srgbClr>
          </a:solidFill>
          <a:ln w="9525">
            <a:solidFill>
              <a:srgbClr val="2A2F3A"/>
            </a:solidFill>
            <a:prstDash val="solid"/>
          </a:ln>
        </p:spPr>
      </p:sp>
      <p:sp>
        <p:nvSpPr>
          <p:cNvPr id="12" name="Text 10"/>
          <p:cNvSpPr/>
          <p:nvPr/>
        </p:nvSpPr>
        <p:spPr>
          <a:xfrm>
            <a:off x="12290375" y="5231606"/>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SYSTEM TRAILS</a:t>
            </a:r>
            <a:endParaRPr lang="en-US" sz="1500" dirty="0"/>
          </a:p>
        </p:txBody>
      </p:sp>
      <p:sp>
        <p:nvSpPr>
          <p:cNvPr id="13" name="Text 11"/>
          <p:cNvSpPr/>
          <p:nvPr/>
        </p:nvSpPr>
        <p:spPr>
          <a:xfrm>
            <a:off x="12290375" y="5550694"/>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Logs and configuration spanning the whole host, potentially exposing other accounts' credentials.</a:t>
            </a:r>
            <a:endParaRPr lang="en-US" sz="18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24466" y="3870945"/>
            <a:ext cx="2238993"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16.3</a:t>
            </a:r>
            <a:endParaRPr lang="en-US" sz="1650" dirty="0"/>
          </a:p>
        </p:txBody>
      </p:sp>
      <p:sp>
        <p:nvSpPr>
          <p:cNvPr id="4" name="Text 2"/>
          <p:cNvSpPr/>
          <p:nvPr/>
        </p:nvSpPr>
        <p:spPr>
          <a:xfrm>
            <a:off x="3610488" y="4385295"/>
            <a:ext cx="11067023"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Insecure File Permissions</a:t>
            </a:r>
            <a:endParaRPr lang="en-US" sz="6600" dirty="0"/>
          </a:p>
        </p:txBody>
      </p:sp>
      <p:sp>
        <p:nvSpPr>
          <p:cNvPr id="5" name="Text 3"/>
          <p:cNvSpPr/>
          <p:nvPr/>
        </p:nvSpPr>
        <p:spPr>
          <a:xfrm>
            <a:off x="3012281" y="5532090"/>
            <a:ext cx="12263438"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Abuse insecure cron jobs, and abuse insecure file permissions generally, to escalate privileges.</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2909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5802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16.3 · Task 1 of 2</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Abusing insecure cron jobs</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cron job that runs with elevated privilege but executes a script writable by a lower-privileged account creates the same opportunity as an insecure scheduled task on Windows — on a predictable timer.</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Cron jobs are extremely common on Linux hosts and frequently run as root, making a writable script an unusually direct escalation route.</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15's Scheduled Task abuse — the same misconfiguration logic, the Linux scheduling mechanism instead.</a:t>
            </a:r>
            <a:endParaRPr lang="en-US" sz="18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5335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8300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16.3 · Task 2 of 2</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Abusing insecure file permissions generally</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Beyond cron scripts specifically, any file writable by a low-privileged account but read, executed, or trusted by a more privileged process or user represents the same underlying weakness.</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WHERE TO LOOK</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Configuration files read by privileged services, scripts executed on login by other users, and shared directories with overly broad write access.</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This is the general case that insecure cron jobs, and later SUID abuse, are both specific applications of.</a:t>
            </a:r>
            <a:endParaRPr lang="en-US" sz="18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16.3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Insecure File Permissions — what you should now hold</a:t>
            </a:r>
            <a:endParaRPr lang="en-US" sz="3000" dirty="0"/>
          </a:p>
        </p:txBody>
      </p:sp>
      <p:sp>
        <p:nvSpPr>
          <p:cNvPr id="5" name="Shape 3"/>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CRON JOBS</a:t>
            </a:r>
            <a:endParaRPr lang="en-US" sz="1500" dirty="0"/>
          </a:p>
        </p:txBody>
      </p:sp>
      <p:sp>
        <p:nvSpPr>
          <p:cNvPr id="7" name="Text 5"/>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privileged, scheduled process executing content a lower-privileged account can write to.</a:t>
            </a:r>
            <a:endParaRPr lang="en-US" sz="1875" dirty="0"/>
          </a:p>
        </p:txBody>
      </p:sp>
      <p:sp>
        <p:nvSpPr>
          <p:cNvPr id="8" name="Shape 6"/>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GENERAL CASE</a:t>
            </a:r>
            <a:endParaRPr lang="en-US" sz="1500" dirty="0"/>
          </a:p>
        </p:txBody>
      </p:sp>
      <p:sp>
        <p:nvSpPr>
          <p:cNvPr id="10" name="Text 8"/>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Any writable file trusted or executed by a more privileged process or account represents the same weakness.</a:t>
            </a:r>
            <a:endParaRPr lang="en-US" sz="18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19797" y="3910980"/>
            <a:ext cx="2248406"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16.4</a:t>
            </a:r>
            <a:endParaRPr lang="en-US" sz="1650" dirty="0"/>
          </a:p>
        </p:txBody>
      </p:sp>
      <p:sp>
        <p:nvSpPr>
          <p:cNvPr id="4" name="Text 2"/>
          <p:cNvSpPr/>
          <p:nvPr/>
        </p:nvSpPr>
        <p:spPr>
          <a:xfrm>
            <a:off x="3170765" y="4425330"/>
            <a:ext cx="11946396" cy="838200"/>
          </a:xfrm>
          <a:prstGeom prst="rect">
            <a:avLst/>
          </a:prstGeom>
          <a:noFill/>
          <a:ln/>
        </p:spPr>
        <p:txBody>
          <a:bodyPr wrap="square" lIns="25400" tIns="25400" rIns="25400" bIns="25400" rtlCol="0" anchor="t">
            <a:normAutofit/>
          </a:bodyPr>
          <a:lstStyle/>
          <a:p>
            <a:pPr algn="ctr" indent="0" marL="0">
              <a:lnSpc>
                <a:spcPct val="91304"/>
              </a:lnSpc>
              <a:buNone/>
            </a:pPr>
            <a:r>
              <a:rPr lang="en-US" sz="6000" b="1" spc="-37" kern="0" dirty="0">
                <a:solidFill>
                  <a:srgbClr val="F5F7FB"/>
                </a:solidFill>
                <a:latin typeface="Arial" pitchFamily="34" charset="0"/>
                <a:ea typeface="Arial" pitchFamily="34" charset="-122"/>
                <a:cs typeface="Arial" pitchFamily="34" charset="-120"/>
              </a:rPr>
              <a:t>Insecure System Components</a:t>
            </a:r>
            <a:endParaRPr lang="en-US" sz="6000" dirty="0"/>
          </a:p>
        </p:txBody>
      </p:sp>
      <p:sp>
        <p:nvSpPr>
          <p:cNvPr id="5" name="Text 3"/>
          <p:cNvSpPr/>
          <p:nvPr/>
        </p:nvSpPr>
        <p:spPr>
          <a:xfrm>
            <a:off x="2767013" y="5492130"/>
            <a:ext cx="12753975"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Abuse SUID programs and capabilities, circumvent special sudo permissions, and enumerate the kernel for known vulnerabilities to abuse.</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628454"/>
            <a:ext cx="304167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714179"/>
            <a:ext cx="277097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16.4 · Task 1 of 3</a:t>
            </a:r>
            <a:endParaRPr lang="en-US" sz="1500" dirty="0"/>
          </a:p>
        </p:txBody>
      </p:sp>
      <p:sp>
        <p:nvSpPr>
          <p:cNvPr id="5" name="Text 3"/>
          <p:cNvSpPr/>
          <p:nvPr/>
        </p:nvSpPr>
        <p:spPr>
          <a:xfrm>
            <a:off x="800100" y="327139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Abusing SUID programs and capabilities</a:t>
            </a:r>
            <a:endParaRPr lang="en-US" sz="3000" dirty="0"/>
          </a:p>
        </p:txBody>
      </p:sp>
      <p:sp>
        <p:nvSpPr>
          <p:cNvPr id="6" name="Text 4"/>
          <p:cNvSpPr/>
          <p:nvPr/>
        </p:nvSpPr>
        <p:spPr>
          <a:xfrm>
            <a:off x="800100" y="393814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SUID binary runs with its owner's privilege rather than the invoking user's. If that binary can be made to perform an unintended action, it escalates whoever runs it to the owner's privilege level — frequently root.</a:t>
            </a:r>
            <a:endParaRPr lang="en-US" sz="2175" dirty="0"/>
          </a:p>
        </p:txBody>
      </p:sp>
      <p:sp>
        <p:nvSpPr>
          <p:cNvPr id="7" name="Shape 5"/>
          <p:cNvSpPr/>
          <p:nvPr/>
        </p:nvSpPr>
        <p:spPr>
          <a:xfrm>
            <a:off x="800100" y="4986784"/>
            <a:ext cx="16687800" cy="628650"/>
          </a:xfrm>
          <a:prstGeom prst="roundRect">
            <a:avLst>
              <a:gd name="adj" fmla="val 18182"/>
            </a:avLst>
          </a:prstGeom>
          <a:solidFill>
            <a:srgbClr val="000000">
              <a:alpha val="35000"/>
            </a:srgbClr>
          </a:solidFill>
          <a:ln w="9525">
            <a:solidFill>
              <a:srgbClr val="2A2F3A"/>
            </a:solidFill>
            <a:prstDash val="solid"/>
          </a:ln>
        </p:spPr>
      </p:sp>
      <p:sp>
        <p:nvSpPr>
          <p:cNvPr id="8" name="Text 6"/>
          <p:cNvSpPr/>
          <p:nvPr/>
        </p:nvSpPr>
        <p:spPr>
          <a:xfrm>
            <a:off x="1019175" y="5167759"/>
            <a:ext cx="167502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FD9BF"/>
                </a:solidFill>
                <a:latin typeface="Courier New" pitchFamily="34" charset="0"/>
                <a:ea typeface="Courier New" pitchFamily="34" charset="-122"/>
                <a:cs typeface="Courier New" pitchFamily="34" charset="-120"/>
              </a:rPr>
              <a:t>find / -perm -4000 -type f 2&gt;/dev/null</a:t>
            </a:r>
            <a:endParaRPr lang="en-US" sz="1800" dirty="0"/>
          </a:p>
        </p:txBody>
      </p:sp>
      <p:sp>
        <p:nvSpPr>
          <p:cNvPr id="9" name="Shape 7"/>
          <p:cNvSpPr/>
          <p:nvPr/>
        </p:nvSpPr>
        <p:spPr>
          <a:xfrm>
            <a:off x="800100" y="5863084"/>
            <a:ext cx="8239125"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1038225" y="610120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CAPABILITIES</a:t>
            </a:r>
            <a:endParaRPr lang="en-US" sz="1500" dirty="0"/>
          </a:p>
        </p:txBody>
      </p:sp>
      <p:sp>
        <p:nvSpPr>
          <p:cNvPr id="11" name="Text 9"/>
          <p:cNvSpPr/>
          <p:nvPr/>
        </p:nvSpPr>
        <p:spPr>
          <a:xfrm>
            <a:off x="1038225" y="642029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more fine-grained alternative to full SUID, granting a binary specific privileged operations without full root equivalence — still abusable if misconfigured.</a:t>
            </a:r>
            <a:endParaRPr lang="en-US" sz="1875" dirty="0"/>
          </a:p>
        </p:txBody>
      </p:sp>
      <p:sp>
        <p:nvSpPr>
          <p:cNvPr id="12" name="Shape 10"/>
          <p:cNvSpPr/>
          <p:nvPr/>
        </p:nvSpPr>
        <p:spPr>
          <a:xfrm>
            <a:off x="9248775" y="5863084"/>
            <a:ext cx="8239125" cy="1795463"/>
          </a:xfrm>
          <a:prstGeom prst="roundRect">
            <a:avLst>
              <a:gd name="adj" fmla="val 8488"/>
            </a:avLst>
          </a:prstGeom>
          <a:solidFill>
            <a:srgbClr val="FFFFFF">
              <a:alpha val="2000"/>
            </a:srgbClr>
          </a:solidFill>
          <a:ln w="9525">
            <a:solidFill>
              <a:srgbClr val="2A2F3A"/>
            </a:solidFill>
            <a:prstDash val="solid"/>
          </a:ln>
        </p:spPr>
      </p:sp>
      <p:sp>
        <p:nvSpPr>
          <p:cNvPr id="13" name="Text 11"/>
          <p:cNvSpPr/>
          <p:nvPr/>
        </p:nvSpPr>
        <p:spPr>
          <a:xfrm>
            <a:off x="9486900" y="610120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4" name="Text 12"/>
          <p:cNvSpPr/>
          <p:nvPr/>
        </p:nvSpPr>
        <p:spPr>
          <a:xfrm>
            <a:off x="9486900" y="642029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Objective 16.1's special bits, introduced conceptually there and abused concretely here.</a:t>
            </a:r>
            <a:endParaRPr lang="en-US" sz="18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06593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79596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16.4 · Task 2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Circumventing special sudo permissions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sudo configuration granting a user the ability to run specific commands as root, without requiring a password or with insufficiently restricted arguments, can frequently be turned into full root access.</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Many permitted commands can be manipulated through arguments or built-in functionality to spawn a root shell, well beyond the narrow task the permission was intended for.</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Sudo rules granted for legitimate operational convenience, without considering what the permitted command can be made to do beyond its intended use.</a:t>
            </a:r>
            <a:endParaRPr lang="en-US" sz="18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7106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801250"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16.4 · Task 3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Enumerating and abusing kernel vulnerabilities</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running kernel version can be checked against known, publicly documented vulnerabilities. Where one applies and a working exploit exists, it provides a direct escalation path independent of any file or sudo misconfiguration.</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host resistant to every other technique in this module may still be vulnerable through an unpatched kernel.</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Modules 11 and 12 directly — locating, analysing and, if necessary, fixing a kernel exploit follows the identical discipline taught there.</a:t>
            </a:r>
            <a:endParaRPr lang="en-US" sz="18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60985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REFERENCE</a:t>
            </a:r>
            <a:endParaRPr lang="en-US" sz="1650" dirty="0"/>
          </a:p>
        </p:txBody>
      </p:sp>
      <p:sp>
        <p:nvSpPr>
          <p:cNvPr id="4" name="Text 2"/>
          <p:cNvSpPr/>
          <p:nvPr/>
        </p:nvSpPr>
        <p:spPr>
          <a:xfrm>
            <a:off x="800100" y="3105150"/>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Linux escalation paths, at a glance</a:t>
            </a:r>
            <a:endParaRPr lang="en-US" sz="3000" dirty="0"/>
          </a:p>
        </p:txBody>
      </p:sp>
      <p:sp>
        <p:nvSpPr>
          <p:cNvPr id="5" name="Shape 3"/>
          <p:cNvSpPr/>
          <p:nvPr/>
        </p:nvSpPr>
        <p:spPr>
          <a:xfrm>
            <a:off x="800100" y="3771900"/>
            <a:ext cx="2781300" cy="500063"/>
          </a:xfrm>
          <a:prstGeom prst="rect">
            <a:avLst/>
          </a:prstGeom>
          <a:solidFill>
            <a:srgbClr val="FF6A00">
              <a:alpha val="18000"/>
            </a:srgbClr>
          </a:solidFill>
          <a:ln/>
        </p:spPr>
      </p:sp>
      <p:sp>
        <p:nvSpPr>
          <p:cNvPr id="6" name="Shape 4"/>
          <p:cNvSpPr/>
          <p:nvPr/>
        </p:nvSpPr>
        <p:spPr>
          <a:xfrm>
            <a:off x="800100" y="4262438"/>
            <a:ext cx="2781300" cy="9525"/>
          </a:xfrm>
          <a:prstGeom prst="rect">
            <a:avLst/>
          </a:prstGeom>
          <a:solidFill>
            <a:srgbClr val="B85100"/>
          </a:solidFill>
          <a:ln/>
        </p:spPr>
      </p:sp>
      <p:sp>
        <p:nvSpPr>
          <p:cNvPr id="7" name="Text 5"/>
          <p:cNvSpPr/>
          <p:nvPr/>
        </p:nvSpPr>
        <p:spPr>
          <a:xfrm>
            <a:off x="952500" y="3886200"/>
            <a:ext cx="255993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Path</a:t>
            </a:r>
            <a:endParaRPr lang="en-US" sz="1800" dirty="0"/>
          </a:p>
        </p:txBody>
      </p:sp>
      <p:sp>
        <p:nvSpPr>
          <p:cNvPr id="8" name="Shape 6"/>
          <p:cNvSpPr/>
          <p:nvPr/>
        </p:nvSpPr>
        <p:spPr>
          <a:xfrm>
            <a:off x="3581400" y="3771900"/>
            <a:ext cx="13906500" cy="500063"/>
          </a:xfrm>
          <a:prstGeom prst="rect">
            <a:avLst/>
          </a:prstGeom>
          <a:solidFill>
            <a:srgbClr val="FF6A00">
              <a:alpha val="18000"/>
            </a:srgbClr>
          </a:solidFill>
          <a:ln/>
        </p:spPr>
      </p:sp>
      <p:sp>
        <p:nvSpPr>
          <p:cNvPr id="9" name="Shape 7"/>
          <p:cNvSpPr/>
          <p:nvPr/>
        </p:nvSpPr>
        <p:spPr>
          <a:xfrm>
            <a:off x="3581400" y="4262438"/>
            <a:ext cx="13906500" cy="9525"/>
          </a:xfrm>
          <a:prstGeom prst="rect">
            <a:avLst/>
          </a:prstGeom>
          <a:solidFill>
            <a:srgbClr val="B85100"/>
          </a:solidFill>
          <a:ln/>
        </p:spPr>
      </p:sp>
      <p:sp>
        <p:nvSpPr>
          <p:cNvPr id="10" name="Text 8"/>
          <p:cNvSpPr/>
          <p:nvPr/>
        </p:nvSpPr>
        <p:spPr>
          <a:xfrm>
            <a:off x="3733800" y="3886200"/>
            <a:ext cx="14018895"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What to check</a:t>
            </a:r>
            <a:endParaRPr lang="en-US" sz="1800" dirty="0"/>
          </a:p>
        </p:txBody>
      </p:sp>
      <p:sp>
        <p:nvSpPr>
          <p:cNvPr id="11" name="Shape 9"/>
          <p:cNvSpPr/>
          <p:nvPr/>
        </p:nvSpPr>
        <p:spPr>
          <a:xfrm>
            <a:off x="800100" y="4271963"/>
            <a:ext cx="2781300" cy="485775"/>
          </a:xfrm>
          <a:prstGeom prst="rect">
            <a:avLst/>
          </a:prstGeom>
          <a:solidFill>
            <a:srgbClr val="FFFFFF">
              <a:alpha val="2000"/>
            </a:srgbClr>
          </a:solidFill>
          <a:ln/>
        </p:spPr>
      </p:sp>
      <p:sp>
        <p:nvSpPr>
          <p:cNvPr id="12" name="Shape 10"/>
          <p:cNvSpPr/>
          <p:nvPr/>
        </p:nvSpPr>
        <p:spPr>
          <a:xfrm>
            <a:off x="800100" y="4748213"/>
            <a:ext cx="2781300" cy="9525"/>
          </a:xfrm>
          <a:prstGeom prst="rect">
            <a:avLst/>
          </a:prstGeom>
          <a:solidFill>
            <a:srgbClr val="2A2F3A"/>
          </a:solidFill>
          <a:ln/>
        </p:spPr>
      </p:sp>
      <p:sp>
        <p:nvSpPr>
          <p:cNvPr id="13" name="Text 11"/>
          <p:cNvSpPr/>
          <p:nvPr/>
        </p:nvSpPr>
        <p:spPr>
          <a:xfrm>
            <a:off x="952500" y="4376738"/>
            <a:ext cx="255993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Shell history</a:t>
            </a:r>
            <a:endParaRPr lang="en-US" sz="1800" dirty="0"/>
          </a:p>
        </p:txBody>
      </p:sp>
      <p:sp>
        <p:nvSpPr>
          <p:cNvPr id="14" name="Shape 12"/>
          <p:cNvSpPr/>
          <p:nvPr/>
        </p:nvSpPr>
        <p:spPr>
          <a:xfrm>
            <a:off x="3581400" y="4271963"/>
            <a:ext cx="13906500" cy="485775"/>
          </a:xfrm>
          <a:prstGeom prst="rect">
            <a:avLst/>
          </a:prstGeom>
          <a:solidFill>
            <a:srgbClr val="FFFFFF">
              <a:alpha val="2000"/>
            </a:srgbClr>
          </a:solidFill>
          <a:ln/>
        </p:spPr>
      </p:sp>
      <p:sp>
        <p:nvSpPr>
          <p:cNvPr id="15" name="Shape 13"/>
          <p:cNvSpPr/>
          <p:nvPr/>
        </p:nvSpPr>
        <p:spPr>
          <a:xfrm>
            <a:off x="3581400" y="4748213"/>
            <a:ext cx="13906500" cy="9525"/>
          </a:xfrm>
          <a:prstGeom prst="rect">
            <a:avLst/>
          </a:prstGeom>
          <a:solidFill>
            <a:srgbClr val="2A2F3A"/>
          </a:solidFill>
          <a:ln/>
        </p:spPr>
      </p:sp>
      <p:sp>
        <p:nvSpPr>
          <p:cNvPr id="16" name="Text 14"/>
          <p:cNvSpPr/>
          <p:nvPr/>
        </p:nvSpPr>
        <p:spPr>
          <a:xfrm>
            <a:off x="3733800" y="4376738"/>
            <a:ext cx="14018895"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Do history files for any accessible account contain plaintext credentials?</a:t>
            </a:r>
            <a:endParaRPr lang="en-US" sz="1800" dirty="0"/>
          </a:p>
        </p:txBody>
      </p:sp>
      <p:sp>
        <p:nvSpPr>
          <p:cNvPr id="17" name="Shape 15"/>
          <p:cNvSpPr/>
          <p:nvPr/>
        </p:nvSpPr>
        <p:spPr>
          <a:xfrm>
            <a:off x="800100" y="5233988"/>
            <a:ext cx="2781300" cy="9525"/>
          </a:xfrm>
          <a:prstGeom prst="rect">
            <a:avLst/>
          </a:prstGeom>
          <a:solidFill>
            <a:srgbClr val="2A2F3A"/>
          </a:solidFill>
          <a:ln/>
        </p:spPr>
      </p:sp>
      <p:sp>
        <p:nvSpPr>
          <p:cNvPr id="18" name="Text 16"/>
          <p:cNvSpPr/>
          <p:nvPr/>
        </p:nvSpPr>
        <p:spPr>
          <a:xfrm>
            <a:off x="952500" y="4862513"/>
            <a:ext cx="255993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User &amp; system trails</a:t>
            </a:r>
            <a:endParaRPr lang="en-US" sz="1800" dirty="0"/>
          </a:p>
        </p:txBody>
      </p:sp>
      <p:sp>
        <p:nvSpPr>
          <p:cNvPr id="19" name="Shape 17"/>
          <p:cNvSpPr/>
          <p:nvPr/>
        </p:nvSpPr>
        <p:spPr>
          <a:xfrm>
            <a:off x="3581400" y="5233988"/>
            <a:ext cx="13906500" cy="9525"/>
          </a:xfrm>
          <a:prstGeom prst="rect">
            <a:avLst/>
          </a:prstGeom>
          <a:solidFill>
            <a:srgbClr val="2A2F3A"/>
          </a:solidFill>
          <a:ln/>
        </p:spPr>
      </p:sp>
      <p:sp>
        <p:nvSpPr>
          <p:cNvPr id="20" name="Text 18"/>
          <p:cNvSpPr/>
          <p:nvPr/>
        </p:nvSpPr>
        <p:spPr>
          <a:xfrm>
            <a:off x="3733800" y="4862513"/>
            <a:ext cx="14018895"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Do configuration files, logs, or saved sessions expose stored credentials?</a:t>
            </a:r>
            <a:endParaRPr lang="en-US" sz="1800" dirty="0"/>
          </a:p>
        </p:txBody>
      </p:sp>
      <p:sp>
        <p:nvSpPr>
          <p:cNvPr id="21" name="Shape 19"/>
          <p:cNvSpPr/>
          <p:nvPr/>
        </p:nvSpPr>
        <p:spPr>
          <a:xfrm>
            <a:off x="800100" y="5243513"/>
            <a:ext cx="2781300" cy="485775"/>
          </a:xfrm>
          <a:prstGeom prst="rect">
            <a:avLst/>
          </a:prstGeom>
          <a:solidFill>
            <a:srgbClr val="FFFFFF">
              <a:alpha val="2000"/>
            </a:srgbClr>
          </a:solidFill>
          <a:ln/>
        </p:spPr>
      </p:sp>
      <p:sp>
        <p:nvSpPr>
          <p:cNvPr id="22" name="Shape 20"/>
          <p:cNvSpPr/>
          <p:nvPr/>
        </p:nvSpPr>
        <p:spPr>
          <a:xfrm>
            <a:off x="800100" y="5719763"/>
            <a:ext cx="2781300" cy="9525"/>
          </a:xfrm>
          <a:prstGeom prst="rect">
            <a:avLst/>
          </a:prstGeom>
          <a:solidFill>
            <a:srgbClr val="2A2F3A"/>
          </a:solidFill>
          <a:ln/>
        </p:spPr>
      </p:sp>
      <p:sp>
        <p:nvSpPr>
          <p:cNvPr id="23" name="Text 21"/>
          <p:cNvSpPr/>
          <p:nvPr/>
        </p:nvSpPr>
        <p:spPr>
          <a:xfrm>
            <a:off x="952500" y="5348288"/>
            <a:ext cx="255993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Cron jobs</a:t>
            </a:r>
            <a:endParaRPr lang="en-US" sz="1800" dirty="0"/>
          </a:p>
        </p:txBody>
      </p:sp>
      <p:sp>
        <p:nvSpPr>
          <p:cNvPr id="24" name="Shape 22"/>
          <p:cNvSpPr/>
          <p:nvPr/>
        </p:nvSpPr>
        <p:spPr>
          <a:xfrm>
            <a:off x="3581400" y="5243513"/>
            <a:ext cx="13906500" cy="485775"/>
          </a:xfrm>
          <a:prstGeom prst="rect">
            <a:avLst/>
          </a:prstGeom>
          <a:solidFill>
            <a:srgbClr val="FFFFFF">
              <a:alpha val="2000"/>
            </a:srgbClr>
          </a:solidFill>
          <a:ln/>
        </p:spPr>
      </p:sp>
      <p:sp>
        <p:nvSpPr>
          <p:cNvPr id="25" name="Shape 23"/>
          <p:cNvSpPr/>
          <p:nvPr/>
        </p:nvSpPr>
        <p:spPr>
          <a:xfrm>
            <a:off x="3581400" y="5719763"/>
            <a:ext cx="13906500" cy="9525"/>
          </a:xfrm>
          <a:prstGeom prst="rect">
            <a:avLst/>
          </a:prstGeom>
          <a:solidFill>
            <a:srgbClr val="2A2F3A"/>
          </a:solidFill>
          <a:ln/>
        </p:spPr>
      </p:sp>
      <p:sp>
        <p:nvSpPr>
          <p:cNvPr id="26" name="Text 24"/>
          <p:cNvSpPr/>
          <p:nvPr/>
        </p:nvSpPr>
        <p:spPr>
          <a:xfrm>
            <a:off x="3733800" y="5348288"/>
            <a:ext cx="14018895"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Does a privileged cron job execute a script the current account can write to?</a:t>
            </a:r>
            <a:endParaRPr lang="en-US" sz="1800" dirty="0"/>
          </a:p>
        </p:txBody>
      </p:sp>
      <p:sp>
        <p:nvSpPr>
          <p:cNvPr id="27" name="Shape 25"/>
          <p:cNvSpPr/>
          <p:nvPr/>
        </p:nvSpPr>
        <p:spPr>
          <a:xfrm>
            <a:off x="800100" y="6205538"/>
            <a:ext cx="2781300" cy="9525"/>
          </a:xfrm>
          <a:prstGeom prst="rect">
            <a:avLst/>
          </a:prstGeom>
          <a:solidFill>
            <a:srgbClr val="2A2F3A"/>
          </a:solidFill>
          <a:ln/>
        </p:spPr>
      </p:sp>
      <p:sp>
        <p:nvSpPr>
          <p:cNvPr id="28" name="Text 26"/>
          <p:cNvSpPr/>
          <p:nvPr/>
        </p:nvSpPr>
        <p:spPr>
          <a:xfrm>
            <a:off x="952500" y="5834063"/>
            <a:ext cx="255993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File permissions</a:t>
            </a:r>
            <a:endParaRPr lang="en-US" sz="1800" dirty="0"/>
          </a:p>
        </p:txBody>
      </p:sp>
      <p:sp>
        <p:nvSpPr>
          <p:cNvPr id="29" name="Shape 27"/>
          <p:cNvSpPr/>
          <p:nvPr/>
        </p:nvSpPr>
        <p:spPr>
          <a:xfrm>
            <a:off x="3581400" y="6205538"/>
            <a:ext cx="13906500" cy="9525"/>
          </a:xfrm>
          <a:prstGeom prst="rect">
            <a:avLst/>
          </a:prstGeom>
          <a:solidFill>
            <a:srgbClr val="2A2F3A"/>
          </a:solidFill>
          <a:ln/>
        </p:spPr>
      </p:sp>
      <p:sp>
        <p:nvSpPr>
          <p:cNvPr id="30" name="Text 28"/>
          <p:cNvSpPr/>
          <p:nvPr/>
        </p:nvSpPr>
        <p:spPr>
          <a:xfrm>
            <a:off x="3733800" y="5834063"/>
            <a:ext cx="14018895"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Is any file trusted by a privileged process writable by the current account?</a:t>
            </a:r>
            <a:endParaRPr lang="en-US" sz="1800" dirty="0"/>
          </a:p>
        </p:txBody>
      </p:sp>
      <p:sp>
        <p:nvSpPr>
          <p:cNvPr id="31" name="Shape 29"/>
          <p:cNvSpPr/>
          <p:nvPr/>
        </p:nvSpPr>
        <p:spPr>
          <a:xfrm>
            <a:off x="800100" y="6215063"/>
            <a:ext cx="2781300" cy="485775"/>
          </a:xfrm>
          <a:prstGeom prst="rect">
            <a:avLst/>
          </a:prstGeom>
          <a:solidFill>
            <a:srgbClr val="FFFFFF">
              <a:alpha val="2000"/>
            </a:srgbClr>
          </a:solidFill>
          <a:ln/>
        </p:spPr>
      </p:sp>
      <p:sp>
        <p:nvSpPr>
          <p:cNvPr id="32" name="Shape 30"/>
          <p:cNvSpPr/>
          <p:nvPr/>
        </p:nvSpPr>
        <p:spPr>
          <a:xfrm>
            <a:off x="800100" y="6691313"/>
            <a:ext cx="2781300" cy="9525"/>
          </a:xfrm>
          <a:prstGeom prst="rect">
            <a:avLst/>
          </a:prstGeom>
          <a:solidFill>
            <a:srgbClr val="2A2F3A"/>
          </a:solidFill>
          <a:ln/>
        </p:spPr>
      </p:sp>
      <p:sp>
        <p:nvSpPr>
          <p:cNvPr id="33" name="Text 31"/>
          <p:cNvSpPr/>
          <p:nvPr/>
        </p:nvSpPr>
        <p:spPr>
          <a:xfrm>
            <a:off x="952500" y="6319838"/>
            <a:ext cx="255993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SUID / capabilities</a:t>
            </a:r>
            <a:endParaRPr lang="en-US" sz="1800" dirty="0"/>
          </a:p>
        </p:txBody>
      </p:sp>
      <p:sp>
        <p:nvSpPr>
          <p:cNvPr id="34" name="Shape 32"/>
          <p:cNvSpPr/>
          <p:nvPr/>
        </p:nvSpPr>
        <p:spPr>
          <a:xfrm>
            <a:off x="3581400" y="6215063"/>
            <a:ext cx="13906500" cy="485775"/>
          </a:xfrm>
          <a:prstGeom prst="rect">
            <a:avLst/>
          </a:prstGeom>
          <a:solidFill>
            <a:srgbClr val="FFFFFF">
              <a:alpha val="2000"/>
            </a:srgbClr>
          </a:solidFill>
          <a:ln/>
        </p:spPr>
      </p:sp>
      <p:sp>
        <p:nvSpPr>
          <p:cNvPr id="35" name="Shape 33"/>
          <p:cNvSpPr/>
          <p:nvPr/>
        </p:nvSpPr>
        <p:spPr>
          <a:xfrm>
            <a:off x="3581400" y="6691313"/>
            <a:ext cx="13906500" cy="9525"/>
          </a:xfrm>
          <a:prstGeom prst="rect">
            <a:avLst/>
          </a:prstGeom>
          <a:solidFill>
            <a:srgbClr val="2A2F3A"/>
          </a:solidFill>
          <a:ln/>
        </p:spPr>
      </p:sp>
      <p:sp>
        <p:nvSpPr>
          <p:cNvPr id="36" name="Text 34"/>
          <p:cNvSpPr/>
          <p:nvPr/>
        </p:nvSpPr>
        <p:spPr>
          <a:xfrm>
            <a:off x="3733800" y="6319838"/>
            <a:ext cx="14018895"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Does a SUID binary or capability-holding binary permit an unintended privileged action?</a:t>
            </a:r>
            <a:endParaRPr lang="en-US" sz="1800" dirty="0"/>
          </a:p>
        </p:txBody>
      </p:sp>
      <p:sp>
        <p:nvSpPr>
          <p:cNvPr id="37" name="Shape 35"/>
          <p:cNvSpPr/>
          <p:nvPr/>
        </p:nvSpPr>
        <p:spPr>
          <a:xfrm>
            <a:off x="800100" y="7177088"/>
            <a:ext cx="2781300" cy="9525"/>
          </a:xfrm>
          <a:prstGeom prst="rect">
            <a:avLst/>
          </a:prstGeom>
          <a:solidFill>
            <a:srgbClr val="2A2F3A"/>
          </a:solidFill>
          <a:ln/>
        </p:spPr>
      </p:sp>
      <p:sp>
        <p:nvSpPr>
          <p:cNvPr id="38" name="Text 36"/>
          <p:cNvSpPr/>
          <p:nvPr/>
        </p:nvSpPr>
        <p:spPr>
          <a:xfrm>
            <a:off x="952500" y="6805613"/>
            <a:ext cx="255993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Sudo rules</a:t>
            </a:r>
            <a:endParaRPr lang="en-US" sz="1800" dirty="0"/>
          </a:p>
        </p:txBody>
      </p:sp>
      <p:sp>
        <p:nvSpPr>
          <p:cNvPr id="39" name="Shape 37"/>
          <p:cNvSpPr/>
          <p:nvPr/>
        </p:nvSpPr>
        <p:spPr>
          <a:xfrm>
            <a:off x="3581400" y="7177088"/>
            <a:ext cx="13906500" cy="9525"/>
          </a:xfrm>
          <a:prstGeom prst="rect">
            <a:avLst/>
          </a:prstGeom>
          <a:solidFill>
            <a:srgbClr val="2A2F3A"/>
          </a:solidFill>
          <a:ln/>
        </p:spPr>
      </p:sp>
      <p:sp>
        <p:nvSpPr>
          <p:cNvPr id="40" name="Text 38"/>
          <p:cNvSpPr/>
          <p:nvPr/>
        </p:nvSpPr>
        <p:spPr>
          <a:xfrm>
            <a:off x="3733800" y="6805613"/>
            <a:ext cx="14018895"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Can a permitted sudo command be manipulated into a root shell?</a:t>
            </a:r>
            <a:endParaRPr lang="en-US" sz="1800" dirty="0"/>
          </a:p>
        </p:txBody>
      </p:sp>
      <p:sp>
        <p:nvSpPr>
          <p:cNvPr id="41" name="Shape 39"/>
          <p:cNvSpPr/>
          <p:nvPr/>
        </p:nvSpPr>
        <p:spPr>
          <a:xfrm>
            <a:off x="800100" y="7186613"/>
            <a:ext cx="2781300" cy="485775"/>
          </a:xfrm>
          <a:prstGeom prst="rect">
            <a:avLst/>
          </a:prstGeom>
          <a:solidFill>
            <a:srgbClr val="FFFFFF">
              <a:alpha val="2000"/>
            </a:srgbClr>
          </a:solidFill>
          <a:ln/>
        </p:spPr>
      </p:sp>
      <p:sp>
        <p:nvSpPr>
          <p:cNvPr id="42" name="Shape 40"/>
          <p:cNvSpPr/>
          <p:nvPr/>
        </p:nvSpPr>
        <p:spPr>
          <a:xfrm>
            <a:off x="800100" y="7662863"/>
            <a:ext cx="2781300" cy="9525"/>
          </a:xfrm>
          <a:prstGeom prst="rect">
            <a:avLst/>
          </a:prstGeom>
          <a:solidFill>
            <a:srgbClr val="2A2F3A"/>
          </a:solidFill>
          <a:ln/>
        </p:spPr>
      </p:sp>
      <p:sp>
        <p:nvSpPr>
          <p:cNvPr id="43" name="Text 41"/>
          <p:cNvSpPr/>
          <p:nvPr/>
        </p:nvSpPr>
        <p:spPr>
          <a:xfrm>
            <a:off x="952500" y="7291388"/>
            <a:ext cx="255993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Kernel</a:t>
            </a:r>
            <a:endParaRPr lang="en-US" sz="1800" dirty="0"/>
          </a:p>
        </p:txBody>
      </p:sp>
      <p:sp>
        <p:nvSpPr>
          <p:cNvPr id="44" name="Shape 42"/>
          <p:cNvSpPr/>
          <p:nvPr/>
        </p:nvSpPr>
        <p:spPr>
          <a:xfrm>
            <a:off x="3581400" y="7186613"/>
            <a:ext cx="13906500" cy="485775"/>
          </a:xfrm>
          <a:prstGeom prst="rect">
            <a:avLst/>
          </a:prstGeom>
          <a:solidFill>
            <a:srgbClr val="FFFFFF">
              <a:alpha val="2000"/>
            </a:srgbClr>
          </a:solidFill>
          <a:ln/>
        </p:spPr>
      </p:sp>
      <p:sp>
        <p:nvSpPr>
          <p:cNvPr id="45" name="Shape 43"/>
          <p:cNvSpPr/>
          <p:nvPr/>
        </p:nvSpPr>
        <p:spPr>
          <a:xfrm>
            <a:off x="3581400" y="7662863"/>
            <a:ext cx="13906500" cy="9525"/>
          </a:xfrm>
          <a:prstGeom prst="rect">
            <a:avLst/>
          </a:prstGeom>
          <a:solidFill>
            <a:srgbClr val="2A2F3A"/>
          </a:solidFill>
          <a:ln/>
        </p:spPr>
      </p:sp>
      <p:sp>
        <p:nvSpPr>
          <p:cNvPr id="46" name="Text 44"/>
          <p:cNvSpPr/>
          <p:nvPr/>
        </p:nvSpPr>
        <p:spPr>
          <a:xfrm>
            <a:off x="3733800" y="7291388"/>
            <a:ext cx="14018895"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Does the running kernel version match a known, exploitable vulnerability?</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94017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APPLIED SCENARIO · DISCUSSION</a:t>
            </a:r>
            <a:endParaRPr lang="en-US" sz="1650" dirty="0"/>
          </a:p>
        </p:txBody>
      </p:sp>
      <p:sp>
        <p:nvSpPr>
          <p:cNvPr id="4" name="Text 2"/>
          <p:cNvSpPr/>
          <p:nvPr/>
        </p:nvSpPr>
        <p:spPr>
          <a:xfrm>
            <a:off x="800100" y="343547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Choosing an escalation path on a Linux host</a:t>
            </a:r>
            <a:endParaRPr lang="en-US" sz="3000" dirty="0"/>
          </a:p>
        </p:txBody>
      </p:sp>
      <p:sp>
        <p:nvSpPr>
          <p:cNvPr id="5" name="Text 3"/>
          <p:cNvSpPr/>
          <p:nvPr/>
        </p:nvSpPr>
        <p:spPr>
          <a:xfrm>
            <a:off x="800100" y="4102224"/>
            <a:ext cx="15304770" cy="1239589"/>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Automated enumeration on a freshly compromised Linux host reports a sudo rule permitting the current user to run a text editor as root with no password, and a cron job running every five minutes as root that executes a script writable by the current user.</a:t>
            </a:r>
            <a:endParaRPr lang="en-US" sz="2175" dirty="0"/>
          </a:p>
        </p:txBody>
      </p:sp>
      <p:sp>
        <p:nvSpPr>
          <p:cNvPr id="6" name="Shape 4"/>
          <p:cNvSpPr/>
          <p:nvPr/>
        </p:nvSpPr>
        <p:spPr>
          <a:xfrm>
            <a:off x="800100" y="5551363"/>
            <a:ext cx="5435575" cy="1795463"/>
          </a:xfrm>
          <a:prstGeom prst="roundRect">
            <a:avLst>
              <a:gd name="adj" fmla="val 8488"/>
            </a:avLst>
          </a:prstGeom>
          <a:solidFill>
            <a:srgbClr val="FFFFFF">
              <a:alpha val="2000"/>
            </a:srgbClr>
          </a:solidFill>
          <a:ln w="9525">
            <a:solidFill>
              <a:srgbClr val="2A2F3A"/>
            </a:solidFill>
            <a:prstDash val="solid"/>
          </a:ln>
        </p:spPr>
      </p:sp>
      <p:sp>
        <p:nvSpPr>
          <p:cNvPr id="7" name="Text 5"/>
          <p:cNvSpPr/>
          <p:nvPr/>
        </p:nvSpPr>
        <p:spPr>
          <a:xfrm>
            <a:off x="1038225" y="5789488"/>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8" name="Text 6"/>
          <p:cNvSpPr/>
          <p:nvPr/>
        </p:nvSpPr>
        <p:spPr>
          <a:xfrm>
            <a:off x="1038225" y="610857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Which of the two findings would you pursue first, and why might one be preferable in terms of speed or reliability?</a:t>
            </a:r>
            <a:endParaRPr lang="en-US" sz="1875" dirty="0"/>
          </a:p>
        </p:txBody>
      </p:sp>
      <p:sp>
        <p:nvSpPr>
          <p:cNvPr id="9" name="Shape 7"/>
          <p:cNvSpPr/>
          <p:nvPr/>
        </p:nvSpPr>
        <p:spPr>
          <a:xfrm>
            <a:off x="6426175" y="5551363"/>
            <a:ext cx="5435575"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6664300" y="5789488"/>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1" name="Text 9"/>
          <p:cNvSpPr/>
          <p:nvPr/>
        </p:nvSpPr>
        <p:spPr>
          <a:xfrm>
            <a:off x="6664300" y="610857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What would you verify manually about each finding before treating it as confirmed rather than merely suggested by the tool?</a:t>
            </a:r>
            <a:endParaRPr lang="en-US" sz="1875" dirty="0"/>
          </a:p>
        </p:txBody>
      </p:sp>
      <p:sp>
        <p:nvSpPr>
          <p:cNvPr id="12" name="Shape 10"/>
          <p:cNvSpPr/>
          <p:nvPr/>
        </p:nvSpPr>
        <p:spPr>
          <a:xfrm>
            <a:off x="12052250" y="5551363"/>
            <a:ext cx="5435650" cy="1795463"/>
          </a:xfrm>
          <a:prstGeom prst="roundRect">
            <a:avLst>
              <a:gd name="adj" fmla="val 8488"/>
            </a:avLst>
          </a:prstGeom>
          <a:solidFill>
            <a:srgbClr val="FFFFFF">
              <a:alpha val="2000"/>
            </a:srgbClr>
          </a:solidFill>
          <a:ln w="9525">
            <a:solidFill>
              <a:srgbClr val="2A2F3A"/>
            </a:solidFill>
            <a:prstDash val="solid"/>
          </a:ln>
        </p:spPr>
      </p:sp>
      <p:sp>
        <p:nvSpPr>
          <p:cNvPr id="13" name="Text 11"/>
          <p:cNvSpPr/>
          <p:nvPr/>
        </p:nvSpPr>
        <p:spPr>
          <a:xfrm>
            <a:off x="12290375" y="5789488"/>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4" name="Text 12"/>
          <p:cNvSpPr/>
          <p:nvPr/>
        </p:nvSpPr>
        <p:spPr>
          <a:xfrm>
            <a:off x="12290375" y="610857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If both paths were somehow blocked, which objective from 16.2 would you return to next, and why?</a:t>
            </a:r>
            <a:endParaRPr lang="en-US" sz="18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2350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3775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1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Verifying automated findings manually</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Before acting on an automated enumeration result, manually inspect the actual permission, sudo rule, or SUID bit the tool flagged — the identical discipline required in Module 15.</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Directly check the file permission, sudo configuration, or SUID bit the tool reported before attempting to exploit it.</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Objective 16.1's automated enumeration task, and the same caveat from Module 15's equivalent objective.</a:t>
            </a:r>
            <a:endParaRPr lang="en-US" sz="18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4776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62014"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2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Searching beyond shell history systematically</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Extend the credential search past shell history into configuration files, saved sessions, and system-wide logs — each named as its own Module 16 objective for a reason.</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Stopping at shell history alone misses two entire named categories of exposed credential in this module.</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Objectives 16.2's user trails and system trails tasks, treated as a checklist rather than an afterthought.</a:t>
            </a:r>
            <a:endParaRPr lang="en-US" sz="18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35289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06714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3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Confirming real exploitability of sudo and SUID findings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permitted sudo command or a SUID binary is only useful if it can genuinely be manipulated into unintended privileged action — confirm this before assuming the escalation path is complete.</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Check the specific binary's known behaviour and any arguments or built-in functionality that could be abused, rather than assuming permission alone is sufficient.</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12's discipline of understanding exactly what is happening before acting on it.</a:t>
            </a:r>
            <a:endParaRPr lang="en-US" sz="18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09562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3590925"/>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Windows versus Linux escalation, side by side</a:t>
            </a:r>
            <a:endParaRPr lang="en-US" sz="3000" dirty="0"/>
          </a:p>
        </p:txBody>
      </p:sp>
      <p:sp>
        <p:nvSpPr>
          <p:cNvPr id="5" name="Shape 3"/>
          <p:cNvSpPr/>
          <p:nvPr/>
        </p:nvSpPr>
        <p:spPr>
          <a:xfrm>
            <a:off x="800100" y="4257675"/>
            <a:ext cx="3543300" cy="500063"/>
          </a:xfrm>
          <a:prstGeom prst="rect">
            <a:avLst/>
          </a:prstGeom>
          <a:solidFill>
            <a:srgbClr val="FF6A00">
              <a:alpha val="18000"/>
            </a:srgbClr>
          </a:solidFill>
          <a:ln/>
        </p:spPr>
      </p:sp>
      <p:sp>
        <p:nvSpPr>
          <p:cNvPr id="6" name="Shape 4"/>
          <p:cNvSpPr/>
          <p:nvPr/>
        </p:nvSpPr>
        <p:spPr>
          <a:xfrm>
            <a:off x="800100" y="4748213"/>
            <a:ext cx="3543300" cy="9525"/>
          </a:xfrm>
          <a:prstGeom prst="rect">
            <a:avLst/>
          </a:prstGeom>
          <a:solidFill>
            <a:srgbClr val="B85100"/>
          </a:solidFill>
          <a:ln/>
        </p:spPr>
      </p:sp>
      <p:sp>
        <p:nvSpPr>
          <p:cNvPr id="7" name="Text 5"/>
          <p:cNvSpPr/>
          <p:nvPr/>
        </p:nvSpPr>
        <p:spPr>
          <a:xfrm>
            <a:off x="952500" y="4371975"/>
            <a:ext cx="334479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Category</a:t>
            </a:r>
            <a:endParaRPr lang="en-US" sz="1800" dirty="0"/>
          </a:p>
        </p:txBody>
      </p:sp>
      <p:sp>
        <p:nvSpPr>
          <p:cNvPr id="8" name="Shape 6"/>
          <p:cNvSpPr/>
          <p:nvPr/>
        </p:nvSpPr>
        <p:spPr>
          <a:xfrm>
            <a:off x="4343400" y="4257675"/>
            <a:ext cx="4686300" cy="500063"/>
          </a:xfrm>
          <a:prstGeom prst="rect">
            <a:avLst/>
          </a:prstGeom>
          <a:solidFill>
            <a:srgbClr val="FF6A00">
              <a:alpha val="18000"/>
            </a:srgbClr>
          </a:solidFill>
          <a:ln/>
        </p:spPr>
      </p:sp>
      <p:sp>
        <p:nvSpPr>
          <p:cNvPr id="9" name="Shape 7"/>
          <p:cNvSpPr/>
          <p:nvPr/>
        </p:nvSpPr>
        <p:spPr>
          <a:xfrm>
            <a:off x="4343400" y="4748213"/>
            <a:ext cx="4686300" cy="9525"/>
          </a:xfrm>
          <a:prstGeom prst="rect">
            <a:avLst/>
          </a:prstGeom>
          <a:solidFill>
            <a:srgbClr val="B85100"/>
          </a:solidFill>
          <a:ln/>
        </p:spPr>
      </p:sp>
      <p:sp>
        <p:nvSpPr>
          <p:cNvPr id="10" name="Text 8"/>
          <p:cNvSpPr/>
          <p:nvPr/>
        </p:nvSpPr>
        <p:spPr>
          <a:xfrm>
            <a:off x="4495800" y="4371975"/>
            <a:ext cx="452208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Windows (Module 15)</a:t>
            </a:r>
            <a:endParaRPr lang="en-US" sz="1800" dirty="0"/>
          </a:p>
        </p:txBody>
      </p:sp>
      <p:sp>
        <p:nvSpPr>
          <p:cNvPr id="11" name="Shape 9"/>
          <p:cNvSpPr/>
          <p:nvPr/>
        </p:nvSpPr>
        <p:spPr>
          <a:xfrm>
            <a:off x="9029700" y="4257675"/>
            <a:ext cx="8458200" cy="500063"/>
          </a:xfrm>
          <a:prstGeom prst="rect">
            <a:avLst/>
          </a:prstGeom>
          <a:solidFill>
            <a:srgbClr val="FF6A00">
              <a:alpha val="18000"/>
            </a:srgbClr>
          </a:solidFill>
          <a:ln/>
        </p:spPr>
      </p:sp>
      <p:sp>
        <p:nvSpPr>
          <p:cNvPr id="12" name="Shape 10"/>
          <p:cNvSpPr/>
          <p:nvPr/>
        </p:nvSpPr>
        <p:spPr>
          <a:xfrm>
            <a:off x="9029700" y="4748213"/>
            <a:ext cx="8458200" cy="9525"/>
          </a:xfrm>
          <a:prstGeom prst="rect">
            <a:avLst/>
          </a:prstGeom>
          <a:solidFill>
            <a:srgbClr val="B85100"/>
          </a:solidFill>
          <a:ln/>
        </p:spPr>
      </p:sp>
      <p:sp>
        <p:nvSpPr>
          <p:cNvPr id="13" name="Text 11"/>
          <p:cNvSpPr/>
          <p:nvPr/>
        </p:nvSpPr>
        <p:spPr>
          <a:xfrm>
            <a:off x="9182100" y="4371975"/>
            <a:ext cx="8407146"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Linux (Module 16)</a:t>
            </a:r>
            <a:endParaRPr lang="en-US" sz="1800" dirty="0"/>
          </a:p>
        </p:txBody>
      </p:sp>
      <p:sp>
        <p:nvSpPr>
          <p:cNvPr id="14" name="Shape 12"/>
          <p:cNvSpPr/>
          <p:nvPr/>
        </p:nvSpPr>
        <p:spPr>
          <a:xfrm>
            <a:off x="800100" y="4757738"/>
            <a:ext cx="3543300" cy="485775"/>
          </a:xfrm>
          <a:prstGeom prst="rect">
            <a:avLst/>
          </a:prstGeom>
          <a:solidFill>
            <a:srgbClr val="FFFFFF">
              <a:alpha val="2000"/>
            </a:srgbClr>
          </a:solidFill>
          <a:ln/>
        </p:spPr>
      </p:sp>
      <p:sp>
        <p:nvSpPr>
          <p:cNvPr id="15" name="Shape 13"/>
          <p:cNvSpPr/>
          <p:nvPr/>
        </p:nvSpPr>
        <p:spPr>
          <a:xfrm>
            <a:off x="800100" y="5233988"/>
            <a:ext cx="3543300" cy="9525"/>
          </a:xfrm>
          <a:prstGeom prst="rect">
            <a:avLst/>
          </a:prstGeom>
          <a:solidFill>
            <a:srgbClr val="2A2F3A"/>
          </a:solidFill>
          <a:ln/>
        </p:spPr>
      </p:sp>
      <p:sp>
        <p:nvSpPr>
          <p:cNvPr id="16" name="Text 14"/>
          <p:cNvSpPr/>
          <p:nvPr/>
        </p:nvSpPr>
        <p:spPr>
          <a:xfrm>
            <a:off x="952500" y="4862513"/>
            <a:ext cx="334479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Scheduled execution</a:t>
            </a:r>
            <a:endParaRPr lang="en-US" sz="1800" dirty="0"/>
          </a:p>
        </p:txBody>
      </p:sp>
      <p:sp>
        <p:nvSpPr>
          <p:cNvPr id="17" name="Shape 15"/>
          <p:cNvSpPr/>
          <p:nvPr/>
        </p:nvSpPr>
        <p:spPr>
          <a:xfrm>
            <a:off x="4343400" y="4757738"/>
            <a:ext cx="4686300" cy="485775"/>
          </a:xfrm>
          <a:prstGeom prst="rect">
            <a:avLst/>
          </a:prstGeom>
          <a:solidFill>
            <a:srgbClr val="FFFFFF">
              <a:alpha val="2000"/>
            </a:srgbClr>
          </a:solidFill>
          <a:ln/>
        </p:spPr>
      </p:sp>
      <p:sp>
        <p:nvSpPr>
          <p:cNvPr id="18" name="Shape 16"/>
          <p:cNvSpPr/>
          <p:nvPr/>
        </p:nvSpPr>
        <p:spPr>
          <a:xfrm>
            <a:off x="4343400" y="5233988"/>
            <a:ext cx="4686300" cy="9525"/>
          </a:xfrm>
          <a:prstGeom prst="rect">
            <a:avLst/>
          </a:prstGeom>
          <a:solidFill>
            <a:srgbClr val="2A2F3A"/>
          </a:solidFill>
          <a:ln/>
        </p:spPr>
      </p:sp>
      <p:sp>
        <p:nvSpPr>
          <p:cNvPr id="19" name="Text 17"/>
          <p:cNvSpPr/>
          <p:nvPr/>
        </p:nvSpPr>
        <p:spPr>
          <a:xfrm>
            <a:off x="4495800" y="4862513"/>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Scheduled Tasks</a:t>
            </a:r>
            <a:endParaRPr lang="en-US" sz="1800" dirty="0"/>
          </a:p>
        </p:txBody>
      </p:sp>
      <p:sp>
        <p:nvSpPr>
          <p:cNvPr id="20" name="Shape 18"/>
          <p:cNvSpPr/>
          <p:nvPr/>
        </p:nvSpPr>
        <p:spPr>
          <a:xfrm>
            <a:off x="9029700" y="4757738"/>
            <a:ext cx="8458200" cy="485775"/>
          </a:xfrm>
          <a:prstGeom prst="rect">
            <a:avLst/>
          </a:prstGeom>
          <a:solidFill>
            <a:srgbClr val="FFFFFF">
              <a:alpha val="2000"/>
            </a:srgbClr>
          </a:solidFill>
          <a:ln/>
        </p:spPr>
      </p:sp>
      <p:sp>
        <p:nvSpPr>
          <p:cNvPr id="21" name="Shape 19"/>
          <p:cNvSpPr/>
          <p:nvPr/>
        </p:nvSpPr>
        <p:spPr>
          <a:xfrm>
            <a:off x="9029700" y="5233988"/>
            <a:ext cx="8458200" cy="9525"/>
          </a:xfrm>
          <a:prstGeom prst="rect">
            <a:avLst/>
          </a:prstGeom>
          <a:solidFill>
            <a:srgbClr val="2A2F3A"/>
          </a:solidFill>
          <a:ln/>
        </p:spPr>
      </p:sp>
      <p:sp>
        <p:nvSpPr>
          <p:cNvPr id="22" name="Text 20"/>
          <p:cNvSpPr/>
          <p:nvPr/>
        </p:nvSpPr>
        <p:spPr>
          <a:xfrm>
            <a:off x="9182100" y="4862513"/>
            <a:ext cx="840714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Cron jobs</a:t>
            </a:r>
            <a:endParaRPr lang="en-US" sz="1800" dirty="0"/>
          </a:p>
        </p:txBody>
      </p:sp>
      <p:sp>
        <p:nvSpPr>
          <p:cNvPr id="23" name="Shape 21"/>
          <p:cNvSpPr/>
          <p:nvPr/>
        </p:nvSpPr>
        <p:spPr>
          <a:xfrm>
            <a:off x="800100" y="5719763"/>
            <a:ext cx="3543300" cy="9525"/>
          </a:xfrm>
          <a:prstGeom prst="rect">
            <a:avLst/>
          </a:prstGeom>
          <a:solidFill>
            <a:srgbClr val="2A2F3A"/>
          </a:solidFill>
          <a:ln/>
        </p:spPr>
      </p:sp>
      <p:sp>
        <p:nvSpPr>
          <p:cNvPr id="24" name="Text 22"/>
          <p:cNvSpPr/>
          <p:nvPr/>
        </p:nvSpPr>
        <p:spPr>
          <a:xfrm>
            <a:off x="952500" y="5348288"/>
            <a:ext cx="334479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History artefacts</a:t>
            </a:r>
            <a:endParaRPr lang="en-US" sz="1800" dirty="0"/>
          </a:p>
        </p:txBody>
      </p:sp>
      <p:sp>
        <p:nvSpPr>
          <p:cNvPr id="25" name="Shape 23"/>
          <p:cNvSpPr/>
          <p:nvPr/>
        </p:nvSpPr>
        <p:spPr>
          <a:xfrm>
            <a:off x="4343400" y="5719763"/>
            <a:ext cx="4686300" cy="9525"/>
          </a:xfrm>
          <a:prstGeom prst="rect">
            <a:avLst/>
          </a:prstGeom>
          <a:solidFill>
            <a:srgbClr val="2A2F3A"/>
          </a:solidFill>
          <a:ln/>
        </p:spPr>
      </p:sp>
      <p:sp>
        <p:nvSpPr>
          <p:cNvPr id="26" name="Text 24"/>
          <p:cNvSpPr/>
          <p:nvPr/>
        </p:nvSpPr>
        <p:spPr>
          <a:xfrm>
            <a:off x="4495800" y="5348288"/>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PowerShell history/transcripts</a:t>
            </a:r>
            <a:endParaRPr lang="en-US" sz="1800" dirty="0"/>
          </a:p>
        </p:txBody>
      </p:sp>
      <p:sp>
        <p:nvSpPr>
          <p:cNvPr id="27" name="Shape 25"/>
          <p:cNvSpPr/>
          <p:nvPr/>
        </p:nvSpPr>
        <p:spPr>
          <a:xfrm>
            <a:off x="9029700" y="5719763"/>
            <a:ext cx="8458200" cy="9525"/>
          </a:xfrm>
          <a:prstGeom prst="rect">
            <a:avLst/>
          </a:prstGeom>
          <a:solidFill>
            <a:srgbClr val="2A2F3A"/>
          </a:solidFill>
          <a:ln/>
        </p:spPr>
      </p:sp>
      <p:sp>
        <p:nvSpPr>
          <p:cNvPr id="28" name="Text 26"/>
          <p:cNvSpPr/>
          <p:nvPr/>
        </p:nvSpPr>
        <p:spPr>
          <a:xfrm>
            <a:off x="9182100" y="5348288"/>
            <a:ext cx="840714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Shell history files</a:t>
            </a:r>
            <a:endParaRPr lang="en-US" sz="1800" dirty="0"/>
          </a:p>
        </p:txBody>
      </p:sp>
      <p:sp>
        <p:nvSpPr>
          <p:cNvPr id="29" name="Shape 27"/>
          <p:cNvSpPr/>
          <p:nvPr/>
        </p:nvSpPr>
        <p:spPr>
          <a:xfrm>
            <a:off x="800100" y="5729288"/>
            <a:ext cx="3543300" cy="485775"/>
          </a:xfrm>
          <a:prstGeom prst="rect">
            <a:avLst/>
          </a:prstGeom>
          <a:solidFill>
            <a:srgbClr val="FFFFFF">
              <a:alpha val="2000"/>
            </a:srgbClr>
          </a:solidFill>
          <a:ln/>
        </p:spPr>
      </p:sp>
      <p:sp>
        <p:nvSpPr>
          <p:cNvPr id="30" name="Shape 28"/>
          <p:cNvSpPr/>
          <p:nvPr/>
        </p:nvSpPr>
        <p:spPr>
          <a:xfrm>
            <a:off x="800100" y="6205538"/>
            <a:ext cx="3543300" cy="9525"/>
          </a:xfrm>
          <a:prstGeom prst="rect">
            <a:avLst/>
          </a:prstGeom>
          <a:solidFill>
            <a:srgbClr val="2A2F3A"/>
          </a:solidFill>
          <a:ln/>
        </p:spPr>
      </p:sp>
      <p:sp>
        <p:nvSpPr>
          <p:cNvPr id="31" name="Text 29"/>
          <p:cNvSpPr/>
          <p:nvPr/>
        </p:nvSpPr>
        <p:spPr>
          <a:xfrm>
            <a:off x="952500" y="5834063"/>
            <a:ext cx="334479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Special execution bits</a:t>
            </a:r>
            <a:endParaRPr lang="en-US" sz="1800" dirty="0"/>
          </a:p>
        </p:txBody>
      </p:sp>
      <p:sp>
        <p:nvSpPr>
          <p:cNvPr id="32" name="Shape 30"/>
          <p:cNvSpPr/>
          <p:nvPr/>
        </p:nvSpPr>
        <p:spPr>
          <a:xfrm>
            <a:off x="4343400" y="5729288"/>
            <a:ext cx="4686300" cy="485775"/>
          </a:xfrm>
          <a:prstGeom prst="rect">
            <a:avLst/>
          </a:prstGeom>
          <a:solidFill>
            <a:srgbClr val="FFFFFF">
              <a:alpha val="2000"/>
            </a:srgbClr>
          </a:solidFill>
          <a:ln/>
        </p:spPr>
      </p:sp>
      <p:sp>
        <p:nvSpPr>
          <p:cNvPr id="33" name="Shape 31"/>
          <p:cNvSpPr/>
          <p:nvPr/>
        </p:nvSpPr>
        <p:spPr>
          <a:xfrm>
            <a:off x="4343400" y="6205538"/>
            <a:ext cx="4686300" cy="9525"/>
          </a:xfrm>
          <a:prstGeom prst="rect">
            <a:avLst/>
          </a:prstGeom>
          <a:solidFill>
            <a:srgbClr val="2A2F3A"/>
          </a:solidFill>
          <a:ln/>
        </p:spPr>
      </p:sp>
      <p:sp>
        <p:nvSpPr>
          <p:cNvPr id="34" name="Text 32"/>
          <p:cNvSpPr/>
          <p:nvPr/>
        </p:nvSpPr>
        <p:spPr>
          <a:xfrm>
            <a:off x="4495800" y="5834063"/>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Service binary/DLL trust</a:t>
            </a:r>
            <a:endParaRPr lang="en-US" sz="1800" dirty="0"/>
          </a:p>
        </p:txBody>
      </p:sp>
      <p:sp>
        <p:nvSpPr>
          <p:cNvPr id="35" name="Shape 33"/>
          <p:cNvSpPr/>
          <p:nvPr/>
        </p:nvSpPr>
        <p:spPr>
          <a:xfrm>
            <a:off x="9029700" y="5729288"/>
            <a:ext cx="8458200" cy="485775"/>
          </a:xfrm>
          <a:prstGeom prst="rect">
            <a:avLst/>
          </a:prstGeom>
          <a:solidFill>
            <a:srgbClr val="FFFFFF">
              <a:alpha val="2000"/>
            </a:srgbClr>
          </a:solidFill>
          <a:ln/>
        </p:spPr>
      </p:sp>
      <p:sp>
        <p:nvSpPr>
          <p:cNvPr id="36" name="Shape 34"/>
          <p:cNvSpPr/>
          <p:nvPr/>
        </p:nvSpPr>
        <p:spPr>
          <a:xfrm>
            <a:off x="9029700" y="6205538"/>
            <a:ext cx="8458200" cy="9525"/>
          </a:xfrm>
          <a:prstGeom prst="rect">
            <a:avLst/>
          </a:prstGeom>
          <a:solidFill>
            <a:srgbClr val="2A2F3A"/>
          </a:solidFill>
          <a:ln/>
        </p:spPr>
      </p:sp>
      <p:sp>
        <p:nvSpPr>
          <p:cNvPr id="37" name="Text 35"/>
          <p:cNvSpPr/>
          <p:nvPr/>
        </p:nvSpPr>
        <p:spPr>
          <a:xfrm>
            <a:off x="9182100" y="5834063"/>
            <a:ext cx="840714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SUID and capabilities</a:t>
            </a:r>
            <a:endParaRPr lang="en-US" sz="1800" dirty="0"/>
          </a:p>
        </p:txBody>
      </p:sp>
      <p:sp>
        <p:nvSpPr>
          <p:cNvPr id="38" name="Shape 36"/>
          <p:cNvSpPr/>
          <p:nvPr/>
        </p:nvSpPr>
        <p:spPr>
          <a:xfrm>
            <a:off x="800100" y="6691313"/>
            <a:ext cx="3543300" cy="9525"/>
          </a:xfrm>
          <a:prstGeom prst="rect">
            <a:avLst/>
          </a:prstGeom>
          <a:solidFill>
            <a:srgbClr val="2A2F3A"/>
          </a:solidFill>
          <a:ln/>
        </p:spPr>
      </p:sp>
      <p:sp>
        <p:nvSpPr>
          <p:cNvPr id="39" name="Text 37"/>
          <p:cNvSpPr/>
          <p:nvPr/>
        </p:nvSpPr>
        <p:spPr>
          <a:xfrm>
            <a:off x="952500" y="6319838"/>
            <a:ext cx="334479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Granted-privilege abuse</a:t>
            </a:r>
            <a:endParaRPr lang="en-US" sz="1800" dirty="0"/>
          </a:p>
        </p:txBody>
      </p:sp>
      <p:sp>
        <p:nvSpPr>
          <p:cNvPr id="40" name="Shape 38"/>
          <p:cNvSpPr/>
          <p:nvPr/>
        </p:nvSpPr>
        <p:spPr>
          <a:xfrm>
            <a:off x="4343400" y="6691313"/>
            <a:ext cx="4686300" cy="9525"/>
          </a:xfrm>
          <a:prstGeom prst="rect">
            <a:avLst/>
          </a:prstGeom>
          <a:solidFill>
            <a:srgbClr val="2A2F3A"/>
          </a:solidFill>
          <a:ln/>
        </p:spPr>
      </p:sp>
      <p:sp>
        <p:nvSpPr>
          <p:cNvPr id="41" name="Text 39"/>
          <p:cNvSpPr/>
          <p:nvPr/>
        </p:nvSpPr>
        <p:spPr>
          <a:xfrm>
            <a:off x="4495800" y="6319838"/>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Specific held Windows privileges</a:t>
            </a:r>
            <a:endParaRPr lang="en-US" sz="1800" dirty="0"/>
          </a:p>
        </p:txBody>
      </p:sp>
      <p:sp>
        <p:nvSpPr>
          <p:cNvPr id="42" name="Shape 40"/>
          <p:cNvSpPr/>
          <p:nvPr/>
        </p:nvSpPr>
        <p:spPr>
          <a:xfrm>
            <a:off x="9029700" y="6691313"/>
            <a:ext cx="8458200" cy="9525"/>
          </a:xfrm>
          <a:prstGeom prst="rect">
            <a:avLst/>
          </a:prstGeom>
          <a:solidFill>
            <a:srgbClr val="2A2F3A"/>
          </a:solidFill>
          <a:ln/>
        </p:spPr>
      </p:sp>
      <p:sp>
        <p:nvSpPr>
          <p:cNvPr id="43" name="Text 41"/>
          <p:cNvSpPr/>
          <p:nvPr/>
        </p:nvSpPr>
        <p:spPr>
          <a:xfrm>
            <a:off x="9182100" y="6319838"/>
            <a:ext cx="840714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Sudo rules</a:t>
            </a:r>
            <a:endParaRPr lang="en-US" sz="1800" dirty="0"/>
          </a:p>
        </p:txBody>
      </p:sp>
      <p:sp>
        <p:nvSpPr>
          <p:cNvPr id="44" name="Shape 42"/>
          <p:cNvSpPr/>
          <p:nvPr/>
        </p:nvSpPr>
        <p:spPr>
          <a:xfrm>
            <a:off x="800100" y="6700838"/>
            <a:ext cx="3543300" cy="485775"/>
          </a:xfrm>
          <a:prstGeom prst="rect">
            <a:avLst/>
          </a:prstGeom>
          <a:solidFill>
            <a:srgbClr val="FFFFFF">
              <a:alpha val="2000"/>
            </a:srgbClr>
          </a:solidFill>
          <a:ln/>
        </p:spPr>
      </p:sp>
      <p:sp>
        <p:nvSpPr>
          <p:cNvPr id="45" name="Shape 43"/>
          <p:cNvSpPr/>
          <p:nvPr/>
        </p:nvSpPr>
        <p:spPr>
          <a:xfrm>
            <a:off x="800100" y="7177088"/>
            <a:ext cx="3543300" cy="9525"/>
          </a:xfrm>
          <a:prstGeom prst="rect">
            <a:avLst/>
          </a:prstGeom>
          <a:solidFill>
            <a:srgbClr val="2A2F3A"/>
          </a:solidFill>
          <a:ln/>
        </p:spPr>
      </p:sp>
      <p:sp>
        <p:nvSpPr>
          <p:cNvPr id="46" name="Text 44"/>
          <p:cNvSpPr/>
          <p:nvPr/>
        </p:nvSpPr>
        <p:spPr>
          <a:xfrm>
            <a:off x="952500" y="6805613"/>
            <a:ext cx="334479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Known exploits</a:t>
            </a:r>
            <a:endParaRPr lang="en-US" sz="1800" dirty="0"/>
          </a:p>
        </p:txBody>
      </p:sp>
      <p:sp>
        <p:nvSpPr>
          <p:cNvPr id="47" name="Shape 45"/>
          <p:cNvSpPr/>
          <p:nvPr/>
        </p:nvSpPr>
        <p:spPr>
          <a:xfrm>
            <a:off x="4343400" y="6700838"/>
            <a:ext cx="4686300" cy="485775"/>
          </a:xfrm>
          <a:prstGeom prst="rect">
            <a:avLst/>
          </a:prstGeom>
          <a:solidFill>
            <a:srgbClr val="FFFFFF">
              <a:alpha val="2000"/>
            </a:srgbClr>
          </a:solidFill>
          <a:ln/>
        </p:spPr>
      </p:sp>
      <p:sp>
        <p:nvSpPr>
          <p:cNvPr id="48" name="Shape 46"/>
          <p:cNvSpPr/>
          <p:nvPr/>
        </p:nvSpPr>
        <p:spPr>
          <a:xfrm>
            <a:off x="4343400" y="7177088"/>
            <a:ext cx="4686300" cy="9525"/>
          </a:xfrm>
          <a:prstGeom prst="rect">
            <a:avLst/>
          </a:prstGeom>
          <a:solidFill>
            <a:srgbClr val="2A2F3A"/>
          </a:solidFill>
          <a:ln/>
        </p:spPr>
      </p:sp>
      <p:sp>
        <p:nvSpPr>
          <p:cNvPr id="49" name="Text 47"/>
          <p:cNvSpPr/>
          <p:nvPr/>
        </p:nvSpPr>
        <p:spPr>
          <a:xfrm>
            <a:off x="4495800" y="6805613"/>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Kernel and third-party service exploits</a:t>
            </a:r>
            <a:endParaRPr lang="en-US" sz="1800" dirty="0"/>
          </a:p>
        </p:txBody>
      </p:sp>
      <p:sp>
        <p:nvSpPr>
          <p:cNvPr id="50" name="Shape 48"/>
          <p:cNvSpPr/>
          <p:nvPr/>
        </p:nvSpPr>
        <p:spPr>
          <a:xfrm>
            <a:off x="9029700" y="6700838"/>
            <a:ext cx="8458200" cy="485775"/>
          </a:xfrm>
          <a:prstGeom prst="rect">
            <a:avLst/>
          </a:prstGeom>
          <a:solidFill>
            <a:srgbClr val="FFFFFF">
              <a:alpha val="2000"/>
            </a:srgbClr>
          </a:solidFill>
          <a:ln/>
        </p:spPr>
      </p:sp>
      <p:sp>
        <p:nvSpPr>
          <p:cNvPr id="51" name="Shape 49"/>
          <p:cNvSpPr/>
          <p:nvPr/>
        </p:nvSpPr>
        <p:spPr>
          <a:xfrm>
            <a:off x="9029700" y="7177088"/>
            <a:ext cx="8458200" cy="9525"/>
          </a:xfrm>
          <a:prstGeom prst="rect">
            <a:avLst/>
          </a:prstGeom>
          <a:solidFill>
            <a:srgbClr val="2A2F3A"/>
          </a:solidFill>
          <a:ln/>
        </p:spPr>
      </p:sp>
      <p:sp>
        <p:nvSpPr>
          <p:cNvPr id="52" name="Text 50"/>
          <p:cNvSpPr/>
          <p:nvPr/>
        </p:nvSpPr>
        <p:spPr>
          <a:xfrm>
            <a:off x="9182100" y="6805613"/>
            <a:ext cx="840714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Kernel exploits</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938463"/>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ACRONYM SPOTLIGHT</a:t>
            </a:r>
            <a:endParaRPr lang="en-US" sz="1650" dirty="0"/>
          </a:p>
        </p:txBody>
      </p:sp>
      <p:sp>
        <p:nvSpPr>
          <p:cNvPr id="4" name="Text 2"/>
          <p:cNvSpPr/>
          <p:nvPr/>
        </p:nvSpPr>
        <p:spPr>
          <a:xfrm>
            <a:off x="800100" y="3433763"/>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Terms introduced in Module 16</a:t>
            </a:r>
            <a:endParaRPr lang="en-US" sz="3000" dirty="0"/>
          </a:p>
        </p:txBody>
      </p:sp>
      <p:sp>
        <p:nvSpPr>
          <p:cNvPr id="5" name="Shape 3"/>
          <p:cNvSpPr/>
          <p:nvPr/>
        </p:nvSpPr>
        <p:spPr>
          <a:xfrm>
            <a:off x="800100" y="4100513"/>
            <a:ext cx="2400300" cy="500063"/>
          </a:xfrm>
          <a:prstGeom prst="rect">
            <a:avLst/>
          </a:prstGeom>
          <a:solidFill>
            <a:srgbClr val="FF6A00">
              <a:alpha val="18000"/>
            </a:srgbClr>
          </a:solidFill>
          <a:ln/>
        </p:spPr>
      </p:sp>
      <p:sp>
        <p:nvSpPr>
          <p:cNvPr id="6" name="Shape 4"/>
          <p:cNvSpPr/>
          <p:nvPr/>
        </p:nvSpPr>
        <p:spPr>
          <a:xfrm>
            <a:off x="800100" y="4591050"/>
            <a:ext cx="2400300" cy="9525"/>
          </a:xfrm>
          <a:prstGeom prst="rect">
            <a:avLst/>
          </a:prstGeom>
          <a:solidFill>
            <a:srgbClr val="B85100"/>
          </a:solidFill>
          <a:ln/>
        </p:spPr>
      </p:sp>
      <p:sp>
        <p:nvSpPr>
          <p:cNvPr id="7" name="Text 5"/>
          <p:cNvSpPr/>
          <p:nvPr/>
        </p:nvSpPr>
        <p:spPr>
          <a:xfrm>
            <a:off x="952500" y="4214813"/>
            <a:ext cx="2171700"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Term</a:t>
            </a:r>
            <a:endParaRPr lang="en-US" sz="1800" dirty="0"/>
          </a:p>
        </p:txBody>
      </p:sp>
      <p:sp>
        <p:nvSpPr>
          <p:cNvPr id="8" name="Shape 6"/>
          <p:cNvSpPr/>
          <p:nvPr/>
        </p:nvSpPr>
        <p:spPr>
          <a:xfrm>
            <a:off x="3200400" y="4100513"/>
            <a:ext cx="4876800" cy="500063"/>
          </a:xfrm>
          <a:prstGeom prst="rect">
            <a:avLst/>
          </a:prstGeom>
          <a:solidFill>
            <a:srgbClr val="FF6A00">
              <a:alpha val="18000"/>
            </a:srgbClr>
          </a:solidFill>
          <a:ln/>
        </p:spPr>
      </p:sp>
      <p:sp>
        <p:nvSpPr>
          <p:cNvPr id="9" name="Shape 7"/>
          <p:cNvSpPr/>
          <p:nvPr/>
        </p:nvSpPr>
        <p:spPr>
          <a:xfrm>
            <a:off x="3200400" y="4591050"/>
            <a:ext cx="4876800" cy="9525"/>
          </a:xfrm>
          <a:prstGeom prst="rect">
            <a:avLst/>
          </a:prstGeom>
          <a:solidFill>
            <a:srgbClr val="B85100"/>
          </a:solidFill>
          <a:ln/>
        </p:spPr>
      </p:sp>
      <p:sp>
        <p:nvSpPr>
          <p:cNvPr id="10" name="Text 8"/>
          <p:cNvSpPr/>
          <p:nvPr/>
        </p:nvSpPr>
        <p:spPr>
          <a:xfrm>
            <a:off x="3352800" y="4214813"/>
            <a:ext cx="4718304"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What it is</a:t>
            </a:r>
            <a:endParaRPr lang="en-US" sz="1800" dirty="0"/>
          </a:p>
        </p:txBody>
      </p:sp>
      <p:sp>
        <p:nvSpPr>
          <p:cNvPr id="11" name="Shape 9"/>
          <p:cNvSpPr/>
          <p:nvPr/>
        </p:nvSpPr>
        <p:spPr>
          <a:xfrm>
            <a:off x="8077200" y="4100513"/>
            <a:ext cx="9410700" cy="500063"/>
          </a:xfrm>
          <a:prstGeom prst="rect">
            <a:avLst/>
          </a:prstGeom>
          <a:solidFill>
            <a:srgbClr val="FF6A00">
              <a:alpha val="18000"/>
            </a:srgbClr>
          </a:solidFill>
          <a:ln/>
        </p:spPr>
      </p:sp>
      <p:sp>
        <p:nvSpPr>
          <p:cNvPr id="12" name="Shape 10"/>
          <p:cNvSpPr/>
          <p:nvPr/>
        </p:nvSpPr>
        <p:spPr>
          <a:xfrm>
            <a:off x="8077200" y="4591050"/>
            <a:ext cx="9410700" cy="9525"/>
          </a:xfrm>
          <a:prstGeom prst="rect">
            <a:avLst/>
          </a:prstGeom>
          <a:solidFill>
            <a:srgbClr val="B85100"/>
          </a:solidFill>
          <a:ln/>
        </p:spPr>
      </p:sp>
      <p:sp>
        <p:nvSpPr>
          <p:cNvPr id="13" name="Text 11"/>
          <p:cNvSpPr/>
          <p:nvPr/>
        </p:nvSpPr>
        <p:spPr>
          <a:xfrm>
            <a:off x="8229600" y="4214813"/>
            <a:ext cx="9388221"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Where it appears</a:t>
            </a:r>
            <a:endParaRPr lang="en-US" sz="1800" dirty="0"/>
          </a:p>
        </p:txBody>
      </p:sp>
      <p:sp>
        <p:nvSpPr>
          <p:cNvPr id="14" name="Shape 12"/>
          <p:cNvSpPr/>
          <p:nvPr/>
        </p:nvSpPr>
        <p:spPr>
          <a:xfrm>
            <a:off x="800100" y="4600575"/>
            <a:ext cx="2400300" cy="752475"/>
          </a:xfrm>
          <a:prstGeom prst="rect">
            <a:avLst/>
          </a:prstGeom>
          <a:solidFill>
            <a:srgbClr val="FFFFFF">
              <a:alpha val="2000"/>
            </a:srgbClr>
          </a:solidFill>
          <a:ln/>
        </p:spPr>
      </p:sp>
      <p:sp>
        <p:nvSpPr>
          <p:cNvPr id="15" name="Shape 13"/>
          <p:cNvSpPr/>
          <p:nvPr/>
        </p:nvSpPr>
        <p:spPr>
          <a:xfrm>
            <a:off x="800100" y="5343525"/>
            <a:ext cx="2400300" cy="9525"/>
          </a:xfrm>
          <a:prstGeom prst="rect">
            <a:avLst/>
          </a:prstGeom>
          <a:solidFill>
            <a:srgbClr val="2A2F3A"/>
          </a:solidFill>
          <a:ln/>
        </p:spPr>
      </p:sp>
      <p:sp>
        <p:nvSpPr>
          <p:cNvPr id="16" name="Text 14"/>
          <p:cNvSpPr/>
          <p:nvPr/>
        </p:nvSpPr>
        <p:spPr>
          <a:xfrm>
            <a:off x="952500" y="4705350"/>
            <a:ext cx="2171700"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SUID</a:t>
            </a:r>
            <a:endParaRPr lang="en-US" sz="1800" dirty="0"/>
          </a:p>
        </p:txBody>
      </p:sp>
      <p:sp>
        <p:nvSpPr>
          <p:cNvPr id="17" name="Shape 15"/>
          <p:cNvSpPr/>
          <p:nvPr/>
        </p:nvSpPr>
        <p:spPr>
          <a:xfrm>
            <a:off x="3200400" y="4600575"/>
            <a:ext cx="4876800" cy="752475"/>
          </a:xfrm>
          <a:prstGeom prst="rect">
            <a:avLst/>
          </a:prstGeom>
          <a:solidFill>
            <a:srgbClr val="FFFFFF">
              <a:alpha val="2000"/>
            </a:srgbClr>
          </a:solidFill>
          <a:ln/>
        </p:spPr>
      </p:sp>
      <p:sp>
        <p:nvSpPr>
          <p:cNvPr id="18" name="Shape 16"/>
          <p:cNvSpPr/>
          <p:nvPr/>
        </p:nvSpPr>
        <p:spPr>
          <a:xfrm>
            <a:off x="3200400" y="5343525"/>
            <a:ext cx="4876800" cy="9525"/>
          </a:xfrm>
          <a:prstGeom prst="rect">
            <a:avLst/>
          </a:prstGeom>
          <a:solidFill>
            <a:srgbClr val="2A2F3A"/>
          </a:solidFill>
          <a:ln/>
        </p:spPr>
      </p:sp>
      <p:sp>
        <p:nvSpPr>
          <p:cNvPr id="19" name="Text 17"/>
          <p:cNvSpPr/>
          <p:nvPr/>
        </p:nvSpPr>
        <p:spPr>
          <a:xfrm>
            <a:off x="3352800" y="4705350"/>
            <a:ext cx="471830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Set User ID — a bit making a binary run as its owner</a:t>
            </a:r>
            <a:endParaRPr lang="en-US" sz="1800" dirty="0"/>
          </a:p>
        </p:txBody>
      </p:sp>
      <p:sp>
        <p:nvSpPr>
          <p:cNvPr id="20" name="Shape 18"/>
          <p:cNvSpPr/>
          <p:nvPr/>
        </p:nvSpPr>
        <p:spPr>
          <a:xfrm>
            <a:off x="8077200" y="4600575"/>
            <a:ext cx="9410700" cy="752475"/>
          </a:xfrm>
          <a:prstGeom prst="rect">
            <a:avLst/>
          </a:prstGeom>
          <a:solidFill>
            <a:srgbClr val="FFFFFF">
              <a:alpha val="2000"/>
            </a:srgbClr>
          </a:solidFill>
          <a:ln/>
        </p:spPr>
      </p:sp>
      <p:sp>
        <p:nvSpPr>
          <p:cNvPr id="21" name="Shape 19"/>
          <p:cNvSpPr/>
          <p:nvPr/>
        </p:nvSpPr>
        <p:spPr>
          <a:xfrm>
            <a:off x="8077200" y="5343525"/>
            <a:ext cx="9410700" cy="9525"/>
          </a:xfrm>
          <a:prstGeom prst="rect">
            <a:avLst/>
          </a:prstGeom>
          <a:solidFill>
            <a:srgbClr val="2A2F3A"/>
          </a:solidFill>
          <a:ln/>
        </p:spPr>
      </p:sp>
      <p:sp>
        <p:nvSpPr>
          <p:cNvPr id="22" name="Text 20"/>
          <p:cNvSpPr/>
          <p:nvPr/>
        </p:nvSpPr>
        <p:spPr>
          <a:xfrm>
            <a:off x="8229600" y="4705350"/>
            <a:ext cx="938822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16.4</a:t>
            </a:r>
            <a:endParaRPr lang="en-US" sz="1800" dirty="0"/>
          </a:p>
        </p:txBody>
      </p:sp>
      <p:sp>
        <p:nvSpPr>
          <p:cNvPr id="23" name="Shape 21"/>
          <p:cNvSpPr/>
          <p:nvPr/>
        </p:nvSpPr>
        <p:spPr>
          <a:xfrm>
            <a:off x="800100" y="6096000"/>
            <a:ext cx="2400300" cy="9525"/>
          </a:xfrm>
          <a:prstGeom prst="rect">
            <a:avLst/>
          </a:prstGeom>
          <a:solidFill>
            <a:srgbClr val="2A2F3A"/>
          </a:solidFill>
          <a:ln/>
        </p:spPr>
      </p:sp>
      <p:sp>
        <p:nvSpPr>
          <p:cNvPr id="24" name="Text 22"/>
          <p:cNvSpPr/>
          <p:nvPr/>
        </p:nvSpPr>
        <p:spPr>
          <a:xfrm>
            <a:off x="952500" y="5457825"/>
            <a:ext cx="2171700"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Capabilities</a:t>
            </a:r>
            <a:endParaRPr lang="en-US" sz="1800" dirty="0"/>
          </a:p>
        </p:txBody>
      </p:sp>
      <p:sp>
        <p:nvSpPr>
          <p:cNvPr id="25" name="Shape 23"/>
          <p:cNvSpPr/>
          <p:nvPr/>
        </p:nvSpPr>
        <p:spPr>
          <a:xfrm>
            <a:off x="3200400" y="6096000"/>
            <a:ext cx="4876800" cy="9525"/>
          </a:xfrm>
          <a:prstGeom prst="rect">
            <a:avLst/>
          </a:prstGeom>
          <a:solidFill>
            <a:srgbClr val="2A2F3A"/>
          </a:solidFill>
          <a:ln/>
        </p:spPr>
      </p:sp>
      <p:sp>
        <p:nvSpPr>
          <p:cNvPr id="26" name="Text 24"/>
          <p:cNvSpPr/>
          <p:nvPr/>
        </p:nvSpPr>
        <p:spPr>
          <a:xfrm>
            <a:off x="3352800" y="5457825"/>
            <a:ext cx="471830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Fine-grained privileged operations grantable to a binary</a:t>
            </a:r>
            <a:endParaRPr lang="en-US" sz="1800" dirty="0"/>
          </a:p>
        </p:txBody>
      </p:sp>
      <p:sp>
        <p:nvSpPr>
          <p:cNvPr id="27" name="Shape 25"/>
          <p:cNvSpPr/>
          <p:nvPr/>
        </p:nvSpPr>
        <p:spPr>
          <a:xfrm>
            <a:off x="8077200" y="6096000"/>
            <a:ext cx="9410700" cy="9525"/>
          </a:xfrm>
          <a:prstGeom prst="rect">
            <a:avLst/>
          </a:prstGeom>
          <a:solidFill>
            <a:srgbClr val="2A2F3A"/>
          </a:solidFill>
          <a:ln/>
        </p:spPr>
      </p:sp>
      <p:sp>
        <p:nvSpPr>
          <p:cNvPr id="28" name="Text 26"/>
          <p:cNvSpPr/>
          <p:nvPr/>
        </p:nvSpPr>
        <p:spPr>
          <a:xfrm>
            <a:off x="8229600" y="5457825"/>
            <a:ext cx="938822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16.4</a:t>
            </a:r>
            <a:endParaRPr lang="en-US" sz="1800" dirty="0"/>
          </a:p>
        </p:txBody>
      </p:sp>
      <p:sp>
        <p:nvSpPr>
          <p:cNvPr id="29" name="Shape 27"/>
          <p:cNvSpPr/>
          <p:nvPr/>
        </p:nvSpPr>
        <p:spPr>
          <a:xfrm>
            <a:off x="800100" y="6105525"/>
            <a:ext cx="2400300" cy="485775"/>
          </a:xfrm>
          <a:prstGeom prst="rect">
            <a:avLst/>
          </a:prstGeom>
          <a:solidFill>
            <a:srgbClr val="FFFFFF">
              <a:alpha val="2000"/>
            </a:srgbClr>
          </a:solidFill>
          <a:ln/>
        </p:spPr>
      </p:sp>
      <p:sp>
        <p:nvSpPr>
          <p:cNvPr id="30" name="Shape 28"/>
          <p:cNvSpPr/>
          <p:nvPr/>
        </p:nvSpPr>
        <p:spPr>
          <a:xfrm>
            <a:off x="800100" y="6581775"/>
            <a:ext cx="2400300" cy="9525"/>
          </a:xfrm>
          <a:prstGeom prst="rect">
            <a:avLst/>
          </a:prstGeom>
          <a:solidFill>
            <a:srgbClr val="2A2F3A"/>
          </a:solidFill>
          <a:ln/>
        </p:spPr>
      </p:sp>
      <p:sp>
        <p:nvSpPr>
          <p:cNvPr id="31" name="Text 29"/>
          <p:cNvSpPr/>
          <p:nvPr/>
        </p:nvSpPr>
        <p:spPr>
          <a:xfrm>
            <a:off x="952500" y="6210300"/>
            <a:ext cx="2171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Cron</a:t>
            </a:r>
            <a:endParaRPr lang="en-US" sz="1800" dirty="0"/>
          </a:p>
        </p:txBody>
      </p:sp>
      <p:sp>
        <p:nvSpPr>
          <p:cNvPr id="32" name="Shape 30"/>
          <p:cNvSpPr/>
          <p:nvPr/>
        </p:nvSpPr>
        <p:spPr>
          <a:xfrm>
            <a:off x="3200400" y="6105525"/>
            <a:ext cx="4876800" cy="485775"/>
          </a:xfrm>
          <a:prstGeom prst="rect">
            <a:avLst/>
          </a:prstGeom>
          <a:solidFill>
            <a:srgbClr val="FFFFFF">
              <a:alpha val="2000"/>
            </a:srgbClr>
          </a:solidFill>
          <a:ln/>
        </p:spPr>
      </p:sp>
      <p:sp>
        <p:nvSpPr>
          <p:cNvPr id="33" name="Shape 31"/>
          <p:cNvSpPr/>
          <p:nvPr/>
        </p:nvSpPr>
        <p:spPr>
          <a:xfrm>
            <a:off x="3200400" y="6581775"/>
            <a:ext cx="4876800" cy="9525"/>
          </a:xfrm>
          <a:prstGeom prst="rect">
            <a:avLst/>
          </a:prstGeom>
          <a:solidFill>
            <a:srgbClr val="2A2F3A"/>
          </a:solidFill>
          <a:ln/>
        </p:spPr>
      </p:sp>
      <p:sp>
        <p:nvSpPr>
          <p:cNvPr id="34" name="Text 32"/>
          <p:cNvSpPr/>
          <p:nvPr/>
        </p:nvSpPr>
        <p:spPr>
          <a:xfrm>
            <a:off x="3352800" y="6210300"/>
            <a:ext cx="471830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Linux time-based job scheduler</a:t>
            </a:r>
            <a:endParaRPr lang="en-US" sz="1800" dirty="0"/>
          </a:p>
        </p:txBody>
      </p:sp>
      <p:sp>
        <p:nvSpPr>
          <p:cNvPr id="35" name="Shape 33"/>
          <p:cNvSpPr/>
          <p:nvPr/>
        </p:nvSpPr>
        <p:spPr>
          <a:xfrm>
            <a:off x="8077200" y="6105525"/>
            <a:ext cx="9410700" cy="485775"/>
          </a:xfrm>
          <a:prstGeom prst="rect">
            <a:avLst/>
          </a:prstGeom>
          <a:solidFill>
            <a:srgbClr val="FFFFFF">
              <a:alpha val="2000"/>
            </a:srgbClr>
          </a:solidFill>
          <a:ln/>
        </p:spPr>
      </p:sp>
      <p:sp>
        <p:nvSpPr>
          <p:cNvPr id="36" name="Shape 34"/>
          <p:cNvSpPr/>
          <p:nvPr/>
        </p:nvSpPr>
        <p:spPr>
          <a:xfrm>
            <a:off x="8077200" y="6581775"/>
            <a:ext cx="9410700" cy="9525"/>
          </a:xfrm>
          <a:prstGeom prst="rect">
            <a:avLst/>
          </a:prstGeom>
          <a:solidFill>
            <a:srgbClr val="2A2F3A"/>
          </a:solidFill>
          <a:ln/>
        </p:spPr>
      </p:sp>
      <p:sp>
        <p:nvSpPr>
          <p:cNvPr id="37" name="Text 35"/>
          <p:cNvSpPr/>
          <p:nvPr/>
        </p:nvSpPr>
        <p:spPr>
          <a:xfrm>
            <a:off x="8229600" y="6210300"/>
            <a:ext cx="938822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16.3</a:t>
            </a:r>
            <a:endParaRPr lang="en-US" sz="1800" dirty="0"/>
          </a:p>
        </p:txBody>
      </p:sp>
      <p:sp>
        <p:nvSpPr>
          <p:cNvPr id="38" name="Shape 36"/>
          <p:cNvSpPr/>
          <p:nvPr/>
        </p:nvSpPr>
        <p:spPr>
          <a:xfrm>
            <a:off x="800100" y="7334250"/>
            <a:ext cx="2400300" cy="9525"/>
          </a:xfrm>
          <a:prstGeom prst="rect">
            <a:avLst/>
          </a:prstGeom>
          <a:solidFill>
            <a:srgbClr val="2A2F3A"/>
          </a:solidFill>
          <a:ln/>
        </p:spPr>
      </p:sp>
      <p:sp>
        <p:nvSpPr>
          <p:cNvPr id="39" name="Text 37"/>
          <p:cNvSpPr/>
          <p:nvPr/>
        </p:nvSpPr>
        <p:spPr>
          <a:xfrm>
            <a:off x="952500" y="6696075"/>
            <a:ext cx="2171700"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Sudo</a:t>
            </a:r>
            <a:endParaRPr lang="en-US" sz="1800" dirty="0"/>
          </a:p>
        </p:txBody>
      </p:sp>
      <p:sp>
        <p:nvSpPr>
          <p:cNvPr id="40" name="Shape 38"/>
          <p:cNvSpPr/>
          <p:nvPr/>
        </p:nvSpPr>
        <p:spPr>
          <a:xfrm>
            <a:off x="3200400" y="7334250"/>
            <a:ext cx="4876800" cy="9525"/>
          </a:xfrm>
          <a:prstGeom prst="rect">
            <a:avLst/>
          </a:prstGeom>
          <a:solidFill>
            <a:srgbClr val="2A2F3A"/>
          </a:solidFill>
          <a:ln/>
        </p:spPr>
      </p:sp>
      <p:sp>
        <p:nvSpPr>
          <p:cNvPr id="41" name="Text 39"/>
          <p:cNvSpPr/>
          <p:nvPr/>
        </p:nvSpPr>
        <p:spPr>
          <a:xfrm>
            <a:off x="3352800" y="6696075"/>
            <a:ext cx="471830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Mechanism permitting specified commands to run as another user</a:t>
            </a:r>
            <a:endParaRPr lang="en-US" sz="1800" dirty="0"/>
          </a:p>
        </p:txBody>
      </p:sp>
      <p:sp>
        <p:nvSpPr>
          <p:cNvPr id="42" name="Shape 40"/>
          <p:cNvSpPr/>
          <p:nvPr/>
        </p:nvSpPr>
        <p:spPr>
          <a:xfrm>
            <a:off x="8077200" y="7334250"/>
            <a:ext cx="9410700" cy="9525"/>
          </a:xfrm>
          <a:prstGeom prst="rect">
            <a:avLst/>
          </a:prstGeom>
          <a:solidFill>
            <a:srgbClr val="2A2F3A"/>
          </a:solidFill>
          <a:ln/>
        </p:spPr>
      </p:sp>
      <p:sp>
        <p:nvSpPr>
          <p:cNvPr id="43" name="Text 41"/>
          <p:cNvSpPr/>
          <p:nvPr/>
        </p:nvSpPr>
        <p:spPr>
          <a:xfrm>
            <a:off x="8229600" y="6696075"/>
            <a:ext cx="938822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16.4</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15979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COMMON MISCONCEPTIONS</a:t>
            </a:r>
            <a:endParaRPr lang="en-US" sz="1650" dirty="0"/>
          </a:p>
        </p:txBody>
      </p:sp>
      <p:sp>
        <p:nvSpPr>
          <p:cNvPr id="4" name="Text 2"/>
          <p:cNvSpPr/>
          <p:nvPr/>
        </p:nvSpPr>
        <p:spPr>
          <a:xfrm>
            <a:off x="800100" y="265509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What learners get wrong about Module 16</a:t>
            </a:r>
            <a:endParaRPr lang="en-US" sz="3000" dirty="0"/>
          </a:p>
        </p:txBody>
      </p:sp>
      <p:sp>
        <p:nvSpPr>
          <p:cNvPr id="5" name="Shape 3"/>
          <p:cNvSpPr/>
          <p:nvPr/>
        </p:nvSpPr>
        <p:spPr>
          <a:xfrm>
            <a:off x="800100" y="3321844"/>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355996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“ANY SUID BINARY MEANS INSTANT ROOT”</a:t>
            </a:r>
            <a:endParaRPr lang="en-US" sz="1500" dirty="0"/>
          </a:p>
        </p:txBody>
      </p:sp>
      <p:sp>
        <p:nvSpPr>
          <p:cNvPr id="7" name="Text 5"/>
          <p:cNvSpPr/>
          <p:nvPr/>
        </p:nvSpPr>
        <p:spPr>
          <a:xfrm>
            <a:off x="1038225" y="387905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binary must be capable of an unintended action to be exploitable. Not every SUID binary permits this.</a:t>
            </a:r>
            <a:endParaRPr lang="en-US" sz="1875" dirty="0"/>
          </a:p>
        </p:txBody>
      </p:sp>
      <p:sp>
        <p:nvSpPr>
          <p:cNvPr id="8" name="Shape 6"/>
          <p:cNvSpPr/>
          <p:nvPr/>
        </p:nvSpPr>
        <p:spPr>
          <a:xfrm>
            <a:off x="9248775" y="3321844"/>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355996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“SUDO RULES ARE SAFE IF A PASSWORD IS REQUIRED”</a:t>
            </a:r>
            <a:endParaRPr lang="en-US" sz="1500" dirty="0"/>
          </a:p>
        </p:txBody>
      </p:sp>
      <p:sp>
        <p:nvSpPr>
          <p:cNvPr id="10" name="Text 8"/>
          <p:cNvSpPr/>
          <p:nvPr/>
        </p:nvSpPr>
        <p:spPr>
          <a:xfrm>
            <a:off x="9486900" y="387905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risk lies in what the permitted command itself can be manipulated to do, not merely whether authentication is required.</a:t>
            </a:r>
            <a:endParaRPr lang="en-US" sz="1875" dirty="0"/>
          </a:p>
        </p:txBody>
      </p:sp>
      <p:sp>
        <p:nvSpPr>
          <p:cNvPr id="11" name="Shape 9"/>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12" name="Text 10"/>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“SHELL HISTORY IS THE ONLY CREDENTIAL TRAIL WORTH CHECKING”</a:t>
            </a:r>
            <a:endParaRPr lang="en-US" sz="1500" dirty="0"/>
          </a:p>
        </p:txBody>
      </p:sp>
      <p:sp>
        <p:nvSpPr>
          <p:cNvPr id="13" name="Text 11"/>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User trails and system trails are named as separate objectives precisely because they are commonly overlooked.</a:t>
            </a:r>
            <a:endParaRPr lang="en-US" sz="1875" dirty="0"/>
          </a:p>
        </p:txBody>
      </p:sp>
      <p:sp>
        <p:nvSpPr>
          <p:cNvPr id="14" name="Shape 12"/>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15" name="Text 13"/>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“CRON JOBS ARE A MINOR, RARELY USEFUL ESCALATION ROUTE”</a:t>
            </a:r>
            <a:endParaRPr lang="en-US" sz="1500" dirty="0"/>
          </a:p>
        </p:txBody>
      </p:sp>
      <p:sp>
        <p:nvSpPr>
          <p:cNvPr id="16" name="Text 14"/>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They are extremely common on Linux hosts and frequently run as root, making them a genuinely direct path.</a:t>
            </a:r>
            <a:endParaRPr lang="en-US" sz="1875" dirty="0"/>
          </a:p>
        </p:txBody>
      </p:sp>
      <p:sp>
        <p:nvSpPr>
          <p:cNvPr id="17" name="Shape 15"/>
          <p:cNvSpPr/>
          <p:nvPr/>
        </p:nvSpPr>
        <p:spPr>
          <a:xfrm>
            <a:off x="800100" y="6665119"/>
            <a:ext cx="8239125" cy="1462088"/>
          </a:xfrm>
          <a:prstGeom prst="roundRect">
            <a:avLst>
              <a:gd name="adj" fmla="val 10423"/>
            </a:avLst>
          </a:prstGeom>
          <a:solidFill>
            <a:srgbClr val="FFFFFF">
              <a:alpha val="2000"/>
            </a:srgbClr>
          </a:solidFill>
          <a:ln w="9525">
            <a:solidFill>
              <a:srgbClr val="2A2F3A"/>
            </a:solidFill>
            <a:prstDash val="solid"/>
          </a:ln>
        </p:spPr>
      </p:sp>
      <p:sp>
        <p:nvSpPr>
          <p:cNvPr id="18" name="Text 16"/>
          <p:cNvSpPr/>
          <p:nvPr/>
        </p:nvSpPr>
        <p:spPr>
          <a:xfrm>
            <a:off x="1038225" y="6903244"/>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“LINUX AND WINDOWS ESCALATION USE THE SAME TECHNIQUES”</a:t>
            </a:r>
            <a:endParaRPr lang="en-US" sz="1500" dirty="0"/>
          </a:p>
        </p:txBody>
      </p:sp>
      <p:sp>
        <p:nvSpPr>
          <p:cNvPr id="19" name="Text 17"/>
          <p:cNvSpPr/>
          <p:nvPr/>
        </p:nvSpPr>
        <p:spPr>
          <a:xfrm>
            <a:off x="1038225" y="7222331"/>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shape is identical — enumerate, then abuse — but the specific mechanisms are entirely different permission models.</a:t>
            </a:r>
            <a:endParaRPr lang="en-US" sz="1875" dirty="0"/>
          </a:p>
        </p:txBody>
      </p:sp>
      <p:sp>
        <p:nvSpPr>
          <p:cNvPr id="20" name="Shape 18"/>
          <p:cNvSpPr/>
          <p:nvPr/>
        </p:nvSpPr>
        <p:spPr>
          <a:xfrm>
            <a:off x="9248775" y="6665119"/>
            <a:ext cx="8239125" cy="1462088"/>
          </a:xfrm>
          <a:prstGeom prst="roundRect">
            <a:avLst>
              <a:gd name="adj" fmla="val 10423"/>
            </a:avLst>
          </a:prstGeom>
          <a:solidFill>
            <a:srgbClr val="FFFFFF">
              <a:alpha val="2000"/>
            </a:srgbClr>
          </a:solidFill>
          <a:ln w="9525">
            <a:solidFill>
              <a:srgbClr val="2A2F3A"/>
            </a:solidFill>
            <a:prstDash val="solid"/>
          </a:ln>
        </p:spPr>
      </p:sp>
      <p:sp>
        <p:nvSpPr>
          <p:cNvPr id="21" name="Text 19"/>
          <p:cNvSpPr/>
          <p:nvPr/>
        </p:nvSpPr>
        <p:spPr>
          <a:xfrm>
            <a:off x="9486900" y="6903244"/>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“AUTOMATED TOOL OUTPUT CAN BE EXPLOITED DIRECTLY”</a:t>
            </a:r>
            <a:endParaRPr lang="en-US" sz="1500" dirty="0"/>
          </a:p>
        </p:txBody>
      </p:sp>
      <p:sp>
        <p:nvSpPr>
          <p:cNvPr id="22" name="Text 20"/>
          <p:cNvSpPr/>
          <p:nvPr/>
        </p:nvSpPr>
        <p:spPr>
          <a:xfrm>
            <a:off x="9486900" y="7222331"/>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same manual-verification discipline from Module 15 applies here without exception.</a:t>
            </a:r>
            <a:endParaRPr lang="en-US" sz="18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464899" y="3073078"/>
            <a:ext cx="3358202"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MODULE 16 IN CONTEXT</a:t>
            </a:r>
            <a:endParaRPr lang="en-US" sz="1650" dirty="0"/>
          </a:p>
        </p:txBody>
      </p:sp>
      <p:sp>
        <p:nvSpPr>
          <p:cNvPr id="4" name="Text 2"/>
          <p:cNvSpPr/>
          <p:nvPr/>
        </p:nvSpPr>
        <p:spPr>
          <a:xfrm>
            <a:off x="8609633" y="3549328"/>
            <a:ext cx="1068735" cy="1562100"/>
          </a:xfrm>
          <a:prstGeom prst="rect">
            <a:avLst/>
          </a:prstGeom>
          <a:noFill/>
          <a:ln/>
        </p:spPr>
        <p:txBody>
          <a:bodyPr wrap="square" lIns="25400" tIns="25400" rIns="25400" bIns="25400" rtlCol="0" anchor="t">
            <a:normAutofit/>
          </a:bodyPr>
          <a:lstStyle/>
          <a:p>
            <a:pPr algn="ctr" indent="0" marL="0">
              <a:lnSpc>
                <a:spcPct val="86957"/>
              </a:lnSpc>
              <a:buNone/>
            </a:pPr>
            <a:r>
              <a:rPr lang="en-US" sz="12000" b="1" spc="-300" kern="0" dirty="0">
                <a:solidFill>
                  <a:srgbClr val="FF6A00"/>
                </a:solidFill>
                <a:latin typeface="Arial" pitchFamily="34" charset="0"/>
                <a:ea typeface="Arial" pitchFamily="34" charset="-122"/>
                <a:cs typeface="Arial" pitchFamily="34" charset="-120"/>
              </a:rPr>
              <a:t>4</a:t>
            </a:r>
            <a:endParaRPr lang="en-US" sz="12000" dirty="0"/>
          </a:p>
        </p:txBody>
      </p:sp>
      <p:sp>
        <p:nvSpPr>
          <p:cNvPr id="5" name="Text 3"/>
          <p:cNvSpPr/>
          <p:nvPr/>
        </p:nvSpPr>
        <p:spPr>
          <a:xfrm>
            <a:off x="1801728" y="5301928"/>
            <a:ext cx="14684544" cy="520005"/>
          </a:xfrm>
          <a:prstGeom prst="rect">
            <a:avLst/>
          </a:prstGeom>
          <a:noFill/>
          <a:ln/>
        </p:spPr>
        <p:txBody>
          <a:bodyPr wrap="square" lIns="25400" tIns="25400" rIns="25400" bIns="25400" rtlCol="0" anchor="t">
            <a:normAutofit/>
          </a:bodyPr>
          <a:lstStyle/>
          <a:p>
            <a:pPr algn="ctr" indent="0" marL="0">
              <a:lnSpc>
                <a:spcPct val="96381"/>
              </a:lnSpc>
              <a:buNone/>
            </a:pPr>
            <a:r>
              <a:rPr lang="en-US" sz="3450" b="1" dirty="0">
                <a:solidFill>
                  <a:srgbClr val="F5F7FB"/>
                </a:solidFill>
                <a:latin typeface="Arial" pitchFamily="34" charset="0"/>
                <a:ea typeface="Arial" pitchFamily="34" charset="-122"/>
                <a:cs typeface="Arial" pitchFamily="34" charset="-120"/>
              </a:rPr>
              <a:t>Learning Units, one more than Module 15's Windows equivalent</a:t>
            </a:r>
            <a:endParaRPr lang="en-US" sz="3450" dirty="0"/>
          </a:p>
        </p:txBody>
      </p:sp>
      <p:sp>
        <p:nvSpPr>
          <p:cNvPr id="6" name="Text 4"/>
          <p:cNvSpPr/>
          <p:nvPr/>
        </p:nvSpPr>
        <p:spPr>
          <a:xfrm>
            <a:off x="3257550" y="6012433"/>
            <a:ext cx="11772900" cy="1239589"/>
          </a:xfrm>
          <a:prstGeom prst="rect">
            <a:avLst/>
          </a:prstGeom>
          <a:noFill/>
          <a:ln/>
        </p:spPr>
        <p:txBody>
          <a:bodyPr wrap="square" lIns="25400" tIns="25400" rIns="25400" bIns="25400" rtlCol="0" anchor="t">
            <a:normAutofit/>
          </a:bodyPr>
          <a:lstStyle/>
          <a:p>
            <a:pPr algn="ctr" indent="0" marL="0">
              <a:lnSpc>
                <a:spcPct val="125522"/>
              </a:lnSpc>
              <a:buNone/>
            </a:pPr>
            <a:r>
              <a:rPr lang="en-US" sz="2175" dirty="0">
                <a:solidFill>
                  <a:srgbClr val="B8C0CF"/>
                </a:solidFill>
                <a:latin typeface="Arial" pitchFamily="34" charset="0"/>
                <a:ea typeface="Arial" pitchFamily="34" charset="-122"/>
                <a:cs typeface="Arial" pitchFamily="34" charset="-120"/>
              </a:rPr>
              <a:t>Enumerating Linux, Exposed Confidential Information, Insecure File Permissions, and Insecure System Components. Percentage weightings per module: information not defined in the official exam outline.</a:t>
            </a:r>
            <a:endParaRPr lang="en-US" sz="217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48602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KNOWLEDGE CHECK</a:t>
            </a:r>
            <a:endParaRPr lang="en-US" sz="1650" dirty="0"/>
          </a:p>
        </p:txBody>
      </p:sp>
      <p:sp>
        <p:nvSpPr>
          <p:cNvPr id="4" name="Text 2"/>
          <p:cNvSpPr/>
          <p:nvPr/>
        </p:nvSpPr>
        <p:spPr>
          <a:xfrm>
            <a:off x="800100" y="2981325"/>
            <a:ext cx="17188434" cy="8763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 cron job runs every few minutes as root and executes a script writable by the current low-privileged user. Which objective covers this technique?</a:t>
            </a:r>
            <a:endParaRPr lang="en-US" sz="3000" dirty="0"/>
          </a:p>
        </p:txBody>
      </p:sp>
      <p:sp>
        <p:nvSpPr>
          <p:cNvPr id="5" name="Shape 3"/>
          <p:cNvSpPr/>
          <p:nvPr/>
        </p:nvSpPr>
        <p:spPr>
          <a:xfrm>
            <a:off x="800100" y="4143375"/>
            <a:ext cx="16687800" cy="800100"/>
          </a:xfrm>
          <a:prstGeom prst="roundRect">
            <a:avLst>
              <a:gd name="adj" fmla="val 16667"/>
            </a:avLst>
          </a:prstGeom>
          <a:solidFill>
            <a:srgbClr val="FF6A00">
              <a:alpha val="10000"/>
            </a:srgbClr>
          </a:solidFill>
          <a:ln w="9525">
            <a:solidFill>
              <a:srgbClr val="B85100"/>
            </a:solidFill>
            <a:prstDash val="solid"/>
          </a:ln>
        </p:spPr>
      </p:sp>
      <p:sp>
        <p:nvSpPr>
          <p:cNvPr id="6" name="Shape 4"/>
          <p:cNvSpPr/>
          <p:nvPr/>
        </p:nvSpPr>
        <p:spPr>
          <a:xfrm>
            <a:off x="1038225" y="43243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3338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A</a:t>
            </a:r>
            <a:endParaRPr lang="en-US" sz="1650" dirty="0"/>
          </a:p>
        </p:txBody>
      </p:sp>
      <p:sp>
        <p:nvSpPr>
          <p:cNvPr id="8" name="Text 6"/>
          <p:cNvSpPr/>
          <p:nvPr/>
        </p:nvSpPr>
        <p:spPr>
          <a:xfrm>
            <a:off x="1952625" y="4398169"/>
            <a:ext cx="640625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Insecure File Permissions — abusing insecure cron jobs</a:t>
            </a:r>
            <a:endParaRPr lang="en-US" sz="1950" dirty="0"/>
          </a:p>
        </p:txBody>
      </p:sp>
      <p:sp>
        <p:nvSpPr>
          <p:cNvPr id="9" name="Shape 7"/>
          <p:cNvSpPr/>
          <p:nvPr/>
        </p:nvSpPr>
        <p:spPr>
          <a:xfrm>
            <a:off x="800100" y="5095875"/>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5276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286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B</a:t>
            </a:r>
            <a:endParaRPr lang="en-US" sz="1650" dirty="0"/>
          </a:p>
        </p:txBody>
      </p:sp>
      <p:sp>
        <p:nvSpPr>
          <p:cNvPr id="12" name="Text 10"/>
          <p:cNvSpPr/>
          <p:nvPr/>
        </p:nvSpPr>
        <p:spPr>
          <a:xfrm>
            <a:off x="1952625" y="5350669"/>
            <a:ext cx="5318068"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Enumerating Linux — automated enumeration</a:t>
            </a:r>
            <a:endParaRPr lang="en-US" sz="1950" dirty="0"/>
          </a:p>
        </p:txBody>
      </p:sp>
      <p:sp>
        <p:nvSpPr>
          <p:cNvPr id="13" name="Shape 11"/>
          <p:cNvSpPr/>
          <p:nvPr/>
        </p:nvSpPr>
        <p:spPr>
          <a:xfrm>
            <a:off x="800100" y="6048375"/>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62293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2388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C</a:t>
            </a:r>
            <a:endParaRPr lang="en-US" sz="1650" dirty="0"/>
          </a:p>
        </p:txBody>
      </p:sp>
      <p:sp>
        <p:nvSpPr>
          <p:cNvPr id="16" name="Text 14"/>
          <p:cNvSpPr/>
          <p:nvPr/>
        </p:nvSpPr>
        <p:spPr>
          <a:xfrm>
            <a:off x="1952625" y="6303169"/>
            <a:ext cx="5249882"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Insecure System Components — SUID abuse</a:t>
            </a:r>
            <a:endParaRPr lang="en-US" sz="1950" dirty="0"/>
          </a:p>
        </p:txBody>
      </p:sp>
      <p:sp>
        <p:nvSpPr>
          <p:cNvPr id="17" name="Shape 15"/>
          <p:cNvSpPr/>
          <p:nvPr/>
        </p:nvSpPr>
        <p:spPr>
          <a:xfrm>
            <a:off x="800100" y="7000875"/>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7181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7191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D</a:t>
            </a:r>
            <a:endParaRPr lang="en-US" sz="1650" dirty="0"/>
          </a:p>
        </p:txBody>
      </p:sp>
      <p:sp>
        <p:nvSpPr>
          <p:cNvPr id="20" name="Text 18"/>
          <p:cNvSpPr/>
          <p:nvPr/>
        </p:nvSpPr>
        <p:spPr>
          <a:xfrm>
            <a:off x="1952625" y="7255669"/>
            <a:ext cx="569689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Exposed Confidential Information — system trails</a:t>
            </a:r>
            <a:endParaRPr lang="en-US" sz="1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438177"/>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SUMMARY</a:t>
            </a:r>
            <a:endParaRPr lang="en-US" sz="1650" dirty="0"/>
          </a:p>
        </p:txBody>
      </p:sp>
      <p:sp>
        <p:nvSpPr>
          <p:cNvPr id="4" name="Text 2"/>
          <p:cNvSpPr/>
          <p:nvPr/>
        </p:nvSpPr>
        <p:spPr>
          <a:xfrm>
            <a:off x="800100" y="2933477"/>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Module 16 in four lines</a:t>
            </a:r>
            <a:endParaRPr lang="en-US" sz="3000" dirty="0"/>
          </a:p>
        </p:txBody>
      </p:sp>
      <p:sp>
        <p:nvSpPr>
          <p:cNvPr id="5" name="Shape 3"/>
          <p:cNvSpPr/>
          <p:nvPr/>
        </p:nvSpPr>
        <p:spPr>
          <a:xfrm>
            <a:off x="800100" y="3600227"/>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378120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379072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16.1</a:t>
            </a:r>
            <a:endParaRPr lang="en-US" sz="1650" dirty="0"/>
          </a:p>
        </p:txBody>
      </p:sp>
      <p:sp>
        <p:nvSpPr>
          <p:cNvPr id="8" name="Text 6"/>
          <p:cNvSpPr/>
          <p:nvPr/>
        </p:nvSpPr>
        <p:spPr>
          <a:xfrm>
            <a:off x="1952625" y="3855021"/>
            <a:ext cx="1323365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Understand the Linux permission model, then enumerate manually and with automated tools, verifying every result</a:t>
            </a:r>
            <a:endParaRPr lang="en-US" sz="1950" dirty="0"/>
          </a:p>
        </p:txBody>
      </p:sp>
      <p:sp>
        <p:nvSpPr>
          <p:cNvPr id="9" name="Shape 7"/>
          <p:cNvSpPr/>
          <p:nvPr/>
        </p:nvSpPr>
        <p:spPr>
          <a:xfrm>
            <a:off x="800100" y="4533677"/>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471465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472417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16.2</a:t>
            </a:r>
            <a:endParaRPr lang="en-US" sz="1650" dirty="0"/>
          </a:p>
        </p:txBody>
      </p:sp>
      <p:sp>
        <p:nvSpPr>
          <p:cNvPr id="12" name="Text 10"/>
          <p:cNvSpPr/>
          <p:nvPr/>
        </p:nvSpPr>
        <p:spPr>
          <a:xfrm>
            <a:off x="1952625" y="4788471"/>
            <a:ext cx="835662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Search shell history, user trails, and system trails for exposed credentials</a:t>
            </a:r>
            <a:endParaRPr lang="en-US" sz="1950" dirty="0"/>
          </a:p>
        </p:txBody>
      </p:sp>
      <p:sp>
        <p:nvSpPr>
          <p:cNvPr id="13" name="Shape 11"/>
          <p:cNvSpPr/>
          <p:nvPr/>
        </p:nvSpPr>
        <p:spPr>
          <a:xfrm>
            <a:off x="800100" y="5467127"/>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564810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565762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16.3</a:t>
            </a:r>
            <a:endParaRPr lang="en-US" sz="1650" dirty="0"/>
          </a:p>
        </p:txBody>
      </p:sp>
      <p:sp>
        <p:nvSpPr>
          <p:cNvPr id="16" name="Text 14"/>
          <p:cNvSpPr/>
          <p:nvPr/>
        </p:nvSpPr>
        <p:spPr>
          <a:xfrm>
            <a:off x="1952625" y="5721921"/>
            <a:ext cx="7498043"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Abuse insecure cron jobs and insecure file permissions generally</a:t>
            </a:r>
            <a:endParaRPr lang="en-US" sz="1950" dirty="0"/>
          </a:p>
        </p:txBody>
      </p:sp>
      <p:sp>
        <p:nvSpPr>
          <p:cNvPr id="17" name="Shape 15"/>
          <p:cNvSpPr/>
          <p:nvPr/>
        </p:nvSpPr>
        <p:spPr>
          <a:xfrm>
            <a:off x="800100" y="6400577"/>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658155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659107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16.4</a:t>
            </a:r>
            <a:endParaRPr lang="en-US" sz="1650" dirty="0"/>
          </a:p>
        </p:txBody>
      </p:sp>
      <p:sp>
        <p:nvSpPr>
          <p:cNvPr id="20" name="Text 18"/>
          <p:cNvSpPr/>
          <p:nvPr/>
        </p:nvSpPr>
        <p:spPr>
          <a:xfrm>
            <a:off x="1952625" y="6655371"/>
            <a:ext cx="13560832"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Abuse SUID programs and capabilities, circumvent special sudo permissions, and exploit known kernel vulnerabilities</a:t>
            </a:r>
            <a:endParaRPr lang="en-US" sz="1950" dirty="0"/>
          </a:p>
        </p:txBody>
      </p:sp>
      <p:sp>
        <p:nvSpPr>
          <p:cNvPr id="21" name="Text 19"/>
          <p:cNvSpPr/>
          <p:nvPr/>
        </p:nvSpPr>
        <p:spPr>
          <a:xfrm>
            <a:off x="800100" y="7448327"/>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Modules 15 and 16 together give a complete escalation toolkit across both operating systems the rest of the course assumes.</a:t>
            </a:r>
            <a:endParaRPr lang="en-US" sz="217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NEXT STEPS</a:t>
            </a:r>
            <a:endParaRPr lang="en-US" sz="1650" dirty="0"/>
          </a:p>
        </p:txBody>
      </p:sp>
      <p:sp>
        <p:nvSpPr>
          <p:cNvPr id="4" name="Text 2"/>
          <p:cNvSpPr/>
          <p:nvPr/>
        </p:nvSpPr>
        <p:spPr>
          <a:xfrm>
            <a:off x="800100" y="1143000"/>
            <a:ext cx="18356580" cy="738188"/>
          </a:xfrm>
          <a:prstGeom prst="rect">
            <a:avLst/>
          </a:prstGeom>
          <a:noFill/>
          <a:ln/>
        </p:spPr>
        <p:txBody>
          <a:bodyPr wrap="square" lIns="25400" tIns="25400" rIns="25400" bIns="25400" rtlCol="0" anchor="t">
            <a:normAutofit/>
          </a:bodyPr>
          <a:lstStyle/>
          <a:p>
            <a:pPr algn="l" indent="0" marL="0">
              <a:lnSpc>
                <a:spcPct val="90741"/>
              </a:lnSpc>
              <a:buNone/>
            </a:pPr>
            <a:r>
              <a:rPr lang="en-US" sz="5250" b="1" spc="-37" kern="0" dirty="0">
                <a:solidFill>
                  <a:srgbClr val="F5F7FB"/>
                </a:solidFill>
                <a:latin typeface="Arial" pitchFamily="34" charset="0"/>
                <a:ea typeface="Arial" pitchFamily="34" charset="-122"/>
                <a:cs typeface="Arial" pitchFamily="34" charset="-120"/>
              </a:rPr>
              <a:t>Module 17: Port Redirection and SSH Tunneling</a:t>
            </a:r>
            <a:endParaRPr lang="en-US" sz="5250" dirty="0"/>
          </a:p>
        </p:txBody>
      </p:sp>
      <p:sp>
        <p:nvSpPr>
          <p:cNvPr id="5" name="Shape 3"/>
          <p:cNvSpPr/>
          <p:nvPr/>
        </p:nvSpPr>
        <p:spPr>
          <a:xfrm>
            <a:off x="800100" y="2128838"/>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COMING NEXT</a:t>
            </a:r>
            <a:endParaRPr lang="en-US" sz="1500" dirty="0"/>
          </a:p>
        </p:txBody>
      </p:sp>
      <p:sp>
        <p:nvSpPr>
          <p:cNvPr id="7" name="Text 5"/>
          <p:cNvSpPr/>
          <p:nvPr/>
        </p:nvSpPr>
        <p:spPr>
          <a:xfrm>
            <a:off x="1038225" y="268605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Port forwarding with *NIX tools, the four SSH tunnelling modes, and port forwarding with Windows tools.</a:t>
            </a:r>
            <a:endParaRPr lang="en-US" sz="1875" dirty="0"/>
          </a:p>
        </p:txBody>
      </p:sp>
      <p:sp>
        <p:nvSpPr>
          <p:cNvPr id="8" name="Shape 6"/>
          <p:cNvSpPr/>
          <p:nvPr/>
        </p:nvSpPr>
        <p:spPr>
          <a:xfrm>
            <a:off x="6426175" y="2128838"/>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BEFORE THEN</a:t>
            </a:r>
            <a:endParaRPr lang="en-US" sz="1500" dirty="0"/>
          </a:p>
        </p:txBody>
      </p:sp>
      <p:sp>
        <p:nvSpPr>
          <p:cNvPr id="10" name="Text 8"/>
          <p:cNvSpPr/>
          <p:nvPr/>
        </p:nvSpPr>
        <p:spPr>
          <a:xfrm>
            <a:off x="6664300" y="2686050"/>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Be able to complete the Windows-versus-Linux escalation comparison table from memory.</a:t>
            </a:r>
            <a:endParaRPr lang="en-US" sz="1875" dirty="0"/>
          </a:p>
        </p:txBody>
      </p:sp>
      <p:sp>
        <p:nvSpPr>
          <p:cNvPr id="11" name="Shape 9"/>
          <p:cNvSpPr/>
          <p:nvPr/>
        </p:nvSpPr>
        <p:spPr>
          <a:xfrm>
            <a:off x="12052250" y="2128838"/>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2366963"/>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CARRY FORWARD</a:t>
            </a:r>
            <a:endParaRPr lang="en-US" sz="1500" dirty="0"/>
          </a:p>
        </p:txBody>
      </p:sp>
      <p:sp>
        <p:nvSpPr>
          <p:cNvPr id="13" name="Text 11"/>
          <p:cNvSpPr/>
          <p:nvPr/>
        </p:nvSpPr>
        <p:spPr>
          <a:xfrm>
            <a:off x="12290375" y="2686050"/>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Every credential and privileged foothold gained across Modules 14 to 16. Module 17 assumes a foothold already exists to tunnel from.</a:t>
            </a:r>
            <a:endParaRPr lang="en-US" sz="1875" dirty="0"/>
          </a:p>
        </p:txBody>
      </p:sp>
      <p:sp>
        <p:nvSpPr>
          <p:cNvPr id="14" name="Shape 12"/>
          <p:cNvSpPr/>
          <p:nvPr/>
        </p:nvSpPr>
        <p:spPr>
          <a:xfrm>
            <a:off x="800100" y="9210675"/>
            <a:ext cx="16687800" cy="9525"/>
          </a:xfrm>
          <a:prstGeom prst="rect">
            <a:avLst/>
          </a:prstGeom>
          <a:solidFill>
            <a:srgbClr val="2A2F3A"/>
          </a:solidFill>
          <a:ln/>
        </p:spPr>
      </p:sp>
      <p:sp>
        <p:nvSpPr>
          <p:cNvPr id="15" name="Text 13"/>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16" name="Text 14"/>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2026-08-01T10:23:54Z</dcterms:created>
  <dcterms:modified xsi:type="dcterms:W3CDTF">2026-08-01T10:23:54Z</dcterms:modified>
</cp:coreProperties>
</file>