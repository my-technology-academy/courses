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9. Final module of the web application track. Set the tone: injection now reaches the database layer directly, and the impact is usually higher than anything in Modules 7 or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units. Manual SQL Exploitation carries four objectives — the largest unit, and the technical core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9 of 24. The final module of the three-module web application block that began at Module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SQL injection reaches the database directly, which is why its impact usually exceeds Modules 7 and 8 combined.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9.1. Three objectives establishing the theory before any exploitation is attempted.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9.1, task 1. A refresh, not a first introduction — the syllabus assumes some prior SQL exposure and revisits it with an attacker's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9.1, task 2. Different DB types. Keep this a map, not a tutorial — the point is that the same injection concept meets different engines.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9.1, task 3. Syntax differences in practice — string concatenation, comments, and version-fingerprinting functions vary by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9.1 before manual exploitation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9.2 — the technical core of the module, four objectives covering identification and three named exploitation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9.2, task 1. Identification comes before any named technique — the syllabus states it as its own objective. The single quote is the classic first 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9.2, task 2. UNION-based injection — the technique that directly appends attacker-chosen data into the application's own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9.2, task 3. Error-based injection — using the database engine's own error messages as an information-disclosure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9.2, task 4. Blind injection — no output channel exists, so truth is inferred one bit at a time, either by content or by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This is the slide learners should keep — matching symptom to technique is the actual skill being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9.2 before code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9.3 — the module's most severe outcome, and its automation counterpart.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9.3, task 1. xp_cmdshell — the objective that turns database access into operating system access, if enabled and privileges allow.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9.3, task 2. SQLmap named explicitly. Position it as automation of what was just done manually, not a replacement for understanding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closing the module. Confirm manually, then scale with automation — never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9.3, then into the applied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Five minutes in pairs. Listening for correct technique selection based on the stated symptom, and correct manual-first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1. Systematic parameter testing — the SQL equivalent of testing every path-like parameter from Module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2. Fingerprinting the engine before committing to payload syntax — direct application of Objective 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3. Verifying SQLmap findings manually before reporting them — direct evidence discipline from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Acronym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Misconceptions. The 'no error means no injection' one is the most damaging and the most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Three units, four named exploitation techniques across manual and automated code execution. No weighting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Answer is C. Also appears as Q1 of the module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Three units in three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Preview Module 10 — the shift from server-side to client-side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9 OF 24 · OFFSEC PEN-200 (PWK)</a:t>
            </a:r>
            <a:endParaRPr lang="en-US" sz="1650" dirty="0"/>
          </a:p>
        </p:txBody>
      </p:sp>
      <p:sp>
        <p:nvSpPr>
          <p:cNvPr id="4" name="Text 2"/>
          <p:cNvSpPr/>
          <p:nvPr/>
        </p:nvSpPr>
        <p:spPr>
          <a:xfrm>
            <a:off x="800100" y="1181100"/>
            <a:ext cx="18356580" cy="918195"/>
          </a:xfrm>
          <a:prstGeom prst="rect">
            <a:avLst/>
          </a:prstGeom>
          <a:noFill/>
          <a:ln/>
        </p:spPr>
        <p:txBody>
          <a:bodyPr wrap="square" lIns="25400" tIns="25400" rIns="25400" bIns="25400" rtlCol="0" anchor="t">
            <a:normAutofit/>
          </a:bodyPr>
          <a:lstStyle/>
          <a:p>
            <a:pPr algn="l"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SQL Injection Attacks</a:t>
            </a:r>
            <a:endParaRPr lang="en-US" sz="6600" dirty="0"/>
          </a:p>
        </p:txBody>
      </p:sp>
      <p:sp>
        <p:nvSpPr>
          <p:cNvPr id="5" name="Text 3"/>
          <p:cNvSpPr/>
          <p:nvPr/>
        </p:nvSpPr>
        <p:spPr>
          <a:xfrm>
            <a:off x="800100" y="2385045"/>
            <a:ext cx="13735050" cy="977205"/>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B8C0CF"/>
                </a:solidFill>
                <a:latin typeface="Arial" pitchFamily="34" charset="0"/>
                <a:ea typeface="Arial" pitchFamily="34" charset="-122"/>
                <a:cs typeface="Arial" pitchFamily="34" charset="-120"/>
              </a:rPr>
              <a:t>SQL fundamentals and database types, manual identification and exploitation, and manual and automated code execution against the database itself.</a:t>
            </a:r>
            <a:endParaRPr lang="en-US" sz="2550" dirty="0"/>
          </a:p>
        </p:txBody>
      </p:sp>
      <p:sp>
        <p:nvSpPr>
          <p:cNvPr id="6" name="Shape 4"/>
          <p:cNvSpPr/>
          <p:nvPr/>
        </p:nvSpPr>
        <p:spPr>
          <a:xfrm>
            <a:off x="800100" y="9210675"/>
            <a:ext cx="16687800" cy="9525"/>
          </a:xfrm>
          <a:prstGeom prst="rect">
            <a:avLst/>
          </a:prstGeom>
          <a:solidFill>
            <a:srgbClr val="2A2F3A"/>
          </a:solidFill>
          <a:ln/>
        </p:spPr>
      </p:sp>
      <p:sp>
        <p:nvSpPr>
          <p:cNvPr id="7" name="Text 5"/>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8" name="Text 6"/>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08178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LEARNING OBJECTIVES</a:t>
            </a:r>
            <a:endParaRPr lang="en-US" sz="1650" dirty="0"/>
          </a:p>
        </p:txBody>
      </p:sp>
      <p:sp>
        <p:nvSpPr>
          <p:cNvPr id="4" name="Text 2"/>
          <p:cNvSpPr/>
          <p:nvPr/>
        </p:nvSpPr>
        <p:spPr>
          <a:xfrm>
            <a:off x="800100" y="3577084"/>
            <a:ext cx="18356580" cy="618158"/>
          </a:xfrm>
          <a:prstGeom prst="rect">
            <a:avLst/>
          </a:prstGeom>
          <a:noFill/>
          <a:ln/>
        </p:spPr>
        <p:txBody>
          <a:bodyPr wrap="square" lIns="25400" tIns="25400" rIns="25400" bIns="25400" rtlCol="0" anchor="t">
            <a:normAutofit/>
          </a:bodyPr>
          <a:lstStyle/>
          <a:p>
            <a:pPr algn="l" indent="0" marL="0">
              <a:lnSpc>
                <a:spcPct val="90896"/>
              </a:lnSpc>
              <a:buNone/>
            </a:pPr>
            <a:r>
              <a:rPr lang="en-US" sz="4350" b="1" spc="-37" kern="0" dirty="0">
                <a:solidFill>
                  <a:srgbClr val="F5F7FB"/>
                </a:solidFill>
                <a:latin typeface="Arial" pitchFamily="34" charset="0"/>
                <a:ea typeface="Arial" pitchFamily="34" charset="-122"/>
                <a:cs typeface="Arial" pitchFamily="34" charset="-120"/>
              </a:rPr>
              <a:t>What this module covers</a:t>
            </a:r>
            <a:endParaRPr lang="en-US" sz="4350" dirty="0"/>
          </a:p>
        </p:txBody>
      </p:sp>
      <p:sp>
        <p:nvSpPr>
          <p:cNvPr id="5" name="Shape 3"/>
          <p:cNvSpPr/>
          <p:nvPr/>
        </p:nvSpPr>
        <p:spPr>
          <a:xfrm>
            <a:off x="800100" y="4461942"/>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6429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6524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9.1</a:t>
            </a:r>
            <a:endParaRPr lang="en-US" sz="1650" dirty="0"/>
          </a:p>
        </p:txBody>
      </p:sp>
      <p:sp>
        <p:nvSpPr>
          <p:cNvPr id="8" name="Text 6"/>
          <p:cNvSpPr/>
          <p:nvPr/>
        </p:nvSpPr>
        <p:spPr>
          <a:xfrm>
            <a:off x="1952625" y="4716735"/>
            <a:ext cx="384270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SQL Theory and Database Types</a:t>
            </a:r>
            <a:endParaRPr lang="en-US" sz="1950" dirty="0"/>
          </a:p>
        </p:txBody>
      </p:sp>
      <p:sp>
        <p:nvSpPr>
          <p:cNvPr id="9" name="Shape 7"/>
          <p:cNvSpPr/>
          <p:nvPr/>
        </p:nvSpPr>
        <p:spPr>
          <a:xfrm>
            <a:off x="800100" y="5433492"/>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61446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62399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9.2</a:t>
            </a:r>
            <a:endParaRPr lang="en-US" sz="1650" dirty="0"/>
          </a:p>
        </p:txBody>
      </p:sp>
      <p:sp>
        <p:nvSpPr>
          <p:cNvPr id="12" name="Text 10"/>
          <p:cNvSpPr/>
          <p:nvPr/>
        </p:nvSpPr>
        <p:spPr>
          <a:xfrm>
            <a:off x="1952625" y="5688285"/>
            <a:ext cx="2863386"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Manual SQL Exploitation</a:t>
            </a:r>
            <a:endParaRPr lang="en-US" sz="1950" dirty="0"/>
          </a:p>
        </p:txBody>
      </p:sp>
      <p:sp>
        <p:nvSpPr>
          <p:cNvPr id="13" name="Shape 11"/>
          <p:cNvSpPr/>
          <p:nvPr/>
        </p:nvSpPr>
        <p:spPr>
          <a:xfrm>
            <a:off x="800100" y="6405042"/>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5860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5955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9.3</a:t>
            </a:r>
            <a:endParaRPr lang="en-US" sz="1650" dirty="0"/>
          </a:p>
        </p:txBody>
      </p:sp>
      <p:sp>
        <p:nvSpPr>
          <p:cNvPr id="16" name="Text 14"/>
          <p:cNvSpPr/>
          <p:nvPr/>
        </p:nvSpPr>
        <p:spPr>
          <a:xfrm>
            <a:off x="1952625" y="6659835"/>
            <a:ext cx="4624179"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Manual and Automated Code Execution</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8797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COURSE CONTEXT · 24 LEARNING MODULES</a:t>
            </a:r>
            <a:endParaRPr lang="en-US" sz="1650" dirty="0"/>
          </a:p>
        </p:txBody>
      </p:sp>
      <p:sp>
        <p:nvSpPr>
          <p:cNvPr id="4" name="Text 2"/>
          <p:cNvSpPr/>
          <p:nvPr/>
        </p:nvSpPr>
        <p:spPr>
          <a:xfrm>
            <a:off x="800100" y="23750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Where Module 9 sits in PEN-200</a:t>
            </a:r>
            <a:endParaRPr lang="en-US" sz="3000" dirty="0"/>
          </a:p>
        </p:txBody>
      </p:sp>
      <p:sp>
        <p:nvSpPr>
          <p:cNvPr id="5" name="Shape 3"/>
          <p:cNvSpPr/>
          <p:nvPr/>
        </p:nvSpPr>
        <p:spPr>
          <a:xfrm>
            <a:off x="80010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6" name="Text 4"/>
          <p:cNvSpPr/>
          <p:nvPr/>
        </p:nvSpPr>
        <p:spPr>
          <a:xfrm>
            <a:off x="94297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942975" y="3399011"/>
            <a:ext cx="234225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General Course Introduction</a:t>
            </a:r>
            <a:endParaRPr lang="en-US" sz="1425" dirty="0"/>
          </a:p>
        </p:txBody>
      </p:sp>
      <p:sp>
        <p:nvSpPr>
          <p:cNvPr id="8" name="Shape 6"/>
          <p:cNvSpPr/>
          <p:nvPr/>
        </p:nvSpPr>
        <p:spPr>
          <a:xfrm>
            <a:off x="500062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9" name="Text 7"/>
          <p:cNvSpPr/>
          <p:nvPr/>
        </p:nvSpPr>
        <p:spPr>
          <a:xfrm>
            <a:off x="514350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5143500" y="3399011"/>
            <a:ext cx="242537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Cybersecurity</a:t>
            </a:r>
            <a:endParaRPr lang="en-US" sz="1425" dirty="0"/>
          </a:p>
        </p:txBody>
      </p:sp>
      <p:sp>
        <p:nvSpPr>
          <p:cNvPr id="11" name="Shape 9"/>
          <p:cNvSpPr/>
          <p:nvPr/>
        </p:nvSpPr>
        <p:spPr>
          <a:xfrm>
            <a:off x="920115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2" name="Text 10"/>
          <p:cNvSpPr/>
          <p:nvPr/>
        </p:nvSpPr>
        <p:spPr>
          <a:xfrm>
            <a:off x="934402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9344025" y="3399011"/>
            <a:ext cx="238541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Effective Learning Strategies</a:t>
            </a:r>
            <a:endParaRPr lang="en-US" sz="1425" dirty="0"/>
          </a:p>
        </p:txBody>
      </p:sp>
      <p:sp>
        <p:nvSpPr>
          <p:cNvPr id="14" name="Shape 12"/>
          <p:cNvSpPr/>
          <p:nvPr/>
        </p:nvSpPr>
        <p:spPr>
          <a:xfrm>
            <a:off x="1340167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5" name="Text 13"/>
          <p:cNvSpPr/>
          <p:nvPr/>
        </p:nvSpPr>
        <p:spPr>
          <a:xfrm>
            <a:off x="1354455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04</a:t>
            </a:r>
            <a:endParaRPr lang="en-US" sz="1200" dirty="0"/>
          </a:p>
        </p:txBody>
      </p:sp>
      <p:sp>
        <p:nvSpPr>
          <p:cNvPr id="16" name="Text 14"/>
          <p:cNvSpPr/>
          <p:nvPr/>
        </p:nvSpPr>
        <p:spPr>
          <a:xfrm>
            <a:off x="13544550" y="3399011"/>
            <a:ext cx="312066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Report Writing for Penetration Testers</a:t>
            </a:r>
            <a:endParaRPr lang="en-US" sz="1425" dirty="0"/>
          </a:p>
        </p:txBody>
      </p:sp>
      <p:sp>
        <p:nvSpPr>
          <p:cNvPr id="17" name="Shape 15"/>
          <p:cNvSpPr/>
          <p:nvPr/>
        </p:nvSpPr>
        <p:spPr>
          <a:xfrm>
            <a:off x="80010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18" name="Text 16"/>
          <p:cNvSpPr/>
          <p:nvPr/>
        </p:nvSpPr>
        <p:spPr>
          <a:xfrm>
            <a:off x="94297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05</a:t>
            </a:r>
            <a:endParaRPr lang="en-US" sz="1200" dirty="0"/>
          </a:p>
        </p:txBody>
      </p:sp>
      <p:sp>
        <p:nvSpPr>
          <p:cNvPr id="19" name="Text 17"/>
          <p:cNvSpPr/>
          <p:nvPr/>
        </p:nvSpPr>
        <p:spPr>
          <a:xfrm>
            <a:off x="942975" y="4215780"/>
            <a:ext cx="183118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Information Gathering</a:t>
            </a:r>
            <a:endParaRPr lang="en-US" sz="1425" dirty="0"/>
          </a:p>
        </p:txBody>
      </p:sp>
      <p:sp>
        <p:nvSpPr>
          <p:cNvPr id="20" name="Shape 18"/>
          <p:cNvSpPr/>
          <p:nvPr/>
        </p:nvSpPr>
        <p:spPr>
          <a:xfrm>
            <a:off x="500062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1" name="Text 19"/>
          <p:cNvSpPr/>
          <p:nvPr/>
        </p:nvSpPr>
        <p:spPr>
          <a:xfrm>
            <a:off x="514350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06</a:t>
            </a:r>
            <a:endParaRPr lang="en-US" sz="1200" dirty="0"/>
          </a:p>
        </p:txBody>
      </p:sp>
      <p:sp>
        <p:nvSpPr>
          <p:cNvPr id="22" name="Text 20"/>
          <p:cNvSpPr/>
          <p:nvPr/>
        </p:nvSpPr>
        <p:spPr>
          <a:xfrm>
            <a:off x="5143500" y="4215780"/>
            <a:ext cx="18587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Vulnerability Scanning</a:t>
            </a:r>
            <a:endParaRPr lang="en-US" sz="1425" dirty="0"/>
          </a:p>
        </p:txBody>
      </p:sp>
      <p:sp>
        <p:nvSpPr>
          <p:cNvPr id="23" name="Shape 21"/>
          <p:cNvSpPr/>
          <p:nvPr/>
        </p:nvSpPr>
        <p:spPr>
          <a:xfrm>
            <a:off x="920115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4" name="Text 22"/>
          <p:cNvSpPr/>
          <p:nvPr/>
        </p:nvSpPr>
        <p:spPr>
          <a:xfrm>
            <a:off x="934402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07</a:t>
            </a:r>
            <a:endParaRPr lang="en-US" sz="1200" dirty="0"/>
          </a:p>
        </p:txBody>
      </p:sp>
      <p:sp>
        <p:nvSpPr>
          <p:cNvPr id="25" name="Text 23"/>
          <p:cNvSpPr/>
          <p:nvPr/>
        </p:nvSpPr>
        <p:spPr>
          <a:xfrm>
            <a:off x="9344025" y="4215780"/>
            <a:ext cx="270493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Web Applications</a:t>
            </a:r>
            <a:endParaRPr lang="en-US" sz="1425" dirty="0"/>
          </a:p>
        </p:txBody>
      </p:sp>
      <p:sp>
        <p:nvSpPr>
          <p:cNvPr id="26" name="Shape 24"/>
          <p:cNvSpPr/>
          <p:nvPr/>
        </p:nvSpPr>
        <p:spPr>
          <a:xfrm>
            <a:off x="1340167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7" name="Text 25"/>
          <p:cNvSpPr/>
          <p:nvPr/>
        </p:nvSpPr>
        <p:spPr>
          <a:xfrm>
            <a:off x="1354455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08</a:t>
            </a:r>
            <a:endParaRPr lang="en-US" sz="1200" dirty="0"/>
          </a:p>
        </p:txBody>
      </p:sp>
      <p:sp>
        <p:nvSpPr>
          <p:cNvPr id="28" name="Text 26"/>
          <p:cNvSpPr/>
          <p:nvPr/>
        </p:nvSpPr>
        <p:spPr>
          <a:xfrm>
            <a:off x="13544550" y="4215780"/>
            <a:ext cx="28205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Common Web Application Attacks</a:t>
            </a:r>
            <a:endParaRPr lang="en-US" sz="1425" dirty="0"/>
          </a:p>
        </p:txBody>
      </p:sp>
      <p:sp>
        <p:nvSpPr>
          <p:cNvPr id="29" name="Shape 27"/>
          <p:cNvSpPr/>
          <p:nvPr/>
        </p:nvSpPr>
        <p:spPr>
          <a:xfrm>
            <a:off x="800100" y="4675361"/>
            <a:ext cx="4086225" cy="702469"/>
          </a:xfrm>
          <a:prstGeom prst="roundRect">
            <a:avLst>
              <a:gd name="adj" fmla="val 16271"/>
            </a:avLst>
          </a:prstGeom>
          <a:solidFill>
            <a:srgbClr val="FF6A00">
              <a:alpha val="12000"/>
            </a:srgbClr>
          </a:solidFill>
          <a:ln w="9525">
            <a:solidFill>
              <a:srgbClr val="FF6A00"/>
            </a:solidFill>
            <a:prstDash val="solid"/>
          </a:ln>
        </p:spPr>
      </p:sp>
      <p:sp>
        <p:nvSpPr>
          <p:cNvPr id="30" name="Text 28"/>
          <p:cNvSpPr/>
          <p:nvPr/>
        </p:nvSpPr>
        <p:spPr>
          <a:xfrm>
            <a:off x="94297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09</a:t>
            </a:r>
            <a:endParaRPr lang="en-US" sz="1200" dirty="0"/>
          </a:p>
        </p:txBody>
      </p:sp>
      <p:sp>
        <p:nvSpPr>
          <p:cNvPr id="31" name="Text 29"/>
          <p:cNvSpPr/>
          <p:nvPr/>
        </p:nvSpPr>
        <p:spPr>
          <a:xfrm>
            <a:off x="942975" y="5032549"/>
            <a:ext cx="1967508" cy="252413"/>
          </a:xfrm>
          <a:prstGeom prst="rect">
            <a:avLst/>
          </a:prstGeom>
          <a:noFill/>
          <a:ln/>
        </p:spPr>
        <p:txBody>
          <a:bodyPr wrap="square" lIns="0" tIns="0" rIns="0" bIns="0" rtlCol="0" anchor="t">
            <a:normAutofit/>
          </a:bodyPr>
          <a:lstStyle/>
          <a:p>
            <a:pPr algn="l" indent="0" marL="0">
              <a:lnSpc>
                <a:spcPct val="110465"/>
              </a:lnSpc>
              <a:buNone/>
            </a:pPr>
            <a:r>
              <a:rPr lang="en-US" sz="1425" b="1" dirty="0">
                <a:solidFill>
                  <a:srgbClr val="F5F7FB"/>
                </a:solidFill>
                <a:latin typeface="Arial" pitchFamily="34" charset="0"/>
                <a:ea typeface="Arial" pitchFamily="34" charset="-122"/>
                <a:cs typeface="Arial" pitchFamily="34" charset="-120"/>
              </a:rPr>
              <a:t>SQL Injection Attacks</a:t>
            </a:r>
            <a:endParaRPr lang="en-US" sz="1425" dirty="0"/>
          </a:p>
        </p:txBody>
      </p:sp>
      <p:sp>
        <p:nvSpPr>
          <p:cNvPr id="32" name="Shape 30"/>
          <p:cNvSpPr/>
          <p:nvPr/>
        </p:nvSpPr>
        <p:spPr>
          <a:xfrm>
            <a:off x="500062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3" name="Text 31"/>
          <p:cNvSpPr/>
          <p:nvPr/>
        </p:nvSpPr>
        <p:spPr>
          <a:xfrm>
            <a:off x="514350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10</a:t>
            </a:r>
            <a:endParaRPr lang="en-US" sz="1200" dirty="0"/>
          </a:p>
        </p:txBody>
      </p:sp>
      <p:sp>
        <p:nvSpPr>
          <p:cNvPr id="34" name="Text 32"/>
          <p:cNvSpPr/>
          <p:nvPr/>
        </p:nvSpPr>
        <p:spPr>
          <a:xfrm>
            <a:off x="5143500" y="5032549"/>
            <a:ext cx="161992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Client-Side Attacks</a:t>
            </a:r>
            <a:endParaRPr lang="en-US" sz="1425" dirty="0"/>
          </a:p>
        </p:txBody>
      </p:sp>
      <p:sp>
        <p:nvSpPr>
          <p:cNvPr id="35" name="Shape 33"/>
          <p:cNvSpPr/>
          <p:nvPr/>
        </p:nvSpPr>
        <p:spPr>
          <a:xfrm>
            <a:off x="920115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6" name="Text 34"/>
          <p:cNvSpPr/>
          <p:nvPr/>
        </p:nvSpPr>
        <p:spPr>
          <a:xfrm>
            <a:off x="934402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11</a:t>
            </a:r>
            <a:endParaRPr lang="en-US" sz="1200" dirty="0"/>
          </a:p>
        </p:txBody>
      </p:sp>
      <p:sp>
        <p:nvSpPr>
          <p:cNvPr id="37" name="Text 35"/>
          <p:cNvSpPr/>
          <p:nvPr/>
        </p:nvSpPr>
        <p:spPr>
          <a:xfrm>
            <a:off x="9344025" y="5032549"/>
            <a:ext cx="1980009"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Locating Public Exploits</a:t>
            </a:r>
            <a:endParaRPr lang="en-US" sz="1425" dirty="0"/>
          </a:p>
        </p:txBody>
      </p:sp>
      <p:sp>
        <p:nvSpPr>
          <p:cNvPr id="38" name="Shape 36"/>
          <p:cNvSpPr/>
          <p:nvPr/>
        </p:nvSpPr>
        <p:spPr>
          <a:xfrm>
            <a:off x="1340167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9" name="Text 37"/>
          <p:cNvSpPr/>
          <p:nvPr/>
        </p:nvSpPr>
        <p:spPr>
          <a:xfrm>
            <a:off x="1354455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12</a:t>
            </a:r>
            <a:endParaRPr lang="en-US" sz="1200" dirty="0"/>
          </a:p>
        </p:txBody>
      </p:sp>
      <p:sp>
        <p:nvSpPr>
          <p:cNvPr id="40" name="Text 38"/>
          <p:cNvSpPr/>
          <p:nvPr/>
        </p:nvSpPr>
        <p:spPr>
          <a:xfrm>
            <a:off x="13544550" y="5032549"/>
            <a:ext cx="122351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Fixing Exploits</a:t>
            </a:r>
            <a:endParaRPr lang="en-US" sz="1425" dirty="0"/>
          </a:p>
        </p:txBody>
      </p:sp>
      <p:sp>
        <p:nvSpPr>
          <p:cNvPr id="41" name="Shape 39"/>
          <p:cNvSpPr/>
          <p:nvPr/>
        </p:nvSpPr>
        <p:spPr>
          <a:xfrm>
            <a:off x="80010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2" name="Text 40"/>
          <p:cNvSpPr/>
          <p:nvPr/>
        </p:nvSpPr>
        <p:spPr>
          <a:xfrm>
            <a:off x="94297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13</a:t>
            </a:r>
            <a:endParaRPr lang="en-US" sz="1200" dirty="0"/>
          </a:p>
        </p:txBody>
      </p:sp>
      <p:sp>
        <p:nvSpPr>
          <p:cNvPr id="43" name="Text 41"/>
          <p:cNvSpPr/>
          <p:nvPr/>
        </p:nvSpPr>
        <p:spPr>
          <a:xfrm>
            <a:off x="942975" y="5849317"/>
            <a:ext cx="144385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Antivirus Evasion</a:t>
            </a:r>
            <a:endParaRPr lang="en-US" sz="1425" dirty="0"/>
          </a:p>
        </p:txBody>
      </p:sp>
      <p:sp>
        <p:nvSpPr>
          <p:cNvPr id="44" name="Shape 42"/>
          <p:cNvSpPr/>
          <p:nvPr/>
        </p:nvSpPr>
        <p:spPr>
          <a:xfrm>
            <a:off x="500062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5" name="Text 43"/>
          <p:cNvSpPr/>
          <p:nvPr/>
        </p:nvSpPr>
        <p:spPr>
          <a:xfrm>
            <a:off x="514350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14</a:t>
            </a:r>
            <a:endParaRPr lang="en-US" sz="1200" dirty="0"/>
          </a:p>
        </p:txBody>
      </p:sp>
      <p:sp>
        <p:nvSpPr>
          <p:cNvPr id="46" name="Text 44"/>
          <p:cNvSpPr/>
          <p:nvPr/>
        </p:nvSpPr>
        <p:spPr>
          <a:xfrm>
            <a:off x="5143500" y="5849317"/>
            <a:ext cx="149981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Password Attacks</a:t>
            </a:r>
            <a:endParaRPr lang="en-US" sz="1425" dirty="0"/>
          </a:p>
        </p:txBody>
      </p:sp>
      <p:sp>
        <p:nvSpPr>
          <p:cNvPr id="47" name="Shape 45"/>
          <p:cNvSpPr/>
          <p:nvPr/>
        </p:nvSpPr>
        <p:spPr>
          <a:xfrm>
            <a:off x="920115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8" name="Text 46"/>
          <p:cNvSpPr/>
          <p:nvPr/>
        </p:nvSpPr>
        <p:spPr>
          <a:xfrm>
            <a:off x="934402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15</a:t>
            </a:r>
            <a:endParaRPr lang="en-US" sz="1200" dirty="0"/>
          </a:p>
        </p:txBody>
      </p:sp>
      <p:sp>
        <p:nvSpPr>
          <p:cNvPr id="49" name="Text 47"/>
          <p:cNvSpPr/>
          <p:nvPr/>
        </p:nvSpPr>
        <p:spPr>
          <a:xfrm>
            <a:off x="9344025" y="5849317"/>
            <a:ext cx="241280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Windows Privilege Escalation</a:t>
            </a:r>
            <a:endParaRPr lang="en-US" sz="1425" dirty="0"/>
          </a:p>
        </p:txBody>
      </p:sp>
      <p:sp>
        <p:nvSpPr>
          <p:cNvPr id="50" name="Shape 48"/>
          <p:cNvSpPr/>
          <p:nvPr/>
        </p:nvSpPr>
        <p:spPr>
          <a:xfrm>
            <a:off x="1340167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51" name="Text 49"/>
          <p:cNvSpPr/>
          <p:nvPr/>
        </p:nvSpPr>
        <p:spPr>
          <a:xfrm>
            <a:off x="1354455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16</a:t>
            </a:r>
            <a:endParaRPr lang="en-US" sz="1200" dirty="0"/>
          </a:p>
        </p:txBody>
      </p:sp>
      <p:sp>
        <p:nvSpPr>
          <p:cNvPr id="52" name="Text 50"/>
          <p:cNvSpPr/>
          <p:nvPr/>
        </p:nvSpPr>
        <p:spPr>
          <a:xfrm>
            <a:off x="13544550" y="5849317"/>
            <a:ext cx="210405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Linux Privilege Escalation</a:t>
            </a:r>
            <a:endParaRPr lang="en-US" sz="1425" dirty="0"/>
          </a:p>
        </p:txBody>
      </p:sp>
      <p:sp>
        <p:nvSpPr>
          <p:cNvPr id="53" name="Shape 51"/>
          <p:cNvSpPr/>
          <p:nvPr/>
        </p:nvSpPr>
        <p:spPr>
          <a:xfrm>
            <a:off x="80010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4" name="Text 52"/>
          <p:cNvSpPr/>
          <p:nvPr/>
        </p:nvSpPr>
        <p:spPr>
          <a:xfrm>
            <a:off x="94297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17</a:t>
            </a:r>
            <a:endParaRPr lang="en-US" sz="1200" dirty="0"/>
          </a:p>
        </p:txBody>
      </p:sp>
      <p:sp>
        <p:nvSpPr>
          <p:cNvPr id="55" name="Text 53"/>
          <p:cNvSpPr/>
          <p:nvPr/>
        </p:nvSpPr>
        <p:spPr>
          <a:xfrm>
            <a:off x="942975" y="6666086"/>
            <a:ext cx="294774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Port Redirection and SSH Tunneling</a:t>
            </a:r>
            <a:endParaRPr lang="en-US" sz="1425" dirty="0"/>
          </a:p>
        </p:txBody>
      </p:sp>
      <p:sp>
        <p:nvSpPr>
          <p:cNvPr id="56" name="Shape 54"/>
          <p:cNvSpPr/>
          <p:nvPr/>
        </p:nvSpPr>
        <p:spPr>
          <a:xfrm>
            <a:off x="500062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7" name="Text 55"/>
          <p:cNvSpPr/>
          <p:nvPr/>
        </p:nvSpPr>
        <p:spPr>
          <a:xfrm>
            <a:off x="514350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18</a:t>
            </a:r>
            <a:endParaRPr lang="en-US" sz="1200" dirty="0"/>
          </a:p>
        </p:txBody>
      </p:sp>
      <p:sp>
        <p:nvSpPr>
          <p:cNvPr id="58" name="Text 56"/>
          <p:cNvSpPr/>
          <p:nvPr/>
        </p:nvSpPr>
        <p:spPr>
          <a:xfrm>
            <a:off x="5143500" y="6666086"/>
            <a:ext cx="170557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Advanced Tunneling</a:t>
            </a:r>
            <a:endParaRPr lang="en-US" sz="1425" dirty="0"/>
          </a:p>
        </p:txBody>
      </p:sp>
      <p:sp>
        <p:nvSpPr>
          <p:cNvPr id="59" name="Shape 57"/>
          <p:cNvSpPr/>
          <p:nvPr/>
        </p:nvSpPr>
        <p:spPr>
          <a:xfrm>
            <a:off x="920115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0" name="Text 58"/>
          <p:cNvSpPr/>
          <p:nvPr/>
        </p:nvSpPr>
        <p:spPr>
          <a:xfrm>
            <a:off x="934402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19</a:t>
            </a:r>
            <a:endParaRPr lang="en-US" sz="1200" dirty="0"/>
          </a:p>
        </p:txBody>
      </p:sp>
      <p:sp>
        <p:nvSpPr>
          <p:cNvPr id="61" name="Text 59"/>
          <p:cNvSpPr/>
          <p:nvPr/>
        </p:nvSpPr>
        <p:spPr>
          <a:xfrm>
            <a:off x="9344025" y="6666086"/>
            <a:ext cx="221716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The Metasploit Framework</a:t>
            </a:r>
            <a:endParaRPr lang="en-US" sz="1425" dirty="0"/>
          </a:p>
        </p:txBody>
      </p:sp>
      <p:sp>
        <p:nvSpPr>
          <p:cNvPr id="62" name="Shape 60"/>
          <p:cNvSpPr/>
          <p:nvPr/>
        </p:nvSpPr>
        <p:spPr>
          <a:xfrm>
            <a:off x="1340167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3" name="Text 61"/>
          <p:cNvSpPr/>
          <p:nvPr/>
        </p:nvSpPr>
        <p:spPr>
          <a:xfrm>
            <a:off x="1354455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20</a:t>
            </a:r>
            <a:endParaRPr lang="en-US" sz="1200" dirty="0"/>
          </a:p>
        </p:txBody>
      </p:sp>
      <p:sp>
        <p:nvSpPr>
          <p:cNvPr id="64" name="Text 62"/>
          <p:cNvSpPr/>
          <p:nvPr/>
        </p:nvSpPr>
        <p:spPr>
          <a:xfrm>
            <a:off x="13544550" y="6666086"/>
            <a:ext cx="274839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 Introduction and Enumeration</a:t>
            </a:r>
            <a:endParaRPr lang="en-US" sz="1425" dirty="0"/>
          </a:p>
        </p:txBody>
      </p:sp>
      <p:sp>
        <p:nvSpPr>
          <p:cNvPr id="65" name="Shape 63"/>
          <p:cNvSpPr/>
          <p:nvPr/>
        </p:nvSpPr>
        <p:spPr>
          <a:xfrm>
            <a:off x="80010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6" name="Text 64"/>
          <p:cNvSpPr/>
          <p:nvPr/>
        </p:nvSpPr>
        <p:spPr>
          <a:xfrm>
            <a:off x="94297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21</a:t>
            </a:r>
            <a:endParaRPr lang="en-US" sz="1200" dirty="0"/>
          </a:p>
        </p:txBody>
      </p:sp>
      <p:sp>
        <p:nvSpPr>
          <p:cNvPr id="67" name="Text 65"/>
          <p:cNvSpPr/>
          <p:nvPr/>
        </p:nvSpPr>
        <p:spPr>
          <a:xfrm>
            <a:off x="942975" y="7482855"/>
            <a:ext cx="233935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Attacking AD Authentication</a:t>
            </a:r>
            <a:endParaRPr lang="en-US" sz="1425" dirty="0"/>
          </a:p>
        </p:txBody>
      </p:sp>
      <p:sp>
        <p:nvSpPr>
          <p:cNvPr id="68" name="Shape 66"/>
          <p:cNvSpPr/>
          <p:nvPr/>
        </p:nvSpPr>
        <p:spPr>
          <a:xfrm>
            <a:off x="500062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9" name="Text 67"/>
          <p:cNvSpPr/>
          <p:nvPr/>
        </p:nvSpPr>
        <p:spPr>
          <a:xfrm>
            <a:off x="514350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22</a:t>
            </a:r>
            <a:endParaRPr lang="en-US" sz="1200" dirty="0"/>
          </a:p>
        </p:txBody>
      </p:sp>
      <p:sp>
        <p:nvSpPr>
          <p:cNvPr id="70" name="Text 68"/>
          <p:cNvSpPr/>
          <p:nvPr/>
        </p:nvSpPr>
        <p:spPr>
          <a:xfrm>
            <a:off x="5143500" y="7482855"/>
            <a:ext cx="199489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Lateral Movement in AD</a:t>
            </a:r>
            <a:endParaRPr lang="en-US" sz="1425" dirty="0"/>
          </a:p>
        </p:txBody>
      </p:sp>
      <p:sp>
        <p:nvSpPr>
          <p:cNvPr id="71" name="Shape 69"/>
          <p:cNvSpPr/>
          <p:nvPr/>
        </p:nvSpPr>
        <p:spPr>
          <a:xfrm>
            <a:off x="920115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2" name="Text 70"/>
          <p:cNvSpPr/>
          <p:nvPr/>
        </p:nvSpPr>
        <p:spPr>
          <a:xfrm>
            <a:off x="934402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23</a:t>
            </a:r>
            <a:endParaRPr lang="en-US" sz="1200" dirty="0"/>
          </a:p>
        </p:txBody>
      </p:sp>
      <p:sp>
        <p:nvSpPr>
          <p:cNvPr id="73" name="Text 71"/>
          <p:cNvSpPr/>
          <p:nvPr/>
        </p:nvSpPr>
        <p:spPr>
          <a:xfrm>
            <a:off x="9344025" y="7482855"/>
            <a:ext cx="1893763"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Assembling the Pieces</a:t>
            </a:r>
            <a:endParaRPr lang="en-US" sz="1425" dirty="0"/>
          </a:p>
        </p:txBody>
      </p:sp>
      <p:sp>
        <p:nvSpPr>
          <p:cNvPr id="74" name="Shape 72"/>
          <p:cNvSpPr/>
          <p:nvPr/>
        </p:nvSpPr>
        <p:spPr>
          <a:xfrm>
            <a:off x="1340167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5" name="Text 73"/>
          <p:cNvSpPr/>
          <p:nvPr/>
        </p:nvSpPr>
        <p:spPr>
          <a:xfrm>
            <a:off x="1354455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24</a:t>
            </a:r>
            <a:endParaRPr lang="en-US" sz="1200" dirty="0"/>
          </a:p>
        </p:txBody>
      </p:sp>
      <p:sp>
        <p:nvSpPr>
          <p:cNvPr id="76" name="Text 74"/>
          <p:cNvSpPr/>
          <p:nvPr/>
        </p:nvSpPr>
        <p:spPr>
          <a:xfrm>
            <a:off x="13544550" y="7482855"/>
            <a:ext cx="200858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Trying Harder: The Labs</a:t>
            </a:r>
            <a:endParaRPr lang="en-US" sz="1425" dirty="0"/>
          </a:p>
        </p:txBody>
      </p:sp>
      <p:sp>
        <p:nvSpPr>
          <p:cNvPr id="77" name="Text 75"/>
          <p:cNvSpPr/>
          <p:nvPr/>
        </p:nvSpPr>
        <p:spPr>
          <a:xfrm>
            <a:off x="800100" y="8075786"/>
            <a:ext cx="16344900"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Module weightings: information not defined in the official exam outline.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331369"/>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ORIENTATION</a:t>
            </a:r>
            <a:endParaRPr lang="en-US" sz="1650" dirty="0"/>
          </a:p>
        </p:txBody>
      </p:sp>
      <p:sp>
        <p:nvSpPr>
          <p:cNvPr id="4" name="Text 2"/>
          <p:cNvSpPr/>
          <p:nvPr/>
        </p:nvSpPr>
        <p:spPr>
          <a:xfrm>
            <a:off x="800100" y="382666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Why SQL injection reaches further than Modules 7 and 8</a:t>
            </a:r>
            <a:endParaRPr lang="en-US" sz="3000" dirty="0"/>
          </a:p>
        </p:txBody>
      </p:sp>
      <p:sp>
        <p:nvSpPr>
          <p:cNvPr id="5" name="Shape 3"/>
          <p:cNvSpPr/>
          <p:nvPr/>
        </p:nvSpPr>
        <p:spPr>
          <a:xfrm>
            <a:off x="800100" y="4493419"/>
            <a:ext cx="5435575" cy="2462213"/>
          </a:xfrm>
          <a:prstGeom prst="roundRect">
            <a:avLst>
              <a:gd name="adj" fmla="val 6190"/>
            </a:avLst>
          </a:prstGeom>
          <a:solidFill>
            <a:srgbClr val="FFFFFF">
              <a:alpha val="2000"/>
            </a:srgbClr>
          </a:solidFill>
          <a:ln w="9525">
            <a:solidFill>
              <a:srgbClr val="2A2F3A"/>
            </a:solidFill>
            <a:prstDash val="solid"/>
          </a:ln>
        </p:spPr>
      </p:sp>
      <p:sp>
        <p:nvSpPr>
          <p:cNvPr id="6" name="Text 4"/>
          <p:cNvSpPr/>
          <p:nvPr/>
        </p:nvSpPr>
        <p:spPr>
          <a:xfrm>
            <a:off x="1038225" y="4731544"/>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DIRECT DATA ACCESS</a:t>
            </a:r>
            <a:endParaRPr lang="en-US" sz="1500" dirty="0"/>
          </a:p>
        </p:txBody>
      </p:sp>
      <p:sp>
        <p:nvSpPr>
          <p:cNvPr id="7" name="Text 5"/>
          <p:cNvSpPr/>
          <p:nvPr/>
        </p:nvSpPr>
        <p:spPr>
          <a:xfrm>
            <a:off x="1038225" y="5050631"/>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Where XSS and upload attacks reach the application layer, SQL injection reaches the data store behind it directly — often the client's most sensitive asset.</a:t>
            </a:r>
            <a:endParaRPr lang="en-US" sz="1875" dirty="0"/>
          </a:p>
        </p:txBody>
      </p:sp>
      <p:sp>
        <p:nvSpPr>
          <p:cNvPr id="8" name="Shape 6"/>
          <p:cNvSpPr/>
          <p:nvPr/>
        </p:nvSpPr>
        <p:spPr>
          <a:xfrm>
            <a:off x="6426175" y="4493419"/>
            <a:ext cx="5435575" cy="2462213"/>
          </a:xfrm>
          <a:prstGeom prst="roundRect">
            <a:avLst>
              <a:gd name="adj" fmla="val 6190"/>
            </a:avLst>
          </a:prstGeom>
          <a:solidFill>
            <a:srgbClr val="FFFFFF">
              <a:alpha val="2000"/>
            </a:srgbClr>
          </a:solidFill>
          <a:ln w="9525">
            <a:solidFill>
              <a:srgbClr val="2A2F3A"/>
            </a:solidFill>
            <a:prstDash val="solid"/>
          </a:ln>
        </p:spPr>
      </p:sp>
      <p:sp>
        <p:nvSpPr>
          <p:cNvPr id="9" name="Text 7"/>
          <p:cNvSpPr/>
          <p:nvPr/>
        </p:nvSpPr>
        <p:spPr>
          <a:xfrm>
            <a:off x="6664300" y="4731544"/>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READ AND WRITE</a:t>
            </a:r>
            <a:endParaRPr lang="en-US" sz="1500" dirty="0"/>
          </a:p>
        </p:txBody>
      </p:sp>
      <p:sp>
        <p:nvSpPr>
          <p:cNvPr id="10" name="Text 8"/>
          <p:cNvSpPr/>
          <p:nvPr/>
        </p:nvSpPr>
        <p:spPr>
          <a:xfrm>
            <a:off x="6664300" y="5050631"/>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successful injection can both read data through UNION and error techniques, and write or execute through mechanisms like xp_cmdshell.</a:t>
            </a:r>
            <a:endParaRPr lang="en-US" sz="1875" dirty="0"/>
          </a:p>
        </p:txBody>
      </p:sp>
      <p:sp>
        <p:nvSpPr>
          <p:cNvPr id="11" name="Shape 9"/>
          <p:cNvSpPr/>
          <p:nvPr/>
        </p:nvSpPr>
        <p:spPr>
          <a:xfrm>
            <a:off x="12052250" y="4493419"/>
            <a:ext cx="5435650" cy="2462213"/>
          </a:xfrm>
          <a:prstGeom prst="roundRect">
            <a:avLst>
              <a:gd name="adj" fmla="val 6190"/>
            </a:avLst>
          </a:prstGeom>
          <a:solidFill>
            <a:srgbClr val="FFFFFF">
              <a:alpha val="2000"/>
            </a:srgbClr>
          </a:solidFill>
          <a:ln w="9525">
            <a:solidFill>
              <a:srgbClr val="2A2F3A"/>
            </a:solidFill>
            <a:prstDash val="solid"/>
          </a:ln>
        </p:spPr>
      </p:sp>
      <p:sp>
        <p:nvSpPr>
          <p:cNvPr id="12" name="Text 10"/>
          <p:cNvSpPr/>
          <p:nvPr/>
        </p:nvSpPr>
        <p:spPr>
          <a:xfrm>
            <a:off x="12290375" y="4731544"/>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MANUAL FIRST</a:t>
            </a:r>
            <a:endParaRPr lang="en-US" sz="1500" dirty="0"/>
          </a:p>
        </p:txBody>
      </p:sp>
      <p:sp>
        <p:nvSpPr>
          <p:cNvPr id="13" name="Text 11"/>
          <p:cNvSpPr/>
          <p:nvPr/>
        </p:nvSpPr>
        <p:spPr>
          <a:xfrm>
            <a:off x="12290375" y="5050631"/>
            <a:ext cx="5108182" cy="17049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module teaches manual identification and exploitation before SQLmap, for the same reason Module 3 favours understanding over procedure: automation without the underlying theory misses what a tool cannot see.</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19824" y="3870945"/>
            <a:ext cx="2048351"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9.1</a:t>
            </a:r>
            <a:endParaRPr lang="en-US" sz="1650" dirty="0"/>
          </a:p>
        </p:txBody>
      </p:sp>
      <p:sp>
        <p:nvSpPr>
          <p:cNvPr id="4" name="Text 2"/>
          <p:cNvSpPr/>
          <p:nvPr/>
        </p:nvSpPr>
        <p:spPr>
          <a:xfrm>
            <a:off x="2086016" y="4385295"/>
            <a:ext cx="14115894"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SQL Theory and Database Types</a:t>
            </a:r>
            <a:endParaRPr lang="en-US" sz="6600" dirty="0"/>
          </a:p>
        </p:txBody>
      </p:sp>
      <p:sp>
        <p:nvSpPr>
          <p:cNvPr id="5" name="Text 3"/>
          <p:cNvSpPr/>
          <p:nvPr/>
        </p:nvSpPr>
        <p:spPr>
          <a:xfrm>
            <a:off x="3012281" y="5532090"/>
            <a:ext cx="12263438"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Refresh SQL theory fundamentals, learn the different database types, and understand how SQL syntax differs between them.</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66355"/>
            <a:ext cx="289292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52080"/>
            <a:ext cx="261775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9.1 · Task 1 of 3</a:t>
            </a:r>
            <a:endParaRPr lang="en-US" sz="1500" dirty="0"/>
          </a:p>
        </p:txBody>
      </p:sp>
      <p:sp>
        <p:nvSpPr>
          <p:cNvPr id="5" name="Text 3"/>
          <p:cNvSpPr/>
          <p:nvPr/>
        </p:nvSpPr>
        <p:spPr>
          <a:xfrm>
            <a:off x="800100" y="350929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Refreshing SQL theory fundamentals</a:t>
            </a:r>
            <a:endParaRPr lang="en-US" sz="3000" dirty="0"/>
          </a:p>
        </p:txBody>
      </p:sp>
      <p:sp>
        <p:nvSpPr>
          <p:cNvPr id="6" name="Text 4"/>
          <p:cNvSpPr/>
          <p:nvPr/>
        </p:nvSpPr>
        <p:spPr>
          <a:xfrm>
            <a:off x="800100" y="4176043"/>
            <a:ext cx="15304770" cy="1239589"/>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SQL statements query and manipulate structured data through a small set of operations: SELECT to read, INSERT and UPDATE to write, and clauses like WHERE that filter which rows are affected. Injection abuses the fact that an application builds these statements from user input.</a:t>
            </a:r>
            <a:endParaRPr lang="en-US" sz="2175" dirty="0"/>
          </a:p>
        </p:txBody>
      </p:sp>
      <p:sp>
        <p:nvSpPr>
          <p:cNvPr id="7" name="Shape 5"/>
          <p:cNvSpPr/>
          <p:nvPr/>
        </p:nvSpPr>
        <p:spPr>
          <a:xfrm>
            <a:off x="800100" y="5625182"/>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863307"/>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82395"/>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Every injection technique in Objective 9.2 depends on understanding exactly where user input lands inside the statement the application constructs.</a:t>
            </a:r>
            <a:endParaRPr lang="en-US" sz="1875" dirty="0"/>
          </a:p>
        </p:txBody>
      </p:sp>
      <p:sp>
        <p:nvSpPr>
          <p:cNvPr id="10" name="Shape 8"/>
          <p:cNvSpPr/>
          <p:nvPr/>
        </p:nvSpPr>
        <p:spPr>
          <a:xfrm>
            <a:off x="9248775" y="5625182"/>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863307"/>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82395"/>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Assuming injection only concerns SELECT statements. Any clause built from user input — ORDER BY, WHERE, even table names in some designs — can be injectable.</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733229"/>
            <a:ext cx="2917180"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818954"/>
            <a:ext cx="264274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9.1 · Task 2 of 3</a:t>
            </a:r>
            <a:endParaRPr lang="en-US" sz="1500" dirty="0"/>
          </a:p>
        </p:txBody>
      </p:sp>
      <p:sp>
        <p:nvSpPr>
          <p:cNvPr id="5" name="Text 3"/>
          <p:cNvSpPr/>
          <p:nvPr/>
        </p:nvSpPr>
        <p:spPr>
          <a:xfrm>
            <a:off x="800100" y="3376166"/>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Learning the different database types</a:t>
            </a:r>
            <a:endParaRPr lang="en-US" sz="3000" dirty="0"/>
          </a:p>
        </p:txBody>
      </p:sp>
      <p:sp>
        <p:nvSpPr>
          <p:cNvPr id="6" name="Text 4"/>
          <p:cNvSpPr/>
          <p:nvPr/>
        </p:nvSpPr>
        <p:spPr>
          <a:xfrm>
            <a:off x="800100" y="4042916"/>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course engages with more than one database engine because real environments do. The underlying injection concept is identical; what changes is the syntax available once injection is confirmed.</a:t>
            </a:r>
            <a:endParaRPr lang="en-US" sz="2175" dirty="0"/>
          </a:p>
        </p:txBody>
      </p:sp>
      <p:sp>
        <p:nvSpPr>
          <p:cNvPr id="7" name="Shape 5"/>
          <p:cNvSpPr/>
          <p:nvPr/>
        </p:nvSpPr>
        <p:spPr>
          <a:xfrm>
            <a:off x="800100" y="5091559"/>
            <a:ext cx="5435575" cy="2462213"/>
          </a:xfrm>
          <a:prstGeom prst="roundRect">
            <a:avLst>
              <a:gd name="adj" fmla="val 6190"/>
            </a:avLst>
          </a:prstGeom>
          <a:solidFill>
            <a:srgbClr val="FFFFFF">
              <a:alpha val="2000"/>
            </a:srgbClr>
          </a:solidFill>
          <a:ln w="9525">
            <a:solidFill>
              <a:srgbClr val="2A2F3A"/>
            </a:solidFill>
            <a:prstDash val="solid"/>
          </a:ln>
        </p:spPr>
      </p:sp>
      <p:sp>
        <p:nvSpPr>
          <p:cNvPr id="8" name="Text 6"/>
          <p:cNvSpPr/>
          <p:nvPr/>
        </p:nvSpPr>
        <p:spPr>
          <a:xfrm>
            <a:off x="1038225" y="5329684"/>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MYSQL</a:t>
            </a:r>
            <a:endParaRPr lang="en-US" sz="1500" dirty="0"/>
          </a:p>
        </p:txBody>
      </p:sp>
      <p:sp>
        <p:nvSpPr>
          <p:cNvPr id="9" name="Text 7"/>
          <p:cNvSpPr/>
          <p:nvPr/>
        </p:nvSpPr>
        <p:spPr>
          <a:xfrm>
            <a:off x="1038225" y="5648771"/>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Common on Linux-hosted web applications. Comment syntax and function names differ from MSSQL, which matters once you are crafting payloads.</a:t>
            </a:r>
            <a:endParaRPr lang="en-US" sz="1875" dirty="0"/>
          </a:p>
        </p:txBody>
      </p:sp>
      <p:sp>
        <p:nvSpPr>
          <p:cNvPr id="10" name="Shape 8"/>
          <p:cNvSpPr/>
          <p:nvPr/>
        </p:nvSpPr>
        <p:spPr>
          <a:xfrm>
            <a:off x="6426175" y="5091559"/>
            <a:ext cx="5435575" cy="2462213"/>
          </a:xfrm>
          <a:prstGeom prst="roundRect">
            <a:avLst>
              <a:gd name="adj" fmla="val 6190"/>
            </a:avLst>
          </a:prstGeom>
          <a:solidFill>
            <a:srgbClr val="FFFFFF">
              <a:alpha val="2000"/>
            </a:srgbClr>
          </a:solidFill>
          <a:ln w="9525">
            <a:solidFill>
              <a:srgbClr val="2A2F3A"/>
            </a:solidFill>
            <a:prstDash val="solid"/>
          </a:ln>
        </p:spPr>
      </p:sp>
      <p:sp>
        <p:nvSpPr>
          <p:cNvPr id="11" name="Text 9"/>
          <p:cNvSpPr/>
          <p:nvPr/>
        </p:nvSpPr>
        <p:spPr>
          <a:xfrm>
            <a:off x="6664300" y="5329684"/>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MSSQL</a:t>
            </a:r>
            <a:endParaRPr lang="en-US" sz="1500" dirty="0"/>
          </a:p>
        </p:txBody>
      </p:sp>
      <p:sp>
        <p:nvSpPr>
          <p:cNvPr id="12" name="Text 10"/>
          <p:cNvSpPr/>
          <p:nvPr/>
        </p:nvSpPr>
        <p:spPr>
          <a:xfrm>
            <a:off x="6664300" y="5648771"/>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Common on Windows-hosted applications. Named explicitly in Objective 9.3 for xp_cmdshell — a capability with no direct MySQL equivalent.</a:t>
            </a:r>
            <a:endParaRPr lang="en-US" sz="1875" dirty="0"/>
          </a:p>
        </p:txBody>
      </p:sp>
      <p:sp>
        <p:nvSpPr>
          <p:cNvPr id="13" name="Shape 11"/>
          <p:cNvSpPr/>
          <p:nvPr/>
        </p:nvSpPr>
        <p:spPr>
          <a:xfrm>
            <a:off x="12052250" y="5091559"/>
            <a:ext cx="5435650" cy="2462213"/>
          </a:xfrm>
          <a:prstGeom prst="roundRect">
            <a:avLst>
              <a:gd name="adj" fmla="val 6190"/>
            </a:avLst>
          </a:prstGeom>
          <a:solidFill>
            <a:srgbClr val="FFFFFF">
              <a:alpha val="2000"/>
            </a:srgbClr>
          </a:solidFill>
          <a:ln w="9525">
            <a:solidFill>
              <a:srgbClr val="2A2F3A"/>
            </a:solidFill>
            <a:prstDash val="solid"/>
          </a:ln>
        </p:spPr>
      </p:sp>
      <p:sp>
        <p:nvSpPr>
          <p:cNvPr id="14" name="Text 12"/>
          <p:cNvSpPr/>
          <p:nvPr/>
        </p:nvSpPr>
        <p:spPr>
          <a:xfrm>
            <a:off x="12290375" y="5329684"/>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OTHERS</a:t>
            </a:r>
            <a:endParaRPr lang="en-US" sz="1500" dirty="0"/>
          </a:p>
        </p:txBody>
      </p:sp>
      <p:sp>
        <p:nvSpPr>
          <p:cNvPr id="15" name="Text 13"/>
          <p:cNvSpPr/>
          <p:nvPr/>
        </p:nvSpPr>
        <p:spPr>
          <a:xfrm>
            <a:off x="12290375" y="5648771"/>
            <a:ext cx="5108182" cy="17049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PostgreSQL and similar engines follow the same theory with their own syntax variations. The transferable skill is checking engine-specific behaviour before assuming a payload will work unmodified.</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740372"/>
            <a:ext cx="292231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826097"/>
            <a:ext cx="264803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9.1 · Task 3 of 3</a:t>
            </a:r>
            <a:endParaRPr lang="en-US" sz="1500" dirty="0"/>
          </a:p>
        </p:txBody>
      </p:sp>
      <p:sp>
        <p:nvSpPr>
          <p:cNvPr id="5" name="Text 3"/>
          <p:cNvSpPr/>
          <p:nvPr/>
        </p:nvSpPr>
        <p:spPr>
          <a:xfrm>
            <a:off x="800100" y="3383310"/>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Understanding different SQL syntax</a:t>
            </a:r>
            <a:endParaRPr lang="en-US" sz="3000" dirty="0"/>
          </a:p>
        </p:txBody>
      </p:sp>
      <p:sp>
        <p:nvSpPr>
          <p:cNvPr id="6" name="Text 4"/>
          <p:cNvSpPr/>
          <p:nvPr/>
        </p:nvSpPr>
        <p:spPr>
          <a:xfrm>
            <a:off x="800100" y="4050060"/>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same logical operation is often written differently across engines. Confirming the engine early prevents wasted attempts with syntax that was never going to work.</a:t>
            </a:r>
            <a:endParaRPr lang="en-US" sz="2175" dirty="0"/>
          </a:p>
        </p:txBody>
      </p:sp>
      <p:sp>
        <p:nvSpPr>
          <p:cNvPr id="7" name="Shape 5"/>
          <p:cNvSpPr/>
          <p:nvPr/>
        </p:nvSpPr>
        <p:spPr>
          <a:xfrm>
            <a:off x="800100" y="5098703"/>
            <a:ext cx="2971800" cy="500063"/>
          </a:xfrm>
          <a:prstGeom prst="rect">
            <a:avLst/>
          </a:prstGeom>
          <a:solidFill>
            <a:srgbClr val="FF6A00">
              <a:alpha val="18000"/>
            </a:srgbClr>
          </a:solidFill>
          <a:ln/>
        </p:spPr>
      </p:sp>
      <p:sp>
        <p:nvSpPr>
          <p:cNvPr id="8" name="Shape 6"/>
          <p:cNvSpPr/>
          <p:nvPr/>
        </p:nvSpPr>
        <p:spPr>
          <a:xfrm>
            <a:off x="800100" y="5589240"/>
            <a:ext cx="2971800" cy="9525"/>
          </a:xfrm>
          <a:prstGeom prst="rect">
            <a:avLst/>
          </a:prstGeom>
          <a:solidFill>
            <a:srgbClr val="B85100"/>
          </a:solidFill>
          <a:ln/>
        </p:spPr>
      </p:sp>
      <p:sp>
        <p:nvSpPr>
          <p:cNvPr id="9" name="Text 7"/>
          <p:cNvSpPr/>
          <p:nvPr/>
        </p:nvSpPr>
        <p:spPr>
          <a:xfrm>
            <a:off x="952500" y="5213003"/>
            <a:ext cx="275615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Operation</a:t>
            </a:r>
            <a:endParaRPr lang="en-US" sz="1800" dirty="0"/>
          </a:p>
        </p:txBody>
      </p:sp>
      <p:sp>
        <p:nvSpPr>
          <p:cNvPr id="10" name="Shape 8"/>
          <p:cNvSpPr/>
          <p:nvPr/>
        </p:nvSpPr>
        <p:spPr>
          <a:xfrm>
            <a:off x="3771900" y="5098703"/>
            <a:ext cx="4305300" cy="500063"/>
          </a:xfrm>
          <a:prstGeom prst="rect">
            <a:avLst/>
          </a:prstGeom>
          <a:solidFill>
            <a:srgbClr val="FF6A00">
              <a:alpha val="18000"/>
            </a:srgbClr>
          </a:solidFill>
          <a:ln/>
        </p:spPr>
      </p:sp>
      <p:sp>
        <p:nvSpPr>
          <p:cNvPr id="11" name="Shape 9"/>
          <p:cNvSpPr/>
          <p:nvPr/>
        </p:nvSpPr>
        <p:spPr>
          <a:xfrm>
            <a:off x="3771900" y="5589240"/>
            <a:ext cx="4305300" cy="9525"/>
          </a:xfrm>
          <a:prstGeom prst="rect">
            <a:avLst/>
          </a:prstGeom>
          <a:solidFill>
            <a:srgbClr val="B85100"/>
          </a:solidFill>
          <a:ln/>
        </p:spPr>
      </p:sp>
      <p:sp>
        <p:nvSpPr>
          <p:cNvPr id="12" name="Text 10"/>
          <p:cNvSpPr/>
          <p:nvPr/>
        </p:nvSpPr>
        <p:spPr>
          <a:xfrm>
            <a:off x="3924300" y="5213003"/>
            <a:ext cx="412965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MySQL</a:t>
            </a:r>
            <a:endParaRPr lang="en-US" sz="1800" dirty="0"/>
          </a:p>
        </p:txBody>
      </p:sp>
      <p:sp>
        <p:nvSpPr>
          <p:cNvPr id="13" name="Shape 11"/>
          <p:cNvSpPr/>
          <p:nvPr/>
        </p:nvSpPr>
        <p:spPr>
          <a:xfrm>
            <a:off x="8077200" y="5098703"/>
            <a:ext cx="9410700" cy="500063"/>
          </a:xfrm>
          <a:prstGeom prst="rect">
            <a:avLst/>
          </a:prstGeom>
          <a:solidFill>
            <a:srgbClr val="FF6A00">
              <a:alpha val="18000"/>
            </a:srgbClr>
          </a:solidFill>
          <a:ln/>
        </p:spPr>
      </p:sp>
      <p:sp>
        <p:nvSpPr>
          <p:cNvPr id="14" name="Shape 12"/>
          <p:cNvSpPr/>
          <p:nvPr/>
        </p:nvSpPr>
        <p:spPr>
          <a:xfrm>
            <a:off x="8077200" y="5589240"/>
            <a:ext cx="9410700" cy="9525"/>
          </a:xfrm>
          <a:prstGeom prst="rect">
            <a:avLst/>
          </a:prstGeom>
          <a:solidFill>
            <a:srgbClr val="B85100"/>
          </a:solidFill>
          <a:ln/>
        </p:spPr>
      </p:sp>
      <p:sp>
        <p:nvSpPr>
          <p:cNvPr id="15" name="Text 13"/>
          <p:cNvSpPr/>
          <p:nvPr/>
        </p:nvSpPr>
        <p:spPr>
          <a:xfrm>
            <a:off x="8229600" y="5213003"/>
            <a:ext cx="9388221"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MSSQL</a:t>
            </a:r>
            <a:endParaRPr lang="en-US" sz="1800" dirty="0"/>
          </a:p>
        </p:txBody>
      </p:sp>
      <p:sp>
        <p:nvSpPr>
          <p:cNvPr id="16" name="Shape 14"/>
          <p:cNvSpPr/>
          <p:nvPr/>
        </p:nvSpPr>
        <p:spPr>
          <a:xfrm>
            <a:off x="800100" y="5598765"/>
            <a:ext cx="2971800" cy="485775"/>
          </a:xfrm>
          <a:prstGeom prst="rect">
            <a:avLst/>
          </a:prstGeom>
          <a:solidFill>
            <a:srgbClr val="FFFFFF">
              <a:alpha val="2000"/>
            </a:srgbClr>
          </a:solidFill>
          <a:ln/>
        </p:spPr>
      </p:sp>
      <p:sp>
        <p:nvSpPr>
          <p:cNvPr id="17" name="Shape 15"/>
          <p:cNvSpPr/>
          <p:nvPr/>
        </p:nvSpPr>
        <p:spPr>
          <a:xfrm>
            <a:off x="800100" y="6075015"/>
            <a:ext cx="2971800" cy="9525"/>
          </a:xfrm>
          <a:prstGeom prst="rect">
            <a:avLst/>
          </a:prstGeom>
          <a:solidFill>
            <a:srgbClr val="2A2F3A"/>
          </a:solidFill>
          <a:ln/>
        </p:spPr>
      </p:sp>
      <p:sp>
        <p:nvSpPr>
          <p:cNvPr id="18" name="Text 16"/>
          <p:cNvSpPr/>
          <p:nvPr/>
        </p:nvSpPr>
        <p:spPr>
          <a:xfrm>
            <a:off x="952500" y="5703540"/>
            <a:ext cx="275615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Comment</a:t>
            </a:r>
            <a:endParaRPr lang="en-US" sz="1800" dirty="0"/>
          </a:p>
        </p:txBody>
      </p:sp>
      <p:sp>
        <p:nvSpPr>
          <p:cNvPr id="19" name="Shape 17"/>
          <p:cNvSpPr/>
          <p:nvPr/>
        </p:nvSpPr>
        <p:spPr>
          <a:xfrm>
            <a:off x="3771900" y="5598765"/>
            <a:ext cx="4305300" cy="485775"/>
          </a:xfrm>
          <a:prstGeom prst="rect">
            <a:avLst/>
          </a:prstGeom>
          <a:solidFill>
            <a:srgbClr val="FFFFFF">
              <a:alpha val="2000"/>
            </a:srgbClr>
          </a:solidFill>
          <a:ln/>
        </p:spPr>
      </p:sp>
      <p:sp>
        <p:nvSpPr>
          <p:cNvPr id="20" name="Shape 18"/>
          <p:cNvSpPr/>
          <p:nvPr/>
        </p:nvSpPr>
        <p:spPr>
          <a:xfrm>
            <a:off x="3771900" y="6075015"/>
            <a:ext cx="4305300" cy="9525"/>
          </a:xfrm>
          <a:prstGeom prst="rect">
            <a:avLst/>
          </a:prstGeom>
          <a:solidFill>
            <a:srgbClr val="2A2F3A"/>
          </a:solidFill>
          <a:ln/>
        </p:spPr>
      </p:sp>
      <p:sp>
        <p:nvSpPr>
          <p:cNvPr id="21" name="Text 19"/>
          <p:cNvSpPr/>
          <p:nvPr/>
        </p:nvSpPr>
        <p:spPr>
          <a:xfrm>
            <a:off x="3924300" y="5703540"/>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 (with trailing space) or #</a:t>
            </a:r>
            <a:endParaRPr lang="en-US" sz="1800" dirty="0"/>
          </a:p>
        </p:txBody>
      </p:sp>
      <p:sp>
        <p:nvSpPr>
          <p:cNvPr id="22" name="Shape 20"/>
          <p:cNvSpPr/>
          <p:nvPr/>
        </p:nvSpPr>
        <p:spPr>
          <a:xfrm>
            <a:off x="8077200" y="5598765"/>
            <a:ext cx="9410700" cy="485775"/>
          </a:xfrm>
          <a:prstGeom prst="rect">
            <a:avLst/>
          </a:prstGeom>
          <a:solidFill>
            <a:srgbClr val="FFFFFF">
              <a:alpha val="2000"/>
            </a:srgbClr>
          </a:solidFill>
          <a:ln/>
        </p:spPr>
      </p:sp>
      <p:sp>
        <p:nvSpPr>
          <p:cNvPr id="23" name="Shape 21"/>
          <p:cNvSpPr/>
          <p:nvPr/>
        </p:nvSpPr>
        <p:spPr>
          <a:xfrm>
            <a:off x="8077200" y="6075015"/>
            <a:ext cx="9410700" cy="9525"/>
          </a:xfrm>
          <a:prstGeom prst="rect">
            <a:avLst/>
          </a:prstGeom>
          <a:solidFill>
            <a:srgbClr val="2A2F3A"/>
          </a:solidFill>
          <a:ln/>
        </p:spPr>
      </p:sp>
      <p:sp>
        <p:nvSpPr>
          <p:cNvPr id="24" name="Text 22"/>
          <p:cNvSpPr/>
          <p:nvPr/>
        </p:nvSpPr>
        <p:spPr>
          <a:xfrm>
            <a:off x="8229600" y="5703540"/>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25" name="Shape 23"/>
          <p:cNvSpPr/>
          <p:nvPr/>
        </p:nvSpPr>
        <p:spPr>
          <a:xfrm>
            <a:off x="800100" y="6560790"/>
            <a:ext cx="2971800" cy="9525"/>
          </a:xfrm>
          <a:prstGeom prst="rect">
            <a:avLst/>
          </a:prstGeom>
          <a:solidFill>
            <a:srgbClr val="2A2F3A"/>
          </a:solidFill>
          <a:ln/>
        </p:spPr>
      </p:sp>
      <p:sp>
        <p:nvSpPr>
          <p:cNvPr id="26" name="Text 24"/>
          <p:cNvSpPr/>
          <p:nvPr/>
        </p:nvSpPr>
        <p:spPr>
          <a:xfrm>
            <a:off x="952500" y="6189315"/>
            <a:ext cx="275615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String concatenation</a:t>
            </a:r>
            <a:endParaRPr lang="en-US" sz="1800" dirty="0"/>
          </a:p>
        </p:txBody>
      </p:sp>
      <p:sp>
        <p:nvSpPr>
          <p:cNvPr id="27" name="Shape 25"/>
          <p:cNvSpPr/>
          <p:nvPr/>
        </p:nvSpPr>
        <p:spPr>
          <a:xfrm>
            <a:off x="3771900" y="6560790"/>
            <a:ext cx="4305300" cy="9525"/>
          </a:xfrm>
          <a:prstGeom prst="rect">
            <a:avLst/>
          </a:prstGeom>
          <a:solidFill>
            <a:srgbClr val="2A2F3A"/>
          </a:solidFill>
          <a:ln/>
        </p:spPr>
      </p:sp>
      <p:sp>
        <p:nvSpPr>
          <p:cNvPr id="28" name="Text 26"/>
          <p:cNvSpPr/>
          <p:nvPr/>
        </p:nvSpPr>
        <p:spPr>
          <a:xfrm>
            <a:off x="3924300" y="6189315"/>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CONCAT()</a:t>
            </a:r>
            <a:endParaRPr lang="en-US" sz="1800" dirty="0"/>
          </a:p>
        </p:txBody>
      </p:sp>
      <p:sp>
        <p:nvSpPr>
          <p:cNvPr id="29" name="Shape 27"/>
          <p:cNvSpPr/>
          <p:nvPr/>
        </p:nvSpPr>
        <p:spPr>
          <a:xfrm>
            <a:off x="8077200" y="6560790"/>
            <a:ext cx="9410700" cy="9525"/>
          </a:xfrm>
          <a:prstGeom prst="rect">
            <a:avLst/>
          </a:prstGeom>
          <a:solidFill>
            <a:srgbClr val="2A2F3A"/>
          </a:solidFill>
          <a:ln/>
        </p:spPr>
      </p:sp>
      <p:sp>
        <p:nvSpPr>
          <p:cNvPr id="30" name="Text 28"/>
          <p:cNvSpPr/>
          <p:nvPr/>
        </p:nvSpPr>
        <p:spPr>
          <a:xfrm>
            <a:off x="8229600" y="6189315"/>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31" name="Shape 29"/>
          <p:cNvSpPr/>
          <p:nvPr/>
        </p:nvSpPr>
        <p:spPr>
          <a:xfrm>
            <a:off x="800100" y="6570315"/>
            <a:ext cx="2971800" cy="485775"/>
          </a:xfrm>
          <a:prstGeom prst="rect">
            <a:avLst/>
          </a:prstGeom>
          <a:solidFill>
            <a:srgbClr val="FFFFFF">
              <a:alpha val="2000"/>
            </a:srgbClr>
          </a:solidFill>
          <a:ln/>
        </p:spPr>
      </p:sp>
      <p:sp>
        <p:nvSpPr>
          <p:cNvPr id="32" name="Shape 30"/>
          <p:cNvSpPr/>
          <p:nvPr/>
        </p:nvSpPr>
        <p:spPr>
          <a:xfrm>
            <a:off x="800100" y="7046565"/>
            <a:ext cx="2971800" cy="9525"/>
          </a:xfrm>
          <a:prstGeom prst="rect">
            <a:avLst/>
          </a:prstGeom>
          <a:solidFill>
            <a:srgbClr val="2A2F3A"/>
          </a:solidFill>
          <a:ln/>
        </p:spPr>
      </p:sp>
      <p:sp>
        <p:nvSpPr>
          <p:cNvPr id="33" name="Text 31"/>
          <p:cNvSpPr/>
          <p:nvPr/>
        </p:nvSpPr>
        <p:spPr>
          <a:xfrm>
            <a:off x="952500" y="6675090"/>
            <a:ext cx="275615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Version fingerprint</a:t>
            </a:r>
            <a:endParaRPr lang="en-US" sz="1800" dirty="0"/>
          </a:p>
        </p:txBody>
      </p:sp>
      <p:sp>
        <p:nvSpPr>
          <p:cNvPr id="34" name="Shape 32"/>
          <p:cNvSpPr/>
          <p:nvPr/>
        </p:nvSpPr>
        <p:spPr>
          <a:xfrm>
            <a:off x="3771900" y="6570315"/>
            <a:ext cx="4305300" cy="485775"/>
          </a:xfrm>
          <a:prstGeom prst="rect">
            <a:avLst/>
          </a:prstGeom>
          <a:solidFill>
            <a:srgbClr val="FFFFFF">
              <a:alpha val="2000"/>
            </a:srgbClr>
          </a:solidFill>
          <a:ln/>
        </p:spPr>
      </p:sp>
      <p:sp>
        <p:nvSpPr>
          <p:cNvPr id="35" name="Shape 33"/>
          <p:cNvSpPr/>
          <p:nvPr/>
        </p:nvSpPr>
        <p:spPr>
          <a:xfrm>
            <a:off x="3771900" y="7046565"/>
            <a:ext cx="4305300" cy="9525"/>
          </a:xfrm>
          <a:prstGeom prst="rect">
            <a:avLst/>
          </a:prstGeom>
          <a:solidFill>
            <a:srgbClr val="2A2F3A"/>
          </a:solidFill>
          <a:ln/>
        </p:spPr>
      </p:sp>
      <p:sp>
        <p:nvSpPr>
          <p:cNvPr id="36" name="Text 34"/>
          <p:cNvSpPr/>
          <p:nvPr/>
        </p:nvSpPr>
        <p:spPr>
          <a:xfrm>
            <a:off x="3924300" y="6675090"/>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@@version</a:t>
            </a:r>
            <a:endParaRPr lang="en-US" sz="1800" dirty="0"/>
          </a:p>
        </p:txBody>
      </p:sp>
      <p:sp>
        <p:nvSpPr>
          <p:cNvPr id="37" name="Shape 35"/>
          <p:cNvSpPr/>
          <p:nvPr/>
        </p:nvSpPr>
        <p:spPr>
          <a:xfrm>
            <a:off x="8077200" y="6570315"/>
            <a:ext cx="9410700" cy="485775"/>
          </a:xfrm>
          <a:prstGeom prst="rect">
            <a:avLst/>
          </a:prstGeom>
          <a:solidFill>
            <a:srgbClr val="FFFFFF">
              <a:alpha val="2000"/>
            </a:srgbClr>
          </a:solidFill>
          <a:ln/>
        </p:spPr>
      </p:sp>
      <p:sp>
        <p:nvSpPr>
          <p:cNvPr id="38" name="Shape 36"/>
          <p:cNvSpPr/>
          <p:nvPr/>
        </p:nvSpPr>
        <p:spPr>
          <a:xfrm>
            <a:off x="8077200" y="7046565"/>
            <a:ext cx="9410700" cy="9525"/>
          </a:xfrm>
          <a:prstGeom prst="rect">
            <a:avLst/>
          </a:prstGeom>
          <a:solidFill>
            <a:srgbClr val="2A2F3A"/>
          </a:solidFill>
          <a:ln/>
        </p:spPr>
      </p:sp>
      <p:sp>
        <p:nvSpPr>
          <p:cNvPr id="39" name="Text 37"/>
          <p:cNvSpPr/>
          <p:nvPr/>
        </p:nvSpPr>
        <p:spPr>
          <a:xfrm>
            <a:off x="8229600" y="6675090"/>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@@version</a:t>
            </a:r>
            <a:endParaRPr lang="en-US" sz="1800" dirty="0"/>
          </a:p>
        </p:txBody>
      </p:sp>
      <p:sp>
        <p:nvSpPr>
          <p:cNvPr id="40" name="Shape 38"/>
          <p:cNvSpPr/>
          <p:nvPr/>
        </p:nvSpPr>
        <p:spPr>
          <a:xfrm>
            <a:off x="800100" y="7532340"/>
            <a:ext cx="2971800" cy="9525"/>
          </a:xfrm>
          <a:prstGeom prst="rect">
            <a:avLst/>
          </a:prstGeom>
          <a:solidFill>
            <a:srgbClr val="2A2F3A"/>
          </a:solidFill>
          <a:ln/>
        </p:spPr>
      </p:sp>
      <p:sp>
        <p:nvSpPr>
          <p:cNvPr id="41" name="Text 39"/>
          <p:cNvSpPr/>
          <p:nvPr/>
        </p:nvSpPr>
        <p:spPr>
          <a:xfrm>
            <a:off x="952500" y="7160865"/>
            <a:ext cx="275615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Command execution</a:t>
            </a:r>
            <a:endParaRPr lang="en-US" sz="1800" dirty="0"/>
          </a:p>
        </p:txBody>
      </p:sp>
      <p:sp>
        <p:nvSpPr>
          <p:cNvPr id="42" name="Shape 40"/>
          <p:cNvSpPr/>
          <p:nvPr/>
        </p:nvSpPr>
        <p:spPr>
          <a:xfrm>
            <a:off x="3771900" y="7532340"/>
            <a:ext cx="4305300" cy="9525"/>
          </a:xfrm>
          <a:prstGeom prst="rect">
            <a:avLst/>
          </a:prstGeom>
          <a:solidFill>
            <a:srgbClr val="2A2F3A"/>
          </a:solidFill>
          <a:ln/>
        </p:spPr>
      </p:sp>
      <p:sp>
        <p:nvSpPr>
          <p:cNvPr id="43" name="Text 41"/>
          <p:cNvSpPr/>
          <p:nvPr/>
        </p:nvSpPr>
        <p:spPr>
          <a:xfrm>
            <a:off x="3924300" y="7160865"/>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No direct equivalent</a:t>
            </a:r>
            <a:endParaRPr lang="en-US" sz="1800" dirty="0"/>
          </a:p>
        </p:txBody>
      </p:sp>
      <p:sp>
        <p:nvSpPr>
          <p:cNvPr id="44" name="Shape 42"/>
          <p:cNvSpPr/>
          <p:nvPr/>
        </p:nvSpPr>
        <p:spPr>
          <a:xfrm>
            <a:off x="8077200" y="7532340"/>
            <a:ext cx="9410700" cy="9525"/>
          </a:xfrm>
          <a:prstGeom prst="rect">
            <a:avLst/>
          </a:prstGeom>
          <a:solidFill>
            <a:srgbClr val="2A2F3A"/>
          </a:solidFill>
          <a:ln/>
        </p:spPr>
      </p:sp>
      <p:sp>
        <p:nvSpPr>
          <p:cNvPr id="45" name="Text 43"/>
          <p:cNvSpPr/>
          <p:nvPr/>
        </p:nvSpPr>
        <p:spPr>
          <a:xfrm>
            <a:off x="8229600" y="7160865"/>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xp_cmdshell (if enabled)</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9.1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SQL Theory and Database Types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FUNDAMENTALS</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Injection abuses how user input is assembled into a SQL statement, in any clause the application builds dynamically.</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ENGINES</a:t>
            </a:r>
            <a:endParaRPr lang="en-US" sz="1500" dirty="0"/>
          </a:p>
        </p:txBody>
      </p:sp>
      <p:sp>
        <p:nvSpPr>
          <p:cNvPr id="10" name="Text 8"/>
          <p:cNvSpPr/>
          <p:nvPr/>
        </p:nvSpPr>
        <p:spPr>
          <a:xfrm>
            <a:off x="6664300"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MySQL and MSSQL are both engaged with; the injection concept is shared, the syntax and capabilities are not.</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DISCIPLINE</a:t>
            </a:r>
            <a:endParaRPr lang="en-US" sz="1500" dirty="0"/>
          </a:p>
        </p:txBody>
      </p:sp>
      <p:sp>
        <p:nvSpPr>
          <p:cNvPr id="13" name="Text 11"/>
          <p:cNvSpPr/>
          <p:nvPr/>
        </p:nvSpPr>
        <p:spPr>
          <a:xfrm>
            <a:off x="12290375" y="5384006"/>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Confirm the engine before committing to payload syntax written for a different one.</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00261" y="3870945"/>
            <a:ext cx="2087478"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9.2</a:t>
            </a:r>
            <a:endParaRPr lang="en-US" sz="1650" dirty="0"/>
          </a:p>
        </p:txBody>
      </p:sp>
      <p:sp>
        <p:nvSpPr>
          <p:cNvPr id="4" name="Text 2"/>
          <p:cNvSpPr/>
          <p:nvPr/>
        </p:nvSpPr>
        <p:spPr>
          <a:xfrm>
            <a:off x="3850571" y="4385295"/>
            <a:ext cx="10586859"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Manual SQL Exploitation</a:t>
            </a:r>
            <a:endParaRPr lang="en-US" sz="6600" dirty="0"/>
          </a:p>
        </p:txBody>
      </p:sp>
      <p:sp>
        <p:nvSpPr>
          <p:cNvPr id="5" name="Text 3"/>
          <p:cNvSpPr/>
          <p:nvPr/>
        </p:nvSpPr>
        <p:spPr>
          <a:xfrm>
            <a:off x="2767013" y="5532090"/>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Manually identify SQL injection vulnerabilities, then understand UNION, Error, and Blind SQLi payloads.</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2960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5554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9.2 · Task 1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Manually identifying SQL injection vulnerabilities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Before any named technique is applied, the vulnerability must be found. A single unexpected character sent into a parameter, followed by careful observation of the application's response, is the classic first probe.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Send a lone single quote into every parameter that reaches a query. An error, a blank page, or a changed response where none was expected are all signals worth pursuing.</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Applications that suppress errors. Absence of a visible error does not mean absence of injection — it means Blind techniques may be required instead.</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795141"/>
            <a:ext cx="2953866"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880866"/>
            <a:ext cx="268053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9.2 · Task 2 of 4</a:t>
            </a:r>
            <a:endParaRPr lang="en-US" sz="1500" dirty="0"/>
          </a:p>
        </p:txBody>
      </p:sp>
      <p:sp>
        <p:nvSpPr>
          <p:cNvPr id="5" name="Text 3"/>
          <p:cNvSpPr/>
          <p:nvPr/>
        </p:nvSpPr>
        <p:spPr>
          <a:xfrm>
            <a:off x="800100" y="343807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Understanding UNION SQLi payloads</a:t>
            </a:r>
            <a:endParaRPr lang="en-US" sz="3000" dirty="0"/>
          </a:p>
        </p:txBody>
      </p:sp>
      <p:sp>
        <p:nvSpPr>
          <p:cNvPr id="6" name="Text 4"/>
          <p:cNvSpPr/>
          <p:nvPr/>
        </p:nvSpPr>
        <p:spPr>
          <a:xfrm>
            <a:off x="800100" y="410482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UNION combines the results of two SELECT statements. Injecting a UNION SELECT appends attacker-chosen data onto the application's own query results, printing it directly into the response.</a:t>
            </a:r>
            <a:endParaRPr lang="en-US" sz="2175" dirty="0"/>
          </a:p>
        </p:txBody>
      </p:sp>
      <p:sp>
        <p:nvSpPr>
          <p:cNvPr id="7" name="Shape 5"/>
          <p:cNvSpPr/>
          <p:nvPr/>
        </p:nvSpPr>
        <p:spPr>
          <a:xfrm>
            <a:off x="800100" y="5153471"/>
            <a:ext cx="16687800" cy="628650"/>
          </a:xfrm>
          <a:prstGeom prst="roundRect">
            <a:avLst>
              <a:gd name="adj" fmla="val 18182"/>
            </a:avLst>
          </a:prstGeom>
          <a:solidFill>
            <a:srgbClr val="000000">
              <a:alpha val="35000"/>
            </a:srgbClr>
          </a:solidFill>
          <a:ln w="9525">
            <a:solidFill>
              <a:srgbClr val="2A2F3A"/>
            </a:solidFill>
            <a:prstDash val="solid"/>
          </a:ln>
        </p:spPr>
      </p:sp>
      <p:sp>
        <p:nvSpPr>
          <p:cNvPr id="8" name="Text 6"/>
          <p:cNvSpPr/>
          <p:nvPr/>
        </p:nvSpPr>
        <p:spPr>
          <a:xfrm>
            <a:off x="1019175" y="5334446"/>
            <a:ext cx="167502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D9BF"/>
                </a:solidFill>
                <a:latin typeface="Courier New" pitchFamily="34" charset="0"/>
                <a:ea typeface="Courier New" pitchFamily="34" charset="-122"/>
                <a:cs typeface="Courier New" pitchFamily="34" charset="-120"/>
              </a:rPr>
              <a:t>' UNION SELECT username, password FROM users--</a:t>
            </a:r>
            <a:endParaRPr lang="en-US" sz="1800" dirty="0"/>
          </a:p>
        </p:txBody>
      </p:sp>
      <p:sp>
        <p:nvSpPr>
          <p:cNvPr id="9" name="Shape 7"/>
          <p:cNvSpPr/>
          <p:nvPr/>
        </p:nvSpPr>
        <p:spPr>
          <a:xfrm>
            <a:off x="800100" y="6029771"/>
            <a:ext cx="8239125" cy="1462088"/>
          </a:xfrm>
          <a:prstGeom prst="roundRect">
            <a:avLst>
              <a:gd name="adj" fmla="val 10423"/>
            </a:avLst>
          </a:prstGeom>
          <a:solidFill>
            <a:srgbClr val="FFFFFF">
              <a:alpha val="2000"/>
            </a:srgbClr>
          </a:solidFill>
          <a:ln w="9525">
            <a:solidFill>
              <a:srgbClr val="2A2F3A"/>
            </a:solidFill>
            <a:prstDash val="solid"/>
          </a:ln>
        </p:spPr>
      </p:sp>
      <p:sp>
        <p:nvSpPr>
          <p:cNvPr id="10" name="Text 8"/>
          <p:cNvSpPr/>
          <p:nvPr/>
        </p:nvSpPr>
        <p:spPr>
          <a:xfrm>
            <a:off x="1038225" y="626789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REQUIREMENT</a:t>
            </a:r>
            <a:endParaRPr lang="en-US" sz="1500" dirty="0"/>
          </a:p>
        </p:txBody>
      </p:sp>
      <p:sp>
        <p:nvSpPr>
          <p:cNvPr id="11" name="Text 9"/>
          <p:cNvSpPr/>
          <p:nvPr/>
        </p:nvSpPr>
        <p:spPr>
          <a:xfrm>
            <a:off x="1038225" y="658698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injected SELECT must return the same number of columns as the original query, and compatible data types in each position.</a:t>
            </a:r>
            <a:endParaRPr lang="en-US" sz="1875" dirty="0"/>
          </a:p>
        </p:txBody>
      </p:sp>
      <p:sp>
        <p:nvSpPr>
          <p:cNvPr id="12" name="Shape 10"/>
          <p:cNvSpPr/>
          <p:nvPr/>
        </p:nvSpPr>
        <p:spPr>
          <a:xfrm>
            <a:off x="9248775" y="6029771"/>
            <a:ext cx="8239125" cy="1462088"/>
          </a:xfrm>
          <a:prstGeom prst="roundRect">
            <a:avLst>
              <a:gd name="adj" fmla="val 10423"/>
            </a:avLst>
          </a:prstGeom>
          <a:solidFill>
            <a:srgbClr val="FFFFFF">
              <a:alpha val="2000"/>
            </a:srgbClr>
          </a:solidFill>
          <a:ln w="9525">
            <a:solidFill>
              <a:srgbClr val="2A2F3A"/>
            </a:solidFill>
            <a:prstDash val="solid"/>
          </a:ln>
        </p:spPr>
      </p:sp>
      <p:sp>
        <p:nvSpPr>
          <p:cNvPr id="13" name="Text 11"/>
          <p:cNvSpPr/>
          <p:nvPr/>
        </p:nvSpPr>
        <p:spPr>
          <a:xfrm>
            <a:off x="9486900" y="626789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4" name="Text 12"/>
          <p:cNvSpPr/>
          <p:nvPr/>
        </p:nvSpPr>
        <p:spPr>
          <a:xfrm>
            <a:off x="9486900" y="658698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When it works, UNION is the most direct technique available — the database's answer appears in the page itself, with no inference required.</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5900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85821"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9.2 · Task 3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Learning about Error SQLi payloads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Error-based injection deliberately provokes the database into embedding query results inside its own error message. The error channel becomes an unintended data-disclosure path.</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WORKS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Some functions throw an error that includes part of their own argument. Forcing that argument to contain a subquery leaks the subquery's result inside the error text.</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Applications that display generic error pages. If the underlying database error is not surfaced anywhere in the response, this channel is closed and Blind techniques are needed.</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6249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8942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9.2 · Task 4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Understanding Blind SQLi payloads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When neither the page content nor an error message reveals anything, injection can still be confirmed and exploited by asking the database true/false questions and observing an indirect signal.</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BOOLEAN-BASED</a:t>
            </a:r>
            <a:endParaRPr lang="en-US" sz="1500" dirty="0"/>
          </a:p>
        </p:txBody>
      </p:sp>
      <p:sp>
        <p:nvSpPr>
          <p:cNvPr id="9" name="Text 7"/>
          <p:cNvSpPr/>
          <p:nvPr/>
        </p:nvSpPr>
        <p:spPr>
          <a:xfrm>
            <a:off x="1038225"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true condition produces a subtly different response than a false one — different length, different wording, or a missing element.</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TIME-BASED</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conditional delay function only fires when the injected condition is true, so response time itself becomes the signal — slower to extract, but works when the response is otherwise identical.</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805113"/>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DECISION AID</a:t>
            </a:r>
            <a:endParaRPr lang="en-US" sz="1650" dirty="0"/>
          </a:p>
        </p:txBody>
      </p:sp>
      <p:sp>
        <p:nvSpPr>
          <p:cNvPr id="4" name="Text 2"/>
          <p:cNvSpPr/>
          <p:nvPr/>
        </p:nvSpPr>
        <p:spPr>
          <a:xfrm>
            <a:off x="800100" y="330041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Choosing a technique from the symptom</a:t>
            </a:r>
            <a:endParaRPr lang="en-US" sz="3000" dirty="0"/>
          </a:p>
        </p:txBody>
      </p:sp>
      <p:sp>
        <p:nvSpPr>
          <p:cNvPr id="5" name="Shape 3"/>
          <p:cNvSpPr/>
          <p:nvPr/>
        </p:nvSpPr>
        <p:spPr>
          <a:xfrm>
            <a:off x="800100" y="3967163"/>
            <a:ext cx="2400300" cy="500063"/>
          </a:xfrm>
          <a:prstGeom prst="rect">
            <a:avLst/>
          </a:prstGeom>
          <a:solidFill>
            <a:srgbClr val="FF6A00">
              <a:alpha val="18000"/>
            </a:srgbClr>
          </a:solidFill>
          <a:ln/>
        </p:spPr>
      </p:sp>
      <p:sp>
        <p:nvSpPr>
          <p:cNvPr id="6" name="Shape 4"/>
          <p:cNvSpPr/>
          <p:nvPr/>
        </p:nvSpPr>
        <p:spPr>
          <a:xfrm>
            <a:off x="800100" y="4457700"/>
            <a:ext cx="2400300" cy="9525"/>
          </a:xfrm>
          <a:prstGeom prst="rect">
            <a:avLst/>
          </a:prstGeom>
          <a:solidFill>
            <a:srgbClr val="B85100"/>
          </a:solidFill>
          <a:ln/>
        </p:spPr>
      </p:sp>
      <p:sp>
        <p:nvSpPr>
          <p:cNvPr id="7" name="Text 5"/>
          <p:cNvSpPr/>
          <p:nvPr/>
        </p:nvSpPr>
        <p:spPr>
          <a:xfrm>
            <a:off x="952500" y="4081463"/>
            <a:ext cx="2171700"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Technique</a:t>
            </a:r>
            <a:endParaRPr lang="en-US" sz="1800" dirty="0"/>
          </a:p>
        </p:txBody>
      </p:sp>
      <p:sp>
        <p:nvSpPr>
          <p:cNvPr id="8" name="Shape 6"/>
          <p:cNvSpPr/>
          <p:nvPr/>
        </p:nvSpPr>
        <p:spPr>
          <a:xfrm>
            <a:off x="3200400" y="3967163"/>
            <a:ext cx="4686300" cy="500063"/>
          </a:xfrm>
          <a:prstGeom prst="rect">
            <a:avLst/>
          </a:prstGeom>
          <a:solidFill>
            <a:srgbClr val="FF6A00">
              <a:alpha val="18000"/>
            </a:srgbClr>
          </a:solidFill>
          <a:ln/>
        </p:spPr>
      </p:sp>
      <p:sp>
        <p:nvSpPr>
          <p:cNvPr id="9" name="Shape 7"/>
          <p:cNvSpPr/>
          <p:nvPr/>
        </p:nvSpPr>
        <p:spPr>
          <a:xfrm>
            <a:off x="3200400" y="4457700"/>
            <a:ext cx="4686300" cy="9525"/>
          </a:xfrm>
          <a:prstGeom prst="rect">
            <a:avLst/>
          </a:prstGeom>
          <a:solidFill>
            <a:srgbClr val="B85100"/>
          </a:solidFill>
          <a:ln/>
        </p:spPr>
      </p:sp>
      <p:sp>
        <p:nvSpPr>
          <p:cNvPr id="10" name="Text 8"/>
          <p:cNvSpPr/>
          <p:nvPr/>
        </p:nvSpPr>
        <p:spPr>
          <a:xfrm>
            <a:off x="3352800" y="4081463"/>
            <a:ext cx="452208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Use it when</a:t>
            </a:r>
            <a:endParaRPr lang="en-US" sz="1800" dirty="0"/>
          </a:p>
        </p:txBody>
      </p:sp>
      <p:sp>
        <p:nvSpPr>
          <p:cNvPr id="11" name="Shape 9"/>
          <p:cNvSpPr/>
          <p:nvPr/>
        </p:nvSpPr>
        <p:spPr>
          <a:xfrm>
            <a:off x="7886700" y="3967163"/>
            <a:ext cx="9601200" cy="500063"/>
          </a:xfrm>
          <a:prstGeom prst="rect">
            <a:avLst/>
          </a:prstGeom>
          <a:solidFill>
            <a:srgbClr val="FF6A00">
              <a:alpha val="18000"/>
            </a:srgbClr>
          </a:solidFill>
          <a:ln/>
        </p:spPr>
      </p:sp>
      <p:sp>
        <p:nvSpPr>
          <p:cNvPr id="12" name="Shape 10"/>
          <p:cNvSpPr/>
          <p:nvPr/>
        </p:nvSpPr>
        <p:spPr>
          <a:xfrm>
            <a:off x="7886700" y="4457700"/>
            <a:ext cx="9601200" cy="9525"/>
          </a:xfrm>
          <a:prstGeom prst="rect">
            <a:avLst/>
          </a:prstGeom>
          <a:solidFill>
            <a:srgbClr val="B85100"/>
          </a:solidFill>
          <a:ln/>
        </p:spPr>
      </p:sp>
      <p:sp>
        <p:nvSpPr>
          <p:cNvPr id="13" name="Text 11"/>
          <p:cNvSpPr/>
          <p:nvPr/>
        </p:nvSpPr>
        <p:spPr>
          <a:xfrm>
            <a:off x="8039100" y="4081463"/>
            <a:ext cx="9584436"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Signal read</a:t>
            </a:r>
            <a:endParaRPr lang="en-US" sz="1800" dirty="0"/>
          </a:p>
        </p:txBody>
      </p:sp>
      <p:sp>
        <p:nvSpPr>
          <p:cNvPr id="14" name="Shape 12"/>
          <p:cNvSpPr/>
          <p:nvPr/>
        </p:nvSpPr>
        <p:spPr>
          <a:xfrm>
            <a:off x="800100" y="4467225"/>
            <a:ext cx="2400300" cy="752475"/>
          </a:xfrm>
          <a:prstGeom prst="rect">
            <a:avLst/>
          </a:prstGeom>
          <a:solidFill>
            <a:srgbClr val="FFFFFF">
              <a:alpha val="2000"/>
            </a:srgbClr>
          </a:solidFill>
          <a:ln/>
        </p:spPr>
      </p:sp>
      <p:sp>
        <p:nvSpPr>
          <p:cNvPr id="15" name="Shape 13"/>
          <p:cNvSpPr/>
          <p:nvPr/>
        </p:nvSpPr>
        <p:spPr>
          <a:xfrm>
            <a:off x="800100" y="5210175"/>
            <a:ext cx="2400300" cy="9525"/>
          </a:xfrm>
          <a:prstGeom prst="rect">
            <a:avLst/>
          </a:prstGeom>
          <a:solidFill>
            <a:srgbClr val="2A2F3A"/>
          </a:solidFill>
          <a:ln/>
        </p:spPr>
      </p:sp>
      <p:sp>
        <p:nvSpPr>
          <p:cNvPr id="16" name="Text 14"/>
          <p:cNvSpPr/>
          <p:nvPr/>
        </p:nvSpPr>
        <p:spPr>
          <a:xfrm>
            <a:off x="952500" y="4572000"/>
            <a:ext cx="2171700"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UNION</a:t>
            </a:r>
            <a:endParaRPr lang="en-US" sz="1800" dirty="0"/>
          </a:p>
        </p:txBody>
      </p:sp>
      <p:sp>
        <p:nvSpPr>
          <p:cNvPr id="17" name="Shape 15"/>
          <p:cNvSpPr/>
          <p:nvPr/>
        </p:nvSpPr>
        <p:spPr>
          <a:xfrm>
            <a:off x="3200400" y="4467225"/>
            <a:ext cx="4686300" cy="752475"/>
          </a:xfrm>
          <a:prstGeom prst="rect">
            <a:avLst/>
          </a:prstGeom>
          <a:solidFill>
            <a:srgbClr val="FFFFFF">
              <a:alpha val="2000"/>
            </a:srgbClr>
          </a:solidFill>
          <a:ln/>
        </p:spPr>
      </p:sp>
      <p:sp>
        <p:nvSpPr>
          <p:cNvPr id="18" name="Shape 16"/>
          <p:cNvSpPr/>
          <p:nvPr/>
        </p:nvSpPr>
        <p:spPr>
          <a:xfrm>
            <a:off x="3200400" y="5210175"/>
            <a:ext cx="4686300" cy="9525"/>
          </a:xfrm>
          <a:prstGeom prst="rect">
            <a:avLst/>
          </a:prstGeom>
          <a:solidFill>
            <a:srgbClr val="2A2F3A"/>
          </a:solidFill>
          <a:ln/>
        </p:spPr>
      </p:sp>
      <p:sp>
        <p:nvSpPr>
          <p:cNvPr id="19" name="Text 17"/>
          <p:cNvSpPr/>
          <p:nvPr/>
        </p:nvSpPr>
        <p:spPr>
          <a:xfrm>
            <a:off x="3352800" y="4572000"/>
            <a:ext cx="452208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application prints query results directly onto the page</a:t>
            </a:r>
            <a:endParaRPr lang="en-US" sz="1800" dirty="0"/>
          </a:p>
        </p:txBody>
      </p:sp>
      <p:sp>
        <p:nvSpPr>
          <p:cNvPr id="20" name="Shape 18"/>
          <p:cNvSpPr/>
          <p:nvPr/>
        </p:nvSpPr>
        <p:spPr>
          <a:xfrm>
            <a:off x="7886700" y="4467225"/>
            <a:ext cx="9601200" cy="752475"/>
          </a:xfrm>
          <a:prstGeom prst="rect">
            <a:avLst/>
          </a:prstGeom>
          <a:solidFill>
            <a:srgbClr val="FFFFFF">
              <a:alpha val="2000"/>
            </a:srgbClr>
          </a:solidFill>
          <a:ln/>
        </p:spPr>
      </p:sp>
      <p:sp>
        <p:nvSpPr>
          <p:cNvPr id="21" name="Shape 19"/>
          <p:cNvSpPr/>
          <p:nvPr/>
        </p:nvSpPr>
        <p:spPr>
          <a:xfrm>
            <a:off x="7886700" y="5210175"/>
            <a:ext cx="9601200" cy="9525"/>
          </a:xfrm>
          <a:prstGeom prst="rect">
            <a:avLst/>
          </a:prstGeom>
          <a:solidFill>
            <a:srgbClr val="2A2F3A"/>
          </a:solidFill>
          <a:ln/>
        </p:spPr>
      </p:sp>
      <p:sp>
        <p:nvSpPr>
          <p:cNvPr id="22" name="Text 20"/>
          <p:cNvSpPr/>
          <p:nvPr/>
        </p:nvSpPr>
        <p:spPr>
          <a:xfrm>
            <a:off x="8039100" y="4572000"/>
            <a:ext cx="958443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Injected data appears verbatim in the response</a:t>
            </a:r>
            <a:endParaRPr lang="en-US" sz="1800" dirty="0"/>
          </a:p>
        </p:txBody>
      </p:sp>
      <p:sp>
        <p:nvSpPr>
          <p:cNvPr id="23" name="Shape 21"/>
          <p:cNvSpPr/>
          <p:nvPr/>
        </p:nvSpPr>
        <p:spPr>
          <a:xfrm>
            <a:off x="800100" y="5962650"/>
            <a:ext cx="2400300" cy="9525"/>
          </a:xfrm>
          <a:prstGeom prst="rect">
            <a:avLst/>
          </a:prstGeom>
          <a:solidFill>
            <a:srgbClr val="2A2F3A"/>
          </a:solidFill>
          <a:ln/>
        </p:spPr>
      </p:sp>
      <p:sp>
        <p:nvSpPr>
          <p:cNvPr id="24" name="Text 22"/>
          <p:cNvSpPr/>
          <p:nvPr/>
        </p:nvSpPr>
        <p:spPr>
          <a:xfrm>
            <a:off x="952500" y="5324475"/>
            <a:ext cx="2171700"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Error-based</a:t>
            </a:r>
            <a:endParaRPr lang="en-US" sz="1800" dirty="0"/>
          </a:p>
        </p:txBody>
      </p:sp>
      <p:sp>
        <p:nvSpPr>
          <p:cNvPr id="25" name="Shape 23"/>
          <p:cNvSpPr/>
          <p:nvPr/>
        </p:nvSpPr>
        <p:spPr>
          <a:xfrm>
            <a:off x="3200400" y="5962650"/>
            <a:ext cx="4686300" cy="9525"/>
          </a:xfrm>
          <a:prstGeom prst="rect">
            <a:avLst/>
          </a:prstGeom>
          <a:solidFill>
            <a:srgbClr val="2A2F3A"/>
          </a:solidFill>
          <a:ln/>
        </p:spPr>
      </p:sp>
      <p:sp>
        <p:nvSpPr>
          <p:cNvPr id="26" name="Text 24"/>
          <p:cNvSpPr/>
          <p:nvPr/>
        </p:nvSpPr>
        <p:spPr>
          <a:xfrm>
            <a:off x="3352800" y="5324475"/>
            <a:ext cx="452208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Database errors are surfaced somewhere in the response</a:t>
            </a:r>
            <a:endParaRPr lang="en-US" sz="1800" dirty="0"/>
          </a:p>
        </p:txBody>
      </p:sp>
      <p:sp>
        <p:nvSpPr>
          <p:cNvPr id="27" name="Shape 25"/>
          <p:cNvSpPr/>
          <p:nvPr/>
        </p:nvSpPr>
        <p:spPr>
          <a:xfrm>
            <a:off x="7886700" y="5962650"/>
            <a:ext cx="9601200" cy="9525"/>
          </a:xfrm>
          <a:prstGeom prst="rect">
            <a:avLst/>
          </a:prstGeom>
          <a:solidFill>
            <a:srgbClr val="2A2F3A"/>
          </a:solidFill>
          <a:ln/>
        </p:spPr>
      </p:sp>
      <p:sp>
        <p:nvSpPr>
          <p:cNvPr id="28" name="Text 26"/>
          <p:cNvSpPr/>
          <p:nvPr/>
        </p:nvSpPr>
        <p:spPr>
          <a:xfrm>
            <a:off x="8039100" y="5324475"/>
            <a:ext cx="958443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Query results embedded inside the error text</a:t>
            </a:r>
            <a:endParaRPr lang="en-US" sz="1800" dirty="0"/>
          </a:p>
        </p:txBody>
      </p:sp>
      <p:sp>
        <p:nvSpPr>
          <p:cNvPr id="29" name="Shape 27"/>
          <p:cNvSpPr/>
          <p:nvPr/>
        </p:nvSpPr>
        <p:spPr>
          <a:xfrm>
            <a:off x="800100" y="5972175"/>
            <a:ext cx="2400300" cy="752475"/>
          </a:xfrm>
          <a:prstGeom prst="rect">
            <a:avLst/>
          </a:prstGeom>
          <a:solidFill>
            <a:srgbClr val="FFFFFF">
              <a:alpha val="2000"/>
            </a:srgbClr>
          </a:solidFill>
          <a:ln/>
        </p:spPr>
      </p:sp>
      <p:sp>
        <p:nvSpPr>
          <p:cNvPr id="30" name="Shape 28"/>
          <p:cNvSpPr/>
          <p:nvPr/>
        </p:nvSpPr>
        <p:spPr>
          <a:xfrm>
            <a:off x="800100" y="6715125"/>
            <a:ext cx="2400300" cy="9525"/>
          </a:xfrm>
          <a:prstGeom prst="rect">
            <a:avLst/>
          </a:prstGeom>
          <a:solidFill>
            <a:srgbClr val="2A2F3A"/>
          </a:solidFill>
          <a:ln/>
        </p:spPr>
      </p:sp>
      <p:sp>
        <p:nvSpPr>
          <p:cNvPr id="31" name="Text 29"/>
          <p:cNvSpPr/>
          <p:nvPr/>
        </p:nvSpPr>
        <p:spPr>
          <a:xfrm>
            <a:off x="952500" y="6076950"/>
            <a:ext cx="2171700"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Blind (boolean)</a:t>
            </a:r>
            <a:endParaRPr lang="en-US" sz="1800" dirty="0"/>
          </a:p>
        </p:txBody>
      </p:sp>
      <p:sp>
        <p:nvSpPr>
          <p:cNvPr id="32" name="Shape 30"/>
          <p:cNvSpPr/>
          <p:nvPr/>
        </p:nvSpPr>
        <p:spPr>
          <a:xfrm>
            <a:off x="3200400" y="5972175"/>
            <a:ext cx="4686300" cy="752475"/>
          </a:xfrm>
          <a:prstGeom prst="rect">
            <a:avLst/>
          </a:prstGeom>
          <a:solidFill>
            <a:srgbClr val="FFFFFF">
              <a:alpha val="2000"/>
            </a:srgbClr>
          </a:solidFill>
          <a:ln/>
        </p:spPr>
      </p:sp>
      <p:sp>
        <p:nvSpPr>
          <p:cNvPr id="33" name="Shape 31"/>
          <p:cNvSpPr/>
          <p:nvPr/>
        </p:nvSpPr>
        <p:spPr>
          <a:xfrm>
            <a:off x="3200400" y="6715125"/>
            <a:ext cx="4686300" cy="9525"/>
          </a:xfrm>
          <a:prstGeom prst="rect">
            <a:avLst/>
          </a:prstGeom>
          <a:solidFill>
            <a:srgbClr val="2A2F3A"/>
          </a:solidFill>
          <a:ln/>
        </p:spPr>
      </p:sp>
      <p:sp>
        <p:nvSpPr>
          <p:cNvPr id="34" name="Text 32"/>
          <p:cNvSpPr/>
          <p:nvPr/>
        </p:nvSpPr>
        <p:spPr>
          <a:xfrm>
            <a:off x="3352800" y="6076950"/>
            <a:ext cx="452208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No errors shown, but the page changes subtly with true/false</a:t>
            </a:r>
            <a:endParaRPr lang="en-US" sz="1800" dirty="0"/>
          </a:p>
        </p:txBody>
      </p:sp>
      <p:sp>
        <p:nvSpPr>
          <p:cNvPr id="35" name="Shape 33"/>
          <p:cNvSpPr/>
          <p:nvPr/>
        </p:nvSpPr>
        <p:spPr>
          <a:xfrm>
            <a:off x="7886700" y="5972175"/>
            <a:ext cx="9601200" cy="752475"/>
          </a:xfrm>
          <a:prstGeom prst="rect">
            <a:avLst/>
          </a:prstGeom>
          <a:solidFill>
            <a:srgbClr val="FFFFFF">
              <a:alpha val="2000"/>
            </a:srgbClr>
          </a:solidFill>
          <a:ln/>
        </p:spPr>
      </p:sp>
      <p:sp>
        <p:nvSpPr>
          <p:cNvPr id="36" name="Shape 34"/>
          <p:cNvSpPr/>
          <p:nvPr/>
        </p:nvSpPr>
        <p:spPr>
          <a:xfrm>
            <a:off x="7886700" y="6715125"/>
            <a:ext cx="9601200" cy="9525"/>
          </a:xfrm>
          <a:prstGeom prst="rect">
            <a:avLst/>
          </a:prstGeom>
          <a:solidFill>
            <a:srgbClr val="2A2F3A"/>
          </a:solidFill>
          <a:ln/>
        </p:spPr>
      </p:sp>
      <p:sp>
        <p:nvSpPr>
          <p:cNvPr id="37" name="Text 35"/>
          <p:cNvSpPr/>
          <p:nvPr/>
        </p:nvSpPr>
        <p:spPr>
          <a:xfrm>
            <a:off x="8039100" y="6076950"/>
            <a:ext cx="958443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Differences in content, length, or presence of an element</a:t>
            </a:r>
            <a:endParaRPr lang="en-US" sz="1800" dirty="0"/>
          </a:p>
        </p:txBody>
      </p:sp>
      <p:sp>
        <p:nvSpPr>
          <p:cNvPr id="38" name="Shape 36"/>
          <p:cNvSpPr/>
          <p:nvPr/>
        </p:nvSpPr>
        <p:spPr>
          <a:xfrm>
            <a:off x="800100" y="7467600"/>
            <a:ext cx="2400300" cy="9525"/>
          </a:xfrm>
          <a:prstGeom prst="rect">
            <a:avLst/>
          </a:prstGeom>
          <a:solidFill>
            <a:srgbClr val="2A2F3A"/>
          </a:solidFill>
          <a:ln/>
        </p:spPr>
      </p:sp>
      <p:sp>
        <p:nvSpPr>
          <p:cNvPr id="39" name="Text 37"/>
          <p:cNvSpPr/>
          <p:nvPr/>
        </p:nvSpPr>
        <p:spPr>
          <a:xfrm>
            <a:off x="952500" y="6829425"/>
            <a:ext cx="2171700"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Blind (time)</a:t>
            </a:r>
            <a:endParaRPr lang="en-US" sz="1800" dirty="0"/>
          </a:p>
        </p:txBody>
      </p:sp>
      <p:sp>
        <p:nvSpPr>
          <p:cNvPr id="40" name="Shape 38"/>
          <p:cNvSpPr/>
          <p:nvPr/>
        </p:nvSpPr>
        <p:spPr>
          <a:xfrm>
            <a:off x="3200400" y="7467600"/>
            <a:ext cx="4686300" cy="9525"/>
          </a:xfrm>
          <a:prstGeom prst="rect">
            <a:avLst/>
          </a:prstGeom>
          <a:solidFill>
            <a:srgbClr val="2A2F3A"/>
          </a:solidFill>
          <a:ln/>
        </p:spPr>
      </p:sp>
      <p:sp>
        <p:nvSpPr>
          <p:cNvPr id="41" name="Text 39"/>
          <p:cNvSpPr/>
          <p:nvPr/>
        </p:nvSpPr>
        <p:spPr>
          <a:xfrm>
            <a:off x="3352800" y="6829425"/>
            <a:ext cx="452208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response is identical regardless of true/false</a:t>
            </a:r>
            <a:endParaRPr lang="en-US" sz="1800" dirty="0"/>
          </a:p>
        </p:txBody>
      </p:sp>
      <p:sp>
        <p:nvSpPr>
          <p:cNvPr id="42" name="Shape 40"/>
          <p:cNvSpPr/>
          <p:nvPr/>
        </p:nvSpPr>
        <p:spPr>
          <a:xfrm>
            <a:off x="7886700" y="7467600"/>
            <a:ext cx="9601200" cy="9525"/>
          </a:xfrm>
          <a:prstGeom prst="rect">
            <a:avLst/>
          </a:prstGeom>
          <a:solidFill>
            <a:srgbClr val="2A2F3A"/>
          </a:solidFill>
          <a:ln/>
        </p:spPr>
      </p:sp>
      <p:sp>
        <p:nvSpPr>
          <p:cNvPr id="43" name="Text 41"/>
          <p:cNvSpPr/>
          <p:nvPr/>
        </p:nvSpPr>
        <p:spPr>
          <a:xfrm>
            <a:off x="8039100" y="6829425"/>
            <a:ext cx="958443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Response delay under a conditional sleep</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9.2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Manual SQL Exploitation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IDENTIFICATION FIRST</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single probing character and careful observation locate the vulnerability before any named technique is chosen.</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THREE TECHNIQUES, ONE LADDER</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UNION when output is direct, Error-based when errors surface, Blind (boolean or time) when neither channel exists.</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99115" y="4131915"/>
            <a:ext cx="2089770"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9.3</a:t>
            </a:r>
            <a:endParaRPr lang="en-US" sz="1650" dirty="0"/>
          </a:p>
        </p:txBody>
      </p:sp>
      <p:sp>
        <p:nvSpPr>
          <p:cNvPr id="4" name="Text 2"/>
          <p:cNvSpPr/>
          <p:nvPr/>
        </p:nvSpPr>
        <p:spPr>
          <a:xfrm>
            <a:off x="1365933" y="4646265"/>
            <a:ext cx="15556059" cy="838200"/>
          </a:xfrm>
          <a:prstGeom prst="rect">
            <a:avLst/>
          </a:prstGeom>
          <a:noFill/>
          <a:ln/>
        </p:spPr>
        <p:txBody>
          <a:bodyPr wrap="square" lIns="25400" tIns="25400" rIns="25400" bIns="25400" rtlCol="0" anchor="t">
            <a:normAutofit/>
          </a:bodyPr>
          <a:lstStyle/>
          <a:p>
            <a:pPr algn="ctr" indent="0" marL="0">
              <a:lnSpc>
                <a:spcPct val="91304"/>
              </a:lnSpc>
              <a:buNone/>
            </a:pPr>
            <a:r>
              <a:rPr lang="en-US" sz="6000" b="1" spc="-37" kern="0" dirty="0">
                <a:solidFill>
                  <a:srgbClr val="F5F7FB"/>
                </a:solidFill>
                <a:latin typeface="Arial" pitchFamily="34" charset="0"/>
                <a:ea typeface="Arial" pitchFamily="34" charset="-122"/>
                <a:cs typeface="Arial" pitchFamily="34" charset="-120"/>
              </a:rPr>
              <a:t>Manual and Automated Code Execution</a:t>
            </a:r>
            <a:endParaRPr lang="en-US" sz="6000" dirty="0"/>
          </a:p>
        </p:txBody>
      </p:sp>
      <p:sp>
        <p:nvSpPr>
          <p:cNvPr id="5" name="Text 3"/>
          <p:cNvSpPr/>
          <p:nvPr/>
        </p:nvSpPr>
        <p:spPr>
          <a:xfrm>
            <a:off x="2898182" y="5713065"/>
            <a:ext cx="12491636" cy="480045"/>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Exploit MSSQL databases with xp_cmdshell, and automate SQL injection with SQLmap.</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628454"/>
            <a:ext cx="2922240"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714179"/>
            <a:ext cx="2647957"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9.3 · Task 1 of 2</a:t>
            </a:r>
            <a:endParaRPr lang="en-US" sz="1500" dirty="0"/>
          </a:p>
        </p:txBody>
      </p:sp>
      <p:sp>
        <p:nvSpPr>
          <p:cNvPr id="5" name="Text 3"/>
          <p:cNvSpPr/>
          <p:nvPr/>
        </p:nvSpPr>
        <p:spPr>
          <a:xfrm>
            <a:off x="800100" y="327139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Exploiting MSSQL databases with xp_cmdshell</a:t>
            </a:r>
            <a:endParaRPr lang="en-US" sz="3000" dirty="0"/>
          </a:p>
        </p:txBody>
      </p:sp>
      <p:sp>
        <p:nvSpPr>
          <p:cNvPr id="6" name="Text 4"/>
          <p:cNvSpPr/>
          <p:nvPr/>
        </p:nvSpPr>
        <p:spPr>
          <a:xfrm>
            <a:off x="800100" y="393814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xp_cmdshell is an extended MSSQL stored procedure that runs operating system commands with the privileges of the database service. Where available and enabled, it converts a confirmed SQL injection directly into command execution.</a:t>
            </a:r>
            <a:endParaRPr lang="en-US" sz="2175" dirty="0"/>
          </a:p>
        </p:txBody>
      </p:sp>
      <p:sp>
        <p:nvSpPr>
          <p:cNvPr id="7" name="Shape 5"/>
          <p:cNvSpPr/>
          <p:nvPr/>
        </p:nvSpPr>
        <p:spPr>
          <a:xfrm>
            <a:off x="800100" y="4986784"/>
            <a:ext cx="16687800" cy="628650"/>
          </a:xfrm>
          <a:prstGeom prst="roundRect">
            <a:avLst>
              <a:gd name="adj" fmla="val 18182"/>
            </a:avLst>
          </a:prstGeom>
          <a:solidFill>
            <a:srgbClr val="000000">
              <a:alpha val="35000"/>
            </a:srgbClr>
          </a:solidFill>
          <a:ln w="9525">
            <a:solidFill>
              <a:srgbClr val="2A2F3A"/>
            </a:solidFill>
            <a:prstDash val="solid"/>
          </a:ln>
        </p:spPr>
      </p:sp>
      <p:sp>
        <p:nvSpPr>
          <p:cNvPr id="8" name="Text 6"/>
          <p:cNvSpPr/>
          <p:nvPr/>
        </p:nvSpPr>
        <p:spPr>
          <a:xfrm>
            <a:off x="1019175" y="5167759"/>
            <a:ext cx="167502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D9BF"/>
                </a:solidFill>
                <a:latin typeface="Courier New" pitchFamily="34" charset="0"/>
                <a:ea typeface="Courier New" pitchFamily="34" charset="-122"/>
                <a:cs typeface="Courier New" pitchFamily="34" charset="-120"/>
              </a:rPr>
              <a:t>'; EXEC xp_cmdshell 'whoami';--</a:t>
            </a:r>
            <a:endParaRPr lang="en-US" sz="1800" dirty="0"/>
          </a:p>
        </p:txBody>
      </p:sp>
      <p:sp>
        <p:nvSpPr>
          <p:cNvPr id="9" name="Shape 7"/>
          <p:cNvSpPr/>
          <p:nvPr/>
        </p:nvSpPr>
        <p:spPr>
          <a:xfrm>
            <a:off x="800100" y="5863084"/>
            <a:ext cx="823912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1038225" y="610120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1" name="Text 9"/>
          <p:cNvSpPr/>
          <p:nvPr/>
        </p:nvSpPr>
        <p:spPr>
          <a:xfrm>
            <a:off x="1038225" y="642029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This is the single highest-impact outcome the module reaches — a web parameter leading to commands running on the underlying host.</a:t>
            </a:r>
            <a:endParaRPr lang="en-US" sz="1875" dirty="0"/>
          </a:p>
        </p:txBody>
      </p:sp>
      <p:sp>
        <p:nvSpPr>
          <p:cNvPr id="12" name="Shape 10"/>
          <p:cNvSpPr/>
          <p:nvPr/>
        </p:nvSpPr>
        <p:spPr>
          <a:xfrm>
            <a:off x="9248775" y="5863084"/>
            <a:ext cx="8239125"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9486900" y="610120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4" name="Text 12"/>
          <p:cNvSpPr/>
          <p:nvPr/>
        </p:nvSpPr>
        <p:spPr>
          <a:xfrm>
            <a:off x="9486900" y="642029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xp_cmdshell disabled by default on modern installations, and re-enabling it typically requires the elevated privilege the tester is trying to obtain in the first place.</a:t>
            </a:r>
            <a:endParaRPr lang="en-US" sz="18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4649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7294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9.3 · Task 2 of 2</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Automating SQL Injection with SQLmap</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SQLmap automates detection and exploitation of the same injection types covered manually in Objective 9.2 — UNION, error-based and blind — against a wide range of database engines.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MANUAL COMES FIRST</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tester who only knows the tool cannot recognise when it fails silently, tune it against unusual input handling, or explain a finding without pointing at a log file.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WHERE IT EARNS ITS PLACE</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Once injection is manually confirmed, automation reliably extracts schema and data at a volume manual technique makes impractical.</a:t>
            </a:r>
            <a:endParaRPr lang="en-US" sz="18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14042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63572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Manual confirmation, then automated scale</a:t>
            </a:r>
            <a:endParaRPr lang="en-US" sz="3000" dirty="0"/>
          </a:p>
        </p:txBody>
      </p:sp>
      <p:sp>
        <p:nvSpPr>
          <p:cNvPr id="5" name="Shape 3"/>
          <p:cNvSpPr/>
          <p:nvPr/>
        </p:nvSpPr>
        <p:spPr>
          <a:xfrm>
            <a:off x="800100" y="4302472"/>
            <a:ext cx="7581900"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4540597"/>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MANUAL</a:t>
            </a:r>
            <a:endParaRPr lang="en-US" sz="1500" dirty="0"/>
          </a:p>
        </p:txBody>
      </p:sp>
      <p:sp>
        <p:nvSpPr>
          <p:cNvPr id="7" name="Text 5"/>
          <p:cNvSpPr/>
          <p:nvPr/>
        </p:nvSpPr>
        <p:spPr>
          <a:xfrm>
            <a:off x="1038225" y="4859685"/>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Confirms the vulnerability exists and reveals exactly how the application handles input. Slower, but the only route to understanding a genuinely unusual case.</a:t>
            </a:r>
            <a:endParaRPr lang="en-US" sz="1875" dirty="0"/>
          </a:p>
        </p:txBody>
      </p:sp>
      <p:sp>
        <p:nvSpPr>
          <p:cNvPr id="8" name="Text 6"/>
          <p:cNvSpPr/>
          <p:nvPr/>
        </p:nvSpPr>
        <p:spPr>
          <a:xfrm>
            <a:off x="8534400" y="4302472"/>
            <a:ext cx="1219200" cy="1833563"/>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302472"/>
            <a:ext cx="7581900" cy="1795463"/>
          </a:xfrm>
          <a:prstGeom prst="roundRect">
            <a:avLst>
              <a:gd name="adj" fmla="val 8488"/>
            </a:avLst>
          </a:prstGeom>
          <a:solidFill>
            <a:srgbClr val="FF6A00">
              <a:alpha val="6000"/>
            </a:srgbClr>
          </a:solidFill>
          <a:ln w="9525">
            <a:solidFill>
              <a:srgbClr val="B85100"/>
            </a:solidFill>
            <a:prstDash val="solid"/>
          </a:ln>
        </p:spPr>
      </p:sp>
      <p:sp>
        <p:nvSpPr>
          <p:cNvPr id="10" name="Text 8"/>
          <p:cNvSpPr/>
          <p:nvPr/>
        </p:nvSpPr>
        <p:spPr>
          <a:xfrm>
            <a:off x="10144125" y="4540597"/>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AUTOMATED</a:t>
            </a:r>
            <a:endParaRPr lang="en-US" sz="1500" dirty="0"/>
          </a:p>
        </p:txBody>
      </p:sp>
      <p:sp>
        <p:nvSpPr>
          <p:cNvPr id="11" name="Text 9"/>
          <p:cNvSpPr/>
          <p:nvPr/>
        </p:nvSpPr>
        <p:spPr>
          <a:xfrm>
            <a:off x="10144125" y="4859685"/>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Extracts schema and data at scale once the vulnerability is known to exist. Fast, but can misreport or miss entirely against unusual input handling if run blind.</a:t>
            </a:r>
            <a:endParaRPr lang="en-US" sz="1875" dirty="0"/>
          </a:p>
        </p:txBody>
      </p:sp>
      <p:sp>
        <p:nvSpPr>
          <p:cNvPr id="12" name="Text 10"/>
          <p:cNvSpPr/>
          <p:nvPr/>
        </p:nvSpPr>
        <p:spPr>
          <a:xfrm>
            <a:off x="800100" y="6345585"/>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Watch for: running SQLmap against every parameter with no prior manual probing. It works often enough to be tempting, and fails silently often enough to be dangerous.</a:t>
            </a:r>
            <a:endParaRPr lang="en-US" sz="21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9.3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Code Execution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XP_CMDSHELL</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 MSSQL procedure that, where enabled, converts confirmed injection into operating system command execution.</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SQLMAP</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Automates the same technique families taught manually, and earns its place only after manual confirmation.</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14042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APPLIED SCENARIO · DISCUSSION</a:t>
            </a:r>
            <a:endParaRPr lang="en-US" sz="1650" dirty="0"/>
          </a:p>
        </p:txBody>
      </p:sp>
      <p:sp>
        <p:nvSpPr>
          <p:cNvPr id="4" name="Text 2"/>
          <p:cNvSpPr/>
          <p:nvPr/>
        </p:nvSpPr>
        <p:spPr>
          <a:xfrm>
            <a:off x="800100" y="363572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Choosing a technique from limited symptoms</a:t>
            </a:r>
            <a:endParaRPr lang="en-US" sz="3000" dirty="0"/>
          </a:p>
        </p:txBody>
      </p:sp>
      <p:sp>
        <p:nvSpPr>
          <p:cNvPr id="5" name="Text 3"/>
          <p:cNvSpPr/>
          <p:nvPr/>
        </p:nvSpPr>
        <p:spPr>
          <a:xfrm>
            <a:off x="800100" y="4302472"/>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login form's username field, when sent a single quote, returns the same generic "invalid credentials" page every time — no error, no visible change, regardless of what follows the quote. The backend is confirmed as MSSQL.</a:t>
            </a:r>
            <a:endParaRPr lang="en-US" sz="2175" dirty="0"/>
          </a:p>
        </p:txBody>
      </p:sp>
      <p:sp>
        <p:nvSpPr>
          <p:cNvPr id="6" name="Shape 4"/>
          <p:cNvSpPr/>
          <p:nvPr/>
        </p:nvSpPr>
        <p:spPr>
          <a:xfrm>
            <a:off x="800100" y="5351115"/>
            <a:ext cx="5435575" cy="1795463"/>
          </a:xfrm>
          <a:prstGeom prst="roundRect">
            <a:avLst>
              <a:gd name="adj" fmla="val 8488"/>
            </a:avLst>
          </a:prstGeom>
          <a:solidFill>
            <a:srgbClr val="FFFFFF">
              <a:alpha val="2000"/>
            </a:srgbClr>
          </a:solidFill>
          <a:ln w="9525">
            <a:solidFill>
              <a:srgbClr val="2A2F3A"/>
            </a:solidFill>
            <a:prstDash val="solid"/>
          </a:ln>
        </p:spPr>
      </p:sp>
      <p:sp>
        <p:nvSpPr>
          <p:cNvPr id="7" name="Text 5"/>
          <p:cNvSpPr/>
          <p:nvPr/>
        </p:nvSpPr>
        <p:spPr>
          <a:xfrm>
            <a:off x="1038225" y="5589240"/>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8" name="Text 6"/>
          <p:cNvSpPr/>
          <p:nvPr/>
        </p:nvSpPr>
        <p:spPr>
          <a:xfrm>
            <a:off x="1038225" y="5908328"/>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Which of the three named exploitation techniques from Objective 9.2 is even available here, and why do the other two not apply?</a:t>
            </a:r>
            <a:endParaRPr lang="en-US" sz="1875" dirty="0"/>
          </a:p>
        </p:txBody>
      </p:sp>
      <p:sp>
        <p:nvSpPr>
          <p:cNvPr id="9" name="Shape 7"/>
          <p:cNvSpPr/>
          <p:nvPr/>
        </p:nvSpPr>
        <p:spPr>
          <a:xfrm>
            <a:off x="6426175" y="5351115"/>
            <a:ext cx="543557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6664300" y="5589240"/>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1" name="Text 9"/>
          <p:cNvSpPr/>
          <p:nvPr/>
        </p:nvSpPr>
        <p:spPr>
          <a:xfrm>
            <a:off x="6664300" y="5908328"/>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If injection is eventually confirmed, what would need to be true of the environment for xp_cmdshell to be a viable next step?</a:t>
            </a:r>
            <a:endParaRPr lang="en-US" sz="1875" dirty="0"/>
          </a:p>
        </p:txBody>
      </p:sp>
      <p:sp>
        <p:nvSpPr>
          <p:cNvPr id="12" name="Shape 10"/>
          <p:cNvSpPr/>
          <p:nvPr/>
        </p:nvSpPr>
        <p:spPr>
          <a:xfrm>
            <a:off x="12052250" y="5351115"/>
            <a:ext cx="5435650"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12290375" y="5589240"/>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4" name="Text 12"/>
          <p:cNvSpPr/>
          <p:nvPr/>
        </p:nvSpPr>
        <p:spPr>
          <a:xfrm>
            <a:off x="12290375" y="5908328"/>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At what point would you reach for SQLmap here, and what would you already need to know before pointing it at this form?</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32350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03775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1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Testing every parameter that reaches a query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Injection points are not limited to obvious search or login fields. Any parameter that influences a query — including hidden fields, cookies, and HTTP headers — is worth the same single-quote probe.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Enumerate every parameter the application accepts before concluding a page is not injectable. A form with five visible fields often has several more travelling invisibly.</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Sorting and pagination parameters. They frequently reach ORDER BY or LIMIT clauses that receive far less scrutiny than search boxes.</a:t>
            </a:r>
            <a:endParaRPr lang="en-US" sz="18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4776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6201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2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Fingerprinting the engine before committing syntax</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Confirm the database engine as early as possible. Time invested writing MySQL-specific payloads against an MSSQL target is time that produces nothing but false negatives.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Version-disclosure functions, comment syntax behaviour, and error message phrasing all differ enough between engines to fingerprint reliably.</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 9.1's syntax table. Keep it open during the first attempts against any new target.</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5289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6714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3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Verifying automated findings by hand</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Before a SQLmap result reaches a report, reproduce the core finding manually. It confirms the result is genuine and produces the evidence a written report actually requires.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Take the simplest payload SQLmap used successfully and replay it directly, capturing the request and response as evidence.</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4's requirement for a technical report to describe findings and recommendations with evidence, not tool output alone.</a:t>
            </a:r>
            <a:endParaRPr lang="en-US" sz="18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852738"/>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ACRONYM SPOTLIGHT</a:t>
            </a:r>
            <a:endParaRPr lang="en-US" sz="1650" dirty="0"/>
          </a:p>
        </p:txBody>
      </p:sp>
      <p:sp>
        <p:nvSpPr>
          <p:cNvPr id="4" name="Text 2"/>
          <p:cNvSpPr/>
          <p:nvPr/>
        </p:nvSpPr>
        <p:spPr>
          <a:xfrm>
            <a:off x="800100" y="3348038"/>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Terms introduced in Module 9</a:t>
            </a:r>
            <a:endParaRPr lang="en-US" sz="3000" dirty="0"/>
          </a:p>
        </p:txBody>
      </p:sp>
      <p:sp>
        <p:nvSpPr>
          <p:cNvPr id="5" name="Shape 3"/>
          <p:cNvSpPr/>
          <p:nvPr/>
        </p:nvSpPr>
        <p:spPr>
          <a:xfrm>
            <a:off x="800100" y="4014788"/>
            <a:ext cx="2400300" cy="500063"/>
          </a:xfrm>
          <a:prstGeom prst="rect">
            <a:avLst/>
          </a:prstGeom>
          <a:solidFill>
            <a:srgbClr val="FF6A00">
              <a:alpha val="18000"/>
            </a:srgbClr>
          </a:solidFill>
          <a:ln/>
        </p:spPr>
      </p:sp>
      <p:sp>
        <p:nvSpPr>
          <p:cNvPr id="6" name="Shape 4"/>
          <p:cNvSpPr/>
          <p:nvPr/>
        </p:nvSpPr>
        <p:spPr>
          <a:xfrm>
            <a:off x="800100" y="4505325"/>
            <a:ext cx="2400300" cy="9525"/>
          </a:xfrm>
          <a:prstGeom prst="rect">
            <a:avLst/>
          </a:prstGeom>
          <a:solidFill>
            <a:srgbClr val="B85100"/>
          </a:solidFill>
          <a:ln/>
        </p:spPr>
      </p:sp>
      <p:sp>
        <p:nvSpPr>
          <p:cNvPr id="7" name="Text 5"/>
          <p:cNvSpPr/>
          <p:nvPr/>
        </p:nvSpPr>
        <p:spPr>
          <a:xfrm>
            <a:off x="952500" y="4129088"/>
            <a:ext cx="2171700"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Term</a:t>
            </a:r>
            <a:endParaRPr lang="en-US" sz="1800" dirty="0"/>
          </a:p>
        </p:txBody>
      </p:sp>
      <p:sp>
        <p:nvSpPr>
          <p:cNvPr id="8" name="Shape 6"/>
          <p:cNvSpPr/>
          <p:nvPr/>
        </p:nvSpPr>
        <p:spPr>
          <a:xfrm>
            <a:off x="3200400" y="4014788"/>
            <a:ext cx="4686300" cy="500063"/>
          </a:xfrm>
          <a:prstGeom prst="rect">
            <a:avLst/>
          </a:prstGeom>
          <a:solidFill>
            <a:srgbClr val="FF6A00">
              <a:alpha val="18000"/>
            </a:srgbClr>
          </a:solidFill>
          <a:ln/>
        </p:spPr>
      </p:sp>
      <p:sp>
        <p:nvSpPr>
          <p:cNvPr id="9" name="Shape 7"/>
          <p:cNvSpPr/>
          <p:nvPr/>
        </p:nvSpPr>
        <p:spPr>
          <a:xfrm>
            <a:off x="3200400" y="4505325"/>
            <a:ext cx="4686300" cy="9525"/>
          </a:xfrm>
          <a:prstGeom prst="rect">
            <a:avLst/>
          </a:prstGeom>
          <a:solidFill>
            <a:srgbClr val="B85100"/>
          </a:solidFill>
          <a:ln/>
        </p:spPr>
      </p:sp>
      <p:sp>
        <p:nvSpPr>
          <p:cNvPr id="10" name="Text 8"/>
          <p:cNvSpPr/>
          <p:nvPr/>
        </p:nvSpPr>
        <p:spPr>
          <a:xfrm>
            <a:off x="3352800" y="4129088"/>
            <a:ext cx="452208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Expansion</a:t>
            </a:r>
            <a:endParaRPr lang="en-US" sz="1800" dirty="0"/>
          </a:p>
        </p:txBody>
      </p:sp>
      <p:sp>
        <p:nvSpPr>
          <p:cNvPr id="11" name="Shape 9"/>
          <p:cNvSpPr/>
          <p:nvPr/>
        </p:nvSpPr>
        <p:spPr>
          <a:xfrm>
            <a:off x="7886700" y="4014788"/>
            <a:ext cx="9601200" cy="500063"/>
          </a:xfrm>
          <a:prstGeom prst="rect">
            <a:avLst/>
          </a:prstGeom>
          <a:solidFill>
            <a:srgbClr val="FF6A00">
              <a:alpha val="18000"/>
            </a:srgbClr>
          </a:solidFill>
          <a:ln/>
        </p:spPr>
      </p:sp>
      <p:sp>
        <p:nvSpPr>
          <p:cNvPr id="12" name="Shape 10"/>
          <p:cNvSpPr/>
          <p:nvPr/>
        </p:nvSpPr>
        <p:spPr>
          <a:xfrm>
            <a:off x="7886700" y="4505325"/>
            <a:ext cx="9601200" cy="9525"/>
          </a:xfrm>
          <a:prstGeom prst="rect">
            <a:avLst/>
          </a:prstGeom>
          <a:solidFill>
            <a:srgbClr val="B85100"/>
          </a:solidFill>
          <a:ln/>
        </p:spPr>
      </p:sp>
      <p:sp>
        <p:nvSpPr>
          <p:cNvPr id="13" name="Text 11"/>
          <p:cNvSpPr/>
          <p:nvPr/>
        </p:nvSpPr>
        <p:spPr>
          <a:xfrm>
            <a:off x="8039100" y="4129088"/>
            <a:ext cx="9584436"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names</a:t>
            </a:r>
            <a:endParaRPr lang="en-US" sz="1800" dirty="0"/>
          </a:p>
        </p:txBody>
      </p:sp>
      <p:sp>
        <p:nvSpPr>
          <p:cNvPr id="14" name="Shape 12"/>
          <p:cNvSpPr/>
          <p:nvPr/>
        </p:nvSpPr>
        <p:spPr>
          <a:xfrm>
            <a:off x="800100" y="4514850"/>
            <a:ext cx="2400300" cy="485775"/>
          </a:xfrm>
          <a:prstGeom prst="rect">
            <a:avLst/>
          </a:prstGeom>
          <a:solidFill>
            <a:srgbClr val="FFFFFF">
              <a:alpha val="2000"/>
            </a:srgbClr>
          </a:solidFill>
          <a:ln/>
        </p:spPr>
      </p:sp>
      <p:sp>
        <p:nvSpPr>
          <p:cNvPr id="15" name="Shape 13"/>
          <p:cNvSpPr/>
          <p:nvPr/>
        </p:nvSpPr>
        <p:spPr>
          <a:xfrm>
            <a:off x="800100" y="4991100"/>
            <a:ext cx="2400300" cy="9525"/>
          </a:xfrm>
          <a:prstGeom prst="rect">
            <a:avLst/>
          </a:prstGeom>
          <a:solidFill>
            <a:srgbClr val="2A2F3A"/>
          </a:solidFill>
          <a:ln/>
        </p:spPr>
      </p:sp>
      <p:sp>
        <p:nvSpPr>
          <p:cNvPr id="16" name="Text 14"/>
          <p:cNvSpPr/>
          <p:nvPr/>
        </p:nvSpPr>
        <p:spPr>
          <a:xfrm>
            <a:off x="952500" y="4619625"/>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SQL</a:t>
            </a:r>
            <a:endParaRPr lang="en-US" sz="1800" dirty="0"/>
          </a:p>
        </p:txBody>
      </p:sp>
      <p:sp>
        <p:nvSpPr>
          <p:cNvPr id="17" name="Shape 15"/>
          <p:cNvSpPr/>
          <p:nvPr/>
        </p:nvSpPr>
        <p:spPr>
          <a:xfrm>
            <a:off x="3200400" y="4514850"/>
            <a:ext cx="4686300" cy="485775"/>
          </a:xfrm>
          <a:prstGeom prst="rect">
            <a:avLst/>
          </a:prstGeom>
          <a:solidFill>
            <a:srgbClr val="FFFFFF">
              <a:alpha val="2000"/>
            </a:srgbClr>
          </a:solidFill>
          <a:ln/>
        </p:spPr>
      </p:sp>
      <p:sp>
        <p:nvSpPr>
          <p:cNvPr id="18" name="Shape 16"/>
          <p:cNvSpPr/>
          <p:nvPr/>
        </p:nvSpPr>
        <p:spPr>
          <a:xfrm>
            <a:off x="3200400" y="4991100"/>
            <a:ext cx="4686300" cy="9525"/>
          </a:xfrm>
          <a:prstGeom prst="rect">
            <a:avLst/>
          </a:prstGeom>
          <a:solidFill>
            <a:srgbClr val="2A2F3A"/>
          </a:solidFill>
          <a:ln/>
        </p:spPr>
      </p:sp>
      <p:sp>
        <p:nvSpPr>
          <p:cNvPr id="19" name="Text 17"/>
          <p:cNvSpPr/>
          <p:nvPr/>
        </p:nvSpPr>
        <p:spPr>
          <a:xfrm>
            <a:off x="3352800" y="4619625"/>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Structured Query Language</a:t>
            </a:r>
            <a:endParaRPr lang="en-US" sz="1800" dirty="0"/>
          </a:p>
        </p:txBody>
      </p:sp>
      <p:sp>
        <p:nvSpPr>
          <p:cNvPr id="20" name="Shape 18"/>
          <p:cNvSpPr/>
          <p:nvPr/>
        </p:nvSpPr>
        <p:spPr>
          <a:xfrm>
            <a:off x="7886700" y="4514850"/>
            <a:ext cx="9601200" cy="485775"/>
          </a:xfrm>
          <a:prstGeom prst="rect">
            <a:avLst/>
          </a:prstGeom>
          <a:solidFill>
            <a:srgbClr val="FFFFFF">
              <a:alpha val="2000"/>
            </a:srgbClr>
          </a:solidFill>
          <a:ln/>
        </p:spPr>
      </p:sp>
      <p:sp>
        <p:nvSpPr>
          <p:cNvPr id="21" name="Shape 19"/>
          <p:cNvSpPr/>
          <p:nvPr/>
        </p:nvSpPr>
        <p:spPr>
          <a:xfrm>
            <a:off x="7886700" y="4991100"/>
            <a:ext cx="9601200" cy="9525"/>
          </a:xfrm>
          <a:prstGeom prst="rect">
            <a:avLst/>
          </a:prstGeom>
          <a:solidFill>
            <a:srgbClr val="2A2F3A"/>
          </a:solidFill>
          <a:ln/>
        </p:spPr>
      </p:sp>
      <p:sp>
        <p:nvSpPr>
          <p:cNvPr id="22" name="Text 20"/>
          <p:cNvSpPr/>
          <p:nvPr/>
        </p:nvSpPr>
        <p:spPr>
          <a:xfrm>
            <a:off x="8039100" y="4619625"/>
            <a:ext cx="95844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language used to query and manipulate relational databases</a:t>
            </a:r>
            <a:endParaRPr lang="en-US" sz="1800" dirty="0"/>
          </a:p>
        </p:txBody>
      </p:sp>
      <p:sp>
        <p:nvSpPr>
          <p:cNvPr id="23" name="Shape 21"/>
          <p:cNvSpPr/>
          <p:nvPr/>
        </p:nvSpPr>
        <p:spPr>
          <a:xfrm>
            <a:off x="800100" y="5476875"/>
            <a:ext cx="2400300" cy="9525"/>
          </a:xfrm>
          <a:prstGeom prst="rect">
            <a:avLst/>
          </a:prstGeom>
          <a:solidFill>
            <a:srgbClr val="2A2F3A"/>
          </a:solidFill>
          <a:ln/>
        </p:spPr>
      </p:sp>
      <p:sp>
        <p:nvSpPr>
          <p:cNvPr id="24" name="Text 22"/>
          <p:cNvSpPr/>
          <p:nvPr/>
        </p:nvSpPr>
        <p:spPr>
          <a:xfrm>
            <a:off x="952500" y="5105400"/>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SQLi</a:t>
            </a:r>
            <a:endParaRPr lang="en-US" sz="1800" dirty="0"/>
          </a:p>
        </p:txBody>
      </p:sp>
      <p:sp>
        <p:nvSpPr>
          <p:cNvPr id="25" name="Shape 23"/>
          <p:cNvSpPr/>
          <p:nvPr/>
        </p:nvSpPr>
        <p:spPr>
          <a:xfrm>
            <a:off x="3200400" y="5476875"/>
            <a:ext cx="4686300" cy="9525"/>
          </a:xfrm>
          <a:prstGeom prst="rect">
            <a:avLst/>
          </a:prstGeom>
          <a:solidFill>
            <a:srgbClr val="2A2F3A"/>
          </a:solidFill>
          <a:ln/>
        </p:spPr>
      </p:sp>
      <p:sp>
        <p:nvSpPr>
          <p:cNvPr id="26" name="Text 24"/>
          <p:cNvSpPr/>
          <p:nvPr/>
        </p:nvSpPr>
        <p:spPr>
          <a:xfrm>
            <a:off x="3352800" y="5105400"/>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SQL Injection</a:t>
            </a:r>
            <a:endParaRPr lang="en-US" sz="1800" dirty="0"/>
          </a:p>
        </p:txBody>
      </p:sp>
      <p:sp>
        <p:nvSpPr>
          <p:cNvPr id="27" name="Shape 25"/>
          <p:cNvSpPr/>
          <p:nvPr/>
        </p:nvSpPr>
        <p:spPr>
          <a:xfrm>
            <a:off x="7886700" y="5476875"/>
            <a:ext cx="9601200" cy="9525"/>
          </a:xfrm>
          <a:prstGeom prst="rect">
            <a:avLst/>
          </a:prstGeom>
          <a:solidFill>
            <a:srgbClr val="2A2F3A"/>
          </a:solidFill>
          <a:ln/>
        </p:spPr>
      </p:sp>
      <p:sp>
        <p:nvSpPr>
          <p:cNvPr id="28" name="Text 26"/>
          <p:cNvSpPr/>
          <p:nvPr/>
        </p:nvSpPr>
        <p:spPr>
          <a:xfrm>
            <a:off x="8039100" y="5105400"/>
            <a:ext cx="95844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vulnerability class covered across Objectives 9.2 and 9.3</a:t>
            </a:r>
            <a:endParaRPr lang="en-US" sz="1800" dirty="0"/>
          </a:p>
        </p:txBody>
      </p:sp>
      <p:sp>
        <p:nvSpPr>
          <p:cNvPr id="29" name="Shape 27"/>
          <p:cNvSpPr/>
          <p:nvPr/>
        </p:nvSpPr>
        <p:spPr>
          <a:xfrm>
            <a:off x="800100" y="5486400"/>
            <a:ext cx="2400300" cy="485775"/>
          </a:xfrm>
          <a:prstGeom prst="rect">
            <a:avLst/>
          </a:prstGeom>
          <a:solidFill>
            <a:srgbClr val="FFFFFF">
              <a:alpha val="2000"/>
            </a:srgbClr>
          </a:solidFill>
          <a:ln/>
        </p:spPr>
      </p:sp>
      <p:sp>
        <p:nvSpPr>
          <p:cNvPr id="30" name="Shape 28"/>
          <p:cNvSpPr/>
          <p:nvPr/>
        </p:nvSpPr>
        <p:spPr>
          <a:xfrm>
            <a:off x="800100" y="5962650"/>
            <a:ext cx="2400300" cy="9525"/>
          </a:xfrm>
          <a:prstGeom prst="rect">
            <a:avLst/>
          </a:prstGeom>
          <a:solidFill>
            <a:srgbClr val="2A2F3A"/>
          </a:solidFill>
          <a:ln/>
        </p:spPr>
      </p:sp>
      <p:sp>
        <p:nvSpPr>
          <p:cNvPr id="31" name="Text 29"/>
          <p:cNvSpPr/>
          <p:nvPr/>
        </p:nvSpPr>
        <p:spPr>
          <a:xfrm>
            <a:off x="952500" y="5591175"/>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UNION</a:t>
            </a:r>
            <a:endParaRPr lang="en-US" sz="1800" dirty="0"/>
          </a:p>
        </p:txBody>
      </p:sp>
      <p:sp>
        <p:nvSpPr>
          <p:cNvPr id="32" name="Shape 30"/>
          <p:cNvSpPr/>
          <p:nvPr/>
        </p:nvSpPr>
        <p:spPr>
          <a:xfrm>
            <a:off x="3200400" y="5486400"/>
            <a:ext cx="4686300" cy="485775"/>
          </a:xfrm>
          <a:prstGeom prst="rect">
            <a:avLst/>
          </a:prstGeom>
          <a:solidFill>
            <a:srgbClr val="FFFFFF">
              <a:alpha val="2000"/>
            </a:srgbClr>
          </a:solidFill>
          <a:ln/>
        </p:spPr>
      </p:sp>
      <p:sp>
        <p:nvSpPr>
          <p:cNvPr id="33" name="Shape 31"/>
          <p:cNvSpPr/>
          <p:nvPr/>
        </p:nvSpPr>
        <p:spPr>
          <a:xfrm>
            <a:off x="3200400" y="5962650"/>
            <a:ext cx="4686300" cy="9525"/>
          </a:xfrm>
          <a:prstGeom prst="rect">
            <a:avLst/>
          </a:prstGeom>
          <a:solidFill>
            <a:srgbClr val="2A2F3A"/>
          </a:solidFill>
          <a:ln/>
        </p:spPr>
      </p:sp>
      <p:sp>
        <p:nvSpPr>
          <p:cNvPr id="34" name="Text 32"/>
          <p:cNvSpPr/>
          <p:nvPr/>
        </p:nvSpPr>
        <p:spPr>
          <a:xfrm>
            <a:off x="3352800" y="5591175"/>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35" name="Shape 33"/>
          <p:cNvSpPr/>
          <p:nvPr/>
        </p:nvSpPr>
        <p:spPr>
          <a:xfrm>
            <a:off x="7886700" y="5486400"/>
            <a:ext cx="9601200" cy="485775"/>
          </a:xfrm>
          <a:prstGeom prst="rect">
            <a:avLst/>
          </a:prstGeom>
          <a:solidFill>
            <a:srgbClr val="FFFFFF">
              <a:alpha val="2000"/>
            </a:srgbClr>
          </a:solidFill>
          <a:ln/>
        </p:spPr>
      </p:sp>
      <p:sp>
        <p:nvSpPr>
          <p:cNvPr id="36" name="Shape 34"/>
          <p:cNvSpPr/>
          <p:nvPr/>
        </p:nvSpPr>
        <p:spPr>
          <a:xfrm>
            <a:off x="7886700" y="5962650"/>
            <a:ext cx="9601200" cy="9525"/>
          </a:xfrm>
          <a:prstGeom prst="rect">
            <a:avLst/>
          </a:prstGeom>
          <a:solidFill>
            <a:srgbClr val="2A2F3A"/>
          </a:solidFill>
          <a:ln/>
        </p:spPr>
      </p:sp>
      <p:sp>
        <p:nvSpPr>
          <p:cNvPr id="37" name="Text 35"/>
          <p:cNvSpPr/>
          <p:nvPr/>
        </p:nvSpPr>
        <p:spPr>
          <a:xfrm>
            <a:off x="8039100" y="5591175"/>
            <a:ext cx="95844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SQL operator combining two result sets, abused to append attacker data</a:t>
            </a:r>
            <a:endParaRPr lang="en-US" sz="1800" dirty="0"/>
          </a:p>
        </p:txBody>
      </p:sp>
      <p:sp>
        <p:nvSpPr>
          <p:cNvPr id="38" name="Shape 36"/>
          <p:cNvSpPr/>
          <p:nvPr/>
        </p:nvSpPr>
        <p:spPr>
          <a:xfrm>
            <a:off x="800100" y="6448425"/>
            <a:ext cx="2400300" cy="9525"/>
          </a:xfrm>
          <a:prstGeom prst="rect">
            <a:avLst/>
          </a:prstGeom>
          <a:solidFill>
            <a:srgbClr val="2A2F3A"/>
          </a:solidFill>
          <a:ln/>
        </p:spPr>
      </p:sp>
      <p:sp>
        <p:nvSpPr>
          <p:cNvPr id="39" name="Text 37"/>
          <p:cNvSpPr/>
          <p:nvPr/>
        </p:nvSpPr>
        <p:spPr>
          <a:xfrm>
            <a:off x="952500" y="6076950"/>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MSSQL</a:t>
            </a:r>
            <a:endParaRPr lang="en-US" sz="1800" dirty="0"/>
          </a:p>
        </p:txBody>
      </p:sp>
      <p:sp>
        <p:nvSpPr>
          <p:cNvPr id="40" name="Shape 38"/>
          <p:cNvSpPr/>
          <p:nvPr/>
        </p:nvSpPr>
        <p:spPr>
          <a:xfrm>
            <a:off x="3200400" y="6448425"/>
            <a:ext cx="4686300" cy="9525"/>
          </a:xfrm>
          <a:prstGeom prst="rect">
            <a:avLst/>
          </a:prstGeom>
          <a:solidFill>
            <a:srgbClr val="2A2F3A"/>
          </a:solidFill>
          <a:ln/>
        </p:spPr>
      </p:sp>
      <p:sp>
        <p:nvSpPr>
          <p:cNvPr id="41" name="Text 39"/>
          <p:cNvSpPr/>
          <p:nvPr/>
        </p:nvSpPr>
        <p:spPr>
          <a:xfrm>
            <a:off x="3352800" y="6076950"/>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Microsoft SQL Server</a:t>
            </a:r>
            <a:endParaRPr lang="en-US" sz="1800" dirty="0"/>
          </a:p>
        </p:txBody>
      </p:sp>
      <p:sp>
        <p:nvSpPr>
          <p:cNvPr id="42" name="Shape 40"/>
          <p:cNvSpPr/>
          <p:nvPr/>
        </p:nvSpPr>
        <p:spPr>
          <a:xfrm>
            <a:off x="7886700" y="6448425"/>
            <a:ext cx="9601200" cy="9525"/>
          </a:xfrm>
          <a:prstGeom prst="rect">
            <a:avLst/>
          </a:prstGeom>
          <a:solidFill>
            <a:srgbClr val="2A2F3A"/>
          </a:solidFill>
          <a:ln/>
        </p:spPr>
      </p:sp>
      <p:sp>
        <p:nvSpPr>
          <p:cNvPr id="43" name="Text 41"/>
          <p:cNvSpPr/>
          <p:nvPr/>
        </p:nvSpPr>
        <p:spPr>
          <a:xfrm>
            <a:off x="8039100" y="6076950"/>
            <a:ext cx="95844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engine named for xp_cmdshell exploitation</a:t>
            </a:r>
            <a:endParaRPr lang="en-US" sz="1800" dirty="0"/>
          </a:p>
        </p:txBody>
      </p:sp>
      <p:sp>
        <p:nvSpPr>
          <p:cNvPr id="44" name="Shape 42"/>
          <p:cNvSpPr/>
          <p:nvPr/>
        </p:nvSpPr>
        <p:spPr>
          <a:xfrm>
            <a:off x="800100" y="6457950"/>
            <a:ext cx="2400300" cy="485775"/>
          </a:xfrm>
          <a:prstGeom prst="rect">
            <a:avLst/>
          </a:prstGeom>
          <a:solidFill>
            <a:srgbClr val="FFFFFF">
              <a:alpha val="2000"/>
            </a:srgbClr>
          </a:solidFill>
          <a:ln/>
        </p:spPr>
      </p:sp>
      <p:sp>
        <p:nvSpPr>
          <p:cNvPr id="45" name="Shape 43"/>
          <p:cNvSpPr/>
          <p:nvPr/>
        </p:nvSpPr>
        <p:spPr>
          <a:xfrm>
            <a:off x="800100" y="6934200"/>
            <a:ext cx="2400300" cy="9525"/>
          </a:xfrm>
          <a:prstGeom prst="rect">
            <a:avLst/>
          </a:prstGeom>
          <a:solidFill>
            <a:srgbClr val="2A2F3A"/>
          </a:solidFill>
          <a:ln/>
        </p:spPr>
      </p:sp>
      <p:sp>
        <p:nvSpPr>
          <p:cNvPr id="46" name="Text 44"/>
          <p:cNvSpPr/>
          <p:nvPr/>
        </p:nvSpPr>
        <p:spPr>
          <a:xfrm>
            <a:off x="952500" y="6562725"/>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xp_cmdshell</a:t>
            </a:r>
            <a:endParaRPr lang="en-US" sz="1800" dirty="0"/>
          </a:p>
        </p:txBody>
      </p:sp>
      <p:sp>
        <p:nvSpPr>
          <p:cNvPr id="47" name="Shape 45"/>
          <p:cNvSpPr/>
          <p:nvPr/>
        </p:nvSpPr>
        <p:spPr>
          <a:xfrm>
            <a:off x="3200400" y="6457950"/>
            <a:ext cx="4686300" cy="485775"/>
          </a:xfrm>
          <a:prstGeom prst="rect">
            <a:avLst/>
          </a:prstGeom>
          <a:solidFill>
            <a:srgbClr val="FFFFFF">
              <a:alpha val="2000"/>
            </a:srgbClr>
          </a:solidFill>
          <a:ln/>
        </p:spPr>
      </p:sp>
      <p:sp>
        <p:nvSpPr>
          <p:cNvPr id="48" name="Shape 46"/>
          <p:cNvSpPr/>
          <p:nvPr/>
        </p:nvSpPr>
        <p:spPr>
          <a:xfrm>
            <a:off x="3200400" y="6934200"/>
            <a:ext cx="4686300" cy="9525"/>
          </a:xfrm>
          <a:prstGeom prst="rect">
            <a:avLst/>
          </a:prstGeom>
          <a:solidFill>
            <a:srgbClr val="2A2F3A"/>
          </a:solidFill>
          <a:ln/>
        </p:spPr>
      </p:sp>
      <p:sp>
        <p:nvSpPr>
          <p:cNvPr id="49" name="Text 47"/>
          <p:cNvSpPr/>
          <p:nvPr/>
        </p:nvSpPr>
        <p:spPr>
          <a:xfrm>
            <a:off x="3352800" y="6562725"/>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50" name="Shape 48"/>
          <p:cNvSpPr/>
          <p:nvPr/>
        </p:nvSpPr>
        <p:spPr>
          <a:xfrm>
            <a:off x="7886700" y="6457950"/>
            <a:ext cx="9601200" cy="485775"/>
          </a:xfrm>
          <a:prstGeom prst="rect">
            <a:avLst/>
          </a:prstGeom>
          <a:solidFill>
            <a:srgbClr val="FFFFFF">
              <a:alpha val="2000"/>
            </a:srgbClr>
          </a:solidFill>
          <a:ln/>
        </p:spPr>
      </p:sp>
      <p:sp>
        <p:nvSpPr>
          <p:cNvPr id="51" name="Shape 49"/>
          <p:cNvSpPr/>
          <p:nvPr/>
        </p:nvSpPr>
        <p:spPr>
          <a:xfrm>
            <a:off x="7886700" y="6934200"/>
            <a:ext cx="9601200" cy="9525"/>
          </a:xfrm>
          <a:prstGeom prst="rect">
            <a:avLst/>
          </a:prstGeom>
          <a:solidFill>
            <a:srgbClr val="2A2F3A"/>
          </a:solidFill>
          <a:ln/>
        </p:spPr>
      </p:sp>
      <p:sp>
        <p:nvSpPr>
          <p:cNvPr id="52" name="Text 50"/>
          <p:cNvSpPr/>
          <p:nvPr/>
        </p:nvSpPr>
        <p:spPr>
          <a:xfrm>
            <a:off x="8039100" y="6562725"/>
            <a:ext cx="95844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An MSSQL extended procedure executing operating system commands</a:t>
            </a:r>
            <a:endParaRPr lang="en-US" sz="1800" dirty="0"/>
          </a:p>
        </p:txBody>
      </p:sp>
      <p:sp>
        <p:nvSpPr>
          <p:cNvPr id="53" name="Shape 51"/>
          <p:cNvSpPr/>
          <p:nvPr/>
        </p:nvSpPr>
        <p:spPr>
          <a:xfrm>
            <a:off x="800100" y="7419975"/>
            <a:ext cx="2400300" cy="9525"/>
          </a:xfrm>
          <a:prstGeom prst="rect">
            <a:avLst/>
          </a:prstGeom>
          <a:solidFill>
            <a:srgbClr val="2A2F3A"/>
          </a:solidFill>
          <a:ln/>
        </p:spPr>
      </p:sp>
      <p:sp>
        <p:nvSpPr>
          <p:cNvPr id="54" name="Text 52"/>
          <p:cNvSpPr/>
          <p:nvPr/>
        </p:nvSpPr>
        <p:spPr>
          <a:xfrm>
            <a:off x="952500" y="7048500"/>
            <a:ext cx="21717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SQLmap</a:t>
            </a:r>
            <a:endParaRPr lang="en-US" sz="1800" dirty="0"/>
          </a:p>
        </p:txBody>
      </p:sp>
      <p:sp>
        <p:nvSpPr>
          <p:cNvPr id="55" name="Shape 53"/>
          <p:cNvSpPr/>
          <p:nvPr/>
        </p:nvSpPr>
        <p:spPr>
          <a:xfrm>
            <a:off x="3200400" y="7419975"/>
            <a:ext cx="4686300" cy="9525"/>
          </a:xfrm>
          <a:prstGeom prst="rect">
            <a:avLst/>
          </a:prstGeom>
          <a:solidFill>
            <a:srgbClr val="2A2F3A"/>
          </a:solidFill>
          <a:ln/>
        </p:spPr>
      </p:sp>
      <p:sp>
        <p:nvSpPr>
          <p:cNvPr id="56" name="Text 54"/>
          <p:cNvSpPr/>
          <p:nvPr/>
        </p:nvSpPr>
        <p:spPr>
          <a:xfrm>
            <a:off x="3352800" y="7048500"/>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57" name="Shape 55"/>
          <p:cNvSpPr/>
          <p:nvPr/>
        </p:nvSpPr>
        <p:spPr>
          <a:xfrm>
            <a:off x="7886700" y="7419975"/>
            <a:ext cx="9601200" cy="9525"/>
          </a:xfrm>
          <a:prstGeom prst="rect">
            <a:avLst/>
          </a:prstGeom>
          <a:solidFill>
            <a:srgbClr val="2A2F3A"/>
          </a:solidFill>
          <a:ln/>
        </p:spPr>
      </p:sp>
      <p:sp>
        <p:nvSpPr>
          <p:cNvPr id="58" name="Text 56"/>
          <p:cNvSpPr/>
          <p:nvPr/>
        </p:nvSpPr>
        <p:spPr>
          <a:xfrm>
            <a:off x="8039100" y="7048500"/>
            <a:ext cx="95844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named tool automating SQL injection detection and exploitation</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15979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COMMON MISCONCEPTIONS</a:t>
            </a:r>
            <a:endParaRPr lang="en-US" sz="1650" dirty="0"/>
          </a:p>
        </p:txBody>
      </p:sp>
      <p:sp>
        <p:nvSpPr>
          <p:cNvPr id="4" name="Text 2"/>
          <p:cNvSpPr/>
          <p:nvPr/>
        </p:nvSpPr>
        <p:spPr>
          <a:xfrm>
            <a:off x="800100" y="265509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learners get wrong about Module 9</a:t>
            </a:r>
            <a:endParaRPr lang="en-US" sz="3000" dirty="0"/>
          </a:p>
        </p:txBody>
      </p:sp>
      <p:sp>
        <p:nvSpPr>
          <p:cNvPr id="5" name="Shape 3"/>
          <p:cNvSpPr/>
          <p:nvPr/>
        </p:nvSpPr>
        <p:spPr>
          <a:xfrm>
            <a:off x="800100"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“NO VISIBLE ERROR MEANS NO INJECTION”</a:t>
            </a:r>
            <a:endParaRPr lang="en-US" sz="1500" dirty="0"/>
          </a:p>
        </p:txBody>
      </p:sp>
      <p:sp>
        <p:nvSpPr>
          <p:cNvPr id="7" name="Text 5"/>
          <p:cNvSpPr/>
          <p:nvPr/>
        </p:nvSpPr>
        <p:spPr>
          <a:xfrm>
            <a:off x="1038225"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means the error and UNION channels may be closed. Blind techniques exist precisely for this case.</a:t>
            </a:r>
            <a:endParaRPr lang="en-US" sz="1875" dirty="0"/>
          </a:p>
        </p:txBody>
      </p:sp>
      <p:sp>
        <p:nvSpPr>
          <p:cNvPr id="8" name="Shape 6"/>
          <p:cNvSpPr/>
          <p:nvPr/>
        </p:nvSpPr>
        <p:spPr>
          <a:xfrm>
            <a:off x="9248775"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“SQLMAP REPLACES THE NEED TO UNDERSTAND SQLI”</a:t>
            </a:r>
            <a:endParaRPr lang="en-US" sz="1500" dirty="0"/>
          </a:p>
        </p:txBody>
      </p:sp>
      <p:sp>
        <p:nvSpPr>
          <p:cNvPr id="10" name="Text 8"/>
          <p:cNvSpPr/>
          <p:nvPr/>
        </p:nvSpPr>
        <p:spPr>
          <a:xfrm>
            <a:off x="9486900"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SQLmap automates identification and exploitation of vulnerabilities a tester must still be able to recognise, tune for, and verify.</a:t>
            </a:r>
            <a:endParaRPr lang="en-US" sz="1875" dirty="0"/>
          </a:p>
        </p:txBody>
      </p:sp>
      <p:sp>
        <p:nvSpPr>
          <p:cNvPr id="11" name="Shape 9"/>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“XP_CMDSHELL IS ALWAYS AVAILABLE ON MSSQL”</a:t>
            </a:r>
            <a:endParaRPr lang="en-US" sz="1500" dirty="0"/>
          </a:p>
        </p:txBody>
      </p:sp>
      <p:sp>
        <p:nvSpPr>
          <p:cNvPr id="13" name="Text 11"/>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is disabled by default on modern installations and re-enabling it typically needs elevated privilege.</a:t>
            </a:r>
            <a:endParaRPr lang="en-US" sz="1875" dirty="0"/>
          </a:p>
        </p:txBody>
      </p:sp>
      <p:sp>
        <p:nvSpPr>
          <p:cNvPr id="14" name="Shape 12"/>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5" name="Text 13"/>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“ONE PAYLOAD WORKS ON EVERY DATABASE ENGINE”</a:t>
            </a:r>
            <a:endParaRPr lang="en-US" sz="1500" dirty="0"/>
          </a:p>
        </p:txBody>
      </p:sp>
      <p:sp>
        <p:nvSpPr>
          <p:cNvPr id="16" name="Text 14"/>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Comment syntax, concatenation and available procedures all differ. Fingerprint the engine first.</a:t>
            </a:r>
            <a:endParaRPr lang="en-US" sz="1875" dirty="0"/>
          </a:p>
        </p:txBody>
      </p:sp>
      <p:sp>
        <p:nvSpPr>
          <p:cNvPr id="17" name="Shape 15"/>
          <p:cNvSpPr/>
          <p:nvPr/>
        </p:nvSpPr>
        <p:spPr>
          <a:xfrm>
            <a:off x="800100"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18" name="Text 16"/>
          <p:cNvSpPr/>
          <p:nvPr/>
        </p:nvSpPr>
        <p:spPr>
          <a:xfrm>
            <a:off x="1038225"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“TIME-BASED BLIND INJECTION IS UNRELIABLE GUESSING”</a:t>
            </a:r>
            <a:endParaRPr lang="en-US" sz="1500" dirty="0"/>
          </a:p>
        </p:txBody>
      </p:sp>
      <p:sp>
        <p:nvSpPr>
          <p:cNvPr id="19" name="Text 17"/>
          <p:cNvSpPr/>
          <p:nvPr/>
        </p:nvSpPr>
        <p:spPr>
          <a:xfrm>
            <a:off x="1038225"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is slower than other techniques, but a legitimate, systematic method of extracting data bit by bit through response timing.</a:t>
            </a:r>
            <a:endParaRPr lang="en-US" sz="1875" dirty="0"/>
          </a:p>
        </p:txBody>
      </p:sp>
      <p:sp>
        <p:nvSpPr>
          <p:cNvPr id="20" name="Shape 18"/>
          <p:cNvSpPr/>
          <p:nvPr/>
        </p:nvSpPr>
        <p:spPr>
          <a:xfrm>
            <a:off x="9248775"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21" name="Text 19"/>
          <p:cNvSpPr/>
          <p:nvPr/>
        </p:nvSpPr>
        <p:spPr>
          <a:xfrm>
            <a:off x="9486900"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“INJECTION IS ONLY A LOGIN-FORM PROBLEM”</a:t>
            </a:r>
            <a:endParaRPr lang="en-US" sz="1500" dirty="0"/>
          </a:p>
        </p:txBody>
      </p:sp>
      <p:sp>
        <p:nvSpPr>
          <p:cNvPr id="22" name="Text 20"/>
          <p:cNvSpPr/>
          <p:nvPr/>
        </p:nvSpPr>
        <p:spPr>
          <a:xfrm>
            <a:off x="9486900"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Any parameter reaching a query is a candidate, including headers, cookies, and sorting or pagination fields.</a:t>
            </a:r>
            <a:endParaRPr lang="en-US" sz="18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537914" y="3273326"/>
            <a:ext cx="3212172"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MODULE 9 IN CONTEXT</a:t>
            </a:r>
            <a:endParaRPr lang="en-US" sz="1650" dirty="0"/>
          </a:p>
        </p:txBody>
      </p:sp>
      <p:sp>
        <p:nvSpPr>
          <p:cNvPr id="4" name="Text 2"/>
          <p:cNvSpPr/>
          <p:nvPr/>
        </p:nvSpPr>
        <p:spPr>
          <a:xfrm>
            <a:off x="8626004" y="3749576"/>
            <a:ext cx="1035993"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spc="-300" kern="0" dirty="0">
                <a:solidFill>
                  <a:srgbClr val="FF6A00"/>
                </a:solidFill>
                <a:latin typeface="Arial" pitchFamily="34" charset="0"/>
                <a:ea typeface="Arial" pitchFamily="34" charset="-122"/>
                <a:cs typeface="Arial" pitchFamily="34" charset="-120"/>
              </a:rPr>
              <a:t>3</a:t>
            </a:r>
            <a:endParaRPr lang="en-US" sz="12000" dirty="0"/>
          </a:p>
        </p:txBody>
      </p:sp>
      <p:sp>
        <p:nvSpPr>
          <p:cNvPr id="5" name="Text 3"/>
          <p:cNvSpPr/>
          <p:nvPr/>
        </p:nvSpPr>
        <p:spPr>
          <a:xfrm>
            <a:off x="3540096" y="5502176"/>
            <a:ext cx="11207733" cy="520005"/>
          </a:xfrm>
          <a:prstGeom prst="rect">
            <a:avLst/>
          </a:prstGeom>
          <a:noFill/>
          <a:ln/>
        </p:spPr>
        <p:txBody>
          <a:bodyPr wrap="square" lIns="25400" tIns="25400" rIns="25400" bIns="25400" rtlCol="0" anchor="t">
            <a:normAutofit/>
          </a:bodyPr>
          <a:lstStyle/>
          <a:p>
            <a:pPr algn="ctr" indent="0" marL="0">
              <a:lnSpc>
                <a:spcPct val="96381"/>
              </a:lnSpc>
              <a:buNone/>
            </a:pPr>
            <a:r>
              <a:rPr lang="en-US" sz="3450" b="1" dirty="0">
                <a:solidFill>
                  <a:srgbClr val="F5F7FB"/>
                </a:solidFill>
                <a:latin typeface="Arial" pitchFamily="34" charset="0"/>
                <a:ea typeface="Arial" pitchFamily="34" charset="-122"/>
                <a:cs typeface="Arial" pitchFamily="34" charset="-120"/>
              </a:rPr>
              <a:t>Learning Units closing the web application track</a:t>
            </a:r>
            <a:endParaRPr lang="en-US" sz="3450" dirty="0"/>
          </a:p>
        </p:txBody>
      </p:sp>
      <p:sp>
        <p:nvSpPr>
          <p:cNvPr id="6" name="Text 4"/>
          <p:cNvSpPr/>
          <p:nvPr/>
        </p:nvSpPr>
        <p:spPr>
          <a:xfrm>
            <a:off x="3257550" y="6212681"/>
            <a:ext cx="11772900" cy="839093"/>
          </a:xfrm>
          <a:prstGeom prst="rect">
            <a:avLst/>
          </a:prstGeom>
          <a:noFill/>
          <a:ln/>
        </p:spPr>
        <p:txBody>
          <a:bodyPr wrap="square" lIns="25400" tIns="25400" rIns="25400" bIns="25400" rtlCol="0" anchor="t">
            <a:normAutofit/>
          </a:bodyPr>
          <a:lstStyle/>
          <a:p>
            <a:pPr algn="ctr" indent="0" marL="0">
              <a:lnSpc>
                <a:spcPct val="125522"/>
              </a:lnSpc>
              <a:buNone/>
            </a:pPr>
            <a:r>
              <a:rPr lang="en-US" sz="2175" dirty="0">
                <a:solidFill>
                  <a:srgbClr val="B8C0CF"/>
                </a:solidFill>
                <a:latin typeface="Arial" pitchFamily="34" charset="0"/>
                <a:ea typeface="Arial" pitchFamily="34" charset="-122"/>
                <a:cs typeface="Arial" pitchFamily="34" charset="-120"/>
              </a:rPr>
              <a:t>SQL theory, three manual exploitation techniques, and manual plus automated code execution. Percentage weightings per module: information not defined in the official exam outline.</a:t>
            </a:r>
            <a:endParaRPr lang="en-US" sz="21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27647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KNOWLEDGE CHECK</a:t>
            </a:r>
            <a:endParaRPr lang="en-US" sz="1650" dirty="0"/>
          </a:p>
        </p:txBody>
      </p:sp>
      <p:sp>
        <p:nvSpPr>
          <p:cNvPr id="4" name="Text 2"/>
          <p:cNvSpPr/>
          <p:nvPr/>
        </p:nvSpPr>
        <p:spPr>
          <a:xfrm>
            <a:off x="800100" y="2771775"/>
            <a:ext cx="17188434" cy="12954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 parameter shows no error and no visible change on true or false conditions, but the response takes noticeably longer when a conditional sleep is injected. Which technique confirmed this?</a:t>
            </a:r>
            <a:endParaRPr lang="en-US" sz="3000" dirty="0"/>
          </a:p>
        </p:txBody>
      </p:sp>
      <p:sp>
        <p:nvSpPr>
          <p:cNvPr id="5" name="Shape 3"/>
          <p:cNvSpPr/>
          <p:nvPr/>
        </p:nvSpPr>
        <p:spPr>
          <a:xfrm>
            <a:off x="800100" y="4352925"/>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53390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54342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A</a:t>
            </a:r>
            <a:endParaRPr lang="en-US" sz="1650" dirty="0"/>
          </a:p>
        </p:txBody>
      </p:sp>
      <p:sp>
        <p:nvSpPr>
          <p:cNvPr id="8" name="Text 6"/>
          <p:cNvSpPr/>
          <p:nvPr/>
        </p:nvSpPr>
        <p:spPr>
          <a:xfrm>
            <a:off x="1952625" y="4607719"/>
            <a:ext cx="2741340"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UNION-based injection</a:t>
            </a:r>
            <a:endParaRPr lang="en-US" sz="1950" dirty="0"/>
          </a:p>
        </p:txBody>
      </p:sp>
      <p:sp>
        <p:nvSpPr>
          <p:cNvPr id="9" name="Shape 7"/>
          <p:cNvSpPr/>
          <p:nvPr/>
        </p:nvSpPr>
        <p:spPr>
          <a:xfrm>
            <a:off x="800100" y="5305425"/>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48640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49592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B</a:t>
            </a:r>
            <a:endParaRPr lang="en-US" sz="1650" dirty="0"/>
          </a:p>
        </p:txBody>
      </p:sp>
      <p:sp>
        <p:nvSpPr>
          <p:cNvPr id="12" name="Text 10"/>
          <p:cNvSpPr/>
          <p:nvPr/>
        </p:nvSpPr>
        <p:spPr>
          <a:xfrm>
            <a:off x="1952625" y="5560219"/>
            <a:ext cx="2448052"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Error-based injection</a:t>
            </a:r>
            <a:endParaRPr lang="en-US" sz="1950" dirty="0"/>
          </a:p>
        </p:txBody>
      </p:sp>
      <p:sp>
        <p:nvSpPr>
          <p:cNvPr id="13" name="Shape 11"/>
          <p:cNvSpPr/>
          <p:nvPr/>
        </p:nvSpPr>
        <p:spPr>
          <a:xfrm>
            <a:off x="800100" y="6257925"/>
            <a:ext cx="16687800" cy="800100"/>
          </a:xfrm>
          <a:prstGeom prst="roundRect">
            <a:avLst>
              <a:gd name="adj" fmla="val 16667"/>
            </a:avLst>
          </a:prstGeom>
          <a:solidFill>
            <a:srgbClr val="FF6A00">
              <a:alpha val="10000"/>
            </a:srgbClr>
          </a:solidFill>
          <a:ln w="9525">
            <a:solidFill>
              <a:srgbClr val="B85100"/>
            </a:solidFill>
            <a:prstDash val="solid"/>
          </a:ln>
        </p:spPr>
      </p:sp>
      <p:sp>
        <p:nvSpPr>
          <p:cNvPr id="14" name="Shape 12"/>
          <p:cNvSpPr/>
          <p:nvPr/>
        </p:nvSpPr>
        <p:spPr>
          <a:xfrm>
            <a:off x="1038225" y="643890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44842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C</a:t>
            </a:r>
            <a:endParaRPr lang="en-US" sz="1650" dirty="0"/>
          </a:p>
        </p:txBody>
      </p:sp>
      <p:sp>
        <p:nvSpPr>
          <p:cNvPr id="16" name="Text 14"/>
          <p:cNvSpPr/>
          <p:nvPr/>
        </p:nvSpPr>
        <p:spPr>
          <a:xfrm>
            <a:off x="1952625" y="6512719"/>
            <a:ext cx="312327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Time-based Blind injection</a:t>
            </a:r>
            <a:endParaRPr lang="en-US" sz="1950" dirty="0"/>
          </a:p>
        </p:txBody>
      </p:sp>
      <p:sp>
        <p:nvSpPr>
          <p:cNvPr id="17" name="Shape 15"/>
          <p:cNvSpPr/>
          <p:nvPr/>
        </p:nvSpPr>
        <p:spPr>
          <a:xfrm>
            <a:off x="800100" y="7210425"/>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739140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740092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D</a:t>
            </a:r>
            <a:endParaRPr lang="en-US" sz="1650" dirty="0"/>
          </a:p>
        </p:txBody>
      </p:sp>
      <p:sp>
        <p:nvSpPr>
          <p:cNvPr id="20" name="Text 18"/>
          <p:cNvSpPr/>
          <p:nvPr/>
        </p:nvSpPr>
        <p:spPr>
          <a:xfrm>
            <a:off x="1952625" y="7465219"/>
            <a:ext cx="349694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Boolean-based Blind injection</a:t>
            </a:r>
            <a:endParaRPr lang="en-US" sz="1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68560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SUMMARY</a:t>
            </a:r>
            <a:endParaRPr lang="en-US" sz="1650" dirty="0"/>
          </a:p>
        </p:txBody>
      </p:sp>
      <p:sp>
        <p:nvSpPr>
          <p:cNvPr id="4" name="Text 2"/>
          <p:cNvSpPr/>
          <p:nvPr/>
        </p:nvSpPr>
        <p:spPr>
          <a:xfrm>
            <a:off x="800100" y="318090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9 in three lines</a:t>
            </a:r>
            <a:endParaRPr lang="en-US" sz="3000" dirty="0"/>
          </a:p>
        </p:txBody>
      </p:sp>
      <p:sp>
        <p:nvSpPr>
          <p:cNvPr id="5" name="Shape 3"/>
          <p:cNvSpPr/>
          <p:nvPr/>
        </p:nvSpPr>
        <p:spPr>
          <a:xfrm>
            <a:off x="800100" y="3847654"/>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028629"/>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038154"/>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9.1</a:t>
            </a:r>
            <a:endParaRPr lang="en-US" sz="1650" dirty="0"/>
          </a:p>
        </p:txBody>
      </p:sp>
      <p:sp>
        <p:nvSpPr>
          <p:cNvPr id="8" name="Text 6"/>
          <p:cNvSpPr/>
          <p:nvPr/>
        </p:nvSpPr>
        <p:spPr>
          <a:xfrm>
            <a:off x="1952625" y="4102447"/>
            <a:ext cx="932669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SQL fundamentals, database types, and the syntax differences between engines</a:t>
            </a:r>
            <a:endParaRPr lang="en-US" sz="1950" dirty="0"/>
          </a:p>
        </p:txBody>
      </p:sp>
      <p:sp>
        <p:nvSpPr>
          <p:cNvPr id="9" name="Shape 7"/>
          <p:cNvSpPr/>
          <p:nvPr/>
        </p:nvSpPr>
        <p:spPr>
          <a:xfrm>
            <a:off x="800100" y="4800154"/>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4981129"/>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4990654"/>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9.2</a:t>
            </a:r>
            <a:endParaRPr lang="en-US" sz="1650" dirty="0"/>
          </a:p>
        </p:txBody>
      </p:sp>
      <p:sp>
        <p:nvSpPr>
          <p:cNvPr id="12" name="Text 10"/>
          <p:cNvSpPr/>
          <p:nvPr/>
        </p:nvSpPr>
        <p:spPr>
          <a:xfrm>
            <a:off x="1952625" y="5054947"/>
            <a:ext cx="10365276"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Manual identification, then UNION, Error-based, and Blind (boolean and time) exploitation</a:t>
            </a:r>
            <a:endParaRPr lang="en-US" sz="1950" dirty="0"/>
          </a:p>
        </p:txBody>
      </p:sp>
      <p:sp>
        <p:nvSpPr>
          <p:cNvPr id="13" name="Shape 11"/>
          <p:cNvSpPr/>
          <p:nvPr/>
        </p:nvSpPr>
        <p:spPr>
          <a:xfrm>
            <a:off x="800100" y="5752654"/>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5933629"/>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5943154"/>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9.3</a:t>
            </a:r>
            <a:endParaRPr lang="en-US" sz="1650" dirty="0"/>
          </a:p>
        </p:txBody>
      </p:sp>
      <p:sp>
        <p:nvSpPr>
          <p:cNvPr id="16" name="Text 14"/>
          <p:cNvSpPr/>
          <p:nvPr/>
        </p:nvSpPr>
        <p:spPr>
          <a:xfrm>
            <a:off x="1952625" y="6007447"/>
            <a:ext cx="902235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xp_cmdshell for code execution on MSSQL, and SQLmap for automated scale</a:t>
            </a:r>
            <a:endParaRPr lang="en-US" sz="1950" dirty="0"/>
          </a:p>
        </p:txBody>
      </p:sp>
      <p:sp>
        <p:nvSpPr>
          <p:cNvPr id="17" name="Text 15"/>
          <p:cNvSpPr/>
          <p:nvPr/>
        </p:nvSpPr>
        <p:spPr>
          <a:xfrm>
            <a:off x="800100" y="68004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This closes the three-module web application track that began at Module 7. Module 10 shifts the target from the server to the person.</a:t>
            </a:r>
            <a:endParaRPr lang="en-US" sz="21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NEXT STEPS</a:t>
            </a:r>
            <a:endParaRPr lang="en-US" sz="1650" dirty="0"/>
          </a:p>
        </p:txBody>
      </p:sp>
      <p:sp>
        <p:nvSpPr>
          <p:cNvPr id="4" name="Text 2"/>
          <p:cNvSpPr/>
          <p:nvPr/>
        </p:nvSpPr>
        <p:spPr>
          <a:xfrm>
            <a:off x="800100" y="1143000"/>
            <a:ext cx="18356580" cy="738188"/>
          </a:xfrm>
          <a:prstGeom prst="rect">
            <a:avLst/>
          </a:prstGeom>
          <a:noFill/>
          <a:ln/>
        </p:spPr>
        <p:txBody>
          <a:bodyPr wrap="square" lIns="25400" tIns="25400" rIns="25400" bIns="25400" rtlCol="0" anchor="t">
            <a:normAutofit/>
          </a:bodyPr>
          <a:lstStyle/>
          <a:p>
            <a:pPr algn="l" indent="0" marL="0">
              <a:lnSpc>
                <a:spcPct val="90741"/>
              </a:lnSpc>
              <a:buNone/>
            </a:pPr>
            <a:r>
              <a:rPr lang="en-US" sz="5250" b="1" spc="-37" kern="0" dirty="0">
                <a:solidFill>
                  <a:srgbClr val="F5F7FB"/>
                </a:solidFill>
                <a:latin typeface="Arial" pitchFamily="34" charset="0"/>
                <a:ea typeface="Arial" pitchFamily="34" charset="-122"/>
                <a:cs typeface="Arial" pitchFamily="34" charset="-120"/>
              </a:rPr>
              <a:t>Module 10: Client-Side Attacks</a:t>
            </a:r>
            <a:endParaRPr lang="en-US" sz="5250" dirty="0"/>
          </a:p>
        </p:txBody>
      </p:sp>
      <p:sp>
        <p:nvSpPr>
          <p:cNvPr id="5" name="Shape 3"/>
          <p:cNvSpPr/>
          <p:nvPr/>
        </p:nvSpPr>
        <p:spPr>
          <a:xfrm>
            <a:off x="800100" y="2128838"/>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COMING NEXT</a:t>
            </a:r>
            <a:endParaRPr lang="en-US" sz="1500" dirty="0"/>
          </a:p>
        </p:txBody>
      </p:sp>
      <p:sp>
        <p:nvSpPr>
          <p:cNvPr id="7" name="Text 5"/>
          <p:cNvSpPr/>
          <p:nvPr/>
        </p:nvSpPr>
        <p:spPr>
          <a:xfrm>
            <a:off x="1038225"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Target reconnaissance and client fingerprinting, exploiting Microsoft Office, and abusing Windows library files.</a:t>
            </a:r>
            <a:endParaRPr lang="en-US" sz="1875" dirty="0"/>
          </a:p>
        </p:txBody>
      </p:sp>
      <p:sp>
        <p:nvSpPr>
          <p:cNvPr id="8" name="Shape 6"/>
          <p:cNvSpPr/>
          <p:nvPr/>
        </p:nvSpPr>
        <p:spPr>
          <a:xfrm>
            <a:off x="6426175" y="2128838"/>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BEFORE THEN</a:t>
            </a:r>
            <a:endParaRPr lang="en-US" sz="1500" dirty="0"/>
          </a:p>
        </p:txBody>
      </p:sp>
      <p:sp>
        <p:nvSpPr>
          <p:cNvPr id="10" name="Text 8"/>
          <p:cNvSpPr/>
          <p:nvPr/>
        </p:nvSpPr>
        <p:spPr>
          <a:xfrm>
            <a:off x="6664300"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Be able to name the symptom that indicates each of the four SQLi techniques from Objective 9.2 without notes.</a:t>
            </a:r>
            <a:endParaRPr lang="en-US" sz="1875" dirty="0"/>
          </a:p>
        </p:txBody>
      </p:sp>
      <p:sp>
        <p:nvSpPr>
          <p:cNvPr id="11" name="Shape 9"/>
          <p:cNvSpPr/>
          <p:nvPr/>
        </p:nvSpPr>
        <p:spPr>
          <a:xfrm>
            <a:off x="12052250" y="2128838"/>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236696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CARRY FORWARD</a:t>
            </a:r>
            <a:endParaRPr lang="en-US" sz="1500" dirty="0"/>
          </a:p>
        </p:txBody>
      </p:sp>
      <p:sp>
        <p:nvSpPr>
          <p:cNvPr id="13" name="Text 11"/>
          <p:cNvSpPr/>
          <p:nvPr/>
        </p:nvSpPr>
        <p:spPr>
          <a:xfrm>
            <a:off x="12290375" y="2686050"/>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manual-first discipline from Practical skill 3. Module 10 shifts the target, not the principle.</a:t>
            </a:r>
            <a:endParaRPr lang="en-US" sz="1875" dirty="0"/>
          </a:p>
        </p:txBody>
      </p:sp>
      <p:sp>
        <p:nvSpPr>
          <p:cNvPr id="14" name="Shape 12"/>
          <p:cNvSpPr/>
          <p:nvPr/>
        </p:nvSpPr>
        <p:spPr>
          <a:xfrm>
            <a:off x="800100" y="9210675"/>
            <a:ext cx="16687800" cy="9525"/>
          </a:xfrm>
          <a:prstGeom prst="rect">
            <a:avLst/>
          </a:prstGeom>
          <a:solidFill>
            <a:srgbClr val="2A2F3A"/>
          </a:solidFill>
          <a:ln/>
        </p:spPr>
      </p:sp>
      <p:sp>
        <p:nvSpPr>
          <p:cNvPr id="15" name="Text 13"/>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16" name="Text 14"/>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2026-08-01T09:56:01Z</dcterms:created>
  <dcterms:modified xsi:type="dcterms:W3CDTF">2026-08-01T09:56:01Z</dcterms:modified>
</cp:coreProperties>
</file>