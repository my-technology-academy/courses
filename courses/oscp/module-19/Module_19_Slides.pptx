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19. Placed deliberately late, after every manual technique it automates has already been taught. Four units: familiarisation, payloads, post-exploitation,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units. Each mirrors a manual technique already taught earlier in the course, now automated by one consistent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19 of 24. The last module before the Active Directory block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Metasploit is placed at position 19 deliberately, not by accident — after locating exploits, fixing them, evading AV, and pivoting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19.1. Three objectives on the framework itself before payloads or post-exploitation.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19.1, task 1. The framework's structure — modules organised by type, searched and selected consistently.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19.1, task 2. Auxiliary modules — scanning, enumeration and other non-exploitation capability inside the same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19.1, task 3. Exploit modules — the framework's core capability, direct successor to Module 11's manual exploit-finding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19.1 before payloads.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19.2. Three objectives on payloads specifically — what actually runs once an exploit succeeds.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19.2, task 1. A genuinely examinable distinction. Get the trade-off precisely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19.2, task 2. Meterpreter named explicitly — the framework's flagship advanced payload.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19.2, task 3. Creating executable payloads — the practical output that connects this unit to earlier delivery-mechanism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19.2 before post-exploitation.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19.3. Three objectives — core features, modules, and pivoting, extending the framework past initial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19.3, task 1. Core built-in features — the capability that ships with Meterpreter itself, before any additional module is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19.3, task 2. Modules extending beyond the built-in core features — automating specific escalation or credential-harvesting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19.3, task 3. Pivoting inside Metasploit — the framework's own answer to Module 17's reachability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19.3 before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19.4 — two objectives closing the module, on scripting repeatable actions inside the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19.4, task 1. Resource scripts — scripting the framework's own console commands for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19.4, task 2. Running resource scripts — the practical payoff, replaying a sequence without retyping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19.4, then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slide tying the whole module to earlier ones. This is the slide that makes clear why Metasploit arrives this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staged/non-staged reasoning and continued manual-verification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Verifying module output rather than trusting it automatically — the module's central, repeated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Choosing staged or non-staged deliberately based on connectivity constraints, not by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Turning a successful manual sequence into a resource script deliberately, once it is proven, not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'Metasploit replaces the earlier manual modules' one is the most damaging and the whole reason the module is placed at position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Four units, and the module positioned to arrive only after eighteen modules of manual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Four units in four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20 — the Active Directory block begins, and Metasploit's tooling will reappear throughout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19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0100" y="238504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familiar with Metasploit, using its payloads, performing post-exploitation, and automating it with resource scripts.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2458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1988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0047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1857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1952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259535"/>
            <a:ext cx="36852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Familiar with Metasploit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9572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1382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1477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212035"/>
            <a:ext cx="309258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Metasploit Payloads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9097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0907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1002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164535"/>
            <a:ext cx="51960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Post-Exploitation with Metasploit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68622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0432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0527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117035"/>
            <a:ext cx="26517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Metasploit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19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42329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49805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99335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framework arrives this late in the course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PLACEMENT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217319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Eighteen modules of manual technique come first. Metasploit automates pieces of locating exploits, payload delivery, and pivoting — all already understood by hand.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OF SKIPPING AHEAD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217319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who reaches for the framework before understanding what it automates cannot explain a finding, adapt when it fails, or recognise a false result.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660106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4898231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CONSISTENT INTERFACE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217319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units, each mirroring a manual skill from earlier modules, now delivered through one framework instead of four separate tools.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46977" y="4131915"/>
            <a:ext cx="21939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852016" y="4646265"/>
            <a:ext cx="125839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Familiar with Metasploit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163066" y="5713065"/>
            <a:ext cx="11961867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and navigate Metasploit, use auxiliary modules, and leverage exploit modules.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376041"/>
            <a:ext cx="299687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461766"/>
            <a:ext cx="272483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19.1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01897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and navigating Metasploit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368572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 organises its capability into modules of consistent types — searched, selected, and configured through the same workflow regardless of which specific module is in use.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4734371"/>
            <a:ext cx="16687800" cy="1133475"/>
          </a:xfrm>
          <a:prstGeom prst="roundRect">
            <a:avLst>
              <a:gd name="adj" fmla="val 10084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4915346"/>
            <a:ext cx="1675028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D9BF"/>
                </a:solidFill>
                <a:highlight>
                  <a:srgbClr val="A6A6A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msfconsole search type:exploit apache use exploit/multi/http/example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800100" y="6115496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353621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672709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this one consistent workflow makes every module type in the framework immediately navigable, rather than learning each module's interface separately.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115496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353621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672709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11's exploit resources — Metasploit is itself one of the exploit frameworks named there, now covered in full depth.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113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4982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19.1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auxiliary modules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Auxiliary modules provide capability beyond exploitation — scanning, enumeration and service interaction — inside the same consistent framework interface.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of the enumeration taught manually in Modules 5 and 6 has an auxiliary-module equivalent, now automatable through this one framework.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auxiliary modules as a replacement for the manual enumeration discipline built earlier, rather than an accelerant once that discipline exists.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2627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5510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19.1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exploit modules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modules package known vulnerabilities behind a consistent configuration interface, directly automating the manual workflow of finding, analysing and running a public exploit taught in Module 11.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same analysis discipline from Objective 11.1 still applies — a packaged exploit module still deserves understanding before it is run against a target.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12's exploit repair — a Metasploit exploit module can fail against a mismatched target just as a standalone exploit can.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Familiar with Metasploit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search, select and configure workflow across every module type in the framework.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MODULE TYPES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Auxiliary modules extend enumeration; exploit modules automate the manual workflow from Module 11.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7491" y="3870945"/>
            <a:ext cx="22330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384322" y="4385295"/>
            <a:ext cx="1151935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Metasploit Payloads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differences between staged and non-staged payloads, explore the Meterpreter payload, and create executable payloads.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999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894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19.2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versus non-staged payloads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non-staged payload contains its full functionality in one piece delivered at once. A staged payload delivers a small initial stage first, which then retrieves the remainder — trading initial size against a dependency on that second retrieval succeeding.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NON-STAGED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up front, but self-contained — nothing further needs to be retrieved once delivery succeeds.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initial delivery, useful where space is constrained, but depends on a second successful retrieval to become fully functional.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432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400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19.2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the Meterpreter payload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Meterpreter is an advanced payload running entirely in memory, offering a rich set of built-in post-exploitation capability beyond a simple command shell.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in-memory operation and extensible capability make it the payload most Metasploit post-exploitation content in Objective 19.3 is built around.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13's antivirus evasion — a well-known payload like Meterpreter is exactly the kind of threat signature-based detection is built to catch.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5938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8921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19.2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executable payloads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 can generate standalone executable payloads for delivery through mechanisms taught earlier in the course, rather than only through the framework's own exploit modules.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10's client-side delivery mechanisms and Module 13's evasion techniques — a generated executable still needs a delivery route and still needs to survive antivirus.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a generated payload is automatically evasive. Module 13's manual-first evasion discipline still applies in full.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Metasploit Payloads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VS NON-STAGED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size-versus-dependency trade-off, not a strictly better-or-worse choice.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METERPRETER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in-memory, extensible payload underlying most of the framework's post-exploitation capability.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payloads still require a delivery mechanism and still need evasion consideration.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6267" y="3951015"/>
            <a:ext cx="22353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6452" y="4465365"/>
            <a:ext cx="16075023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084"/>
              </a:lnSpc>
              <a:buNone/>
            </a:pPr>
            <a:r>
              <a:rPr lang="en-US" sz="54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Post-Exploitation with Metasploit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767013" y="5452095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core Meterpreter post-exploitation features, use post-exploitation modules, and perform pivoting with Metasploit.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3133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6032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19.3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core Meterpreter post-exploitation features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Meterpreter ships with built-in commands for file transfer, process interaction, and basic system information gathering, available immediately once a session is established.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built-in features cover much of the immediate situational awareness work from Objective 15.1, now available through one consistent session interface.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15 and 16's situational awareness objectives — the same information, gathered through Meterpreter's built-in commands.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559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530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19.3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post-exploitation modules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Meterpreter's built-in commands, dedicated post-exploitation modules automate specific tasks such as credential harvesting or privilege escalation checks against an active session.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checks from Modules 15 and 16's automated enumeration objectives have a direct Metasploit module equivalent.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identical verification discipline from Modules 15 and 16 — a module's output is a candidate to confirm, not an automatic result.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6072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9059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19.3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pivoting with Metasploit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 can route traffic through an established session to reach further hosts on the compromised network, providing the framework's own built-in answer to the reachability problem Module 17 solved manually.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underlying goal is identical to Module 17's tunnelling content — only the mechanism, built directly into the framework, differs.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17's port forwarding and SSH tunnelling — the same reachability problem, now solved from inside an active Metasploit session.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19.3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Post-Exploitation with Metasploit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file transfer, process interaction, and system information, available immediately in any session.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automation for specific post-exploitation tasks, still requiring verification.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framework's own built-in solution to the reachability problem Module 17 solved manually.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1520" y="4091955"/>
            <a:ext cx="224488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131584" y="4606305"/>
            <a:ext cx="10024757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Metasploit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675674" y="5753100"/>
            <a:ext cx="8936653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resource scripts, and use resource scripts in Metasploit.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414141"/>
            <a:ext cx="303363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499866"/>
            <a:ext cx="276269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19.4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05707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resource scripts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372382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resource script records a sequence of Metasploit console commands as a plain text file, capturing a repeatable sequence of setup and execution steps exactly as they would be typed manually.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4772471"/>
            <a:ext cx="16687800" cy="1390650"/>
          </a:xfrm>
          <a:prstGeom prst="roundRect">
            <a:avLst>
              <a:gd name="adj" fmla="val 8219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4953446"/>
            <a:ext cx="1675028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D9BF"/>
                </a:solidFill>
                <a:highlight>
                  <a:srgbClr val="A6A6A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exploit/multi/http/example set RHOSTS 10.10.10.5 set PAYLOAD linux/x64/meterpreter/reverse_tcp run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800100" y="6410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648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967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documented resource script is itself a record of exactly what was done, directly useful for Module 4's evidence requirements.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410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648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967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spaced and retrieval practice — a resource script is also a durable reference for reproducing a technique on a similar future target.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633216"/>
            <a:ext cx="305797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718941"/>
            <a:ext cx="278776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19.4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27615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resource scripts in Metasploit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394290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saved resource script can be replayed directly, executing its full recorded sequence without retyping each command — useful for repeating the same setup against multiple similar targets.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4991546"/>
            <a:ext cx="16687800" cy="619125"/>
          </a:xfrm>
          <a:prstGeom prst="roundRect">
            <a:avLst>
              <a:gd name="adj" fmla="val 1846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5172521"/>
            <a:ext cx="167502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msfconsole -r setup.rc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800100" y="5858321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0964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415534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module's final synthesis — the framework itself becomes scriptable, closing the manual-to-automated arc running through the whole module.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5858321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0964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4155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resource script against a target it was not written for. The same manual-first verification discipline still applies.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19.4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Metasploit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resource script records a repeatable command sequence as a plain text file.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Replaying that sequence directly saves retyping and documents exactly what was done.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956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9092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Metasploit automates from earlier 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257675"/>
            <a:ext cx="3543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748213"/>
            <a:ext cx="3543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371975"/>
            <a:ext cx="3344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Metasploit capability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4257675"/>
            <a:ext cx="131445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4748213"/>
            <a:ext cx="131445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495800" y="4371975"/>
            <a:ext cx="132340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equivalent taught earlier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0100" y="4757738"/>
            <a:ext cx="3543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" y="5233988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862513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Auxiliary modules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3400" y="4757738"/>
            <a:ext cx="13144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5233988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4495800" y="4862513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enumeration and scanning (Modules 5, 6)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0100" y="5719763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5348288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modules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43400" y="5719763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495800" y="5348288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and analysing public exploits (Module 11)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0100" y="5729288"/>
            <a:ext cx="3543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" y="6205538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834063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payload generation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343400" y="5729288"/>
            <a:ext cx="13144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43400" y="6205538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4495800" y="5834063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delivery mechanisms (Module 10)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0100" y="6691313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6319838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Meterpreter features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343400" y="6691313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4495800" y="6319838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Situational awareness (Modules 15, 16)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00100" y="6700838"/>
            <a:ext cx="3543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" y="7177088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6805613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Pivoting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343400" y="6700838"/>
            <a:ext cx="13144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43400" y="7177088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6" name="Text 34"/>
          <p:cNvSpPr/>
          <p:nvPr/>
        </p:nvSpPr>
        <p:spPr>
          <a:xfrm>
            <a:off x="4495800" y="6805613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forwarding and SSH tunnelling (Module 17)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payload and verifying framework output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302472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tester has confirmed a vulnerable service on a target with limited outbound connectivity and no antivirus running. A Metasploit post-exploitation module later reports a promising privilege escalation vector on the resulting session.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limited outbound connectivity, would a staged or non-staged payload be the safer choice, and why?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do before trusting the post-exploitation module's escalation finding, based on Modules 15 and 16's guidance?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35111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58924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908328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this setup succeeds, what would justify turning it into a resource script for future use?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Metasploit module output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auxiliary, exploit, or post-exploitation module's result as a candidate requiring confirmation, exactly as Modules 15 and 16 require for standalone automated enumeration tools.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a module's reported finding manually before acting on it as confirmed, particularly for escalation or credential-related results.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identical manual-verification discipline repeated across Modules 15, 16 and 19.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staged or non-staged deliberately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the staged-versus-non-staged decision on the target's actual connectivity constraints, rather than defaulting to whichever was used on the previous engagement.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 non-staged where outbound connectivity is limited or unreliable, since a staged payload's second retrieval may simply never succeed.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payload that never completes its second stage looks identical to a failed exploit, wasting time diagnosing the wrong problem.</a:t>
            </a:r>
            <a:endParaRPr lang="en-US" sz="18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 only what is already proven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 command sequence into a resource script once it is confirmed working manually against the current target, rather than scripting an untested guess.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resource script built from an unverified sequence simply automates a mistake, and can do so repeatedly and quickly.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manual-before-automated pattern repeated across Modules 9, 12, 13, and now 19.</a:t>
            </a:r>
            <a:endParaRPr lang="en-US" sz="18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80511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30041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19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67163"/>
            <a:ext cx="25908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457700"/>
            <a:ext cx="25908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081463"/>
            <a:ext cx="23637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0900" y="3967163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90900" y="4457700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543300" y="4081463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77200" y="3967163"/>
            <a:ext cx="94107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77200" y="4457700"/>
            <a:ext cx="94107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081463"/>
            <a:ext cx="93882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467225"/>
            <a:ext cx="25908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210175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572000"/>
            <a:ext cx="23637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Meterpreter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90900" y="4467225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90900" y="521017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543300" y="4572000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advanced, in-memory Metasploit payload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77200" y="4467225"/>
            <a:ext cx="94107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5210175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572000"/>
            <a:ext cx="93882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962650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324475"/>
            <a:ext cx="23637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payload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390900" y="596265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543300" y="5324475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a small initial stage, then retrieves the rest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77200" y="5962650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5324475"/>
            <a:ext cx="93882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972175"/>
            <a:ext cx="25908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715125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076950"/>
            <a:ext cx="23637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script (.rc)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390900" y="5972175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90900" y="671512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543300" y="6076950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recorded, replayable sequence of console commands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077200" y="5972175"/>
            <a:ext cx="94107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77200" y="6715125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6076950"/>
            <a:ext cx="93882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19.4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7467600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829425"/>
            <a:ext cx="23637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Auxiliary module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390900" y="746760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543300" y="6829425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Non-exploitation capability such as scanning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077200" y="7467600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6829425"/>
            <a:ext cx="93882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19.1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15979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65509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19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“METASPLOIT REPLACES EVERYTHING TAUGHT MANUALLY BEFORE IT”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automates specific pieces of earlier manual technique. Understanding those techniques is what makes the automation interpretable.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“STAGED PAYLOADS ARE ALWAYS BETTER BECAUSE THEY'RE SMALLER”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depend on a second retrieval succeeding, which limited or unreliable connectivity can prevent entirely.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METASPLOIT MODULE'S OUTPUT CAN BE TRUSTED DIRECTLY”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manual-verification discipline from Modules 15 and 16 applies to every module's reported finding.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“PIVOTING IN METASPLOIT IS A DIFFERENT SKILL FROM MODULE 17”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solves the identical reachability problem, through a mechanism built directly into the framework instead of a standalone tool.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“RESOURCE SCRIPTS SHOULD CAPTURE UNTESTED ATTEMPTS”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222331"/>
            <a:ext cx="85391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 an unverified sequence simply automates a mistake, repeatably.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48775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6900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GENERATED PAYLOAD IS AUTOMATICALLY EVASIVE”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86900" y="722233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13's manual-first evasion discipline still applies fully to any Metasploit-generated payload.</a:t>
            </a:r>
            <a:endParaRPr lang="en-US" sz="18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65066" y="3273326"/>
            <a:ext cx="33577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19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191775" y="3749576"/>
            <a:ext cx="190444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632864" y="5502176"/>
            <a:ext cx="15022197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of manual technique precede this framework, by design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Familiar with Metasploit, Using Payloads, Post-Exploitation, and Automating Metasploit.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target has limited and unreliable outbound connectivity. Which payload type carries the greater risk of failing to fully establish?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24060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Non-staged payload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183118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payload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193170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Auxiliary module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18183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script</a:t>
            </a:r>
            <a:endParaRPr lang="en-US" sz="1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237929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733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19 in four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399979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3580954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3590479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3654772"/>
            <a:ext cx="810213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consistent workflow navigates auxiliary and exploit modules alike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333429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4514404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4523929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4588222"/>
            <a:ext cx="1638631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versus non-staged trades size against a dependency; Meterpreter and generated executables both still need real-world consideration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266879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447854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5457379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5521672"/>
            <a:ext cx="1253002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Meterpreter features, dedicated modules, and built-in pivoting extend the framework past initial access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6200329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6381304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6390829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6455122"/>
            <a:ext cx="74664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scripts record and replay proven command sequences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00100" y="72480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capability here automates something already understood manually. Modules 20 through 22 now apply both manual and automated technique to Active Directory specifically.</a:t>
            </a:r>
            <a:endParaRPr lang="en-US" sz="21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7188434" cy="135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88"/>
              </a:lnSpc>
              <a:buNone/>
            </a:pPr>
            <a:r>
              <a:rPr lang="en-US" sz="49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20: Active Directory Introduction and Enumeration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800100" y="274885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98698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30606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Active Directory enumeration with legacy tools and PowerShell, and automated enumeration with SharpHound and BloodHound.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74885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98698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330606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able to state which manual technique from Modules 5 through 17 each Metasploit capability in this module automates.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74885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98698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3306068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manual-verification discipline from every module since Module 9. Active Directory tooling deserves the identical scrutiny.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2026-08-01T10:36:44Z</dcterms:created>
  <dcterms:modified xsi:type="dcterms:W3CDTF">2026-08-01T10:36:44Z</dcterms:modified>
</cp:coreProperties>
</file>