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</p:sldIdLst>
  <p:notesMasterIdLst>
    <p:notesMasterId r:id="rId37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notesMaster" Target="notesMasters/notesMaster1.xml"/><Relationship Id="rId38" Type="http://schemas.openxmlformats.org/officeDocument/2006/relationships/presProps" Target="presProps.xml"/><Relationship Id="rId39" Type="http://schemas.openxmlformats.org/officeDocument/2006/relationships/viewProps" Target="viewProps.xml"/><Relationship Id="rId40" Type="http://schemas.openxmlformats.org/officeDocument/2006/relationships/theme" Target="theme/theme1.xml"/><Relationship Id="rId4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Module 6. The bridge between the raw port/service data Module 5 produced and the exploitation modules that follow. Open by framing scanning as a discipline with real trade-offs, not a button to press.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units. Note that Nessus carries six objectives — the largest single unit in the module.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Module 6 of 24. Directly follows Information Gathering and feeds directly into the web application modules.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Orientation. Scanning is the bridge between enumeration and exploitation — it converts a service list into a prioritised list of weaknesses.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Divider into 6.1. Three objectives on the theory before any tool is opened.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Objective 6.1, task 1. The scanning process at a high level. Establish that a scanner is comparing observed signatures against a maintained database.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Objective 6.1, task 2. The named scan types. Authenticated vs unauthenticated is the distinction learners most often get backwards.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Objective 6.1, task 3. Considerations — the practical constraints around running a scan in a real environment. This is the objective that turns theory into professional judgement.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Critical distinction, worth its own slide given how often it is misremembered.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Recap 6.1 before Nessus.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Divider into 6.2 — six objectives, the largest unit in the module, covering a single named tool end to end.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Objective 6.2, task 1. Installation itself is a stated objective — brief, but real.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Objective 6.2, task 2. The different Nessus components — scanner engine, plugin feed, policy templates, reporting layer.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Objective 6.2, task 3. Configuring and performing a scan — applying the theory from 6.1 as concrete settings.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Objective 6.2, task 4. Understanding and working with results — triage by severity, then verify manually before it becomes a finding.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Objective 6.2, task 5. Supplying credentials for an authenticated scan — the practical mechanics of the distinction drawn in 6.1.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Objective 6.2, task 6. Plugins — the individual checks. Understanding that each result traces to one specific, inspectable plugin demystifies the whole tool.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Flow slide summarising the Nessus unit end to end.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Recap 6.2.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Divider into 6.3 — three objectives, using Nmap as a lightweight alternative to a full dedicated scanner.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Objective 6.3, task 1. NSE basics. This is a callback and expansion of the NSE mention in Module 5's port scanning.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Objective 6.3, task 2. Performing a lightweight scan — the practical value proposition of NSE vs a full Nessus scan.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Objective 6.3, task 3. Working with custom scripts — the point where a tester extends the tool rather than only consuming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Critical distinction closing the module — when to reach for which tool.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Recap 6.3.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Discussion. Five minutes in pairs. Listening for correct reasoning about authenticated vs unauthenticated and tool choice under a constraint.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Practical skill 1. Treating every scanner result as a hypothesis, not a finding.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Practical skill 2. Choosing scan configuration deliberately against the environment considerations from Module 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Practical skill 3. Reading the plugin or script, not just the headline result.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Acronym table.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Misconceptions. The 'scanner result equals finding' one is the most damaging and the most common among learners new to this module.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Big number. Three units; Nessus alone carries six of the module's twelve total objectives.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Knowledge check. Answer is C. Also appears as Q1 of the module quiz.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Summary. Three units in three lines.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Close. Preview Module 7 — the web application track begins, and scan results here will point directly at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800100" y="609600"/>
            <a:ext cx="1835658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25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6 OF 24 · OFFSEC PEN-200 (PWK)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800100" y="1181100"/>
            <a:ext cx="18356580" cy="9181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1485"/>
              </a:lnSpc>
              <a:buNone/>
            </a:pPr>
            <a:r>
              <a:rPr lang="en-US" sz="6600" b="1" spc="-37" kern="0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Vulnerability Scanning</a:t>
            </a:r>
            <a:endParaRPr lang="en-US" sz="6600" dirty="0"/>
          </a:p>
        </p:txBody>
      </p:sp>
      <p:sp>
        <p:nvSpPr>
          <p:cNvPr id="5" name="Text 3"/>
          <p:cNvSpPr/>
          <p:nvPr/>
        </p:nvSpPr>
        <p:spPr>
          <a:xfrm>
            <a:off x="800100" y="2385045"/>
            <a:ext cx="13735050" cy="9772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6410"/>
              </a:lnSpc>
              <a:buNone/>
            </a:pPr>
            <a:r>
              <a:rPr lang="en-US" sz="2550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Scanning theory and considerations, scanning with Nessus, and lightweight scanning with the Nmap Scripting Engine.</a:t>
            </a:r>
            <a:endParaRPr lang="en-US" sz="2550" dirty="0"/>
          </a:p>
        </p:txBody>
      </p:sp>
      <p:sp>
        <p:nvSpPr>
          <p:cNvPr id="6" name="Shape 4"/>
          <p:cNvSpPr/>
          <p:nvPr/>
        </p:nvSpPr>
        <p:spPr>
          <a:xfrm>
            <a:off x="800100" y="9210675"/>
            <a:ext cx="16687800" cy="9525"/>
          </a:xfrm>
          <a:prstGeom prst="rect">
            <a:avLst/>
          </a:prstGeom>
          <a:solidFill>
            <a:srgbClr val="2A2F3A"/>
          </a:solidFill>
          <a:ln/>
        </p:spPr>
      </p:sp>
      <p:sp>
        <p:nvSpPr>
          <p:cNvPr id="7" name="Text 5"/>
          <p:cNvSpPr/>
          <p:nvPr/>
        </p:nvSpPr>
        <p:spPr>
          <a:xfrm>
            <a:off x="800100" y="9432131"/>
            <a:ext cx="1796482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8891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 Cyber Academy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6763181" y="9410700"/>
            <a:ext cx="800919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50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</a:t>
            </a:r>
            <a:pPr algn="l" indent="0" marL="0">
              <a:buNone/>
            </a:pPr>
            <a:r>
              <a:rPr lang="en-US" sz="1800" b="1" spc="150" kern="0" dirty="0">
                <a:solidFill>
                  <a:srgbClr val="8891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CP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800100" y="3081784"/>
            <a:ext cx="1835658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25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LEARNING OBJECTIVES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800100" y="3577084"/>
            <a:ext cx="18356580" cy="6181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0896"/>
              </a:lnSpc>
              <a:buNone/>
            </a:pPr>
            <a:r>
              <a:rPr lang="en-US" sz="4350" b="1" spc="-37" kern="0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this module covers</a:t>
            </a:r>
            <a:endParaRPr lang="en-US" sz="4350" dirty="0"/>
          </a:p>
        </p:txBody>
      </p:sp>
      <p:sp>
        <p:nvSpPr>
          <p:cNvPr id="5" name="Shape 3"/>
          <p:cNvSpPr/>
          <p:nvPr/>
        </p:nvSpPr>
        <p:spPr>
          <a:xfrm>
            <a:off x="800100" y="4461942"/>
            <a:ext cx="16687800" cy="800100"/>
          </a:xfrm>
          <a:prstGeom prst="roundRect">
            <a:avLst>
              <a:gd name="adj" fmla="val 16667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38225" y="4642917"/>
            <a:ext cx="723900" cy="438150"/>
          </a:xfrm>
          <a:prstGeom prst="roundRect">
            <a:avLst>
              <a:gd name="adj" fmla="val 50000"/>
            </a:avLst>
          </a:prstGeom>
          <a:solidFill>
            <a:srgbClr val="FF6A00">
              <a:alpha val="15000"/>
            </a:srgbClr>
          </a:solidFill>
          <a:ln w="9525">
            <a:solidFill>
              <a:srgbClr val="FF6A00">
                <a:alpha val="35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9650" y="4652442"/>
            <a:ext cx="78105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D9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6.1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1952625" y="4716735"/>
            <a:ext cx="8922001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Vulnerability Scanning Theory — the process, scan types, and considerations</a:t>
            </a:r>
            <a:endParaRPr lang="en-US" sz="1950" dirty="0"/>
          </a:p>
        </p:txBody>
      </p:sp>
      <p:sp>
        <p:nvSpPr>
          <p:cNvPr id="9" name="Shape 7"/>
          <p:cNvSpPr/>
          <p:nvPr/>
        </p:nvSpPr>
        <p:spPr>
          <a:xfrm>
            <a:off x="800100" y="5433492"/>
            <a:ext cx="16687800" cy="800100"/>
          </a:xfrm>
          <a:prstGeom prst="roundRect">
            <a:avLst>
              <a:gd name="adj" fmla="val 16667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38225" y="5614467"/>
            <a:ext cx="723900" cy="438150"/>
          </a:xfrm>
          <a:prstGeom prst="roundRect">
            <a:avLst>
              <a:gd name="adj" fmla="val 50000"/>
            </a:avLst>
          </a:prstGeom>
          <a:solidFill>
            <a:srgbClr val="FF6A00">
              <a:alpha val="15000"/>
            </a:srgbClr>
          </a:solidFill>
          <a:ln w="9525">
            <a:solidFill>
              <a:srgbClr val="FF6A00">
                <a:alpha val="35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09650" y="5623992"/>
            <a:ext cx="78105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D9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6.2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1952625" y="5688285"/>
            <a:ext cx="12244105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Vulnerability Scanning with Nessus — install, components, configure, results, authenticated scans, plugins</a:t>
            </a:r>
            <a:endParaRPr lang="en-US" sz="1950" dirty="0"/>
          </a:p>
        </p:txBody>
      </p:sp>
      <p:sp>
        <p:nvSpPr>
          <p:cNvPr id="13" name="Shape 11"/>
          <p:cNvSpPr/>
          <p:nvPr/>
        </p:nvSpPr>
        <p:spPr>
          <a:xfrm>
            <a:off x="800100" y="6405042"/>
            <a:ext cx="16687800" cy="800100"/>
          </a:xfrm>
          <a:prstGeom prst="roundRect">
            <a:avLst>
              <a:gd name="adj" fmla="val 16667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38225" y="6586017"/>
            <a:ext cx="723900" cy="438150"/>
          </a:xfrm>
          <a:prstGeom prst="roundRect">
            <a:avLst>
              <a:gd name="adj" fmla="val 50000"/>
            </a:avLst>
          </a:prstGeom>
          <a:solidFill>
            <a:srgbClr val="FF6A00">
              <a:alpha val="15000"/>
            </a:srgbClr>
          </a:solidFill>
          <a:ln w="9525">
            <a:solidFill>
              <a:srgbClr val="FF6A00">
                <a:alpha val="35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09650" y="6595542"/>
            <a:ext cx="78105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D9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6.3</a:t>
            </a:r>
            <a:endParaRPr lang="en-US" sz="1650" dirty="0"/>
          </a:p>
        </p:txBody>
      </p:sp>
      <p:sp>
        <p:nvSpPr>
          <p:cNvPr id="16" name="Text 14"/>
          <p:cNvSpPr/>
          <p:nvPr/>
        </p:nvSpPr>
        <p:spPr>
          <a:xfrm>
            <a:off x="1952625" y="6659835"/>
            <a:ext cx="11388470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Vulnerability Scanning with Nmap — the Nmap Scripting Engine, lightweight scans, custom scripts</a:t>
            </a:r>
            <a:endParaRPr lang="en-US" sz="1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800100" y="1879774"/>
            <a:ext cx="1835658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25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COURSE CONTEXT · 24 LEARNING MODULES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800100" y="2375074"/>
            <a:ext cx="1835658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652"/>
              </a:lnSpc>
              <a:buNone/>
            </a:pPr>
            <a:r>
              <a:rPr lang="en-US" sz="30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Module 6 sits in PEN-200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800100" y="3041824"/>
            <a:ext cx="4086225" cy="702469"/>
          </a:xfrm>
          <a:prstGeom prst="roundRect">
            <a:avLst>
              <a:gd name="adj" fmla="val 16271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42975" y="3165649"/>
            <a:ext cx="4180523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108"/>
              </a:lnSpc>
              <a:buNone/>
            </a:pPr>
            <a:r>
              <a:rPr lang="en-US" sz="120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42975" y="3399011"/>
            <a:ext cx="2342257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465"/>
              </a:lnSpc>
              <a:buNone/>
            </a:pPr>
            <a:r>
              <a:rPr lang="en-US" sz="1425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General Course Introduction</a:t>
            </a:r>
            <a:endParaRPr lang="en-US" sz="1425" dirty="0"/>
          </a:p>
        </p:txBody>
      </p:sp>
      <p:sp>
        <p:nvSpPr>
          <p:cNvPr id="8" name="Shape 6"/>
          <p:cNvSpPr/>
          <p:nvPr/>
        </p:nvSpPr>
        <p:spPr>
          <a:xfrm>
            <a:off x="5000625" y="3041824"/>
            <a:ext cx="4086225" cy="702469"/>
          </a:xfrm>
          <a:prstGeom prst="roundRect">
            <a:avLst>
              <a:gd name="adj" fmla="val 16271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143500" y="3165649"/>
            <a:ext cx="4180523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108"/>
              </a:lnSpc>
              <a:buNone/>
            </a:pPr>
            <a:r>
              <a:rPr lang="en-US" sz="120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143500" y="3399011"/>
            <a:ext cx="2425378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465"/>
              </a:lnSpc>
              <a:buNone/>
            </a:pPr>
            <a:r>
              <a:rPr lang="en-US" sz="1425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Introduction to Cybersecurity</a:t>
            </a:r>
            <a:endParaRPr lang="en-US" sz="1425" dirty="0"/>
          </a:p>
        </p:txBody>
      </p:sp>
      <p:sp>
        <p:nvSpPr>
          <p:cNvPr id="11" name="Shape 9"/>
          <p:cNvSpPr/>
          <p:nvPr/>
        </p:nvSpPr>
        <p:spPr>
          <a:xfrm>
            <a:off x="9201150" y="3041824"/>
            <a:ext cx="4086225" cy="702469"/>
          </a:xfrm>
          <a:prstGeom prst="roundRect">
            <a:avLst>
              <a:gd name="adj" fmla="val 16271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344025" y="3165649"/>
            <a:ext cx="4180523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108"/>
              </a:lnSpc>
              <a:buNone/>
            </a:pPr>
            <a:r>
              <a:rPr lang="en-US" sz="120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344025" y="3399011"/>
            <a:ext cx="2385417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465"/>
              </a:lnSpc>
              <a:buNone/>
            </a:pPr>
            <a:r>
              <a:rPr lang="en-US" sz="1425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Effective Learning Strategies</a:t>
            </a:r>
            <a:endParaRPr lang="en-US" sz="1425" dirty="0"/>
          </a:p>
        </p:txBody>
      </p:sp>
      <p:sp>
        <p:nvSpPr>
          <p:cNvPr id="14" name="Shape 12"/>
          <p:cNvSpPr/>
          <p:nvPr/>
        </p:nvSpPr>
        <p:spPr>
          <a:xfrm>
            <a:off x="13401675" y="3041824"/>
            <a:ext cx="4086225" cy="702469"/>
          </a:xfrm>
          <a:prstGeom prst="roundRect">
            <a:avLst>
              <a:gd name="adj" fmla="val 16271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3544550" y="3165649"/>
            <a:ext cx="4180523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108"/>
              </a:lnSpc>
              <a:buNone/>
            </a:pPr>
            <a:r>
              <a:rPr lang="en-US" sz="120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3544550" y="3399011"/>
            <a:ext cx="3120662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465"/>
              </a:lnSpc>
              <a:buNone/>
            </a:pPr>
            <a:r>
              <a:rPr lang="en-US" sz="1425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 Writing for Penetration Testers</a:t>
            </a:r>
            <a:endParaRPr lang="en-US" sz="1425" dirty="0"/>
          </a:p>
        </p:txBody>
      </p:sp>
      <p:sp>
        <p:nvSpPr>
          <p:cNvPr id="17" name="Shape 15"/>
          <p:cNvSpPr/>
          <p:nvPr/>
        </p:nvSpPr>
        <p:spPr>
          <a:xfrm>
            <a:off x="800100" y="3858592"/>
            <a:ext cx="4086225" cy="702469"/>
          </a:xfrm>
          <a:prstGeom prst="roundRect">
            <a:avLst>
              <a:gd name="adj" fmla="val 16271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42975" y="3982417"/>
            <a:ext cx="4180523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108"/>
              </a:lnSpc>
              <a:buNone/>
            </a:pPr>
            <a:r>
              <a:rPr lang="en-US" sz="120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42975" y="4215780"/>
            <a:ext cx="1831181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465"/>
              </a:lnSpc>
              <a:buNone/>
            </a:pPr>
            <a:r>
              <a:rPr lang="en-US" sz="1425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Information Gathering</a:t>
            </a:r>
            <a:endParaRPr lang="en-US" sz="1425" dirty="0"/>
          </a:p>
        </p:txBody>
      </p:sp>
      <p:sp>
        <p:nvSpPr>
          <p:cNvPr id="20" name="Shape 18"/>
          <p:cNvSpPr/>
          <p:nvPr/>
        </p:nvSpPr>
        <p:spPr>
          <a:xfrm>
            <a:off x="5000625" y="3858592"/>
            <a:ext cx="4086225" cy="702469"/>
          </a:xfrm>
          <a:prstGeom prst="roundRect">
            <a:avLst>
              <a:gd name="adj" fmla="val 16271"/>
            </a:avLst>
          </a:prstGeom>
          <a:solidFill>
            <a:srgbClr val="FF6A00">
              <a:alpha val="12000"/>
            </a:srgbClr>
          </a:solidFill>
          <a:ln w="9525">
            <a:solidFill>
              <a:srgbClr val="FF6A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143500" y="3982417"/>
            <a:ext cx="4180523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108"/>
              </a:lnSpc>
              <a:buNone/>
            </a:pPr>
            <a:r>
              <a:rPr lang="en-US" sz="120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143500" y="4215780"/>
            <a:ext cx="2063874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465"/>
              </a:lnSpc>
              <a:buNone/>
            </a:pPr>
            <a:r>
              <a:rPr lang="en-US" sz="1425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Vulnerability Scanning</a:t>
            </a:r>
            <a:endParaRPr lang="en-US" sz="1425" dirty="0"/>
          </a:p>
        </p:txBody>
      </p:sp>
      <p:sp>
        <p:nvSpPr>
          <p:cNvPr id="23" name="Shape 21"/>
          <p:cNvSpPr/>
          <p:nvPr/>
        </p:nvSpPr>
        <p:spPr>
          <a:xfrm>
            <a:off x="9201150" y="3858592"/>
            <a:ext cx="4086225" cy="702469"/>
          </a:xfrm>
          <a:prstGeom prst="roundRect">
            <a:avLst>
              <a:gd name="adj" fmla="val 16271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344025" y="3982417"/>
            <a:ext cx="4180523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108"/>
              </a:lnSpc>
              <a:buNone/>
            </a:pPr>
            <a:r>
              <a:rPr lang="en-US" sz="120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9344025" y="4215780"/>
            <a:ext cx="2704931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465"/>
              </a:lnSpc>
              <a:buNone/>
            </a:pPr>
            <a:r>
              <a:rPr lang="en-US" sz="1425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Introduction to Web Applications</a:t>
            </a:r>
            <a:endParaRPr lang="en-US" sz="1425" dirty="0"/>
          </a:p>
        </p:txBody>
      </p:sp>
      <p:sp>
        <p:nvSpPr>
          <p:cNvPr id="26" name="Shape 24"/>
          <p:cNvSpPr/>
          <p:nvPr/>
        </p:nvSpPr>
        <p:spPr>
          <a:xfrm>
            <a:off x="13401675" y="3858592"/>
            <a:ext cx="4086225" cy="702469"/>
          </a:xfrm>
          <a:prstGeom prst="roundRect">
            <a:avLst>
              <a:gd name="adj" fmla="val 16271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3544550" y="3982417"/>
            <a:ext cx="4180523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108"/>
              </a:lnSpc>
              <a:buNone/>
            </a:pPr>
            <a:r>
              <a:rPr lang="en-US" sz="120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3544550" y="4215780"/>
            <a:ext cx="2820514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465"/>
              </a:lnSpc>
              <a:buNone/>
            </a:pPr>
            <a:r>
              <a:rPr lang="en-US" sz="1425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Web Application Attacks</a:t>
            </a:r>
            <a:endParaRPr lang="en-US" sz="1425" dirty="0"/>
          </a:p>
        </p:txBody>
      </p:sp>
      <p:sp>
        <p:nvSpPr>
          <p:cNvPr id="29" name="Shape 27"/>
          <p:cNvSpPr/>
          <p:nvPr/>
        </p:nvSpPr>
        <p:spPr>
          <a:xfrm>
            <a:off x="800100" y="4675361"/>
            <a:ext cx="4086225" cy="702469"/>
          </a:xfrm>
          <a:prstGeom prst="roundRect">
            <a:avLst>
              <a:gd name="adj" fmla="val 16271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42975" y="4799186"/>
            <a:ext cx="4180523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108"/>
              </a:lnSpc>
              <a:buNone/>
            </a:pPr>
            <a:r>
              <a:rPr lang="en-US" sz="120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942975" y="5032549"/>
            <a:ext cx="1794197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465"/>
              </a:lnSpc>
              <a:buNone/>
            </a:pPr>
            <a:r>
              <a:rPr lang="en-US" sz="1425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 Injection Attacks</a:t>
            </a:r>
            <a:endParaRPr lang="en-US" sz="1425" dirty="0"/>
          </a:p>
        </p:txBody>
      </p:sp>
      <p:sp>
        <p:nvSpPr>
          <p:cNvPr id="32" name="Shape 30"/>
          <p:cNvSpPr/>
          <p:nvPr/>
        </p:nvSpPr>
        <p:spPr>
          <a:xfrm>
            <a:off x="5000625" y="4675361"/>
            <a:ext cx="4086225" cy="702469"/>
          </a:xfrm>
          <a:prstGeom prst="roundRect">
            <a:avLst>
              <a:gd name="adj" fmla="val 16271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143500" y="4799186"/>
            <a:ext cx="4180523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108"/>
              </a:lnSpc>
              <a:buNone/>
            </a:pPr>
            <a:r>
              <a:rPr lang="en-US" sz="120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143500" y="5032549"/>
            <a:ext cx="1619920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465"/>
              </a:lnSpc>
              <a:buNone/>
            </a:pPr>
            <a:r>
              <a:rPr lang="en-US" sz="1425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Client-Side Attacks</a:t>
            </a:r>
            <a:endParaRPr lang="en-US" sz="1425" dirty="0"/>
          </a:p>
        </p:txBody>
      </p:sp>
      <p:sp>
        <p:nvSpPr>
          <p:cNvPr id="35" name="Shape 33"/>
          <p:cNvSpPr/>
          <p:nvPr/>
        </p:nvSpPr>
        <p:spPr>
          <a:xfrm>
            <a:off x="9201150" y="4675361"/>
            <a:ext cx="4086225" cy="702469"/>
          </a:xfrm>
          <a:prstGeom prst="roundRect">
            <a:avLst>
              <a:gd name="adj" fmla="val 16271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344025" y="4799186"/>
            <a:ext cx="4180523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108"/>
              </a:lnSpc>
              <a:buNone/>
            </a:pPr>
            <a:r>
              <a:rPr lang="en-US" sz="120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9344025" y="5032549"/>
            <a:ext cx="1980009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465"/>
              </a:lnSpc>
              <a:buNone/>
            </a:pPr>
            <a:r>
              <a:rPr lang="en-US" sz="1425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Locating Public Exploits</a:t>
            </a:r>
            <a:endParaRPr lang="en-US" sz="1425" dirty="0"/>
          </a:p>
        </p:txBody>
      </p:sp>
      <p:sp>
        <p:nvSpPr>
          <p:cNvPr id="38" name="Shape 36"/>
          <p:cNvSpPr/>
          <p:nvPr/>
        </p:nvSpPr>
        <p:spPr>
          <a:xfrm>
            <a:off x="13401675" y="4675361"/>
            <a:ext cx="4086225" cy="702469"/>
          </a:xfrm>
          <a:prstGeom prst="roundRect">
            <a:avLst>
              <a:gd name="adj" fmla="val 16271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3544550" y="4799186"/>
            <a:ext cx="4180523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108"/>
              </a:lnSpc>
              <a:buNone/>
            </a:pPr>
            <a:r>
              <a:rPr lang="en-US" sz="120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13544550" y="5032549"/>
            <a:ext cx="1223516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465"/>
              </a:lnSpc>
              <a:buNone/>
            </a:pPr>
            <a:r>
              <a:rPr lang="en-US" sz="1425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Fixing Exploits</a:t>
            </a:r>
            <a:endParaRPr lang="en-US" sz="1425" dirty="0"/>
          </a:p>
        </p:txBody>
      </p:sp>
      <p:sp>
        <p:nvSpPr>
          <p:cNvPr id="41" name="Shape 39"/>
          <p:cNvSpPr/>
          <p:nvPr/>
        </p:nvSpPr>
        <p:spPr>
          <a:xfrm>
            <a:off x="800100" y="5492130"/>
            <a:ext cx="4086225" cy="702469"/>
          </a:xfrm>
          <a:prstGeom prst="roundRect">
            <a:avLst>
              <a:gd name="adj" fmla="val 16271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942975" y="5615955"/>
            <a:ext cx="4180523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108"/>
              </a:lnSpc>
              <a:buNone/>
            </a:pPr>
            <a:r>
              <a:rPr lang="en-US" sz="120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942975" y="5849317"/>
            <a:ext cx="1443856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465"/>
              </a:lnSpc>
              <a:buNone/>
            </a:pPr>
            <a:r>
              <a:rPr lang="en-US" sz="1425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Antivirus Evasion</a:t>
            </a:r>
            <a:endParaRPr lang="en-US" sz="1425" dirty="0"/>
          </a:p>
        </p:txBody>
      </p:sp>
      <p:sp>
        <p:nvSpPr>
          <p:cNvPr id="44" name="Shape 42"/>
          <p:cNvSpPr/>
          <p:nvPr/>
        </p:nvSpPr>
        <p:spPr>
          <a:xfrm>
            <a:off x="5000625" y="5492130"/>
            <a:ext cx="4086225" cy="702469"/>
          </a:xfrm>
          <a:prstGeom prst="roundRect">
            <a:avLst>
              <a:gd name="adj" fmla="val 16271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143500" y="5615955"/>
            <a:ext cx="4180523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108"/>
              </a:lnSpc>
              <a:buNone/>
            </a:pPr>
            <a:r>
              <a:rPr lang="en-US" sz="120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5143500" y="5849317"/>
            <a:ext cx="1499815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465"/>
              </a:lnSpc>
              <a:buNone/>
            </a:pPr>
            <a:r>
              <a:rPr lang="en-US" sz="1425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Password Attacks</a:t>
            </a:r>
            <a:endParaRPr lang="en-US" sz="1425" dirty="0"/>
          </a:p>
        </p:txBody>
      </p:sp>
      <p:sp>
        <p:nvSpPr>
          <p:cNvPr id="47" name="Shape 45"/>
          <p:cNvSpPr/>
          <p:nvPr/>
        </p:nvSpPr>
        <p:spPr>
          <a:xfrm>
            <a:off x="9201150" y="5492130"/>
            <a:ext cx="4086225" cy="702469"/>
          </a:xfrm>
          <a:prstGeom prst="roundRect">
            <a:avLst>
              <a:gd name="adj" fmla="val 16271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9344025" y="5615955"/>
            <a:ext cx="4180523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108"/>
              </a:lnSpc>
              <a:buNone/>
            </a:pPr>
            <a:r>
              <a:rPr lang="en-US" sz="120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9344025" y="5849317"/>
            <a:ext cx="2412802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465"/>
              </a:lnSpc>
              <a:buNone/>
            </a:pPr>
            <a:r>
              <a:rPr lang="en-US" sz="1425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Windows Privilege Escalation</a:t>
            </a:r>
            <a:endParaRPr lang="en-US" sz="1425" dirty="0"/>
          </a:p>
        </p:txBody>
      </p:sp>
      <p:sp>
        <p:nvSpPr>
          <p:cNvPr id="50" name="Shape 48"/>
          <p:cNvSpPr/>
          <p:nvPr/>
        </p:nvSpPr>
        <p:spPr>
          <a:xfrm>
            <a:off x="13401675" y="5492130"/>
            <a:ext cx="4086225" cy="702469"/>
          </a:xfrm>
          <a:prstGeom prst="roundRect">
            <a:avLst>
              <a:gd name="adj" fmla="val 16271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13544550" y="5615955"/>
            <a:ext cx="4180523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108"/>
              </a:lnSpc>
              <a:buNone/>
            </a:pPr>
            <a:r>
              <a:rPr lang="en-US" sz="120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13544550" y="5849317"/>
            <a:ext cx="2104058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465"/>
              </a:lnSpc>
              <a:buNone/>
            </a:pPr>
            <a:r>
              <a:rPr lang="en-US" sz="1425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Linux Privilege Escalation</a:t>
            </a:r>
            <a:endParaRPr lang="en-US" sz="1425" dirty="0"/>
          </a:p>
        </p:txBody>
      </p:sp>
      <p:sp>
        <p:nvSpPr>
          <p:cNvPr id="53" name="Shape 51"/>
          <p:cNvSpPr/>
          <p:nvPr/>
        </p:nvSpPr>
        <p:spPr>
          <a:xfrm>
            <a:off x="800100" y="6308899"/>
            <a:ext cx="4086225" cy="702469"/>
          </a:xfrm>
          <a:prstGeom prst="roundRect">
            <a:avLst>
              <a:gd name="adj" fmla="val 16271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942975" y="6432724"/>
            <a:ext cx="4180523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108"/>
              </a:lnSpc>
              <a:buNone/>
            </a:pPr>
            <a:r>
              <a:rPr lang="en-US" sz="120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1200" dirty="0"/>
          </a:p>
        </p:txBody>
      </p:sp>
      <p:sp>
        <p:nvSpPr>
          <p:cNvPr id="55" name="Text 53"/>
          <p:cNvSpPr/>
          <p:nvPr/>
        </p:nvSpPr>
        <p:spPr>
          <a:xfrm>
            <a:off x="942975" y="6666086"/>
            <a:ext cx="2947747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465"/>
              </a:lnSpc>
              <a:buNone/>
            </a:pPr>
            <a:r>
              <a:rPr lang="en-US" sz="1425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 Redirection and SSH Tunneling</a:t>
            </a:r>
            <a:endParaRPr lang="en-US" sz="1425" dirty="0"/>
          </a:p>
        </p:txBody>
      </p:sp>
      <p:sp>
        <p:nvSpPr>
          <p:cNvPr id="56" name="Shape 54"/>
          <p:cNvSpPr/>
          <p:nvPr/>
        </p:nvSpPr>
        <p:spPr>
          <a:xfrm>
            <a:off x="5000625" y="6308899"/>
            <a:ext cx="4086225" cy="702469"/>
          </a:xfrm>
          <a:prstGeom prst="roundRect">
            <a:avLst>
              <a:gd name="adj" fmla="val 16271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5143500" y="6432724"/>
            <a:ext cx="4180523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108"/>
              </a:lnSpc>
              <a:buNone/>
            </a:pPr>
            <a:r>
              <a:rPr lang="en-US" sz="120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1200" dirty="0"/>
          </a:p>
        </p:txBody>
      </p:sp>
      <p:sp>
        <p:nvSpPr>
          <p:cNvPr id="58" name="Text 56"/>
          <p:cNvSpPr/>
          <p:nvPr/>
        </p:nvSpPr>
        <p:spPr>
          <a:xfrm>
            <a:off x="5143500" y="6666086"/>
            <a:ext cx="1705570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465"/>
              </a:lnSpc>
              <a:buNone/>
            </a:pPr>
            <a:r>
              <a:rPr lang="en-US" sz="1425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Advanced Tunneling</a:t>
            </a:r>
            <a:endParaRPr lang="en-US" sz="1425" dirty="0"/>
          </a:p>
        </p:txBody>
      </p:sp>
      <p:sp>
        <p:nvSpPr>
          <p:cNvPr id="59" name="Shape 57"/>
          <p:cNvSpPr/>
          <p:nvPr/>
        </p:nvSpPr>
        <p:spPr>
          <a:xfrm>
            <a:off x="9201150" y="6308899"/>
            <a:ext cx="4086225" cy="702469"/>
          </a:xfrm>
          <a:prstGeom prst="roundRect">
            <a:avLst>
              <a:gd name="adj" fmla="val 16271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9344025" y="6432724"/>
            <a:ext cx="4180523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108"/>
              </a:lnSpc>
              <a:buNone/>
            </a:pPr>
            <a:r>
              <a:rPr lang="en-US" sz="120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1200" dirty="0"/>
          </a:p>
        </p:txBody>
      </p:sp>
      <p:sp>
        <p:nvSpPr>
          <p:cNvPr id="61" name="Text 59"/>
          <p:cNvSpPr/>
          <p:nvPr/>
        </p:nvSpPr>
        <p:spPr>
          <a:xfrm>
            <a:off x="9344025" y="6666086"/>
            <a:ext cx="2217167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465"/>
              </a:lnSpc>
              <a:buNone/>
            </a:pPr>
            <a:r>
              <a:rPr lang="en-US" sz="1425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Metasploit Framework</a:t>
            </a:r>
            <a:endParaRPr lang="en-US" sz="1425" dirty="0"/>
          </a:p>
        </p:txBody>
      </p:sp>
      <p:sp>
        <p:nvSpPr>
          <p:cNvPr id="62" name="Shape 60"/>
          <p:cNvSpPr/>
          <p:nvPr/>
        </p:nvSpPr>
        <p:spPr>
          <a:xfrm>
            <a:off x="13401675" y="6308899"/>
            <a:ext cx="4086225" cy="702469"/>
          </a:xfrm>
          <a:prstGeom prst="roundRect">
            <a:avLst>
              <a:gd name="adj" fmla="val 16271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13544550" y="6432724"/>
            <a:ext cx="4180523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108"/>
              </a:lnSpc>
              <a:buNone/>
            </a:pPr>
            <a:r>
              <a:rPr lang="en-US" sz="120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1200" dirty="0"/>
          </a:p>
        </p:txBody>
      </p:sp>
      <p:sp>
        <p:nvSpPr>
          <p:cNvPr id="64" name="Text 62"/>
          <p:cNvSpPr/>
          <p:nvPr/>
        </p:nvSpPr>
        <p:spPr>
          <a:xfrm>
            <a:off x="13544550" y="6666086"/>
            <a:ext cx="2748390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465"/>
              </a:lnSpc>
              <a:buNone/>
            </a:pPr>
            <a:r>
              <a:rPr lang="en-US" sz="1425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 Introduction and Enumeration</a:t>
            </a:r>
            <a:endParaRPr lang="en-US" sz="1425" dirty="0"/>
          </a:p>
        </p:txBody>
      </p:sp>
      <p:sp>
        <p:nvSpPr>
          <p:cNvPr id="65" name="Shape 63"/>
          <p:cNvSpPr/>
          <p:nvPr/>
        </p:nvSpPr>
        <p:spPr>
          <a:xfrm>
            <a:off x="800100" y="7125667"/>
            <a:ext cx="4086225" cy="702469"/>
          </a:xfrm>
          <a:prstGeom prst="roundRect">
            <a:avLst>
              <a:gd name="adj" fmla="val 16271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942975" y="7249492"/>
            <a:ext cx="4180523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108"/>
              </a:lnSpc>
              <a:buNone/>
            </a:pPr>
            <a:r>
              <a:rPr lang="en-US" sz="120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1200" dirty="0"/>
          </a:p>
        </p:txBody>
      </p:sp>
      <p:sp>
        <p:nvSpPr>
          <p:cNvPr id="67" name="Text 65"/>
          <p:cNvSpPr/>
          <p:nvPr/>
        </p:nvSpPr>
        <p:spPr>
          <a:xfrm>
            <a:off x="942975" y="7482855"/>
            <a:ext cx="2339355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465"/>
              </a:lnSpc>
              <a:buNone/>
            </a:pPr>
            <a:r>
              <a:rPr lang="en-US" sz="1425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Attacking AD Authentication</a:t>
            </a:r>
            <a:endParaRPr lang="en-US" sz="1425" dirty="0"/>
          </a:p>
        </p:txBody>
      </p:sp>
      <p:sp>
        <p:nvSpPr>
          <p:cNvPr id="68" name="Shape 66"/>
          <p:cNvSpPr/>
          <p:nvPr/>
        </p:nvSpPr>
        <p:spPr>
          <a:xfrm>
            <a:off x="5000625" y="7125667"/>
            <a:ext cx="4086225" cy="702469"/>
          </a:xfrm>
          <a:prstGeom prst="roundRect">
            <a:avLst>
              <a:gd name="adj" fmla="val 16271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5143500" y="7249492"/>
            <a:ext cx="4180523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108"/>
              </a:lnSpc>
              <a:buNone/>
            </a:pPr>
            <a:r>
              <a:rPr lang="en-US" sz="120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1200" dirty="0"/>
          </a:p>
        </p:txBody>
      </p:sp>
      <p:sp>
        <p:nvSpPr>
          <p:cNvPr id="70" name="Text 68"/>
          <p:cNvSpPr/>
          <p:nvPr/>
        </p:nvSpPr>
        <p:spPr>
          <a:xfrm>
            <a:off x="5143500" y="7482855"/>
            <a:ext cx="1994892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465"/>
              </a:lnSpc>
              <a:buNone/>
            </a:pPr>
            <a:r>
              <a:rPr lang="en-US" sz="1425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Lateral Movement in AD</a:t>
            </a:r>
            <a:endParaRPr lang="en-US" sz="1425" dirty="0"/>
          </a:p>
        </p:txBody>
      </p:sp>
      <p:sp>
        <p:nvSpPr>
          <p:cNvPr id="71" name="Shape 69"/>
          <p:cNvSpPr/>
          <p:nvPr/>
        </p:nvSpPr>
        <p:spPr>
          <a:xfrm>
            <a:off x="9201150" y="7125667"/>
            <a:ext cx="4086225" cy="702469"/>
          </a:xfrm>
          <a:prstGeom prst="roundRect">
            <a:avLst>
              <a:gd name="adj" fmla="val 16271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9344025" y="7249492"/>
            <a:ext cx="4180523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108"/>
              </a:lnSpc>
              <a:buNone/>
            </a:pPr>
            <a:r>
              <a:rPr lang="en-US" sz="120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1200" dirty="0"/>
          </a:p>
        </p:txBody>
      </p:sp>
      <p:sp>
        <p:nvSpPr>
          <p:cNvPr id="73" name="Text 71"/>
          <p:cNvSpPr/>
          <p:nvPr/>
        </p:nvSpPr>
        <p:spPr>
          <a:xfrm>
            <a:off x="9344025" y="7482855"/>
            <a:ext cx="1893763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465"/>
              </a:lnSpc>
              <a:buNone/>
            </a:pPr>
            <a:r>
              <a:rPr lang="en-US" sz="1425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Assembling the Pieces</a:t>
            </a:r>
            <a:endParaRPr lang="en-US" sz="1425" dirty="0"/>
          </a:p>
        </p:txBody>
      </p:sp>
      <p:sp>
        <p:nvSpPr>
          <p:cNvPr id="74" name="Shape 72"/>
          <p:cNvSpPr/>
          <p:nvPr/>
        </p:nvSpPr>
        <p:spPr>
          <a:xfrm>
            <a:off x="13401675" y="7125667"/>
            <a:ext cx="4086225" cy="702469"/>
          </a:xfrm>
          <a:prstGeom prst="roundRect">
            <a:avLst>
              <a:gd name="adj" fmla="val 16271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13544550" y="7249492"/>
            <a:ext cx="4180523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108"/>
              </a:lnSpc>
              <a:buNone/>
            </a:pPr>
            <a:r>
              <a:rPr lang="en-US" sz="120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1200" dirty="0"/>
          </a:p>
        </p:txBody>
      </p:sp>
      <p:sp>
        <p:nvSpPr>
          <p:cNvPr id="76" name="Text 74"/>
          <p:cNvSpPr/>
          <p:nvPr/>
        </p:nvSpPr>
        <p:spPr>
          <a:xfrm>
            <a:off x="13544550" y="7482855"/>
            <a:ext cx="2008584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465"/>
              </a:lnSpc>
              <a:buNone/>
            </a:pPr>
            <a:r>
              <a:rPr lang="en-US" sz="1425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Trying Harder: The Labs</a:t>
            </a:r>
            <a:endParaRPr lang="en-US" sz="1425" dirty="0"/>
          </a:p>
        </p:txBody>
      </p:sp>
      <p:sp>
        <p:nvSpPr>
          <p:cNvPr id="77" name="Text 75"/>
          <p:cNvSpPr/>
          <p:nvPr/>
        </p:nvSpPr>
        <p:spPr>
          <a:xfrm>
            <a:off x="800100" y="8075786"/>
            <a:ext cx="16344900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6545"/>
              </a:lnSpc>
              <a:buNone/>
            </a:pPr>
            <a:r>
              <a:rPr lang="en-US" sz="1800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weightings: information not defined in the official exam outline.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800100" y="3664744"/>
            <a:ext cx="1835658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25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ORIENTATION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800100" y="4160044"/>
            <a:ext cx="1835658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652"/>
              </a:lnSpc>
              <a:buNone/>
            </a:pPr>
            <a:r>
              <a:rPr lang="en-US" sz="30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bridge between enumeration and exploitation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800100" y="4826794"/>
            <a:ext cx="5435575" cy="1795463"/>
          </a:xfrm>
          <a:prstGeom prst="roundRect">
            <a:avLst>
              <a:gd name="adj" fmla="val 8488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38225" y="5064919"/>
            <a:ext cx="5455258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SERVICES TO WEAKNESSES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38225" y="5384006"/>
            <a:ext cx="5108105" cy="1038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5 produced a list of open ports and services. This module converts that list into a prioritised set of candidate weaknesses.</a:t>
            </a:r>
            <a:endParaRPr lang="en-US" sz="1875" dirty="0"/>
          </a:p>
        </p:txBody>
      </p:sp>
      <p:sp>
        <p:nvSpPr>
          <p:cNvPr id="8" name="Shape 6"/>
          <p:cNvSpPr/>
          <p:nvPr/>
        </p:nvSpPr>
        <p:spPr>
          <a:xfrm>
            <a:off x="6426175" y="4826794"/>
            <a:ext cx="5435575" cy="1795463"/>
          </a:xfrm>
          <a:prstGeom prst="roundRect">
            <a:avLst>
              <a:gd name="adj" fmla="val 8488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664300" y="5064919"/>
            <a:ext cx="5455258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BREADTH BEFORE DEPTH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664300" y="5384006"/>
            <a:ext cx="5108105" cy="1038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scan covers many hosts and services quickly, pointing manual effort toward what is most likely to matter before Module 7 onward goes deep.</a:t>
            </a:r>
            <a:endParaRPr lang="en-US" sz="1875" dirty="0"/>
          </a:p>
        </p:txBody>
      </p:sp>
      <p:sp>
        <p:nvSpPr>
          <p:cNvPr id="11" name="Shape 9"/>
          <p:cNvSpPr/>
          <p:nvPr/>
        </p:nvSpPr>
        <p:spPr>
          <a:xfrm>
            <a:off x="12052250" y="4826794"/>
            <a:ext cx="5435650" cy="1795463"/>
          </a:xfrm>
          <a:prstGeom prst="roundRect">
            <a:avLst>
              <a:gd name="adj" fmla="val 8488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2290375" y="5064919"/>
            <a:ext cx="5455340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TOOL, NOT A VERDICT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2290375" y="5384006"/>
            <a:ext cx="5108182" cy="1038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scanner's output is a hypothesis to verify, not a confirmed finding. Every result here still needs manual validation later in the course.</a:t>
            </a:r>
            <a:endParaRPr lang="en-US" sz="1875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8118191" y="3870945"/>
            <a:ext cx="2051544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650" b="1" spc="225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 6.1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2577885" y="4385295"/>
            <a:ext cx="13132155" cy="9181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91485"/>
              </a:lnSpc>
              <a:buNone/>
            </a:pPr>
            <a:r>
              <a:rPr lang="en-US" sz="6600" b="1" spc="-37" kern="0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Vulnerability Scanning Theory</a:t>
            </a:r>
            <a:endParaRPr lang="en-US" sz="6600" dirty="0"/>
          </a:p>
        </p:txBody>
      </p:sp>
      <p:sp>
        <p:nvSpPr>
          <p:cNvPr id="5" name="Text 3"/>
          <p:cNvSpPr/>
          <p:nvPr/>
        </p:nvSpPr>
        <p:spPr>
          <a:xfrm>
            <a:off x="2767013" y="5532090"/>
            <a:ext cx="12753975" cy="9219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25405"/>
              </a:lnSpc>
              <a:buNone/>
            </a:pPr>
            <a:r>
              <a:rPr lang="en-US" sz="2400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basic understanding of the vulnerability scanning process, the different types of vulnerability scans, and the considerations that govern a scan.</a:t>
            </a:r>
            <a:endParaRPr lang="en-US" sz="2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Shape 1"/>
          <p:cNvSpPr/>
          <p:nvPr/>
        </p:nvSpPr>
        <p:spPr>
          <a:xfrm>
            <a:off x="800100" y="3233291"/>
            <a:ext cx="2895600" cy="395288"/>
          </a:xfrm>
          <a:prstGeom prst="roundRect">
            <a:avLst>
              <a:gd name="adj" fmla="val 50000"/>
            </a:avLst>
          </a:prstGeom>
          <a:solidFill>
            <a:srgbClr val="FF6A00">
              <a:alpha val="15000"/>
            </a:srgbClr>
          </a:solidFill>
          <a:ln w="9525">
            <a:solidFill>
              <a:srgbClr val="FF6A00">
                <a:alpha val="3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81075" y="3319016"/>
            <a:ext cx="2620518" cy="2619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75" kern="0" dirty="0">
                <a:solidFill>
                  <a:srgbClr val="FFD9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 6.1 · Task 1 of 3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00100" y="3876229"/>
            <a:ext cx="1835658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652"/>
              </a:lnSpc>
              <a:buNone/>
            </a:pPr>
            <a:r>
              <a:rPr lang="en-US" sz="30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vulnerability scanning process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800100" y="4542979"/>
            <a:ext cx="15304770" cy="8390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522"/>
              </a:lnSpc>
              <a:buNone/>
            </a:pPr>
            <a:r>
              <a:rPr lang="en-US" sz="2175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vulnerability scanner probes a target, fingerprints what responds, and compares those fingerprints against a maintained database of known weaknesses to produce a list of candidate findings.</a:t>
            </a:r>
            <a:endParaRPr lang="en-US" sz="2175" dirty="0"/>
          </a:p>
        </p:txBody>
      </p:sp>
      <p:sp>
        <p:nvSpPr>
          <p:cNvPr id="7" name="Shape 5"/>
          <p:cNvSpPr/>
          <p:nvPr/>
        </p:nvSpPr>
        <p:spPr>
          <a:xfrm>
            <a:off x="800100" y="5591621"/>
            <a:ext cx="8239125" cy="1462088"/>
          </a:xfrm>
          <a:prstGeom prst="roundRect">
            <a:avLst>
              <a:gd name="adj" fmla="val 10423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38225" y="5829746"/>
            <a:ext cx="8539163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 MATTERS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038225" y="6148834"/>
            <a:ext cx="7995761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scanner is only as current as its database. A result is a strong hint at what to investigate, not proof that a weakness is present or exploitable.</a:t>
            </a:r>
            <a:endParaRPr lang="en-US" sz="1875" dirty="0"/>
          </a:p>
        </p:txBody>
      </p:sp>
      <p:sp>
        <p:nvSpPr>
          <p:cNvPr id="10" name="Shape 8"/>
          <p:cNvSpPr/>
          <p:nvPr/>
        </p:nvSpPr>
        <p:spPr>
          <a:xfrm>
            <a:off x="9248775" y="5591621"/>
            <a:ext cx="8239125" cy="1462088"/>
          </a:xfrm>
          <a:prstGeom prst="roundRect">
            <a:avLst>
              <a:gd name="adj" fmla="val 10423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486900" y="5829746"/>
            <a:ext cx="8539163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CONNECTS TO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486900" y="6148834"/>
            <a:ext cx="7995761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11's public exploit search begins from exactly this output — a candidate weakness with a version number attached.</a:t>
            </a:r>
            <a:endParaRPr lang="en-US" sz="1875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Shape 1"/>
          <p:cNvSpPr/>
          <p:nvPr/>
        </p:nvSpPr>
        <p:spPr>
          <a:xfrm>
            <a:off x="800100" y="3066604"/>
            <a:ext cx="2919933" cy="395288"/>
          </a:xfrm>
          <a:prstGeom prst="roundRect">
            <a:avLst>
              <a:gd name="adj" fmla="val 50000"/>
            </a:avLst>
          </a:prstGeom>
          <a:solidFill>
            <a:srgbClr val="FF6A00">
              <a:alpha val="15000"/>
            </a:srgbClr>
          </a:solidFill>
          <a:ln w="9525">
            <a:solidFill>
              <a:srgbClr val="FF6A00">
                <a:alpha val="3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81075" y="3152329"/>
            <a:ext cx="2645581" cy="2619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75" kern="0" dirty="0">
                <a:solidFill>
                  <a:srgbClr val="FFD9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 6.1 · Task 2 of 3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00100" y="3709541"/>
            <a:ext cx="1835658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652"/>
              </a:lnSpc>
              <a:buNone/>
            </a:pPr>
            <a:r>
              <a:rPr lang="en-US" sz="30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different types of vulnerability scans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800100" y="4376291"/>
            <a:ext cx="15304770" cy="8390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522"/>
              </a:lnSpc>
              <a:buNone/>
            </a:pPr>
            <a:r>
              <a:rPr lang="en-US" sz="2175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Scans differ along more than one axis at once: how much access the scanner is given, and how broad or how deep the scan is configured to go.</a:t>
            </a:r>
            <a:endParaRPr lang="en-US" sz="2175" dirty="0"/>
          </a:p>
        </p:txBody>
      </p:sp>
      <p:sp>
        <p:nvSpPr>
          <p:cNvPr id="7" name="Shape 5"/>
          <p:cNvSpPr/>
          <p:nvPr/>
        </p:nvSpPr>
        <p:spPr>
          <a:xfrm>
            <a:off x="800100" y="5424934"/>
            <a:ext cx="8239125" cy="1795463"/>
          </a:xfrm>
          <a:prstGeom prst="roundRect">
            <a:avLst>
              <a:gd name="adj" fmla="val 8488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38225" y="5663059"/>
            <a:ext cx="8539163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UNAUTHENTICATED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038225" y="5982146"/>
            <a:ext cx="7995761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scanner probes as an outsider would, with no credentials. It sees what an attacker without access would see — a realistic but shallower picture.</a:t>
            </a:r>
            <a:endParaRPr lang="en-US" sz="1875" dirty="0"/>
          </a:p>
        </p:txBody>
      </p:sp>
      <p:sp>
        <p:nvSpPr>
          <p:cNvPr id="10" name="Shape 8"/>
          <p:cNvSpPr/>
          <p:nvPr/>
        </p:nvSpPr>
        <p:spPr>
          <a:xfrm>
            <a:off x="9248775" y="5424934"/>
            <a:ext cx="8239125" cy="1795463"/>
          </a:xfrm>
          <a:prstGeom prst="roundRect">
            <a:avLst>
              <a:gd name="adj" fmla="val 8488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486900" y="5663059"/>
            <a:ext cx="8539163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AUTHENTICATED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486900" y="5982146"/>
            <a:ext cx="7995761" cy="1038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scanner is given valid credentials and inspects the system from the inside — patch levels, installed software, local configuration — producing far greater depth.</a:t>
            </a:r>
            <a:endParaRPr lang="en-US" sz="1875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Shape 1"/>
          <p:cNvSpPr/>
          <p:nvPr/>
        </p:nvSpPr>
        <p:spPr>
          <a:xfrm>
            <a:off x="800100" y="2899916"/>
            <a:ext cx="2924994" cy="395288"/>
          </a:xfrm>
          <a:prstGeom prst="roundRect">
            <a:avLst>
              <a:gd name="adj" fmla="val 50000"/>
            </a:avLst>
          </a:prstGeom>
          <a:solidFill>
            <a:srgbClr val="FF6A00">
              <a:alpha val="15000"/>
            </a:srgbClr>
          </a:solidFill>
          <a:ln w="9525">
            <a:solidFill>
              <a:srgbClr val="FF6A00">
                <a:alpha val="3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81075" y="2985641"/>
            <a:ext cx="2650793" cy="2619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75" kern="0" dirty="0">
                <a:solidFill>
                  <a:srgbClr val="FFD9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 6.1 · Task 3 of 3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00100" y="3542854"/>
            <a:ext cx="1835658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652"/>
              </a:lnSpc>
              <a:buNone/>
            </a:pPr>
            <a:r>
              <a:rPr lang="en-US" sz="30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considerations of a vulnerability scan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800100" y="4209604"/>
            <a:ext cx="15304770" cy="8390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522"/>
              </a:lnSpc>
              <a:buNone/>
            </a:pPr>
            <a:r>
              <a:rPr lang="en-US" sz="2175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Running a scanner is not risk-free. The syllabus requires understanding the practical constraints a real environment imposes on when and how a scan can be run.</a:t>
            </a:r>
            <a:endParaRPr lang="en-US" sz="2175" dirty="0"/>
          </a:p>
        </p:txBody>
      </p:sp>
      <p:sp>
        <p:nvSpPr>
          <p:cNvPr id="7" name="Shape 5"/>
          <p:cNvSpPr/>
          <p:nvPr/>
        </p:nvSpPr>
        <p:spPr>
          <a:xfrm>
            <a:off x="800100" y="5258246"/>
            <a:ext cx="4043363" cy="2128838"/>
          </a:xfrm>
          <a:prstGeom prst="roundRect">
            <a:avLst>
              <a:gd name="adj" fmla="val 7159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38225" y="5496371"/>
            <a:ext cx="3923824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038225" y="5815459"/>
            <a:ext cx="3674126" cy="1371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Some checks can disrupt a fragile service. Fragile, older or industrial systems may need checks disabled entirely.</a:t>
            </a:r>
            <a:endParaRPr lang="en-US" sz="1875" dirty="0"/>
          </a:p>
        </p:txBody>
      </p:sp>
      <p:sp>
        <p:nvSpPr>
          <p:cNvPr id="10" name="Shape 8"/>
          <p:cNvSpPr/>
          <p:nvPr/>
        </p:nvSpPr>
        <p:spPr>
          <a:xfrm>
            <a:off x="5014913" y="5258246"/>
            <a:ext cx="4043363" cy="2128838"/>
          </a:xfrm>
          <a:prstGeom prst="roundRect">
            <a:avLst>
              <a:gd name="adj" fmla="val 7159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253038" y="5496371"/>
            <a:ext cx="3923824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TIMING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253038" y="5815459"/>
            <a:ext cx="3674126" cy="1371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full scan against a large estate takes real time, and the window must be agreed with the client in advance.</a:t>
            </a:r>
            <a:endParaRPr lang="en-US" sz="1875" dirty="0"/>
          </a:p>
        </p:txBody>
      </p:sp>
      <p:sp>
        <p:nvSpPr>
          <p:cNvPr id="13" name="Shape 11"/>
          <p:cNvSpPr/>
          <p:nvPr/>
        </p:nvSpPr>
        <p:spPr>
          <a:xfrm>
            <a:off x="9229725" y="5258246"/>
            <a:ext cx="4043363" cy="2128838"/>
          </a:xfrm>
          <a:prstGeom prst="roundRect">
            <a:avLst>
              <a:gd name="adj" fmla="val 7159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467850" y="5496371"/>
            <a:ext cx="3923824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NOISE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9467850" y="5815459"/>
            <a:ext cx="3674126" cy="1371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scan is loud and easily logged. If the engagement values stealth, an aggressive scan defeats that objective.</a:t>
            </a:r>
            <a:endParaRPr lang="en-US" sz="1875" dirty="0"/>
          </a:p>
        </p:txBody>
      </p:sp>
      <p:sp>
        <p:nvSpPr>
          <p:cNvPr id="16" name="Shape 14"/>
          <p:cNvSpPr/>
          <p:nvPr/>
        </p:nvSpPr>
        <p:spPr>
          <a:xfrm>
            <a:off x="13444538" y="5258246"/>
            <a:ext cx="4043363" cy="2128838"/>
          </a:xfrm>
          <a:prstGeom prst="roundRect">
            <a:avLst>
              <a:gd name="adj" fmla="val 7159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3682663" y="5496371"/>
            <a:ext cx="3923824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ACCURACY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3682663" y="5815459"/>
            <a:ext cx="3674126" cy="1371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Scan results include false positives and false negatives; both must be accounted for before anything is reported.</a:t>
            </a:r>
            <a:endParaRPr lang="en-US" sz="1875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800100" y="3340671"/>
            <a:ext cx="1835658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25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CRITICAL DISTINCTION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800100" y="3835971"/>
            <a:ext cx="1835658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652"/>
              </a:lnSpc>
              <a:buNone/>
            </a:pPr>
            <a:r>
              <a:rPr lang="en-US" sz="30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Authenticated versus unauthenticated scanning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800100" y="4502721"/>
            <a:ext cx="7581900" cy="1795463"/>
          </a:xfrm>
          <a:prstGeom prst="roundRect">
            <a:avLst>
              <a:gd name="adj" fmla="val 8488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38225" y="4740846"/>
            <a:ext cx="7816215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UNAUTHENTICATED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38225" y="5059933"/>
            <a:ext cx="7318820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credentials supplied. Shows what is visible from outside — realistic for simulating an external attacker, but shallow on local detail.</a:t>
            </a:r>
            <a:endParaRPr lang="en-US" sz="1875" dirty="0"/>
          </a:p>
        </p:txBody>
      </p:sp>
      <p:sp>
        <p:nvSpPr>
          <p:cNvPr id="8" name="Text 6"/>
          <p:cNvSpPr/>
          <p:nvPr/>
        </p:nvSpPr>
        <p:spPr>
          <a:xfrm>
            <a:off x="8534400" y="4502721"/>
            <a:ext cx="1219200" cy="18335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390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</a:t>
            </a:r>
            <a:endParaRPr lang="en-US" sz="3900" dirty="0"/>
          </a:p>
        </p:txBody>
      </p:sp>
      <p:sp>
        <p:nvSpPr>
          <p:cNvPr id="9" name="Shape 7"/>
          <p:cNvSpPr/>
          <p:nvPr/>
        </p:nvSpPr>
        <p:spPr>
          <a:xfrm>
            <a:off x="9906000" y="4502721"/>
            <a:ext cx="7581900" cy="1795463"/>
          </a:xfrm>
          <a:prstGeom prst="roundRect">
            <a:avLst>
              <a:gd name="adj" fmla="val 8488"/>
            </a:avLst>
          </a:prstGeom>
          <a:solidFill>
            <a:srgbClr val="FF6A00">
              <a:alpha val="6000"/>
            </a:srgbClr>
          </a:solidFill>
          <a:ln w="9525">
            <a:solidFill>
              <a:srgbClr val="B851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144125" y="4740846"/>
            <a:ext cx="7816215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AUTHENTICATED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0144125" y="5059933"/>
            <a:ext cx="7318820" cy="1038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 credentials supplied. Inspects patch levels and local configuration directly — far more thorough, but requires the client to provide access.</a:t>
            </a:r>
            <a:endParaRPr lang="en-US" sz="1875" dirty="0"/>
          </a:p>
        </p:txBody>
      </p:sp>
      <p:sp>
        <p:nvSpPr>
          <p:cNvPr id="12" name="Text 10"/>
          <p:cNvSpPr/>
          <p:nvPr/>
        </p:nvSpPr>
        <p:spPr>
          <a:xfrm>
            <a:off x="800100" y="6545833"/>
            <a:ext cx="16344900" cy="4385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522"/>
              </a:lnSpc>
              <a:buNone/>
            </a:pPr>
            <a:r>
              <a:rPr lang="en-US" sz="2175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Neither is universally correct. The choice depends entirely on what the engagement is trying to simulate or measure.</a:t>
            </a:r>
            <a:endParaRPr lang="en-US" sz="2175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800100" y="3664744"/>
            <a:ext cx="1835658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25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 6.1 RECAP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800100" y="4160044"/>
            <a:ext cx="1835658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652"/>
              </a:lnSpc>
              <a:buNone/>
            </a:pPr>
            <a:r>
              <a:rPr lang="en-US" sz="30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Scanning Theory — what you should now hold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800100" y="4826794"/>
            <a:ext cx="5435575" cy="1795463"/>
          </a:xfrm>
          <a:prstGeom prst="roundRect">
            <a:avLst>
              <a:gd name="adj" fmla="val 8488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38225" y="5064919"/>
            <a:ext cx="5455258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PROCESS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38225" y="5384006"/>
            <a:ext cx="5108105" cy="1038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Probe, fingerprint, compare against a database of known weaknesses — producing candidates, not confirmed findings.</a:t>
            </a:r>
            <a:endParaRPr lang="en-US" sz="1875" dirty="0"/>
          </a:p>
        </p:txBody>
      </p:sp>
      <p:sp>
        <p:nvSpPr>
          <p:cNvPr id="8" name="Shape 6"/>
          <p:cNvSpPr/>
          <p:nvPr/>
        </p:nvSpPr>
        <p:spPr>
          <a:xfrm>
            <a:off x="6426175" y="4826794"/>
            <a:ext cx="5435575" cy="1795463"/>
          </a:xfrm>
          <a:prstGeom prst="roundRect">
            <a:avLst>
              <a:gd name="adj" fmla="val 8488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664300" y="5064919"/>
            <a:ext cx="5455258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SCAN TYPES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664300" y="5384006"/>
            <a:ext cx="5108105" cy="1038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Authenticated versus unauthenticated is the key axis, chosen based on what the engagement needs to simulate.</a:t>
            </a:r>
            <a:endParaRPr lang="en-US" sz="1875" dirty="0"/>
          </a:p>
        </p:txBody>
      </p:sp>
      <p:sp>
        <p:nvSpPr>
          <p:cNvPr id="11" name="Shape 9"/>
          <p:cNvSpPr/>
          <p:nvPr/>
        </p:nvSpPr>
        <p:spPr>
          <a:xfrm>
            <a:off x="12052250" y="4826794"/>
            <a:ext cx="5435650" cy="1795463"/>
          </a:xfrm>
          <a:prstGeom prst="roundRect">
            <a:avLst>
              <a:gd name="adj" fmla="val 8488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2290375" y="5064919"/>
            <a:ext cx="5455340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CONSIDERATIONS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2290375" y="5384006"/>
            <a:ext cx="5108182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Impact, timing, noise and accuracy all constrain when and how a scan can responsibly be run.</a:t>
            </a:r>
            <a:endParaRPr lang="en-US" sz="1875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8098706" y="3870945"/>
            <a:ext cx="2090589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650" b="1" spc="225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 6.2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1459903" y="4385295"/>
            <a:ext cx="15368119" cy="9181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91485"/>
              </a:lnSpc>
              <a:buNone/>
            </a:pPr>
            <a:r>
              <a:rPr lang="en-US" sz="6600" b="1" spc="-37" kern="0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Vulnerability Scanning with Nessus</a:t>
            </a:r>
            <a:endParaRPr lang="en-US" sz="6600" dirty="0"/>
          </a:p>
        </p:txBody>
      </p:sp>
      <p:sp>
        <p:nvSpPr>
          <p:cNvPr id="5" name="Text 3"/>
          <p:cNvSpPr/>
          <p:nvPr/>
        </p:nvSpPr>
        <p:spPr>
          <a:xfrm>
            <a:off x="2767013" y="5532090"/>
            <a:ext cx="12753975" cy="9219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25405"/>
              </a:lnSpc>
              <a:buNone/>
            </a:pPr>
            <a:r>
              <a:rPr lang="en-US" sz="2400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Install Nessus, understand its components, configure and perform a scan, work with its results, supply credentials for an authenticated scan, and understand Nessus plugins.</a:t>
            </a:r>
            <a:endParaRPr lang="en-US" sz="2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Shape 1"/>
          <p:cNvSpPr/>
          <p:nvPr/>
        </p:nvSpPr>
        <p:spPr>
          <a:xfrm>
            <a:off x="800100" y="3066604"/>
            <a:ext cx="2932137" cy="395288"/>
          </a:xfrm>
          <a:prstGeom prst="roundRect">
            <a:avLst>
              <a:gd name="adj" fmla="val 50000"/>
            </a:avLst>
          </a:prstGeom>
          <a:solidFill>
            <a:srgbClr val="FF6A00">
              <a:alpha val="15000"/>
            </a:srgbClr>
          </a:solidFill>
          <a:ln w="9525">
            <a:solidFill>
              <a:srgbClr val="FF6A00">
                <a:alpha val="3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81075" y="3152329"/>
            <a:ext cx="2658151" cy="2619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75" kern="0" dirty="0">
                <a:solidFill>
                  <a:srgbClr val="FFD9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 6.2 · Task 1 of 6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00100" y="3709541"/>
            <a:ext cx="1835658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652"/>
              </a:lnSpc>
              <a:buNone/>
            </a:pPr>
            <a:r>
              <a:rPr lang="en-US" sz="30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Installing Nessus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800100" y="4376291"/>
            <a:ext cx="15304770" cy="8390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522"/>
              </a:lnSpc>
              <a:buNone/>
            </a:pPr>
            <a:r>
              <a:rPr lang="en-US" sz="2175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syllabus makes installation itself a stated objective. A scanner that is not correctly installed and licensed cannot update its plugin feed, which quietly degrades every scan run against it afterwards.</a:t>
            </a:r>
            <a:endParaRPr lang="en-US" sz="2175" dirty="0"/>
          </a:p>
        </p:txBody>
      </p:sp>
      <p:sp>
        <p:nvSpPr>
          <p:cNvPr id="7" name="Shape 5"/>
          <p:cNvSpPr/>
          <p:nvPr/>
        </p:nvSpPr>
        <p:spPr>
          <a:xfrm>
            <a:off x="800100" y="5424934"/>
            <a:ext cx="8239125" cy="1795463"/>
          </a:xfrm>
          <a:prstGeom prst="roundRect">
            <a:avLst>
              <a:gd name="adj" fmla="val 8488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38225" y="5663059"/>
            <a:ext cx="8539163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 MATTERS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038225" y="5982146"/>
            <a:ext cx="7995761" cy="1038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outdated plugin feed means the scanner is comparing against yesterday's known weaknesses. Installation and update discipline are part of the technique, not separate from it.</a:t>
            </a:r>
            <a:endParaRPr lang="en-US" sz="1875" dirty="0"/>
          </a:p>
        </p:txBody>
      </p:sp>
      <p:sp>
        <p:nvSpPr>
          <p:cNvPr id="10" name="Shape 8"/>
          <p:cNvSpPr/>
          <p:nvPr/>
        </p:nvSpPr>
        <p:spPr>
          <a:xfrm>
            <a:off x="9248775" y="5424934"/>
            <a:ext cx="8239125" cy="1795463"/>
          </a:xfrm>
          <a:prstGeom prst="roundRect">
            <a:avLst>
              <a:gd name="adj" fmla="val 8488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486900" y="5663059"/>
            <a:ext cx="8539163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WATCH FOR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486900" y="5982146"/>
            <a:ext cx="7995761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Environments where Nessus was installed once and never updated. Its value depends entirely on the currency of its plugin database.</a:t>
            </a:r>
            <a:endParaRPr lang="en-US" sz="1875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Shape 1"/>
          <p:cNvSpPr/>
          <p:nvPr/>
        </p:nvSpPr>
        <p:spPr>
          <a:xfrm>
            <a:off x="800100" y="3066604"/>
            <a:ext cx="2956396" cy="395288"/>
          </a:xfrm>
          <a:prstGeom prst="roundRect">
            <a:avLst>
              <a:gd name="adj" fmla="val 50000"/>
            </a:avLst>
          </a:prstGeom>
          <a:solidFill>
            <a:srgbClr val="FF6A00">
              <a:alpha val="15000"/>
            </a:srgbClr>
          </a:solidFill>
          <a:ln w="9525">
            <a:solidFill>
              <a:srgbClr val="FF6A00">
                <a:alpha val="3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81075" y="3152329"/>
            <a:ext cx="2683138" cy="2619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75" kern="0" dirty="0">
                <a:solidFill>
                  <a:srgbClr val="FFD9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 6.2 · Task 2 of 6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00100" y="3709541"/>
            <a:ext cx="1835658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652"/>
              </a:lnSpc>
              <a:buNone/>
            </a:pPr>
            <a:r>
              <a:rPr lang="en-US" sz="30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different Nessus components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800100" y="4376291"/>
            <a:ext cx="15304770" cy="8390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522"/>
              </a:lnSpc>
              <a:buNone/>
            </a:pPr>
            <a:r>
              <a:rPr lang="en-US" sz="2175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Nessus is not a single monolithic scanner. Understanding its parts explains why it can be tuned so heavily for different engagements.</a:t>
            </a:r>
            <a:endParaRPr lang="en-US" sz="2175" dirty="0"/>
          </a:p>
        </p:txBody>
      </p:sp>
      <p:sp>
        <p:nvSpPr>
          <p:cNvPr id="7" name="Shape 5"/>
          <p:cNvSpPr/>
          <p:nvPr/>
        </p:nvSpPr>
        <p:spPr>
          <a:xfrm>
            <a:off x="800100" y="5424934"/>
            <a:ext cx="4043363" cy="1795463"/>
          </a:xfrm>
          <a:prstGeom prst="roundRect">
            <a:avLst>
              <a:gd name="adj" fmla="val 8488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38225" y="5663059"/>
            <a:ext cx="3923824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SCAN ENGINE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038225" y="5982146"/>
            <a:ext cx="3674126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Performs the actual probing and fingerprinting against targets.</a:t>
            </a:r>
            <a:endParaRPr lang="en-US" sz="1875" dirty="0"/>
          </a:p>
        </p:txBody>
      </p:sp>
      <p:sp>
        <p:nvSpPr>
          <p:cNvPr id="10" name="Shape 8"/>
          <p:cNvSpPr/>
          <p:nvPr/>
        </p:nvSpPr>
        <p:spPr>
          <a:xfrm>
            <a:off x="5014913" y="5424934"/>
            <a:ext cx="4043363" cy="1795463"/>
          </a:xfrm>
          <a:prstGeom prst="roundRect">
            <a:avLst>
              <a:gd name="adj" fmla="val 8488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253038" y="5663059"/>
            <a:ext cx="3923824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PLUGIN FEED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253038" y="5982146"/>
            <a:ext cx="3674126" cy="1038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maintained, regularly updated database of checks the engine runs.</a:t>
            </a:r>
            <a:endParaRPr lang="en-US" sz="1875" dirty="0"/>
          </a:p>
        </p:txBody>
      </p:sp>
      <p:sp>
        <p:nvSpPr>
          <p:cNvPr id="13" name="Shape 11"/>
          <p:cNvSpPr/>
          <p:nvPr/>
        </p:nvSpPr>
        <p:spPr>
          <a:xfrm>
            <a:off x="9229725" y="5424934"/>
            <a:ext cx="4043363" cy="1795463"/>
          </a:xfrm>
          <a:prstGeom prst="roundRect">
            <a:avLst>
              <a:gd name="adj" fmla="val 8488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467850" y="5663059"/>
            <a:ext cx="3923824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POLICY TEMPLATES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9467850" y="5982146"/>
            <a:ext cx="3674126" cy="1038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Pre-built configurations for common scan objectives, adjustable per engagement.</a:t>
            </a:r>
            <a:endParaRPr lang="en-US" sz="1875" dirty="0"/>
          </a:p>
        </p:txBody>
      </p:sp>
      <p:sp>
        <p:nvSpPr>
          <p:cNvPr id="16" name="Shape 14"/>
          <p:cNvSpPr/>
          <p:nvPr/>
        </p:nvSpPr>
        <p:spPr>
          <a:xfrm>
            <a:off x="13444538" y="5424934"/>
            <a:ext cx="4043363" cy="1795463"/>
          </a:xfrm>
          <a:prstGeom prst="roundRect">
            <a:avLst>
              <a:gd name="adj" fmla="val 8488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3682663" y="5663059"/>
            <a:ext cx="3923824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REPORTING LAYER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3682663" y="5982146"/>
            <a:ext cx="3674126" cy="1038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Presents and exports results in a form a tester can triage and a client can eventually receive.</a:t>
            </a:r>
            <a:endParaRPr lang="en-US" sz="1875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Shape 1"/>
          <p:cNvSpPr/>
          <p:nvPr/>
        </p:nvSpPr>
        <p:spPr>
          <a:xfrm>
            <a:off x="800100" y="3233291"/>
            <a:ext cx="2961531" cy="395288"/>
          </a:xfrm>
          <a:prstGeom prst="roundRect">
            <a:avLst>
              <a:gd name="adj" fmla="val 50000"/>
            </a:avLst>
          </a:prstGeom>
          <a:solidFill>
            <a:srgbClr val="FF6A00">
              <a:alpha val="15000"/>
            </a:srgbClr>
          </a:solidFill>
          <a:ln w="9525">
            <a:solidFill>
              <a:srgbClr val="FF6A00">
                <a:alpha val="3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81075" y="3319016"/>
            <a:ext cx="2688427" cy="2619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75" kern="0" dirty="0">
                <a:solidFill>
                  <a:srgbClr val="FFD9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 6.2 · Task 3 of 6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00100" y="3876229"/>
            <a:ext cx="1835658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652"/>
              </a:lnSpc>
              <a:buNone/>
            </a:pPr>
            <a:r>
              <a:rPr lang="en-US" sz="30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Configuring and performing a scan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800100" y="4542979"/>
            <a:ext cx="15304770" cy="8390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522"/>
              </a:lnSpc>
              <a:buNone/>
            </a:pPr>
            <a:r>
              <a:rPr lang="en-US" sz="2175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Configuration is where the theory from Objective 6.1 becomes concrete: choosing a policy, scoping targets, and setting the timing and intensity the engagement's rules of engagement permit.</a:t>
            </a:r>
            <a:endParaRPr lang="en-US" sz="2175" dirty="0"/>
          </a:p>
        </p:txBody>
      </p:sp>
      <p:sp>
        <p:nvSpPr>
          <p:cNvPr id="7" name="Shape 5"/>
          <p:cNvSpPr/>
          <p:nvPr/>
        </p:nvSpPr>
        <p:spPr>
          <a:xfrm>
            <a:off x="800100" y="5591621"/>
            <a:ext cx="8239125" cy="1462088"/>
          </a:xfrm>
          <a:prstGeom prst="roundRect">
            <a:avLst>
              <a:gd name="adj" fmla="val 10423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38225" y="5829746"/>
            <a:ext cx="8539163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METHOD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038225" y="6148834"/>
            <a:ext cx="7995761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from a template matched to the objective, scope it to the authorised target range precisely, and set timing to match the agreed noise tolerance.</a:t>
            </a:r>
            <a:endParaRPr lang="en-US" sz="1875" dirty="0"/>
          </a:p>
        </p:txBody>
      </p:sp>
      <p:sp>
        <p:nvSpPr>
          <p:cNvPr id="10" name="Shape 8"/>
          <p:cNvSpPr/>
          <p:nvPr/>
        </p:nvSpPr>
        <p:spPr>
          <a:xfrm>
            <a:off x="9248775" y="5591621"/>
            <a:ext cx="8239125" cy="1462088"/>
          </a:xfrm>
          <a:prstGeom prst="roundRect">
            <a:avLst>
              <a:gd name="adj" fmla="val 10423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486900" y="5829746"/>
            <a:ext cx="8539163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WATCH FOR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486900" y="6148834"/>
            <a:ext cx="7995761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Scope creep. A target range configured slightly too broadly can scan hosts that were never authorised.</a:t>
            </a:r>
            <a:endParaRPr lang="en-US" sz="1875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Shape 1"/>
          <p:cNvSpPr/>
          <p:nvPr/>
        </p:nvSpPr>
        <p:spPr>
          <a:xfrm>
            <a:off x="800100" y="3233291"/>
            <a:ext cx="2965028" cy="395288"/>
          </a:xfrm>
          <a:prstGeom prst="roundRect">
            <a:avLst>
              <a:gd name="adj" fmla="val 50000"/>
            </a:avLst>
          </a:prstGeom>
          <a:solidFill>
            <a:srgbClr val="FF6A00">
              <a:alpha val="15000"/>
            </a:srgbClr>
          </a:solidFill>
          <a:ln w="9525">
            <a:solidFill>
              <a:srgbClr val="FF6A00">
                <a:alpha val="3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81075" y="3319016"/>
            <a:ext cx="2692029" cy="2619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75" kern="0" dirty="0">
                <a:solidFill>
                  <a:srgbClr val="FFD9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 6.2 · Task 4 of 6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00100" y="3876229"/>
            <a:ext cx="1835658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652"/>
              </a:lnSpc>
              <a:buNone/>
            </a:pPr>
            <a:r>
              <a:rPr lang="en-US" sz="30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Understanding and working with results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800100" y="4542979"/>
            <a:ext cx="15304770" cy="8390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522"/>
              </a:lnSpc>
              <a:buNone/>
            </a:pPr>
            <a:r>
              <a:rPr lang="en-US" sz="2175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Raw results need triage before they mean anything. Severity ratings help prioritise, but every candidate still requires manual verification before it can become a reportable finding.</a:t>
            </a:r>
            <a:endParaRPr lang="en-US" sz="2175" dirty="0"/>
          </a:p>
        </p:txBody>
      </p:sp>
      <p:sp>
        <p:nvSpPr>
          <p:cNvPr id="7" name="Shape 5"/>
          <p:cNvSpPr/>
          <p:nvPr/>
        </p:nvSpPr>
        <p:spPr>
          <a:xfrm>
            <a:off x="800100" y="5591621"/>
            <a:ext cx="8239125" cy="1462088"/>
          </a:xfrm>
          <a:prstGeom prst="roundRect">
            <a:avLst>
              <a:gd name="adj" fmla="val 10423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38225" y="5829746"/>
            <a:ext cx="8539163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METHOD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038225" y="6148834"/>
            <a:ext cx="7995761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Sort by severity first, then by how directly each result maps to something already confirmed reachable from Module 5's enumeration.</a:t>
            </a:r>
            <a:endParaRPr lang="en-US" sz="1875" dirty="0"/>
          </a:p>
        </p:txBody>
      </p:sp>
      <p:sp>
        <p:nvSpPr>
          <p:cNvPr id="10" name="Shape 8"/>
          <p:cNvSpPr/>
          <p:nvPr/>
        </p:nvSpPr>
        <p:spPr>
          <a:xfrm>
            <a:off x="9248775" y="5591621"/>
            <a:ext cx="8239125" cy="1462088"/>
          </a:xfrm>
          <a:prstGeom prst="roundRect">
            <a:avLst>
              <a:gd name="adj" fmla="val 10423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486900" y="5829746"/>
            <a:ext cx="8539163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CONNECTS TO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486900" y="6148834"/>
            <a:ext cx="7995761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4's finding anatomy applies here too — a scanner result is not evidence on its own until manually reproduced.</a:t>
            </a:r>
            <a:endParaRPr lang="en-US" sz="1875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Shape 1"/>
          <p:cNvSpPr/>
          <p:nvPr/>
        </p:nvSpPr>
        <p:spPr>
          <a:xfrm>
            <a:off x="800100" y="3066604"/>
            <a:ext cx="2960638" cy="395288"/>
          </a:xfrm>
          <a:prstGeom prst="roundRect">
            <a:avLst>
              <a:gd name="adj" fmla="val 50000"/>
            </a:avLst>
          </a:prstGeom>
          <a:solidFill>
            <a:srgbClr val="FF6A00">
              <a:alpha val="15000"/>
            </a:srgbClr>
          </a:solidFill>
          <a:ln w="9525">
            <a:solidFill>
              <a:srgbClr val="FF6A00">
                <a:alpha val="3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81075" y="3152329"/>
            <a:ext cx="2687507" cy="2619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75" kern="0" dirty="0">
                <a:solidFill>
                  <a:srgbClr val="FFD9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 6.2 · Task 5 of 6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00100" y="3709541"/>
            <a:ext cx="1835658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652"/>
              </a:lnSpc>
              <a:buNone/>
            </a:pPr>
            <a:r>
              <a:rPr lang="en-US" sz="30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Providing credentials for an authenticated scan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800100" y="4376291"/>
            <a:ext cx="15304770" cy="8390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522"/>
              </a:lnSpc>
              <a:buNone/>
            </a:pPr>
            <a:r>
              <a:rPr lang="en-US" sz="2175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Supplying valid credentials lets Nessus log into the target and inspect it from the inside, rather than inferring everything from external responses alone.</a:t>
            </a:r>
            <a:endParaRPr lang="en-US" sz="2175" dirty="0"/>
          </a:p>
        </p:txBody>
      </p:sp>
      <p:sp>
        <p:nvSpPr>
          <p:cNvPr id="7" name="Shape 5"/>
          <p:cNvSpPr/>
          <p:nvPr/>
        </p:nvSpPr>
        <p:spPr>
          <a:xfrm>
            <a:off x="800100" y="5424934"/>
            <a:ext cx="8239125" cy="1795463"/>
          </a:xfrm>
          <a:prstGeom prst="roundRect">
            <a:avLst>
              <a:gd name="adj" fmla="val 8488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38225" y="5663059"/>
            <a:ext cx="8539163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 MATTERS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038225" y="5982146"/>
            <a:ext cx="7995761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Authenticated scans surface local patch levels and installed software versions that an external probe simply cannot see.</a:t>
            </a:r>
            <a:endParaRPr lang="en-US" sz="1875" dirty="0"/>
          </a:p>
        </p:txBody>
      </p:sp>
      <p:sp>
        <p:nvSpPr>
          <p:cNvPr id="10" name="Shape 8"/>
          <p:cNvSpPr/>
          <p:nvPr/>
        </p:nvSpPr>
        <p:spPr>
          <a:xfrm>
            <a:off x="9248775" y="5424934"/>
            <a:ext cx="8239125" cy="1795463"/>
          </a:xfrm>
          <a:prstGeom prst="roundRect">
            <a:avLst>
              <a:gd name="adj" fmla="val 8488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486900" y="5663059"/>
            <a:ext cx="8539163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WATCH FOR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486900" y="5982146"/>
            <a:ext cx="7995761" cy="1038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Credentials with insufficient rights producing an incomplete authenticated scan that looks complete. Verify the scan actually achieved local access before trusting its depth.</a:t>
            </a:r>
            <a:endParaRPr lang="en-US" sz="1875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Shape 1"/>
          <p:cNvSpPr/>
          <p:nvPr/>
        </p:nvSpPr>
        <p:spPr>
          <a:xfrm>
            <a:off x="800100" y="3233291"/>
            <a:ext cx="2964879" cy="395288"/>
          </a:xfrm>
          <a:prstGeom prst="roundRect">
            <a:avLst>
              <a:gd name="adj" fmla="val 50000"/>
            </a:avLst>
          </a:prstGeom>
          <a:solidFill>
            <a:srgbClr val="FF6A00">
              <a:alpha val="15000"/>
            </a:srgbClr>
          </a:solidFill>
          <a:ln w="9525">
            <a:solidFill>
              <a:srgbClr val="FF6A00">
                <a:alpha val="3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81075" y="3319016"/>
            <a:ext cx="2691876" cy="2619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75" kern="0" dirty="0">
                <a:solidFill>
                  <a:srgbClr val="FFD9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 6.2 · Task 6 of 6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00100" y="3876229"/>
            <a:ext cx="1835658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652"/>
              </a:lnSpc>
              <a:buNone/>
            </a:pPr>
            <a:r>
              <a:rPr lang="en-US" sz="30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Understanding Nessus plugins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800100" y="4542979"/>
            <a:ext cx="15304770" cy="8390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522"/>
              </a:lnSpc>
              <a:buNone/>
            </a:pPr>
            <a:r>
              <a:rPr lang="en-US" sz="2175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individual check Nessus performs is a plugin. A scan result is really a statement that one specific, inspectable plugin matched against the target.</a:t>
            </a:r>
            <a:endParaRPr lang="en-US" sz="2175" dirty="0"/>
          </a:p>
        </p:txBody>
      </p:sp>
      <p:sp>
        <p:nvSpPr>
          <p:cNvPr id="7" name="Shape 5"/>
          <p:cNvSpPr/>
          <p:nvPr/>
        </p:nvSpPr>
        <p:spPr>
          <a:xfrm>
            <a:off x="800100" y="5591621"/>
            <a:ext cx="8239125" cy="1462088"/>
          </a:xfrm>
          <a:prstGeom prst="roundRect">
            <a:avLst>
              <a:gd name="adj" fmla="val 10423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38225" y="5829746"/>
            <a:ext cx="8539163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 MATTERS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038225" y="6148834"/>
            <a:ext cx="7995761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Reading the plugin behind a result explains exactly what was checked and how, turning a vague-looking finding into a precisely understood one.</a:t>
            </a:r>
            <a:endParaRPr lang="en-US" sz="1875" dirty="0"/>
          </a:p>
        </p:txBody>
      </p:sp>
      <p:sp>
        <p:nvSpPr>
          <p:cNvPr id="10" name="Shape 8"/>
          <p:cNvSpPr/>
          <p:nvPr/>
        </p:nvSpPr>
        <p:spPr>
          <a:xfrm>
            <a:off x="9248775" y="5591621"/>
            <a:ext cx="8239125" cy="1462088"/>
          </a:xfrm>
          <a:prstGeom prst="roundRect">
            <a:avLst>
              <a:gd name="adj" fmla="val 10423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486900" y="5829746"/>
            <a:ext cx="8539163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CONNECTS TO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486900" y="6148834"/>
            <a:ext cx="7995761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basic grasp of the plugin database is a basic grasp of the tool. This is a stated Learning Objective in its own right for exactly that reason.</a:t>
            </a:r>
            <a:endParaRPr lang="en-US" sz="1875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800100" y="3831431"/>
            <a:ext cx="1835658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25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800100" y="4326731"/>
            <a:ext cx="1835658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652"/>
              </a:lnSpc>
              <a:buNone/>
            </a:pPr>
            <a:r>
              <a:rPr lang="en-US" sz="30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Nessus scan, start to finish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800100" y="4993481"/>
            <a:ext cx="3571875" cy="1462088"/>
          </a:xfrm>
          <a:prstGeom prst="roundRect">
            <a:avLst>
              <a:gd name="adj" fmla="val 10423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38225" y="5231606"/>
            <a:ext cx="3405187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CONFIGURE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38225" y="5550694"/>
            <a:ext cx="3188494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Policy, scope, credentials, timing.</a:t>
            </a:r>
            <a:endParaRPr lang="en-US" sz="1875" dirty="0"/>
          </a:p>
        </p:txBody>
      </p:sp>
      <p:sp>
        <p:nvSpPr>
          <p:cNvPr id="8" name="Text 6"/>
          <p:cNvSpPr/>
          <p:nvPr/>
        </p:nvSpPr>
        <p:spPr>
          <a:xfrm>
            <a:off x="4448175" y="5476875"/>
            <a:ext cx="647700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330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3300" dirty="0"/>
          </a:p>
        </p:txBody>
      </p:sp>
      <p:sp>
        <p:nvSpPr>
          <p:cNvPr id="9" name="Shape 7"/>
          <p:cNvSpPr/>
          <p:nvPr/>
        </p:nvSpPr>
        <p:spPr>
          <a:xfrm>
            <a:off x="5172075" y="4993481"/>
            <a:ext cx="3571875" cy="1462088"/>
          </a:xfrm>
          <a:prstGeom prst="roundRect">
            <a:avLst>
              <a:gd name="adj" fmla="val 10423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10200" y="5231606"/>
            <a:ext cx="3405187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410200" y="5550694"/>
            <a:ext cx="3188494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Scan executes against the agreed scope.</a:t>
            </a:r>
            <a:endParaRPr lang="en-US" sz="1875" dirty="0"/>
          </a:p>
        </p:txBody>
      </p:sp>
      <p:sp>
        <p:nvSpPr>
          <p:cNvPr id="12" name="Text 10"/>
          <p:cNvSpPr/>
          <p:nvPr/>
        </p:nvSpPr>
        <p:spPr>
          <a:xfrm>
            <a:off x="8820150" y="5476875"/>
            <a:ext cx="647700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330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3300" dirty="0"/>
          </a:p>
        </p:txBody>
      </p:sp>
      <p:sp>
        <p:nvSpPr>
          <p:cNvPr id="13" name="Shape 11"/>
          <p:cNvSpPr/>
          <p:nvPr/>
        </p:nvSpPr>
        <p:spPr>
          <a:xfrm>
            <a:off x="9544050" y="4993481"/>
            <a:ext cx="3571875" cy="1462088"/>
          </a:xfrm>
          <a:prstGeom prst="roundRect">
            <a:avLst>
              <a:gd name="adj" fmla="val 10423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782175" y="5231606"/>
            <a:ext cx="3405187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TRIAGE RESULTS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9782175" y="5550694"/>
            <a:ext cx="3188494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Sort by severity and plausibility.</a:t>
            </a:r>
            <a:endParaRPr lang="en-US" sz="1875" dirty="0"/>
          </a:p>
        </p:txBody>
      </p:sp>
      <p:sp>
        <p:nvSpPr>
          <p:cNvPr id="16" name="Text 14"/>
          <p:cNvSpPr/>
          <p:nvPr/>
        </p:nvSpPr>
        <p:spPr>
          <a:xfrm>
            <a:off x="13192125" y="5476875"/>
            <a:ext cx="647700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330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3300" dirty="0"/>
          </a:p>
        </p:txBody>
      </p:sp>
      <p:sp>
        <p:nvSpPr>
          <p:cNvPr id="17" name="Shape 15"/>
          <p:cNvSpPr/>
          <p:nvPr/>
        </p:nvSpPr>
        <p:spPr>
          <a:xfrm>
            <a:off x="13916025" y="4993481"/>
            <a:ext cx="3571875" cy="1462088"/>
          </a:xfrm>
          <a:prstGeom prst="roundRect">
            <a:avLst>
              <a:gd name="adj" fmla="val 10423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4154150" y="5231606"/>
            <a:ext cx="3405187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VERIFY MANUALLY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4154150" y="5550694"/>
            <a:ext cx="3188494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 before it becomes a finding.</a:t>
            </a:r>
            <a:endParaRPr lang="en-US" sz="1875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800100" y="3831431"/>
            <a:ext cx="1835658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25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 6.2 RECAP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800100" y="4326731"/>
            <a:ext cx="1835658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652"/>
              </a:lnSpc>
              <a:buNone/>
            </a:pPr>
            <a:r>
              <a:rPr lang="en-US" sz="30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Nessus — what you should now hold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800100" y="4993481"/>
            <a:ext cx="5435575" cy="1462088"/>
          </a:xfrm>
          <a:prstGeom prst="roundRect">
            <a:avLst>
              <a:gd name="adj" fmla="val 10423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38225" y="5231606"/>
            <a:ext cx="5455258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SETUP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38225" y="5550694"/>
            <a:ext cx="5108105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Installed, licensed and kept current, with a clear grasp of its four component parts.</a:t>
            </a:r>
            <a:endParaRPr lang="en-US" sz="1875" dirty="0"/>
          </a:p>
        </p:txBody>
      </p:sp>
      <p:sp>
        <p:nvSpPr>
          <p:cNvPr id="8" name="Shape 6"/>
          <p:cNvSpPr/>
          <p:nvPr/>
        </p:nvSpPr>
        <p:spPr>
          <a:xfrm>
            <a:off x="6426175" y="4993481"/>
            <a:ext cx="5435575" cy="1462088"/>
          </a:xfrm>
          <a:prstGeom prst="roundRect">
            <a:avLst>
              <a:gd name="adj" fmla="val 10423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664300" y="5231606"/>
            <a:ext cx="5455258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664300" y="5550694"/>
            <a:ext cx="5108105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Configured to scope, run either authenticated or unauthenticated, and triaged by severity.</a:t>
            </a:r>
            <a:endParaRPr lang="en-US" sz="1875" dirty="0"/>
          </a:p>
        </p:txBody>
      </p:sp>
      <p:sp>
        <p:nvSpPr>
          <p:cNvPr id="11" name="Shape 9"/>
          <p:cNvSpPr/>
          <p:nvPr/>
        </p:nvSpPr>
        <p:spPr>
          <a:xfrm>
            <a:off x="12052250" y="4993481"/>
            <a:ext cx="5435650" cy="1462088"/>
          </a:xfrm>
          <a:prstGeom prst="roundRect">
            <a:avLst>
              <a:gd name="adj" fmla="val 10423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2290375" y="5231606"/>
            <a:ext cx="5455340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PLUGINS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2290375" y="5550694"/>
            <a:ext cx="5108182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result traces to one specific, inspectable check — read it before you trust it.</a:t>
            </a:r>
            <a:endParaRPr lang="en-US" sz="1875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8097482" y="3870945"/>
            <a:ext cx="2092962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650" b="1" spc="225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 6.3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1791664" y="4385295"/>
            <a:ext cx="14704598" cy="9181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91485"/>
              </a:lnSpc>
              <a:buNone/>
            </a:pPr>
            <a:r>
              <a:rPr lang="en-US" sz="6600" b="1" spc="-37" kern="0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Vulnerability Scanning with Nmap</a:t>
            </a:r>
            <a:endParaRPr lang="en-US" sz="6600" dirty="0"/>
          </a:p>
        </p:txBody>
      </p:sp>
      <p:sp>
        <p:nvSpPr>
          <p:cNvPr id="5" name="Text 3"/>
          <p:cNvSpPr/>
          <p:nvPr/>
        </p:nvSpPr>
        <p:spPr>
          <a:xfrm>
            <a:off x="2767013" y="5532090"/>
            <a:ext cx="12753975" cy="9219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25405"/>
              </a:lnSpc>
              <a:buNone/>
            </a:pPr>
            <a:r>
              <a:rPr lang="en-US" sz="2400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basics of the Nmap Scripting Engine, performing a lightweight vulnerability scan, and working with custom NSE scripts.</a:t>
            </a:r>
            <a:endParaRPr lang="en-US" sz="24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Shape 1"/>
          <p:cNvSpPr/>
          <p:nvPr/>
        </p:nvSpPr>
        <p:spPr>
          <a:xfrm>
            <a:off x="800100" y="2899916"/>
            <a:ext cx="2930054" cy="395288"/>
          </a:xfrm>
          <a:prstGeom prst="roundRect">
            <a:avLst>
              <a:gd name="adj" fmla="val 50000"/>
            </a:avLst>
          </a:prstGeom>
          <a:solidFill>
            <a:srgbClr val="FF6A00">
              <a:alpha val="15000"/>
            </a:srgbClr>
          </a:solidFill>
          <a:ln w="9525">
            <a:solidFill>
              <a:srgbClr val="FF6A00">
                <a:alpha val="3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81075" y="2985641"/>
            <a:ext cx="2656005" cy="2619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75" kern="0" dirty="0">
                <a:solidFill>
                  <a:srgbClr val="FFD9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 6.3 · Task 1 of 3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00100" y="3542854"/>
            <a:ext cx="1835658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652"/>
              </a:lnSpc>
              <a:buNone/>
            </a:pPr>
            <a:r>
              <a:rPr lang="en-US" sz="30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basics of the Nmap Scripting Engine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800100" y="4209604"/>
            <a:ext cx="15304770" cy="8390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522"/>
              </a:lnSpc>
              <a:buNone/>
            </a:pPr>
            <a:r>
              <a:rPr lang="en-US" sz="2175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Nmap Scripting Engine extends Nmap beyond port scanning into scriptable checks, organised into categories that signal what each script actually does.</a:t>
            </a:r>
            <a:endParaRPr lang="en-US" sz="2175" dirty="0"/>
          </a:p>
        </p:txBody>
      </p:sp>
      <p:sp>
        <p:nvSpPr>
          <p:cNvPr id="7" name="Shape 5"/>
          <p:cNvSpPr/>
          <p:nvPr/>
        </p:nvSpPr>
        <p:spPr>
          <a:xfrm>
            <a:off x="800100" y="5258246"/>
            <a:ext cx="4043363" cy="2128838"/>
          </a:xfrm>
          <a:prstGeom prst="roundRect">
            <a:avLst>
              <a:gd name="adj" fmla="val 7159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38225" y="5496371"/>
            <a:ext cx="3923824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DISCOVERY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038225" y="5815459"/>
            <a:ext cx="3674126" cy="1038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Additional host and service discovery beyond a plain port scan.</a:t>
            </a:r>
            <a:endParaRPr lang="en-US" sz="1875" dirty="0"/>
          </a:p>
        </p:txBody>
      </p:sp>
      <p:sp>
        <p:nvSpPr>
          <p:cNvPr id="10" name="Shape 8"/>
          <p:cNvSpPr/>
          <p:nvPr/>
        </p:nvSpPr>
        <p:spPr>
          <a:xfrm>
            <a:off x="5014913" y="5258246"/>
            <a:ext cx="4043363" cy="2128838"/>
          </a:xfrm>
          <a:prstGeom prst="roundRect">
            <a:avLst>
              <a:gd name="adj" fmla="val 7159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253038" y="5496371"/>
            <a:ext cx="3923824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VULN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253038" y="5815459"/>
            <a:ext cx="3674126" cy="1371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Checks for specific known vulnerabilities, directly comparable in purpose to a dedicated scanner's plugins.</a:t>
            </a:r>
            <a:endParaRPr lang="en-US" sz="1875" dirty="0"/>
          </a:p>
        </p:txBody>
      </p:sp>
      <p:sp>
        <p:nvSpPr>
          <p:cNvPr id="13" name="Shape 11"/>
          <p:cNvSpPr/>
          <p:nvPr/>
        </p:nvSpPr>
        <p:spPr>
          <a:xfrm>
            <a:off x="9229725" y="5258246"/>
            <a:ext cx="4043363" cy="2128838"/>
          </a:xfrm>
          <a:prstGeom prst="roundRect">
            <a:avLst>
              <a:gd name="adj" fmla="val 7159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467850" y="5496371"/>
            <a:ext cx="3923824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 / BRUTE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9467850" y="5815459"/>
            <a:ext cx="3674126" cy="1038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Scripts testing authentication mechanisms and credential strength.</a:t>
            </a:r>
            <a:endParaRPr lang="en-US" sz="1875" dirty="0"/>
          </a:p>
        </p:txBody>
      </p:sp>
      <p:sp>
        <p:nvSpPr>
          <p:cNvPr id="16" name="Shape 14"/>
          <p:cNvSpPr/>
          <p:nvPr/>
        </p:nvSpPr>
        <p:spPr>
          <a:xfrm>
            <a:off x="13444538" y="5258246"/>
            <a:ext cx="4043363" cy="2128838"/>
          </a:xfrm>
          <a:prstGeom prst="roundRect">
            <a:avLst>
              <a:gd name="adj" fmla="val 7159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3682663" y="5496371"/>
            <a:ext cx="3923824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 VS INTRUSIVE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3682663" y="5815459"/>
            <a:ext cx="3674126" cy="1371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Some scripts only observe; others could disrupt a fragile service, echoing the impact consideration from Objective 6.1.</a:t>
            </a:r>
            <a:endParaRPr lang="en-US" sz="1875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Shape 1"/>
          <p:cNvSpPr/>
          <p:nvPr/>
        </p:nvSpPr>
        <p:spPr>
          <a:xfrm>
            <a:off x="800100" y="2795141"/>
            <a:ext cx="2954313" cy="395288"/>
          </a:xfrm>
          <a:prstGeom prst="roundRect">
            <a:avLst>
              <a:gd name="adj" fmla="val 50000"/>
            </a:avLst>
          </a:prstGeom>
          <a:solidFill>
            <a:srgbClr val="FF6A00">
              <a:alpha val="15000"/>
            </a:srgbClr>
          </a:solidFill>
          <a:ln w="9525">
            <a:solidFill>
              <a:srgbClr val="FF6A00">
                <a:alpha val="3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81075" y="2880866"/>
            <a:ext cx="2680992" cy="2619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75" kern="0" dirty="0">
                <a:solidFill>
                  <a:srgbClr val="FFD9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 6.3 · Task 2 of 3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00100" y="3438079"/>
            <a:ext cx="1835658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652"/>
              </a:lnSpc>
              <a:buNone/>
            </a:pPr>
            <a:r>
              <a:rPr lang="en-US" sz="30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Performing a lightweight vulnerability scan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800100" y="4104829"/>
            <a:ext cx="16687800" cy="628650"/>
          </a:xfrm>
          <a:prstGeom prst="roundRect">
            <a:avLst>
              <a:gd name="adj" fmla="val 18182"/>
            </a:avLst>
          </a:prstGeom>
          <a:solidFill>
            <a:srgbClr val="000000">
              <a:alpha val="35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19175" y="4285804"/>
            <a:ext cx="16750284" cy="3048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FD9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nmap --script vuln &lt;target&gt;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00100" y="4981129"/>
            <a:ext cx="15304770" cy="8390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522"/>
              </a:lnSpc>
              <a:buNone/>
            </a:pPr>
            <a:r>
              <a:rPr lang="en-US" sz="2175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Running Nmap's vuln category directly against known open ports gives a fast, low-overhead alternative to a full dedicated scanner run, useful when speed or minimal footprint matters more than exhaustive coverage.</a:t>
            </a:r>
            <a:endParaRPr lang="en-US" sz="2175" dirty="0"/>
          </a:p>
        </p:txBody>
      </p:sp>
      <p:sp>
        <p:nvSpPr>
          <p:cNvPr id="9" name="Shape 7"/>
          <p:cNvSpPr/>
          <p:nvPr/>
        </p:nvSpPr>
        <p:spPr>
          <a:xfrm>
            <a:off x="800100" y="6029771"/>
            <a:ext cx="8239125" cy="1462088"/>
          </a:xfrm>
          <a:prstGeom prst="roundRect">
            <a:avLst>
              <a:gd name="adj" fmla="val 10423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38225" y="6267896"/>
            <a:ext cx="8539163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 MATTERS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038225" y="6586984"/>
            <a:ext cx="7995761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tool already open from Module 5's port scan can immediately extend into a vulnerability check, without switching tools or context.</a:t>
            </a:r>
            <a:endParaRPr lang="en-US" sz="1875" dirty="0"/>
          </a:p>
        </p:txBody>
      </p:sp>
      <p:sp>
        <p:nvSpPr>
          <p:cNvPr id="12" name="Shape 10"/>
          <p:cNvSpPr/>
          <p:nvPr/>
        </p:nvSpPr>
        <p:spPr>
          <a:xfrm>
            <a:off x="9248775" y="6029771"/>
            <a:ext cx="8239125" cy="1462088"/>
          </a:xfrm>
          <a:prstGeom prst="roundRect">
            <a:avLst>
              <a:gd name="adj" fmla="val 10423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486900" y="6267896"/>
            <a:ext cx="8539163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LIMITATION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9486900" y="6586984"/>
            <a:ext cx="7995761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NSE's vuln scripts cover far less ground than a maintained plugin database. It complements Nessus; it does not replace it.</a:t>
            </a:r>
            <a:endParaRPr lang="en-US" sz="1875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Shape 1"/>
          <p:cNvSpPr/>
          <p:nvPr/>
        </p:nvSpPr>
        <p:spPr>
          <a:xfrm>
            <a:off x="800100" y="3233291"/>
            <a:ext cx="2959447" cy="395288"/>
          </a:xfrm>
          <a:prstGeom prst="roundRect">
            <a:avLst>
              <a:gd name="adj" fmla="val 50000"/>
            </a:avLst>
          </a:prstGeom>
          <a:solidFill>
            <a:srgbClr val="FF6A00">
              <a:alpha val="15000"/>
            </a:srgbClr>
          </a:solidFill>
          <a:ln w="9525">
            <a:solidFill>
              <a:srgbClr val="FF6A00">
                <a:alpha val="3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81075" y="3319016"/>
            <a:ext cx="2686281" cy="2619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75" kern="0" dirty="0">
                <a:solidFill>
                  <a:srgbClr val="FFD9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 6.3 · Task 3 of 3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00100" y="3876229"/>
            <a:ext cx="1835658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652"/>
              </a:lnSpc>
              <a:buNone/>
            </a:pPr>
            <a:r>
              <a:rPr lang="en-US" sz="30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Working with custom NSE scripts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800100" y="4542979"/>
            <a:ext cx="15304770" cy="8390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522"/>
              </a:lnSpc>
              <a:buNone/>
            </a:pPr>
            <a:r>
              <a:rPr lang="en-US" sz="2175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Beyond the scripts shipped with Nmap, a tester can write or adapt a custom NSE script to check for a condition specific to one engagement that no built-in script covers.</a:t>
            </a:r>
            <a:endParaRPr lang="en-US" sz="2175" dirty="0"/>
          </a:p>
        </p:txBody>
      </p:sp>
      <p:sp>
        <p:nvSpPr>
          <p:cNvPr id="7" name="Shape 5"/>
          <p:cNvSpPr/>
          <p:nvPr/>
        </p:nvSpPr>
        <p:spPr>
          <a:xfrm>
            <a:off x="800100" y="5591621"/>
            <a:ext cx="8239125" cy="1462088"/>
          </a:xfrm>
          <a:prstGeom prst="roundRect">
            <a:avLst>
              <a:gd name="adj" fmla="val 10423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38225" y="5829746"/>
            <a:ext cx="8539163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 MATTERS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038225" y="6148834"/>
            <a:ext cx="7995761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one-off or newly disclosed condition may have no existing plugin or script. A custom script closes that gap without waiting for a vendor update.</a:t>
            </a:r>
            <a:endParaRPr lang="en-US" sz="1875" dirty="0"/>
          </a:p>
        </p:txBody>
      </p:sp>
      <p:sp>
        <p:nvSpPr>
          <p:cNvPr id="10" name="Shape 8"/>
          <p:cNvSpPr/>
          <p:nvPr/>
        </p:nvSpPr>
        <p:spPr>
          <a:xfrm>
            <a:off x="9248775" y="5591621"/>
            <a:ext cx="8239125" cy="1462088"/>
          </a:xfrm>
          <a:prstGeom prst="roundRect">
            <a:avLst>
              <a:gd name="adj" fmla="val 10423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486900" y="5829746"/>
            <a:ext cx="8539163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WATCH FOR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486900" y="6148834"/>
            <a:ext cx="7995761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same risk from Module 11 applies here: a custom or third-party script should be read and understood before being run against a live target.</a:t>
            </a:r>
            <a:endParaRPr lang="en-US" sz="1875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800100" y="3507358"/>
            <a:ext cx="1835658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25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CRITICAL DISTINCTION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800100" y="4002658"/>
            <a:ext cx="1835658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652"/>
              </a:lnSpc>
              <a:buNone/>
            </a:pPr>
            <a:r>
              <a:rPr lang="en-US" sz="30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Nessus versus Nmap NSE for vulnerability scanning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800100" y="4669408"/>
            <a:ext cx="7581900" cy="1462088"/>
          </a:xfrm>
          <a:prstGeom prst="roundRect">
            <a:avLst>
              <a:gd name="adj" fmla="val 10423"/>
            </a:avLst>
          </a:prstGeom>
          <a:solidFill>
            <a:srgbClr val="FF6A00">
              <a:alpha val="6000"/>
            </a:srgbClr>
          </a:solidFill>
          <a:ln w="9525">
            <a:solidFill>
              <a:srgbClr val="B851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38225" y="4907533"/>
            <a:ext cx="7816215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NESSUS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38225" y="5226621"/>
            <a:ext cx="7318820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dedicated scanner with a large, regularly updated plugin database. The right choice for broad, thorough coverage of an estate.</a:t>
            </a:r>
            <a:endParaRPr lang="en-US" sz="1875" dirty="0"/>
          </a:p>
        </p:txBody>
      </p:sp>
      <p:sp>
        <p:nvSpPr>
          <p:cNvPr id="8" name="Text 6"/>
          <p:cNvSpPr/>
          <p:nvPr/>
        </p:nvSpPr>
        <p:spPr>
          <a:xfrm>
            <a:off x="8534400" y="4669408"/>
            <a:ext cx="1219200" cy="1500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390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</a:t>
            </a:r>
            <a:endParaRPr lang="en-US" sz="3900" dirty="0"/>
          </a:p>
        </p:txBody>
      </p:sp>
      <p:sp>
        <p:nvSpPr>
          <p:cNvPr id="9" name="Shape 7"/>
          <p:cNvSpPr/>
          <p:nvPr/>
        </p:nvSpPr>
        <p:spPr>
          <a:xfrm>
            <a:off x="9906000" y="4669408"/>
            <a:ext cx="7581900" cy="1462088"/>
          </a:xfrm>
          <a:prstGeom prst="roundRect">
            <a:avLst>
              <a:gd name="adj" fmla="val 10423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144125" y="4907533"/>
            <a:ext cx="7816215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NMAP NSE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0144125" y="5226621"/>
            <a:ext cx="7318820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Lightweight and immediate, already open from the port scan. The right choice for speed, a minimal footprint, or a one-off custom check.</a:t>
            </a:r>
            <a:endParaRPr lang="en-US" sz="1875" dirty="0"/>
          </a:p>
        </p:txBody>
      </p:sp>
      <p:sp>
        <p:nvSpPr>
          <p:cNvPr id="12" name="Text 10"/>
          <p:cNvSpPr/>
          <p:nvPr/>
        </p:nvSpPr>
        <p:spPr>
          <a:xfrm>
            <a:off x="800100" y="6379146"/>
            <a:ext cx="16344900" cy="4385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522"/>
              </a:lnSpc>
              <a:buNone/>
            </a:pPr>
            <a:r>
              <a:rPr lang="en-US" sz="2175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Distinct from replacing one another: most engagements use both, at different points and for different purposes.</a:t>
            </a:r>
            <a:endParaRPr lang="en-US" sz="2175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800100" y="3831431"/>
            <a:ext cx="1835658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25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 6.3 RECAP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800100" y="4326731"/>
            <a:ext cx="1835658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652"/>
              </a:lnSpc>
              <a:buNone/>
            </a:pPr>
            <a:r>
              <a:rPr lang="en-US" sz="30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Nmap NSE Scanning — what you should now hold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800100" y="4993481"/>
            <a:ext cx="8239125" cy="1462088"/>
          </a:xfrm>
          <a:prstGeom prst="roundRect">
            <a:avLst>
              <a:gd name="adj" fmla="val 10423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38225" y="5231606"/>
            <a:ext cx="8539163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ENGINE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38225" y="5550694"/>
            <a:ext cx="7995761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NSE scripts are organised into categories, and vary from purely observational to potentially disruptive.</a:t>
            </a:r>
            <a:endParaRPr lang="en-US" sz="1875" dirty="0"/>
          </a:p>
        </p:txBody>
      </p:sp>
      <p:sp>
        <p:nvSpPr>
          <p:cNvPr id="8" name="Shape 6"/>
          <p:cNvSpPr/>
          <p:nvPr/>
        </p:nvSpPr>
        <p:spPr>
          <a:xfrm>
            <a:off x="9248775" y="4993481"/>
            <a:ext cx="8239125" cy="1462088"/>
          </a:xfrm>
          <a:prstGeom prst="roundRect">
            <a:avLst>
              <a:gd name="adj" fmla="val 10423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486900" y="5231606"/>
            <a:ext cx="8539163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TO USE IT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9486900" y="5550694"/>
            <a:ext cx="7995761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Fast, lightweight checks or custom conditions — complementing a dedicated scanner, not replacing it.</a:t>
            </a:r>
            <a:endParaRPr lang="en-US" sz="1875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800100" y="3140422"/>
            <a:ext cx="1835658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25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APPLIED SCENARIO · DISCUSSION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800100" y="3635722"/>
            <a:ext cx="1835658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652"/>
              </a:lnSpc>
              <a:buNone/>
            </a:pPr>
            <a:r>
              <a:rPr lang="en-US" sz="30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Choosing a scanning approach under constraints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800100" y="4302472"/>
            <a:ext cx="15304770" cy="8390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522"/>
              </a:lnSpc>
              <a:buNone/>
            </a:pPr>
            <a:r>
              <a:rPr lang="en-US" sz="2175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are engaged to assess an internal estate of 40 hosts. The client can supply domain credentials, but the rules of engagement specify a strict two-hour scanning window and ask that the most fragile legacy systems not be disrupted.</a:t>
            </a:r>
            <a:endParaRPr lang="en-US" sz="2175" dirty="0"/>
          </a:p>
        </p:txBody>
      </p:sp>
      <p:sp>
        <p:nvSpPr>
          <p:cNvPr id="6" name="Shape 4"/>
          <p:cNvSpPr/>
          <p:nvPr/>
        </p:nvSpPr>
        <p:spPr>
          <a:xfrm>
            <a:off x="800100" y="5351115"/>
            <a:ext cx="5435575" cy="1795463"/>
          </a:xfrm>
          <a:prstGeom prst="roundRect">
            <a:avLst>
              <a:gd name="adj" fmla="val 8488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38225" y="5589240"/>
            <a:ext cx="5455258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CONSIDER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038225" y="5908328"/>
            <a:ext cx="5108105" cy="1038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Would you run an authenticated or unauthenticated scan here, and what does that choice cost you if you choose wrong?</a:t>
            </a:r>
            <a:endParaRPr lang="en-US" sz="1875" dirty="0"/>
          </a:p>
        </p:txBody>
      </p:sp>
      <p:sp>
        <p:nvSpPr>
          <p:cNvPr id="9" name="Shape 7"/>
          <p:cNvSpPr/>
          <p:nvPr/>
        </p:nvSpPr>
        <p:spPr>
          <a:xfrm>
            <a:off x="6426175" y="5351115"/>
            <a:ext cx="5435575" cy="1795463"/>
          </a:xfrm>
          <a:prstGeom prst="roundRect">
            <a:avLst>
              <a:gd name="adj" fmla="val 8488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664300" y="5589240"/>
            <a:ext cx="5455258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CONSIDER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664300" y="5908328"/>
            <a:ext cx="5108105" cy="1038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would the fragile legacy systems change your Nessus configuration, or push you toward Nmap NSE instead?</a:t>
            </a:r>
            <a:endParaRPr lang="en-US" sz="1875" dirty="0"/>
          </a:p>
        </p:txBody>
      </p:sp>
      <p:sp>
        <p:nvSpPr>
          <p:cNvPr id="12" name="Shape 10"/>
          <p:cNvSpPr/>
          <p:nvPr/>
        </p:nvSpPr>
        <p:spPr>
          <a:xfrm>
            <a:off x="12052250" y="5351115"/>
            <a:ext cx="5435650" cy="1795463"/>
          </a:xfrm>
          <a:prstGeom prst="roundRect">
            <a:avLst>
              <a:gd name="adj" fmla="val 8488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290375" y="5589240"/>
            <a:ext cx="5455340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CONSIDER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2290375" y="5908328"/>
            <a:ext cx="5108182" cy="1038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would you record in your notes, per Module 4, to justify the scanning choices you made if questioned later?</a:t>
            </a:r>
            <a:endParaRPr lang="en-US" sz="1875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Shape 1"/>
          <p:cNvSpPr/>
          <p:nvPr/>
        </p:nvSpPr>
        <p:spPr>
          <a:xfrm>
            <a:off x="800100" y="3233291"/>
            <a:ext cx="2323505" cy="395288"/>
          </a:xfrm>
          <a:prstGeom prst="roundRect">
            <a:avLst>
              <a:gd name="adj" fmla="val 50000"/>
            </a:avLst>
          </a:prstGeom>
          <a:solidFill>
            <a:srgbClr val="FF6A00">
              <a:alpha val="15000"/>
            </a:srgbClr>
          </a:solidFill>
          <a:ln w="9525">
            <a:solidFill>
              <a:srgbClr val="FF6A00">
                <a:alpha val="3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81075" y="3319016"/>
            <a:ext cx="2037755" cy="2619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75" kern="0" dirty="0">
                <a:solidFill>
                  <a:srgbClr val="FFD9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Practical skill 1 of 3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00100" y="3876229"/>
            <a:ext cx="1835658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652"/>
              </a:lnSpc>
              <a:buNone/>
            </a:pPr>
            <a:r>
              <a:rPr lang="en-US" sz="30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Verifying before reporting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800100" y="4542979"/>
            <a:ext cx="15304770" cy="8390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522"/>
              </a:lnSpc>
              <a:buNone/>
            </a:pPr>
            <a:r>
              <a:rPr lang="en-US" sz="2175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Never carry a raw scanner result straight into a report. Reproduce it manually first, and only then does it qualify as a finding under Module 4's anatomy.</a:t>
            </a:r>
            <a:endParaRPr lang="en-US" sz="2175" dirty="0"/>
          </a:p>
        </p:txBody>
      </p:sp>
      <p:sp>
        <p:nvSpPr>
          <p:cNvPr id="7" name="Shape 5"/>
          <p:cNvSpPr/>
          <p:nvPr/>
        </p:nvSpPr>
        <p:spPr>
          <a:xfrm>
            <a:off x="800100" y="5591621"/>
            <a:ext cx="8239125" cy="1462088"/>
          </a:xfrm>
          <a:prstGeom prst="roundRect">
            <a:avLst>
              <a:gd name="adj" fmla="val 10423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38225" y="5829746"/>
            <a:ext cx="8539163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METHOD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038225" y="6148834"/>
            <a:ext cx="7995761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each candidate result, attempt to manually reproduce the underlying condition before drafting the finding's evidence section.</a:t>
            </a:r>
            <a:endParaRPr lang="en-US" sz="1875" dirty="0"/>
          </a:p>
        </p:txBody>
      </p:sp>
      <p:sp>
        <p:nvSpPr>
          <p:cNvPr id="10" name="Shape 8"/>
          <p:cNvSpPr/>
          <p:nvPr/>
        </p:nvSpPr>
        <p:spPr>
          <a:xfrm>
            <a:off x="9248775" y="5591621"/>
            <a:ext cx="8239125" cy="1462088"/>
          </a:xfrm>
          <a:prstGeom prst="roundRect">
            <a:avLst>
              <a:gd name="adj" fmla="val 10423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486900" y="5829746"/>
            <a:ext cx="8539163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 MATTERS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486900" y="6148834"/>
            <a:ext cx="7995761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False positives reported as confirmed findings damage the credibility of the entire report, not just that one line item.</a:t>
            </a:r>
            <a:endParaRPr lang="en-US" sz="1875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Shape 1"/>
          <p:cNvSpPr/>
          <p:nvPr/>
        </p:nvSpPr>
        <p:spPr>
          <a:xfrm>
            <a:off x="800100" y="3233291"/>
            <a:ext cx="2347764" cy="395288"/>
          </a:xfrm>
          <a:prstGeom prst="roundRect">
            <a:avLst>
              <a:gd name="adj" fmla="val 50000"/>
            </a:avLst>
          </a:prstGeom>
          <a:solidFill>
            <a:srgbClr val="FF6A00">
              <a:alpha val="15000"/>
            </a:srgbClr>
          </a:solidFill>
          <a:ln w="9525">
            <a:solidFill>
              <a:srgbClr val="FF6A00">
                <a:alpha val="3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81075" y="3319016"/>
            <a:ext cx="2062014" cy="2619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75" kern="0" dirty="0">
                <a:solidFill>
                  <a:srgbClr val="FFD9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Practical skill 2 of 3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00100" y="3876229"/>
            <a:ext cx="1835658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652"/>
              </a:lnSpc>
              <a:buNone/>
            </a:pPr>
            <a:r>
              <a:rPr lang="en-US" sz="30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Matching scan configuration to the environment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800100" y="4542979"/>
            <a:ext cx="15304770" cy="8390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522"/>
              </a:lnSpc>
              <a:buNone/>
            </a:pPr>
            <a:r>
              <a:rPr lang="en-US" sz="2175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Configure scan intensity, timing and authenticated status deliberately against the engagement's stated constraints — never against a single default template.</a:t>
            </a:r>
            <a:endParaRPr lang="en-US" sz="2175" dirty="0"/>
          </a:p>
        </p:txBody>
      </p:sp>
      <p:sp>
        <p:nvSpPr>
          <p:cNvPr id="7" name="Shape 5"/>
          <p:cNvSpPr/>
          <p:nvPr/>
        </p:nvSpPr>
        <p:spPr>
          <a:xfrm>
            <a:off x="800100" y="5591621"/>
            <a:ext cx="8239125" cy="1462088"/>
          </a:xfrm>
          <a:prstGeom prst="roundRect">
            <a:avLst>
              <a:gd name="adj" fmla="val 10423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38225" y="5829746"/>
            <a:ext cx="8539163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METHOD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038225" y="6148834"/>
            <a:ext cx="7995761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scanning, restate the agreed timing window, noise tolerance and any excluded systems, then set configuration to match exactly.</a:t>
            </a:r>
            <a:endParaRPr lang="en-US" sz="1875" dirty="0"/>
          </a:p>
        </p:txBody>
      </p:sp>
      <p:sp>
        <p:nvSpPr>
          <p:cNvPr id="10" name="Shape 8"/>
          <p:cNvSpPr/>
          <p:nvPr/>
        </p:nvSpPr>
        <p:spPr>
          <a:xfrm>
            <a:off x="9248775" y="5591621"/>
            <a:ext cx="8239125" cy="1462088"/>
          </a:xfrm>
          <a:prstGeom prst="roundRect">
            <a:avLst>
              <a:gd name="adj" fmla="val 10423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486900" y="5829746"/>
            <a:ext cx="8539163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CONNECTS TO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486900" y="6148834"/>
            <a:ext cx="7995761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is Module 4's environment considerations section, populated before the scan runs rather than reconstructed after it.</a:t>
            </a:r>
            <a:endParaRPr lang="en-US" sz="1875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Shape 1"/>
          <p:cNvSpPr/>
          <p:nvPr/>
        </p:nvSpPr>
        <p:spPr>
          <a:xfrm>
            <a:off x="800100" y="3233291"/>
            <a:ext cx="2352898" cy="395288"/>
          </a:xfrm>
          <a:prstGeom prst="roundRect">
            <a:avLst>
              <a:gd name="adj" fmla="val 50000"/>
            </a:avLst>
          </a:prstGeom>
          <a:solidFill>
            <a:srgbClr val="FF6A00">
              <a:alpha val="15000"/>
            </a:srgbClr>
          </a:solidFill>
          <a:ln w="9525">
            <a:solidFill>
              <a:srgbClr val="FF6A00">
                <a:alpha val="3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81075" y="3319016"/>
            <a:ext cx="2067148" cy="2619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75" kern="0" dirty="0">
                <a:solidFill>
                  <a:srgbClr val="FFD9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Practical skill 3 of 3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00100" y="3876229"/>
            <a:ext cx="1835658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652"/>
              </a:lnSpc>
              <a:buNone/>
            </a:pPr>
            <a:r>
              <a:rPr lang="en-US" sz="30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Reading the check behind the result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800100" y="4542979"/>
            <a:ext cx="15304770" cy="8390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522"/>
              </a:lnSpc>
              <a:buNone/>
            </a:pPr>
            <a:r>
              <a:rPr lang="en-US" sz="2175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acting on any scanner output, read the specific Nessus plugin or NSE script that produced it. The headline severity rating alone is not enough context to act on.</a:t>
            </a:r>
            <a:endParaRPr lang="en-US" sz="2175" dirty="0"/>
          </a:p>
        </p:txBody>
      </p:sp>
      <p:sp>
        <p:nvSpPr>
          <p:cNvPr id="7" name="Shape 5"/>
          <p:cNvSpPr/>
          <p:nvPr/>
        </p:nvSpPr>
        <p:spPr>
          <a:xfrm>
            <a:off x="800100" y="5591621"/>
            <a:ext cx="8239125" cy="1462088"/>
          </a:xfrm>
          <a:prstGeom prst="roundRect">
            <a:avLst>
              <a:gd name="adj" fmla="val 10423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38225" y="5829746"/>
            <a:ext cx="8539163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METHOD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038225" y="6148834"/>
            <a:ext cx="7995761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the plugin or script source, note exactly what condition it tests for, and confirm that condition genuinely applies to this target.</a:t>
            </a:r>
            <a:endParaRPr lang="en-US" sz="1875" dirty="0"/>
          </a:p>
        </p:txBody>
      </p:sp>
      <p:sp>
        <p:nvSpPr>
          <p:cNvPr id="10" name="Shape 8"/>
          <p:cNvSpPr/>
          <p:nvPr/>
        </p:nvSpPr>
        <p:spPr>
          <a:xfrm>
            <a:off x="9248775" y="5591621"/>
            <a:ext cx="8239125" cy="1462088"/>
          </a:xfrm>
          <a:prstGeom prst="roundRect">
            <a:avLst>
              <a:gd name="adj" fmla="val 10423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486900" y="5829746"/>
            <a:ext cx="8539163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WATCH FOR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486900" y="6148834"/>
            <a:ext cx="7995761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Generic version-based results. A version match alone does not confirm the vulnerable code path is actually reachable or unpatched via backport.</a:t>
            </a:r>
            <a:endParaRPr lang="en-US" sz="1875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800100" y="2962275"/>
            <a:ext cx="1835658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25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ACRONYM SPOTLIGHT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800100" y="3457575"/>
            <a:ext cx="1835658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652"/>
              </a:lnSpc>
              <a:buNone/>
            </a:pPr>
            <a:r>
              <a:rPr lang="en-US" sz="30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Terms introduced in Module 6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800100" y="4124325"/>
            <a:ext cx="2400300" cy="500063"/>
          </a:xfrm>
          <a:prstGeom prst="rect">
            <a:avLst/>
          </a:prstGeom>
          <a:solidFill>
            <a:srgbClr val="FF6A00">
              <a:alpha val="18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800100" y="4614863"/>
            <a:ext cx="2400300" cy="9525"/>
          </a:xfrm>
          <a:prstGeom prst="rect">
            <a:avLst/>
          </a:prstGeom>
          <a:solidFill>
            <a:srgbClr val="B85100"/>
          </a:solidFill>
          <a:ln/>
        </p:spPr>
      </p:sp>
      <p:sp>
        <p:nvSpPr>
          <p:cNvPr id="7" name="Text 5"/>
          <p:cNvSpPr/>
          <p:nvPr/>
        </p:nvSpPr>
        <p:spPr>
          <a:xfrm>
            <a:off x="952500" y="4238625"/>
            <a:ext cx="2171700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Term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3200400" y="4124325"/>
            <a:ext cx="4305300" cy="500063"/>
          </a:xfrm>
          <a:prstGeom prst="rect">
            <a:avLst/>
          </a:prstGeom>
          <a:solidFill>
            <a:srgbClr val="FF6A00">
              <a:alpha val="18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3200400" y="4614863"/>
            <a:ext cx="4305300" cy="9525"/>
          </a:xfrm>
          <a:prstGeom prst="rect">
            <a:avLst/>
          </a:prstGeom>
          <a:solidFill>
            <a:srgbClr val="B85100"/>
          </a:solidFill>
          <a:ln/>
        </p:spPr>
      </p:sp>
      <p:sp>
        <p:nvSpPr>
          <p:cNvPr id="10" name="Text 8"/>
          <p:cNvSpPr/>
          <p:nvPr/>
        </p:nvSpPr>
        <p:spPr>
          <a:xfrm>
            <a:off x="3352800" y="4238625"/>
            <a:ext cx="4129659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Expansion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7505700" y="4124325"/>
            <a:ext cx="9982200" cy="500063"/>
          </a:xfrm>
          <a:prstGeom prst="rect">
            <a:avLst/>
          </a:prstGeom>
          <a:solidFill>
            <a:srgbClr val="FF6A00">
              <a:alpha val="18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7505700" y="4614863"/>
            <a:ext cx="9982200" cy="9525"/>
          </a:xfrm>
          <a:prstGeom prst="rect">
            <a:avLst/>
          </a:prstGeom>
          <a:solidFill>
            <a:srgbClr val="B85100"/>
          </a:solidFill>
          <a:ln/>
        </p:spPr>
      </p:sp>
      <p:sp>
        <p:nvSpPr>
          <p:cNvPr id="13" name="Text 11"/>
          <p:cNvSpPr/>
          <p:nvPr/>
        </p:nvSpPr>
        <p:spPr>
          <a:xfrm>
            <a:off x="7658100" y="4238625"/>
            <a:ext cx="9976866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it names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800100" y="4624388"/>
            <a:ext cx="2400300" cy="485775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800100" y="5100638"/>
            <a:ext cx="2400300" cy="9525"/>
          </a:xfrm>
          <a:prstGeom prst="rect">
            <a:avLst/>
          </a:prstGeom>
          <a:solidFill>
            <a:srgbClr val="2A2F3A"/>
          </a:solidFill>
          <a:ln/>
        </p:spPr>
      </p:sp>
      <p:sp>
        <p:nvSpPr>
          <p:cNvPr id="16" name="Text 14"/>
          <p:cNvSpPr/>
          <p:nvPr/>
        </p:nvSpPr>
        <p:spPr>
          <a:xfrm>
            <a:off x="952500" y="4729163"/>
            <a:ext cx="21717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NSE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3200400" y="4624388"/>
            <a:ext cx="4305300" cy="485775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3200400" y="5100638"/>
            <a:ext cx="4305300" cy="9525"/>
          </a:xfrm>
          <a:prstGeom prst="rect">
            <a:avLst/>
          </a:prstGeom>
          <a:solidFill>
            <a:srgbClr val="2A2F3A"/>
          </a:solidFill>
          <a:ln/>
        </p:spPr>
      </p:sp>
      <p:sp>
        <p:nvSpPr>
          <p:cNvPr id="19" name="Text 17"/>
          <p:cNvSpPr/>
          <p:nvPr/>
        </p:nvSpPr>
        <p:spPr>
          <a:xfrm>
            <a:off x="3352800" y="4729163"/>
            <a:ext cx="4129659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Nmap Scripting Engine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7505700" y="4624388"/>
            <a:ext cx="9982200" cy="485775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7505700" y="5100638"/>
            <a:ext cx="9982200" cy="9525"/>
          </a:xfrm>
          <a:prstGeom prst="rect">
            <a:avLst/>
          </a:prstGeom>
          <a:solidFill>
            <a:srgbClr val="2A2F3A"/>
          </a:solidFill>
          <a:ln/>
        </p:spPr>
      </p:sp>
      <p:sp>
        <p:nvSpPr>
          <p:cNvPr id="22" name="Text 20"/>
          <p:cNvSpPr/>
          <p:nvPr/>
        </p:nvSpPr>
        <p:spPr>
          <a:xfrm>
            <a:off x="7658100" y="4729163"/>
            <a:ext cx="9976866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Scriptable extension of Nmap for discovery, vuln checks, auth testing and more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800100" y="5586413"/>
            <a:ext cx="2400300" cy="9525"/>
          </a:xfrm>
          <a:prstGeom prst="rect">
            <a:avLst/>
          </a:prstGeom>
          <a:solidFill>
            <a:srgbClr val="2A2F3A"/>
          </a:solidFill>
          <a:ln/>
        </p:spPr>
      </p:sp>
      <p:sp>
        <p:nvSpPr>
          <p:cNvPr id="24" name="Text 22"/>
          <p:cNvSpPr/>
          <p:nvPr/>
        </p:nvSpPr>
        <p:spPr>
          <a:xfrm>
            <a:off x="952500" y="5214938"/>
            <a:ext cx="21717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Plugin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3200400" y="5586413"/>
            <a:ext cx="4305300" cy="9525"/>
          </a:xfrm>
          <a:prstGeom prst="rect">
            <a:avLst/>
          </a:prstGeom>
          <a:solidFill>
            <a:srgbClr val="2A2F3A"/>
          </a:solidFill>
          <a:ln/>
        </p:spPr>
      </p:sp>
      <p:sp>
        <p:nvSpPr>
          <p:cNvPr id="26" name="Text 24"/>
          <p:cNvSpPr/>
          <p:nvPr/>
        </p:nvSpPr>
        <p:spPr>
          <a:xfrm>
            <a:off x="3352800" y="5214938"/>
            <a:ext cx="4129659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7505700" y="5586413"/>
            <a:ext cx="9982200" cy="9525"/>
          </a:xfrm>
          <a:prstGeom prst="rect">
            <a:avLst/>
          </a:prstGeom>
          <a:solidFill>
            <a:srgbClr val="2A2F3A"/>
          </a:solidFill>
          <a:ln/>
        </p:spPr>
      </p:sp>
      <p:sp>
        <p:nvSpPr>
          <p:cNvPr id="28" name="Text 26"/>
          <p:cNvSpPr/>
          <p:nvPr/>
        </p:nvSpPr>
        <p:spPr>
          <a:xfrm>
            <a:off x="7658100" y="5214938"/>
            <a:ext cx="9976866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individual, inspectable check within Nessus's scan engine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800100" y="5595938"/>
            <a:ext cx="2400300" cy="485775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800100" y="6072188"/>
            <a:ext cx="2400300" cy="9525"/>
          </a:xfrm>
          <a:prstGeom prst="rect">
            <a:avLst/>
          </a:prstGeom>
          <a:solidFill>
            <a:srgbClr val="2A2F3A"/>
          </a:solidFill>
          <a:ln/>
        </p:spPr>
      </p:sp>
      <p:sp>
        <p:nvSpPr>
          <p:cNvPr id="31" name="Text 29"/>
          <p:cNvSpPr/>
          <p:nvPr/>
        </p:nvSpPr>
        <p:spPr>
          <a:xfrm>
            <a:off x="952500" y="5700713"/>
            <a:ext cx="21717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Authenticated scan</a:t>
            </a:r>
            <a:endParaRPr lang="en-US" sz="1800" dirty="0"/>
          </a:p>
        </p:txBody>
      </p:sp>
      <p:sp>
        <p:nvSpPr>
          <p:cNvPr id="32" name="Shape 30"/>
          <p:cNvSpPr/>
          <p:nvPr/>
        </p:nvSpPr>
        <p:spPr>
          <a:xfrm>
            <a:off x="3200400" y="5595938"/>
            <a:ext cx="4305300" cy="485775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3200400" y="6072188"/>
            <a:ext cx="4305300" cy="9525"/>
          </a:xfrm>
          <a:prstGeom prst="rect">
            <a:avLst/>
          </a:prstGeom>
          <a:solidFill>
            <a:srgbClr val="2A2F3A"/>
          </a:solidFill>
          <a:ln/>
        </p:spPr>
      </p:sp>
      <p:sp>
        <p:nvSpPr>
          <p:cNvPr id="34" name="Text 32"/>
          <p:cNvSpPr/>
          <p:nvPr/>
        </p:nvSpPr>
        <p:spPr>
          <a:xfrm>
            <a:off x="3352800" y="5700713"/>
            <a:ext cx="4129659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800" dirty="0"/>
          </a:p>
        </p:txBody>
      </p:sp>
      <p:sp>
        <p:nvSpPr>
          <p:cNvPr id="35" name="Shape 33"/>
          <p:cNvSpPr/>
          <p:nvPr/>
        </p:nvSpPr>
        <p:spPr>
          <a:xfrm>
            <a:off x="7505700" y="5595938"/>
            <a:ext cx="9982200" cy="485775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7505700" y="6072188"/>
            <a:ext cx="9982200" cy="9525"/>
          </a:xfrm>
          <a:prstGeom prst="rect">
            <a:avLst/>
          </a:prstGeom>
          <a:solidFill>
            <a:srgbClr val="2A2F3A"/>
          </a:solidFill>
          <a:ln/>
        </p:spPr>
      </p:sp>
      <p:sp>
        <p:nvSpPr>
          <p:cNvPr id="37" name="Text 35"/>
          <p:cNvSpPr/>
          <p:nvPr/>
        </p:nvSpPr>
        <p:spPr>
          <a:xfrm>
            <a:off x="7658100" y="5700713"/>
            <a:ext cx="9976866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scan performed with valid credentials, inspecting the target from the inside</a:t>
            </a:r>
            <a:endParaRPr lang="en-US" sz="1800" dirty="0"/>
          </a:p>
        </p:txBody>
      </p:sp>
      <p:sp>
        <p:nvSpPr>
          <p:cNvPr id="38" name="Shape 36"/>
          <p:cNvSpPr/>
          <p:nvPr/>
        </p:nvSpPr>
        <p:spPr>
          <a:xfrm>
            <a:off x="800100" y="6824663"/>
            <a:ext cx="2400300" cy="9525"/>
          </a:xfrm>
          <a:prstGeom prst="rect">
            <a:avLst/>
          </a:prstGeom>
          <a:solidFill>
            <a:srgbClr val="2A2F3A"/>
          </a:solidFill>
          <a:ln/>
        </p:spPr>
      </p:sp>
      <p:sp>
        <p:nvSpPr>
          <p:cNvPr id="39" name="Text 37"/>
          <p:cNvSpPr/>
          <p:nvPr/>
        </p:nvSpPr>
        <p:spPr>
          <a:xfrm>
            <a:off x="952500" y="6186488"/>
            <a:ext cx="2171700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Unauthenticated scan</a:t>
            </a:r>
            <a:endParaRPr lang="en-US" sz="1800" dirty="0"/>
          </a:p>
        </p:txBody>
      </p:sp>
      <p:sp>
        <p:nvSpPr>
          <p:cNvPr id="40" name="Shape 38"/>
          <p:cNvSpPr/>
          <p:nvPr/>
        </p:nvSpPr>
        <p:spPr>
          <a:xfrm>
            <a:off x="3200400" y="6824663"/>
            <a:ext cx="4305300" cy="9525"/>
          </a:xfrm>
          <a:prstGeom prst="rect">
            <a:avLst/>
          </a:prstGeom>
          <a:solidFill>
            <a:srgbClr val="2A2F3A"/>
          </a:solidFill>
          <a:ln/>
        </p:spPr>
      </p:sp>
      <p:sp>
        <p:nvSpPr>
          <p:cNvPr id="41" name="Text 39"/>
          <p:cNvSpPr/>
          <p:nvPr/>
        </p:nvSpPr>
        <p:spPr>
          <a:xfrm>
            <a:off x="3352800" y="6186488"/>
            <a:ext cx="4129659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800" dirty="0"/>
          </a:p>
        </p:txBody>
      </p:sp>
      <p:sp>
        <p:nvSpPr>
          <p:cNvPr id="42" name="Shape 40"/>
          <p:cNvSpPr/>
          <p:nvPr/>
        </p:nvSpPr>
        <p:spPr>
          <a:xfrm>
            <a:off x="7505700" y="6824663"/>
            <a:ext cx="9982200" cy="9525"/>
          </a:xfrm>
          <a:prstGeom prst="rect">
            <a:avLst/>
          </a:prstGeom>
          <a:solidFill>
            <a:srgbClr val="2A2F3A"/>
          </a:solidFill>
          <a:ln/>
        </p:spPr>
      </p:sp>
      <p:sp>
        <p:nvSpPr>
          <p:cNvPr id="43" name="Text 41"/>
          <p:cNvSpPr/>
          <p:nvPr/>
        </p:nvSpPr>
        <p:spPr>
          <a:xfrm>
            <a:off x="7658100" y="6186488"/>
            <a:ext cx="9976866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scan performed with no credentials, simulating an external view</a:t>
            </a:r>
            <a:endParaRPr lang="en-US" sz="1800" dirty="0"/>
          </a:p>
        </p:txBody>
      </p:sp>
      <p:sp>
        <p:nvSpPr>
          <p:cNvPr id="44" name="Shape 42"/>
          <p:cNvSpPr/>
          <p:nvPr/>
        </p:nvSpPr>
        <p:spPr>
          <a:xfrm>
            <a:off x="800100" y="6834188"/>
            <a:ext cx="2400300" cy="485775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800100" y="7310438"/>
            <a:ext cx="2400300" cy="9525"/>
          </a:xfrm>
          <a:prstGeom prst="rect">
            <a:avLst/>
          </a:prstGeom>
          <a:solidFill>
            <a:srgbClr val="2A2F3A"/>
          </a:solidFill>
          <a:ln/>
        </p:spPr>
      </p:sp>
      <p:sp>
        <p:nvSpPr>
          <p:cNvPr id="46" name="Text 44"/>
          <p:cNvSpPr/>
          <p:nvPr/>
        </p:nvSpPr>
        <p:spPr>
          <a:xfrm>
            <a:off x="952500" y="6938962"/>
            <a:ext cx="21717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False positive</a:t>
            </a:r>
            <a:endParaRPr lang="en-US" sz="1800" dirty="0"/>
          </a:p>
        </p:txBody>
      </p:sp>
      <p:sp>
        <p:nvSpPr>
          <p:cNvPr id="47" name="Shape 45"/>
          <p:cNvSpPr/>
          <p:nvPr/>
        </p:nvSpPr>
        <p:spPr>
          <a:xfrm>
            <a:off x="3200400" y="6834188"/>
            <a:ext cx="4305300" cy="485775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3200400" y="7310438"/>
            <a:ext cx="4305300" cy="9525"/>
          </a:xfrm>
          <a:prstGeom prst="rect">
            <a:avLst/>
          </a:prstGeom>
          <a:solidFill>
            <a:srgbClr val="2A2F3A"/>
          </a:solidFill>
          <a:ln/>
        </p:spPr>
      </p:sp>
      <p:sp>
        <p:nvSpPr>
          <p:cNvPr id="49" name="Text 47"/>
          <p:cNvSpPr/>
          <p:nvPr/>
        </p:nvSpPr>
        <p:spPr>
          <a:xfrm>
            <a:off x="3352800" y="6938962"/>
            <a:ext cx="4129659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800" dirty="0"/>
          </a:p>
        </p:txBody>
      </p:sp>
      <p:sp>
        <p:nvSpPr>
          <p:cNvPr id="50" name="Shape 48"/>
          <p:cNvSpPr/>
          <p:nvPr/>
        </p:nvSpPr>
        <p:spPr>
          <a:xfrm>
            <a:off x="7505700" y="6834188"/>
            <a:ext cx="9982200" cy="485775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7505700" y="7310438"/>
            <a:ext cx="9982200" cy="9525"/>
          </a:xfrm>
          <a:prstGeom prst="rect">
            <a:avLst/>
          </a:prstGeom>
          <a:solidFill>
            <a:srgbClr val="2A2F3A"/>
          </a:solidFill>
          <a:ln/>
        </p:spPr>
      </p:sp>
      <p:sp>
        <p:nvSpPr>
          <p:cNvPr id="52" name="Text 50"/>
          <p:cNvSpPr/>
          <p:nvPr/>
        </p:nvSpPr>
        <p:spPr>
          <a:xfrm>
            <a:off x="7658100" y="6938962"/>
            <a:ext cx="9976866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reported result that does not reflect an actual exploitable condition</a:t>
            </a:r>
            <a:endParaRPr lang="en-US" sz="18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800100" y="2140744"/>
            <a:ext cx="1835658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25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MISCONCEPTIONS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800100" y="2636044"/>
            <a:ext cx="1835658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652"/>
              </a:lnSpc>
              <a:buNone/>
            </a:pPr>
            <a:r>
              <a:rPr lang="en-US" sz="30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learners get wrong about Module 6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800100" y="3302794"/>
            <a:ext cx="8239125" cy="1462088"/>
          </a:xfrm>
          <a:prstGeom prst="roundRect">
            <a:avLst>
              <a:gd name="adj" fmla="val 10423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38225" y="3540919"/>
            <a:ext cx="8539163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“A SCANNER RESULT IS A CONFIRMED FINDING”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38225" y="3860006"/>
            <a:ext cx="7995761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result is a candidate. It becomes a finding only after manual verification, per Module 4's evidence requirement.</a:t>
            </a:r>
            <a:endParaRPr lang="en-US" sz="1875" dirty="0"/>
          </a:p>
        </p:txBody>
      </p:sp>
      <p:sp>
        <p:nvSpPr>
          <p:cNvPr id="8" name="Shape 6"/>
          <p:cNvSpPr/>
          <p:nvPr/>
        </p:nvSpPr>
        <p:spPr>
          <a:xfrm>
            <a:off x="9248775" y="3302794"/>
            <a:ext cx="8239125" cy="1462088"/>
          </a:xfrm>
          <a:prstGeom prst="roundRect">
            <a:avLst>
              <a:gd name="adj" fmla="val 10423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486900" y="3540919"/>
            <a:ext cx="8539163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“AUTHENTICATED SCANS ARE ALWAYS BETTER”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9486900" y="3860006"/>
            <a:ext cx="7995761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Authenticated scans are more thorough, but an unauthenticated scan is the correct choice when simulating an external attacker with no access.</a:t>
            </a:r>
            <a:endParaRPr lang="en-US" sz="1875" dirty="0"/>
          </a:p>
        </p:txBody>
      </p:sp>
      <p:sp>
        <p:nvSpPr>
          <p:cNvPr id="11" name="Shape 9"/>
          <p:cNvSpPr/>
          <p:nvPr/>
        </p:nvSpPr>
        <p:spPr>
          <a:xfrm>
            <a:off x="800100" y="4974431"/>
            <a:ext cx="8239125" cy="1462088"/>
          </a:xfrm>
          <a:prstGeom prst="roundRect">
            <a:avLst>
              <a:gd name="adj" fmla="val 10423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38225" y="5212556"/>
            <a:ext cx="8539163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“NSE REPLACES A DEDICATED SCANNER”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038225" y="5531644"/>
            <a:ext cx="7995761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NSE is lightweight and immediate but covers far less ground than a maintained plugin database. The two tools complement each other.</a:t>
            </a:r>
            <a:endParaRPr lang="en-US" sz="1875" dirty="0"/>
          </a:p>
        </p:txBody>
      </p:sp>
      <p:sp>
        <p:nvSpPr>
          <p:cNvPr id="14" name="Shape 12"/>
          <p:cNvSpPr/>
          <p:nvPr/>
        </p:nvSpPr>
        <p:spPr>
          <a:xfrm>
            <a:off x="800100" y="6684169"/>
            <a:ext cx="8239125" cy="1462088"/>
          </a:xfrm>
          <a:prstGeom prst="roundRect">
            <a:avLst>
              <a:gd name="adj" fmla="val 10423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38225" y="6922294"/>
            <a:ext cx="8539163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“SCANNING HAS NO IMPACT ON THE TARGET”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038225" y="7241381"/>
            <a:ext cx="7995761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Some checks can disrupt fragile systems. Impact is a stated consideration, not a hypothetical concern.</a:t>
            </a:r>
            <a:endParaRPr lang="en-US" sz="1875" dirty="0"/>
          </a:p>
        </p:txBody>
      </p:sp>
      <p:sp>
        <p:nvSpPr>
          <p:cNvPr id="17" name="Shape 15"/>
          <p:cNvSpPr/>
          <p:nvPr/>
        </p:nvSpPr>
        <p:spPr>
          <a:xfrm>
            <a:off x="9248775" y="6684169"/>
            <a:ext cx="8239125" cy="1462088"/>
          </a:xfrm>
          <a:prstGeom prst="roundRect">
            <a:avLst>
              <a:gd name="adj" fmla="val 10423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486900" y="6922294"/>
            <a:ext cx="8539163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“A HIGH SEVERITY RATING MEANS HIGH CONFIDENCE”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486900" y="7241381"/>
            <a:ext cx="7995761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Severity reflects potential impact if the finding is real, not the scanner's confidence that it actually applies here.</a:t>
            </a:r>
            <a:endParaRPr lang="en-US" sz="1875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7537914" y="3273326"/>
            <a:ext cx="3212172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650" b="1" spc="225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6 IN CONTEXT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8610377" y="3749576"/>
            <a:ext cx="1067246" cy="1562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86957"/>
              </a:lnSpc>
              <a:buNone/>
            </a:pPr>
            <a:r>
              <a:rPr lang="en-US" sz="12000" b="1" spc="-300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2000" dirty="0"/>
          </a:p>
        </p:txBody>
      </p:sp>
      <p:sp>
        <p:nvSpPr>
          <p:cNvPr id="5" name="Text 3"/>
          <p:cNvSpPr/>
          <p:nvPr/>
        </p:nvSpPr>
        <p:spPr>
          <a:xfrm>
            <a:off x="2484406" y="5502176"/>
            <a:ext cx="13319113" cy="5200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96381"/>
              </a:lnSpc>
              <a:buNone/>
            </a:pPr>
            <a:r>
              <a:rPr lang="en-US" sz="345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the module's twelve objectives belong to Nessus alone</a:t>
            </a:r>
            <a:endParaRPr lang="en-US" sz="3450" dirty="0"/>
          </a:p>
        </p:txBody>
      </p:sp>
      <p:sp>
        <p:nvSpPr>
          <p:cNvPr id="6" name="Text 4"/>
          <p:cNvSpPr/>
          <p:nvPr/>
        </p:nvSpPr>
        <p:spPr>
          <a:xfrm>
            <a:off x="3257550" y="6212681"/>
            <a:ext cx="11772900" cy="8390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25522"/>
              </a:lnSpc>
              <a:buNone/>
            </a:pPr>
            <a:r>
              <a:rPr lang="en-US" sz="2175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largest single unit in the module, reflecting how central one named tool is to this stage of the course. Percentage weightings per module: information not defined in the official exam outline.</a:t>
            </a:r>
            <a:endParaRPr lang="en-US" sz="2175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800100" y="2486025"/>
            <a:ext cx="1835658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25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KNOWLEDGE CHECK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800100" y="2981325"/>
            <a:ext cx="17188434" cy="876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652"/>
              </a:lnSpc>
              <a:buNone/>
            </a:pPr>
            <a:r>
              <a:rPr lang="en-US" sz="30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scan configured with valid domain credentials inspects a host's local patch level directly. What type of scan is this?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800100" y="4143375"/>
            <a:ext cx="16687800" cy="800100"/>
          </a:xfrm>
          <a:prstGeom prst="roundRect">
            <a:avLst>
              <a:gd name="adj" fmla="val 16667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38225" y="4324350"/>
            <a:ext cx="723900" cy="438150"/>
          </a:xfrm>
          <a:prstGeom prst="roundRect">
            <a:avLst>
              <a:gd name="adj" fmla="val 50000"/>
            </a:avLst>
          </a:prstGeom>
          <a:solidFill>
            <a:srgbClr val="FF6A00">
              <a:alpha val="15000"/>
            </a:srgbClr>
          </a:solidFill>
          <a:ln w="9525">
            <a:solidFill>
              <a:srgbClr val="FF6A00">
                <a:alpha val="35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9650" y="4333875"/>
            <a:ext cx="78105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D9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1952625" y="4398169"/>
            <a:ext cx="2916019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unauthenticated scan</a:t>
            </a:r>
            <a:endParaRPr lang="en-US" sz="1950" dirty="0"/>
          </a:p>
        </p:txBody>
      </p:sp>
      <p:sp>
        <p:nvSpPr>
          <p:cNvPr id="9" name="Shape 7"/>
          <p:cNvSpPr/>
          <p:nvPr/>
        </p:nvSpPr>
        <p:spPr>
          <a:xfrm>
            <a:off x="800100" y="5095875"/>
            <a:ext cx="16687800" cy="800100"/>
          </a:xfrm>
          <a:prstGeom prst="roundRect">
            <a:avLst>
              <a:gd name="adj" fmla="val 16667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38225" y="5276850"/>
            <a:ext cx="723900" cy="438150"/>
          </a:xfrm>
          <a:prstGeom prst="roundRect">
            <a:avLst>
              <a:gd name="adj" fmla="val 50000"/>
            </a:avLst>
          </a:prstGeom>
          <a:solidFill>
            <a:srgbClr val="FF6A00">
              <a:alpha val="15000"/>
            </a:srgbClr>
          </a:solidFill>
          <a:ln w="9525">
            <a:solidFill>
              <a:srgbClr val="FF6A00">
                <a:alpha val="35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09650" y="5286375"/>
            <a:ext cx="78105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D9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1952625" y="5350669"/>
            <a:ext cx="2725132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lightweight NSE scan</a:t>
            </a:r>
            <a:endParaRPr lang="en-US" sz="1950" dirty="0"/>
          </a:p>
        </p:txBody>
      </p:sp>
      <p:sp>
        <p:nvSpPr>
          <p:cNvPr id="13" name="Shape 11"/>
          <p:cNvSpPr/>
          <p:nvPr/>
        </p:nvSpPr>
        <p:spPr>
          <a:xfrm>
            <a:off x="800100" y="6048375"/>
            <a:ext cx="16687800" cy="800100"/>
          </a:xfrm>
          <a:prstGeom prst="roundRect">
            <a:avLst>
              <a:gd name="adj" fmla="val 16667"/>
            </a:avLst>
          </a:prstGeom>
          <a:solidFill>
            <a:srgbClr val="FF6A00">
              <a:alpha val="10000"/>
            </a:srgbClr>
          </a:solidFill>
          <a:ln w="9525">
            <a:solidFill>
              <a:srgbClr val="B8510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38225" y="6229350"/>
            <a:ext cx="723900" cy="438150"/>
          </a:xfrm>
          <a:prstGeom prst="roundRect">
            <a:avLst>
              <a:gd name="adj" fmla="val 50000"/>
            </a:avLst>
          </a:prstGeom>
          <a:solidFill>
            <a:srgbClr val="FF6A00">
              <a:alpha val="15000"/>
            </a:srgbClr>
          </a:solidFill>
          <a:ln w="9525">
            <a:solidFill>
              <a:srgbClr val="FF6A00">
                <a:alpha val="35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09650" y="6238875"/>
            <a:ext cx="78105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D9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650" dirty="0"/>
          </a:p>
        </p:txBody>
      </p:sp>
      <p:sp>
        <p:nvSpPr>
          <p:cNvPr id="16" name="Text 14"/>
          <p:cNvSpPr/>
          <p:nvPr/>
        </p:nvSpPr>
        <p:spPr>
          <a:xfrm>
            <a:off x="1952625" y="6303169"/>
            <a:ext cx="2621585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authenticated scan</a:t>
            </a:r>
            <a:endParaRPr lang="en-US" sz="1950" dirty="0"/>
          </a:p>
        </p:txBody>
      </p:sp>
      <p:sp>
        <p:nvSpPr>
          <p:cNvPr id="17" name="Shape 15"/>
          <p:cNvSpPr/>
          <p:nvPr/>
        </p:nvSpPr>
        <p:spPr>
          <a:xfrm>
            <a:off x="800100" y="7000875"/>
            <a:ext cx="16687800" cy="800100"/>
          </a:xfrm>
          <a:prstGeom prst="roundRect">
            <a:avLst>
              <a:gd name="adj" fmla="val 16667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38225" y="7181850"/>
            <a:ext cx="723900" cy="438150"/>
          </a:xfrm>
          <a:prstGeom prst="roundRect">
            <a:avLst>
              <a:gd name="adj" fmla="val 50000"/>
            </a:avLst>
          </a:prstGeom>
          <a:solidFill>
            <a:srgbClr val="FF6A00">
              <a:alpha val="15000"/>
            </a:srgbClr>
          </a:solidFill>
          <a:ln w="9525">
            <a:solidFill>
              <a:srgbClr val="FF6A00">
                <a:alpha val="35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09650" y="7191375"/>
            <a:ext cx="78105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D9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650" dirty="0"/>
          </a:p>
        </p:txBody>
      </p:sp>
      <p:sp>
        <p:nvSpPr>
          <p:cNvPr id="20" name="Text 18"/>
          <p:cNvSpPr/>
          <p:nvPr/>
        </p:nvSpPr>
        <p:spPr>
          <a:xfrm>
            <a:off x="1952625" y="7255669"/>
            <a:ext cx="4911410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passive information gathering technique</a:t>
            </a:r>
            <a:endParaRPr lang="en-US" sz="195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800100" y="3138488"/>
            <a:ext cx="1835658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25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SUMMARY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800100" y="3633788"/>
            <a:ext cx="1835658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652"/>
              </a:lnSpc>
              <a:buNone/>
            </a:pPr>
            <a:r>
              <a:rPr lang="en-US" sz="30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6 in three lines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800100" y="4300538"/>
            <a:ext cx="16687800" cy="942975"/>
          </a:xfrm>
          <a:prstGeom prst="roundRect">
            <a:avLst>
              <a:gd name="adj" fmla="val 14141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38225" y="4552950"/>
            <a:ext cx="723900" cy="438150"/>
          </a:xfrm>
          <a:prstGeom prst="roundRect">
            <a:avLst>
              <a:gd name="adj" fmla="val 50000"/>
            </a:avLst>
          </a:prstGeom>
          <a:solidFill>
            <a:srgbClr val="FF6A00">
              <a:alpha val="15000"/>
            </a:srgbClr>
          </a:solidFill>
          <a:ln w="9525">
            <a:solidFill>
              <a:srgbClr val="FF6A00">
                <a:alpha val="35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9650" y="4562475"/>
            <a:ext cx="78105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D9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6.1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1952625" y="4481513"/>
            <a:ext cx="15756065" cy="619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Scanning probes, fingerprints and compares against a database; authenticated vs unauthenticated is the key axis; impact, timing, noise and accuracy all constrain it</a:t>
            </a:r>
            <a:endParaRPr lang="en-US" sz="1950" dirty="0"/>
          </a:p>
        </p:txBody>
      </p:sp>
      <p:sp>
        <p:nvSpPr>
          <p:cNvPr id="9" name="Shape 7"/>
          <p:cNvSpPr/>
          <p:nvPr/>
        </p:nvSpPr>
        <p:spPr>
          <a:xfrm>
            <a:off x="800100" y="5395913"/>
            <a:ext cx="16687800" cy="800100"/>
          </a:xfrm>
          <a:prstGeom prst="roundRect">
            <a:avLst>
              <a:gd name="adj" fmla="val 16667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38225" y="5576888"/>
            <a:ext cx="723900" cy="438150"/>
          </a:xfrm>
          <a:prstGeom prst="roundRect">
            <a:avLst>
              <a:gd name="adj" fmla="val 50000"/>
            </a:avLst>
          </a:prstGeom>
          <a:solidFill>
            <a:srgbClr val="FF6A00">
              <a:alpha val="15000"/>
            </a:srgbClr>
          </a:solidFill>
          <a:ln w="9525">
            <a:solidFill>
              <a:srgbClr val="FF6A00">
                <a:alpha val="35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09650" y="5586413"/>
            <a:ext cx="78105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D9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6.2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1952625" y="5650706"/>
            <a:ext cx="13535129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Nessus is installed and kept current, configured to scope, run with or without credentials, and triaged plugin by plugin</a:t>
            </a:r>
            <a:endParaRPr lang="en-US" sz="1950" dirty="0"/>
          </a:p>
        </p:txBody>
      </p:sp>
      <p:sp>
        <p:nvSpPr>
          <p:cNvPr id="13" name="Shape 11"/>
          <p:cNvSpPr/>
          <p:nvPr/>
        </p:nvSpPr>
        <p:spPr>
          <a:xfrm>
            <a:off x="800100" y="6348413"/>
            <a:ext cx="16687800" cy="800100"/>
          </a:xfrm>
          <a:prstGeom prst="roundRect">
            <a:avLst>
              <a:gd name="adj" fmla="val 16667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38225" y="6529388"/>
            <a:ext cx="723900" cy="438150"/>
          </a:xfrm>
          <a:prstGeom prst="roundRect">
            <a:avLst>
              <a:gd name="adj" fmla="val 50000"/>
            </a:avLst>
          </a:prstGeom>
          <a:solidFill>
            <a:srgbClr val="FF6A00">
              <a:alpha val="15000"/>
            </a:srgbClr>
          </a:solidFill>
          <a:ln w="9525">
            <a:solidFill>
              <a:srgbClr val="FF6A00">
                <a:alpha val="35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09650" y="6538913"/>
            <a:ext cx="78105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D9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6.3</a:t>
            </a:r>
            <a:endParaRPr lang="en-US" sz="1650" dirty="0"/>
          </a:p>
        </p:txBody>
      </p:sp>
      <p:sp>
        <p:nvSpPr>
          <p:cNvPr id="16" name="Text 14"/>
          <p:cNvSpPr/>
          <p:nvPr/>
        </p:nvSpPr>
        <p:spPr>
          <a:xfrm>
            <a:off x="1952625" y="6603206"/>
            <a:ext cx="13933029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Nmap NSE offers fast, lightweight checks and custom scripts, complementing rather than replacing a dedicated scanner</a:t>
            </a:r>
            <a:endParaRPr lang="en-US" sz="195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800100" y="609600"/>
            <a:ext cx="1835658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25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STEPS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800100" y="1143000"/>
            <a:ext cx="18356580" cy="738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0741"/>
              </a:lnSpc>
              <a:buNone/>
            </a:pPr>
            <a:r>
              <a:rPr lang="en-US" sz="5250" b="1" spc="-37" kern="0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7: Introduction to Web Applications</a:t>
            </a:r>
            <a:endParaRPr lang="en-US" sz="5250" dirty="0"/>
          </a:p>
        </p:txBody>
      </p:sp>
      <p:sp>
        <p:nvSpPr>
          <p:cNvPr id="5" name="Shape 3"/>
          <p:cNvSpPr/>
          <p:nvPr/>
        </p:nvSpPr>
        <p:spPr>
          <a:xfrm>
            <a:off x="800100" y="2128838"/>
            <a:ext cx="5435575" cy="2128838"/>
          </a:xfrm>
          <a:prstGeom prst="roundRect">
            <a:avLst>
              <a:gd name="adj" fmla="val 7159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38225" y="2366963"/>
            <a:ext cx="5455258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COMING NEXT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38225" y="2686050"/>
            <a:ext cx="5108105" cy="1371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 application assessment methodology, the OWASP Top 10, web proxies and Burp Suite, source and header enumeration, and Cross-Site Scripting.</a:t>
            </a:r>
            <a:endParaRPr lang="en-US" sz="1875" dirty="0"/>
          </a:p>
        </p:txBody>
      </p:sp>
      <p:sp>
        <p:nvSpPr>
          <p:cNvPr id="8" name="Shape 6"/>
          <p:cNvSpPr/>
          <p:nvPr/>
        </p:nvSpPr>
        <p:spPr>
          <a:xfrm>
            <a:off x="6426175" y="2128838"/>
            <a:ext cx="5435575" cy="2128838"/>
          </a:xfrm>
          <a:prstGeom prst="roundRect">
            <a:avLst>
              <a:gd name="adj" fmla="val 7159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664300" y="2366963"/>
            <a:ext cx="5455258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THEN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664300" y="2686050"/>
            <a:ext cx="5108105" cy="1038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Have every scan result from this module triaged and manually verified against the target tracker from Module 5.</a:t>
            </a:r>
            <a:endParaRPr lang="en-US" sz="1875" dirty="0"/>
          </a:p>
        </p:txBody>
      </p:sp>
      <p:sp>
        <p:nvSpPr>
          <p:cNvPr id="11" name="Shape 9"/>
          <p:cNvSpPr/>
          <p:nvPr/>
        </p:nvSpPr>
        <p:spPr>
          <a:xfrm>
            <a:off x="12052250" y="2128838"/>
            <a:ext cx="5435650" cy="2128838"/>
          </a:xfrm>
          <a:prstGeom prst="roundRect">
            <a:avLst>
              <a:gd name="adj" fmla="val 7159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2290375" y="2366963"/>
            <a:ext cx="5455340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CARRY FORWARD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2290375" y="2686050"/>
            <a:ext cx="5108182" cy="1038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habit of reading the check behind the result. Module 7 asks the same discipline of every web finding you produce.</a:t>
            </a:r>
            <a:endParaRPr lang="en-US" sz="1875" dirty="0"/>
          </a:p>
        </p:txBody>
      </p:sp>
      <p:sp>
        <p:nvSpPr>
          <p:cNvPr id="14" name="Shape 12"/>
          <p:cNvSpPr/>
          <p:nvPr/>
        </p:nvSpPr>
        <p:spPr>
          <a:xfrm>
            <a:off x="800100" y="9210675"/>
            <a:ext cx="16687800" cy="9525"/>
          </a:xfrm>
          <a:prstGeom prst="rect">
            <a:avLst/>
          </a:prstGeom>
          <a:solidFill>
            <a:srgbClr val="2A2F3A"/>
          </a:solidFill>
          <a:ln/>
        </p:spPr>
      </p:sp>
      <p:sp>
        <p:nvSpPr>
          <p:cNvPr id="15" name="Text 13"/>
          <p:cNvSpPr/>
          <p:nvPr/>
        </p:nvSpPr>
        <p:spPr>
          <a:xfrm>
            <a:off x="800100" y="9432131"/>
            <a:ext cx="1796482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8891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 Cyber Academy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6763181" y="9410700"/>
            <a:ext cx="800919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50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</a:t>
            </a:r>
            <a:pPr algn="l" indent="0" marL="0">
              <a:buNone/>
            </a:pPr>
            <a:r>
              <a:rPr lang="en-US" sz="1800" b="1" spc="150" kern="0" dirty="0">
                <a:solidFill>
                  <a:srgbClr val="8891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CP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35</Slides>
  <Notes>35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3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2026-08-01T09:45:08Z</dcterms:created>
  <dcterms:modified xsi:type="dcterms:W3CDTF">2026-08-01T09:45:08Z</dcterms:modified>
</cp:coreProperties>
</file>