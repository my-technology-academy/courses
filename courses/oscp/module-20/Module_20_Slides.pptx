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20. The Active Directory block begins — three modules running through Module 22: enumerate, authenticate, move. Everything here is the foundation the other two depend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units. Manual Enumeration Expanding our Repertoire carries four objectives — the largest unit, and the heart of hands-on AD enumeration.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20 of 24. First of the three-module Active Directory block: enumerate here, attack authentication in Module 21, move laterally in Module 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Orientation. Everything in Modules 21 and 22 assumes the domain has already been mapped. This module is that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20.1. Two objectives on the most foundational manual enumeration approaches.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20.1, task 1. Legacy Windows applications — tools built into Windows for decades, still functional enumeration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20.1, task 2. PowerShell and .NET — a more flexible, scriptable enumeration route than the legacy applications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20.1 before expanding the repertoire.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20.2 — the largest unit, four objectives expanding manual enumeration into specific, named categories.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20.2, task 1. Local permissions and who is currently logged on — orienting on the specific host before widening to the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20.2, task 2. SPNs — the enumeration foundation for Kerberoasting, which Module 21 attacks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20.2, task 3. Object-level permissions — a finer-grained layer than OS permissions, specific to how AD itself grants control over objects.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20.2, task 4. Domain shares — often the single richest source of exposed information across an entire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20.2 before automated enumeration.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20.3. Two objectives — automated enumeration, placed last after the manual foundation is established.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20.3, task 1. SharpHound named explicitly — the collector that gathers the raw domain data BloodHound will later analyse.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20.3, task 2. BloodHound named explicitly — the analysis and visualisation layer on top of SharpHound's collected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distinction closing the module. The identical manual-first pattern from every earlier automated tool in the course, now applied to Active Directory.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20.3, then the applied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Discussion. Five minutes in pairs. Listening for correct manual-first reasoning and correct connection to Module 21's Kerberoasting.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1. Enumerating with existing, already-present tools before introducing new software to the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2. Verifying a BloodHound-surfaced path manually before acting on it — the same discipline repeated across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3. Considering collection noise before running a full SharpHound sweep — a professional-conduct application of stealth considerations.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Acronym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Misconceptions. The 'skip straight to BloodHound' one is the most damaging and the whole reason manual enumeration is taught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number. Three units, eight objectives, and the first of a three-module Active Directory arc.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check. Answer is B. Also appears as Q1 of the module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Summary. Three units in three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Preview Module 21 — from mapping the domain to attacking how it authenticates.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20 OF 24 · OFFSEC PEN-200 (PWK)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81100"/>
            <a:ext cx="1835658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48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 Introduction and Enumeration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00100" y="2144985"/>
            <a:ext cx="13735050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25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enumeration with legacy tools and PowerShell, an expanded manual repertoire, and automated enumeration with SharpHound and BloodHound.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08178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577084"/>
            <a:ext cx="18356580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96"/>
              </a:lnSpc>
              <a:buNone/>
            </a:pPr>
            <a:r>
              <a:rPr lang="en-US" sz="43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module covers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800100" y="44619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6429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6524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716735"/>
            <a:ext cx="432475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 Manual Enumeration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43349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61446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62399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688285"/>
            <a:ext cx="542030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Enumeration Expanding our Repertoire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64050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65860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65955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659835"/>
            <a:ext cx="475719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 Automated Enumeration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187977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CONTEXT · 24 LEARNING MODULES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37507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Module 20 sits in PEN-200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2975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2975" y="3399011"/>
            <a:ext cx="234225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Course Introduction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5000625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3500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43500" y="3399011"/>
            <a:ext cx="242537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Cybersecurity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9201150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44025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44025" y="3399011"/>
            <a:ext cx="238541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Learning Strategies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3401675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44550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544550" y="3399011"/>
            <a:ext cx="312066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Writing for Penetration Testers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800100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2975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2975" y="4215780"/>
            <a:ext cx="183118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Gathering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5000625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3500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43500" y="4215780"/>
            <a:ext cx="185871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Scanning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9201150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44025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44025" y="4215780"/>
            <a:ext cx="270493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Web Applications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13401675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544550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544550" y="4215780"/>
            <a:ext cx="282051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Web Application Attacks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800100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2975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2975" y="5032549"/>
            <a:ext cx="179419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Attacks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5000625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3500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43500" y="5032549"/>
            <a:ext cx="161992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Attacks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9201150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44025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44025" y="5032549"/>
            <a:ext cx="198000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Locating Public Exploits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13401675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544550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544550" y="5032549"/>
            <a:ext cx="122351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Exploits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800100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2975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42975" y="5849317"/>
            <a:ext cx="144385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Evasion</a:t>
            </a:r>
            <a:endParaRPr lang="en-US" sz="1425" dirty="0"/>
          </a:p>
        </p:txBody>
      </p:sp>
      <p:sp>
        <p:nvSpPr>
          <p:cNvPr id="44" name="Shape 42"/>
          <p:cNvSpPr/>
          <p:nvPr/>
        </p:nvSpPr>
        <p:spPr>
          <a:xfrm>
            <a:off x="5000625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43500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43500" y="5849317"/>
            <a:ext cx="149981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Attacks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9201150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44025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344025" y="5849317"/>
            <a:ext cx="241280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Privilege Escalation</a:t>
            </a:r>
            <a:endParaRPr lang="en-US" sz="1425" dirty="0"/>
          </a:p>
        </p:txBody>
      </p:sp>
      <p:sp>
        <p:nvSpPr>
          <p:cNvPr id="50" name="Shape 48"/>
          <p:cNvSpPr/>
          <p:nvPr/>
        </p:nvSpPr>
        <p:spPr>
          <a:xfrm>
            <a:off x="13401675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544550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3544550" y="5849317"/>
            <a:ext cx="210405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Privilege Escalation</a:t>
            </a:r>
            <a:endParaRPr lang="en-US" sz="1425" dirty="0"/>
          </a:p>
        </p:txBody>
      </p:sp>
      <p:sp>
        <p:nvSpPr>
          <p:cNvPr id="53" name="Shape 51"/>
          <p:cNvSpPr/>
          <p:nvPr/>
        </p:nvSpPr>
        <p:spPr>
          <a:xfrm>
            <a:off x="800100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2975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42975" y="6666086"/>
            <a:ext cx="294774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Redirection and SSH Tunneling</a:t>
            </a:r>
            <a:endParaRPr lang="en-US" sz="1425" dirty="0"/>
          </a:p>
        </p:txBody>
      </p:sp>
      <p:sp>
        <p:nvSpPr>
          <p:cNvPr id="56" name="Shape 54"/>
          <p:cNvSpPr/>
          <p:nvPr/>
        </p:nvSpPr>
        <p:spPr>
          <a:xfrm>
            <a:off x="5000625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43500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143500" y="6666086"/>
            <a:ext cx="170557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Tunneling</a:t>
            </a:r>
            <a:endParaRPr lang="en-US" sz="1425" dirty="0"/>
          </a:p>
        </p:txBody>
      </p:sp>
      <p:sp>
        <p:nvSpPr>
          <p:cNvPr id="59" name="Shape 57"/>
          <p:cNvSpPr/>
          <p:nvPr/>
        </p:nvSpPr>
        <p:spPr>
          <a:xfrm>
            <a:off x="9201150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44025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344025" y="6666086"/>
            <a:ext cx="221716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Metasploit Framework</a:t>
            </a:r>
            <a:endParaRPr lang="en-US" sz="1425" dirty="0"/>
          </a:p>
        </p:txBody>
      </p:sp>
      <p:sp>
        <p:nvSpPr>
          <p:cNvPr id="62" name="Shape 60"/>
          <p:cNvSpPr/>
          <p:nvPr/>
        </p:nvSpPr>
        <p:spPr>
          <a:xfrm>
            <a:off x="13401675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6A00">
              <a:alpha val="12000"/>
            </a:srgbClr>
          </a:solidFill>
          <a:ln w="9525">
            <a:solidFill>
              <a:srgbClr val="FF6A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3544550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3544550" y="6666086"/>
            <a:ext cx="301902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Introduction and Enumeration</a:t>
            </a:r>
            <a:endParaRPr lang="en-US" sz="1425" dirty="0"/>
          </a:p>
        </p:txBody>
      </p:sp>
      <p:sp>
        <p:nvSpPr>
          <p:cNvPr id="65" name="Shape 63"/>
          <p:cNvSpPr/>
          <p:nvPr/>
        </p:nvSpPr>
        <p:spPr>
          <a:xfrm>
            <a:off x="800100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42975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942975" y="7482855"/>
            <a:ext cx="233935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AD Authentication</a:t>
            </a:r>
            <a:endParaRPr lang="en-US" sz="1425" dirty="0"/>
          </a:p>
        </p:txBody>
      </p:sp>
      <p:sp>
        <p:nvSpPr>
          <p:cNvPr id="68" name="Shape 66"/>
          <p:cNvSpPr/>
          <p:nvPr/>
        </p:nvSpPr>
        <p:spPr>
          <a:xfrm>
            <a:off x="5000625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43500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143500" y="7482855"/>
            <a:ext cx="199489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Movement in AD</a:t>
            </a:r>
            <a:endParaRPr lang="en-US" sz="1425" dirty="0"/>
          </a:p>
        </p:txBody>
      </p:sp>
      <p:sp>
        <p:nvSpPr>
          <p:cNvPr id="71" name="Shape 69"/>
          <p:cNvSpPr/>
          <p:nvPr/>
        </p:nvSpPr>
        <p:spPr>
          <a:xfrm>
            <a:off x="9201150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344025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9344025" y="7482855"/>
            <a:ext cx="189376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Assembling the Pieces</a:t>
            </a:r>
            <a:endParaRPr lang="en-US" sz="1425" dirty="0"/>
          </a:p>
        </p:txBody>
      </p:sp>
      <p:sp>
        <p:nvSpPr>
          <p:cNvPr id="74" name="Shape 72"/>
          <p:cNvSpPr/>
          <p:nvPr/>
        </p:nvSpPr>
        <p:spPr>
          <a:xfrm>
            <a:off x="13401675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3544550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13544550" y="7482855"/>
            <a:ext cx="200858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Trying Harder: The Labs</a:t>
            </a:r>
            <a:endParaRPr lang="en-US" sz="1425" dirty="0"/>
          </a:p>
        </p:txBody>
      </p:sp>
      <p:sp>
        <p:nvSpPr>
          <p:cNvPr id="77" name="Text 75"/>
          <p:cNvSpPr/>
          <p:nvPr/>
        </p:nvSpPr>
        <p:spPr>
          <a:xfrm>
            <a:off x="800100" y="8075786"/>
            <a:ext cx="163449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weightings: information not defined in the official exam outline.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809875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305175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foundation Modules 21 and 22 depend 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971925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4210050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THREE-MODULE ARC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4529138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Enumerate the domain here, attack its authentication in Module 21, then move laterally through it in Module 22.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3971925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4210050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BEFORE AUTOMATED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4529138"/>
            <a:ext cx="5108105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module teaches legacy tools and PowerShell before SharpHound and BloodHound — the same discipline as every earlier automated tool in the course.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800100" y="6348413"/>
            <a:ext cx="16687800" cy="1128713"/>
          </a:xfrm>
          <a:prstGeom prst="roundRect">
            <a:avLst>
              <a:gd name="adj" fmla="val 1350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8225" y="6586538"/>
            <a:ext cx="1783270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ENUMERATION IS EVERYTHING HERE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8225" y="6905625"/>
            <a:ext cx="1783270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authentication or moving laterally against a domain you have not mapped is guesswork. This module removes the guesswork.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31830" y="3920951"/>
            <a:ext cx="22243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20.1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968058" y="4435301"/>
            <a:ext cx="14351883" cy="818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508"/>
              </a:lnSpc>
              <a:buNone/>
            </a:pPr>
            <a:r>
              <a:rPr lang="en-US" sz="58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 Manual Enumeration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2767013" y="5482084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Enumerate Active Directory using legacy Windows applications, and use PowerShell and .NET for additional enumeration.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16969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4552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20.1 · Task 1 of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Enumerating AD using legacy Windows applications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has shipped built-in applications for interacting with Active Directory for decades. These remain functional enumeration sources, often present on a compromised host with no additional tooling required.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tools work with no additional software introduced to the target, reducing both footprint and dependency on what happens to be available.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Assuming legacy tools are obsolete simply because they are old. They remain genuinely useful precisely because they are already present.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4122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7051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20.1 · Task 2 of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PowerShell and .NET for additional enumeration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PowerShell and the underlying .NET framework provide direct programmatic access to Active Directory, offering more flexible and scriptable enumeration than the legacy applications alone.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API-level access surfaces detail and flexibility that fixed legacy tools were never designed to expose.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15's PowerShell history objective — the same PowerShell environment, now used for enumeration rather than credential recovery.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998119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20.1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49341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Enumeration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5160169"/>
            <a:ext cx="8239125" cy="1128713"/>
          </a:xfrm>
          <a:prstGeom prst="roundRect">
            <a:avLst>
              <a:gd name="adj" fmla="val 1350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398294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APPLICATIONS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717381"/>
            <a:ext cx="853916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Built-in, already-present tools that remain functional enumeration sources.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5160169"/>
            <a:ext cx="8239125" cy="1128713"/>
          </a:xfrm>
          <a:prstGeom prst="roundRect">
            <a:avLst>
              <a:gd name="adj" fmla="val 1350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5398294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POWERSHELL AND .NET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5717381"/>
            <a:ext cx="853916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flexible, scriptable, direct programmatic access to the domain.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12266" y="3981004"/>
            <a:ext cx="226346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20.2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542659" y="4495354"/>
            <a:ext cx="15202607" cy="69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788"/>
              </a:lnSpc>
              <a:buNone/>
            </a:pPr>
            <a:r>
              <a:rPr lang="en-US" sz="49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Enumeration Expanding our Repertoire</a:t>
            </a:r>
            <a:endParaRPr lang="en-US" sz="4950" dirty="0"/>
          </a:p>
        </p:txBody>
      </p:sp>
      <p:sp>
        <p:nvSpPr>
          <p:cNvPr id="5" name="Text 3"/>
          <p:cNvSpPr/>
          <p:nvPr/>
        </p:nvSpPr>
        <p:spPr>
          <a:xfrm>
            <a:off x="2521744" y="5422106"/>
            <a:ext cx="13244513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Enumerate operating system permissions and logged-on users, enumerate through service principal names, enumerate object permissions, and explore domain shares.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58790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88604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20.2 · Task 1 of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Enumerating OS permissions and logged-on users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domain-wide enumeration, checking local operating system permissions and who is currently logged onto a specific host reveals immediate opportunities and identifies which accounts are actively in use.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logged-on privileged account on the current host may be directly reachable, without needing any domain-wide technique at all.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15's Windows situational awareness — the same discipline, now extended to the domain context.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83049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813590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20.2 · Task 2 of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Enumerating through Service Principal Names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Principal Names identify which accounts run which services across the domain. Enumerating them surfaces service accounts — frequently over-privileged and a common target for later attack.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enumeration step is the foundation Module 21 builds on directly when attacking the Kerberos SPN authentication mechanism.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21's Kerberoasting content — you cannot target a service account's ticket without first knowing which accounts hold one.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3088184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818879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20.2 · Task 3 of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Enumerating object permissions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 grants fine-grained permissions over specific objects — users, groups, computers — independently of broader group membership. A seemingly low-privileged account can hold a specific, powerful permission over one high-value object.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Object-level permission misconfigurations are easy to overlook and frequently grant paths to compromise invisible from group membership alone.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20.3's BloodHound content — visualising exactly these object-level permission relationships is BloodHound's central purpose.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91681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822481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20.2 · Task 4 of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domain shares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Domain-wide file shares frequently contain scripts, configuration files, and documentation accessible to more accounts than intended, often carrying credentials or sensitive information across the entire domain.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share can expose far more sensitive material than the credential-hunting techniques from Module 16 applied to just one host.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Shares with overly broad read access that were never intended to be domain-wide readable, and were simply never revisited.</a:t>
            </a:r>
            <a:endParaRPr lang="en-US" sz="18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20.2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Expanding our Repertoire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4043363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CONTEXT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367412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permissions and logged-on users on the current host.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5014913" y="4826794"/>
            <a:ext cx="4043363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53038" y="5064919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53038" y="5384006"/>
            <a:ext cx="367412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accounts, the foundation for Module 21's Kerberoasting.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229725" y="4826794"/>
            <a:ext cx="4043363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67850" y="5064919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PERMISSIONS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467850" y="5384006"/>
            <a:ext cx="3674126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control over specific AD objects, independent of group membership.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3444538" y="4826794"/>
            <a:ext cx="4043363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682663" y="5064919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SHARES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682663" y="5384006"/>
            <a:ext cx="367412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the richest single source of exposed information domain-wide.</a:t>
            </a:r>
            <a:endParaRPr lang="en-US" sz="18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11042" y="4131915"/>
            <a:ext cx="226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20.3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10595" y="4646265"/>
            <a:ext cx="1626681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304"/>
              </a:lnSpc>
              <a:buNone/>
            </a:pPr>
            <a:r>
              <a:rPr lang="en-US" sz="60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 Automated Enumeration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069260" y="5713065"/>
            <a:ext cx="12149480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domain data using SharpHound, and analyse domain data using BloodHound.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3051423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781016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20.3 · Task 1 of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Collecting domain data using SharpHound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SharpHound collects raw Active Directory relationship data — users, groups, sessions, and permissions — across the domain, in a format ready for analysis rather than by manually repeating every objective from 20.1 and 20.2 one host at a time.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automates the collection of exactly the relationship data the manual objectives in 20.1 and 20.2 identify individually, at domain scale.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volume and noise. A full domain collection can generate significant traffic and logging, worth considering against the engagement's stealth requirements.</a:t>
            </a:r>
            <a:endParaRPr lang="en-US" sz="18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75682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806002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20.3 · Task 2 of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Analysing domain data using BloodHound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BloodHound visualises the data SharpHound collects as a graph of relationships, surfacing attack paths — chains of permissions and group memberships — that would be extremely difficult to piece together by hand.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directly visualises the object permission relationships from Objective 20.2, revealing multi-step paths to high-value targets like Domain Admins.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Treating every path BloodHound surfaces as immediately viable. Manual verification of the underlying permission is still required before acting.</a:t>
            </a:r>
            <a:endParaRPr lang="en-US" sz="18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340671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DISTINCTION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83597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enumeration, then automated scale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502721"/>
            <a:ext cx="758190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4740846"/>
            <a:ext cx="781621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(20.1, 20.2)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059933"/>
            <a:ext cx="73188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the understanding of what each relationship, permission and share actually means — slower, but foundational.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8534400" y="4502721"/>
            <a:ext cx="1219200" cy="1833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3900" dirty="0"/>
          </a:p>
        </p:txBody>
      </p:sp>
      <p:sp>
        <p:nvSpPr>
          <p:cNvPr id="9" name="Shape 7"/>
          <p:cNvSpPr/>
          <p:nvPr/>
        </p:nvSpPr>
        <p:spPr>
          <a:xfrm>
            <a:off x="9906000" y="4502721"/>
            <a:ext cx="7581900" cy="1795463"/>
          </a:xfrm>
          <a:prstGeom prst="roundRect">
            <a:avLst>
              <a:gd name="adj" fmla="val 8488"/>
            </a:avLst>
          </a:prstGeom>
          <a:solidFill>
            <a:srgbClr val="FF6A00">
              <a:alpha val="6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4125" y="4740846"/>
            <a:ext cx="781621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(20.3)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144125" y="5059933"/>
            <a:ext cx="731882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Collects and visualises the same categories of information at domain scale — fast, but its output still requires the manual understanding to interpret and verify.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800100" y="6545833"/>
            <a:ext cx="1634490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identical pattern from Modules 9, 13, 15, 16 and 19: understand manually first, then let automation handle scale.</a:t>
            </a:r>
            <a:endParaRPr lang="en-US" sz="21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831431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20.3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32673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Enumeration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SHARPHOUND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Collects domain-wide relationship data at scale, automating what 20.1 and 20.2 teach manually.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BLOODHOUND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Visualises that data as attack paths, still requiring manual verification before acting on any one path.</a:t>
            </a:r>
            <a:endParaRPr lang="en-US" sz="18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140422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SCENARIO · DISCUSSION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635722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where to start enumerating a fresh domain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0100" y="4302472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tester has just obtained a foothold with a standard domain user account on a freshly joined workstation, with no prior information about the domain's structure.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800100" y="5351115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8225" y="5589240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8225" y="5908328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manual objective from 20.1 or 20.2 would you start with, and why that one first?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426175" y="5351115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4300" y="5589240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64300" y="5908328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what point would running SharpHound and BloodHound become worthwhile, given the collection-noise trade-off?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2052250" y="5351115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90375" y="5589240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90375" y="5908328"/>
            <a:ext cx="510818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enumeration step here directly sets up Module 21's Kerberoasting attack, and why?</a:t>
            </a:r>
            <a:endParaRPr lang="en-US" sz="18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23505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3775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with what is already present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with legacy applications and PowerShell already available on the compromised host before introducing SharpHound or any other new tool to the environment.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new artefacts introduced to the domain means a smaller footprint and less to explain if the engagement requires discretion.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853916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20.1's legacy application and PowerShell content directly.</a:t>
            </a:r>
            <a:endParaRPr lang="en-US" sz="18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47764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62014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Verifying a BloodHound path before acting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pursuing an attack path BloodHound surfaces, manually confirm the underlying permission or relationship still holds — domain state can change between collection and action.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Spot-check the specific permission a BloodHound edge represents directly, rather than acting purely on the graph's visual path.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manual-verification discipline repeated across Modules 15, 16 and 19, now applied to Active Directory specifically.</a:t>
            </a:r>
            <a:endParaRPr lang="en-US" sz="18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5289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6714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Weighing collection noise against engagement needs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the volume of traffic and logging a full SharpHound collection generates against the engagement's stealth requirements before running an unrestricted sweep of the entire domain.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noisy collection can alert defenders well before any attack path is actually pursued, undermining an engagement that requires discretion.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2's authorised-scope discipline — matching technique to what the engagement actually requires, not just what is technically possible.</a:t>
            </a:r>
            <a:endParaRPr lang="en-US" sz="18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338513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ACRONYM SPOTLIGHT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833812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introduced in Module 20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500563"/>
            <a:ext cx="25908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0100" y="4991100"/>
            <a:ext cx="25908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4614863"/>
            <a:ext cx="236372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90900" y="4500563"/>
            <a:ext cx="4686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90900" y="4991100"/>
            <a:ext cx="4686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3543300" y="4614863"/>
            <a:ext cx="452208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77200" y="4500563"/>
            <a:ext cx="94107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077200" y="4991100"/>
            <a:ext cx="94107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4614863"/>
            <a:ext cx="938822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appears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0100" y="5000625"/>
            <a:ext cx="25908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" y="5476875"/>
            <a:ext cx="2590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5105400"/>
            <a:ext cx="23637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390900" y="5000625"/>
            <a:ext cx="4686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90900" y="5476875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9" name="Text 17"/>
          <p:cNvSpPr/>
          <p:nvPr/>
        </p:nvSpPr>
        <p:spPr>
          <a:xfrm>
            <a:off x="3543300" y="5105400"/>
            <a:ext cx="4522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Principal Name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77200" y="5000625"/>
            <a:ext cx="94107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77200" y="5476875"/>
            <a:ext cx="94107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5105400"/>
            <a:ext cx="9388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20.2, foundation for Module 21's Kerberoasting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0100" y="5962650"/>
            <a:ext cx="2590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5591175"/>
            <a:ext cx="23637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SharpHound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390900" y="5962650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6" name="Text 24"/>
          <p:cNvSpPr/>
          <p:nvPr/>
        </p:nvSpPr>
        <p:spPr>
          <a:xfrm>
            <a:off x="3543300" y="5591175"/>
            <a:ext cx="4522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 data collector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77200" y="5962650"/>
            <a:ext cx="94107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5591175"/>
            <a:ext cx="9388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20.3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00100" y="5972175"/>
            <a:ext cx="25908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00100" y="6448425"/>
            <a:ext cx="2590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1" name="Text 29"/>
          <p:cNvSpPr/>
          <p:nvPr/>
        </p:nvSpPr>
        <p:spPr>
          <a:xfrm>
            <a:off x="952500" y="6076950"/>
            <a:ext cx="23637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BloodHound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390900" y="5972175"/>
            <a:ext cx="4686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90900" y="6448425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4" name="Text 32"/>
          <p:cNvSpPr/>
          <p:nvPr/>
        </p:nvSpPr>
        <p:spPr>
          <a:xfrm>
            <a:off x="3543300" y="6076950"/>
            <a:ext cx="4522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path analysis and visualisation tool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077200" y="5972175"/>
            <a:ext cx="94107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077200" y="6448425"/>
            <a:ext cx="94107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0" y="6076950"/>
            <a:ext cx="9388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20.3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00100" y="6934200"/>
            <a:ext cx="2590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9" name="Text 37"/>
          <p:cNvSpPr/>
          <p:nvPr/>
        </p:nvSpPr>
        <p:spPr>
          <a:xfrm>
            <a:off x="952500" y="6562725"/>
            <a:ext cx="23637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390900" y="6934200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1" name="Text 39"/>
          <p:cNvSpPr/>
          <p:nvPr/>
        </p:nvSpPr>
        <p:spPr>
          <a:xfrm>
            <a:off x="3543300" y="6562725"/>
            <a:ext cx="4522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077200" y="6934200"/>
            <a:ext cx="94107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0" y="6562725"/>
            <a:ext cx="9388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Throughout the module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15979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MISCONCEPTIONS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65509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learners get wrong about Module 20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321844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355996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“JUST RUN BLOODHOUND AND SKIP MANUAL ENUMERATION”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387905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enumeration is taught first for a reason — understanding what each relationship means is what makes BloodHound's graph interpretable.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3321844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355996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“LEGACY WINDOWS TOOLS ARE OBSOLETE”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387905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remain genuinely useful precisely because they are already present, requiring no additional tooling introduced to the target.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800100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8225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“GROUP MEMBERSHIP ALONE SHOWS ALL EFFECTIVE PERMISSIONS”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8225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Object-level permissions can grant powerful, specific control independent of group membership entirely.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248775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86900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“EVERY BLOODHOUND PATH IS IMMEDIATELY EXPLOITABLE”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486900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underlying permission still needs manual verification, since domain state can change between collection and action.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800100" y="6665119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8225" y="6903244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“DOMAIN SHARES ARE RARELY WORTH CHECKING”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38225" y="7222331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frequently the single richest source of exposed sensitive information across an entire domain.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248775" y="6665119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86900" y="6903244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“SPN ENUMERATION IS UNRELATED TO LATER ATTACKS”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86900" y="7222331"/>
            <a:ext cx="853916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direct foundation for Kerberoasting, covered explicitly in Module 21.</a:t>
            </a:r>
            <a:endParaRPr lang="en-US" sz="18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449919" y="3273326"/>
            <a:ext cx="33881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20 IN CONTEXT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997450" y="3749576"/>
            <a:ext cx="2293099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2000" b="1" spc="-30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1st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25305" y="5502176"/>
            <a:ext cx="17637316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381"/>
              </a:lnSpc>
              <a:buNone/>
            </a:pPr>
            <a:r>
              <a:rPr lang="en-US" sz="34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three Active Directory modules: enumerate, then authenticate, then move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3257550" y="6212681"/>
            <a:ext cx="1177290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Enumeration, Expanding our Repertoire, and Automated Enumeration. Percentage weightings per module: information not defined in the official exam outline.</a:t>
            </a:r>
            <a:endParaRPr lang="en-US" sz="21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695575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190875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enumeration objective directly sets up Module 21's Kerberoasting attack?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93382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11480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12432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188619"/>
            <a:ext cx="286248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domain shares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488632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6A00">
              <a:alpha val="10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06730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07682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141119"/>
            <a:ext cx="535596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Enumerating through Service Principal Names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583882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601980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602932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093619"/>
            <a:ext cx="587517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Enumerating OS permissions and logged-on users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00100" y="679132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8225" y="697230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9650" y="698182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952625" y="7046119"/>
            <a:ext cx="414327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legacy Windows applications</a:t>
            </a:r>
            <a:endParaRPr lang="en-US" sz="1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68560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SUMMARY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18090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20 in three lines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847654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028629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038154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102447"/>
            <a:ext cx="1130726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Windows applications and PowerShell/.NET provide manual Active Directory enumeration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4800154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4981129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4990654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054947"/>
            <a:ext cx="1283264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permissions, logged-on users, SPNs, object permissions, and domain shares expand that manual repertoire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5752654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5933629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5943154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007447"/>
            <a:ext cx="1356639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SharpHound collects domain data at scale; BloodHound visualises it as attack paths still requiring manual verification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800100" y="6800404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21 attacks the authentication mechanisms this module just mapped; Module 22 moves laterally through the domain this module just enumerated.</a:t>
            </a:r>
            <a:endParaRPr lang="en-US" sz="21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43000"/>
            <a:ext cx="18356580" cy="69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788"/>
              </a:lnSpc>
              <a:buNone/>
            </a:pPr>
            <a:r>
              <a:rPr lang="en-US" sz="49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21: Attacking Active Directory Authentication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800100" y="2088803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2326928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NEXT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2646015"/>
            <a:ext cx="5108105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NTLM and Kerberos authentication mechanisms, then password attacks, Kerberoasting, and impersonating a domain controller.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2088803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2326928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2646015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able to state why SPN enumeration is the direct foundation for Kerberoasting.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2088803"/>
            <a:ext cx="5435650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2326928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FORWARD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2646015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relationship, permission and account mapped in this module. Module 21 attacks exactly what was just enumerated.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2026-08-01T10:41:20Z</dcterms:created>
  <dcterms:modified xsi:type="dcterms:W3CDTF">2026-08-01T10:41:20Z</dcterms:modified>
</cp:coreProperties>
</file>