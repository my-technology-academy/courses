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11. From client-side delivery back to a more direct route: known vulnerabilities with published exploit code. Open with the safety framing before anything else — this module starts with risk, not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units. Note the module opens with risk and analysis before any resource is named — that ordering is deliberate.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11 of 24. Follows client-side attacks; precedes Fixing Exploits, which assumes a public exploit was found but does not work 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Reintroduces Module 2's threat/vulnerability/exploit distinction directly — this module is entirely about the fourth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11.1. Two objectives, both about judgement rather than technique — deliberately placed before any resource is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11.1, task 1. The safety framing. Get this right before naming a single resource — the syllabus places it first for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11.1, task 2. Reading the code first is the practical answer to the risk just described. This is the single most important habit in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11.1. This one governs everything that follows in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11.2. Three objectives on where to look online, and how to judge what is found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11.2, task 1. Multiple resources exist. Keep this generic — categories of resource, not a single named site to depend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11.2, task 2. Differentiating between resources — the criteria that matter when judging where a piece of exploit code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11.2, task 3. The risks specific to online resources — direct continuation of 11.1's theme, now applied to sourcing rather than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11.2, task 4. Search operators named explicitly as a discovery technique — an underused skill most learners have never deliberately practised.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11.2 before offline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11.3. Three objectives on resources already available locally, without a network lookup.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11.3, task 1. Frameworks named generically here; Module 19 covers Metasploit specifically and 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11.3, task 2. SearchSploit named explicitly — a local, offline-searchable exploit 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11.3, task 3. NSE named again, connecting back to Module 6 — the same engine, now used to find exploits rather than only detect vulnerabilities.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distinction closing the resource units. Neither replaces the other; they answer different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11.3 before the full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11.4 — the module's synthesis unit, tying every previous objective into one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11.4, task 1. The workflow — enumerate before searching. Direct callback to Modules 5 and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11.4, task 2. Completely exploiting a machine — the synthesis objective, stated as its own outcome rather than a single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11.4, task 3. Discovering the appropriate exploit — applying 11.2 and 11.3's resources against the specific service just enumerated.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11.4, task 4. Executing a public exploit for a limited shell — the module's terminal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slide tying the whole module together. This is the slide to keep pinned during practical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11.4, then the applied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Five minutes in pairs. Listening for correct ordering (enumerate before search) and genuine analysis discipline, not just naming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1. Reading exploit code systematically rather than skimming it — the practical form of Objective 11.1.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2. Testing in an isolated environment before running against the real target — a direct safety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3. Cross-referencing multiple sources before trusting any single one — direct application of Objective 11.2's differentiation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Acronym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Misconceptions. The 'popular equals safe' one is the most damaging and the most common among learners new to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number. Four units, and the module's outcome — a limited shell — is deliberately not the end of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Answer is B. Also appears as Q1 of the module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Four units in four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Preview Module 12 — what happens when the exploit found here does not work as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6096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MODULE 11 OF 24 · OFFSEC PEN-200 (PWK)</a:t>
            </a:r>
            <a:endParaRPr lang="en-US" sz="1650" dirty="0"/>
          </a:p>
        </p:txBody>
      </p:sp>
      <p:sp>
        <p:nvSpPr>
          <p:cNvPr id="4" name="Text 2"/>
          <p:cNvSpPr/>
          <p:nvPr/>
        </p:nvSpPr>
        <p:spPr>
          <a:xfrm>
            <a:off x="800100" y="1181100"/>
            <a:ext cx="18356580" cy="918195"/>
          </a:xfrm>
          <a:prstGeom prst="rect">
            <a:avLst/>
          </a:prstGeom>
          <a:noFill/>
          <a:ln/>
        </p:spPr>
        <p:txBody>
          <a:bodyPr wrap="square" lIns="25400" tIns="25400" rIns="25400" bIns="25400" rtlCol="0" anchor="t">
            <a:normAutofit/>
          </a:bodyPr>
          <a:lstStyle/>
          <a:p>
            <a:pPr algn="l"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Locating Public Exploits</a:t>
            </a:r>
            <a:endParaRPr lang="en-US" sz="6600" dirty="0"/>
          </a:p>
        </p:txBody>
      </p:sp>
      <p:sp>
        <p:nvSpPr>
          <p:cNvPr id="5" name="Text 3"/>
          <p:cNvSpPr/>
          <p:nvPr/>
        </p:nvSpPr>
        <p:spPr>
          <a:xfrm>
            <a:off x="800100" y="2385045"/>
            <a:ext cx="13735050" cy="977205"/>
          </a:xfrm>
          <a:prstGeom prst="rect">
            <a:avLst/>
          </a:prstGeom>
          <a:noFill/>
          <a:ln/>
        </p:spPr>
        <p:txBody>
          <a:bodyPr wrap="square" lIns="25400" tIns="25400" rIns="25400" bIns="25400" rtlCol="0" anchor="t">
            <a:normAutofit/>
          </a:bodyPr>
          <a:lstStyle/>
          <a:p>
            <a:pPr algn="l" indent="0" marL="0">
              <a:lnSpc>
                <a:spcPct val="126410"/>
              </a:lnSpc>
              <a:buNone/>
            </a:pPr>
            <a:r>
              <a:rPr lang="en-US" sz="2550" dirty="0">
                <a:solidFill>
                  <a:srgbClr val="B8C0CF"/>
                </a:solidFill>
                <a:latin typeface="Arial" pitchFamily="34" charset="0"/>
                <a:ea typeface="Arial" pitchFamily="34" charset="-122"/>
                <a:cs typeface="Arial" pitchFamily="34" charset="-120"/>
              </a:rPr>
              <a:t>The risk of untrusted exploit code, online and offline resources for finding it, and a full workflow from enumeration to a limited shell.</a:t>
            </a:r>
            <a:endParaRPr lang="en-US" sz="2550" dirty="0"/>
          </a:p>
        </p:txBody>
      </p:sp>
      <p:sp>
        <p:nvSpPr>
          <p:cNvPr id="6" name="Shape 4"/>
          <p:cNvSpPr/>
          <p:nvPr/>
        </p:nvSpPr>
        <p:spPr>
          <a:xfrm>
            <a:off x="800100" y="9210675"/>
            <a:ext cx="16687800" cy="9525"/>
          </a:xfrm>
          <a:prstGeom prst="rect">
            <a:avLst/>
          </a:prstGeom>
          <a:solidFill>
            <a:srgbClr val="2A2F3A"/>
          </a:solidFill>
          <a:ln/>
        </p:spPr>
      </p:sp>
      <p:sp>
        <p:nvSpPr>
          <p:cNvPr id="7" name="Text 5"/>
          <p:cNvSpPr/>
          <p:nvPr/>
        </p:nvSpPr>
        <p:spPr>
          <a:xfrm>
            <a:off x="800100" y="9432131"/>
            <a:ext cx="1796482" cy="261937"/>
          </a:xfrm>
          <a:prstGeom prst="rect">
            <a:avLst/>
          </a:prstGeom>
          <a:noFill/>
          <a:ln/>
        </p:spPr>
        <p:txBody>
          <a:bodyPr wrap="square" lIns="25400" tIns="25400" rIns="25400" bIns="25400" rtlCol="0" anchor="t">
            <a:normAutofit/>
          </a:bodyPr>
          <a:lstStyle/>
          <a:p>
            <a:pPr algn="l" indent="0" marL="0">
              <a:buNone/>
            </a:pPr>
            <a:r>
              <a:rPr lang="en-US" sz="1500" dirty="0">
                <a:solidFill>
                  <a:srgbClr val="8891A1"/>
                </a:solidFill>
                <a:latin typeface="Arial" pitchFamily="34" charset="0"/>
                <a:ea typeface="Arial" pitchFamily="34" charset="-122"/>
                <a:cs typeface="Arial" pitchFamily="34" charset="-120"/>
              </a:rPr>
              <a:t>My Cyber Academy</a:t>
            </a:r>
            <a:endParaRPr lang="en-US" sz="1500" dirty="0"/>
          </a:p>
        </p:txBody>
      </p:sp>
      <p:sp>
        <p:nvSpPr>
          <p:cNvPr id="8" name="Text 6"/>
          <p:cNvSpPr/>
          <p:nvPr/>
        </p:nvSpPr>
        <p:spPr>
          <a:xfrm>
            <a:off x="16763181" y="9410700"/>
            <a:ext cx="800919"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OS</a:t>
            </a:r>
            <a:pPr algn="l" indent="0" marL="0">
              <a:buNone/>
            </a:pPr>
            <a:r>
              <a:rPr lang="en-US" sz="1800" b="1" spc="150" kern="0" dirty="0">
                <a:solidFill>
                  <a:srgbClr val="8891A1"/>
                </a:solidFill>
                <a:latin typeface="Arial" pitchFamily="34" charset="0"/>
                <a:ea typeface="Arial" pitchFamily="34" charset="-122"/>
                <a:cs typeface="Arial" pitchFamily="34" charset="-120"/>
              </a:rPr>
              <a:t>CP</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596009"/>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LEARNING OBJECTIVES</a:t>
            </a:r>
            <a:endParaRPr lang="en-US" sz="1650" dirty="0"/>
          </a:p>
        </p:txBody>
      </p:sp>
      <p:sp>
        <p:nvSpPr>
          <p:cNvPr id="4" name="Text 2"/>
          <p:cNvSpPr/>
          <p:nvPr/>
        </p:nvSpPr>
        <p:spPr>
          <a:xfrm>
            <a:off x="800100" y="3091309"/>
            <a:ext cx="18356580" cy="618158"/>
          </a:xfrm>
          <a:prstGeom prst="rect">
            <a:avLst/>
          </a:prstGeom>
          <a:noFill/>
          <a:ln/>
        </p:spPr>
        <p:txBody>
          <a:bodyPr wrap="square" lIns="25400" tIns="25400" rIns="25400" bIns="25400" rtlCol="0" anchor="t">
            <a:normAutofit/>
          </a:bodyPr>
          <a:lstStyle/>
          <a:p>
            <a:pPr algn="l" indent="0" marL="0">
              <a:lnSpc>
                <a:spcPct val="90896"/>
              </a:lnSpc>
              <a:buNone/>
            </a:pPr>
            <a:r>
              <a:rPr lang="en-US" sz="4350" b="1" spc="-37" kern="0" dirty="0">
                <a:solidFill>
                  <a:srgbClr val="F5F7FB"/>
                </a:solidFill>
                <a:latin typeface="Arial" pitchFamily="34" charset="0"/>
                <a:ea typeface="Arial" pitchFamily="34" charset="-122"/>
                <a:cs typeface="Arial" pitchFamily="34" charset="-120"/>
              </a:rPr>
              <a:t>What this module covers</a:t>
            </a:r>
            <a:endParaRPr lang="en-US" sz="4350" dirty="0"/>
          </a:p>
        </p:txBody>
      </p:sp>
      <p:sp>
        <p:nvSpPr>
          <p:cNvPr id="5" name="Shape 3"/>
          <p:cNvSpPr/>
          <p:nvPr/>
        </p:nvSpPr>
        <p:spPr>
          <a:xfrm>
            <a:off x="800100" y="3976167"/>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415714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16666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11.1</a:t>
            </a:r>
            <a:endParaRPr lang="en-US" sz="1650" dirty="0"/>
          </a:p>
        </p:txBody>
      </p:sp>
      <p:sp>
        <p:nvSpPr>
          <p:cNvPr id="8" name="Text 6"/>
          <p:cNvSpPr/>
          <p:nvPr/>
        </p:nvSpPr>
        <p:spPr>
          <a:xfrm>
            <a:off x="1952625" y="4230960"/>
            <a:ext cx="1793699"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Getting Started</a:t>
            </a:r>
            <a:endParaRPr lang="en-US" sz="1950" dirty="0"/>
          </a:p>
        </p:txBody>
      </p:sp>
      <p:sp>
        <p:nvSpPr>
          <p:cNvPr id="9" name="Shape 7"/>
          <p:cNvSpPr/>
          <p:nvPr/>
        </p:nvSpPr>
        <p:spPr>
          <a:xfrm>
            <a:off x="800100" y="4947717"/>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512869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513821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11.2</a:t>
            </a:r>
            <a:endParaRPr lang="en-US" sz="1650" dirty="0"/>
          </a:p>
        </p:txBody>
      </p:sp>
      <p:sp>
        <p:nvSpPr>
          <p:cNvPr id="12" name="Text 10"/>
          <p:cNvSpPr/>
          <p:nvPr/>
        </p:nvSpPr>
        <p:spPr>
          <a:xfrm>
            <a:off x="1952625" y="5202510"/>
            <a:ext cx="2901122"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Online Exploit Resources</a:t>
            </a:r>
            <a:endParaRPr lang="en-US" sz="1950" dirty="0"/>
          </a:p>
        </p:txBody>
      </p:sp>
      <p:sp>
        <p:nvSpPr>
          <p:cNvPr id="13" name="Shape 11"/>
          <p:cNvSpPr/>
          <p:nvPr/>
        </p:nvSpPr>
        <p:spPr>
          <a:xfrm>
            <a:off x="800100" y="5919267"/>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610024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610976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11.3</a:t>
            </a:r>
            <a:endParaRPr lang="en-US" sz="1650" dirty="0"/>
          </a:p>
        </p:txBody>
      </p:sp>
      <p:sp>
        <p:nvSpPr>
          <p:cNvPr id="16" name="Text 14"/>
          <p:cNvSpPr/>
          <p:nvPr/>
        </p:nvSpPr>
        <p:spPr>
          <a:xfrm>
            <a:off x="1952625" y="6174060"/>
            <a:ext cx="2926824"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Offline Exploit Resources</a:t>
            </a:r>
            <a:endParaRPr lang="en-US" sz="1950" dirty="0"/>
          </a:p>
        </p:txBody>
      </p:sp>
      <p:sp>
        <p:nvSpPr>
          <p:cNvPr id="17" name="Shape 15"/>
          <p:cNvSpPr/>
          <p:nvPr/>
        </p:nvSpPr>
        <p:spPr>
          <a:xfrm>
            <a:off x="800100" y="6890817"/>
            <a:ext cx="16687800" cy="800100"/>
          </a:xfrm>
          <a:prstGeom prst="roundRect">
            <a:avLst>
              <a:gd name="adj" fmla="val 16667"/>
            </a:avLst>
          </a:prstGeom>
          <a:solidFill>
            <a:srgbClr val="FFFFFF">
              <a:alpha val="2000"/>
            </a:srgbClr>
          </a:solidFill>
          <a:ln w="9525">
            <a:solidFill>
              <a:srgbClr val="2A2F3A"/>
            </a:solidFill>
            <a:prstDash val="solid"/>
          </a:ln>
        </p:spPr>
      </p:sp>
      <p:sp>
        <p:nvSpPr>
          <p:cNvPr id="18" name="Shape 16"/>
          <p:cNvSpPr/>
          <p:nvPr/>
        </p:nvSpPr>
        <p:spPr>
          <a:xfrm>
            <a:off x="1038225" y="707179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9" name="Text 17"/>
          <p:cNvSpPr/>
          <p:nvPr/>
        </p:nvSpPr>
        <p:spPr>
          <a:xfrm>
            <a:off x="1009650" y="708131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11.4</a:t>
            </a:r>
            <a:endParaRPr lang="en-US" sz="1650" dirty="0"/>
          </a:p>
        </p:txBody>
      </p:sp>
      <p:sp>
        <p:nvSpPr>
          <p:cNvPr id="20" name="Text 18"/>
          <p:cNvSpPr/>
          <p:nvPr/>
        </p:nvSpPr>
        <p:spPr>
          <a:xfrm>
            <a:off x="1952625" y="7145610"/>
            <a:ext cx="2142158"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Exploiting a Target</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187977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COURSE CONTEXT · 24 LEARNING MODULES</a:t>
            </a:r>
            <a:endParaRPr lang="en-US" sz="1650" dirty="0"/>
          </a:p>
        </p:txBody>
      </p:sp>
      <p:sp>
        <p:nvSpPr>
          <p:cNvPr id="4" name="Text 2"/>
          <p:cNvSpPr/>
          <p:nvPr/>
        </p:nvSpPr>
        <p:spPr>
          <a:xfrm>
            <a:off x="800100" y="237507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Where Module 11 sits in PEN-200</a:t>
            </a:r>
            <a:endParaRPr lang="en-US" sz="3000" dirty="0"/>
          </a:p>
        </p:txBody>
      </p:sp>
      <p:sp>
        <p:nvSpPr>
          <p:cNvPr id="5" name="Shape 3"/>
          <p:cNvSpPr/>
          <p:nvPr/>
        </p:nvSpPr>
        <p:spPr>
          <a:xfrm>
            <a:off x="800100"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6" name="Text 4"/>
          <p:cNvSpPr/>
          <p:nvPr/>
        </p:nvSpPr>
        <p:spPr>
          <a:xfrm>
            <a:off x="942975"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01</a:t>
            </a:r>
            <a:endParaRPr lang="en-US" sz="1200" dirty="0"/>
          </a:p>
        </p:txBody>
      </p:sp>
      <p:sp>
        <p:nvSpPr>
          <p:cNvPr id="7" name="Text 5"/>
          <p:cNvSpPr/>
          <p:nvPr/>
        </p:nvSpPr>
        <p:spPr>
          <a:xfrm>
            <a:off x="942975" y="3399011"/>
            <a:ext cx="234225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General Course Introduction</a:t>
            </a:r>
            <a:endParaRPr lang="en-US" sz="1425" dirty="0"/>
          </a:p>
        </p:txBody>
      </p:sp>
      <p:sp>
        <p:nvSpPr>
          <p:cNvPr id="8" name="Shape 6"/>
          <p:cNvSpPr/>
          <p:nvPr/>
        </p:nvSpPr>
        <p:spPr>
          <a:xfrm>
            <a:off x="5000625"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9" name="Text 7"/>
          <p:cNvSpPr/>
          <p:nvPr/>
        </p:nvSpPr>
        <p:spPr>
          <a:xfrm>
            <a:off x="5143500"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02</a:t>
            </a:r>
            <a:endParaRPr lang="en-US" sz="1200" dirty="0"/>
          </a:p>
        </p:txBody>
      </p:sp>
      <p:sp>
        <p:nvSpPr>
          <p:cNvPr id="10" name="Text 8"/>
          <p:cNvSpPr/>
          <p:nvPr/>
        </p:nvSpPr>
        <p:spPr>
          <a:xfrm>
            <a:off x="5143500" y="3399011"/>
            <a:ext cx="2425378"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Introduction to Cybersecurity</a:t>
            </a:r>
            <a:endParaRPr lang="en-US" sz="1425" dirty="0"/>
          </a:p>
        </p:txBody>
      </p:sp>
      <p:sp>
        <p:nvSpPr>
          <p:cNvPr id="11" name="Shape 9"/>
          <p:cNvSpPr/>
          <p:nvPr/>
        </p:nvSpPr>
        <p:spPr>
          <a:xfrm>
            <a:off x="9201150"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12" name="Text 10"/>
          <p:cNvSpPr/>
          <p:nvPr/>
        </p:nvSpPr>
        <p:spPr>
          <a:xfrm>
            <a:off x="9344025"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03</a:t>
            </a:r>
            <a:endParaRPr lang="en-US" sz="1200" dirty="0"/>
          </a:p>
        </p:txBody>
      </p:sp>
      <p:sp>
        <p:nvSpPr>
          <p:cNvPr id="13" name="Text 11"/>
          <p:cNvSpPr/>
          <p:nvPr/>
        </p:nvSpPr>
        <p:spPr>
          <a:xfrm>
            <a:off x="9344025" y="3399011"/>
            <a:ext cx="238541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Effective Learning Strategies</a:t>
            </a:r>
            <a:endParaRPr lang="en-US" sz="1425" dirty="0"/>
          </a:p>
        </p:txBody>
      </p:sp>
      <p:sp>
        <p:nvSpPr>
          <p:cNvPr id="14" name="Shape 12"/>
          <p:cNvSpPr/>
          <p:nvPr/>
        </p:nvSpPr>
        <p:spPr>
          <a:xfrm>
            <a:off x="13401675"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15" name="Text 13"/>
          <p:cNvSpPr/>
          <p:nvPr/>
        </p:nvSpPr>
        <p:spPr>
          <a:xfrm>
            <a:off x="13544550"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04</a:t>
            </a:r>
            <a:endParaRPr lang="en-US" sz="1200" dirty="0"/>
          </a:p>
        </p:txBody>
      </p:sp>
      <p:sp>
        <p:nvSpPr>
          <p:cNvPr id="16" name="Text 14"/>
          <p:cNvSpPr/>
          <p:nvPr/>
        </p:nvSpPr>
        <p:spPr>
          <a:xfrm>
            <a:off x="13544550" y="3399011"/>
            <a:ext cx="312066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Report Writing for Penetration Testers</a:t>
            </a:r>
            <a:endParaRPr lang="en-US" sz="1425" dirty="0"/>
          </a:p>
        </p:txBody>
      </p:sp>
      <p:sp>
        <p:nvSpPr>
          <p:cNvPr id="17" name="Shape 15"/>
          <p:cNvSpPr/>
          <p:nvPr/>
        </p:nvSpPr>
        <p:spPr>
          <a:xfrm>
            <a:off x="800100"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18" name="Text 16"/>
          <p:cNvSpPr/>
          <p:nvPr/>
        </p:nvSpPr>
        <p:spPr>
          <a:xfrm>
            <a:off x="942975"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05</a:t>
            </a:r>
            <a:endParaRPr lang="en-US" sz="1200" dirty="0"/>
          </a:p>
        </p:txBody>
      </p:sp>
      <p:sp>
        <p:nvSpPr>
          <p:cNvPr id="19" name="Text 17"/>
          <p:cNvSpPr/>
          <p:nvPr/>
        </p:nvSpPr>
        <p:spPr>
          <a:xfrm>
            <a:off x="942975" y="4215780"/>
            <a:ext cx="1831181"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Information Gathering</a:t>
            </a:r>
            <a:endParaRPr lang="en-US" sz="1425" dirty="0"/>
          </a:p>
        </p:txBody>
      </p:sp>
      <p:sp>
        <p:nvSpPr>
          <p:cNvPr id="20" name="Shape 18"/>
          <p:cNvSpPr/>
          <p:nvPr/>
        </p:nvSpPr>
        <p:spPr>
          <a:xfrm>
            <a:off x="5000625"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1" name="Text 19"/>
          <p:cNvSpPr/>
          <p:nvPr/>
        </p:nvSpPr>
        <p:spPr>
          <a:xfrm>
            <a:off x="5143500"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06</a:t>
            </a:r>
            <a:endParaRPr lang="en-US" sz="1200" dirty="0"/>
          </a:p>
        </p:txBody>
      </p:sp>
      <p:sp>
        <p:nvSpPr>
          <p:cNvPr id="22" name="Text 20"/>
          <p:cNvSpPr/>
          <p:nvPr/>
        </p:nvSpPr>
        <p:spPr>
          <a:xfrm>
            <a:off x="5143500" y="4215780"/>
            <a:ext cx="185871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Vulnerability Scanning</a:t>
            </a:r>
            <a:endParaRPr lang="en-US" sz="1425" dirty="0"/>
          </a:p>
        </p:txBody>
      </p:sp>
      <p:sp>
        <p:nvSpPr>
          <p:cNvPr id="23" name="Shape 21"/>
          <p:cNvSpPr/>
          <p:nvPr/>
        </p:nvSpPr>
        <p:spPr>
          <a:xfrm>
            <a:off x="9201150"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4" name="Text 22"/>
          <p:cNvSpPr/>
          <p:nvPr/>
        </p:nvSpPr>
        <p:spPr>
          <a:xfrm>
            <a:off x="9344025"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07</a:t>
            </a:r>
            <a:endParaRPr lang="en-US" sz="1200" dirty="0"/>
          </a:p>
        </p:txBody>
      </p:sp>
      <p:sp>
        <p:nvSpPr>
          <p:cNvPr id="25" name="Text 23"/>
          <p:cNvSpPr/>
          <p:nvPr/>
        </p:nvSpPr>
        <p:spPr>
          <a:xfrm>
            <a:off x="9344025" y="4215780"/>
            <a:ext cx="2704931"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Introduction to Web Applications</a:t>
            </a:r>
            <a:endParaRPr lang="en-US" sz="1425" dirty="0"/>
          </a:p>
        </p:txBody>
      </p:sp>
      <p:sp>
        <p:nvSpPr>
          <p:cNvPr id="26" name="Shape 24"/>
          <p:cNvSpPr/>
          <p:nvPr/>
        </p:nvSpPr>
        <p:spPr>
          <a:xfrm>
            <a:off x="13401675"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7" name="Text 25"/>
          <p:cNvSpPr/>
          <p:nvPr/>
        </p:nvSpPr>
        <p:spPr>
          <a:xfrm>
            <a:off x="13544550"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08</a:t>
            </a:r>
            <a:endParaRPr lang="en-US" sz="1200" dirty="0"/>
          </a:p>
        </p:txBody>
      </p:sp>
      <p:sp>
        <p:nvSpPr>
          <p:cNvPr id="28" name="Text 26"/>
          <p:cNvSpPr/>
          <p:nvPr/>
        </p:nvSpPr>
        <p:spPr>
          <a:xfrm>
            <a:off x="13544550" y="4215780"/>
            <a:ext cx="282051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Common Web Application Attacks</a:t>
            </a:r>
            <a:endParaRPr lang="en-US" sz="1425" dirty="0"/>
          </a:p>
        </p:txBody>
      </p:sp>
      <p:sp>
        <p:nvSpPr>
          <p:cNvPr id="29" name="Shape 27"/>
          <p:cNvSpPr/>
          <p:nvPr/>
        </p:nvSpPr>
        <p:spPr>
          <a:xfrm>
            <a:off x="800100"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0" name="Text 28"/>
          <p:cNvSpPr/>
          <p:nvPr/>
        </p:nvSpPr>
        <p:spPr>
          <a:xfrm>
            <a:off x="942975"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09</a:t>
            </a:r>
            <a:endParaRPr lang="en-US" sz="1200" dirty="0"/>
          </a:p>
        </p:txBody>
      </p:sp>
      <p:sp>
        <p:nvSpPr>
          <p:cNvPr id="31" name="Text 29"/>
          <p:cNvSpPr/>
          <p:nvPr/>
        </p:nvSpPr>
        <p:spPr>
          <a:xfrm>
            <a:off x="942975" y="5032549"/>
            <a:ext cx="179419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SQL Injection Attacks</a:t>
            </a:r>
            <a:endParaRPr lang="en-US" sz="1425" dirty="0"/>
          </a:p>
        </p:txBody>
      </p:sp>
      <p:sp>
        <p:nvSpPr>
          <p:cNvPr id="32" name="Shape 30"/>
          <p:cNvSpPr/>
          <p:nvPr/>
        </p:nvSpPr>
        <p:spPr>
          <a:xfrm>
            <a:off x="5000625"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3" name="Text 31"/>
          <p:cNvSpPr/>
          <p:nvPr/>
        </p:nvSpPr>
        <p:spPr>
          <a:xfrm>
            <a:off x="5143500"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10</a:t>
            </a:r>
            <a:endParaRPr lang="en-US" sz="1200" dirty="0"/>
          </a:p>
        </p:txBody>
      </p:sp>
      <p:sp>
        <p:nvSpPr>
          <p:cNvPr id="34" name="Text 32"/>
          <p:cNvSpPr/>
          <p:nvPr/>
        </p:nvSpPr>
        <p:spPr>
          <a:xfrm>
            <a:off x="5143500" y="5032549"/>
            <a:ext cx="161992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Client-Side Attacks</a:t>
            </a:r>
            <a:endParaRPr lang="en-US" sz="1425" dirty="0"/>
          </a:p>
        </p:txBody>
      </p:sp>
      <p:sp>
        <p:nvSpPr>
          <p:cNvPr id="35" name="Shape 33"/>
          <p:cNvSpPr/>
          <p:nvPr/>
        </p:nvSpPr>
        <p:spPr>
          <a:xfrm>
            <a:off x="9201150" y="4675361"/>
            <a:ext cx="4086225" cy="702469"/>
          </a:xfrm>
          <a:prstGeom prst="roundRect">
            <a:avLst>
              <a:gd name="adj" fmla="val 16271"/>
            </a:avLst>
          </a:prstGeom>
          <a:solidFill>
            <a:srgbClr val="FF6A00">
              <a:alpha val="12000"/>
            </a:srgbClr>
          </a:solidFill>
          <a:ln w="9525">
            <a:solidFill>
              <a:srgbClr val="FF6A00"/>
            </a:solidFill>
            <a:prstDash val="solid"/>
          </a:ln>
        </p:spPr>
      </p:sp>
      <p:sp>
        <p:nvSpPr>
          <p:cNvPr id="36" name="Text 34"/>
          <p:cNvSpPr/>
          <p:nvPr/>
        </p:nvSpPr>
        <p:spPr>
          <a:xfrm>
            <a:off x="9344025"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11</a:t>
            </a:r>
            <a:endParaRPr lang="en-US" sz="1200" dirty="0"/>
          </a:p>
        </p:txBody>
      </p:sp>
      <p:sp>
        <p:nvSpPr>
          <p:cNvPr id="37" name="Text 35"/>
          <p:cNvSpPr/>
          <p:nvPr/>
        </p:nvSpPr>
        <p:spPr>
          <a:xfrm>
            <a:off x="9344025" y="5032549"/>
            <a:ext cx="2175421" cy="252413"/>
          </a:xfrm>
          <a:prstGeom prst="rect">
            <a:avLst/>
          </a:prstGeom>
          <a:noFill/>
          <a:ln/>
        </p:spPr>
        <p:txBody>
          <a:bodyPr wrap="square" lIns="0" tIns="0" rIns="0" bIns="0" rtlCol="0" anchor="t">
            <a:normAutofit/>
          </a:bodyPr>
          <a:lstStyle/>
          <a:p>
            <a:pPr algn="l" indent="0" marL="0">
              <a:lnSpc>
                <a:spcPct val="110465"/>
              </a:lnSpc>
              <a:buNone/>
            </a:pPr>
            <a:r>
              <a:rPr lang="en-US" sz="1425" b="1" dirty="0">
                <a:solidFill>
                  <a:srgbClr val="F5F7FB"/>
                </a:solidFill>
                <a:latin typeface="Arial" pitchFamily="34" charset="0"/>
                <a:ea typeface="Arial" pitchFamily="34" charset="-122"/>
                <a:cs typeface="Arial" pitchFamily="34" charset="-120"/>
              </a:rPr>
              <a:t>Locating Public Exploits</a:t>
            </a:r>
            <a:endParaRPr lang="en-US" sz="1425" dirty="0"/>
          </a:p>
        </p:txBody>
      </p:sp>
      <p:sp>
        <p:nvSpPr>
          <p:cNvPr id="38" name="Shape 36"/>
          <p:cNvSpPr/>
          <p:nvPr/>
        </p:nvSpPr>
        <p:spPr>
          <a:xfrm>
            <a:off x="13401675"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9" name="Text 37"/>
          <p:cNvSpPr/>
          <p:nvPr/>
        </p:nvSpPr>
        <p:spPr>
          <a:xfrm>
            <a:off x="13544550"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12</a:t>
            </a:r>
            <a:endParaRPr lang="en-US" sz="1200" dirty="0"/>
          </a:p>
        </p:txBody>
      </p:sp>
      <p:sp>
        <p:nvSpPr>
          <p:cNvPr id="40" name="Text 38"/>
          <p:cNvSpPr/>
          <p:nvPr/>
        </p:nvSpPr>
        <p:spPr>
          <a:xfrm>
            <a:off x="13544550" y="5032549"/>
            <a:ext cx="1223516"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Fixing Exploits</a:t>
            </a:r>
            <a:endParaRPr lang="en-US" sz="1425" dirty="0"/>
          </a:p>
        </p:txBody>
      </p:sp>
      <p:sp>
        <p:nvSpPr>
          <p:cNvPr id="41" name="Shape 39"/>
          <p:cNvSpPr/>
          <p:nvPr/>
        </p:nvSpPr>
        <p:spPr>
          <a:xfrm>
            <a:off x="800100"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2" name="Text 40"/>
          <p:cNvSpPr/>
          <p:nvPr/>
        </p:nvSpPr>
        <p:spPr>
          <a:xfrm>
            <a:off x="942975"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13</a:t>
            </a:r>
            <a:endParaRPr lang="en-US" sz="1200" dirty="0"/>
          </a:p>
        </p:txBody>
      </p:sp>
      <p:sp>
        <p:nvSpPr>
          <p:cNvPr id="43" name="Text 41"/>
          <p:cNvSpPr/>
          <p:nvPr/>
        </p:nvSpPr>
        <p:spPr>
          <a:xfrm>
            <a:off x="942975" y="5849317"/>
            <a:ext cx="1443856"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Antivirus Evasion</a:t>
            </a:r>
            <a:endParaRPr lang="en-US" sz="1425" dirty="0"/>
          </a:p>
        </p:txBody>
      </p:sp>
      <p:sp>
        <p:nvSpPr>
          <p:cNvPr id="44" name="Shape 42"/>
          <p:cNvSpPr/>
          <p:nvPr/>
        </p:nvSpPr>
        <p:spPr>
          <a:xfrm>
            <a:off x="5000625"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5" name="Text 43"/>
          <p:cNvSpPr/>
          <p:nvPr/>
        </p:nvSpPr>
        <p:spPr>
          <a:xfrm>
            <a:off x="5143500"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14</a:t>
            </a:r>
            <a:endParaRPr lang="en-US" sz="1200" dirty="0"/>
          </a:p>
        </p:txBody>
      </p:sp>
      <p:sp>
        <p:nvSpPr>
          <p:cNvPr id="46" name="Text 44"/>
          <p:cNvSpPr/>
          <p:nvPr/>
        </p:nvSpPr>
        <p:spPr>
          <a:xfrm>
            <a:off x="5143500" y="5849317"/>
            <a:ext cx="1499815"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Password Attacks</a:t>
            </a:r>
            <a:endParaRPr lang="en-US" sz="1425" dirty="0"/>
          </a:p>
        </p:txBody>
      </p:sp>
      <p:sp>
        <p:nvSpPr>
          <p:cNvPr id="47" name="Shape 45"/>
          <p:cNvSpPr/>
          <p:nvPr/>
        </p:nvSpPr>
        <p:spPr>
          <a:xfrm>
            <a:off x="9201150"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8" name="Text 46"/>
          <p:cNvSpPr/>
          <p:nvPr/>
        </p:nvSpPr>
        <p:spPr>
          <a:xfrm>
            <a:off x="9344025"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15</a:t>
            </a:r>
            <a:endParaRPr lang="en-US" sz="1200" dirty="0"/>
          </a:p>
        </p:txBody>
      </p:sp>
      <p:sp>
        <p:nvSpPr>
          <p:cNvPr id="49" name="Text 47"/>
          <p:cNvSpPr/>
          <p:nvPr/>
        </p:nvSpPr>
        <p:spPr>
          <a:xfrm>
            <a:off x="9344025" y="5849317"/>
            <a:ext cx="241280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Windows Privilege Escalation</a:t>
            </a:r>
            <a:endParaRPr lang="en-US" sz="1425" dirty="0"/>
          </a:p>
        </p:txBody>
      </p:sp>
      <p:sp>
        <p:nvSpPr>
          <p:cNvPr id="50" name="Shape 48"/>
          <p:cNvSpPr/>
          <p:nvPr/>
        </p:nvSpPr>
        <p:spPr>
          <a:xfrm>
            <a:off x="13401675"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51" name="Text 49"/>
          <p:cNvSpPr/>
          <p:nvPr/>
        </p:nvSpPr>
        <p:spPr>
          <a:xfrm>
            <a:off x="13544550"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16</a:t>
            </a:r>
            <a:endParaRPr lang="en-US" sz="1200" dirty="0"/>
          </a:p>
        </p:txBody>
      </p:sp>
      <p:sp>
        <p:nvSpPr>
          <p:cNvPr id="52" name="Text 50"/>
          <p:cNvSpPr/>
          <p:nvPr/>
        </p:nvSpPr>
        <p:spPr>
          <a:xfrm>
            <a:off x="13544550" y="5849317"/>
            <a:ext cx="2104058"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Linux Privilege Escalation</a:t>
            </a:r>
            <a:endParaRPr lang="en-US" sz="1425" dirty="0"/>
          </a:p>
        </p:txBody>
      </p:sp>
      <p:sp>
        <p:nvSpPr>
          <p:cNvPr id="53" name="Shape 51"/>
          <p:cNvSpPr/>
          <p:nvPr/>
        </p:nvSpPr>
        <p:spPr>
          <a:xfrm>
            <a:off x="800100"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54" name="Text 52"/>
          <p:cNvSpPr/>
          <p:nvPr/>
        </p:nvSpPr>
        <p:spPr>
          <a:xfrm>
            <a:off x="942975"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17</a:t>
            </a:r>
            <a:endParaRPr lang="en-US" sz="1200" dirty="0"/>
          </a:p>
        </p:txBody>
      </p:sp>
      <p:sp>
        <p:nvSpPr>
          <p:cNvPr id="55" name="Text 53"/>
          <p:cNvSpPr/>
          <p:nvPr/>
        </p:nvSpPr>
        <p:spPr>
          <a:xfrm>
            <a:off x="942975" y="6666086"/>
            <a:ext cx="294774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Port Redirection and SSH Tunneling</a:t>
            </a:r>
            <a:endParaRPr lang="en-US" sz="1425" dirty="0"/>
          </a:p>
        </p:txBody>
      </p:sp>
      <p:sp>
        <p:nvSpPr>
          <p:cNvPr id="56" name="Shape 54"/>
          <p:cNvSpPr/>
          <p:nvPr/>
        </p:nvSpPr>
        <p:spPr>
          <a:xfrm>
            <a:off x="5000625"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57" name="Text 55"/>
          <p:cNvSpPr/>
          <p:nvPr/>
        </p:nvSpPr>
        <p:spPr>
          <a:xfrm>
            <a:off x="5143500"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18</a:t>
            </a:r>
            <a:endParaRPr lang="en-US" sz="1200" dirty="0"/>
          </a:p>
        </p:txBody>
      </p:sp>
      <p:sp>
        <p:nvSpPr>
          <p:cNvPr id="58" name="Text 56"/>
          <p:cNvSpPr/>
          <p:nvPr/>
        </p:nvSpPr>
        <p:spPr>
          <a:xfrm>
            <a:off x="5143500" y="6666086"/>
            <a:ext cx="170557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Advanced Tunneling</a:t>
            </a:r>
            <a:endParaRPr lang="en-US" sz="1425" dirty="0"/>
          </a:p>
        </p:txBody>
      </p:sp>
      <p:sp>
        <p:nvSpPr>
          <p:cNvPr id="59" name="Shape 57"/>
          <p:cNvSpPr/>
          <p:nvPr/>
        </p:nvSpPr>
        <p:spPr>
          <a:xfrm>
            <a:off x="9201150"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60" name="Text 58"/>
          <p:cNvSpPr/>
          <p:nvPr/>
        </p:nvSpPr>
        <p:spPr>
          <a:xfrm>
            <a:off x="9344025"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19</a:t>
            </a:r>
            <a:endParaRPr lang="en-US" sz="1200" dirty="0"/>
          </a:p>
        </p:txBody>
      </p:sp>
      <p:sp>
        <p:nvSpPr>
          <p:cNvPr id="61" name="Text 59"/>
          <p:cNvSpPr/>
          <p:nvPr/>
        </p:nvSpPr>
        <p:spPr>
          <a:xfrm>
            <a:off x="9344025" y="6666086"/>
            <a:ext cx="221716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The Metasploit Framework</a:t>
            </a:r>
            <a:endParaRPr lang="en-US" sz="1425" dirty="0"/>
          </a:p>
        </p:txBody>
      </p:sp>
      <p:sp>
        <p:nvSpPr>
          <p:cNvPr id="62" name="Shape 60"/>
          <p:cNvSpPr/>
          <p:nvPr/>
        </p:nvSpPr>
        <p:spPr>
          <a:xfrm>
            <a:off x="13401675"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63" name="Text 61"/>
          <p:cNvSpPr/>
          <p:nvPr/>
        </p:nvSpPr>
        <p:spPr>
          <a:xfrm>
            <a:off x="13544550"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20</a:t>
            </a:r>
            <a:endParaRPr lang="en-US" sz="1200" dirty="0"/>
          </a:p>
        </p:txBody>
      </p:sp>
      <p:sp>
        <p:nvSpPr>
          <p:cNvPr id="64" name="Text 62"/>
          <p:cNvSpPr/>
          <p:nvPr/>
        </p:nvSpPr>
        <p:spPr>
          <a:xfrm>
            <a:off x="13544550" y="6666086"/>
            <a:ext cx="274839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AD Introduction and Enumeration</a:t>
            </a:r>
            <a:endParaRPr lang="en-US" sz="1425" dirty="0"/>
          </a:p>
        </p:txBody>
      </p:sp>
      <p:sp>
        <p:nvSpPr>
          <p:cNvPr id="65" name="Shape 63"/>
          <p:cNvSpPr/>
          <p:nvPr/>
        </p:nvSpPr>
        <p:spPr>
          <a:xfrm>
            <a:off x="800100"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66" name="Text 64"/>
          <p:cNvSpPr/>
          <p:nvPr/>
        </p:nvSpPr>
        <p:spPr>
          <a:xfrm>
            <a:off x="942975"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21</a:t>
            </a:r>
            <a:endParaRPr lang="en-US" sz="1200" dirty="0"/>
          </a:p>
        </p:txBody>
      </p:sp>
      <p:sp>
        <p:nvSpPr>
          <p:cNvPr id="67" name="Text 65"/>
          <p:cNvSpPr/>
          <p:nvPr/>
        </p:nvSpPr>
        <p:spPr>
          <a:xfrm>
            <a:off x="942975" y="7482855"/>
            <a:ext cx="2339355"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Attacking AD Authentication</a:t>
            </a:r>
            <a:endParaRPr lang="en-US" sz="1425" dirty="0"/>
          </a:p>
        </p:txBody>
      </p:sp>
      <p:sp>
        <p:nvSpPr>
          <p:cNvPr id="68" name="Shape 66"/>
          <p:cNvSpPr/>
          <p:nvPr/>
        </p:nvSpPr>
        <p:spPr>
          <a:xfrm>
            <a:off x="5000625"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69" name="Text 67"/>
          <p:cNvSpPr/>
          <p:nvPr/>
        </p:nvSpPr>
        <p:spPr>
          <a:xfrm>
            <a:off x="5143500"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22</a:t>
            </a:r>
            <a:endParaRPr lang="en-US" sz="1200" dirty="0"/>
          </a:p>
        </p:txBody>
      </p:sp>
      <p:sp>
        <p:nvSpPr>
          <p:cNvPr id="70" name="Text 68"/>
          <p:cNvSpPr/>
          <p:nvPr/>
        </p:nvSpPr>
        <p:spPr>
          <a:xfrm>
            <a:off x="5143500" y="7482855"/>
            <a:ext cx="199489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Lateral Movement in AD</a:t>
            </a:r>
            <a:endParaRPr lang="en-US" sz="1425" dirty="0"/>
          </a:p>
        </p:txBody>
      </p:sp>
      <p:sp>
        <p:nvSpPr>
          <p:cNvPr id="71" name="Shape 69"/>
          <p:cNvSpPr/>
          <p:nvPr/>
        </p:nvSpPr>
        <p:spPr>
          <a:xfrm>
            <a:off x="9201150"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72" name="Text 70"/>
          <p:cNvSpPr/>
          <p:nvPr/>
        </p:nvSpPr>
        <p:spPr>
          <a:xfrm>
            <a:off x="9344025"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23</a:t>
            </a:r>
            <a:endParaRPr lang="en-US" sz="1200" dirty="0"/>
          </a:p>
        </p:txBody>
      </p:sp>
      <p:sp>
        <p:nvSpPr>
          <p:cNvPr id="73" name="Text 71"/>
          <p:cNvSpPr/>
          <p:nvPr/>
        </p:nvSpPr>
        <p:spPr>
          <a:xfrm>
            <a:off x="9344025" y="7482855"/>
            <a:ext cx="1893763"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Assembling the Pieces</a:t>
            </a:r>
            <a:endParaRPr lang="en-US" sz="1425" dirty="0"/>
          </a:p>
        </p:txBody>
      </p:sp>
      <p:sp>
        <p:nvSpPr>
          <p:cNvPr id="74" name="Shape 72"/>
          <p:cNvSpPr/>
          <p:nvPr/>
        </p:nvSpPr>
        <p:spPr>
          <a:xfrm>
            <a:off x="13401675"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75" name="Text 73"/>
          <p:cNvSpPr/>
          <p:nvPr/>
        </p:nvSpPr>
        <p:spPr>
          <a:xfrm>
            <a:off x="13544550"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24</a:t>
            </a:r>
            <a:endParaRPr lang="en-US" sz="1200" dirty="0"/>
          </a:p>
        </p:txBody>
      </p:sp>
      <p:sp>
        <p:nvSpPr>
          <p:cNvPr id="76" name="Text 74"/>
          <p:cNvSpPr/>
          <p:nvPr/>
        </p:nvSpPr>
        <p:spPr>
          <a:xfrm>
            <a:off x="13544550" y="7482855"/>
            <a:ext cx="200858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Trying Harder: The Labs</a:t>
            </a:r>
            <a:endParaRPr lang="en-US" sz="1425" dirty="0"/>
          </a:p>
        </p:txBody>
      </p:sp>
      <p:sp>
        <p:nvSpPr>
          <p:cNvPr id="77" name="Text 75"/>
          <p:cNvSpPr/>
          <p:nvPr/>
        </p:nvSpPr>
        <p:spPr>
          <a:xfrm>
            <a:off x="800100" y="8075786"/>
            <a:ext cx="16344900" cy="369540"/>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B8C0CF"/>
                </a:solidFill>
                <a:latin typeface="Arial" pitchFamily="34" charset="0"/>
                <a:ea typeface="Arial" pitchFamily="34" charset="-122"/>
                <a:cs typeface="Arial" pitchFamily="34" charset="-120"/>
              </a:rPr>
              <a:t>Module weightings: information not defined in the official exam outline.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498056"/>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ORIENTATION</a:t>
            </a:r>
            <a:endParaRPr lang="en-US" sz="1650" dirty="0"/>
          </a:p>
        </p:txBody>
      </p:sp>
      <p:sp>
        <p:nvSpPr>
          <p:cNvPr id="4" name="Text 2"/>
          <p:cNvSpPr/>
          <p:nvPr/>
        </p:nvSpPr>
        <p:spPr>
          <a:xfrm>
            <a:off x="800100" y="3993356"/>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Returning to the exploit, precisely defined</a:t>
            </a:r>
            <a:endParaRPr lang="en-US" sz="3000" dirty="0"/>
          </a:p>
        </p:txBody>
      </p:sp>
      <p:sp>
        <p:nvSpPr>
          <p:cNvPr id="5" name="Shape 3"/>
          <p:cNvSpPr/>
          <p:nvPr/>
        </p:nvSpPr>
        <p:spPr>
          <a:xfrm>
            <a:off x="800100" y="4660106"/>
            <a:ext cx="5435575" cy="2128838"/>
          </a:xfrm>
          <a:prstGeom prst="roundRect">
            <a:avLst>
              <a:gd name="adj" fmla="val 7159"/>
            </a:avLst>
          </a:prstGeom>
          <a:solidFill>
            <a:srgbClr val="FFFFFF">
              <a:alpha val="2000"/>
            </a:srgbClr>
          </a:solidFill>
          <a:ln w="9525">
            <a:solidFill>
              <a:srgbClr val="2A2F3A"/>
            </a:solidFill>
            <a:prstDash val="solid"/>
          </a:ln>
        </p:spPr>
      </p:sp>
      <p:sp>
        <p:nvSpPr>
          <p:cNvPr id="6" name="Text 4"/>
          <p:cNvSpPr/>
          <p:nvPr/>
        </p:nvSpPr>
        <p:spPr>
          <a:xfrm>
            <a:off x="1038225" y="489823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 PRECISE TERM</a:t>
            </a:r>
            <a:endParaRPr lang="en-US" sz="1500" dirty="0"/>
          </a:p>
        </p:txBody>
      </p:sp>
      <p:sp>
        <p:nvSpPr>
          <p:cNvPr id="7" name="Text 5"/>
          <p:cNvSpPr/>
          <p:nvPr/>
        </p:nvSpPr>
        <p:spPr>
          <a:xfrm>
            <a:off x="1038225" y="5217319"/>
            <a:ext cx="5108105"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2 defined an exploit as the mechanism that takes advantage of a vulnerability. This module is entirely about finding that mechanism when you did not write it yourself.</a:t>
            </a:r>
            <a:endParaRPr lang="en-US" sz="1875" dirty="0"/>
          </a:p>
        </p:txBody>
      </p:sp>
      <p:sp>
        <p:nvSpPr>
          <p:cNvPr id="8" name="Shape 6"/>
          <p:cNvSpPr/>
          <p:nvPr/>
        </p:nvSpPr>
        <p:spPr>
          <a:xfrm>
            <a:off x="6426175" y="4660106"/>
            <a:ext cx="5435575" cy="2128838"/>
          </a:xfrm>
          <a:prstGeom prst="roundRect">
            <a:avLst>
              <a:gd name="adj" fmla="val 7159"/>
            </a:avLst>
          </a:prstGeom>
          <a:solidFill>
            <a:srgbClr val="FFFFFF">
              <a:alpha val="2000"/>
            </a:srgbClr>
          </a:solidFill>
          <a:ln w="9525">
            <a:solidFill>
              <a:srgbClr val="2A2F3A"/>
            </a:solidFill>
            <a:prstDash val="solid"/>
          </a:ln>
        </p:spPr>
      </p:sp>
      <p:sp>
        <p:nvSpPr>
          <p:cNvPr id="9" name="Text 7"/>
          <p:cNvSpPr/>
          <p:nvPr/>
        </p:nvSpPr>
        <p:spPr>
          <a:xfrm>
            <a:off x="6664300" y="489823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NOT A SHORTCUT</a:t>
            </a:r>
            <a:endParaRPr lang="en-US" sz="1500" dirty="0"/>
          </a:p>
        </p:txBody>
      </p:sp>
      <p:sp>
        <p:nvSpPr>
          <p:cNvPr id="10" name="Text 8"/>
          <p:cNvSpPr/>
          <p:nvPr/>
        </p:nvSpPr>
        <p:spPr>
          <a:xfrm>
            <a:off x="6664300" y="5217319"/>
            <a:ext cx="5108105"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Public exploit code still requires the same judgement as anything else run against a target — understanding before execution, not blind trust in a script.</a:t>
            </a:r>
            <a:endParaRPr lang="en-US" sz="1875" dirty="0"/>
          </a:p>
        </p:txBody>
      </p:sp>
      <p:sp>
        <p:nvSpPr>
          <p:cNvPr id="11" name="Shape 9"/>
          <p:cNvSpPr/>
          <p:nvPr/>
        </p:nvSpPr>
        <p:spPr>
          <a:xfrm>
            <a:off x="12052250" y="4660106"/>
            <a:ext cx="5435650" cy="2128838"/>
          </a:xfrm>
          <a:prstGeom prst="roundRect">
            <a:avLst>
              <a:gd name="adj" fmla="val 7159"/>
            </a:avLst>
          </a:prstGeom>
          <a:solidFill>
            <a:srgbClr val="FFFFFF">
              <a:alpha val="2000"/>
            </a:srgbClr>
          </a:solidFill>
          <a:ln w="9525">
            <a:solidFill>
              <a:srgbClr val="2A2F3A"/>
            </a:solidFill>
            <a:prstDash val="solid"/>
          </a:ln>
        </p:spPr>
      </p:sp>
      <p:sp>
        <p:nvSpPr>
          <p:cNvPr id="12" name="Text 10"/>
          <p:cNvSpPr/>
          <p:nvPr/>
        </p:nvSpPr>
        <p:spPr>
          <a:xfrm>
            <a:off x="12290375" y="4898231"/>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BRIDGES TO MODULE 12</a:t>
            </a:r>
            <a:endParaRPr lang="en-US" sz="1500" dirty="0"/>
          </a:p>
        </p:txBody>
      </p:sp>
      <p:sp>
        <p:nvSpPr>
          <p:cNvPr id="13" name="Text 11"/>
          <p:cNvSpPr/>
          <p:nvPr/>
        </p:nvSpPr>
        <p:spPr>
          <a:xfrm>
            <a:off x="12290375" y="5217319"/>
            <a:ext cx="5108182"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Public exploits are frequently broken, outdated, or written for a slightly different configuration. Module 12 exists because this module's exploits often need repair.</a:t>
            </a:r>
            <a:endParaRPr lang="en-US" sz="18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64003" y="3870945"/>
            <a:ext cx="2159920"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11.1</a:t>
            </a:r>
            <a:endParaRPr lang="en-US" sz="1650" dirty="0"/>
          </a:p>
        </p:txBody>
      </p:sp>
      <p:sp>
        <p:nvSpPr>
          <p:cNvPr id="4" name="Text 2"/>
          <p:cNvSpPr/>
          <p:nvPr/>
        </p:nvSpPr>
        <p:spPr>
          <a:xfrm>
            <a:off x="5758543" y="4385295"/>
            <a:ext cx="6770839"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Getting Started</a:t>
            </a:r>
            <a:endParaRPr lang="en-US" sz="6600" dirty="0"/>
          </a:p>
        </p:txBody>
      </p:sp>
      <p:sp>
        <p:nvSpPr>
          <p:cNvPr id="5" name="Text 3"/>
          <p:cNvSpPr/>
          <p:nvPr/>
        </p:nvSpPr>
        <p:spPr>
          <a:xfrm>
            <a:off x="3012281" y="5532090"/>
            <a:ext cx="12263438"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Understand the risk of executing untrusted exploits, and the importance of analysing exploit code before execution.</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63987"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90956"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11.1 · Task 1 of 2</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The risk of executing untrusted exploits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Exploit code found online was written by an unknown party for unknown purposes. Running it unexamined risks the target, the tester's own attacking machine, and the scope of the engagement itself.</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WHAT CAN GO WRONG</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Code that does more than advertised: backdoors planted for whoever runs it, destructive side effects on the target, or behaviour outside the agreed scope.</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Authorisation from Module 2 covers the agreed technique and target — not whatever an unverified script actually does once executed.</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988246"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15943"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11.1 · Task 2 of 2</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Analysing exploit code before execution</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Reading exploit code before running it is the practical answer to the risk in Objective 11.1's first task. Understanding what a script actually does is the only way to know it is safe and applicable to the target.</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Read for what the code connects to, what it writes, and what conditions it assumes about the target — before deciding whether to run it at all.</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3's Demonstrative Methodology: expanding beyond what is given rather than trusting it blindly, exactly as in the chmod -x chmod case study.</a:t>
            </a:r>
            <a:endParaRPr lang="en-US" sz="18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143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11.1 RECAP</a:t>
            </a:r>
            <a:endParaRPr lang="en-US" sz="1650" dirty="0"/>
          </a:p>
        </p:txBody>
      </p:sp>
      <p:sp>
        <p:nvSpPr>
          <p:cNvPr id="4" name="Text 2"/>
          <p:cNvSpPr/>
          <p:nvPr/>
        </p:nvSpPr>
        <p:spPr>
          <a:xfrm>
            <a:off x="800100" y="432673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Getting Started — what you should now hold</a:t>
            </a:r>
            <a:endParaRPr lang="en-US" sz="3000" dirty="0"/>
          </a:p>
        </p:txBody>
      </p:sp>
      <p:sp>
        <p:nvSpPr>
          <p:cNvPr id="5" name="Shape 3"/>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RISK</a:t>
            </a:r>
            <a:endParaRPr lang="en-US" sz="1500" dirty="0"/>
          </a:p>
        </p:txBody>
      </p:sp>
      <p:sp>
        <p:nvSpPr>
          <p:cNvPr id="7" name="Text 5"/>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Untrusted code can exceed scope, damage a target, or compromise the tester's own machine.</a:t>
            </a:r>
            <a:endParaRPr lang="en-US" sz="1875" dirty="0"/>
          </a:p>
        </p:txBody>
      </p:sp>
      <p:sp>
        <p:nvSpPr>
          <p:cNvPr id="8" name="Shape 6"/>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DISCIPLINE</a:t>
            </a:r>
            <a:endParaRPr lang="en-US" sz="1500" dirty="0"/>
          </a:p>
        </p:txBody>
      </p:sp>
      <p:sp>
        <p:nvSpPr>
          <p:cNvPr id="10" name="Text 8"/>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Analyse exploit code before execution, every time, regardless of the source's apparent reputation.</a:t>
            </a:r>
            <a:endParaRPr lang="en-US" sz="18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44439" y="3870945"/>
            <a:ext cx="2199047"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11.2</a:t>
            </a:r>
            <a:endParaRPr lang="en-US" sz="1650" dirty="0"/>
          </a:p>
        </p:txBody>
      </p:sp>
      <p:sp>
        <p:nvSpPr>
          <p:cNvPr id="4" name="Text 2"/>
          <p:cNvSpPr/>
          <p:nvPr/>
        </p:nvSpPr>
        <p:spPr>
          <a:xfrm>
            <a:off x="3732044" y="4385295"/>
            <a:ext cx="10823912"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Online Exploit Resources</a:t>
            </a:r>
            <a:endParaRPr lang="en-US" sz="6600" dirty="0"/>
          </a:p>
        </p:txBody>
      </p:sp>
      <p:sp>
        <p:nvSpPr>
          <p:cNvPr id="5" name="Text 3"/>
          <p:cNvSpPr/>
          <p:nvPr/>
        </p:nvSpPr>
        <p:spPr>
          <a:xfrm>
            <a:off x="2767013" y="5532090"/>
            <a:ext cx="12753975"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Access multiple online resources, differentiate between them, understand their risks, and use Google search operators to discover public exploits.</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05807"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34031"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11.2 · Task 1 of 4</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Accessing multiple online exploit resources</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Public exploit code is published across several kinds of online resource, each with a different publication standard and a different level of scrutiny applied before code appears there.</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CURATED DATABASES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Vulnerability and exploit databases that index submissions, often with some verification or community review before publication.</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OPEN COMMUNITY SOURCES</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Forums, code-sharing sites and vendor advisories with little to no gatekeeping — useful, but requiring the most scrutiny before use.</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3030066"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75901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11.2 · Task 2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Differentiating between online exploit resources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Not all resources carry the same trustworthiness. Differentiating between them means judging each on its own review standard, not treating every source as equally reliable.</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CRITERIA TO WEIGH</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Whether submissions are reviewed before publication, whether the author and history are visible, and how current the entry is relative to the target's patch level.</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Treating popularity as a proxy for safety. A widely linked exploit can still be unmaintained, mismatched to the target version, or altered after original publication.</a:t>
            </a:r>
            <a:endParaRPr lang="en-US" sz="18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3035201"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764307"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11.2 · Task 3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Understanding the risks between online exploit resources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Sourcing itself carries risk before a single line is ever run. Different resources carry different likelihoods of hosting altered, backdoored, or simply non-functional code.</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This is Objective 11.1's risk applied specifically to the sourcing step — where the code came from shapes how much scrutiny it deserves before analysis even begins.</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Cross-reference a promising find against a second, independent resource before trusting it enough to analyse in depth.</a:t>
            </a:r>
            <a:endParaRPr lang="en-US" sz="18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661791"/>
            <a:ext cx="303869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747516"/>
            <a:ext cx="2767909"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11.2 · Task 4 of 4</a:t>
            </a:r>
            <a:endParaRPr lang="en-US" sz="1500" dirty="0"/>
          </a:p>
        </p:txBody>
      </p:sp>
      <p:sp>
        <p:nvSpPr>
          <p:cNvPr id="5" name="Text 3"/>
          <p:cNvSpPr/>
          <p:nvPr/>
        </p:nvSpPr>
        <p:spPr>
          <a:xfrm>
            <a:off x="800100" y="33047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Using Google search operators to discover public exploits</a:t>
            </a:r>
            <a:endParaRPr lang="en-US" sz="3000" dirty="0"/>
          </a:p>
        </p:txBody>
      </p:sp>
      <p:sp>
        <p:nvSpPr>
          <p:cNvPr id="6" name="Text 4"/>
          <p:cNvSpPr/>
          <p:nvPr/>
        </p:nvSpPr>
        <p:spPr>
          <a:xfrm>
            <a:off x="800100" y="39714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Targeted search operators narrow a broad web search down to specific file types, sites, or phrasing — surfacing exploit code and advisories that a plain keyword search misses entirely.</a:t>
            </a:r>
            <a:endParaRPr lang="en-US" sz="2175" dirty="0"/>
          </a:p>
        </p:txBody>
      </p:sp>
      <p:sp>
        <p:nvSpPr>
          <p:cNvPr id="7" name="Shape 5"/>
          <p:cNvSpPr/>
          <p:nvPr/>
        </p:nvSpPr>
        <p:spPr>
          <a:xfrm>
            <a:off x="800100" y="5020121"/>
            <a:ext cx="16687800" cy="895350"/>
          </a:xfrm>
          <a:prstGeom prst="roundRect">
            <a:avLst>
              <a:gd name="adj" fmla="val 12766"/>
            </a:avLst>
          </a:prstGeom>
          <a:solidFill>
            <a:srgbClr val="000000">
              <a:alpha val="35000"/>
            </a:srgbClr>
          </a:solidFill>
          <a:ln w="9525">
            <a:solidFill>
              <a:srgbClr val="2A2F3A"/>
            </a:solidFill>
            <a:prstDash val="solid"/>
          </a:ln>
        </p:spPr>
      </p:sp>
      <p:sp>
        <p:nvSpPr>
          <p:cNvPr id="8" name="Text 6"/>
          <p:cNvSpPr/>
          <p:nvPr/>
        </p:nvSpPr>
        <p:spPr>
          <a:xfrm>
            <a:off x="1019175" y="5201096"/>
            <a:ext cx="16750284" cy="571500"/>
          </a:xfrm>
          <a:prstGeom prst="rect">
            <a:avLst/>
          </a:prstGeom>
          <a:noFill/>
          <a:ln/>
        </p:spPr>
        <p:txBody>
          <a:bodyPr wrap="square" lIns="25400" tIns="25400" rIns="25400" bIns="25400" rtlCol="0" anchor="t">
            <a:normAutofit/>
          </a:bodyPr>
          <a:lstStyle/>
          <a:p>
            <a:pPr algn="l" indent="0" marL="0">
              <a:buNone/>
            </a:pPr>
            <a:r>
              <a:rPr lang="en-US" sz="1800" dirty="0">
                <a:solidFill>
                  <a:srgbClr val="FFD9BF"/>
                </a:solidFill>
                <a:highlight>
                  <a:srgbClr val="A6A6A6"/>
                </a:highlight>
                <a:latin typeface="Courier New" pitchFamily="34" charset="0"/>
                <a:ea typeface="Courier New" pitchFamily="34" charset="-122"/>
                <a:cs typeface="Courier New" pitchFamily="34" charset="-120"/>
              </a:rPr>
              <a:t>site:exploit-db.com "apache 2.4.49" filetype:py "remote code execution" cve-2021</a:t>
            </a:r>
            <a:endParaRPr lang="en-US" sz="1800" dirty="0"/>
          </a:p>
        </p:txBody>
      </p:sp>
      <p:sp>
        <p:nvSpPr>
          <p:cNvPr id="9" name="Shape 7"/>
          <p:cNvSpPr/>
          <p:nvPr/>
        </p:nvSpPr>
        <p:spPr>
          <a:xfrm>
            <a:off x="800100" y="6163121"/>
            <a:ext cx="8239125" cy="1462088"/>
          </a:xfrm>
          <a:prstGeom prst="roundRect">
            <a:avLst>
              <a:gd name="adj" fmla="val 10423"/>
            </a:avLst>
          </a:prstGeom>
          <a:solidFill>
            <a:srgbClr val="FFFFFF">
              <a:alpha val="2000"/>
            </a:srgbClr>
          </a:solidFill>
          <a:ln w="9525">
            <a:solidFill>
              <a:srgbClr val="2A2F3A"/>
            </a:solidFill>
            <a:prstDash val="solid"/>
          </a:ln>
        </p:spPr>
      </p:sp>
      <p:sp>
        <p:nvSpPr>
          <p:cNvPr id="10" name="Text 8"/>
          <p:cNvSpPr/>
          <p:nvPr/>
        </p:nvSpPr>
        <p:spPr>
          <a:xfrm>
            <a:off x="1038225" y="64012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11" name="Text 9"/>
          <p:cNvSpPr/>
          <p:nvPr/>
        </p:nvSpPr>
        <p:spPr>
          <a:xfrm>
            <a:off x="1038225" y="67203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Precise queries surface results a generic search buries, especially for less widely reported vulnerabilities.</a:t>
            </a:r>
            <a:endParaRPr lang="en-US" sz="1875" dirty="0"/>
          </a:p>
        </p:txBody>
      </p:sp>
      <p:sp>
        <p:nvSpPr>
          <p:cNvPr id="12" name="Shape 10"/>
          <p:cNvSpPr/>
          <p:nvPr/>
        </p:nvSpPr>
        <p:spPr>
          <a:xfrm>
            <a:off x="9248775" y="6163121"/>
            <a:ext cx="8239125" cy="1462088"/>
          </a:xfrm>
          <a:prstGeom prst="roundRect">
            <a:avLst>
              <a:gd name="adj" fmla="val 10423"/>
            </a:avLst>
          </a:prstGeom>
          <a:solidFill>
            <a:srgbClr val="FFFFFF">
              <a:alpha val="2000"/>
            </a:srgbClr>
          </a:solidFill>
          <a:ln w="9525">
            <a:solidFill>
              <a:srgbClr val="2A2F3A"/>
            </a:solidFill>
            <a:prstDash val="solid"/>
          </a:ln>
        </p:spPr>
      </p:sp>
      <p:sp>
        <p:nvSpPr>
          <p:cNvPr id="13" name="Text 11"/>
          <p:cNvSpPr/>
          <p:nvPr/>
        </p:nvSpPr>
        <p:spPr>
          <a:xfrm>
            <a:off x="9486900" y="64012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4" name="Text 12"/>
          <p:cNvSpPr/>
          <p:nvPr/>
        </p:nvSpPr>
        <p:spPr>
          <a:xfrm>
            <a:off x="9486900" y="67203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Search results that link to defunct or altered copies of original code. Verify the destination, not just the search result's description.</a:t>
            </a:r>
            <a:endParaRPr lang="en-US" sz="18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143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11.2 RECAP</a:t>
            </a:r>
            <a:endParaRPr lang="en-US" sz="1650" dirty="0"/>
          </a:p>
        </p:txBody>
      </p:sp>
      <p:sp>
        <p:nvSpPr>
          <p:cNvPr id="4" name="Text 2"/>
          <p:cNvSpPr/>
          <p:nvPr/>
        </p:nvSpPr>
        <p:spPr>
          <a:xfrm>
            <a:off x="800100" y="432673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Online Exploit Resources — what you should now hold</a:t>
            </a:r>
            <a:endParaRPr lang="en-US" sz="3000" dirty="0"/>
          </a:p>
        </p:txBody>
      </p:sp>
      <p:sp>
        <p:nvSpPr>
          <p:cNvPr id="5" name="Shape 3"/>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SOURCING</a:t>
            </a:r>
            <a:endParaRPr lang="en-US" sz="1500" dirty="0"/>
          </a:p>
        </p:txBody>
      </p:sp>
      <p:sp>
        <p:nvSpPr>
          <p:cNvPr id="7" name="Text 5"/>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Multiple resource types exist, each with different review standards; differentiate rather than trust all equally.</a:t>
            </a:r>
            <a:endParaRPr lang="en-US" sz="1875" dirty="0"/>
          </a:p>
        </p:txBody>
      </p:sp>
      <p:sp>
        <p:nvSpPr>
          <p:cNvPr id="8" name="Shape 6"/>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DISCOVERY</a:t>
            </a:r>
            <a:endParaRPr lang="en-US" sz="1500" dirty="0"/>
          </a:p>
        </p:txBody>
      </p:sp>
      <p:sp>
        <p:nvSpPr>
          <p:cNvPr id="10" name="Text 8"/>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Targeted search operators surface results a generic keyword search misses — still subject to the same scrutiny before use.</a:t>
            </a:r>
            <a:endParaRPr lang="en-US" sz="18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43290" y="4091955"/>
            <a:ext cx="2201421"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11.3</a:t>
            </a:r>
            <a:endParaRPr lang="en-US" sz="1650" dirty="0"/>
          </a:p>
        </p:txBody>
      </p:sp>
      <p:sp>
        <p:nvSpPr>
          <p:cNvPr id="4" name="Text 2"/>
          <p:cNvSpPr/>
          <p:nvPr/>
        </p:nvSpPr>
        <p:spPr>
          <a:xfrm>
            <a:off x="3655427" y="4606305"/>
            <a:ext cx="10977146"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Offline Exploit Resources</a:t>
            </a:r>
            <a:endParaRPr lang="en-US" sz="6600" dirty="0"/>
          </a:p>
        </p:txBody>
      </p:sp>
      <p:sp>
        <p:nvSpPr>
          <p:cNvPr id="5" name="Text 3"/>
          <p:cNvSpPr/>
          <p:nvPr/>
        </p:nvSpPr>
        <p:spPr>
          <a:xfrm>
            <a:off x="3319001" y="5753100"/>
            <a:ext cx="11649998" cy="480045"/>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Access multiple exploit frameworks, use SearchSploit, and use Nmap NSE scripts.</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0357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3173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11.3 · Task 1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Accessing multiple exploit frameworks</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Exploit frameworks bundle many exploits behind a consistent interface, packaged and maintained locally rather than requiring a fresh search each time.</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local framework works without a live internet lookup and applies consistent handling across many different exploits.</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19, The Metasploit Framework, covers one specific framework named in this unit in full depth — setup, payloads, and post-exploitation.</a:t>
            </a:r>
            <a:endParaRPr lang="en-US" sz="18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661791"/>
            <a:ext cx="3027834"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747516"/>
            <a:ext cx="2756719"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11.3 · Task 2 of 3</a:t>
            </a:r>
            <a:endParaRPr lang="en-US" sz="1500" dirty="0"/>
          </a:p>
        </p:txBody>
      </p:sp>
      <p:sp>
        <p:nvSpPr>
          <p:cNvPr id="5" name="Text 3"/>
          <p:cNvSpPr/>
          <p:nvPr/>
        </p:nvSpPr>
        <p:spPr>
          <a:xfrm>
            <a:off x="800100" y="33047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Using SearchSploit</a:t>
            </a:r>
            <a:endParaRPr lang="en-US" sz="3000" dirty="0"/>
          </a:p>
        </p:txBody>
      </p:sp>
      <p:sp>
        <p:nvSpPr>
          <p:cNvPr id="6" name="Text 4"/>
          <p:cNvSpPr/>
          <p:nvPr/>
        </p:nvSpPr>
        <p:spPr>
          <a:xfrm>
            <a:off x="800100" y="39714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SearchSploit provides a locally searchable archive of exploit code, letting a tester query for known exploits by service or product name without a live internet connection.</a:t>
            </a:r>
            <a:endParaRPr lang="en-US" sz="2175" dirty="0"/>
          </a:p>
        </p:txBody>
      </p:sp>
      <p:sp>
        <p:nvSpPr>
          <p:cNvPr id="7" name="Shape 5"/>
          <p:cNvSpPr/>
          <p:nvPr/>
        </p:nvSpPr>
        <p:spPr>
          <a:xfrm>
            <a:off x="800100" y="5020121"/>
            <a:ext cx="16687800" cy="895350"/>
          </a:xfrm>
          <a:prstGeom prst="roundRect">
            <a:avLst>
              <a:gd name="adj" fmla="val 12766"/>
            </a:avLst>
          </a:prstGeom>
          <a:solidFill>
            <a:srgbClr val="000000">
              <a:alpha val="35000"/>
            </a:srgbClr>
          </a:solidFill>
          <a:ln w="9525">
            <a:solidFill>
              <a:srgbClr val="2A2F3A"/>
            </a:solidFill>
            <a:prstDash val="solid"/>
          </a:ln>
        </p:spPr>
      </p:sp>
      <p:sp>
        <p:nvSpPr>
          <p:cNvPr id="8" name="Text 6"/>
          <p:cNvSpPr/>
          <p:nvPr/>
        </p:nvSpPr>
        <p:spPr>
          <a:xfrm>
            <a:off x="1019175" y="5201096"/>
            <a:ext cx="16750284" cy="571500"/>
          </a:xfrm>
          <a:prstGeom prst="rect">
            <a:avLst/>
          </a:prstGeom>
          <a:noFill/>
          <a:ln/>
        </p:spPr>
        <p:txBody>
          <a:bodyPr wrap="square" lIns="25400" tIns="25400" rIns="25400" bIns="25400" rtlCol="0" anchor="t">
            <a:normAutofit/>
          </a:bodyPr>
          <a:lstStyle/>
          <a:p>
            <a:pPr algn="l" indent="0" marL="0">
              <a:buNone/>
            </a:pPr>
            <a:r>
              <a:rPr lang="en-US" sz="1800" dirty="0">
                <a:solidFill>
                  <a:srgbClr val="FFD9BF"/>
                </a:solidFill>
                <a:highlight>
                  <a:srgbClr val="A6A6A6"/>
                </a:highlight>
                <a:latin typeface="Courier New" pitchFamily="34" charset="0"/>
                <a:ea typeface="Courier New" pitchFamily="34" charset="-122"/>
                <a:cs typeface="Courier New" pitchFamily="34" charset="-120"/>
              </a:rPr>
              <a:t>searchsploit apache 2.4.49 searchsploit -x 50383</a:t>
            </a:r>
            <a:endParaRPr lang="en-US" sz="1800" dirty="0"/>
          </a:p>
        </p:txBody>
      </p:sp>
      <p:sp>
        <p:nvSpPr>
          <p:cNvPr id="9" name="Shape 7"/>
          <p:cNvSpPr/>
          <p:nvPr/>
        </p:nvSpPr>
        <p:spPr>
          <a:xfrm>
            <a:off x="800100" y="6163121"/>
            <a:ext cx="8239125" cy="1462088"/>
          </a:xfrm>
          <a:prstGeom prst="roundRect">
            <a:avLst>
              <a:gd name="adj" fmla="val 10423"/>
            </a:avLst>
          </a:prstGeom>
          <a:solidFill>
            <a:srgbClr val="FFFFFF">
              <a:alpha val="2000"/>
            </a:srgbClr>
          </a:solidFill>
          <a:ln w="9525">
            <a:solidFill>
              <a:srgbClr val="2A2F3A"/>
            </a:solidFill>
            <a:prstDash val="solid"/>
          </a:ln>
        </p:spPr>
      </p:sp>
      <p:sp>
        <p:nvSpPr>
          <p:cNvPr id="10" name="Text 8"/>
          <p:cNvSpPr/>
          <p:nvPr/>
        </p:nvSpPr>
        <p:spPr>
          <a:xfrm>
            <a:off x="1038225" y="64012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11" name="Text 9"/>
          <p:cNvSpPr/>
          <p:nvPr/>
        </p:nvSpPr>
        <p:spPr>
          <a:xfrm>
            <a:off x="1038225" y="67203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Works entirely offline and searches a curated local mirror, reducing exposure to the sourcing risks named in Objective 11.2.</a:t>
            </a:r>
            <a:endParaRPr lang="en-US" sz="1875" dirty="0"/>
          </a:p>
        </p:txBody>
      </p:sp>
      <p:sp>
        <p:nvSpPr>
          <p:cNvPr id="12" name="Shape 10"/>
          <p:cNvSpPr/>
          <p:nvPr/>
        </p:nvSpPr>
        <p:spPr>
          <a:xfrm>
            <a:off x="9248775" y="6163121"/>
            <a:ext cx="8239125" cy="1462088"/>
          </a:xfrm>
          <a:prstGeom prst="roundRect">
            <a:avLst>
              <a:gd name="adj" fmla="val 10423"/>
            </a:avLst>
          </a:prstGeom>
          <a:solidFill>
            <a:srgbClr val="FFFFFF">
              <a:alpha val="2000"/>
            </a:srgbClr>
          </a:solidFill>
          <a:ln w="9525">
            <a:solidFill>
              <a:srgbClr val="2A2F3A"/>
            </a:solidFill>
            <a:prstDash val="solid"/>
          </a:ln>
        </p:spPr>
      </p:sp>
      <p:sp>
        <p:nvSpPr>
          <p:cNvPr id="13" name="Text 11"/>
          <p:cNvSpPr/>
          <p:nvPr/>
        </p:nvSpPr>
        <p:spPr>
          <a:xfrm>
            <a:off x="9486900" y="64012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4" name="Text 12"/>
          <p:cNvSpPr/>
          <p:nvPr/>
        </p:nvSpPr>
        <p:spPr>
          <a:xfrm>
            <a:off x="9486900" y="67203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local mirror can lag behind the newest published exploits. Cross-check against online resources when nothing local matches.</a:t>
            </a:r>
            <a:endParaRPr lang="en-US" sz="18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3296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62007"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11.3 · Task 3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Using Nmap NSE scripts</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Beyond the scanning use covered in Module 6, certain NSE scripts can directly test for or even trigger specific known exploits against a service during a scan.</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tool already in routine use for scanning can double as an exploit resource, reducing the need to switch contexts entirely.</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6's Nmap Scripting Engine unit — the same engine, applied here to a different purpose.</a:t>
            </a:r>
            <a:endParaRPr lang="en-US" sz="18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507358"/>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CRITICAL DISTINCTION</a:t>
            </a:r>
            <a:endParaRPr lang="en-US" sz="1650" dirty="0"/>
          </a:p>
        </p:txBody>
      </p:sp>
      <p:sp>
        <p:nvSpPr>
          <p:cNvPr id="4" name="Text 2"/>
          <p:cNvSpPr/>
          <p:nvPr/>
        </p:nvSpPr>
        <p:spPr>
          <a:xfrm>
            <a:off x="800100" y="4002658"/>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Online versus offline exploit resources</a:t>
            </a:r>
            <a:endParaRPr lang="en-US" sz="3000" dirty="0"/>
          </a:p>
        </p:txBody>
      </p:sp>
      <p:sp>
        <p:nvSpPr>
          <p:cNvPr id="5" name="Shape 3"/>
          <p:cNvSpPr/>
          <p:nvPr/>
        </p:nvSpPr>
        <p:spPr>
          <a:xfrm>
            <a:off x="800100" y="4669408"/>
            <a:ext cx="7581900"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4907533"/>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ONLINE</a:t>
            </a:r>
            <a:endParaRPr lang="en-US" sz="1500" dirty="0"/>
          </a:p>
        </p:txBody>
      </p:sp>
      <p:sp>
        <p:nvSpPr>
          <p:cNvPr id="7" name="Text 5"/>
          <p:cNvSpPr/>
          <p:nvPr/>
        </p:nvSpPr>
        <p:spPr>
          <a:xfrm>
            <a:off x="1038225" y="5226621"/>
            <a:ext cx="7318820"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Broader and more current, but requires connectivity and carries the sourcing risks named in Objective 11.2 — verify before trusting.</a:t>
            </a:r>
            <a:endParaRPr lang="en-US" sz="1875" dirty="0"/>
          </a:p>
        </p:txBody>
      </p:sp>
      <p:sp>
        <p:nvSpPr>
          <p:cNvPr id="8" name="Text 6"/>
          <p:cNvSpPr/>
          <p:nvPr/>
        </p:nvSpPr>
        <p:spPr>
          <a:xfrm>
            <a:off x="8534400" y="4669408"/>
            <a:ext cx="1219200" cy="1500188"/>
          </a:xfrm>
          <a:prstGeom prst="rect">
            <a:avLst/>
          </a:prstGeom>
          <a:noFill/>
          <a:ln/>
        </p:spPr>
        <p:txBody>
          <a:bodyPr wrap="square" lIns="25400" tIns="25400" rIns="25400" bIns="25400" rtlCol="0" anchor="ctr">
            <a:normAutofit/>
          </a:bodyPr>
          <a:lstStyle/>
          <a:p>
            <a:pPr algn="ctr" indent="0" marL="0">
              <a:buNone/>
            </a:pPr>
            <a:r>
              <a:rPr lang="en-US" sz="3900" b="1" dirty="0">
                <a:solidFill>
                  <a:srgbClr val="FF6A00"/>
                </a:solidFill>
                <a:latin typeface="Arial" pitchFamily="34" charset="0"/>
                <a:ea typeface="Arial" pitchFamily="34" charset="-122"/>
                <a:cs typeface="Arial" pitchFamily="34" charset="-120"/>
              </a:rPr>
              <a:t>VS</a:t>
            </a:r>
            <a:endParaRPr lang="en-US" sz="3900" dirty="0"/>
          </a:p>
        </p:txBody>
      </p:sp>
      <p:sp>
        <p:nvSpPr>
          <p:cNvPr id="9" name="Shape 7"/>
          <p:cNvSpPr/>
          <p:nvPr/>
        </p:nvSpPr>
        <p:spPr>
          <a:xfrm>
            <a:off x="9906000" y="4669408"/>
            <a:ext cx="7581900" cy="1462088"/>
          </a:xfrm>
          <a:prstGeom prst="roundRect">
            <a:avLst>
              <a:gd name="adj" fmla="val 10423"/>
            </a:avLst>
          </a:prstGeom>
          <a:solidFill>
            <a:srgbClr val="FF6A00">
              <a:alpha val="6000"/>
            </a:srgbClr>
          </a:solidFill>
          <a:ln w="9525">
            <a:solidFill>
              <a:srgbClr val="B85100"/>
            </a:solidFill>
            <a:prstDash val="solid"/>
          </a:ln>
        </p:spPr>
      </p:sp>
      <p:sp>
        <p:nvSpPr>
          <p:cNvPr id="10" name="Text 8"/>
          <p:cNvSpPr/>
          <p:nvPr/>
        </p:nvSpPr>
        <p:spPr>
          <a:xfrm>
            <a:off x="10144125" y="4907533"/>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OFFLINE</a:t>
            </a:r>
            <a:endParaRPr lang="en-US" sz="1500" dirty="0"/>
          </a:p>
        </p:txBody>
      </p:sp>
      <p:sp>
        <p:nvSpPr>
          <p:cNvPr id="11" name="Text 9"/>
          <p:cNvSpPr/>
          <p:nvPr/>
        </p:nvSpPr>
        <p:spPr>
          <a:xfrm>
            <a:off x="10144125" y="5226621"/>
            <a:ext cx="7318820"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Available without a network lookup and drawn from a curated local mirror, but can lag behind the newest published exploits.</a:t>
            </a:r>
            <a:endParaRPr lang="en-US" sz="1875" dirty="0"/>
          </a:p>
        </p:txBody>
      </p:sp>
      <p:sp>
        <p:nvSpPr>
          <p:cNvPr id="12" name="Text 10"/>
          <p:cNvSpPr/>
          <p:nvPr/>
        </p:nvSpPr>
        <p:spPr>
          <a:xfrm>
            <a:off x="800100" y="6379146"/>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Neither replaces the other. A thorough search checks both, especially when the first resource checked returns nothing.</a:t>
            </a:r>
            <a:endParaRPr lang="en-US" sz="21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143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11.3 RECAP</a:t>
            </a:r>
            <a:endParaRPr lang="en-US" sz="1650" dirty="0"/>
          </a:p>
        </p:txBody>
      </p:sp>
      <p:sp>
        <p:nvSpPr>
          <p:cNvPr id="4" name="Text 2"/>
          <p:cNvSpPr/>
          <p:nvPr/>
        </p:nvSpPr>
        <p:spPr>
          <a:xfrm>
            <a:off x="800100" y="432673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Offline Exploit Resources — what you should now hold</a:t>
            </a:r>
            <a:endParaRPr lang="en-US" sz="3000" dirty="0"/>
          </a:p>
        </p:txBody>
      </p:sp>
      <p:sp>
        <p:nvSpPr>
          <p:cNvPr id="5" name="Shape 3"/>
          <p:cNvSpPr/>
          <p:nvPr/>
        </p:nvSpPr>
        <p:spPr>
          <a:xfrm>
            <a:off x="800100" y="4993481"/>
            <a:ext cx="543557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5231606"/>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FRAMEWORKS</a:t>
            </a:r>
            <a:endParaRPr lang="en-US" sz="1500" dirty="0"/>
          </a:p>
        </p:txBody>
      </p:sp>
      <p:sp>
        <p:nvSpPr>
          <p:cNvPr id="7" name="Text 5"/>
          <p:cNvSpPr/>
          <p:nvPr/>
        </p:nvSpPr>
        <p:spPr>
          <a:xfrm>
            <a:off x="1038225" y="5550694"/>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Bundle many exploits behind a consistent local interface, expanded on fully in Module 19.</a:t>
            </a:r>
            <a:endParaRPr lang="en-US" sz="1875" dirty="0"/>
          </a:p>
        </p:txBody>
      </p:sp>
      <p:sp>
        <p:nvSpPr>
          <p:cNvPr id="8" name="Shape 6"/>
          <p:cNvSpPr/>
          <p:nvPr/>
        </p:nvSpPr>
        <p:spPr>
          <a:xfrm>
            <a:off x="6426175" y="4993481"/>
            <a:ext cx="543557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6664300" y="5231606"/>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SEARCHSPLOIT</a:t>
            </a:r>
            <a:endParaRPr lang="en-US" sz="1500" dirty="0"/>
          </a:p>
        </p:txBody>
      </p:sp>
      <p:sp>
        <p:nvSpPr>
          <p:cNvPr id="10" name="Text 8"/>
          <p:cNvSpPr/>
          <p:nvPr/>
        </p:nvSpPr>
        <p:spPr>
          <a:xfrm>
            <a:off x="6664300" y="5550694"/>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locally searchable, offline exploit archive queried by service or product name.</a:t>
            </a:r>
            <a:endParaRPr lang="en-US" sz="1875" dirty="0"/>
          </a:p>
        </p:txBody>
      </p:sp>
      <p:sp>
        <p:nvSpPr>
          <p:cNvPr id="11" name="Shape 9"/>
          <p:cNvSpPr/>
          <p:nvPr/>
        </p:nvSpPr>
        <p:spPr>
          <a:xfrm>
            <a:off x="12052250" y="4993481"/>
            <a:ext cx="5435650" cy="1462088"/>
          </a:xfrm>
          <a:prstGeom prst="roundRect">
            <a:avLst>
              <a:gd name="adj" fmla="val 10423"/>
            </a:avLst>
          </a:prstGeom>
          <a:solidFill>
            <a:srgbClr val="FFFFFF">
              <a:alpha val="2000"/>
            </a:srgbClr>
          </a:solidFill>
          <a:ln w="9525">
            <a:solidFill>
              <a:srgbClr val="2A2F3A"/>
            </a:solidFill>
            <a:prstDash val="solid"/>
          </a:ln>
        </p:spPr>
      </p:sp>
      <p:sp>
        <p:nvSpPr>
          <p:cNvPr id="12" name="Text 10"/>
          <p:cNvSpPr/>
          <p:nvPr/>
        </p:nvSpPr>
        <p:spPr>
          <a:xfrm>
            <a:off x="12290375" y="5231606"/>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NSE</a:t>
            </a:r>
            <a:endParaRPr lang="en-US" sz="1500" dirty="0"/>
          </a:p>
        </p:txBody>
      </p:sp>
      <p:sp>
        <p:nvSpPr>
          <p:cNvPr id="13" name="Text 11"/>
          <p:cNvSpPr/>
          <p:nvPr/>
        </p:nvSpPr>
        <p:spPr>
          <a:xfrm>
            <a:off x="12290375" y="5550694"/>
            <a:ext cx="5108182"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same scripting engine from Module 6, here used to test for or trigger known exploits.</a:t>
            </a:r>
            <a:endParaRPr lang="en-US" sz="18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38546" y="3870945"/>
            <a:ext cx="2210834"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11.4</a:t>
            </a:r>
            <a:endParaRPr lang="en-US" sz="1650" dirty="0"/>
          </a:p>
        </p:txBody>
      </p:sp>
      <p:sp>
        <p:nvSpPr>
          <p:cNvPr id="4" name="Text 2"/>
          <p:cNvSpPr/>
          <p:nvPr/>
        </p:nvSpPr>
        <p:spPr>
          <a:xfrm>
            <a:off x="5125964" y="4385295"/>
            <a:ext cx="8035997"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Exploiting a Target</a:t>
            </a:r>
            <a:endParaRPr lang="en-US" sz="6600" dirty="0"/>
          </a:p>
        </p:txBody>
      </p:sp>
      <p:sp>
        <p:nvSpPr>
          <p:cNvPr id="5" name="Text 3"/>
          <p:cNvSpPr/>
          <p:nvPr/>
        </p:nvSpPr>
        <p:spPr>
          <a:xfrm>
            <a:off x="2767013" y="5532090"/>
            <a:ext cx="12753975"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Follow a basic workflow to enumerate a target, completely exploit a machine vulnerable to public exploits, discover appropriate exploits, and execute one to gain a limited shell.</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1458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43076"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11.4 · Task 1 of 4</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 basic penetration test workflow to enumerate a target</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Before any exploit search begins, the target must be enumerated thoroughly enough to know precisely which service, product and version are in play.</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An exploit search against a vague or wrong service description wastes time on results that were never going to apply.</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Modules 5 and 6 directly — active information gathering and vulnerability scanning feed this workflow's first step exactly.</a:t>
            </a:r>
            <a:endParaRPr lang="en-US" sz="18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3038847"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76806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11.4 · Task 2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Completely exploiting a machine vulnerable to public exploits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syllabus states full exploitation of a vulnerable machine as its own objective — not merely confirming a vulnerability exists, but carrying the process through to a working result.</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confirmed vulnerability with no working exploitation path is a finding; a fully exploited machine is proof. Both have their place, but the objective here is the latter.</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Stopping at the first sign of success. Confirm the access obtained is what it appears to be before considering the objective met.</a:t>
            </a:r>
            <a:endParaRPr lang="en-US" sz="18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43982"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73351"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11.4 · Task 3 of 4</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Discovering appropriate exploits for a target system</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With the target enumerated, the resources from Objectives 11.2 and 11.3 are applied to find an exploit matching the specific service, product and version identified.</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Search offline first for speed, then online for currency and breadth, cross-referencing candidates before selecting one to analyse.</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Objective 11.1's discipline — every candidate found here still requires analysis before execution, regardless of how it was found.</a:t>
            </a:r>
            <a:endParaRPr lang="en-US" sz="18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47479"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76953"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11.4 · Task 4 of 4</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Executing a public exploit to gain a limited shell</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workflow's final step runs the analysed, selected exploit to obtain a working, if limited, shell on the target — the terminal outcome of this module.</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“LIMITED”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shell obtained here is rarely privileged. Modules 15 and 16 pick up exactly where this module ends, escalating from limited to privileged access.</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4's note discipline — document the exact exploit, target details and outcome the moment the shell is obtained.</a:t>
            </a:r>
            <a:endParaRPr lang="en-US" sz="187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507358"/>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REFERENCE</a:t>
            </a:r>
            <a:endParaRPr lang="en-US" sz="1650" dirty="0"/>
          </a:p>
        </p:txBody>
      </p:sp>
      <p:sp>
        <p:nvSpPr>
          <p:cNvPr id="4" name="Text 2"/>
          <p:cNvSpPr/>
          <p:nvPr/>
        </p:nvSpPr>
        <p:spPr>
          <a:xfrm>
            <a:off x="800100" y="4002658"/>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Module 11's workflow, start to finish</a:t>
            </a:r>
            <a:endParaRPr lang="en-US" sz="3000" dirty="0"/>
          </a:p>
        </p:txBody>
      </p:sp>
      <p:sp>
        <p:nvSpPr>
          <p:cNvPr id="5" name="Shape 3"/>
          <p:cNvSpPr/>
          <p:nvPr/>
        </p:nvSpPr>
        <p:spPr>
          <a:xfrm>
            <a:off x="800100" y="4669408"/>
            <a:ext cx="3600450"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4907533"/>
            <a:ext cx="343662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ENUMERATE</a:t>
            </a:r>
            <a:endParaRPr lang="en-US" sz="1500" dirty="0"/>
          </a:p>
        </p:txBody>
      </p:sp>
      <p:sp>
        <p:nvSpPr>
          <p:cNvPr id="7" name="Text 5"/>
          <p:cNvSpPr/>
          <p:nvPr/>
        </p:nvSpPr>
        <p:spPr>
          <a:xfrm>
            <a:off x="1038225" y="5226621"/>
            <a:ext cx="3217926"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Confirm service, product and version precisely.</a:t>
            </a:r>
            <a:endParaRPr lang="en-US" sz="1875" dirty="0"/>
          </a:p>
        </p:txBody>
      </p:sp>
      <p:sp>
        <p:nvSpPr>
          <p:cNvPr id="8" name="Text 6"/>
          <p:cNvSpPr/>
          <p:nvPr/>
        </p:nvSpPr>
        <p:spPr>
          <a:xfrm>
            <a:off x="4476750" y="5152802"/>
            <a:ext cx="609600" cy="533400"/>
          </a:xfrm>
          <a:prstGeom prst="rect">
            <a:avLst/>
          </a:prstGeom>
          <a:noFill/>
          <a:ln/>
        </p:spPr>
        <p:txBody>
          <a:bodyPr wrap="square" lIns="25400" tIns="25400" rIns="25400" bIns="25400" rtlCol="0" anchor="ctr">
            <a:normAutofit/>
          </a:bodyPr>
          <a:lstStyle/>
          <a:p>
            <a:pPr algn="ctr" indent="0" marL="0">
              <a:buNone/>
            </a:pPr>
            <a:r>
              <a:rPr lang="en-US" sz="3300" dirty="0">
                <a:solidFill>
                  <a:srgbClr val="FF6A00"/>
                </a:solidFill>
                <a:latin typeface="Arial" pitchFamily="34" charset="0"/>
                <a:ea typeface="Arial" pitchFamily="34" charset="-122"/>
                <a:cs typeface="Arial" pitchFamily="34" charset="-120"/>
              </a:rPr>
              <a:t>→</a:t>
            </a:r>
            <a:endParaRPr lang="en-US" sz="3300" dirty="0"/>
          </a:p>
        </p:txBody>
      </p:sp>
      <p:sp>
        <p:nvSpPr>
          <p:cNvPr id="9" name="Shape 7"/>
          <p:cNvSpPr/>
          <p:nvPr/>
        </p:nvSpPr>
        <p:spPr>
          <a:xfrm>
            <a:off x="5162550" y="4669408"/>
            <a:ext cx="3600450" cy="1462088"/>
          </a:xfrm>
          <a:prstGeom prst="roundRect">
            <a:avLst>
              <a:gd name="adj" fmla="val 10423"/>
            </a:avLst>
          </a:prstGeom>
          <a:solidFill>
            <a:srgbClr val="FFFFFF">
              <a:alpha val="2000"/>
            </a:srgbClr>
          </a:solidFill>
          <a:ln w="9525">
            <a:solidFill>
              <a:srgbClr val="2A2F3A"/>
            </a:solidFill>
            <a:prstDash val="solid"/>
          </a:ln>
        </p:spPr>
      </p:sp>
      <p:sp>
        <p:nvSpPr>
          <p:cNvPr id="10" name="Text 8"/>
          <p:cNvSpPr/>
          <p:nvPr/>
        </p:nvSpPr>
        <p:spPr>
          <a:xfrm>
            <a:off x="5400675" y="4907533"/>
            <a:ext cx="343662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SEARCH</a:t>
            </a:r>
            <a:endParaRPr lang="en-US" sz="1500" dirty="0"/>
          </a:p>
        </p:txBody>
      </p:sp>
      <p:sp>
        <p:nvSpPr>
          <p:cNvPr id="11" name="Text 9"/>
          <p:cNvSpPr/>
          <p:nvPr/>
        </p:nvSpPr>
        <p:spPr>
          <a:xfrm>
            <a:off x="5400675" y="5226621"/>
            <a:ext cx="3217926"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Offline first, then online, cross-referenced.</a:t>
            </a:r>
            <a:endParaRPr lang="en-US" sz="1875" dirty="0"/>
          </a:p>
        </p:txBody>
      </p:sp>
      <p:sp>
        <p:nvSpPr>
          <p:cNvPr id="12" name="Text 10"/>
          <p:cNvSpPr/>
          <p:nvPr/>
        </p:nvSpPr>
        <p:spPr>
          <a:xfrm>
            <a:off x="8839200" y="5152802"/>
            <a:ext cx="609600" cy="533400"/>
          </a:xfrm>
          <a:prstGeom prst="rect">
            <a:avLst/>
          </a:prstGeom>
          <a:noFill/>
          <a:ln/>
        </p:spPr>
        <p:txBody>
          <a:bodyPr wrap="square" lIns="25400" tIns="25400" rIns="25400" bIns="25400" rtlCol="0" anchor="ctr">
            <a:normAutofit/>
          </a:bodyPr>
          <a:lstStyle/>
          <a:p>
            <a:pPr algn="ctr" indent="0" marL="0">
              <a:buNone/>
            </a:pPr>
            <a:r>
              <a:rPr lang="en-US" sz="3300" dirty="0">
                <a:solidFill>
                  <a:srgbClr val="FF6A00"/>
                </a:solidFill>
                <a:latin typeface="Arial" pitchFamily="34" charset="0"/>
                <a:ea typeface="Arial" pitchFamily="34" charset="-122"/>
                <a:cs typeface="Arial" pitchFamily="34" charset="-120"/>
              </a:rPr>
              <a:t>→</a:t>
            </a:r>
            <a:endParaRPr lang="en-US" sz="3300" dirty="0"/>
          </a:p>
        </p:txBody>
      </p:sp>
      <p:sp>
        <p:nvSpPr>
          <p:cNvPr id="13" name="Shape 11"/>
          <p:cNvSpPr/>
          <p:nvPr/>
        </p:nvSpPr>
        <p:spPr>
          <a:xfrm>
            <a:off x="9525000" y="4669408"/>
            <a:ext cx="3600450" cy="1462088"/>
          </a:xfrm>
          <a:prstGeom prst="roundRect">
            <a:avLst>
              <a:gd name="adj" fmla="val 10423"/>
            </a:avLst>
          </a:prstGeom>
          <a:solidFill>
            <a:srgbClr val="FFFFFF">
              <a:alpha val="2000"/>
            </a:srgbClr>
          </a:solidFill>
          <a:ln w="9525">
            <a:solidFill>
              <a:srgbClr val="2A2F3A"/>
            </a:solidFill>
            <a:prstDash val="solid"/>
          </a:ln>
        </p:spPr>
      </p:sp>
      <p:sp>
        <p:nvSpPr>
          <p:cNvPr id="14" name="Text 12"/>
          <p:cNvSpPr/>
          <p:nvPr/>
        </p:nvSpPr>
        <p:spPr>
          <a:xfrm>
            <a:off x="9763125" y="4907533"/>
            <a:ext cx="343662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ANALYSE</a:t>
            </a:r>
            <a:endParaRPr lang="en-US" sz="1500" dirty="0"/>
          </a:p>
        </p:txBody>
      </p:sp>
      <p:sp>
        <p:nvSpPr>
          <p:cNvPr id="15" name="Text 13"/>
          <p:cNvSpPr/>
          <p:nvPr/>
        </p:nvSpPr>
        <p:spPr>
          <a:xfrm>
            <a:off x="9763125" y="5226621"/>
            <a:ext cx="3217926"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Read the code before running it, every time.</a:t>
            </a:r>
            <a:endParaRPr lang="en-US" sz="1875" dirty="0"/>
          </a:p>
        </p:txBody>
      </p:sp>
      <p:sp>
        <p:nvSpPr>
          <p:cNvPr id="16" name="Text 14"/>
          <p:cNvSpPr/>
          <p:nvPr/>
        </p:nvSpPr>
        <p:spPr>
          <a:xfrm>
            <a:off x="13201650" y="5152802"/>
            <a:ext cx="609600" cy="533400"/>
          </a:xfrm>
          <a:prstGeom prst="rect">
            <a:avLst/>
          </a:prstGeom>
          <a:noFill/>
          <a:ln/>
        </p:spPr>
        <p:txBody>
          <a:bodyPr wrap="square" lIns="25400" tIns="25400" rIns="25400" bIns="25400" rtlCol="0" anchor="ctr">
            <a:normAutofit/>
          </a:bodyPr>
          <a:lstStyle/>
          <a:p>
            <a:pPr algn="ctr" indent="0" marL="0">
              <a:buNone/>
            </a:pPr>
            <a:r>
              <a:rPr lang="en-US" sz="3300" dirty="0">
                <a:solidFill>
                  <a:srgbClr val="FF6A00"/>
                </a:solidFill>
                <a:latin typeface="Arial" pitchFamily="34" charset="0"/>
                <a:ea typeface="Arial" pitchFamily="34" charset="-122"/>
                <a:cs typeface="Arial" pitchFamily="34" charset="-120"/>
              </a:rPr>
              <a:t>→</a:t>
            </a:r>
            <a:endParaRPr lang="en-US" sz="3300" dirty="0"/>
          </a:p>
        </p:txBody>
      </p:sp>
      <p:sp>
        <p:nvSpPr>
          <p:cNvPr id="17" name="Shape 15"/>
          <p:cNvSpPr/>
          <p:nvPr/>
        </p:nvSpPr>
        <p:spPr>
          <a:xfrm>
            <a:off x="13887450" y="4669408"/>
            <a:ext cx="3600450" cy="1462088"/>
          </a:xfrm>
          <a:prstGeom prst="roundRect">
            <a:avLst>
              <a:gd name="adj" fmla="val 10423"/>
            </a:avLst>
          </a:prstGeom>
          <a:solidFill>
            <a:srgbClr val="FFFFFF">
              <a:alpha val="2000"/>
            </a:srgbClr>
          </a:solidFill>
          <a:ln w="9525">
            <a:solidFill>
              <a:srgbClr val="2A2F3A"/>
            </a:solidFill>
            <a:prstDash val="solid"/>
          </a:ln>
        </p:spPr>
      </p:sp>
      <p:sp>
        <p:nvSpPr>
          <p:cNvPr id="18" name="Text 16"/>
          <p:cNvSpPr/>
          <p:nvPr/>
        </p:nvSpPr>
        <p:spPr>
          <a:xfrm>
            <a:off x="14125575" y="4907533"/>
            <a:ext cx="343662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EXECUTE</a:t>
            </a:r>
            <a:endParaRPr lang="en-US" sz="1500" dirty="0"/>
          </a:p>
        </p:txBody>
      </p:sp>
      <p:sp>
        <p:nvSpPr>
          <p:cNvPr id="19" name="Text 17"/>
          <p:cNvSpPr/>
          <p:nvPr/>
        </p:nvSpPr>
        <p:spPr>
          <a:xfrm>
            <a:off x="14125575" y="5226621"/>
            <a:ext cx="3217926"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Obtain and confirm a limited shell.</a:t>
            </a:r>
            <a:endParaRPr lang="en-US" sz="1875" dirty="0"/>
          </a:p>
        </p:txBody>
      </p:sp>
      <p:sp>
        <p:nvSpPr>
          <p:cNvPr id="20" name="Text 18"/>
          <p:cNvSpPr/>
          <p:nvPr/>
        </p:nvSpPr>
        <p:spPr>
          <a:xfrm>
            <a:off x="800100" y="6379146"/>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If the exploit does not run cleanly, Module 12 is the next stop — not abandoning the target.</a:t>
            </a:r>
            <a:endParaRPr lang="en-US" sz="217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143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11.4 RECAP</a:t>
            </a:r>
            <a:endParaRPr lang="en-US" sz="1650" dirty="0"/>
          </a:p>
        </p:txBody>
      </p:sp>
      <p:sp>
        <p:nvSpPr>
          <p:cNvPr id="4" name="Text 2"/>
          <p:cNvSpPr/>
          <p:nvPr/>
        </p:nvSpPr>
        <p:spPr>
          <a:xfrm>
            <a:off x="800100" y="432673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Exploiting a Target — what you should now hold</a:t>
            </a:r>
            <a:endParaRPr lang="en-US" sz="3000" dirty="0"/>
          </a:p>
        </p:txBody>
      </p:sp>
      <p:sp>
        <p:nvSpPr>
          <p:cNvPr id="5" name="Shape 3"/>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WORKFLOW</a:t>
            </a:r>
            <a:endParaRPr lang="en-US" sz="1500" dirty="0"/>
          </a:p>
        </p:txBody>
      </p:sp>
      <p:sp>
        <p:nvSpPr>
          <p:cNvPr id="7" name="Text 5"/>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Enumerate precisely, search both offline and online, analyse before running, then execute for a limited shell.</a:t>
            </a:r>
            <a:endParaRPr lang="en-US" sz="1875" dirty="0"/>
          </a:p>
        </p:txBody>
      </p:sp>
      <p:sp>
        <p:nvSpPr>
          <p:cNvPr id="8" name="Shape 6"/>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OUTCOME</a:t>
            </a:r>
            <a:endParaRPr lang="en-US" sz="1500" dirty="0"/>
          </a:p>
        </p:txBody>
      </p:sp>
      <p:sp>
        <p:nvSpPr>
          <p:cNvPr id="10" name="Text 8"/>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limited shell is a beginning, not an end — Modules 15 and 16 exist to escalate from exactly this point.</a:t>
            </a:r>
            <a:endParaRPr lang="en-US" sz="187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94017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APPLIED SCENARIO · DISCUSSION</a:t>
            </a:r>
            <a:endParaRPr lang="en-US" sz="1650" dirty="0"/>
          </a:p>
        </p:txBody>
      </p:sp>
      <p:sp>
        <p:nvSpPr>
          <p:cNvPr id="4" name="Text 2"/>
          <p:cNvSpPr/>
          <p:nvPr/>
        </p:nvSpPr>
        <p:spPr>
          <a:xfrm>
            <a:off x="800100" y="343547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Choosing and vetting a candidate exploit</a:t>
            </a:r>
            <a:endParaRPr lang="en-US" sz="3000" dirty="0"/>
          </a:p>
        </p:txBody>
      </p:sp>
      <p:sp>
        <p:nvSpPr>
          <p:cNvPr id="5" name="Text 3"/>
          <p:cNvSpPr/>
          <p:nvPr/>
        </p:nvSpPr>
        <p:spPr>
          <a:xfrm>
            <a:off x="800100" y="4102224"/>
            <a:ext cx="15304770" cy="1239589"/>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Enumeration confirms a service and precise version. SearchSploit returns nothing. A broader web search turns up two candidates: one on a well-known curated database with a clear author and description, and one posted anonymously to a forum with no further detail.</a:t>
            </a:r>
            <a:endParaRPr lang="en-US" sz="2175" dirty="0"/>
          </a:p>
        </p:txBody>
      </p:sp>
      <p:sp>
        <p:nvSpPr>
          <p:cNvPr id="6" name="Shape 4"/>
          <p:cNvSpPr/>
          <p:nvPr/>
        </p:nvSpPr>
        <p:spPr>
          <a:xfrm>
            <a:off x="800100" y="5551363"/>
            <a:ext cx="5435575" cy="1795463"/>
          </a:xfrm>
          <a:prstGeom prst="roundRect">
            <a:avLst>
              <a:gd name="adj" fmla="val 8488"/>
            </a:avLst>
          </a:prstGeom>
          <a:solidFill>
            <a:srgbClr val="FFFFFF">
              <a:alpha val="2000"/>
            </a:srgbClr>
          </a:solidFill>
          <a:ln w="9525">
            <a:solidFill>
              <a:srgbClr val="2A2F3A"/>
            </a:solidFill>
            <a:prstDash val="solid"/>
          </a:ln>
        </p:spPr>
      </p:sp>
      <p:sp>
        <p:nvSpPr>
          <p:cNvPr id="7" name="Text 5"/>
          <p:cNvSpPr/>
          <p:nvPr/>
        </p:nvSpPr>
        <p:spPr>
          <a:xfrm>
            <a:off x="1038225" y="5789488"/>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8" name="Text 6"/>
          <p:cNvSpPr/>
          <p:nvPr/>
        </p:nvSpPr>
        <p:spPr>
          <a:xfrm>
            <a:off x="1038225" y="6108576"/>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Which candidate would you analyse first, and what from Objective 11.2 justifies that order?</a:t>
            </a:r>
            <a:endParaRPr lang="en-US" sz="1875" dirty="0"/>
          </a:p>
        </p:txBody>
      </p:sp>
      <p:sp>
        <p:nvSpPr>
          <p:cNvPr id="9" name="Shape 7"/>
          <p:cNvSpPr/>
          <p:nvPr/>
        </p:nvSpPr>
        <p:spPr>
          <a:xfrm>
            <a:off x="6426175" y="5551363"/>
            <a:ext cx="5435575" cy="1795463"/>
          </a:xfrm>
          <a:prstGeom prst="roundRect">
            <a:avLst>
              <a:gd name="adj" fmla="val 8488"/>
            </a:avLst>
          </a:prstGeom>
          <a:solidFill>
            <a:srgbClr val="FFFFFF">
              <a:alpha val="2000"/>
            </a:srgbClr>
          </a:solidFill>
          <a:ln w="9525">
            <a:solidFill>
              <a:srgbClr val="2A2F3A"/>
            </a:solidFill>
            <a:prstDash val="solid"/>
          </a:ln>
        </p:spPr>
      </p:sp>
      <p:sp>
        <p:nvSpPr>
          <p:cNvPr id="10" name="Text 8"/>
          <p:cNvSpPr/>
          <p:nvPr/>
        </p:nvSpPr>
        <p:spPr>
          <a:xfrm>
            <a:off x="6664300" y="5789488"/>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11" name="Text 9"/>
          <p:cNvSpPr/>
          <p:nvPr/>
        </p:nvSpPr>
        <p:spPr>
          <a:xfrm>
            <a:off x="6664300" y="610857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What specifically would you look for while reading each candidate's code before deciding whether to run it?</a:t>
            </a:r>
            <a:endParaRPr lang="en-US" sz="1875" dirty="0"/>
          </a:p>
        </p:txBody>
      </p:sp>
      <p:sp>
        <p:nvSpPr>
          <p:cNvPr id="12" name="Shape 10"/>
          <p:cNvSpPr/>
          <p:nvPr/>
        </p:nvSpPr>
        <p:spPr>
          <a:xfrm>
            <a:off x="12052250" y="5551363"/>
            <a:ext cx="5435650" cy="1795463"/>
          </a:xfrm>
          <a:prstGeom prst="roundRect">
            <a:avLst>
              <a:gd name="adj" fmla="val 8488"/>
            </a:avLst>
          </a:prstGeom>
          <a:solidFill>
            <a:srgbClr val="FFFFFF">
              <a:alpha val="2000"/>
            </a:srgbClr>
          </a:solidFill>
          <a:ln w="9525">
            <a:solidFill>
              <a:srgbClr val="2A2F3A"/>
            </a:solidFill>
            <a:prstDash val="solid"/>
          </a:ln>
        </p:spPr>
      </p:sp>
      <p:sp>
        <p:nvSpPr>
          <p:cNvPr id="13" name="Text 11"/>
          <p:cNvSpPr/>
          <p:nvPr/>
        </p:nvSpPr>
        <p:spPr>
          <a:xfrm>
            <a:off x="12290375" y="5789488"/>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14" name="Text 12"/>
          <p:cNvSpPr/>
          <p:nvPr/>
        </p:nvSpPr>
        <p:spPr>
          <a:xfrm>
            <a:off x="12290375" y="6108576"/>
            <a:ext cx="5108182"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If both candidates fail to run cleanly against the target, what would you do next?</a:t>
            </a:r>
            <a:endParaRPr lang="en-US" sz="187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32350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03775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1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Reading exploit code systematically</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Before running any exploit, identify what it connects to, what it writes to the target, and what preconditions it assumes about the target's configuration.</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Trace every network connection and file write in the code, and note any hard-coded assumption about version, path, or configuration.</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Obfuscated or unusually encoded sections. Code deliberately made hard to read deserves more scrutiny, not less.</a:t>
            </a:r>
            <a:endParaRPr lang="en-US" sz="187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347764"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062014"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2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Testing exploits in an isolated environment first</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Where possible, run an analysed exploit against a matching but isolated system before pointing it at the actual target, to observe its real behaviour under controlled conditions.</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Observed behaviour in a safe environment is more reliable evidence than code analysis alone, particularly for anything with destructive potential.</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Assuming identical behaviour on a differently configured target. Isolated testing reduces risk; it does not guarantee an identical result.</a:t>
            </a:r>
            <a:endParaRPr lang="en-US" sz="187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35289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06714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3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Cross-referencing sources before trusting one</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Check a promising exploit candidate against a second, independent source before committing analysis time to it. Agreement across independent sources is meaningful evidence; a single source is not.</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Compare the candidate found via SearchSploit or NSE against what an online search independently returns for the same service and version.</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Objective 11.2's differentiation skill, applied concretely rather than left as abstract judgement.</a:t>
            </a:r>
            <a:endParaRPr lang="en-US" sz="187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071813"/>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ACRONYM SPOTLIGHT</a:t>
            </a:r>
            <a:endParaRPr lang="en-US" sz="1650" dirty="0"/>
          </a:p>
        </p:txBody>
      </p:sp>
      <p:sp>
        <p:nvSpPr>
          <p:cNvPr id="4" name="Text 2"/>
          <p:cNvSpPr/>
          <p:nvPr/>
        </p:nvSpPr>
        <p:spPr>
          <a:xfrm>
            <a:off x="800100" y="3567113"/>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Terms introduced in Module 11</a:t>
            </a:r>
            <a:endParaRPr lang="en-US" sz="3000" dirty="0"/>
          </a:p>
        </p:txBody>
      </p:sp>
      <p:sp>
        <p:nvSpPr>
          <p:cNvPr id="5" name="Shape 3"/>
          <p:cNvSpPr/>
          <p:nvPr/>
        </p:nvSpPr>
        <p:spPr>
          <a:xfrm>
            <a:off x="800100" y="4233863"/>
            <a:ext cx="2590800" cy="500063"/>
          </a:xfrm>
          <a:prstGeom prst="rect">
            <a:avLst/>
          </a:prstGeom>
          <a:solidFill>
            <a:srgbClr val="FF6A00">
              <a:alpha val="18000"/>
            </a:srgbClr>
          </a:solidFill>
          <a:ln/>
        </p:spPr>
      </p:sp>
      <p:sp>
        <p:nvSpPr>
          <p:cNvPr id="6" name="Shape 4"/>
          <p:cNvSpPr/>
          <p:nvPr/>
        </p:nvSpPr>
        <p:spPr>
          <a:xfrm>
            <a:off x="800100" y="4724400"/>
            <a:ext cx="2590800" cy="9525"/>
          </a:xfrm>
          <a:prstGeom prst="rect">
            <a:avLst/>
          </a:prstGeom>
          <a:solidFill>
            <a:srgbClr val="B85100"/>
          </a:solidFill>
          <a:ln/>
        </p:spPr>
      </p:sp>
      <p:sp>
        <p:nvSpPr>
          <p:cNvPr id="7" name="Text 5"/>
          <p:cNvSpPr/>
          <p:nvPr/>
        </p:nvSpPr>
        <p:spPr>
          <a:xfrm>
            <a:off x="952500" y="4348163"/>
            <a:ext cx="2363724"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Term</a:t>
            </a:r>
            <a:endParaRPr lang="en-US" sz="1800" dirty="0"/>
          </a:p>
        </p:txBody>
      </p:sp>
      <p:sp>
        <p:nvSpPr>
          <p:cNvPr id="8" name="Shape 6"/>
          <p:cNvSpPr/>
          <p:nvPr/>
        </p:nvSpPr>
        <p:spPr>
          <a:xfrm>
            <a:off x="3390900" y="4233863"/>
            <a:ext cx="4686300" cy="500063"/>
          </a:xfrm>
          <a:prstGeom prst="rect">
            <a:avLst/>
          </a:prstGeom>
          <a:solidFill>
            <a:srgbClr val="FF6A00">
              <a:alpha val="18000"/>
            </a:srgbClr>
          </a:solidFill>
          <a:ln/>
        </p:spPr>
      </p:sp>
      <p:sp>
        <p:nvSpPr>
          <p:cNvPr id="9" name="Shape 7"/>
          <p:cNvSpPr/>
          <p:nvPr/>
        </p:nvSpPr>
        <p:spPr>
          <a:xfrm>
            <a:off x="3390900" y="4724400"/>
            <a:ext cx="4686300" cy="9525"/>
          </a:xfrm>
          <a:prstGeom prst="rect">
            <a:avLst/>
          </a:prstGeom>
          <a:solidFill>
            <a:srgbClr val="B85100"/>
          </a:solidFill>
          <a:ln/>
        </p:spPr>
      </p:sp>
      <p:sp>
        <p:nvSpPr>
          <p:cNvPr id="10" name="Text 8"/>
          <p:cNvSpPr/>
          <p:nvPr/>
        </p:nvSpPr>
        <p:spPr>
          <a:xfrm>
            <a:off x="3543300" y="4348163"/>
            <a:ext cx="452208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What it is</a:t>
            </a:r>
            <a:endParaRPr lang="en-US" sz="1800" dirty="0"/>
          </a:p>
        </p:txBody>
      </p:sp>
      <p:sp>
        <p:nvSpPr>
          <p:cNvPr id="11" name="Shape 9"/>
          <p:cNvSpPr/>
          <p:nvPr/>
        </p:nvSpPr>
        <p:spPr>
          <a:xfrm>
            <a:off x="8077200" y="4233863"/>
            <a:ext cx="9410700" cy="500063"/>
          </a:xfrm>
          <a:prstGeom prst="rect">
            <a:avLst/>
          </a:prstGeom>
          <a:solidFill>
            <a:srgbClr val="FF6A00">
              <a:alpha val="18000"/>
            </a:srgbClr>
          </a:solidFill>
          <a:ln/>
        </p:spPr>
      </p:sp>
      <p:sp>
        <p:nvSpPr>
          <p:cNvPr id="12" name="Shape 10"/>
          <p:cNvSpPr/>
          <p:nvPr/>
        </p:nvSpPr>
        <p:spPr>
          <a:xfrm>
            <a:off x="8077200" y="4724400"/>
            <a:ext cx="9410700" cy="9525"/>
          </a:xfrm>
          <a:prstGeom prst="rect">
            <a:avLst/>
          </a:prstGeom>
          <a:solidFill>
            <a:srgbClr val="B85100"/>
          </a:solidFill>
          <a:ln/>
        </p:spPr>
      </p:sp>
      <p:sp>
        <p:nvSpPr>
          <p:cNvPr id="13" name="Text 11"/>
          <p:cNvSpPr/>
          <p:nvPr/>
        </p:nvSpPr>
        <p:spPr>
          <a:xfrm>
            <a:off x="8229600" y="4348163"/>
            <a:ext cx="9388221"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Where it appears</a:t>
            </a:r>
            <a:endParaRPr lang="en-US" sz="1800" dirty="0"/>
          </a:p>
        </p:txBody>
      </p:sp>
      <p:sp>
        <p:nvSpPr>
          <p:cNvPr id="14" name="Shape 12"/>
          <p:cNvSpPr/>
          <p:nvPr/>
        </p:nvSpPr>
        <p:spPr>
          <a:xfrm>
            <a:off x="800100" y="4733925"/>
            <a:ext cx="2590800" cy="485775"/>
          </a:xfrm>
          <a:prstGeom prst="rect">
            <a:avLst/>
          </a:prstGeom>
          <a:solidFill>
            <a:srgbClr val="FFFFFF">
              <a:alpha val="2000"/>
            </a:srgbClr>
          </a:solidFill>
          <a:ln/>
        </p:spPr>
      </p:sp>
      <p:sp>
        <p:nvSpPr>
          <p:cNvPr id="15" name="Shape 13"/>
          <p:cNvSpPr/>
          <p:nvPr/>
        </p:nvSpPr>
        <p:spPr>
          <a:xfrm>
            <a:off x="800100" y="5210175"/>
            <a:ext cx="2590800" cy="9525"/>
          </a:xfrm>
          <a:prstGeom prst="rect">
            <a:avLst/>
          </a:prstGeom>
          <a:solidFill>
            <a:srgbClr val="2A2F3A"/>
          </a:solidFill>
          <a:ln/>
        </p:spPr>
      </p:sp>
      <p:sp>
        <p:nvSpPr>
          <p:cNvPr id="16" name="Text 14"/>
          <p:cNvSpPr/>
          <p:nvPr/>
        </p:nvSpPr>
        <p:spPr>
          <a:xfrm>
            <a:off x="952500" y="4838700"/>
            <a:ext cx="236372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SearchSploit</a:t>
            </a:r>
            <a:endParaRPr lang="en-US" sz="1800" dirty="0"/>
          </a:p>
        </p:txBody>
      </p:sp>
      <p:sp>
        <p:nvSpPr>
          <p:cNvPr id="17" name="Shape 15"/>
          <p:cNvSpPr/>
          <p:nvPr/>
        </p:nvSpPr>
        <p:spPr>
          <a:xfrm>
            <a:off x="3390900" y="4733925"/>
            <a:ext cx="4686300" cy="485775"/>
          </a:xfrm>
          <a:prstGeom prst="rect">
            <a:avLst/>
          </a:prstGeom>
          <a:solidFill>
            <a:srgbClr val="FFFFFF">
              <a:alpha val="2000"/>
            </a:srgbClr>
          </a:solidFill>
          <a:ln/>
        </p:spPr>
      </p:sp>
      <p:sp>
        <p:nvSpPr>
          <p:cNvPr id="18" name="Shape 16"/>
          <p:cNvSpPr/>
          <p:nvPr/>
        </p:nvSpPr>
        <p:spPr>
          <a:xfrm>
            <a:off x="3390900" y="5210175"/>
            <a:ext cx="4686300" cy="9525"/>
          </a:xfrm>
          <a:prstGeom prst="rect">
            <a:avLst/>
          </a:prstGeom>
          <a:solidFill>
            <a:srgbClr val="2A2F3A"/>
          </a:solidFill>
          <a:ln/>
        </p:spPr>
      </p:sp>
      <p:sp>
        <p:nvSpPr>
          <p:cNvPr id="19" name="Text 17"/>
          <p:cNvSpPr/>
          <p:nvPr/>
        </p:nvSpPr>
        <p:spPr>
          <a:xfrm>
            <a:off x="3543300" y="4838700"/>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locally searchable offline exploit archive</a:t>
            </a:r>
            <a:endParaRPr lang="en-US" sz="1800" dirty="0"/>
          </a:p>
        </p:txBody>
      </p:sp>
      <p:sp>
        <p:nvSpPr>
          <p:cNvPr id="20" name="Shape 18"/>
          <p:cNvSpPr/>
          <p:nvPr/>
        </p:nvSpPr>
        <p:spPr>
          <a:xfrm>
            <a:off x="8077200" y="4733925"/>
            <a:ext cx="9410700" cy="485775"/>
          </a:xfrm>
          <a:prstGeom prst="rect">
            <a:avLst/>
          </a:prstGeom>
          <a:solidFill>
            <a:srgbClr val="FFFFFF">
              <a:alpha val="2000"/>
            </a:srgbClr>
          </a:solidFill>
          <a:ln/>
        </p:spPr>
      </p:sp>
      <p:sp>
        <p:nvSpPr>
          <p:cNvPr id="21" name="Shape 19"/>
          <p:cNvSpPr/>
          <p:nvPr/>
        </p:nvSpPr>
        <p:spPr>
          <a:xfrm>
            <a:off x="8077200" y="5210175"/>
            <a:ext cx="9410700" cy="9525"/>
          </a:xfrm>
          <a:prstGeom prst="rect">
            <a:avLst/>
          </a:prstGeom>
          <a:solidFill>
            <a:srgbClr val="2A2F3A"/>
          </a:solidFill>
          <a:ln/>
        </p:spPr>
      </p:sp>
      <p:sp>
        <p:nvSpPr>
          <p:cNvPr id="22" name="Text 20"/>
          <p:cNvSpPr/>
          <p:nvPr/>
        </p:nvSpPr>
        <p:spPr>
          <a:xfrm>
            <a:off x="8229600" y="4838700"/>
            <a:ext cx="938822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Objective 11.3</a:t>
            </a:r>
            <a:endParaRPr lang="en-US" sz="1800" dirty="0"/>
          </a:p>
        </p:txBody>
      </p:sp>
      <p:sp>
        <p:nvSpPr>
          <p:cNvPr id="23" name="Shape 21"/>
          <p:cNvSpPr/>
          <p:nvPr/>
        </p:nvSpPr>
        <p:spPr>
          <a:xfrm>
            <a:off x="800100" y="5695950"/>
            <a:ext cx="2590800" cy="9525"/>
          </a:xfrm>
          <a:prstGeom prst="rect">
            <a:avLst/>
          </a:prstGeom>
          <a:solidFill>
            <a:srgbClr val="2A2F3A"/>
          </a:solidFill>
          <a:ln/>
        </p:spPr>
      </p:sp>
      <p:sp>
        <p:nvSpPr>
          <p:cNvPr id="24" name="Text 22"/>
          <p:cNvSpPr/>
          <p:nvPr/>
        </p:nvSpPr>
        <p:spPr>
          <a:xfrm>
            <a:off x="952500" y="5324475"/>
            <a:ext cx="236372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NSE</a:t>
            </a:r>
            <a:endParaRPr lang="en-US" sz="1800" dirty="0"/>
          </a:p>
        </p:txBody>
      </p:sp>
      <p:sp>
        <p:nvSpPr>
          <p:cNvPr id="25" name="Shape 23"/>
          <p:cNvSpPr/>
          <p:nvPr/>
        </p:nvSpPr>
        <p:spPr>
          <a:xfrm>
            <a:off x="3390900" y="5695950"/>
            <a:ext cx="4686300" cy="9525"/>
          </a:xfrm>
          <a:prstGeom prst="rect">
            <a:avLst/>
          </a:prstGeom>
          <a:solidFill>
            <a:srgbClr val="2A2F3A"/>
          </a:solidFill>
          <a:ln/>
        </p:spPr>
      </p:sp>
      <p:sp>
        <p:nvSpPr>
          <p:cNvPr id="26" name="Text 24"/>
          <p:cNvSpPr/>
          <p:nvPr/>
        </p:nvSpPr>
        <p:spPr>
          <a:xfrm>
            <a:off x="3543300" y="5324475"/>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Nmap Scripting Engine</a:t>
            </a:r>
            <a:endParaRPr lang="en-US" sz="1800" dirty="0"/>
          </a:p>
        </p:txBody>
      </p:sp>
      <p:sp>
        <p:nvSpPr>
          <p:cNvPr id="27" name="Shape 25"/>
          <p:cNvSpPr/>
          <p:nvPr/>
        </p:nvSpPr>
        <p:spPr>
          <a:xfrm>
            <a:off x="8077200" y="5695950"/>
            <a:ext cx="9410700" cy="9525"/>
          </a:xfrm>
          <a:prstGeom prst="rect">
            <a:avLst/>
          </a:prstGeom>
          <a:solidFill>
            <a:srgbClr val="2A2F3A"/>
          </a:solidFill>
          <a:ln/>
        </p:spPr>
      </p:sp>
      <p:sp>
        <p:nvSpPr>
          <p:cNvPr id="28" name="Text 26"/>
          <p:cNvSpPr/>
          <p:nvPr/>
        </p:nvSpPr>
        <p:spPr>
          <a:xfrm>
            <a:off x="8229600" y="5324475"/>
            <a:ext cx="938822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Objective 11.3, extending Module 6's use of it</a:t>
            </a:r>
            <a:endParaRPr lang="en-US" sz="1800" dirty="0"/>
          </a:p>
        </p:txBody>
      </p:sp>
      <p:sp>
        <p:nvSpPr>
          <p:cNvPr id="29" name="Shape 27"/>
          <p:cNvSpPr/>
          <p:nvPr/>
        </p:nvSpPr>
        <p:spPr>
          <a:xfrm>
            <a:off x="800100" y="5705475"/>
            <a:ext cx="2590800" cy="752475"/>
          </a:xfrm>
          <a:prstGeom prst="rect">
            <a:avLst/>
          </a:prstGeom>
          <a:solidFill>
            <a:srgbClr val="FFFFFF">
              <a:alpha val="2000"/>
            </a:srgbClr>
          </a:solidFill>
          <a:ln/>
        </p:spPr>
      </p:sp>
      <p:sp>
        <p:nvSpPr>
          <p:cNvPr id="30" name="Shape 28"/>
          <p:cNvSpPr/>
          <p:nvPr/>
        </p:nvSpPr>
        <p:spPr>
          <a:xfrm>
            <a:off x="800100" y="6448425"/>
            <a:ext cx="2590800" cy="9525"/>
          </a:xfrm>
          <a:prstGeom prst="rect">
            <a:avLst/>
          </a:prstGeom>
          <a:solidFill>
            <a:srgbClr val="2A2F3A"/>
          </a:solidFill>
          <a:ln/>
        </p:spPr>
      </p:sp>
      <p:sp>
        <p:nvSpPr>
          <p:cNvPr id="31" name="Text 29"/>
          <p:cNvSpPr/>
          <p:nvPr/>
        </p:nvSpPr>
        <p:spPr>
          <a:xfrm>
            <a:off x="952500" y="5810250"/>
            <a:ext cx="236372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Exploit framework</a:t>
            </a:r>
            <a:endParaRPr lang="en-US" sz="1800" dirty="0"/>
          </a:p>
        </p:txBody>
      </p:sp>
      <p:sp>
        <p:nvSpPr>
          <p:cNvPr id="32" name="Shape 30"/>
          <p:cNvSpPr/>
          <p:nvPr/>
        </p:nvSpPr>
        <p:spPr>
          <a:xfrm>
            <a:off x="3390900" y="5705475"/>
            <a:ext cx="4686300" cy="752475"/>
          </a:xfrm>
          <a:prstGeom prst="rect">
            <a:avLst/>
          </a:prstGeom>
          <a:solidFill>
            <a:srgbClr val="FFFFFF">
              <a:alpha val="2000"/>
            </a:srgbClr>
          </a:solidFill>
          <a:ln/>
        </p:spPr>
      </p:sp>
      <p:sp>
        <p:nvSpPr>
          <p:cNvPr id="33" name="Shape 31"/>
          <p:cNvSpPr/>
          <p:nvPr/>
        </p:nvSpPr>
        <p:spPr>
          <a:xfrm>
            <a:off x="3390900" y="6448425"/>
            <a:ext cx="4686300" cy="9525"/>
          </a:xfrm>
          <a:prstGeom prst="rect">
            <a:avLst/>
          </a:prstGeom>
          <a:solidFill>
            <a:srgbClr val="2A2F3A"/>
          </a:solidFill>
          <a:ln/>
        </p:spPr>
      </p:sp>
      <p:sp>
        <p:nvSpPr>
          <p:cNvPr id="34" name="Text 32"/>
          <p:cNvSpPr/>
          <p:nvPr/>
        </p:nvSpPr>
        <p:spPr>
          <a:xfrm>
            <a:off x="3543300" y="5810250"/>
            <a:ext cx="452208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Software bundling many exploits behind a consistent interface</a:t>
            </a:r>
            <a:endParaRPr lang="en-US" sz="1800" dirty="0"/>
          </a:p>
        </p:txBody>
      </p:sp>
      <p:sp>
        <p:nvSpPr>
          <p:cNvPr id="35" name="Shape 33"/>
          <p:cNvSpPr/>
          <p:nvPr/>
        </p:nvSpPr>
        <p:spPr>
          <a:xfrm>
            <a:off x="8077200" y="5705475"/>
            <a:ext cx="9410700" cy="752475"/>
          </a:xfrm>
          <a:prstGeom prst="rect">
            <a:avLst/>
          </a:prstGeom>
          <a:solidFill>
            <a:srgbClr val="FFFFFF">
              <a:alpha val="2000"/>
            </a:srgbClr>
          </a:solidFill>
          <a:ln/>
        </p:spPr>
      </p:sp>
      <p:sp>
        <p:nvSpPr>
          <p:cNvPr id="36" name="Shape 34"/>
          <p:cNvSpPr/>
          <p:nvPr/>
        </p:nvSpPr>
        <p:spPr>
          <a:xfrm>
            <a:off x="8077200" y="6448425"/>
            <a:ext cx="9410700" cy="9525"/>
          </a:xfrm>
          <a:prstGeom prst="rect">
            <a:avLst/>
          </a:prstGeom>
          <a:solidFill>
            <a:srgbClr val="2A2F3A"/>
          </a:solidFill>
          <a:ln/>
        </p:spPr>
      </p:sp>
      <p:sp>
        <p:nvSpPr>
          <p:cNvPr id="37" name="Text 35"/>
          <p:cNvSpPr/>
          <p:nvPr/>
        </p:nvSpPr>
        <p:spPr>
          <a:xfrm>
            <a:off x="8229600" y="5810250"/>
            <a:ext cx="9388221"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Objective 11.3, expanded fully in Module 19</a:t>
            </a:r>
            <a:endParaRPr lang="en-US" sz="1800" dirty="0"/>
          </a:p>
        </p:txBody>
      </p:sp>
      <p:sp>
        <p:nvSpPr>
          <p:cNvPr id="38" name="Shape 36"/>
          <p:cNvSpPr/>
          <p:nvPr/>
        </p:nvSpPr>
        <p:spPr>
          <a:xfrm>
            <a:off x="800100" y="7200900"/>
            <a:ext cx="2590800" cy="9525"/>
          </a:xfrm>
          <a:prstGeom prst="rect">
            <a:avLst/>
          </a:prstGeom>
          <a:solidFill>
            <a:srgbClr val="2A2F3A"/>
          </a:solidFill>
          <a:ln/>
        </p:spPr>
      </p:sp>
      <p:sp>
        <p:nvSpPr>
          <p:cNvPr id="39" name="Text 37"/>
          <p:cNvSpPr/>
          <p:nvPr/>
        </p:nvSpPr>
        <p:spPr>
          <a:xfrm>
            <a:off x="952500" y="6562725"/>
            <a:ext cx="236372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Limited shell</a:t>
            </a:r>
            <a:endParaRPr lang="en-US" sz="1800" dirty="0"/>
          </a:p>
        </p:txBody>
      </p:sp>
      <p:sp>
        <p:nvSpPr>
          <p:cNvPr id="40" name="Shape 38"/>
          <p:cNvSpPr/>
          <p:nvPr/>
        </p:nvSpPr>
        <p:spPr>
          <a:xfrm>
            <a:off x="3390900" y="7200900"/>
            <a:ext cx="4686300" cy="9525"/>
          </a:xfrm>
          <a:prstGeom prst="rect">
            <a:avLst/>
          </a:prstGeom>
          <a:solidFill>
            <a:srgbClr val="2A2F3A"/>
          </a:solidFill>
          <a:ln/>
        </p:spPr>
      </p:sp>
      <p:sp>
        <p:nvSpPr>
          <p:cNvPr id="41" name="Text 39"/>
          <p:cNvSpPr/>
          <p:nvPr/>
        </p:nvSpPr>
        <p:spPr>
          <a:xfrm>
            <a:off x="3543300" y="6562725"/>
            <a:ext cx="452208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Working but unprivileged command access on a target</a:t>
            </a:r>
            <a:endParaRPr lang="en-US" sz="1800" dirty="0"/>
          </a:p>
        </p:txBody>
      </p:sp>
      <p:sp>
        <p:nvSpPr>
          <p:cNvPr id="42" name="Shape 40"/>
          <p:cNvSpPr/>
          <p:nvPr/>
        </p:nvSpPr>
        <p:spPr>
          <a:xfrm>
            <a:off x="8077200" y="7200900"/>
            <a:ext cx="9410700" cy="9525"/>
          </a:xfrm>
          <a:prstGeom prst="rect">
            <a:avLst/>
          </a:prstGeom>
          <a:solidFill>
            <a:srgbClr val="2A2F3A"/>
          </a:solidFill>
          <a:ln/>
        </p:spPr>
      </p:sp>
      <p:sp>
        <p:nvSpPr>
          <p:cNvPr id="43" name="Text 41"/>
          <p:cNvSpPr/>
          <p:nvPr/>
        </p:nvSpPr>
        <p:spPr>
          <a:xfrm>
            <a:off x="8229600" y="6562725"/>
            <a:ext cx="9388221"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Objective 11.4's terminal outcome</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1881187"/>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COMMON MISCONCEPTIONS</a:t>
            </a:r>
            <a:endParaRPr lang="en-US" sz="1650" dirty="0"/>
          </a:p>
        </p:txBody>
      </p:sp>
      <p:sp>
        <p:nvSpPr>
          <p:cNvPr id="4" name="Text 2"/>
          <p:cNvSpPr/>
          <p:nvPr/>
        </p:nvSpPr>
        <p:spPr>
          <a:xfrm>
            <a:off x="800100" y="2376488"/>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What learners get wrong about Module 11</a:t>
            </a:r>
            <a:endParaRPr lang="en-US" sz="3000" dirty="0"/>
          </a:p>
        </p:txBody>
      </p:sp>
      <p:sp>
        <p:nvSpPr>
          <p:cNvPr id="5" name="Shape 3"/>
          <p:cNvSpPr/>
          <p:nvPr/>
        </p:nvSpPr>
        <p:spPr>
          <a:xfrm>
            <a:off x="800100" y="3043238"/>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3281363"/>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 POPULAR EXPLOIT IS A SAFE EXPLOIT”</a:t>
            </a:r>
            <a:endParaRPr lang="en-US" sz="1500" dirty="0"/>
          </a:p>
        </p:txBody>
      </p:sp>
      <p:sp>
        <p:nvSpPr>
          <p:cNvPr id="7" name="Text 5"/>
          <p:cNvSpPr/>
          <p:nvPr/>
        </p:nvSpPr>
        <p:spPr>
          <a:xfrm>
            <a:off x="1038225" y="3600450"/>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Popularity says nothing about review standard, currency, or whether the copy in front of you matches the original.</a:t>
            </a:r>
            <a:endParaRPr lang="en-US" sz="1875" dirty="0"/>
          </a:p>
        </p:txBody>
      </p:sp>
      <p:sp>
        <p:nvSpPr>
          <p:cNvPr id="8" name="Shape 6"/>
          <p:cNvSpPr/>
          <p:nvPr/>
        </p:nvSpPr>
        <p:spPr>
          <a:xfrm>
            <a:off x="9248775" y="3043238"/>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3281363"/>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“RUNNING AN EXPLOIT IS FASTER THAN READING IT”</a:t>
            </a:r>
            <a:endParaRPr lang="en-US" sz="1500" dirty="0"/>
          </a:p>
        </p:txBody>
      </p:sp>
      <p:sp>
        <p:nvSpPr>
          <p:cNvPr id="10" name="Text 8"/>
          <p:cNvSpPr/>
          <p:nvPr/>
        </p:nvSpPr>
        <p:spPr>
          <a:xfrm>
            <a:off x="9486900" y="3600450"/>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It is faster only until untrusted code does something outside the agreed scope. Analysis is the actual time-saver over the course of an engagement.</a:t>
            </a:r>
            <a:endParaRPr lang="en-US" sz="1875" dirty="0"/>
          </a:p>
        </p:txBody>
      </p:sp>
      <p:sp>
        <p:nvSpPr>
          <p:cNvPr id="11" name="Shape 9"/>
          <p:cNvSpPr/>
          <p:nvPr/>
        </p:nvSpPr>
        <p:spPr>
          <a:xfrm>
            <a:off x="800100" y="4714875"/>
            <a:ext cx="8239125" cy="1462088"/>
          </a:xfrm>
          <a:prstGeom prst="roundRect">
            <a:avLst>
              <a:gd name="adj" fmla="val 10423"/>
            </a:avLst>
          </a:prstGeom>
          <a:solidFill>
            <a:srgbClr val="FFFFFF">
              <a:alpha val="2000"/>
            </a:srgbClr>
          </a:solidFill>
          <a:ln w="9525">
            <a:solidFill>
              <a:srgbClr val="2A2F3A"/>
            </a:solidFill>
            <a:prstDash val="solid"/>
          </a:ln>
        </p:spPr>
      </p:sp>
      <p:sp>
        <p:nvSpPr>
          <p:cNvPr id="12" name="Text 10"/>
          <p:cNvSpPr/>
          <p:nvPr/>
        </p:nvSpPr>
        <p:spPr>
          <a:xfrm>
            <a:off x="1038225" y="4953000"/>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“OFFLINE RESOURCES ARE ALWAYS OUT OF DATE”</a:t>
            </a:r>
            <a:endParaRPr lang="en-US" sz="1500" dirty="0"/>
          </a:p>
        </p:txBody>
      </p:sp>
      <p:sp>
        <p:nvSpPr>
          <p:cNvPr id="13" name="Text 11"/>
          <p:cNvSpPr/>
          <p:nvPr/>
        </p:nvSpPr>
        <p:spPr>
          <a:xfrm>
            <a:off x="1038225" y="5272088"/>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SearchSploit and NSE are curated and frequently sufficient; the real discipline is checking both offline and online, not favouring one by default.</a:t>
            </a:r>
            <a:endParaRPr lang="en-US" sz="1875" dirty="0"/>
          </a:p>
        </p:txBody>
      </p:sp>
      <p:sp>
        <p:nvSpPr>
          <p:cNvPr id="14" name="Shape 12"/>
          <p:cNvSpPr/>
          <p:nvPr/>
        </p:nvSpPr>
        <p:spPr>
          <a:xfrm>
            <a:off x="9248775" y="4714875"/>
            <a:ext cx="8239125" cy="1462088"/>
          </a:xfrm>
          <a:prstGeom prst="roundRect">
            <a:avLst>
              <a:gd name="adj" fmla="val 10423"/>
            </a:avLst>
          </a:prstGeom>
          <a:solidFill>
            <a:srgbClr val="FFFFFF">
              <a:alpha val="2000"/>
            </a:srgbClr>
          </a:solidFill>
          <a:ln w="9525">
            <a:solidFill>
              <a:srgbClr val="2A2F3A"/>
            </a:solidFill>
            <a:prstDash val="solid"/>
          </a:ln>
        </p:spPr>
      </p:sp>
      <p:sp>
        <p:nvSpPr>
          <p:cNvPr id="15" name="Text 13"/>
          <p:cNvSpPr/>
          <p:nvPr/>
        </p:nvSpPr>
        <p:spPr>
          <a:xfrm>
            <a:off x="9486900" y="4953000"/>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 LIMITED SHELL MEANS THE OBJECTIVE IS COMPLETE”</a:t>
            </a:r>
            <a:endParaRPr lang="en-US" sz="1500" dirty="0"/>
          </a:p>
        </p:txBody>
      </p:sp>
      <p:sp>
        <p:nvSpPr>
          <p:cNvPr id="16" name="Text 14"/>
          <p:cNvSpPr/>
          <p:nvPr/>
        </p:nvSpPr>
        <p:spPr>
          <a:xfrm>
            <a:off x="9486900" y="5272088"/>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Objective 11.4 ends at a limited shell deliberately — Modules 15 and 16 exist because privilege escalation is a separate, later objective.</a:t>
            </a:r>
            <a:endParaRPr lang="en-US" sz="1875" dirty="0"/>
          </a:p>
        </p:txBody>
      </p:sp>
      <p:sp>
        <p:nvSpPr>
          <p:cNvPr id="17" name="Shape 15"/>
          <p:cNvSpPr/>
          <p:nvPr/>
        </p:nvSpPr>
        <p:spPr>
          <a:xfrm>
            <a:off x="800100" y="6386513"/>
            <a:ext cx="8239125" cy="2019300"/>
          </a:xfrm>
          <a:prstGeom prst="roundRect">
            <a:avLst>
              <a:gd name="adj" fmla="val 7547"/>
            </a:avLst>
          </a:prstGeom>
          <a:solidFill>
            <a:srgbClr val="FFFFFF">
              <a:alpha val="2000"/>
            </a:srgbClr>
          </a:solidFill>
          <a:ln w="9525">
            <a:solidFill>
              <a:srgbClr val="2A2F3A"/>
            </a:solidFill>
            <a:prstDash val="solid"/>
          </a:ln>
        </p:spPr>
      </p:sp>
      <p:sp>
        <p:nvSpPr>
          <p:cNvPr id="18" name="Text 16"/>
          <p:cNvSpPr/>
          <p:nvPr/>
        </p:nvSpPr>
        <p:spPr>
          <a:xfrm>
            <a:off x="1038225" y="6624638"/>
            <a:ext cx="7995761" cy="485775"/>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“ENUMERATION CAN BE SKIPPED IF A SERVICE NAME IS ALREADY KNOWN”</a:t>
            </a:r>
            <a:endParaRPr lang="en-US" sz="1500" dirty="0"/>
          </a:p>
        </p:txBody>
      </p:sp>
      <p:sp>
        <p:nvSpPr>
          <p:cNvPr id="19" name="Text 17"/>
          <p:cNvSpPr/>
          <p:nvPr/>
        </p:nvSpPr>
        <p:spPr>
          <a:xfrm>
            <a:off x="1038225" y="7167563"/>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workflow depends on a precise version, not just a service name. Imprecise enumeration produces an exploit search that was never going to succeed.</a:t>
            </a:r>
            <a:endParaRPr lang="en-US" sz="1875" dirty="0"/>
          </a:p>
        </p:txBody>
      </p:sp>
      <p:sp>
        <p:nvSpPr>
          <p:cNvPr id="20" name="Shape 18"/>
          <p:cNvSpPr/>
          <p:nvPr/>
        </p:nvSpPr>
        <p:spPr>
          <a:xfrm>
            <a:off x="9248775" y="6386513"/>
            <a:ext cx="8239125" cy="2019300"/>
          </a:xfrm>
          <a:prstGeom prst="roundRect">
            <a:avLst>
              <a:gd name="adj" fmla="val 7547"/>
            </a:avLst>
          </a:prstGeom>
          <a:solidFill>
            <a:srgbClr val="FFFFFF">
              <a:alpha val="2000"/>
            </a:srgbClr>
          </a:solidFill>
          <a:ln w="9525">
            <a:solidFill>
              <a:srgbClr val="2A2F3A"/>
            </a:solidFill>
            <a:prstDash val="solid"/>
          </a:ln>
        </p:spPr>
      </p:sp>
      <p:sp>
        <p:nvSpPr>
          <p:cNvPr id="21" name="Text 19"/>
          <p:cNvSpPr/>
          <p:nvPr/>
        </p:nvSpPr>
        <p:spPr>
          <a:xfrm>
            <a:off x="9486900" y="6624638"/>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“ONE MATCHING SOURCE IS ENOUGH TO TRUST AN EXPLOIT”</a:t>
            </a:r>
            <a:endParaRPr lang="en-US" sz="1500" dirty="0"/>
          </a:p>
        </p:txBody>
      </p:sp>
      <p:sp>
        <p:nvSpPr>
          <p:cNvPr id="22" name="Text 20"/>
          <p:cNvSpPr/>
          <p:nvPr/>
        </p:nvSpPr>
        <p:spPr>
          <a:xfrm>
            <a:off x="9486900" y="6943725"/>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Cross-referencing against an independent second source is a stated practical skill, not an optional extra step.</a:t>
            </a:r>
            <a:endParaRPr lang="en-US" sz="187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484708" y="3273326"/>
            <a:ext cx="3318584"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MODULE 11 IN CONTEXT</a:t>
            </a:r>
            <a:endParaRPr lang="en-US" sz="1650" dirty="0"/>
          </a:p>
        </p:txBody>
      </p:sp>
      <p:sp>
        <p:nvSpPr>
          <p:cNvPr id="4" name="Text 2"/>
          <p:cNvSpPr/>
          <p:nvPr/>
        </p:nvSpPr>
        <p:spPr>
          <a:xfrm>
            <a:off x="8609633" y="3749576"/>
            <a:ext cx="1068735" cy="1562100"/>
          </a:xfrm>
          <a:prstGeom prst="rect">
            <a:avLst/>
          </a:prstGeom>
          <a:noFill/>
          <a:ln/>
        </p:spPr>
        <p:txBody>
          <a:bodyPr wrap="square" lIns="25400" tIns="25400" rIns="25400" bIns="25400" rtlCol="0" anchor="t">
            <a:normAutofit/>
          </a:bodyPr>
          <a:lstStyle/>
          <a:p>
            <a:pPr algn="ctr" indent="0" marL="0">
              <a:lnSpc>
                <a:spcPct val="86957"/>
              </a:lnSpc>
              <a:buNone/>
            </a:pPr>
            <a:r>
              <a:rPr lang="en-US" sz="12000" b="1" spc="-300" kern="0" dirty="0">
                <a:solidFill>
                  <a:srgbClr val="FF6A00"/>
                </a:solidFill>
                <a:latin typeface="Arial" pitchFamily="34" charset="0"/>
                <a:ea typeface="Arial" pitchFamily="34" charset="-122"/>
                <a:cs typeface="Arial" pitchFamily="34" charset="-120"/>
              </a:rPr>
              <a:t>4</a:t>
            </a:r>
            <a:endParaRPr lang="en-US" sz="12000" dirty="0"/>
          </a:p>
        </p:txBody>
      </p:sp>
      <p:sp>
        <p:nvSpPr>
          <p:cNvPr id="5" name="Text 3"/>
          <p:cNvSpPr/>
          <p:nvPr/>
        </p:nvSpPr>
        <p:spPr>
          <a:xfrm>
            <a:off x="2889997" y="5502176"/>
            <a:ext cx="12508007" cy="520005"/>
          </a:xfrm>
          <a:prstGeom prst="rect">
            <a:avLst/>
          </a:prstGeom>
          <a:noFill/>
          <a:ln/>
        </p:spPr>
        <p:txBody>
          <a:bodyPr wrap="square" lIns="25400" tIns="25400" rIns="25400" bIns="25400" rtlCol="0" anchor="t">
            <a:normAutofit/>
          </a:bodyPr>
          <a:lstStyle/>
          <a:p>
            <a:pPr algn="ctr" indent="0" marL="0">
              <a:lnSpc>
                <a:spcPct val="96381"/>
              </a:lnSpc>
              <a:buNone/>
            </a:pPr>
            <a:r>
              <a:rPr lang="en-US" sz="3450" b="1" dirty="0">
                <a:solidFill>
                  <a:srgbClr val="F5F7FB"/>
                </a:solidFill>
                <a:latin typeface="Arial" pitchFamily="34" charset="0"/>
                <a:ea typeface="Arial" pitchFamily="34" charset="-122"/>
                <a:cs typeface="Arial" pitchFamily="34" charset="-120"/>
              </a:rPr>
              <a:t>Learning Units, from risk assessment to a limited shell</a:t>
            </a:r>
            <a:endParaRPr lang="en-US" sz="3450" dirty="0"/>
          </a:p>
        </p:txBody>
      </p:sp>
      <p:sp>
        <p:nvSpPr>
          <p:cNvPr id="6" name="Text 4"/>
          <p:cNvSpPr/>
          <p:nvPr/>
        </p:nvSpPr>
        <p:spPr>
          <a:xfrm>
            <a:off x="3257550" y="6212681"/>
            <a:ext cx="11772900" cy="839093"/>
          </a:xfrm>
          <a:prstGeom prst="rect">
            <a:avLst/>
          </a:prstGeom>
          <a:noFill/>
          <a:ln/>
        </p:spPr>
        <p:txBody>
          <a:bodyPr wrap="square" lIns="25400" tIns="25400" rIns="25400" bIns="25400" rtlCol="0" anchor="t">
            <a:normAutofit/>
          </a:bodyPr>
          <a:lstStyle/>
          <a:p>
            <a:pPr algn="ctr" indent="0" marL="0">
              <a:lnSpc>
                <a:spcPct val="125522"/>
              </a:lnSpc>
              <a:buNone/>
            </a:pPr>
            <a:r>
              <a:rPr lang="en-US" sz="2175" dirty="0">
                <a:solidFill>
                  <a:srgbClr val="B8C0CF"/>
                </a:solidFill>
                <a:latin typeface="Arial" pitchFamily="34" charset="0"/>
                <a:ea typeface="Arial" pitchFamily="34" charset="-122"/>
                <a:cs typeface="Arial" pitchFamily="34" charset="-120"/>
              </a:rPr>
              <a:t>Getting Started, Online Resources, Offline Resources, and Exploiting a Target. Percentage weightings per module: information not defined in the official exam outline.</a:t>
            </a:r>
            <a:endParaRPr lang="en-US" sz="217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695575"/>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KNOWLEDGE CHECK</a:t>
            </a:r>
            <a:endParaRPr lang="en-US" sz="1650" dirty="0"/>
          </a:p>
        </p:txBody>
      </p:sp>
      <p:sp>
        <p:nvSpPr>
          <p:cNvPr id="4" name="Text 2"/>
          <p:cNvSpPr/>
          <p:nvPr/>
        </p:nvSpPr>
        <p:spPr>
          <a:xfrm>
            <a:off x="800100" y="3190875"/>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What is the stated purpose of analysing exploit code before executing it?</a:t>
            </a:r>
            <a:endParaRPr lang="en-US" sz="3000" dirty="0"/>
          </a:p>
        </p:txBody>
      </p:sp>
      <p:sp>
        <p:nvSpPr>
          <p:cNvPr id="5" name="Shape 3"/>
          <p:cNvSpPr/>
          <p:nvPr/>
        </p:nvSpPr>
        <p:spPr>
          <a:xfrm>
            <a:off x="800100" y="3933825"/>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411480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12432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A</a:t>
            </a:r>
            <a:endParaRPr lang="en-US" sz="1650" dirty="0"/>
          </a:p>
        </p:txBody>
      </p:sp>
      <p:sp>
        <p:nvSpPr>
          <p:cNvPr id="8" name="Text 6"/>
          <p:cNvSpPr/>
          <p:nvPr/>
        </p:nvSpPr>
        <p:spPr>
          <a:xfrm>
            <a:off x="1952625" y="4188619"/>
            <a:ext cx="5516895"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To make the exploit run faster against the target</a:t>
            </a:r>
            <a:endParaRPr lang="en-US" sz="1950" dirty="0"/>
          </a:p>
        </p:txBody>
      </p:sp>
      <p:sp>
        <p:nvSpPr>
          <p:cNvPr id="9" name="Shape 7"/>
          <p:cNvSpPr/>
          <p:nvPr/>
        </p:nvSpPr>
        <p:spPr>
          <a:xfrm>
            <a:off x="800100" y="4886325"/>
            <a:ext cx="16687800" cy="800100"/>
          </a:xfrm>
          <a:prstGeom prst="roundRect">
            <a:avLst>
              <a:gd name="adj" fmla="val 16667"/>
            </a:avLst>
          </a:prstGeom>
          <a:solidFill>
            <a:srgbClr val="FF6A00">
              <a:alpha val="10000"/>
            </a:srgbClr>
          </a:solidFill>
          <a:ln w="9525">
            <a:solidFill>
              <a:srgbClr val="B85100"/>
            </a:solidFill>
            <a:prstDash val="solid"/>
          </a:ln>
        </p:spPr>
      </p:sp>
      <p:sp>
        <p:nvSpPr>
          <p:cNvPr id="10" name="Shape 8"/>
          <p:cNvSpPr/>
          <p:nvPr/>
        </p:nvSpPr>
        <p:spPr>
          <a:xfrm>
            <a:off x="1038225" y="506730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507682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B</a:t>
            </a:r>
            <a:endParaRPr lang="en-US" sz="1650" dirty="0"/>
          </a:p>
        </p:txBody>
      </p:sp>
      <p:sp>
        <p:nvSpPr>
          <p:cNvPr id="12" name="Text 10"/>
          <p:cNvSpPr/>
          <p:nvPr/>
        </p:nvSpPr>
        <p:spPr>
          <a:xfrm>
            <a:off x="1952625" y="5141119"/>
            <a:ext cx="8829176"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To understand what the code actually does before trusting it against a target</a:t>
            </a:r>
            <a:endParaRPr lang="en-US" sz="1950" dirty="0"/>
          </a:p>
        </p:txBody>
      </p:sp>
      <p:sp>
        <p:nvSpPr>
          <p:cNvPr id="13" name="Shape 11"/>
          <p:cNvSpPr/>
          <p:nvPr/>
        </p:nvSpPr>
        <p:spPr>
          <a:xfrm>
            <a:off x="800100" y="5838825"/>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601980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602932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C</a:t>
            </a:r>
            <a:endParaRPr lang="en-US" sz="1650" dirty="0"/>
          </a:p>
        </p:txBody>
      </p:sp>
      <p:sp>
        <p:nvSpPr>
          <p:cNvPr id="16" name="Text 14"/>
          <p:cNvSpPr/>
          <p:nvPr/>
        </p:nvSpPr>
        <p:spPr>
          <a:xfrm>
            <a:off x="1952625" y="6093619"/>
            <a:ext cx="6256377"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To convert the exploit into an NSE script automatically</a:t>
            </a:r>
            <a:endParaRPr lang="en-US" sz="1950" dirty="0"/>
          </a:p>
        </p:txBody>
      </p:sp>
      <p:sp>
        <p:nvSpPr>
          <p:cNvPr id="17" name="Shape 15"/>
          <p:cNvSpPr/>
          <p:nvPr/>
        </p:nvSpPr>
        <p:spPr>
          <a:xfrm>
            <a:off x="800100" y="6791325"/>
            <a:ext cx="16687800" cy="800100"/>
          </a:xfrm>
          <a:prstGeom prst="roundRect">
            <a:avLst>
              <a:gd name="adj" fmla="val 16667"/>
            </a:avLst>
          </a:prstGeom>
          <a:solidFill>
            <a:srgbClr val="FFFFFF">
              <a:alpha val="2000"/>
            </a:srgbClr>
          </a:solidFill>
          <a:ln w="9525">
            <a:solidFill>
              <a:srgbClr val="2A2F3A"/>
            </a:solidFill>
            <a:prstDash val="solid"/>
          </a:ln>
        </p:spPr>
      </p:sp>
      <p:sp>
        <p:nvSpPr>
          <p:cNvPr id="18" name="Shape 16"/>
          <p:cNvSpPr/>
          <p:nvPr/>
        </p:nvSpPr>
        <p:spPr>
          <a:xfrm>
            <a:off x="1038225" y="697230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9" name="Text 17"/>
          <p:cNvSpPr/>
          <p:nvPr/>
        </p:nvSpPr>
        <p:spPr>
          <a:xfrm>
            <a:off x="1009650" y="698182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D</a:t>
            </a:r>
            <a:endParaRPr lang="en-US" sz="1650" dirty="0"/>
          </a:p>
        </p:txBody>
      </p:sp>
      <p:sp>
        <p:nvSpPr>
          <p:cNvPr id="20" name="Text 18"/>
          <p:cNvSpPr/>
          <p:nvPr/>
        </p:nvSpPr>
        <p:spPr>
          <a:xfrm>
            <a:off x="1952625" y="7046119"/>
            <a:ext cx="4881369"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To register the exploit in a public database</a:t>
            </a:r>
            <a:endParaRPr lang="en-US" sz="1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438177"/>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MODULE SUMMARY</a:t>
            </a:r>
            <a:endParaRPr lang="en-US" sz="1650" dirty="0"/>
          </a:p>
        </p:txBody>
      </p:sp>
      <p:sp>
        <p:nvSpPr>
          <p:cNvPr id="4" name="Text 2"/>
          <p:cNvSpPr/>
          <p:nvPr/>
        </p:nvSpPr>
        <p:spPr>
          <a:xfrm>
            <a:off x="800100" y="2933477"/>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Module 11 in four lines</a:t>
            </a:r>
            <a:endParaRPr lang="en-US" sz="3000" dirty="0"/>
          </a:p>
        </p:txBody>
      </p:sp>
      <p:sp>
        <p:nvSpPr>
          <p:cNvPr id="5" name="Shape 3"/>
          <p:cNvSpPr/>
          <p:nvPr/>
        </p:nvSpPr>
        <p:spPr>
          <a:xfrm>
            <a:off x="800100" y="3600227"/>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378120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379072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11.1</a:t>
            </a:r>
            <a:endParaRPr lang="en-US" sz="1650" dirty="0"/>
          </a:p>
        </p:txBody>
      </p:sp>
      <p:sp>
        <p:nvSpPr>
          <p:cNvPr id="8" name="Text 6"/>
          <p:cNvSpPr/>
          <p:nvPr/>
        </p:nvSpPr>
        <p:spPr>
          <a:xfrm>
            <a:off x="1952625" y="3855021"/>
            <a:ext cx="8404592"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Untrusted exploit code carries real risk; analyse before executing, always</a:t>
            </a:r>
            <a:endParaRPr lang="en-US" sz="1950" dirty="0"/>
          </a:p>
        </p:txBody>
      </p:sp>
      <p:sp>
        <p:nvSpPr>
          <p:cNvPr id="9" name="Shape 7"/>
          <p:cNvSpPr/>
          <p:nvPr/>
        </p:nvSpPr>
        <p:spPr>
          <a:xfrm>
            <a:off x="800100" y="4533677"/>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471465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472417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11.2</a:t>
            </a:r>
            <a:endParaRPr lang="en-US" sz="1650" dirty="0"/>
          </a:p>
        </p:txBody>
      </p:sp>
      <p:sp>
        <p:nvSpPr>
          <p:cNvPr id="12" name="Text 10"/>
          <p:cNvSpPr/>
          <p:nvPr/>
        </p:nvSpPr>
        <p:spPr>
          <a:xfrm>
            <a:off x="1952625" y="4788471"/>
            <a:ext cx="11119083"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Multiple online resources exist, differ in trustworthiness, and search operators help surface them</a:t>
            </a:r>
            <a:endParaRPr lang="en-US" sz="1950" dirty="0"/>
          </a:p>
        </p:txBody>
      </p:sp>
      <p:sp>
        <p:nvSpPr>
          <p:cNvPr id="13" name="Shape 11"/>
          <p:cNvSpPr/>
          <p:nvPr/>
        </p:nvSpPr>
        <p:spPr>
          <a:xfrm>
            <a:off x="800100" y="5467127"/>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564810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565762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11.3</a:t>
            </a:r>
            <a:endParaRPr lang="en-US" sz="1650" dirty="0"/>
          </a:p>
        </p:txBody>
      </p:sp>
      <p:sp>
        <p:nvSpPr>
          <p:cNvPr id="16" name="Text 14"/>
          <p:cNvSpPr/>
          <p:nvPr/>
        </p:nvSpPr>
        <p:spPr>
          <a:xfrm>
            <a:off x="1952625" y="5721921"/>
            <a:ext cx="8852587"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Exploit frameworks, SearchSploit, and Nmap NSE provide offline alternatives</a:t>
            </a:r>
            <a:endParaRPr lang="en-US" sz="1950" dirty="0"/>
          </a:p>
        </p:txBody>
      </p:sp>
      <p:sp>
        <p:nvSpPr>
          <p:cNvPr id="17" name="Shape 15"/>
          <p:cNvSpPr/>
          <p:nvPr/>
        </p:nvSpPr>
        <p:spPr>
          <a:xfrm>
            <a:off x="800100" y="6400577"/>
            <a:ext cx="16687800" cy="800100"/>
          </a:xfrm>
          <a:prstGeom prst="roundRect">
            <a:avLst>
              <a:gd name="adj" fmla="val 16667"/>
            </a:avLst>
          </a:prstGeom>
          <a:solidFill>
            <a:srgbClr val="FFFFFF">
              <a:alpha val="2000"/>
            </a:srgbClr>
          </a:solidFill>
          <a:ln w="9525">
            <a:solidFill>
              <a:srgbClr val="2A2F3A"/>
            </a:solidFill>
            <a:prstDash val="solid"/>
          </a:ln>
        </p:spPr>
      </p:sp>
      <p:sp>
        <p:nvSpPr>
          <p:cNvPr id="18" name="Shape 16"/>
          <p:cNvSpPr/>
          <p:nvPr/>
        </p:nvSpPr>
        <p:spPr>
          <a:xfrm>
            <a:off x="1038225" y="658155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9" name="Text 17"/>
          <p:cNvSpPr/>
          <p:nvPr/>
        </p:nvSpPr>
        <p:spPr>
          <a:xfrm>
            <a:off x="1009650" y="659107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11.4</a:t>
            </a:r>
            <a:endParaRPr lang="en-US" sz="1650" dirty="0"/>
          </a:p>
        </p:txBody>
      </p:sp>
      <p:sp>
        <p:nvSpPr>
          <p:cNvPr id="20" name="Text 18"/>
          <p:cNvSpPr/>
          <p:nvPr/>
        </p:nvSpPr>
        <p:spPr>
          <a:xfrm>
            <a:off x="1952625" y="6655371"/>
            <a:ext cx="9608359"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Enumerate precisely, search both channels, analyse, then execute for a limited shell</a:t>
            </a:r>
            <a:endParaRPr lang="en-US" sz="1950" dirty="0"/>
          </a:p>
        </p:txBody>
      </p:sp>
      <p:sp>
        <p:nvSpPr>
          <p:cNvPr id="21" name="Text 19"/>
          <p:cNvSpPr/>
          <p:nvPr/>
        </p:nvSpPr>
        <p:spPr>
          <a:xfrm>
            <a:off x="800100" y="7448327"/>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limited shell this module produces is a starting point. Modules 12 through 16 pick up directly from here.</a:t>
            </a:r>
            <a:endParaRPr lang="en-US" sz="217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6096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NEXT STEPS</a:t>
            </a:r>
            <a:endParaRPr lang="en-US" sz="1650" dirty="0"/>
          </a:p>
        </p:txBody>
      </p:sp>
      <p:sp>
        <p:nvSpPr>
          <p:cNvPr id="4" name="Text 2"/>
          <p:cNvSpPr/>
          <p:nvPr/>
        </p:nvSpPr>
        <p:spPr>
          <a:xfrm>
            <a:off x="800100" y="1143000"/>
            <a:ext cx="18356580" cy="738188"/>
          </a:xfrm>
          <a:prstGeom prst="rect">
            <a:avLst/>
          </a:prstGeom>
          <a:noFill/>
          <a:ln/>
        </p:spPr>
        <p:txBody>
          <a:bodyPr wrap="square" lIns="25400" tIns="25400" rIns="25400" bIns="25400" rtlCol="0" anchor="t">
            <a:normAutofit/>
          </a:bodyPr>
          <a:lstStyle/>
          <a:p>
            <a:pPr algn="l" indent="0" marL="0">
              <a:lnSpc>
                <a:spcPct val="90741"/>
              </a:lnSpc>
              <a:buNone/>
            </a:pPr>
            <a:r>
              <a:rPr lang="en-US" sz="5250" b="1" spc="-37" kern="0" dirty="0">
                <a:solidFill>
                  <a:srgbClr val="F5F7FB"/>
                </a:solidFill>
                <a:latin typeface="Arial" pitchFamily="34" charset="0"/>
                <a:ea typeface="Arial" pitchFamily="34" charset="-122"/>
                <a:cs typeface="Arial" pitchFamily="34" charset="-120"/>
              </a:rPr>
              <a:t>Module 12: Fixing Exploits</a:t>
            </a:r>
            <a:endParaRPr lang="en-US" sz="5250" dirty="0"/>
          </a:p>
        </p:txBody>
      </p:sp>
      <p:sp>
        <p:nvSpPr>
          <p:cNvPr id="5" name="Shape 3"/>
          <p:cNvSpPr/>
          <p:nvPr/>
        </p:nvSpPr>
        <p:spPr>
          <a:xfrm>
            <a:off x="800100" y="2128838"/>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236696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COMING NEXT</a:t>
            </a:r>
            <a:endParaRPr lang="en-US" sz="1500" dirty="0"/>
          </a:p>
        </p:txBody>
      </p:sp>
      <p:sp>
        <p:nvSpPr>
          <p:cNvPr id="7" name="Text 5"/>
          <p:cNvSpPr/>
          <p:nvPr/>
        </p:nvSpPr>
        <p:spPr>
          <a:xfrm>
            <a:off x="1038225" y="2686050"/>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High-level buffer overflow theory, cross-compiling binaries, and repairing both memory corruption and web application exploits.</a:t>
            </a:r>
            <a:endParaRPr lang="en-US" sz="1875" dirty="0"/>
          </a:p>
        </p:txBody>
      </p:sp>
      <p:sp>
        <p:nvSpPr>
          <p:cNvPr id="8" name="Shape 6"/>
          <p:cNvSpPr/>
          <p:nvPr/>
        </p:nvSpPr>
        <p:spPr>
          <a:xfrm>
            <a:off x="6426175" y="2128838"/>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236696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BEFORE THEN</a:t>
            </a:r>
            <a:endParaRPr lang="en-US" sz="1500" dirty="0"/>
          </a:p>
        </p:txBody>
      </p:sp>
      <p:sp>
        <p:nvSpPr>
          <p:cNvPr id="10" name="Text 8"/>
          <p:cNvSpPr/>
          <p:nvPr/>
        </p:nvSpPr>
        <p:spPr>
          <a:xfrm>
            <a:off x="6664300" y="2686050"/>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Be able to state, without notes, why analysis precedes execution and what specifically you look for while reading exploit code.</a:t>
            </a:r>
            <a:endParaRPr lang="en-US" sz="1875" dirty="0"/>
          </a:p>
        </p:txBody>
      </p:sp>
      <p:sp>
        <p:nvSpPr>
          <p:cNvPr id="11" name="Shape 9"/>
          <p:cNvSpPr/>
          <p:nvPr/>
        </p:nvSpPr>
        <p:spPr>
          <a:xfrm>
            <a:off x="12052250" y="2128838"/>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2366963"/>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CARRY FORWARD</a:t>
            </a:r>
            <a:endParaRPr lang="en-US" sz="1500" dirty="0"/>
          </a:p>
        </p:txBody>
      </p:sp>
      <p:sp>
        <p:nvSpPr>
          <p:cNvPr id="13" name="Text 11"/>
          <p:cNvSpPr/>
          <p:nvPr/>
        </p:nvSpPr>
        <p:spPr>
          <a:xfrm>
            <a:off x="12290375" y="2686050"/>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cross-referencing habit from Practical skill 3. Module 12 assumes an exploit was found here that does not simply work.</a:t>
            </a:r>
            <a:endParaRPr lang="en-US" sz="1875" dirty="0"/>
          </a:p>
        </p:txBody>
      </p:sp>
      <p:sp>
        <p:nvSpPr>
          <p:cNvPr id="14" name="Shape 12"/>
          <p:cNvSpPr/>
          <p:nvPr/>
        </p:nvSpPr>
        <p:spPr>
          <a:xfrm>
            <a:off x="800100" y="9210675"/>
            <a:ext cx="16687800" cy="9525"/>
          </a:xfrm>
          <a:prstGeom prst="rect">
            <a:avLst/>
          </a:prstGeom>
          <a:solidFill>
            <a:srgbClr val="2A2F3A"/>
          </a:solidFill>
          <a:ln/>
        </p:spPr>
      </p:sp>
      <p:sp>
        <p:nvSpPr>
          <p:cNvPr id="15" name="Text 13"/>
          <p:cNvSpPr/>
          <p:nvPr/>
        </p:nvSpPr>
        <p:spPr>
          <a:xfrm>
            <a:off x="800100" y="9432131"/>
            <a:ext cx="1796482" cy="261937"/>
          </a:xfrm>
          <a:prstGeom prst="rect">
            <a:avLst/>
          </a:prstGeom>
          <a:noFill/>
          <a:ln/>
        </p:spPr>
        <p:txBody>
          <a:bodyPr wrap="square" lIns="25400" tIns="25400" rIns="25400" bIns="25400" rtlCol="0" anchor="t">
            <a:normAutofit/>
          </a:bodyPr>
          <a:lstStyle/>
          <a:p>
            <a:pPr algn="l" indent="0" marL="0">
              <a:buNone/>
            </a:pPr>
            <a:r>
              <a:rPr lang="en-US" sz="1500" dirty="0">
                <a:solidFill>
                  <a:srgbClr val="8891A1"/>
                </a:solidFill>
                <a:latin typeface="Arial" pitchFamily="34" charset="0"/>
                <a:ea typeface="Arial" pitchFamily="34" charset="-122"/>
                <a:cs typeface="Arial" pitchFamily="34" charset="-120"/>
              </a:rPr>
              <a:t>My Cyber Academy</a:t>
            </a:r>
            <a:endParaRPr lang="en-US" sz="1500" dirty="0"/>
          </a:p>
        </p:txBody>
      </p:sp>
      <p:sp>
        <p:nvSpPr>
          <p:cNvPr id="16" name="Text 14"/>
          <p:cNvSpPr/>
          <p:nvPr/>
        </p:nvSpPr>
        <p:spPr>
          <a:xfrm>
            <a:off x="16763181" y="9410700"/>
            <a:ext cx="800919"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OS</a:t>
            </a:r>
            <a:pPr algn="l" indent="0" marL="0">
              <a:buNone/>
            </a:pPr>
            <a:r>
              <a:rPr lang="en-US" sz="1800" b="1" spc="150" kern="0" dirty="0">
                <a:solidFill>
                  <a:srgbClr val="8891A1"/>
                </a:solidFill>
                <a:latin typeface="Arial" pitchFamily="34" charset="0"/>
                <a:ea typeface="Arial" pitchFamily="34" charset="-122"/>
                <a:cs typeface="Arial" pitchFamily="34" charset="-120"/>
              </a:rPr>
              <a:t>CP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2026-08-01T10:04:04Z</dcterms:created>
  <dcterms:modified xsi:type="dcterms:W3CDTF">2026-08-01T10:04:04Z</dcterms:modified>
</cp:coreProperties>
</file>