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24, the final module. Entirely descriptive — how to approach the Challenge Labs and the exam, not new technique. Note for delivery: lab environments themselves are outside MCA course scope; this module covers the conceptual orientation the syllabus specifies.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units. Challenge Lab Details carries five objectives — the largest unit, and mostly about how to correctly read a scenario rather than any new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24 of 24. The final module in the official syllabus, closing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Orientation. This module is Module 1's mirror image — both are entirely about the course itself rather than technique, one opening it and one closing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24.1. Three objectives on what the Challenge Labs actually are, before any of their specific conventions.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24.1, task 1. Different kinds of labs exist — not a single undifferentiated pool of machines.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24.1, task 2. A high-level overview of each scenario — orientation before entry, not a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24.1, task 3. How to treat the mock Challenge Labs specifically — practice environments that rehearse exam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24.1 before the details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24.2 — the largest unit, five objectives on the specific conventions and traps built into Challenge Lab 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24.2, task 1. Dependency — a direct callback to Module 23's whole structure, now named as its own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24.2, task 2. IP address ordering — a specific, named misconception the syllabus corrects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24.2, task 3. Decoy machines — hosts that exist to be inconclusive, not to be beaten.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24.2, task 4. Routers and NAT — network topology considerations that affect what is reachable from 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24.2, task 5. How to treat credentials found across a scenario — reuse discipline, closing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24.2, then the exam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24.3 — a single objective, closing the entire syllabus.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24.3, single task. This is the final stated objective in the entire official syllabus. Keep this grounded in the course's own framing — an assessment of demonstrated, unaided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24.3, then the applied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Discussion. Five minutes in pairs. Listening for correct application of dependency, decoy recognition, and credential tracking together, not any single concept in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1. Tracking every credential across a whole scenario, not just per-host — direct application of Objective 24.2's final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2. Timeboxing suspected decoys — direct, practical application of Module 3's time allotment strategy to this specific trap.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3. Mapping network topology deliberately when routers or NAT are suspected, rather than assuming a target is simply unreachable.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Acronym table — a short one, since this module is concept-heavy rather than tool-heavy.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Misconceptions. The IP-ordering one is named explicitly in the syllabus as a misconception worth correcting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number. Three units, and the final module of the entire official syllabus.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check. Answer is B. Also appears as Q1 of the module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Summary. Three units in three lines — the final summary of the final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slide of the entire course. Close by connecting back to Module 1's increasing-uncertainty model — the whole course was building towards exactly this level of self-directed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24 OF 24 · OFFSEC PEN-200 (PWK)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81100"/>
            <a:ext cx="1835658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Harder: The Labs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800100" y="2265015"/>
            <a:ext cx="1373505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25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overview of the PWK Challenge Labs, the details and conventions that govern them, and information about the OSCP certification exam.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08178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577084"/>
            <a:ext cx="1835658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module covers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800100" y="44619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6429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6524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716735"/>
            <a:ext cx="349400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PWK Challenge Lab Overview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43349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61446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62399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688285"/>
            <a:ext cx="255086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Lab Details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64050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5860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5955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659835"/>
            <a:ext cx="332521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OSCP Exam Information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171405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CONTEXT · 24 LEARNING MODULES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20935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Module 24 sits in PEN-200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287610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299992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2975" y="3233291"/>
            <a:ext cx="234225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Course Introduction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5000625" y="287610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0" y="299992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43500" y="3233291"/>
            <a:ext cx="242537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Cybersecurity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9201150" y="287610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44025" y="299992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44025" y="3233291"/>
            <a:ext cx="238541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Learning Strategies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3401675" y="287610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44550" y="299992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44550" y="3233291"/>
            <a:ext cx="312066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Writing for Penetration Testers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800100" y="369287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2975" y="381669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2975" y="4050060"/>
            <a:ext cx="183118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Gathering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5000625" y="369287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0" y="381669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3500" y="4050060"/>
            <a:ext cx="18587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201150" y="369287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4025" y="381669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44025" y="4050060"/>
            <a:ext cx="270493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Web Applications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3401675" y="369287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44550" y="381669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544550" y="4050060"/>
            <a:ext cx="28205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Web Application Attacks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800100" y="450964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975" y="463346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2975" y="4866829"/>
            <a:ext cx="179419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Attacks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5000625" y="450964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0" y="463346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43500" y="4866829"/>
            <a:ext cx="16199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Attacks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9201150" y="450964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4025" y="463346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44025" y="4866829"/>
            <a:ext cx="198000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Public Exploits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13401675" y="450964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544550" y="463346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544550" y="4866829"/>
            <a:ext cx="122351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Exploits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800100" y="532641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2975" y="545023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2975" y="5683597"/>
            <a:ext cx="144385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Evasion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5000625" y="532641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43500" y="545023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43500" y="5683597"/>
            <a:ext cx="149981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9201150" y="532641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44025" y="545023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344025" y="5683597"/>
            <a:ext cx="241280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Privilege Escalation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13401675" y="532641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544550" y="545023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544550" y="5683597"/>
            <a:ext cx="210405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Privilege Escalation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800100" y="614317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2975" y="626700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42975" y="6500366"/>
            <a:ext cx="294774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Redirection and SSH Tunneling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5000625" y="614317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43500" y="626700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143500" y="6500366"/>
            <a:ext cx="170557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Tunneling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9201150" y="614317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44025" y="626700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344025" y="6500366"/>
            <a:ext cx="221716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Metasploit Framework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13401675" y="614317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544550" y="626700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3544550" y="6500366"/>
            <a:ext cx="274839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Introduction and Enumeration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800100" y="695994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2975" y="708377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42975" y="7317135"/>
            <a:ext cx="233935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AD Authentication</a:t>
            </a:r>
            <a:endParaRPr lang="en-US" sz="1425" dirty="0"/>
          </a:p>
        </p:txBody>
      </p:sp>
      <p:sp>
        <p:nvSpPr>
          <p:cNvPr id="68" name="Shape 66"/>
          <p:cNvSpPr/>
          <p:nvPr/>
        </p:nvSpPr>
        <p:spPr>
          <a:xfrm>
            <a:off x="5000625" y="695994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43500" y="708377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143500" y="7317135"/>
            <a:ext cx="199489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 in AD</a:t>
            </a:r>
            <a:endParaRPr lang="en-US" sz="1425" dirty="0"/>
          </a:p>
        </p:txBody>
      </p:sp>
      <p:sp>
        <p:nvSpPr>
          <p:cNvPr id="71" name="Shape 69"/>
          <p:cNvSpPr/>
          <p:nvPr/>
        </p:nvSpPr>
        <p:spPr>
          <a:xfrm>
            <a:off x="9201150" y="695994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44025" y="708377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344025" y="7317135"/>
            <a:ext cx="189376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Assembling the Pieces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13401675" y="695994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6A00">
              <a:alpha val="12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544550" y="708377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3544550" y="7317135"/>
            <a:ext cx="219372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Harder: The Labs</a:t>
            </a:r>
            <a:endParaRPr lang="en-US" sz="1425" dirty="0"/>
          </a:p>
        </p:txBody>
      </p:sp>
      <p:sp>
        <p:nvSpPr>
          <p:cNvPr id="77" name="Text 75"/>
          <p:cNvSpPr/>
          <p:nvPr/>
        </p:nvSpPr>
        <p:spPr>
          <a:xfrm>
            <a:off x="800100" y="7910066"/>
            <a:ext cx="1530477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weightings: information not defined in the official exam outline. Note: this module's content is entirely Challenge Lab and exam orientation — MCA delivers it descriptively; hands-on lab access sits outside course scope.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498056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993356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course's mirror image of Module 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660106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898231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TECHNIQUE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217319"/>
            <a:ext cx="510810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Module 1, this module teaches nothing technical — it orients the learner, this time towards the labs and the exam rather than the course.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660106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4898231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SCENARIOS CORRECTLY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217319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24.2's five tasks are about interpreting a Challenge Lab scenario accurately, not new attack technique.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660106"/>
            <a:ext cx="5435650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4898231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DESTINATION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217319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24.3 closes the entire syllabus with information about the certification the whole course has been building towards.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29050" y="3910980"/>
            <a:ext cx="22298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321706" y="4425330"/>
            <a:ext cx="1164451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304"/>
              </a:lnSpc>
              <a:buNone/>
            </a:pPr>
            <a:r>
              <a:rPr lang="en-US" sz="60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PWK Challenge Lab Overview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767013" y="5492130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 kinds of Challenge Labs, a high-level overview of each scenario, and how to treat the mock OSCP Challenge Labs.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27983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56872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24.1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about the different kinds of Challenge Labs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Labs are not a single undifferentiated pool of machines. Different lab types are structured around different scenarios and objectives, and recognising which kind is in front of you shapes how you approach it.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Approaching every lab identically, regardless of its type, ignores structure the syllabus deliberately built in.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all labs mirror the exact structure of Module 23's Assembling the Pieces scenario. Different lab types vary deliberately.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52242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81859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24.1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Obtaining a high-level overview of each scenario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entering a specific Challenge Lab, a high-level overview establishes what the scenario broadly involves — orientation before entry, not a detailed walkthrough that would remove the value of the exercise.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mirrors Module 1's Summary of PWK Learning Modules objective — a map, not a script, of what lies ahead.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1's course-summary objective directly — the same orientation instinct, applied to the labs specifically.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3057376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787147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24.1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how to treat the mock OSCP Challenge Labs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Challenge Labs are structured to rehearse exam-like conditions specifically. Treating them with the same discipline as the actual exam — rather than as casual practice — makes them a genuine readiness signal.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3's readiness objective stated that readiness is evidenced by unaided performance on unseen material — mock labs are exactly that evidence, if taken seriously.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3's recognising-readiness objective and practical exam approach, applied concretely here.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83143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24.1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2673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Lab Overview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EXISTS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lab kinds are built around different scenarios, deserving different approaches.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LABS ARE EVIDENCE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Treated seriously, they are the unaided-performance evidence Module 3 defines as genuine readiness.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9487" y="3870945"/>
            <a:ext cx="226895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432072" y="4385295"/>
            <a:ext cx="942385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Lab Details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2521744" y="5532090"/>
            <a:ext cx="13244513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Dependency, the lack of meaning in IP address ordering, decoy machines, routers and NAT, and how to treat credentials and password attacks.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6027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90137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24.2 · Task 1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concept of dependency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and stages within a Challenge Lab scenario frequently depend on one another — access to one host, or information gathered from it, may be required before another becomes reachable at all.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Module 23's whole structure, named explicitly as its own concept — a stalled machine may simply be waiting on a dependency from elsewhere.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23's entire six-stage chain, which is dependency exactly as described here, demonstrated at length.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3084537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815123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24.2 · Task 2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lack of meaning inherent to IP address ordering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 in which target IP addresses are listed or numbered carries no inherent meaning about difficulty, sequence, or importance — it is simply an address, not a hint.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routinely assume lower or sequential addresses indicate an intended starting point, wasting effort chasing a pattern that was never there.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strategy based on address order rather than on actual enumeration findings.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89672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820412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24.2 · Task 3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about the concept of “decoy” machines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machines in a scenario are decoys — present to consume time and attention without contributing to the intended objective, rather than representing a required or even worthwhile target.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Recognising a decoy early prevents sinking disproportionate time into a host that was never going to yield the intended path forward.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3's time allotment strategy — timeboxing a target and moving on is exactly the discipline that limits decoy cost.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9324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82409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24.2 · Task 4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routers and NAT affect the scenarios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Routers and network address translation shape which hosts are reachable from which vantage point within a scenario, sometimes requiring a pivot or tunnel from Module 17 before a target becomes reachable at all.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target that appears unreachable may simply require the correct pivot through NAT or a router boundary, rather than being genuinely inaccessible.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17's port forwarding and SSH tunnelling content, directly relevant whenever a router or NAT boundary is in play.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33043"/>
            <a:ext cx="3088853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18768"/>
            <a:ext cx="2819569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24.2 · Task 5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675980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treat credentials and password attacks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42730"/>
            <a:ext cx="15304770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recovered on one machine within a scenario are frequently relevant to another — through reuse, shared service accounts, or domain-wide validity — and should be tracked and retried systematically rather than discarded once their original purpose is served.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791870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6029995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349082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credential dismissed as no longer useful on its original host may be exactly what a later, seemingly unrelated machine requires.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791870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6029995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349082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14's credential attacks and Module 23's validated-credentials step, both of which depend on exactly this kind of systematic tracking.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24.2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Lab Details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between machines, and the complete absence of meaning in IP address ordering.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TRAPS AND TOPOLOGY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Decoy machines that cost time without payoff, and routers or NAT that require the correct pivot.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 and retried systematically across the whole scenario, not discarded after first use.</a:t>
            </a:r>
            <a:endParaRPr lang="en-US" sz="18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8341" y="4091955"/>
            <a:ext cx="227124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020965" y="4606305"/>
            <a:ext cx="12246069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OSCP Exam Information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144243" y="5753100"/>
            <a:ext cx="59995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about the OSCP Certification Exam.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33043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6208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24.3 · Task 1 of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about the OSCP Certification Exam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stated objective of the entire official syllabus is understanding the OSCP certification exam itself — the assessment the whole course has been building towards since Module 1.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practical skill across 23 modules and every piece of exam advice from Module 3 converges on this single assessment.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3's exam-stress management, readiness recognition, and practical exam approach — all written in direct anticipation of this exam.</a:t>
            </a:r>
            <a:endParaRPr lang="en-US" sz="18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4161979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24.3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65727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OSCP Exam — what you should now hold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0100" y="532402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of the certification exam as the course's final destination — the assessment that every earlier module, and Module 3's exam guidance specifically, has been preparing you for.</a:t>
            </a:r>
            <a:endParaRPr lang="en-US" sz="21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94017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SCENARIO · DISCUSSION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43547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through a stalled Challenge Lab machine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0100" y="4102224"/>
            <a:ext cx="15304770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Challenge Lab, one machine has yielded a low-privileged credential that does not escalate locally. A second, seemingly unrelated machine on the same network has been enumerated but not yet attempted, and appears to sit behind a router boundary.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800100" y="5551363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8225" y="5789488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8225" y="610857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concept from Objective 24.2 suggests trying the first machine's credential against the second, rather than discarding it?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426175" y="5551363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4300" y="5789488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64300" y="6108576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from Module 17 might be required before the second machine is even reachable?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052250" y="5551363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90375" y="5789488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90375" y="6108576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distinguish this second machine from a decoy before investing further time in it?</a:t>
            </a:r>
            <a:endParaRPr lang="en-US" sz="18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2350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3775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Maintaining a scenario-wide credential tracker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every credential found anywhere in a scenario in one place, and retry each systematically against every other host encountered, rather than tracking credentials only per individual machine.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reuse across machines is common enough in these scenarios that a systematic tracker outperforms memory alone.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4's note discipline, applied specifically to credential material across a multi-host scenario.</a:t>
            </a:r>
            <a:endParaRPr lang="en-US" sz="18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4776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201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Timeboxing a suspected decoy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firm time limit before investing further effort in a machine that shows no sign of contributing to the intended path, and move on if that limit is reached without progress.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the time limit before starting on the machine, and treat reaching it as a genuine signal to rotate elsewhere, not a failure.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3's time allotment strategy, applied directly to the decoy machine concept from this module.</a:t>
            </a:r>
            <a:endParaRPr lang="en-US" sz="18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5289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714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topology before concluding a target is unreachable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target appears unreachable, explicitly map the network topology — routers, NAT boundaries, and required pivots — before concluding the host is genuinely out of scope or inaccessible.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Module 17's tunnelling techniques deliberately once a router or NAT boundary is suspected, rather than abandoning the target.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17's full port forwarding and SSH tunnelling content, the direct practical answer to this specific scenario detail.</a:t>
            </a:r>
            <a:endParaRPr lang="en-US" sz="18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071813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ACRONYM SPOTLIGHT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567113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introduced in Module 24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233863"/>
            <a:ext cx="2781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724400"/>
            <a:ext cx="2781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348163"/>
            <a:ext cx="25599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81400" y="4233863"/>
            <a:ext cx="4686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581400" y="4724400"/>
            <a:ext cx="4686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733800" y="4348163"/>
            <a:ext cx="45220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67700" y="4233863"/>
            <a:ext cx="92202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267700" y="4724400"/>
            <a:ext cx="92202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8420100" y="4348163"/>
            <a:ext cx="919200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appears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0100" y="4733925"/>
            <a:ext cx="2781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5476875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4838700"/>
            <a:ext cx="255993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581400" y="4733925"/>
            <a:ext cx="4686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581400" y="5476875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9" name="Text 17"/>
          <p:cNvSpPr/>
          <p:nvPr/>
        </p:nvSpPr>
        <p:spPr>
          <a:xfrm>
            <a:off x="3733800" y="4838700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machine or stage requiring another before it becomes reachable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67700" y="4733925"/>
            <a:ext cx="92202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267700" y="5476875"/>
            <a:ext cx="9220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8420100" y="4838700"/>
            <a:ext cx="919200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0100" y="6229350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591175"/>
            <a:ext cx="255993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Decoy machine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581400" y="6229350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733800" y="5591175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host present to consume time without contributing to the objective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267700" y="6229350"/>
            <a:ext cx="9220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8420100" y="5591175"/>
            <a:ext cx="919200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24.2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0100" y="6238875"/>
            <a:ext cx="2781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" y="6715125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6343650"/>
            <a:ext cx="25599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581400" y="6238875"/>
            <a:ext cx="4686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581400" y="6715125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3733800" y="6343650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Address Translation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267700" y="6238875"/>
            <a:ext cx="92202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267700" y="6715125"/>
            <a:ext cx="9220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7" name="Text 35"/>
          <p:cNvSpPr/>
          <p:nvPr/>
        </p:nvSpPr>
        <p:spPr>
          <a:xfrm>
            <a:off x="8420100" y="6343650"/>
            <a:ext cx="9192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24.2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00100" y="7200900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9" name="Text 37"/>
          <p:cNvSpPr/>
          <p:nvPr/>
        </p:nvSpPr>
        <p:spPr>
          <a:xfrm>
            <a:off x="952500" y="6829425"/>
            <a:ext cx="25599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OSCP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581400" y="7200900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1" name="Text 39"/>
          <p:cNvSpPr/>
          <p:nvPr/>
        </p:nvSpPr>
        <p:spPr>
          <a:xfrm>
            <a:off x="3733800" y="6829425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OffSec Certified Professional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267700" y="7200900"/>
            <a:ext cx="9220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3" name="Text 41"/>
          <p:cNvSpPr/>
          <p:nvPr/>
        </p:nvSpPr>
        <p:spPr>
          <a:xfrm>
            <a:off x="8420100" y="6829425"/>
            <a:ext cx="9192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24.3, the course's final destination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04787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54317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learners get wrong about Module 24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209925"/>
            <a:ext cx="8239125" cy="1685925"/>
          </a:xfrm>
          <a:prstGeom prst="roundRect">
            <a:avLst>
              <a:gd name="adj" fmla="val 904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3448050"/>
            <a:ext cx="7995761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“LOWER OR SEQUENTIAL IP ADDRESSES INDICATE THE STARTING POINT”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3990975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address ordering carries no inherent meaning — the syllabus names this directly as a misconception to avoid.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3209925"/>
            <a:ext cx="8239125" cy="1685925"/>
          </a:xfrm>
          <a:prstGeom prst="roundRect">
            <a:avLst>
              <a:gd name="adj" fmla="val 904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3448050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 MACHINE IN A SCENARIO MUST BE FULLY COMPROMISED”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3767138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Decoy machines exist specifically to consume time without contributing to the intended objective.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800100" y="5105400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8225" y="5343525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CREDENTIAL IS ONLY USEFUL ON THE HOST IT WAS FOUND ON”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8225" y="5662613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are frequently reused or shared across machines and should be tracked and retried systematically.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48775" y="5105400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6900" y="5343525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“AN UNREACHABLE HOST IS SIMPLY OUT OF SCOPE”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86900" y="5662613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may instead require the correct pivot through a router or NAT boundary using Module 17's techniques.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800100" y="6777038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8225" y="7015163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“MOCK CHALLENGE LABS ARE CASUAL PRACTICE”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38225" y="7334250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Treated with exam-level discipline, they are the unaided-performance evidence Module 3 defines as genuine readiness.</a:t>
            </a:r>
            <a:endParaRPr lang="en-US" sz="18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451147" y="3273326"/>
            <a:ext cx="33857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24 IN CONTEXT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96090" y="3749576"/>
            <a:ext cx="2095746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000" b="1" spc="-30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555507" y="5502176"/>
            <a:ext cx="15176986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381"/>
              </a:lnSpc>
              <a:buNone/>
            </a:pPr>
            <a:r>
              <a:rPr lang="en-US" sz="3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24 — the final Learning Module in the official PEN-200 syllabus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3257550" y="6212681"/>
            <a:ext cx="1177290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Lab Overview, Challenge Lab Details, and the OSCP Exam Information. Percentage weightings per module: information not defined in the official exam outline.</a:t>
            </a:r>
            <a:endParaRPr lang="en-US" sz="21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69557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19087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ordering of target IP addresses in a Challenge Lab scenario indicate?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93382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11480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12432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188619"/>
            <a:ext cx="493269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intended order to attack the machines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488632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6A00">
              <a:alpha val="10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06730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07682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141119"/>
            <a:ext cx="684148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— IP address ordering carries no inherent meaning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583882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01980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02932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093619"/>
            <a:ext cx="304592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machine is a decoy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679132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697230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698182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7046119"/>
            <a:ext cx="510008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machine sits behind a NAT boundary</a:t>
            </a:r>
            <a:endParaRPr lang="en-US" sz="1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614166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SUMMARY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109466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24 in three 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776216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3957191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3966716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031010"/>
            <a:ext cx="1117785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Challenge Lab kinds exist; mock labs, treated seriously, are genuine readiness evidence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4728716"/>
            <a:ext cx="16687800" cy="942975"/>
          </a:xfrm>
          <a:prstGeom prst="roundRect">
            <a:avLst>
              <a:gd name="adj" fmla="val 1414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4981129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4990654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4909691"/>
            <a:ext cx="1575606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Dependency, meaningless IP ordering, decoy machines, router and NAT topology, and systematic credential tracking govern how scenarios behave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5824091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005066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014591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078885"/>
            <a:ext cx="1235305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OSCP certification exam is the course's final destination, prepared for directly by Module 3's guidance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00100" y="687184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closes the official syllabus. Every technique from Modules 1 through 23 converges here, in the labs and the exam that follow.</a:t>
            </a:r>
            <a:endParaRPr lang="en-US" sz="21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COMPLETE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43000"/>
            <a:ext cx="1835658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41"/>
              </a:lnSpc>
              <a:buNone/>
            </a:pPr>
            <a:r>
              <a:rPr lang="en-US" sz="52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of 24 Learning Modules</a:t>
            </a:r>
            <a:endParaRPr lang="en-US" sz="5250" dirty="0"/>
          </a:p>
        </p:txBody>
      </p:sp>
      <p:sp>
        <p:nvSpPr>
          <p:cNvPr id="5" name="Shape 3"/>
          <p:cNvSpPr/>
          <p:nvPr/>
        </p:nvSpPr>
        <p:spPr>
          <a:xfrm>
            <a:off x="800100" y="2128838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STARTED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2686050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1's increasing-uncertainty model, and a map of the course you have now completed in full.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2128838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ARE NOW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2686050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Equipped with every technique needed to approach the Challenge Labs and the OSCP exam with minimal external guidance.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2128838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2366963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2686050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Labs themselves, then the certification exam — both outside this course's direct delivery, both prepared for directly by it.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2026-08-01T10:57:35Z</dcterms:created>
  <dcterms:modified xsi:type="dcterms:W3CDTF">2026-08-01T10:57:35Z</dcterms:modified>
</cp:coreProperties>
</file>