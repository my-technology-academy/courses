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Lst>
  <p:notesMasterIdLst>
    <p:notesMasterId r:id="rId30"/>
  </p:notesMaster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notesMaster" Target="notesMasters/notesMaster1.xml"/><Relationship Id="rId31" Type="http://schemas.openxmlformats.org/officeDocument/2006/relationships/presProps" Target="presProps.xml"/><Relationship Id="rId32" Type="http://schemas.openxmlformats.org/officeDocument/2006/relationships/viewProps" Target="viewProps.xml"/><Relationship Id="rId33" Type="http://schemas.openxmlformats.org/officeDocument/2006/relationships/theme" Target="theme/theme1.xml"/><Relationship Id="rId3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10. First deliberate shift of target from server to person. Set the tone: everything so far attacked a service; this module attacks a user's workstation instead.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units, moving from reconnaissance through two named delivery mechanisms.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10 of 24. First module after the web application block, and the first genuine shift in target from server to person.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Orientation. When a service-side path is unavailable, the person operating the workstation becomes the entry point instead.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Divider into 10.1. Two objectives establishing the groundwork before either delivery mechanism is used.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 10.1, task 1. Gathering information before crafting anything. This connects directly back to Module 5's OSINT unit.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 10.1, task 2. Fingerprinting the client software itself — the workstation's software stack, not just the person.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Recap 10.1 before the two delivery mechanisms.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Divider into 10.2. Two objectives, the first of two named delivery mechanisms.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 10.2, task 1. Variations exist beyond macros — the syllabus asks learners to understand the range before focusing on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 10.2, task 2. Installing Office is itself a stated objective — a practical lab-environment necessity for testing payloads before delivery.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 10.2, task 3. Macros — the named delivery mechanism. Keep the description conceptual: what a macro is and why it executes, not a step-by-step build.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Recap 10.2.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Divider into 10.3 — the second named delivery mechanism, and a quieter one than a macro warning.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 10.3, task 1. Preparing the library file itself — a Windows mechanism most learners have never deliberately used.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 10.3, task 2. Shortcuts as the delivery vehicle for code execution — quieter than a macro's security warning.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Critical distinction closing the module. Both are delivery mechanisms; they differ in warning behaviour and required pretext.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Recap 10.3, then into the applied scenario.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Discussion. Five minutes in pairs. Listening for correct use of reconnaissance to choose a mechanism, not just naming the mechanisms.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Practical skill 1. Test-fire the payload in a matching environment before delivery — direct application of Objective 10.2's install-Office objective.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Practical skill 2. Building the pretext from the reconnaissance, not the other way around.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Practical skill 3. Documentation discipline specific to client-side attacks — record the pretext and mechanism, since the artefact itself may not persist on the target.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Acronym table — a short one; this module introduces fewer standalone acronyms than most.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Misconceptions. The 'client-side means less technical' one is the most damaging — this module produces genuine code execution, not merely social engineering.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Big number. Three units, two named delivery mechanisms, one shared reconnaissance foundation.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Knowledge check. Answer is B. Also appears as Q1 of the module quiz.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Summary. Three units in three lines.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Preview Module 11 — from delivering a payload to finding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800100" y="609600"/>
            <a:ext cx="18356580" cy="285750"/>
          </a:xfrm>
          <a:prstGeom prst="rect">
            <a:avLst/>
          </a:prstGeom>
          <a:noFill/>
          <a:ln/>
        </p:spPr>
        <p:txBody>
          <a:bodyPr wrap="square" lIns="25400" tIns="25400" rIns="25400" bIns="25400" rtlCol="0" anchor="t">
            <a:normAutofit/>
          </a:bodyPr>
          <a:lstStyle/>
          <a:p>
            <a:pPr algn="l" indent="0" marL="0">
              <a:buNone/>
            </a:pPr>
            <a:r>
              <a:rPr lang="en-US" sz="1650" b="1" spc="225" kern="0" dirty="0">
                <a:solidFill>
                  <a:srgbClr val="FF6A00"/>
                </a:solidFill>
                <a:latin typeface="Arial" pitchFamily="34" charset="0"/>
                <a:ea typeface="Arial" pitchFamily="34" charset="-122"/>
                <a:cs typeface="Arial" pitchFamily="34" charset="-120"/>
              </a:rPr>
              <a:t>MODULE 10 OF 24 · OFFSEC PEN-200 (PWK)</a:t>
            </a:r>
            <a:endParaRPr lang="en-US" sz="1650" dirty="0"/>
          </a:p>
        </p:txBody>
      </p:sp>
      <p:sp>
        <p:nvSpPr>
          <p:cNvPr id="4" name="Text 2"/>
          <p:cNvSpPr/>
          <p:nvPr/>
        </p:nvSpPr>
        <p:spPr>
          <a:xfrm>
            <a:off x="800100" y="1181100"/>
            <a:ext cx="18356580" cy="918195"/>
          </a:xfrm>
          <a:prstGeom prst="rect">
            <a:avLst/>
          </a:prstGeom>
          <a:noFill/>
          <a:ln/>
        </p:spPr>
        <p:txBody>
          <a:bodyPr wrap="square" lIns="25400" tIns="25400" rIns="25400" bIns="25400" rtlCol="0" anchor="t">
            <a:normAutofit/>
          </a:bodyPr>
          <a:lstStyle/>
          <a:p>
            <a:pPr algn="l" indent="0" marL="0">
              <a:lnSpc>
                <a:spcPct val="91485"/>
              </a:lnSpc>
              <a:buNone/>
            </a:pPr>
            <a:r>
              <a:rPr lang="en-US" sz="6600" b="1" spc="-37" kern="0" dirty="0">
                <a:solidFill>
                  <a:srgbClr val="F5F7FB"/>
                </a:solidFill>
                <a:latin typeface="Arial" pitchFamily="34" charset="0"/>
                <a:ea typeface="Arial" pitchFamily="34" charset="-122"/>
                <a:cs typeface="Arial" pitchFamily="34" charset="-120"/>
              </a:rPr>
              <a:t>Client-Side Attacks</a:t>
            </a:r>
            <a:endParaRPr lang="en-US" sz="6600" dirty="0"/>
          </a:p>
        </p:txBody>
      </p:sp>
      <p:sp>
        <p:nvSpPr>
          <p:cNvPr id="5" name="Text 3"/>
          <p:cNvSpPr/>
          <p:nvPr/>
        </p:nvSpPr>
        <p:spPr>
          <a:xfrm>
            <a:off x="800100" y="2385045"/>
            <a:ext cx="13735050" cy="977205"/>
          </a:xfrm>
          <a:prstGeom prst="rect">
            <a:avLst/>
          </a:prstGeom>
          <a:noFill/>
          <a:ln/>
        </p:spPr>
        <p:txBody>
          <a:bodyPr wrap="square" lIns="25400" tIns="25400" rIns="25400" bIns="25400" rtlCol="0" anchor="t">
            <a:normAutofit/>
          </a:bodyPr>
          <a:lstStyle/>
          <a:p>
            <a:pPr algn="l" indent="0" marL="0">
              <a:lnSpc>
                <a:spcPct val="126410"/>
              </a:lnSpc>
              <a:buNone/>
            </a:pPr>
            <a:r>
              <a:rPr lang="en-US" sz="2550" dirty="0">
                <a:solidFill>
                  <a:srgbClr val="B8C0CF"/>
                </a:solidFill>
                <a:latin typeface="Arial" pitchFamily="34" charset="0"/>
                <a:ea typeface="Arial" pitchFamily="34" charset="-122"/>
                <a:cs typeface="Arial" pitchFamily="34" charset="-120"/>
              </a:rPr>
              <a:t>Target reconnaissance and fingerprinting, exploiting Microsoft Office, and abusing Windows library files to obtain code execution on a user's workstation.</a:t>
            </a:r>
            <a:endParaRPr lang="en-US" sz="2550" dirty="0"/>
          </a:p>
        </p:txBody>
      </p:sp>
      <p:sp>
        <p:nvSpPr>
          <p:cNvPr id="6" name="Shape 4"/>
          <p:cNvSpPr/>
          <p:nvPr/>
        </p:nvSpPr>
        <p:spPr>
          <a:xfrm>
            <a:off x="800100" y="9210675"/>
            <a:ext cx="16687800" cy="9525"/>
          </a:xfrm>
          <a:prstGeom prst="rect">
            <a:avLst/>
          </a:prstGeom>
          <a:solidFill>
            <a:srgbClr val="2A2F3A"/>
          </a:solidFill>
          <a:ln/>
        </p:spPr>
      </p:sp>
      <p:sp>
        <p:nvSpPr>
          <p:cNvPr id="7" name="Text 5"/>
          <p:cNvSpPr/>
          <p:nvPr/>
        </p:nvSpPr>
        <p:spPr>
          <a:xfrm>
            <a:off x="800100" y="9432131"/>
            <a:ext cx="1796482" cy="261937"/>
          </a:xfrm>
          <a:prstGeom prst="rect">
            <a:avLst/>
          </a:prstGeom>
          <a:noFill/>
          <a:ln/>
        </p:spPr>
        <p:txBody>
          <a:bodyPr wrap="square" lIns="25400" tIns="25400" rIns="25400" bIns="25400" rtlCol="0" anchor="t">
            <a:normAutofit/>
          </a:bodyPr>
          <a:lstStyle/>
          <a:p>
            <a:pPr algn="l" indent="0" marL="0">
              <a:buNone/>
            </a:pPr>
            <a:r>
              <a:rPr lang="en-US" sz="1500" dirty="0">
                <a:solidFill>
                  <a:srgbClr val="8891A1"/>
                </a:solidFill>
                <a:latin typeface="Arial" pitchFamily="34" charset="0"/>
                <a:ea typeface="Arial" pitchFamily="34" charset="-122"/>
                <a:cs typeface="Arial" pitchFamily="34" charset="-120"/>
              </a:rPr>
              <a:t>My Cyber Academy</a:t>
            </a:r>
            <a:endParaRPr lang="en-US" sz="1500" dirty="0"/>
          </a:p>
        </p:txBody>
      </p:sp>
      <p:sp>
        <p:nvSpPr>
          <p:cNvPr id="8" name="Text 6"/>
          <p:cNvSpPr/>
          <p:nvPr/>
        </p:nvSpPr>
        <p:spPr>
          <a:xfrm>
            <a:off x="16763181" y="9410700"/>
            <a:ext cx="800919" cy="304800"/>
          </a:xfrm>
          <a:prstGeom prst="rect">
            <a:avLst/>
          </a:prstGeom>
          <a:noFill/>
          <a:ln/>
        </p:spPr>
        <p:txBody>
          <a:bodyPr wrap="square" lIns="25400" tIns="25400" rIns="25400" bIns="25400" rtlCol="0" anchor="t">
            <a:normAutofit/>
          </a:bodyPr>
          <a:lstStyle/>
          <a:p>
            <a:pPr algn="l" indent="0" marL="0">
              <a:buNone/>
            </a:pPr>
            <a:r>
              <a:rPr lang="en-US" sz="1800" b="1" spc="150" kern="0" dirty="0">
                <a:solidFill>
                  <a:srgbClr val="FF6A00"/>
                </a:solidFill>
                <a:latin typeface="Arial" pitchFamily="34" charset="0"/>
                <a:ea typeface="Arial" pitchFamily="34" charset="-122"/>
                <a:cs typeface="Arial" pitchFamily="34" charset="-120"/>
              </a:rPr>
              <a:t>OS</a:t>
            </a:r>
            <a:pPr algn="l" indent="0" marL="0">
              <a:buNone/>
            </a:pPr>
            <a:r>
              <a:rPr lang="en-US" sz="1800" b="1" spc="150" kern="0" dirty="0">
                <a:solidFill>
                  <a:srgbClr val="8891A1"/>
                </a:solidFill>
                <a:latin typeface="Arial" pitchFamily="34" charset="0"/>
                <a:ea typeface="Arial" pitchFamily="34" charset="-122"/>
                <a:cs typeface="Arial" pitchFamily="34" charset="-120"/>
              </a:rPr>
              <a:t>CP</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800100" y="3081784"/>
            <a:ext cx="18356580" cy="285750"/>
          </a:xfrm>
          <a:prstGeom prst="rect">
            <a:avLst/>
          </a:prstGeom>
          <a:noFill/>
          <a:ln/>
        </p:spPr>
        <p:txBody>
          <a:bodyPr wrap="square" lIns="25400" tIns="25400" rIns="25400" bIns="25400" rtlCol="0" anchor="t">
            <a:normAutofit/>
          </a:bodyPr>
          <a:lstStyle/>
          <a:p>
            <a:pPr algn="l" indent="0" marL="0">
              <a:buNone/>
            </a:pPr>
            <a:r>
              <a:rPr lang="en-US" sz="1650" b="1" spc="225" kern="0" dirty="0">
                <a:solidFill>
                  <a:srgbClr val="FF6A00"/>
                </a:solidFill>
                <a:latin typeface="Arial" pitchFamily="34" charset="0"/>
                <a:ea typeface="Arial" pitchFamily="34" charset="-122"/>
                <a:cs typeface="Arial" pitchFamily="34" charset="-120"/>
              </a:rPr>
              <a:t>LEARNING OBJECTIVES</a:t>
            </a:r>
            <a:endParaRPr lang="en-US" sz="1650" dirty="0"/>
          </a:p>
        </p:txBody>
      </p:sp>
      <p:sp>
        <p:nvSpPr>
          <p:cNvPr id="4" name="Text 2"/>
          <p:cNvSpPr/>
          <p:nvPr/>
        </p:nvSpPr>
        <p:spPr>
          <a:xfrm>
            <a:off x="800100" y="3577084"/>
            <a:ext cx="18356580" cy="618158"/>
          </a:xfrm>
          <a:prstGeom prst="rect">
            <a:avLst/>
          </a:prstGeom>
          <a:noFill/>
          <a:ln/>
        </p:spPr>
        <p:txBody>
          <a:bodyPr wrap="square" lIns="25400" tIns="25400" rIns="25400" bIns="25400" rtlCol="0" anchor="t">
            <a:normAutofit/>
          </a:bodyPr>
          <a:lstStyle/>
          <a:p>
            <a:pPr algn="l" indent="0" marL="0">
              <a:lnSpc>
                <a:spcPct val="90896"/>
              </a:lnSpc>
              <a:buNone/>
            </a:pPr>
            <a:r>
              <a:rPr lang="en-US" sz="4350" b="1" spc="-37" kern="0" dirty="0">
                <a:solidFill>
                  <a:srgbClr val="F5F7FB"/>
                </a:solidFill>
                <a:latin typeface="Arial" pitchFamily="34" charset="0"/>
                <a:ea typeface="Arial" pitchFamily="34" charset="-122"/>
                <a:cs typeface="Arial" pitchFamily="34" charset="-120"/>
              </a:rPr>
              <a:t>What this module covers</a:t>
            </a:r>
            <a:endParaRPr lang="en-US" sz="4350" dirty="0"/>
          </a:p>
        </p:txBody>
      </p:sp>
      <p:sp>
        <p:nvSpPr>
          <p:cNvPr id="5" name="Shape 3"/>
          <p:cNvSpPr/>
          <p:nvPr/>
        </p:nvSpPr>
        <p:spPr>
          <a:xfrm>
            <a:off x="800100" y="4461942"/>
            <a:ext cx="16687800" cy="800100"/>
          </a:xfrm>
          <a:prstGeom prst="roundRect">
            <a:avLst>
              <a:gd name="adj" fmla="val 16667"/>
            </a:avLst>
          </a:prstGeom>
          <a:solidFill>
            <a:srgbClr val="FFFFFF">
              <a:alpha val="2000"/>
            </a:srgbClr>
          </a:solidFill>
          <a:ln w="9525">
            <a:solidFill>
              <a:srgbClr val="2A2F3A"/>
            </a:solidFill>
            <a:prstDash val="solid"/>
          </a:ln>
        </p:spPr>
      </p:sp>
      <p:sp>
        <p:nvSpPr>
          <p:cNvPr id="6" name="Shape 4"/>
          <p:cNvSpPr/>
          <p:nvPr/>
        </p:nvSpPr>
        <p:spPr>
          <a:xfrm>
            <a:off x="1038225" y="4642917"/>
            <a:ext cx="723900" cy="438150"/>
          </a:xfrm>
          <a:prstGeom prst="roundRect">
            <a:avLst>
              <a:gd name="adj" fmla="val 50000"/>
            </a:avLst>
          </a:prstGeom>
          <a:solidFill>
            <a:srgbClr val="FF6A00">
              <a:alpha val="15000"/>
            </a:srgbClr>
          </a:solidFill>
          <a:ln w="9525">
            <a:solidFill>
              <a:srgbClr val="FF6A00">
                <a:alpha val="35000"/>
              </a:srgbClr>
            </a:solidFill>
            <a:prstDash val="solid"/>
          </a:ln>
        </p:spPr>
      </p:sp>
      <p:sp>
        <p:nvSpPr>
          <p:cNvPr id="7" name="Text 5"/>
          <p:cNvSpPr/>
          <p:nvPr/>
        </p:nvSpPr>
        <p:spPr>
          <a:xfrm>
            <a:off x="1009650" y="4652442"/>
            <a:ext cx="781050" cy="457200"/>
          </a:xfrm>
          <a:prstGeom prst="rect">
            <a:avLst/>
          </a:prstGeom>
          <a:noFill/>
          <a:ln/>
        </p:spPr>
        <p:txBody>
          <a:bodyPr wrap="square" lIns="25400" tIns="25400" rIns="25400" bIns="25400" rtlCol="0" anchor="ctr">
            <a:normAutofit/>
          </a:bodyPr>
          <a:lstStyle/>
          <a:p>
            <a:pPr algn="ctr" indent="0" marL="0">
              <a:buNone/>
            </a:pPr>
            <a:r>
              <a:rPr lang="en-US" sz="1650" b="1" dirty="0">
                <a:solidFill>
                  <a:srgbClr val="FFD9BF"/>
                </a:solidFill>
                <a:latin typeface="Arial" pitchFamily="34" charset="0"/>
                <a:ea typeface="Arial" pitchFamily="34" charset="-122"/>
                <a:cs typeface="Arial" pitchFamily="34" charset="-120"/>
              </a:rPr>
              <a:t>10.1</a:t>
            </a:r>
            <a:endParaRPr lang="en-US" sz="1650" dirty="0"/>
          </a:p>
        </p:txBody>
      </p:sp>
      <p:sp>
        <p:nvSpPr>
          <p:cNvPr id="8" name="Text 6"/>
          <p:cNvSpPr/>
          <p:nvPr/>
        </p:nvSpPr>
        <p:spPr>
          <a:xfrm>
            <a:off x="1952625" y="4716735"/>
            <a:ext cx="2714982" cy="328613"/>
          </a:xfrm>
          <a:prstGeom prst="rect">
            <a:avLst/>
          </a:prstGeom>
          <a:noFill/>
          <a:ln/>
        </p:spPr>
        <p:txBody>
          <a:bodyPr wrap="square" lIns="25400" tIns="25400" rIns="25400" bIns="25400" rtlCol="0" anchor="t">
            <a:normAutofit/>
          </a:bodyPr>
          <a:lstStyle/>
          <a:p>
            <a:pPr algn="l" indent="0" marL="0">
              <a:buNone/>
            </a:pPr>
            <a:r>
              <a:rPr lang="en-US" sz="1950" dirty="0">
                <a:solidFill>
                  <a:srgbClr val="DFE3EA"/>
                </a:solidFill>
                <a:latin typeface="Arial" pitchFamily="34" charset="0"/>
                <a:ea typeface="Arial" pitchFamily="34" charset="-122"/>
                <a:cs typeface="Arial" pitchFamily="34" charset="-120"/>
              </a:rPr>
              <a:t>Target Reconnaissance</a:t>
            </a:r>
            <a:endParaRPr lang="en-US" sz="1950" dirty="0"/>
          </a:p>
        </p:txBody>
      </p:sp>
      <p:sp>
        <p:nvSpPr>
          <p:cNvPr id="9" name="Shape 7"/>
          <p:cNvSpPr/>
          <p:nvPr/>
        </p:nvSpPr>
        <p:spPr>
          <a:xfrm>
            <a:off x="800100" y="5433492"/>
            <a:ext cx="16687800" cy="800100"/>
          </a:xfrm>
          <a:prstGeom prst="roundRect">
            <a:avLst>
              <a:gd name="adj" fmla="val 16667"/>
            </a:avLst>
          </a:prstGeom>
          <a:solidFill>
            <a:srgbClr val="FFFFFF">
              <a:alpha val="2000"/>
            </a:srgbClr>
          </a:solidFill>
          <a:ln w="9525">
            <a:solidFill>
              <a:srgbClr val="2A2F3A"/>
            </a:solidFill>
            <a:prstDash val="solid"/>
          </a:ln>
        </p:spPr>
      </p:sp>
      <p:sp>
        <p:nvSpPr>
          <p:cNvPr id="10" name="Shape 8"/>
          <p:cNvSpPr/>
          <p:nvPr/>
        </p:nvSpPr>
        <p:spPr>
          <a:xfrm>
            <a:off x="1038225" y="5614467"/>
            <a:ext cx="723900" cy="438150"/>
          </a:xfrm>
          <a:prstGeom prst="roundRect">
            <a:avLst>
              <a:gd name="adj" fmla="val 50000"/>
            </a:avLst>
          </a:prstGeom>
          <a:solidFill>
            <a:srgbClr val="FF6A00">
              <a:alpha val="15000"/>
            </a:srgbClr>
          </a:solidFill>
          <a:ln w="9525">
            <a:solidFill>
              <a:srgbClr val="FF6A00">
                <a:alpha val="35000"/>
              </a:srgbClr>
            </a:solidFill>
            <a:prstDash val="solid"/>
          </a:ln>
        </p:spPr>
      </p:sp>
      <p:sp>
        <p:nvSpPr>
          <p:cNvPr id="11" name="Text 9"/>
          <p:cNvSpPr/>
          <p:nvPr/>
        </p:nvSpPr>
        <p:spPr>
          <a:xfrm>
            <a:off x="1009650" y="5623992"/>
            <a:ext cx="781050" cy="457200"/>
          </a:xfrm>
          <a:prstGeom prst="rect">
            <a:avLst/>
          </a:prstGeom>
          <a:noFill/>
          <a:ln/>
        </p:spPr>
        <p:txBody>
          <a:bodyPr wrap="square" lIns="25400" tIns="25400" rIns="25400" bIns="25400" rtlCol="0" anchor="ctr">
            <a:normAutofit/>
          </a:bodyPr>
          <a:lstStyle/>
          <a:p>
            <a:pPr algn="ctr" indent="0" marL="0">
              <a:buNone/>
            </a:pPr>
            <a:r>
              <a:rPr lang="en-US" sz="1650" b="1" dirty="0">
                <a:solidFill>
                  <a:srgbClr val="FFD9BF"/>
                </a:solidFill>
                <a:latin typeface="Arial" pitchFamily="34" charset="0"/>
                <a:ea typeface="Arial" pitchFamily="34" charset="-122"/>
                <a:cs typeface="Arial" pitchFamily="34" charset="-120"/>
              </a:rPr>
              <a:t>10.2</a:t>
            </a:r>
            <a:endParaRPr lang="en-US" sz="1650" dirty="0"/>
          </a:p>
        </p:txBody>
      </p:sp>
      <p:sp>
        <p:nvSpPr>
          <p:cNvPr id="12" name="Text 10"/>
          <p:cNvSpPr/>
          <p:nvPr/>
        </p:nvSpPr>
        <p:spPr>
          <a:xfrm>
            <a:off x="1952625" y="5688285"/>
            <a:ext cx="3099785" cy="328613"/>
          </a:xfrm>
          <a:prstGeom prst="rect">
            <a:avLst/>
          </a:prstGeom>
          <a:noFill/>
          <a:ln/>
        </p:spPr>
        <p:txBody>
          <a:bodyPr wrap="square" lIns="25400" tIns="25400" rIns="25400" bIns="25400" rtlCol="0" anchor="t">
            <a:normAutofit/>
          </a:bodyPr>
          <a:lstStyle/>
          <a:p>
            <a:pPr algn="l" indent="0" marL="0">
              <a:buNone/>
            </a:pPr>
            <a:r>
              <a:rPr lang="en-US" sz="1950" dirty="0">
                <a:solidFill>
                  <a:srgbClr val="DFE3EA"/>
                </a:solidFill>
                <a:latin typeface="Arial" pitchFamily="34" charset="0"/>
                <a:ea typeface="Arial" pitchFamily="34" charset="-122"/>
                <a:cs typeface="Arial" pitchFamily="34" charset="-120"/>
              </a:rPr>
              <a:t>Exploiting Microsoft Office</a:t>
            </a:r>
            <a:endParaRPr lang="en-US" sz="1950" dirty="0"/>
          </a:p>
        </p:txBody>
      </p:sp>
      <p:sp>
        <p:nvSpPr>
          <p:cNvPr id="13" name="Shape 11"/>
          <p:cNvSpPr/>
          <p:nvPr/>
        </p:nvSpPr>
        <p:spPr>
          <a:xfrm>
            <a:off x="800100" y="6405042"/>
            <a:ext cx="16687800" cy="800100"/>
          </a:xfrm>
          <a:prstGeom prst="roundRect">
            <a:avLst>
              <a:gd name="adj" fmla="val 16667"/>
            </a:avLst>
          </a:prstGeom>
          <a:solidFill>
            <a:srgbClr val="FFFFFF">
              <a:alpha val="2000"/>
            </a:srgbClr>
          </a:solidFill>
          <a:ln w="9525">
            <a:solidFill>
              <a:srgbClr val="2A2F3A"/>
            </a:solidFill>
            <a:prstDash val="solid"/>
          </a:ln>
        </p:spPr>
      </p:sp>
      <p:sp>
        <p:nvSpPr>
          <p:cNvPr id="14" name="Shape 12"/>
          <p:cNvSpPr/>
          <p:nvPr/>
        </p:nvSpPr>
        <p:spPr>
          <a:xfrm>
            <a:off x="1038225" y="6586017"/>
            <a:ext cx="723900" cy="438150"/>
          </a:xfrm>
          <a:prstGeom prst="roundRect">
            <a:avLst>
              <a:gd name="adj" fmla="val 50000"/>
            </a:avLst>
          </a:prstGeom>
          <a:solidFill>
            <a:srgbClr val="FF6A00">
              <a:alpha val="15000"/>
            </a:srgbClr>
          </a:solidFill>
          <a:ln w="9525">
            <a:solidFill>
              <a:srgbClr val="FF6A00">
                <a:alpha val="35000"/>
              </a:srgbClr>
            </a:solidFill>
            <a:prstDash val="solid"/>
          </a:ln>
        </p:spPr>
      </p:sp>
      <p:sp>
        <p:nvSpPr>
          <p:cNvPr id="15" name="Text 13"/>
          <p:cNvSpPr/>
          <p:nvPr/>
        </p:nvSpPr>
        <p:spPr>
          <a:xfrm>
            <a:off x="1009650" y="6595542"/>
            <a:ext cx="781050" cy="457200"/>
          </a:xfrm>
          <a:prstGeom prst="rect">
            <a:avLst/>
          </a:prstGeom>
          <a:noFill/>
          <a:ln/>
        </p:spPr>
        <p:txBody>
          <a:bodyPr wrap="square" lIns="25400" tIns="25400" rIns="25400" bIns="25400" rtlCol="0" anchor="ctr">
            <a:normAutofit/>
          </a:bodyPr>
          <a:lstStyle/>
          <a:p>
            <a:pPr algn="ctr" indent="0" marL="0">
              <a:buNone/>
            </a:pPr>
            <a:r>
              <a:rPr lang="en-US" sz="1650" b="1" dirty="0">
                <a:solidFill>
                  <a:srgbClr val="FFD9BF"/>
                </a:solidFill>
                <a:latin typeface="Arial" pitchFamily="34" charset="0"/>
                <a:ea typeface="Arial" pitchFamily="34" charset="-122"/>
                <a:cs typeface="Arial" pitchFamily="34" charset="-120"/>
              </a:rPr>
              <a:t>10.3</a:t>
            </a:r>
            <a:endParaRPr lang="en-US" sz="1650" dirty="0"/>
          </a:p>
        </p:txBody>
      </p:sp>
      <p:sp>
        <p:nvSpPr>
          <p:cNvPr id="16" name="Text 14"/>
          <p:cNvSpPr/>
          <p:nvPr/>
        </p:nvSpPr>
        <p:spPr>
          <a:xfrm>
            <a:off x="1952625" y="6659835"/>
            <a:ext cx="3594765" cy="328613"/>
          </a:xfrm>
          <a:prstGeom prst="rect">
            <a:avLst/>
          </a:prstGeom>
          <a:noFill/>
          <a:ln/>
        </p:spPr>
        <p:txBody>
          <a:bodyPr wrap="square" lIns="25400" tIns="25400" rIns="25400" bIns="25400" rtlCol="0" anchor="t">
            <a:normAutofit/>
          </a:bodyPr>
          <a:lstStyle/>
          <a:p>
            <a:pPr algn="l" indent="0" marL="0">
              <a:buNone/>
            </a:pPr>
            <a:r>
              <a:rPr lang="en-US" sz="1950" dirty="0">
                <a:solidFill>
                  <a:srgbClr val="DFE3EA"/>
                </a:solidFill>
                <a:latin typeface="Arial" pitchFamily="34" charset="0"/>
                <a:ea typeface="Arial" pitchFamily="34" charset="-122"/>
                <a:cs typeface="Arial" pitchFamily="34" charset="-120"/>
              </a:rPr>
              <a:t>Abusing Windows Library Files</a:t>
            </a:r>
            <a:endParaRPr lang="en-US" sz="1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800100" y="1879774"/>
            <a:ext cx="18356580" cy="285750"/>
          </a:xfrm>
          <a:prstGeom prst="rect">
            <a:avLst/>
          </a:prstGeom>
          <a:noFill/>
          <a:ln/>
        </p:spPr>
        <p:txBody>
          <a:bodyPr wrap="square" lIns="25400" tIns="25400" rIns="25400" bIns="25400" rtlCol="0" anchor="t">
            <a:normAutofit/>
          </a:bodyPr>
          <a:lstStyle/>
          <a:p>
            <a:pPr algn="l" indent="0" marL="0">
              <a:buNone/>
            </a:pPr>
            <a:r>
              <a:rPr lang="en-US" sz="1650" b="1" spc="225" kern="0" dirty="0">
                <a:solidFill>
                  <a:srgbClr val="FF6A00"/>
                </a:solidFill>
                <a:latin typeface="Arial" pitchFamily="34" charset="0"/>
                <a:ea typeface="Arial" pitchFamily="34" charset="-122"/>
                <a:cs typeface="Arial" pitchFamily="34" charset="-120"/>
              </a:rPr>
              <a:t>COURSE CONTEXT · 24 LEARNING MODULES</a:t>
            </a:r>
            <a:endParaRPr lang="en-US" sz="1650" dirty="0"/>
          </a:p>
        </p:txBody>
      </p:sp>
      <p:sp>
        <p:nvSpPr>
          <p:cNvPr id="4" name="Text 2"/>
          <p:cNvSpPr/>
          <p:nvPr/>
        </p:nvSpPr>
        <p:spPr>
          <a:xfrm>
            <a:off x="800100" y="2375074"/>
            <a:ext cx="18356580" cy="457200"/>
          </a:xfrm>
          <a:prstGeom prst="rect">
            <a:avLst/>
          </a:prstGeom>
          <a:noFill/>
          <a:ln/>
        </p:spPr>
        <p:txBody>
          <a:bodyPr wrap="square" lIns="25400" tIns="25400" rIns="25400" bIns="25400" rtlCol="0" anchor="t">
            <a:normAutofit/>
          </a:bodyPr>
          <a:lstStyle/>
          <a:p>
            <a:pPr algn="l" indent="0" marL="0">
              <a:lnSpc>
                <a:spcPct val="95652"/>
              </a:lnSpc>
              <a:buNone/>
            </a:pPr>
            <a:r>
              <a:rPr lang="en-US" sz="3000" b="1" dirty="0">
                <a:solidFill>
                  <a:srgbClr val="F5F7FB"/>
                </a:solidFill>
                <a:latin typeface="Arial" pitchFamily="34" charset="0"/>
                <a:ea typeface="Arial" pitchFamily="34" charset="-122"/>
                <a:cs typeface="Arial" pitchFamily="34" charset="-120"/>
              </a:rPr>
              <a:t>Where Module 10 sits in PEN-200</a:t>
            </a:r>
            <a:endParaRPr lang="en-US" sz="3000" dirty="0"/>
          </a:p>
        </p:txBody>
      </p:sp>
      <p:sp>
        <p:nvSpPr>
          <p:cNvPr id="5" name="Shape 3"/>
          <p:cNvSpPr/>
          <p:nvPr/>
        </p:nvSpPr>
        <p:spPr>
          <a:xfrm>
            <a:off x="800100" y="3041824"/>
            <a:ext cx="4086225" cy="702469"/>
          </a:xfrm>
          <a:prstGeom prst="roundRect">
            <a:avLst>
              <a:gd name="adj" fmla="val 16271"/>
            </a:avLst>
          </a:prstGeom>
          <a:solidFill>
            <a:srgbClr val="FFFFFF">
              <a:alpha val="2000"/>
            </a:srgbClr>
          </a:solidFill>
          <a:ln w="9525">
            <a:solidFill>
              <a:srgbClr val="2A2F3A"/>
            </a:solidFill>
            <a:prstDash val="solid"/>
          </a:ln>
        </p:spPr>
      </p:sp>
      <p:sp>
        <p:nvSpPr>
          <p:cNvPr id="6" name="Text 4"/>
          <p:cNvSpPr/>
          <p:nvPr/>
        </p:nvSpPr>
        <p:spPr>
          <a:xfrm>
            <a:off x="942975" y="3165649"/>
            <a:ext cx="4180523" cy="228600"/>
          </a:xfrm>
          <a:prstGeom prst="rect">
            <a:avLst/>
          </a:prstGeom>
          <a:noFill/>
          <a:ln/>
        </p:spPr>
        <p:txBody>
          <a:bodyPr wrap="square" lIns="25400" tIns="25400" rIns="25400" bIns="25400" rtlCol="0" anchor="t">
            <a:normAutofit/>
          </a:bodyPr>
          <a:lstStyle/>
          <a:p>
            <a:pPr algn="l" indent="0" marL="0">
              <a:lnSpc>
                <a:spcPct val="108108"/>
              </a:lnSpc>
              <a:buNone/>
            </a:pPr>
            <a:r>
              <a:rPr lang="en-US" sz="1200" b="1" dirty="0">
                <a:solidFill>
                  <a:srgbClr val="FF6A00"/>
                </a:solidFill>
                <a:latin typeface="Arial" pitchFamily="34" charset="0"/>
                <a:ea typeface="Arial" pitchFamily="34" charset="-122"/>
                <a:cs typeface="Arial" pitchFamily="34" charset="-120"/>
              </a:rPr>
              <a:t>01</a:t>
            </a:r>
            <a:endParaRPr lang="en-US" sz="1200" dirty="0"/>
          </a:p>
        </p:txBody>
      </p:sp>
      <p:sp>
        <p:nvSpPr>
          <p:cNvPr id="7" name="Text 5"/>
          <p:cNvSpPr/>
          <p:nvPr/>
        </p:nvSpPr>
        <p:spPr>
          <a:xfrm>
            <a:off x="942975" y="3399011"/>
            <a:ext cx="2342257" cy="252413"/>
          </a:xfrm>
          <a:prstGeom prst="rect">
            <a:avLst/>
          </a:prstGeom>
          <a:noFill/>
          <a:ln/>
        </p:spPr>
        <p:txBody>
          <a:bodyPr wrap="square" lIns="0" tIns="0" rIns="0" bIns="0" rtlCol="0" anchor="t">
            <a:normAutofit/>
          </a:bodyPr>
          <a:lstStyle/>
          <a:p>
            <a:pPr algn="l" indent="0" marL="0">
              <a:lnSpc>
                <a:spcPct val="110465"/>
              </a:lnSpc>
              <a:buNone/>
            </a:pPr>
            <a:r>
              <a:rPr lang="en-US" sz="1425" dirty="0">
                <a:solidFill>
                  <a:srgbClr val="B8C0CF"/>
                </a:solidFill>
                <a:latin typeface="Arial" pitchFamily="34" charset="0"/>
                <a:ea typeface="Arial" pitchFamily="34" charset="-122"/>
                <a:cs typeface="Arial" pitchFamily="34" charset="-120"/>
              </a:rPr>
              <a:t>General Course Introduction</a:t>
            </a:r>
            <a:endParaRPr lang="en-US" sz="1425" dirty="0"/>
          </a:p>
        </p:txBody>
      </p:sp>
      <p:sp>
        <p:nvSpPr>
          <p:cNvPr id="8" name="Shape 6"/>
          <p:cNvSpPr/>
          <p:nvPr/>
        </p:nvSpPr>
        <p:spPr>
          <a:xfrm>
            <a:off x="5000625" y="3041824"/>
            <a:ext cx="4086225" cy="702469"/>
          </a:xfrm>
          <a:prstGeom prst="roundRect">
            <a:avLst>
              <a:gd name="adj" fmla="val 16271"/>
            </a:avLst>
          </a:prstGeom>
          <a:solidFill>
            <a:srgbClr val="FFFFFF">
              <a:alpha val="2000"/>
            </a:srgbClr>
          </a:solidFill>
          <a:ln w="9525">
            <a:solidFill>
              <a:srgbClr val="2A2F3A"/>
            </a:solidFill>
            <a:prstDash val="solid"/>
          </a:ln>
        </p:spPr>
      </p:sp>
      <p:sp>
        <p:nvSpPr>
          <p:cNvPr id="9" name="Text 7"/>
          <p:cNvSpPr/>
          <p:nvPr/>
        </p:nvSpPr>
        <p:spPr>
          <a:xfrm>
            <a:off x="5143500" y="3165649"/>
            <a:ext cx="4180523" cy="228600"/>
          </a:xfrm>
          <a:prstGeom prst="rect">
            <a:avLst/>
          </a:prstGeom>
          <a:noFill/>
          <a:ln/>
        </p:spPr>
        <p:txBody>
          <a:bodyPr wrap="square" lIns="25400" tIns="25400" rIns="25400" bIns="25400" rtlCol="0" anchor="t">
            <a:normAutofit/>
          </a:bodyPr>
          <a:lstStyle/>
          <a:p>
            <a:pPr algn="l" indent="0" marL="0">
              <a:lnSpc>
                <a:spcPct val="108108"/>
              </a:lnSpc>
              <a:buNone/>
            </a:pPr>
            <a:r>
              <a:rPr lang="en-US" sz="1200" b="1" dirty="0">
                <a:solidFill>
                  <a:srgbClr val="FF6A00"/>
                </a:solidFill>
                <a:latin typeface="Arial" pitchFamily="34" charset="0"/>
                <a:ea typeface="Arial" pitchFamily="34" charset="-122"/>
                <a:cs typeface="Arial" pitchFamily="34" charset="-120"/>
              </a:rPr>
              <a:t>02</a:t>
            </a:r>
            <a:endParaRPr lang="en-US" sz="1200" dirty="0"/>
          </a:p>
        </p:txBody>
      </p:sp>
      <p:sp>
        <p:nvSpPr>
          <p:cNvPr id="10" name="Text 8"/>
          <p:cNvSpPr/>
          <p:nvPr/>
        </p:nvSpPr>
        <p:spPr>
          <a:xfrm>
            <a:off x="5143500" y="3399011"/>
            <a:ext cx="2425378" cy="252413"/>
          </a:xfrm>
          <a:prstGeom prst="rect">
            <a:avLst/>
          </a:prstGeom>
          <a:noFill/>
          <a:ln/>
        </p:spPr>
        <p:txBody>
          <a:bodyPr wrap="square" lIns="0" tIns="0" rIns="0" bIns="0" rtlCol="0" anchor="t">
            <a:normAutofit/>
          </a:bodyPr>
          <a:lstStyle/>
          <a:p>
            <a:pPr algn="l" indent="0" marL="0">
              <a:lnSpc>
                <a:spcPct val="110465"/>
              </a:lnSpc>
              <a:buNone/>
            </a:pPr>
            <a:r>
              <a:rPr lang="en-US" sz="1425" dirty="0">
                <a:solidFill>
                  <a:srgbClr val="B8C0CF"/>
                </a:solidFill>
                <a:latin typeface="Arial" pitchFamily="34" charset="0"/>
                <a:ea typeface="Arial" pitchFamily="34" charset="-122"/>
                <a:cs typeface="Arial" pitchFamily="34" charset="-120"/>
              </a:rPr>
              <a:t>Introduction to Cybersecurity</a:t>
            </a:r>
            <a:endParaRPr lang="en-US" sz="1425" dirty="0"/>
          </a:p>
        </p:txBody>
      </p:sp>
      <p:sp>
        <p:nvSpPr>
          <p:cNvPr id="11" name="Shape 9"/>
          <p:cNvSpPr/>
          <p:nvPr/>
        </p:nvSpPr>
        <p:spPr>
          <a:xfrm>
            <a:off x="9201150" y="3041824"/>
            <a:ext cx="4086225" cy="702469"/>
          </a:xfrm>
          <a:prstGeom prst="roundRect">
            <a:avLst>
              <a:gd name="adj" fmla="val 16271"/>
            </a:avLst>
          </a:prstGeom>
          <a:solidFill>
            <a:srgbClr val="FFFFFF">
              <a:alpha val="2000"/>
            </a:srgbClr>
          </a:solidFill>
          <a:ln w="9525">
            <a:solidFill>
              <a:srgbClr val="2A2F3A"/>
            </a:solidFill>
            <a:prstDash val="solid"/>
          </a:ln>
        </p:spPr>
      </p:sp>
      <p:sp>
        <p:nvSpPr>
          <p:cNvPr id="12" name="Text 10"/>
          <p:cNvSpPr/>
          <p:nvPr/>
        </p:nvSpPr>
        <p:spPr>
          <a:xfrm>
            <a:off x="9344025" y="3165649"/>
            <a:ext cx="4180523" cy="228600"/>
          </a:xfrm>
          <a:prstGeom prst="rect">
            <a:avLst/>
          </a:prstGeom>
          <a:noFill/>
          <a:ln/>
        </p:spPr>
        <p:txBody>
          <a:bodyPr wrap="square" lIns="25400" tIns="25400" rIns="25400" bIns="25400" rtlCol="0" anchor="t">
            <a:normAutofit/>
          </a:bodyPr>
          <a:lstStyle/>
          <a:p>
            <a:pPr algn="l" indent="0" marL="0">
              <a:lnSpc>
                <a:spcPct val="108108"/>
              </a:lnSpc>
              <a:buNone/>
            </a:pPr>
            <a:r>
              <a:rPr lang="en-US" sz="1200" b="1" dirty="0">
                <a:solidFill>
                  <a:srgbClr val="FF6A00"/>
                </a:solidFill>
                <a:latin typeface="Arial" pitchFamily="34" charset="0"/>
                <a:ea typeface="Arial" pitchFamily="34" charset="-122"/>
                <a:cs typeface="Arial" pitchFamily="34" charset="-120"/>
              </a:rPr>
              <a:t>03</a:t>
            </a:r>
            <a:endParaRPr lang="en-US" sz="1200" dirty="0"/>
          </a:p>
        </p:txBody>
      </p:sp>
      <p:sp>
        <p:nvSpPr>
          <p:cNvPr id="13" name="Text 11"/>
          <p:cNvSpPr/>
          <p:nvPr/>
        </p:nvSpPr>
        <p:spPr>
          <a:xfrm>
            <a:off x="9344025" y="3399011"/>
            <a:ext cx="2385417" cy="252413"/>
          </a:xfrm>
          <a:prstGeom prst="rect">
            <a:avLst/>
          </a:prstGeom>
          <a:noFill/>
          <a:ln/>
        </p:spPr>
        <p:txBody>
          <a:bodyPr wrap="square" lIns="0" tIns="0" rIns="0" bIns="0" rtlCol="0" anchor="t">
            <a:normAutofit/>
          </a:bodyPr>
          <a:lstStyle/>
          <a:p>
            <a:pPr algn="l" indent="0" marL="0">
              <a:lnSpc>
                <a:spcPct val="110465"/>
              </a:lnSpc>
              <a:buNone/>
            </a:pPr>
            <a:r>
              <a:rPr lang="en-US" sz="1425" dirty="0">
                <a:solidFill>
                  <a:srgbClr val="B8C0CF"/>
                </a:solidFill>
                <a:latin typeface="Arial" pitchFamily="34" charset="0"/>
                <a:ea typeface="Arial" pitchFamily="34" charset="-122"/>
                <a:cs typeface="Arial" pitchFamily="34" charset="-120"/>
              </a:rPr>
              <a:t>Effective Learning Strategies</a:t>
            </a:r>
            <a:endParaRPr lang="en-US" sz="1425" dirty="0"/>
          </a:p>
        </p:txBody>
      </p:sp>
      <p:sp>
        <p:nvSpPr>
          <p:cNvPr id="14" name="Shape 12"/>
          <p:cNvSpPr/>
          <p:nvPr/>
        </p:nvSpPr>
        <p:spPr>
          <a:xfrm>
            <a:off x="13401675" y="3041824"/>
            <a:ext cx="4086225" cy="702469"/>
          </a:xfrm>
          <a:prstGeom prst="roundRect">
            <a:avLst>
              <a:gd name="adj" fmla="val 16271"/>
            </a:avLst>
          </a:prstGeom>
          <a:solidFill>
            <a:srgbClr val="FFFFFF">
              <a:alpha val="2000"/>
            </a:srgbClr>
          </a:solidFill>
          <a:ln w="9525">
            <a:solidFill>
              <a:srgbClr val="2A2F3A"/>
            </a:solidFill>
            <a:prstDash val="solid"/>
          </a:ln>
        </p:spPr>
      </p:sp>
      <p:sp>
        <p:nvSpPr>
          <p:cNvPr id="15" name="Text 13"/>
          <p:cNvSpPr/>
          <p:nvPr/>
        </p:nvSpPr>
        <p:spPr>
          <a:xfrm>
            <a:off x="13544550" y="3165649"/>
            <a:ext cx="4180523" cy="228600"/>
          </a:xfrm>
          <a:prstGeom prst="rect">
            <a:avLst/>
          </a:prstGeom>
          <a:noFill/>
          <a:ln/>
        </p:spPr>
        <p:txBody>
          <a:bodyPr wrap="square" lIns="25400" tIns="25400" rIns="25400" bIns="25400" rtlCol="0" anchor="t">
            <a:normAutofit/>
          </a:bodyPr>
          <a:lstStyle/>
          <a:p>
            <a:pPr algn="l" indent="0" marL="0">
              <a:lnSpc>
                <a:spcPct val="108108"/>
              </a:lnSpc>
              <a:buNone/>
            </a:pPr>
            <a:r>
              <a:rPr lang="en-US" sz="1200" b="1" dirty="0">
                <a:solidFill>
                  <a:srgbClr val="FF6A00"/>
                </a:solidFill>
                <a:latin typeface="Arial" pitchFamily="34" charset="0"/>
                <a:ea typeface="Arial" pitchFamily="34" charset="-122"/>
                <a:cs typeface="Arial" pitchFamily="34" charset="-120"/>
              </a:rPr>
              <a:t>04</a:t>
            </a:r>
            <a:endParaRPr lang="en-US" sz="1200" dirty="0"/>
          </a:p>
        </p:txBody>
      </p:sp>
      <p:sp>
        <p:nvSpPr>
          <p:cNvPr id="16" name="Text 14"/>
          <p:cNvSpPr/>
          <p:nvPr/>
        </p:nvSpPr>
        <p:spPr>
          <a:xfrm>
            <a:off x="13544550" y="3399011"/>
            <a:ext cx="3120662" cy="252413"/>
          </a:xfrm>
          <a:prstGeom prst="rect">
            <a:avLst/>
          </a:prstGeom>
          <a:noFill/>
          <a:ln/>
        </p:spPr>
        <p:txBody>
          <a:bodyPr wrap="square" lIns="0" tIns="0" rIns="0" bIns="0" rtlCol="0" anchor="t">
            <a:normAutofit/>
          </a:bodyPr>
          <a:lstStyle/>
          <a:p>
            <a:pPr algn="l" indent="0" marL="0">
              <a:lnSpc>
                <a:spcPct val="110465"/>
              </a:lnSpc>
              <a:buNone/>
            </a:pPr>
            <a:r>
              <a:rPr lang="en-US" sz="1425" dirty="0">
                <a:solidFill>
                  <a:srgbClr val="B8C0CF"/>
                </a:solidFill>
                <a:latin typeface="Arial" pitchFamily="34" charset="0"/>
                <a:ea typeface="Arial" pitchFamily="34" charset="-122"/>
                <a:cs typeface="Arial" pitchFamily="34" charset="-120"/>
              </a:rPr>
              <a:t>Report Writing for Penetration Testers</a:t>
            </a:r>
            <a:endParaRPr lang="en-US" sz="1425" dirty="0"/>
          </a:p>
        </p:txBody>
      </p:sp>
      <p:sp>
        <p:nvSpPr>
          <p:cNvPr id="17" name="Shape 15"/>
          <p:cNvSpPr/>
          <p:nvPr/>
        </p:nvSpPr>
        <p:spPr>
          <a:xfrm>
            <a:off x="800100" y="3858592"/>
            <a:ext cx="4086225" cy="702469"/>
          </a:xfrm>
          <a:prstGeom prst="roundRect">
            <a:avLst>
              <a:gd name="adj" fmla="val 16271"/>
            </a:avLst>
          </a:prstGeom>
          <a:solidFill>
            <a:srgbClr val="FFFFFF">
              <a:alpha val="2000"/>
            </a:srgbClr>
          </a:solidFill>
          <a:ln w="9525">
            <a:solidFill>
              <a:srgbClr val="2A2F3A"/>
            </a:solidFill>
            <a:prstDash val="solid"/>
          </a:ln>
        </p:spPr>
      </p:sp>
      <p:sp>
        <p:nvSpPr>
          <p:cNvPr id="18" name="Text 16"/>
          <p:cNvSpPr/>
          <p:nvPr/>
        </p:nvSpPr>
        <p:spPr>
          <a:xfrm>
            <a:off x="942975" y="3982417"/>
            <a:ext cx="4180523" cy="228600"/>
          </a:xfrm>
          <a:prstGeom prst="rect">
            <a:avLst/>
          </a:prstGeom>
          <a:noFill/>
          <a:ln/>
        </p:spPr>
        <p:txBody>
          <a:bodyPr wrap="square" lIns="25400" tIns="25400" rIns="25400" bIns="25400" rtlCol="0" anchor="t">
            <a:normAutofit/>
          </a:bodyPr>
          <a:lstStyle/>
          <a:p>
            <a:pPr algn="l" indent="0" marL="0">
              <a:lnSpc>
                <a:spcPct val="108108"/>
              </a:lnSpc>
              <a:buNone/>
            </a:pPr>
            <a:r>
              <a:rPr lang="en-US" sz="1200" b="1" dirty="0">
                <a:solidFill>
                  <a:srgbClr val="FF6A00"/>
                </a:solidFill>
                <a:latin typeface="Arial" pitchFamily="34" charset="0"/>
                <a:ea typeface="Arial" pitchFamily="34" charset="-122"/>
                <a:cs typeface="Arial" pitchFamily="34" charset="-120"/>
              </a:rPr>
              <a:t>05</a:t>
            </a:r>
            <a:endParaRPr lang="en-US" sz="1200" dirty="0"/>
          </a:p>
        </p:txBody>
      </p:sp>
      <p:sp>
        <p:nvSpPr>
          <p:cNvPr id="19" name="Text 17"/>
          <p:cNvSpPr/>
          <p:nvPr/>
        </p:nvSpPr>
        <p:spPr>
          <a:xfrm>
            <a:off x="942975" y="4215780"/>
            <a:ext cx="1831181" cy="252413"/>
          </a:xfrm>
          <a:prstGeom prst="rect">
            <a:avLst/>
          </a:prstGeom>
          <a:noFill/>
          <a:ln/>
        </p:spPr>
        <p:txBody>
          <a:bodyPr wrap="square" lIns="0" tIns="0" rIns="0" bIns="0" rtlCol="0" anchor="t">
            <a:normAutofit/>
          </a:bodyPr>
          <a:lstStyle/>
          <a:p>
            <a:pPr algn="l" indent="0" marL="0">
              <a:lnSpc>
                <a:spcPct val="110465"/>
              </a:lnSpc>
              <a:buNone/>
            </a:pPr>
            <a:r>
              <a:rPr lang="en-US" sz="1425" dirty="0">
                <a:solidFill>
                  <a:srgbClr val="B8C0CF"/>
                </a:solidFill>
                <a:latin typeface="Arial" pitchFamily="34" charset="0"/>
                <a:ea typeface="Arial" pitchFamily="34" charset="-122"/>
                <a:cs typeface="Arial" pitchFamily="34" charset="-120"/>
              </a:rPr>
              <a:t>Information Gathering</a:t>
            </a:r>
            <a:endParaRPr lang="en-US" sz="1425" dirty="0"/>
          </a:p>
        </p:txBody>
      </p:sp>
      <p:sp>
        <p:nvSpPr>
          <p:cNvPr id="20" name="Shape 18"/>
          <p:cNvSpPr/>
          <p:nvPr/>
        </p:nvSpPr>
        <p:spPr>
          <a:xfrm>
            <a:off x="5000625" y="3858592"/>
            <a:ext cx="4086225" cy="702469"/>
          </a:xfrm>
          <a:prstGeom prst="roundRect">
            <a:avLst>
              <a:gd name="adj" fmla="val 16271"/>
            </a:avLst>
          </a:prstGeom>
          <a:solidFill>
            <a:srgbClr val="FFFFFF">
              <a:alpha val="2000"/>
            </a:srgbClr>
          </a:solidFill>
          <a:ln w="9525">
            <a:solidFill>
              <a:srgbClr val="2A2F3A"/>
            </a:solidFill>
            <a:prstDash val="solid"/>
          </a:ln>
        </p:spPr>
      </p:sp>
      <p:sp>
        <p:nvSpPr>
          <p:cNvPr id="21" name="Text 19"/>
          <p:cNvSpPr/>
          <p:nvPr/>
        </p:nvSpPr>
        <p:spPr>
          <a:xfrm>
            <a:off x="5143500" y="3982417"/>
            <a:ext cx="4180523" cy="228600"/>
          </a:xfrm>
          <a:prstGeom prst="rect">
            <a:avLst/>
          </a:prstGeom>
          <a:noFill/>
          <a:ln/>
        </p:spPr>
        <p:txBody>
          <a:bodyPr wrap="square" lIns="25400" tIns="25400" rIns="25400" bIns="25400" rtlCol="0" anchor="t">
            <a:normAutofit/>
          </a:bodyPr>
          <a:lstStyle/>
          <a:p>
            <a:pPr algn="l" indent="0" marL="0">
              <a:lnSpc>
                <a:spcPct val="108108"/>
              </a:lnSpc>
              <a:buNone/>
            </a:pPr>
            <a:r>
              <a:rPr lang="en-US" sz="1200" b="1" dirty="0">
                <a:solidFill>
                  <a:srgbClr val="FF6A00"/>
                </a:solidFill>
                <a:latin typeface="Arial" pitchFamily="34" charset="0"/>
                <a:ea typeface="Arial" pitchFamily="34" charset="-122"/>
                <a:cs typeface="Arial" pitchFamily="34" charset="-120"/>
              </a:rPr>
              <a:t>06</a:t>
            </a:r>
            <a:endParaRPr lang="en-US" sz="1200" dirty="0"/>
          </a:p>
        </p:txBody>
      </p:sp>
      <p:sp>
        <p:nvSpPr>
          <p:cNvPr id="22" name="Text 20"/>
          <p:cNvSpPr/>
          <p:nvPr/>
        </p:nvSpPr>
        <p:spPr>
          <a:xfrm>
            <a:off x="5143500" y="4215780"/>
            <a:ext cx="1858714" cy="252413"/>
          </a:xfrm>
          <a:prstGeom prst="rect">
            <a:avLst/>
          </a:prstGeom>
          <a:noFill/>
          <a:ln/>
        </p:spPr>
        <p:txBody>
          <a:bodyPr wrap="square" lIns="0" tIns="0" rIns="0" bIns="0" rtlCol="0" anchor="t">
            <a:normAutofit/>
          </a:bodyPr>
          <a:lstStyle/>
          <a:p>
            <a:pPr algn="l" indent="0" marL="0">
              <a:lnSpc>
                <a:spcPct val="110465"/>
              </a:lnSpc>
              <a:buNone/>
            </a:pPr>
            <a:r>
              <a:rPr lang="en-US" sz="1425" dirty="0">
                <a:solidFill>
                  <a:srgbClr val="B8C0CF"/>
                </a:solidFill>
                <a:latin typeface="Arial" pitchFamily="34" charset="0"/>
                <a:ea typeface="Arial" pitchFamily="34" charset="-122"/>
                <a:cs typeface="Arial" pitchFamily="34" charset="-120"/>
              </a:rPr>
              <a:t>Vulnerability Scanning</a:t>
            </a:r>
            <a:endParaRPr lang="en-US" sz="1425" dirty="0"/>
          </a:p>
        </p:txBody>
      </p:sp>
      <p:sp>
        <p:nvSpPr>
          <p:cNvPr id="23" name="Shape 21"/>
          <p:cNvSpPr/>
          <p:nvPr/>
        </p:nvSpPr>
        <p:spPr>
          <a:xfrm>
            <a:off x="9201150" y="3858592"/>
            <a:ext cx="4086225" cy="702469"/>
          </a:xfrm>
          <a:prstGeom prst="roundRect">
            <a:avLst>
              <a:gd name="adj" fmla="val 16271"/>
            </a:avLst>
          </a:prstGeom>
          <a:solidFill>
            <a:srgbClr val="FFFFFF">
              <a:alpha val="2000"/>
            </a:srgbClr>
          </a:solidFill>
          <a:ln w="9525">
            <a:solidFill>
              <a:srgbClr val="2A2F3A"/>
            </a:solidFill>
            <a:prstDash val="solid"/>
          </a:ln>
        </p:spPr>
      </p:sp>
      <p:sp>
        <p:nvSpPr>
          <p:cNvPr id="24" name="Text 22"/>
          <p:cNvSpPr/>
          <p:nvPr/>
        </p:nvSpPr>
        <p:spPr>
          <a:xfrm>
            <a:off x="9344025" y="3982417"/>
            <a:ext cx="4180523" cy="228600"/>
          </a:xfrm>
          <a:prstGeom prst="rect">
            <a:avLst/>
          </a:prstGeom>
          <a:noFill/>
          <a:ln/>
        </p:spPr>
        <p:txBody>
          <a:bodyPr wrap="square" lIns="25400" tIns="25400" rIns="25400" bIns="25400" rtlCol="0" anchor="t">
            <a:normAutofit/>
          </a:bodyPr>
          <a:lstStyle/>
          <a:p>
            <a:pPr algn="l" indent="0" marL="0">
              <a:lnSpc>
                <a:spcPct val="108108"/>
              </a:lnSpc>
              <a:buNone/>
            </a:pPr>
            <a:r>
              <a:rPr lang="en-US" sz="1200" b="1" dirty="0">
                <a:solidFill>
                  <a:srgbClr val="FF6A00"/>
                </a:solidFill>
                <a:latin typeface="Arial" pitchFamily="34" charset="0"/>
                <a:ea typeface="Arial" pitchFamily="34" charset="-122"/>
                <a:cs typeface="Arial" pitchFamily="34" charset="-120"/>
              </a:rPr>
              <a:t>07</a:t>
            </a:r>
            <a:endParaRPr lang="en-US" sz="1200" dirty="0"/>
          </a:p>
        </p:txBody>
      </p:sp>
      <p:sp>
        <p:nvSpPr>
          <p:cNvPr id="25" name="Text 23"/>
          <p:cNvSpPr/>
          <p:nvPr/>
        </p:nvSpPr>
        <p:spPr>
          <a:xfrm>
            <a:off x="9344025" y="4215780"/>
            <a:ext cx="2704931" cy="252413"/>
          </a:xfrm>
          <a:prstGeom prst="rect">
            <a:avLst/>
          </a:prstGeom>
          <a:noFill/>
          <a:ln/>
        </p:spPr>
        <p:txBody>
          <a:bodyPr wrap="square" lIns="0" tIns="0" rIns="0" bIns="0" rtlCol="0" anchor="t">
            <a:normAutofit/>
          </a:bodyPr>
          <a:lstStyle/>
          <a:p>
            <a:pPr algn="l" indent="0" marL="0">
              <a:lnSpc>
                <a:spcPct val="110465"/>
              </a:lnSpc>
              <a:buNone/>
            </a:pPr>
            <a:r>
              <a:rPr lang="en-US" sz="1425" dirty="0">
                <a:solidFill>
                  <a:srgbClr val="B8C0CF"/>
                </a:solidFill>
                <a:latin typeface="Arial" pitchFamily="34" charset="0"/>
                <a:ea typeface="Arial" pitchFamily="34" charset="-122"/>
                <a:cs typeface="Arial" pitchFamily="34" charset="-120"/>
              </a:rPr>
              <a:t>Introduction to Web Applications</a:t>
            </a:r>
            <a:endParaRPr lang="en-US" sz="1425" dirty="0"/>
          </a:p>
        </p:txBody>
      </p:sp>
      <p:sp>
        <p:nvSpPr>
          <p:cNvPr id="26" name="Shape 24"/>
          <p:cNvSpPr/>
          <p:nvPr/>
        </p:nvSpPr>
        <p:spPr>
          <a:xfrm>
            <a:off x="13401675" y="3858592"/>
            <a:ext cx="4086225" cy="702469"/>
          </a:xfrm>
          <a:prstGeom prst="roundRect">
            <a:avLst>
              <a:gd name="adj" fmla="val 16271"/>
            </a:avLst>
          </a:prstGeom>
          <a:solidFill>
            <a:srgbClr val="FFFFFF">
              <a:alpha val="2000"/>
            </a:srgbClr>
          </a:solidFill>
          <a:ln w="9525">
            <a:solidFill>
              <a:srgbClr val="2A2F3A"/>
            </a:solidFill>
            <a:prstDash val="solid"/>
          </a:ln>
        </p:spPr>
      </p:sp>
      <p:sp>
        <p:nvSpPr>
          <p:cNvPr id="27" name="Text 25"/>
          <p:cNvSpPr/>
          <p:nvPr/>
        </p:nvSpPr>
        <p:spPr>
          <a:xfrm>
            <a:off x="13544550" y="3982417"/>
            <a:ext cx="4180523" cy="228600"/>
          </a:xfrm>
          <a:prstGeom prst="rect">
            <a:avLst/>
          </a:prstGeom>
          <a:noFill/>
          <a:ln/>
        </p:spPr>
        <p:txBody>
          <a:bodyPr wrap="square" lIns="25400" tIns="25400" rIns="25400" bIns="25400" rtlCol="0" anchor="t">
            <a:normAutofit/>
          </a:bodyPr>
          <a:lstStyle/>
          <a:p>
            <a:pPr algn="l" indent="0" marL="0">
              <a:lnSpc>
                <a:spcPct val="108108"/>
              </a:lnSpc>
              <a:buNone/>
            </a:pPr>
            <a:r>
              <a:rPr lang="en-US" sz="1200" b="1" dirty="0">
                <a:solidFill>
                  <a:srgbClr val="FF6A00"/>
                </a:solidFill>
                <a:latin typeface="Arial" pitchFamily="34" charset="0"/>
                <a:ea typeface="Arial" pitchFamily="34" charset="-122"/>
                <a:cs typeface="Arial" pitchFamily="34" charset="-120"/>
              </a:rPr>
              <a:t>08</a:t>
            </a:r>
            <a:endParaRPr lang="en-US" sz="1200" dirty="0"/>
          </a:p>
        </p:txBody>
      </p:sp>
      <p:sp>
        <p:nvSpPr>
          <p:cNvPr id="28" name="Text 26"/>
          <p:cNvSpPr/>
          <p:nvPr/>
        </p:nvSpPr>
        <p:spPr>
          <a:xfrm>
            <a:off x="13544550" y="4215780"/>
            <a:ext cx="2820514" cy="252413"/>
          </a:xfrm>
          <a:prstGeom prst="rect">
            <a:avLst/>
          </a:prstGeom>
          <a:noFill/>
          <a:ln/>
        </p:spPr>
        <p:txBody>
          <a:bodyPr wrap="square" lIns="0" tIns="0" rIns="0" bIns="0" rtlCol="0" anchor="t">
            <a:normAutofit/>
          </a:bodyPr>
          <a:lstStyle/>
          <a:p>
            <a:pPr algn="l" indent="0" marL="0">
              <a:lnSpc>
                <a:spcPct val="110465"/>
              </a:lnSpc>
              <a:buNone/>
            </a:pPr>
            <a:r>
              <a:rPr lang="en-US" sz="1425" dirty="0">
                <a:solidFill>
                  <a:srgbClr val="B8C0CF"/>
                </a:solidFill>
                <a:latin typeface="Arial" pitchFamily="34" charset="0"/>
                <a:ea typeface="Arial" pitchFamily="34" charset="-122"/>
                <a:cs typeface="Arial" pitchFamily="34" charset="-120"/>
              </a:rPr>
              <a:t>Common Web Application Attacks</a:t>
            </a:r>
            <a:endParaRPr lang="en-US" sz="1425" dirty="0"/>
          </a:p>
        </p:txBody>
      </p:sp>
      <p:sp>
        <p:nvSpPr>
          <p:cNvPr id="29" name="Shape 27"/>
          <p:cNvSpPr/>
          <p:nvPr/>
        </p:nvSpPr>
        <p:spPr>
          <a:xfrm>
            <a:off x="800100" y="4675361"/>
            <a:ext cx="4086225" cy="702469"/>
          </a:xfrm>
          <a:prstGeom prst="roundRect">
            <a:avLst>
              <a:gd name="adj" fmla="val 16271"/>
            </a:avLst>
          </a:prstGeom>
          <a:solidFill>
            <a:srgbClr val="FFFFFF">
              <a:alpha val="2000"/>
            </a:srgbClr>
          </a:solidFill>
          <a:ln w="9525">
            <a:solidFill>
              <a:srgbClr val="2A2F3A"/>
            </a:solidFill>
            <a:prstDash val="solid"/>
          </a:ln>
        </p:spPr>
      </p:sp>
      <p:sp>
        <p:nvSpPr>
          <p:cNvPr id="30" name="Text 28"/>
          <p:cNvSpPr/>
          <p:nvPr/>
        </p:nvSpPr>
        <p:spPr>
          <a:xfrm>
            <a:off x="942975" y="4799186"/>
            <a:ext cx="4180523" cy="228600"/>
          </a:xfrm>
          <a:prstGeom prst="rect">
            <a:avLst/>
          </a:prstGeom>
          <a:noFill/>
          <a:ln/>
        </p:spPr>
        <p:txBody>
          <a:bodyPr wrap="square" lIns="25400" tIns="25400" rIns="25400" bIns="25400" rtlCol="0" anchor="t">
            <a:normAutofit/>
          </a:bodyPr>
          <a:lstStyle/>
          <a:p>
            <a:pPr algn="l" indent="0" marL="0">
              <a:lnSpc>
                <a:spcPct val="108108"/>
              </a:lnSpc>
              <a:buNone/>
            </a:pPr>
            <a:r>
              <a:rPr lang="en-US" sz="1200" b="1" dirty="0">
                <a:solidFill>
                  <a:srgbClr val="FF6A00"/>
                </a:solidFill>
                <a:latin typeface="Arial" pitchFamily="34" charset="0"/>
                <a:ea typeface="Arial" pitchFamily="34" charset="-122"/>
                <a:cs typeface="Arial" pitchFamily="34" charset="-120"/>
              </a:rPr>
              <a:t>09</a:t>
            </a:r>
            <a:endParaRPr lang="en-US" sz="1200" dirty="0"/>
          </a:p>
        </p:txBody>
      </p:sp>
      <p:sp>
        <p:nvSpPr>
          <p:cNvPr id="31" name="Text 29"/>
          <p:cNvSpPr/>
          <p:nvPr/>
        </p:nvSpPr>
        <p:spPr>
          <a:xfrm>
            <a:off x="942975" y="5032549"/>
            <a:ext cx="1794197" cy="252413"/>
          </a:xfrm>
          <a:prstGeom prst="rect">
            <a:avLst/>
          </a:prstGeom>
          <a:noFill/>
          <a:ln/>
        </p:spPr>
        <p:txBody>
          <a:bodyPr wrap="square" lIns="0" tIns="0" rIns="0" bIns="0" rtlCol="0" anchor="t">
            <a:normAutofit/>
          </a:bodyPr>
          <a:lstStyle/>
          <a:p>
            <a:pPr algn="l" indent="0" marL="0">
              <a:lnSpc>
                <a:spcPct val="110465"/>
              </a:lnSpc>
              <a:buNone/>
            </a:pPr>
            <a:r>
              <a:rPr lang="en-US" sz="1425" dirty="0">
                <a:solidFill>
                  <a:srgbClr val="B8C0CF"/>
                </a:solidFill>
                <a:latin typeface="Arial" pitchFamily="34" charset="0"/>
                <a:ea typeface="Arial" pitchFamily="34" charset="-122"/>
                <a:cs typeface="Arial" pitchFamily="34" charset="-120"/>
              </a:rPr>
              <a:t>SQL Injection Attacks</a:t>
            </a:r>
            <a:endParaRPr lang="en-US" sz="1425" dirty="0"/>
          </a:p>
        </p:txBody>
      </p:sp>
      <p:sp>
        <p:nvSpPr>
          <p:cNvPr id="32" name="Shape 30"/>
          <p:cNvSpPr/>
          <p:nvPr/>
        </p:nvSpPr>
        <p:spPr>
          <a:xfrm>
            <a:off x="5000625" y="4675361"/>
            <a:ext cx="4086225" cy="702469"/>
          </a:xfrm>
          <a:prstGeom prst="roundRect">
            <a:avLst>
              <a:gd name="adj" fmla="val 16271"/>
            </a:avLst>
          </a:prstGeom>
          <a:solidFill>
            <a:srgbClr val="FF6A00">
              <a:alpha val="12000"/>
            </a:srgbClr>
          </a:solidFill>
          <a:ln w="9525">
            <a:solidFill>
              <a:srgbClr val="FF6A00"/>
            </a:solidFill>
            <a:prstDash val="solid"/>
          </a:ln>
        </p:spPr>
      </p:sp>
      <p:sp>
        <p:nvSpPr>
          <p:cNvPr id="33" name="Text 31"/>
          <p:cNvSpPr/>
          <p:nvPr/>
        </p:nvSpPr>
        <p:spPr>
          <a:xfrm>
            <a:off x="5143500" y="4799186"/>
            <a:ext cx="4180523" cy="228600"/>
          </a:xfrm>
          <a:prstGeom prst="rect">
            <a:avLst/>
          </a:prstGeom>
          <a:noFill/>
          <a:ln/>
        </p:spPr>
        <p:txBody>
          <a:bodyPr wrap="square" lIns="25400" tIns="25400" rIns="25400" bIns="25400" rtlCol="0" anchor="t">
            <a:normAutofit/>
          </a:bodyPr>
          <a:lstStyle/>
          <a:p>
            <a:pPr algn="l" indent="0" marL="0">
              <a:lnSpc>
                <a:spcPct val="108108"/>
              </a:lnSpc>
              <a:buNone/>
            </a:pPr>
            <a:r>
              <a:rPr lang="en-US" sz="1200" b="1" dirty="0">
                <a:solidFill>
                  <a:srgbClr val="FF6A00"/>
                </a:solidFill>
                <a:latin typeface="Arial" pitchFamily="34" charset="0"/>
                <a:ea typeface="Arial" pitchFamily="34" charset="-122"/>
                <a:cs typeface="Arial" pitchFamily="34" charset="-120"/>
              </a:rPr>
              <a:t>10</a:t>
            </a:r>
            <a:endParaRPr lang="en-US" sz="1200" dirty="0"/>
          </a:p>
        </p:txBody>
      </p:sp>
      <p:sp>
        <p:nvSpPr>
          <p:cNvPr id="34" name="Text 32"/>
          <p:cNvSpPr/>
          <p:nvPr/>
        </p:nvSpPr>
        <p:spPr>
          <a:xfrm>
            <a:off x="5143500" y="5032549"/>
            <a:ext cx="1790254" cy="252413"/>
          </a:xfrm>
          <a:prstGeom prst="rect">
            <a:avLst/>
          </a:prstGeom>
          <a:noFill/>
          <a:ln/>
        </p:spPr>
        <p:txBody>
          <a:bodyPr wrap="square" lIns="0" tIns="0" rIns="0" bIns="0" rtlCol="0" anchor="t">
            <a:normAutofit/>
          </a:bodyPr>
          <a:lstStyle/>
          <a:p>
            <a:pPr algn="l" indent="0" marL="0">
              <a:lnSpc>
                <a:spcPct val="110465"/>
              </a:lnSpc>
              <a:buNone/>
            </a:pPr>
            <a:r>
              <a:rPr lang="en-US" sz="1425" b="1" dirty="0">
                <a:solidFill>
                  <a:srgbClr val="F5F7FB"/>
                </a:solidFill>
                <a:latin typeface="Arial" pitchFamily="34" charset="0"/>
                <a:ea typeface="Arial" pitchFamily="34" charset="-122"/>
                <a:cs typeface="Arial" pitchFamily="34" charset="-120"/>
              </a:rPr>
              <a:t>Client-Side Attacks</a:t>
            </a:r>
            <a:endParaRPr lang="en-US" sz="1425" dirty="0"/>
          </a:p>
        </p:txBody>
      </p:sp>
      <p:sp>
        <p:nvSpPr>
          <p:cNvPr id="35" name="Shape 33"/>
          <p:cNvSpPr/>
          <p:nvPr/>
        </p:nvSpPr>
        <p:spPr>
          <a:xfrm>
            <a:off x="9201150" y="4675361"/>
            <a:ext cx="4086225" cy="702469"/>
          </a:xfrm>
          <a:prstGeom prst="roundRect">
            <a:avLst>
              <a:gd name="adj" fmla="val 16271"/>
            </a:avLst>
          </a:prstGeom>
          <a:solidFill>
            <a:srgbClr val="FFFFFF">
              <a:alpha val="2000"/>
            </a:srgbClr>
          </a:solidFill>
          <a:ln w="9525">
            <a:solidFill>
              <a:srgbClr val="2A2F3A"/>
            </a:solidFill>
            <a:prstDash val="solid"/>
          </a:ln>
        </p:spPr>
      </p:sp>
      <p:sp>
        <p:nvSpPr>
          <p:cNvPr id="36" name="Text 34"/>
          <p:cNvSpPr/>
          <p:nvPr/>
        </p:nvSpPr>
        <p:spPr>
          <a:xfrm>
            <a:off x="9344025" y="4799186"/>
            <a:ext cx="4180523" cy="228600"/>
          </a:xfrm>
          <a:prstGeom prst="rect">
            <a:avLst/>
          </a:prstGeom>
          <a:noFill/>
          <a:ln/>
        </p:spPr>
        <p:txBody>
          <a:bodyPr wrap="square" lIns="25400" tIns="25400" rIns="25400" bIns="25400" rtlCol="0" anchor="t">
            <a:normAutofit/>
          </a:bodyPr>
          <a:lstStyle/>
          <a:p>
            <a:pPr algn="l" indent="0" marL="0">
              <a:lnSpc>
                <a:spcPct val="108108"/>
              </a:lnSpc>
              <a:buNone/>
            </a:pPr>
            <a:r>
              <a:rPr lang="en-US" sz="1200" b="1" dirty="0">
                <a:solidFill>
                  <a:srgbClr val="FF6A00"/>
                </a:solidFill>
                <a:latin typeface="Arial" pitchFamily="34" charset="0"/>
                <a:ea typeface="Arial" pitchFamily="34" charset="-122"/>
                <a:cs typeface="Arial" pitchFamily="34" charset="-120"/>
              </a:rPr>
              <a:t>11</a:t>
            </a:r>
            <a:endParaRPr lang="en-US" sz="1200" dirty="0"/>
          </a:p>
        </p:txBody>
      </p:sp>
      <p:sp>
        <p:nvSpPr>
          <p:cNvPr id="37" name="Text 35"/>
          <p:cNvSpPr/>
          <p:nvPr/>
        </p:nvSpPr>
        <p:spPr>
          <a:xfrm>
            <a:off x="9344025" y="5032549"/>
            <a:ext cx="1980009" cy="252413"/>
          </a:xfrm>
          <a:prstGeom prst="rect">
            <a:avLst/>
          </a:prstGeom>
          <a:noFill/>
          <a:ln/>
        </p:spPr>
        <p:txBody>
          <a:bodyPr wrap="square" lIns="0" tIns="0" rIns="0" bIns="0" rtlCol="0" anchor="t">
            <a:normAutofit/>
          </a:bodyPr>
          <a:lstStyle/>
          <a:p>
            <a:pPr algn="l" indent="0" marL="0">
              <a:lnSpc>
                <a:spcPct val="110465"/>
              </a:lnSpc>
              <a:buNone/>
            </a:pPr>
            <a:r>
              <a:rPr lang="en-US" sz="1425" dirty="0">
                <a:solidFill>
                  <a:srgbClr val="B8C0CF"/>
                </a:solidFill>
                <a:latin typeface="Arial" pitchFamily="34" charset="0"/>
                <a:ea typeface="Arial" pitchFamily="34" charset="-122"/>
                <a:cs typeface="Arial" pitchFamily="34" charset="-120"/>
              </a:rPr>
              <a:t>Locating Public Exploits</a:t>
            </a:r>
            <a:endParaRPr lang="en-US" sz="1425" dirty="0"/>
          </a:p>
        </p:txBody>
      </p:sp>
      <p:sp>
        <p:nvSpPr>
          <p:cNvPr id="38" name="Shape 36"/>
          <p:cNvSpPr/>
          <p:nvPr/>
        </p:nvSpPr>
        <p:spPr>
          <a:xfrm>
            <a:off x="13401675" y="4675361"/>
            <a:ext cx="4086225" cy="702469"/>
          </a:xfrm>
          <a:prstGeom prst="roundRect">
            <a:avLst>
              <a:gd name="adj" fmla="val 16271"/>
            </a:avLst>
          </a:prstGeom>
          <a:solidFill>
            <a:srgbClr val="FFFFFF">
              <a:alpha val="2000"/>
            </a:srgbClr>
          </a:solidFill>
          <a:ln w="9525">
            <a:solidFill>
              <a:srgbClr val="2A2F3A"/>
            </a:solidFill>
            <a:prstDash val="solid"/>
          </a:ln>
        </p:spPr>
      </p:sp>
      <p:sp>
        <p:nvSpPr>
          <p:cNvPr id="39" name="Text 37"/>
          <p:cNvSpPr/>
          <p:nvPr/>
        </p:nvSpPr>
        <p:spPr>
          <a:xfrm>
            <a:off x="13544550" y="4799186"/>
            <a:ext cx="4180523" cy="228600"/>
          </a:xfrm>
          <a:prstGeom prst="rect">
            <a:avLst/>
          </a:prstGeom>
          <a:noFill/>
          <a:ln/>
        </p:spPr>
        <p:txBody>
          <a:bodyPr wrap="square" lIns="25400" tIns="25400" rIns="25400" bIns="25400" rtlCol="0" anchor="t">
            <a:normAutofit/>
          </a:bodyPr>
          <a:lstStyle/>
          <a:p>
            <a:pPr algn="l" indent="0" marL="0">
              <a:lnSpc>
                <a:spcPct val="108108"/>
              </a:lnSpc>
              <a:buNone/>
            </a:pPr>
            <a:r>
              <a:rPr lang="en-US" sz="1200" b="1" dirty="0">
                <a:solidFill>
                  <a:srgbClr val="FF6A00"/>
                </a:solidFill>
                <a:latin typeface="Arial" pitchFamily="34" charset="0"/>
                <a:ea typeface="Arial" pitchFamily="34" charset="-122"/>
                <a:cs typeface="Arial" pitchFamily="34" charset="-120"/>
              </a:rPr>
              <a:t>12</a:t>
            </a:r>
            <a:endParaRPr lang="en-US" sz="1200" dirty="0"/>
          </a:p>
        </p:txBody>
      </p:sp>
      <p:sp>
        <p:nvSpPr>
          <p:cNvPr id="40" name="Text 38"/>
          <p:cNvSpPr/>
          <p:nvPr/>
        </p:nvSpPr>
        <p:spPr>
          <a:xfrm>
            <a:off x="13544550" y="5032549"/>
            <a:ext cx="1223516" cy="252413"/>
          </a:xfrm>
          <a:prstGeom prst="rect">
            <a:avLst/>
          </a:prstGeom>
          <a:noFill/>
          <a:ln/>
        </p:spPr>
        <p:txBody>
          <a:bodyPr wrap="square" lIns="0" tIns="0" rIns="0" bIns="0" rtlCol="0" anchor="t">
            <a:normAutofit/>
          </a:bodyPr>
          <a:lstStyle/>
          <a:p>
            <a:pPr algn="l" indent="0" marL="0">
              <a:lnSpc>
                <a:spcPct val="110465"/>
              </a:lnSpc>
              <a:buNone/>
            </a:pPr>
            <a:r>
              <a:rPr lang="en-US" sz="1425" dirty="0">
                <a:solidFill>
                  <a:srgbClr val="B8C0CF"/>
                </a:solidFill>
                <a:latin typeface="Arial" pitchFamily="34" charset="0"/>
                <a:ea typeface="Arial" pitchFamily="34" charset="-122"/>
                <a:cs typeface="Arial" pitchFamily="34" charset="-120"/>
              </a:rPr>
              <a:t>Fixing Exploits</a:t>
            </a:r>
            <a:endParaRPr lang="en-US" sz="1425" dirty="0"/>
          </a:p>
        </p:txBody>
      </p:sp>
      <p:sp>
        <p:nvSpPr>
          <p:cNvPr id="41" name="Shape 39"/>
          <p:cNvSpPr/>
          <p:nvPr/>
        </p:nvSpPr>
        <p:spPr>
          <a:xfrm>
            <a:off x="800100" y="5492130"/>
            <a:ext cx="4086225" cy="702469"/>
          </a:xfrm>
          <a:prstGeom prst="roundRect">
            <a:avLst>
              <a:gd name="adj" fmla="val 16271"/>
            </a:avLst>
          </a:prstGeom>
          <a:solidFill>
            <a:srgbClr val="FFFFFF">
              <a:alpha val="2000"/>
            </a:srgbClr>
          </a:solidFill>
          <a:ln w="9525">
            <a:solidFill>
              <a:srgbClr val="2A2F3A"/>
            </a:solidFill>
            <a:prstDash val="solid"/>
          </a:ln>
        </p:spPr>
      </p:sp>
      <p:sp>
        <p:nvSpPr>
          <p:cNvPr id="42" name="Text 40"/>
          <p:cNvSpPr/>
          <p:nvPr/>
        </p:nvSpPr>
        <p:spPr>
          <a:xfrm>
            <a:off x="942975" y="5615955"/>
            <a:ext cx="4180523" cy="228600"/>
          </a:xfrm>
          <a:prstGeom prst="rect">
            <a:avLst/>
          </a:prstGeom>
          <a:noFill/>
          <a:ln/>
        </p:spPr>
        <p:txBody>
          <a:bodyPr wrap="square" lIns="25400" tIns="25400" rIns="25400" bIns="25400" rtlCol="0" anchor="t">
            <a:normAutofit/>
          </a:bodyPr>
          <a:lstStyle/>
          <a:p>
            <a:pPr algn="l" indent="0" marL="0">
              <a:lnSpc>
                <a:spcPct val="108108"/>
              </a:lnSpc>
              <a:buNone/>
            </a:pPr>
            <a:r>
              <a:rPr lang="en-US" sz="1200" b="1" dirty="0">
                <a:solidFill>
                  <a:srgbClr val="FF6A00"/>
                </a:solidFill>
                <a:latin typeface="Arial" pitchFamily="34" charset="0"/>
                <a:ea typeface="Arial" pitchFamily="34" charset="-122"/>
                <a:cs typeface="Arial" pitchFamily="34" charset="-120"/>
              </a:rPr>
              <a:t>13</a:t>
            </a:r>
            <a:endParaRPr lang="en-US" sz="1200" dirty="0"/>
          </a:p>
        </p:txBody>
      </p:sp>
      <p:sp>
        <p:nvSpPr>
          <p:cNvPr id="43" name="Text 41"/>
          <p:cNvSpPr/>
          <p:nvPr/>
        </p:nvSpPr>
        <p:spPr>
          <a:xfrm>
            <a:off x="942975" y="5849317"/>
            <a:ext cx="1443856" cy="252413"/>
          </a:xfrm>
          <a:prstGeom prst="rect">
            <a:avLst/>
          </a:prstGeom>
          <a:noFill/>
          <a:ln/>
        </p:spPr>
        <p:txBody>
          <a:bodyPr wrap="square" lIns="0" tIns="0" rIns="0" bIns="0" rtlCol="0" anchor="t">
            <a:normAutofit/>
          </a:bodyPr>
          <a:lstStyle/>
          <a:p>
            <a:pPr algn="l" indent="0" marL="0">
              <a:lnSpc>
                <a:spcPct val="110465"/>
              </a:lnSpc>
              <a:buNone/>
            </a:pPr>
            <a:r>
              <a:rPr lang="en-US" sz="1425" dirty="0">
                <a:solidFill>
                  <a:srgbClr val="B8C0CF"/>
                </a:solidFill>
                <a:latin typeface="Arial" pitchFamily="34" charset="0"/>
                <a:ea typeface="Arial" pitchFamily="34" charset="-122"/>
                <a:cs typeface="Arial" pitchFamily="34" charset="-120"/>
              </a:rPr>
              <a:t>Antivirus Evasion</a:t>
            </a:r>
            <a:endParaRPr lang="en-US" sz="1425" dirty="0"/>
          </a:p>
        </p:txBody>
      </p:sp>
      <p:sp>
        <p:nvSpPr>
          <p:cNvPr id="44" name="Shape 42"/>
          <p:cNvSpPr/>
          <p:nvPr/>
        </p:nvSpPr>
        <p:spPr>
          <a:xfrm>
            <a:off x="5000625" y="5492130"/>
            <a:ext cx="4086225" cy="702469"/>
          </a:xfrm>
          <a:prstGeom prst="roundRect">
            <a:avLst>
              <a:gd name="adj" fmla="val 16271"/>
            </a:avLst>
          </a:prstGeom>
          <a:solidFill>
            <a:srgbClr val="FFFFFF">
              <a:alpha val="2000"/>
            </a:srgbClr>
          </a:solidFill>
          <a:ln w="9525">
            <a:solidFill>
              <a:srgbClr val="2A2F3A"/>
            </a:solidFill>
            <a:prstDash val="solid"/>
          </a:ln>
        </p:spPr>
      </p:sp>
      <p:sp>
        <p:nvSpPr>
          <p:cNvPr id="45" name="Text 43"/>
          <p:cNvSpPr/>
          <p:nvPr/>
        </p:nvSpPr>
        <p:spPr>
          <a:xfrm>
            <a:off x="5143500" y="5615955"/>
            <a:ext cx="4180523" cy="228600"/>
          </a:xfrm>
          <a:prstGeom prst="rect">
            <a:avLst/>
          </a:prstGeom>
          <a:noFill/>
          <a:ln/>
        </p:spPr>
        <p:txBody>
          <a:bodyPr wrap="square" lIns="25400" tIns="25400" rIns="25400" bIns="25400" rtlCol="0" anchor="t">
            <a:normAutofit/>
          </a:bodyPr>
          <a:lstStyle/>
          <a:p>
            <a:pPr algn="l" indent="0" marL="0">
              <a:lnSpc>
                <a:spcPct val="108108"/>
              </a:lnSpc>
              <a:buNone/>
            </a:pPr>
            <a:r>
              <a:rPr lang="en-US" sz="1200" b="1" dirty="0">
                <a:solidFill>
                  <a:srgbClr val="FF6A00"/>
                </a:solidFill>
                <a:latin typeface="Arial" pitchFamily="34" charset="0"/>
                <a:ea typeface="Arial" pitchFamily="34" charset="-122"/>
                <a:cs typeface="Arial" pitchFamily="34" charset="-120"/>
              </a:rPr>
              <a:t>14</a:t>
            </a:r>
            <a:endParaRPr lang="en-US" sz="1200" dirty="0"/>
          </a:p>
        </p:txBody>
      </p:sp>
      <p:sp>
        <p:nvSpPr>
          <p:cNvPr id="46" name="Text 44"/>
          <p:cNvSpPr/>
          <p:nvPr/>
        </p:nvSpPr>
        <p:spPr>
          <a:xfrm>
            <a:off x="5143500" y="5849317"/>
            <a:ext cx="1499815" cy="252413"/>
          </a:xfrm>
          <a:prstGeom prst="rect">
            <a:avLst/>
          </a:prstGeom>
          <a:noFill/>
          <a:ln/>
        </p:spPr>
        <p:txBody>
          <a:bodyPr wrap="square" lIns="0" tIns="0" rIns="0" bIns="0" rtlCol="0" anchor="t">
            <a:normAutofit/>
          </a:bodyPr>
          <a:lstStyle/>
          <a:p>
            <a:pPr algn="l" indent="0" marL="0">
              <a:lnSpc>
                <a:spcPct val="110465"/>
              </a:lnSpc>
              <a:buNone/>
            </a:pPr>
            <a:r>
              <a:rPr lang="en-US" sz="1425" dirty="0">
                <a:solidFill>
                  <a:srgbClr val="B8C0CF"/>
                </a:solidFill>
                <a:latin typeface="Arial" pitchFamily="34" charset="0"/>
                <a:ea typeface="Arial" pitchFamily="34" charset="-122"/>
                <a:cs typeface="Arial" pitchFamily="34" charset="-120"/>
              </a:rPr>
              <a:t>Password Attacks</a:t>
            </a:r>
            <a:endParaRPr lang="en-US" sz="1425" dirty="0"/>
          </a:p>
        </p:txBody>
      </p:sp>
      <p:sp>
        <p:nvSpPr>
          <p:cNvPr id="47" name="Shape 45"/>
          <p:cNvSpPr/>
          <p:nvPr/>
        </p:nvSpPr>
        <p:spPr>
          <a:xfrm>
            <a:off x="9201150" y="5492130"/>
            <a:ext cx="4086225" cy="702469"/>
          </a:xfrm>
          <a:prstGeom prst="roundRect">
            <a:avLst>
              <a:gd name="adj" fmla="val 16271"/>
            </a:avLst>
          </a:prstGeom>
          <a:solidFill>
            <a:srgbClr val="FFFFFF">
              <a:alpha val="2000"/>
            </a:srgbClr>
          </a:solidFill>
          <a:ln w="9525">
            <a:solidFill>
              <a:srgbClr val="2A2F3A"/>
            </a:solidFill>
            <a:prstDash val="solid"/>
          </a:ln>
        </p:spPr>
      </p:sp>
      <p:sp>
        <p:nvSpPr>
          <p:cNvPr id="48" name="Text 46"/>
          <p:cNvSpPr/>
          <p:nvPr/>
        </p:nvSpPr>
        <p:spPr>
          <a:xfrm>
            <a:off x="9344025" y="5615955"/>
            <a:ext cx="4180523" cy="228600"/>
          </a:xfrm>
          <a:prstGeom prst="rect">
            <a:avLst/>
          </a:prstGeom>
          <a:noFill/>
          <a:ln/>
        </p:spPr>
        <p:txBody>
          <a:bodyPr wrap="square" lIns="25400" tIns="25400" rIns="25400" bIns="25400" rtlCol="0" anchor="t">
            <a:normAutofit/>
          </a:bodyPr>
          <a:lstStyle/>
          <a:p>
            <a:pPr algn="l" indent="0" marL="0">
              <a:lnSpc>
                <a:spcPct val="108108"/>
              </a:lnSpc>
              <a:buNone/>
            </a:pPr>
            <a:r>
              <a:rPr lang="en-US" sz="1200" b="1" dirty="0">
                <a:solidFill>
                  <a:srgbClr val="FF6A00"/>
                </a:solidFill>
                <a:latin typeface="Arial" pitchFamily="34" charset="0"/>
                <a:ea typeface="Arial" pitchFamily="34" charset="-122"/>
                <a:cs typeface="Arial" pitchFamily="34" charset="-120"/>
              </a:rPr>
              <a:t>15</a:t>
            </a:r>
            <a:endParaRPr lang="en-US" sz="1200" dirty="0"/>
          </a:p>
        </p:txBody>
      </p:sp>
      <p:sp>
        <p:nvSpPr>
          <p:cNvPr id="49" name="Text 47"/>
          <p:cNvSpPr/>
          <p:nvPr/>
        </p:nvSpPr>
        <p:spPr>
          <a:xfrm>
            <a:off x="9344025" y="5849317"/>
            <a:ext cx="2412802" cy="252413"/>
          </a:xfrm>
          <a:prstGeom prst="rect">
            <a:avLst/>
          </a:prstGeom>
          <a:noFill/>
          <a:ln/>
        </p:spPr>
        <p:txBody>
          <a:bodyPr wrap="square" lIns="0" tIns="0" rIns="0" bIns="0" rtlCol="0" anchor="t">
            <a:normAutofit/>
          </a:bodyPr>
          <a:lstStyle/>
          <a:p>
            <a:pPr algn="l" indent="0" marL="0">
              <a:lnSpc>
                <a:spcPct val="110465"/>
              </a:lnSpc>
              <a:buNone/>
            </a:pPr>
            <a:r>
              <a:rPr lang="en-US" sz="1425" dirty="0">
                <a:solidFill>
                  <a:srgbClr val="B8C0CF"/>
                </a:solidFill>
                <a:latin typeface="Arial" pitchFamily="34" charset="0"/>
                <a:ea typeface="Arial" pitchFamily="34" charset="-122"/>
                <a:cs typeface="Arial" pitchFamily="34" charset="-120"/>
              </a:rPr>
              <a:t>Windows Privilege Escalation</a:t>
            </a:r>
            <a:endParaRPr lang="en-US" sz="1425" dirty="0"/>
          </a:p>
        </p:txBody>
      </p:sp>
      <p:sp>
        <p:nvSpPr>
          <p:cNvPr id="50" name="Shape 48"/>
          <p:cNvSpPr/>
          <p:nvPr/>
        </p:nvSpPr>
        <p:spPr>
          <a:xfrm>
            <a:off x="13401675" y="5492130"/>
            <a:ext cx="4086225" cy="702469"/>
          </a:xfrm>
          <a:prstGeom prst="roundRect">
            <a:avLst>
              <a:gd name="adj" fmla="val 16271"/>
            </a:avLst>
          </a:prstGeom>
          <a:solidFill>
            <a:srgbClr val="FFFFFF">
              <a:alpha val="2000"/>
            </a:srgbClr>
          </a:solidFill>
          <a:ln w="9525">
            <a:solidFill>
              <a:srgbClr val="2A2F3A"/>
            </a:solidFill>
            <a:prstDash val="solid"/>
          </a:ln>
        </p:spPr>
      </p:sp>
      <p:sp>
        <p:nvSpPr>
          <p:cNvPr id="51" name="Text 49"/>
          <p:cNvSpPr/>
          <p:nvPr/>
        </p:nvSpPr>
        <p:spPr>
          <a:xfrm>
            <a:off x="13544550" y="5615955"/>
            <a:ext cx="4180523" cy="228600"/>
          </a:xfrm>
          <a:prstGeom prst="rect">
            <a:avLst/>
          </a:prstGeom>
          <a:noFill/>
          <a:ln/>
        </p:spPr>
        <p:txBody>
          <a:bodyPr wrap="square" lIns="25400" tIns="25400" rIns="25400" bIns="25400" rtlCol="0" anchor="t">
            <a:normAutofit/>
          </a:bodyPr>
          <a:lstStyle/>
          <a:p>
            <a:pPr algn="l" indent="0" marL="0">
              <a:lnSpc>
                <a:spcPct val="108108"/>
              </a:lnSpc>
              <a:buNone/>
            </a:pPr>
            <a:r>
              <a:rPr lang="en-US" sz="1200" b="1" dirty="0">
                <a:solidFill>
                  <a:srgbClr val="FF6A00"/>
                </a:solidFill>
                <a:latin typeface="Arial" pitchFamily="34" charset="0"/>
                <a:ea typeface="Arial" pitchFamily="34" charset="-122"/>
                <a:cs typeface="Arial" pitchFamily="34" charset="-120"/>
              </a:rPr>
              <a:t>16</a:t>
            </a:r>
            <a:endParaRPr lang="en-US" sz="1200" dirty="0"/>
          </a:p>
        </p:txBody>
      </p:sp>
      <p:sp>
        <p:nvSpPr>
          <p:cNvPr id="52" name="Text 50"/>
          <p:cNvSpPr/>
          <p:nvPr/>
        </p:nvSpPr>
        <p:spPr>
          <a:xfrm>
            <a:off x="13544550" y="5849317"/>
            <a:ext cx="2104058" cy="252413"/>
          </a:xfrm>
          <a:prstGeom prst="rect">
            <a:avLst/>
          </a:prstGeom>
          <a:noFill/>
          <a:ln/>
        </p:spPr>
        <p:txBody>
          <a:bodyPr wrap="square" lIns="0" tIns="0" rIns="0" bIns="0" rtlCol="0" anchor="t">
            <a:normAutofit/>
          </a:bodyPr>
          <a:lstStyle/>
          <a:p>
            <a:pPr algn="l" indent="0" marL="0">
              <a:lnSpc>
                <a:spcPct val="110465"/>
              </a:lnSpc>
              <a:buNone/>
            </a:pPr>
            <a:r>
              <a:rPr lang="en-US" sz="1425" dirty="0">
                <a:solidFill>
                  <a:srgbClr val="B8C0CF"/>
                </a:solidFill>
                <a:latin typeface="Arial" pitchFamily="34" charset="0"/>
                <a:ea typeface="Arial" pitchFamily="34" charset="-122"/>
                <a:cs typeface="Arial" pitchFamily="34" charset="-120"/>
              </a:rPr>
              <a:t>Linux Privilege Escalation</a:t>
            </a:r>
            <a:endParaRPr lang="en-US" sz="1425" dirty="0"/>
          </a:p>
        </p:txBody>
      </p:sp>
      <p:sp>
        <p:nvSpPr>
          <p:cNvPr id="53" name="Shape 51"/>
          <p:cNvSpPr/>
          <p:nvPr/>
        </p:nvSpPr>
        <p:spPr>
          <a:xfrm>
            <a:off x="800100" y="6308899"/>
            <a:ext cx="4086225" cy="702469"/>
          </a:xfrm>
          <a:prstGeom prst="roundRect">
            <a:avLst>
              <a:gd name="adj" fmla="val 16271"/>
            </a:avLst>
          </a:prstGeom>
          <a:solidFill>
            <a:srgbClr val="FFFFFF">
              <a:alpha val="2000"/>
            </a:srgbClr>
          </a:solidFill>
          <a:ln w="9525">
            <a:solidFill>
              <a:srgbClr val="2A2F3A"/>
            </a:solidFill>
            <a:prstDash val="solid"/>
          </a:ln>
        </p:spPr>
      </p:sp>
      <p:sp>
        <p:nvSpPr>
          <p:cNvPr id="54" name="Text 52"/>
          <p:cNvSpPr/>
          <p:nvPr/>
        </p:nvSpPr>
        <p:spPr>
          <a:xfrm>
            <a:off x="942975" y="6432724"/>
            <a:ext cx="4180523" cy="228600"/>
          </a:xfrm>
          <a:prstGeom prst="rect">
            <a:avLst/>
          </a:prstGeom>
          <a:noFill/>
          <a:ln/>
        </p:spPr>
        <p:txBody>
          <a:bodyPr wrap="square" lIns="25400" tIns="25400" rIns="25400" bIns="25400" rtlCol="0" anchor="t">
            <a:normAutofit/>
          </a:bodyPr>
          <a:lstStyle/>
          <a:p>
            <a:pPr algn="l" indent="0" marL="0">
              <a:lnSpc>
                <a:spcPct val="108108"/>
              </a:lnSpc>
              <a:buNone/>
            </a:pPr>
            <a:r>
              <a:rPr lang="en-US" sz="1200" b="1" dirty="0">
                <a:solidFill>
                  <a:srgbClr val="FF6A00"/>
                </a:solidFill>
                <a:latin typeface="Arial" pitchFamily="34" charset="0"/>
                <a:ea typeface="Arial" pitchFamily="34" charset="-122"/>
                <a:cs typeface="Arial" pitchFamily="34" charset="-120"/>
              </a:rPr>
              <a:t>17</a:t>
            </a:r>
            <a:endParaRPr lang="en-US" sz="1200" dirty="0"/>
          </a:p>
        </p:txBody>
      </p:sp>
      <p:sp>
        <p:nvSpPr>
          <p:cNvPr id="55" name="Text 53"/>
          <p:cNvSpPr/>
          <p:nvPr/>
        </p:nvSpPr>
        <p:spPr>
          <a:xfrm>
            <a:off x="942975" y="6666086"/>
            <a:ext cx="2947747" cy="252413"/>
          </a:xfrm>
          <a:prstGeom prst="rect">
            <a:avLst/>
          </a:prstGeom>
          <a:noFill/>
          <a:ln/>
        </p:spPr>
        <p:txBody>
          <a:bodyPr wrap="square" lIns="0" tIns="0" rIns="0" bIns="0" rtlCol="0" anchor="t">
            <a:normAutofit/>
          </a:bodyPr>
          <a:lstStyle/>
          <a:p>
            <a:pPr algn="l" indent="0" marL="0">
              <a:lnSpc>
                <a:spcPct val="110465"/>
              </a:lnSpc>
              <a:buNone/>
            </a:pPr>
            <a:r>
              <a:rPr lang="en-US" sz="1425" dirty="0">
                <a:solidFill>
                  <a:srgbClr val="B8C0CF"/>
                </a:solidFill>
                <a:latin typeface="Arial" pitchFamily="34" charset="0"/>
                <a:ea typeface="Arial" pitchFamily="34" charset="-122"/>
                <a:cs typeface="Arial" pitchFamily="34" charset="-120"/>
              </a:rPr>
              <a:t>Port Redirection and SSH Tunneling</a:t>
            </a:r>
            <a:endParaRPr lang="en-US" sz="1425" dirty="0"/>
          </a:p>
        </p:txBody>
      </p:sp>
      <p:sp>
        <p:nvSpPr>
          <p:cNvPr id="56" name="Shape 54"/>
          <p:cNvSpPr/>
          <p:nvPr/>
        </p:nvSpPr>
        <p:spPr>
          <a:xfrm>
            <a:off x="5000625" y="6308899"/>
            <a:ext cx="4086225" cy="702469"/>
          </a:xfrm>
          <a:prstGeom prst="roundRect">
            <a:avLst>
              <a:gd name="adj" fmla="val 16271"/>
            </a:avLst>
          </a:prstGeom>
          <a:solidFill>
            <a:srgbClr val="FFFFFF">
              <a:alpha val="2000"/>
            </a:srgbClr>
          </a:solidFill>
          <a:ln w="9525">
            <a:solidFill>
              <a:srgbClr val="2A2F3A"/>
            </a:solidFill>
            <a:prstDash val="solid"/>
          </a:ln>
        </p:spPr>
      </p:sp>
      <p:sp>
        <p:nvSpPr>
          <p:cNvPr id="57" name="Text 55"/>
          <p:cNvSpPr/>
          <p:nvPr/>
        </p:nvSpPr>
        <p:spPr>
          <a:xfrm>
            <a:off x="5143500" y="6432724"/>
            <a:ext cx="4180523" cy="228600"/>
          </a:xfrm>
          <a:prstGeom prst="rect">
            <a:avLst/>
          </a:prstGeom>
          <a:noFill/>
          <a:ln/>
        </p:spPr>
        <p:txBody>
          <a:bodyPr wrap="square" lIns="25400" tIns="25400" rIns="25400" bIns="25400" rtlCol="0" anchor="t">
            <a:normAutofit/>
          </a:bodyPr>
          <a:lstStyle/>
          <a:p>
            <a:pPr algn="l" indent="0" marL="0">
              <a:lnSpc>
                <a:spcPct val="108108"/>
              </a:lnSpc>
              <a:buNone/>
            </a:pPr>
            <a:r>
              <a:rPr lang="en-US" sz="1200" b="1" dirty="0">
                <a:solidFill>
                  <a:srgbClr val="FF6A00"/>
                </a:solidFill>
                <a:latin typeface="Arial" pitchFamily="34" charset="0"/>
                <a:ea typeface="Arial" pitchFamily="34" charset="-122"/>
                <a:cs typeface="Arial" pitchFamily="34" charset="-120"/>
              </a:rPr>
              <a:t>18</a:t>
            </a:r>
            <a:endParaRPr lang="en-US" sz="1200" dirty="0"/>
          </a:p>
        </p:txBody>
      </p:sp>
      <p:sp>
        <p:nvSpPr>
          <p:cNvPr id="58" name="Text 56"/>
          <p:cNvSpPr/>
          <p:nvPr/>
        </p:nvSpPr>
        <p:spPr>
          <a:xfrm>
            <a:off x="5143500" y="6666086"/>
            <a:ext cx="1705570" cy="252413"/>
          </a:xfrm>
          <a:prstGeom prst="rect">
            <a:avLst/>
          </a:prstGeom>
          <a:noFill/>
          <a:ln/>
        </p:spPr>
        <p:txBody>
          <a:bodyPr wrap="square" lIns="0" tIns="0" rIns="0" bIns="0" rtlCol="0" anchor="t">
            <a:normAutofit/>
          </a:bodyPr>
          <a:lstStyle/>
          <a:p>
            <a:pPr algn="l" indent="0" marL="0">
              <a:lnSpc>
                <a:spcPct val="110465"/>
              </a:lnSpc>
              <a:buNone/>
            </a:pPr>
            <a:r>
              <a:rPr lang="en-US" sz="1425" dirty="0">
                <a:solidFill>
                  <a:srgbClr val="B8C0CF"/>
                </a:solidFill>
                <a:latin typeface="Arial" pitchFamily="34" charset="0"/>
                <a:ea typeface="Arial" pitchFamily="34" charset="-122"/>
                <a:cs typeface="Arial" pitchFamily="34" charset="-120"/>
              </a:rPr>
              <a:t>Advanced Tunneling</a:t>
            </a:r>
            <a:endParaRPr lang="en-US" sz="1425" dirty="0"/>
          </a:p>
        </p:txBody>
      </p:sp>
      <p:sp>
        <p:nvSpPr>
          <p:cNvPr id="59" name="Shape 57"/>
          <p:cNvSpPr/>
          <p:nvPr/>
        </p:nvSpPr>
        <p:spPr>
          <a:xfrm>
            <a:off x="9201150" y="6308899"/>
            <a:ext cx="4086225" cy="702469"/>
          </a:xfrm>
          <a:prstGeom prst="roundRect">
            <a:avLst>
              <a:gd name="adj" fmla="val 16271"/>
            </a:avLst>
          </a:prstGeom>
          <a:solidFill>
            <a:srgbClr val="FFFFFF">
              <a:alpha val="2000"/>
            </a:srgbClr>
          </a:solidFill>
          <a:ln w="9525">
            <a:solidFill>
              <a:srgbClr val="2A2F3A"/>
            </a:solidFill>
            <a:prstDash val="solid"/>
          </a:ln>
        </p:spPr>
      </p:sp>
      <p:sp>
        <p:nvSpPr>
          <p:cNvPr id="60" name="Text 58"/>
          <p:cNvSpPr/>
          <p:nvPr/>
        </p:nvSpPr>
        <p:spPr>
          <a:xfrm>
            <a:off x="9344025" y="6432724"/>
            <a:ext cx="4180523" cy="228600"/>
          </a:xfrm>
          <a:prstGeom prst="rect">
            <a:avLst/>
          </a:prstGeom>
          <a:noFill/>
          <a:ln/>
        </p:spPr>
        <p:txBody>
          <a:bodyPr wrap="square" lIns="25400" tIns="25400" rIns="25400" bIns="25400" rtlCol="0" anchor="t">
            <a:normAutofit/>
          </a:bodyPr>
          <a:lstStyle/>
          <a:p>
            <a:pPr algn="l" indent="0" marL="0">
              <a:lnSpc>
                <a:spcPct val="108108"/>
              </a:lnSpc>
              <a:buNone/>
            </a:pPr>
            <a:r>
              <a:rPr lang="en-US" sz="1200" b="1" dirty="0">
                <a:solidFill>
                  <a:srgbClr val="FF6A00"/>
                </a:solidFill>
                <a:latin typeface="Arial" pitchFamily="34" charset="0"/>
                <a:ea typeface="Arial" pitchFamily="34" charset="-122"/>
                <a:cs typeface="Arial" pitchFamily="34" charset="-120"/>
              </a:rPr>
              <a:t>19</a:t>
            </a:r>
            <a:endParaRPr lang="en-US" sz="1200" dirty="0"/>
          </a:p>
        </p:txBody>
      </p:sp>
      <p:sp>
        <p:nvSpPr>
          <p:cNvPr id="61" name="Text 59"/>
          <p:cNvSpPr/>
          <p:nvPr/>
        </p:nvSpPr>
        <p:spPr>
          <a:xfrm>
            <a:off x="9344025" y="6666086"/>
            <a:ext cx="2217167" cy="252413"/>
          </a:xfrm>
          <a:prstGeom prst="rect">
            <a:avLst/>
          </a:prstGeom>
          <a:noFill/>
          <a:ln/>
        </p:spPr>
        <p:txBody>
          <a:bodyPr wrap="square" lIns="0" tIns="0" rIns="0" bIns="0" rtlCol="0" anchor="t">
            <a:normAutofit/>
          </a:bodyPr>
          <a:lstStyle/>
          <a:p>
            <a:pPr algn="l" indent="0" marL="0">
              <a:lnSpc>
                <a:spcPct val="110465"/>
              </a:lnSpc>
              <a:buNone/>
            </a:pPr>
            <a:r>
              <a:rPr lang="en-US" sz="1425" dirty="0">
                <a:solidFill>
                  <a:srgbClr val="B8C0CF"/>
                </a:solidFill>
                <a:latin typeface="Arial" pitchFamily="34" charset="0"/>
                <a:ea typeface="Arial" pitchFamily="34" charset="-122"/>
                <a:cs typeface="Arial" pitchFamily="34" charset="-120"/>
              </a:rPr>
              <a:t>The Metasploit Framework</a:t>
            </a:r>
            <a:endParaRPr lang="en-US" sz="1425" dirty="0"/>
          </a:p>
        </p:txBody>
      </p:sp>
      <p:sp>
        <p:nvSpPr>
          <p:cNvPr id="62" name="Shape 60"/>
          <p:cNvSpPr/>
          <p:nvPr/>
        </p:nvSpPr>
        <p:spPr>
          <a:xfrm>
            <a:off x="13401675" y="6308899"/>
            <a:ext cx="4086225" cy="702469"/>
          </a:xfrm>
          <a:prstGeom prst="roundRect">
            <a:avLst>
              <a:gd name="adj" fmla="val 16271"/>
            </a:avLst>
          </a:prstGeom>
          <a:solidFill>
            <a:srgbClr val="FFFFFF">
              <a:alpha val="2000"/>
            </a:srgbClr>
          </a:solidFill>
          <a:ln w="9525">
            <a:solidFill>
              <a:srgbClr val="2A2F3A"/>
            </a:solidFill>
            <a:prstDash val="solid"/>
          </a:ln>
        </p:spPr>
      </p:sp>
      <p:sp>
        <p:nvSpPr>
          <p:cNvPr id="63" name="Text 61"/>
          <p:cNvSpPr/>
          <p:nvPr/>
        </p:nvSpPr>
        <p:spPr>
          <a:xfrm>
            <a:off x="13544550" y="6432724"/>
            <a:ext cx="4180523" cy="228600"/>
          </a:xfrm>
          <a:prstGeom prst="rect">
            <a:avLst/>
          </a:prstGeom>
          <a:noFill/>
          <a:ln/>
        </p:spPr>
        <p:txBody>
          <a:bodyPr wrap="square" lIns="25400" tIns="25400" rIns="25400" bIns="25400" rtlCol="0" anchor="t">
            <a:normAutofit/>
          </a:bodyPr>
          <a:lstStyle/>
          <a:p>
            <a:pPr algn="l" indent="0" marL="0">
              <a:lnSpc>
                <a:spcPct val="108108"/>
              </a:lnSpc>
              <a:buNone/>
            </a:pPr>
            <a:r>
              <a:rPr lang="en-US" sz="1200" b="1" dirty="0">
                <a:solidFill>
                  <a:srgbClr val="FF6A00"/>
                </a:solidFill>
                <a:latin typeface="Arial" pitchFamily="34" charset="0"/>
                <a:ea typeface="Arial" pitchFamily="34" charset="-122"/>
                <a:cs typeface="Arial" pitchFamily="34" charset="-120"/>
              </a:rPr>
              <a:t>20</a:t>
            </a:r>
            <a:endParaRPr lang="en-US" sz="1200" dirty="0"/>
          </a:p>
        </p:txBody>
      </p:sp>
      <p:sp>
        <p:nvSpPr>
          <p:cNvPr id="64" name="Text 62"/>
          <p:cNvSpPr/>
          <p:nvPr/>
        </p:nvSpPr>
        <p:spPr>
          <a:xfrm>
            <a:off x="13544550" y="6666086"/>
            <a:ext cx="2748390" cy="252413"/>
          </a:xfrm>
          <a:prstGeom prst="rect">
            <a:avLst/>
          </a:prstGeom>
          <a:noFill/>
          <a:ln/>
        </p:spPr>
        <p:txBody>
          <a:bodyPr wrap="square" lIns="0" tIns="0" rIns="0" bIns="0" rtlCol="0" anchor="t">
            <a:normAutofit/>
          </a:bodyPr>
          <a:lstStyle/>
          <a:p>
            <a:pPr algn="l" indent="0" marL="0">
              <a:lnSpc>
                <a:spcPct val="110465"/>
              </a:lnSpc>
              <a:buNone/>
            </a:pPr>
            <a:r>
              <a:rPr lang="en-US" sz="1425" dirty="0">
                <a:solidFill>
                  <a:srgbClr val="B8C0CF"/>
                </a:solidFill>
                <a:latin typeface="Arial" pitchFamily="34" charset="0"/>
                <a:ea typeface="Arial" pitchFamily="34" charset="-122"/>
                <a:cs typeface="Arial" pitchFamily="34" charset="-120"/>
              </a:rPr>
              <a:t>AD Introduction and Enumeration</a:t>
            </a:r>
            <a:endParaRPr lang="en-US" sz="1425" dirty="0"/>
          </a:p>
        </p:txBody>
      </p:sp>
      <p:sp>
        <p:nvSpPr>
          <p:cNvPr id="65" name="Shape 63"/>
          <p:cNvSpPr/>
          <p:nvPr/>
        </p:nvSpPr>
        <p:spPr>
          <a:xfrm>
            <a:off x="800100" y="7125667"/>
            <a:ext cx="4086225" cy="702469"/>
          </a:xfrm>
          <a:prstGeom prst="roundRect">
            <a:avLst>
              <a:gd name="adj" fmla="val 16271"/>
            </a:avLst>
          </a:prstGeom>
          <a:solidFill>
            <a:srgbClr val="FFFFFF">
              <a:alpha val="2000"/>
            </a:srgbClr>
          </a:solidFill>
          <a:ln w="9525">
            <a:solidFill>
              <a:srgbClr val="2A2F3A"/>
            </a:solidFill>
            <a:prstDash val="solid"/>
          </a:ln>
        </p:spPr>
      </p:sp>
      <p:sp>
        <p:nvSpPr>
          <p:cNvPr id="66" name="Text 64"/>
          <p:cNvSpPr/>
          <p:nvPr/>
        </p:nvSpPr>
        <p:spPr>
          <a:xfrm>
            <a:off x="942975" y="7249492"/>
            <a:ext cx="4180523" cy="228600"/>
          </a:xfrm>
          <a:prstGeom prst="rect">
            <a:avLst/>
          </a:prstGeom>
          <a:noFill/>
          <a:ln/>
        </p:spPr>
        <p:txBody>
          <a:bodyPr wrap="square" lIns="25400" tIns="25400" rIns="25400" bIns="25400" rtlCol="0" anchor="t">
            <a:normAutofit/>
          </a:bodyPr>
          <a:lstStyle/>
          <a:p>
            <a:pPr algn="l" indent="0" marL="0">
              <a:lnSpc>
                <a:spcPct val="108108"/>
              </a:lnSpc>
              <a:buNone/>
            </a:pPr>
            <a:r>
              <a:rPr lang="en-US" sz="1200" b="1" dirty="0">
                <a:solidFill>
                  <a:srgbClr val="FF6A00"/>
                </a:solidFill>
                <a:latin typeface="Arial" pitchFamily="34" charset="0"/>
                <a:ea typeface="Arial" pitchFamily="34" charset="-122"/>
                <a:cs typeface="Arial" pitchFamily="34" charset="-120"/>
              </a:rPr>
              <a:t>21</a:t>
            </a:r>
            <a:endParaRPr lang="en-US" sz="1200" dirty="0"/>
          </a:p>
        </p:txBody>
      </p:sp>
      <p:sp>
        <p:nvSpPr>
          <p:cNvPr id="67" name="Text 65"/>
          <p:cNvSpPr/>
          <p:nvPr/>
        </p:nvSpPr>
        <p:spPr>
          <a:xfrm>
            <a:off x="942975" y="7482855"/>
            <a:ext cx="2339355" cy="252413"/>
          </a:xfrm>
          <a:prstGeom prst="rect">
            <a:avLst/>
          </a:prstGeom>
          <a:noFill/>
          <a:ln/>
        </p:spPr>
        <p:txBody>
          <a:bodyPr wrap="square" lIns="0" tIns="0" rIns="0" bIns="0" rtlCol="0" anchor="t">
            <a:normAutofit/>
          </a:bodyPr>
          <a:lstStyle/>
          <a:p>
            <a:pPr algn="l" indent="0" marL="0">
              <a:lnSpc>
                <a:spcPct val="110465"/>
              </a:lnSpc>
              <a:buNone/>
            </a:pPr>
            <a:r>
              <a:rPr lang="en-US" sz="1425" dirty="0">
                <a:solidFill>
                  <a:srgbClr val="B8C0CF"/>
                </a:solidFill>
                <a:latin typeface="Arial" pitchFamily="34" charset="0"/>
                <a:ea typeface="Arial" pitchFamily="34" charset="-122"/>
                <a:cs typeface="Arial" pitchFamily="34" charset="-120"/>
              </a:rPr>
              <a:t>Attacking AD Authentication</a:t>
            </a:r>
            <a:endParaRPr lang="en-US" sz="1425" dirty="0"/>
          </a:p>
        </p:txBody>
      </p:sp>
      <p:sp>
        <p:nvSpPr>
          <p:cNvPr id="68" name="Shape 66"/>
          <p:cNvSpPr/>
          <p:nvPr/>
        </p:nvSpPr>
        <p:spPr>
          <a:xfrm>
            <a:off x="5000625" y="7125667"/>
            <a:ext cx="4086225" cy="702469"/>
          </a:xfrm>
          <a:prstGeom prst="roundRect">
            <a:avLst>
              <a:gd name="adj" fmla="val 16271"/>
            </a:avLst>
          </a:prstGeom>
          <a:solidFill>
            <a:srgbClr val="FFFFFF">
              <a:alpha val="2000"/>
            </a:srgbClr>
          </a:solidFill>
          <a:ln w="9525">
            <a:solidFill>
              <a:srgbClr val="2A2F3A"/>
            </a:solidFill>
            <a:prstDash val="solid"/>
          </a:ln>
        </p:spPr>
      </p:sp>
      <p:sp>
        <p:nvSpPr>
          <p:cNvPr id="69" name="Text 67"/>
          <p:cNvSpPr/>
          <p:nvPr/>
        </p:nvSpPr>
        <p:spPr>
          <a:xfrm>
            <a:off x="5143500" y="7249492"/>
            <a:ext cx="4180523" cy="228600"/>
          </a:xfrm>
          <a:prstGeom prst="rect">
            <a:avLst/>
          </a:prstGeom>
          <a:noFill/>
          <a:ln/>
        </p:spPr>
        <p:txBody>
          <a:bodyPr wrap="square" lIns="25400" tIns="25400" rIns="25400" bIns="25400" rtlCol="0" anchor="t">
            <a:normAutofit/>
          </a:bodyPr>
          <a:lstStyle/>
          <a:p>
            <a:pPr algn="l" indent="0" marL="0">
              <a:lnSpc>
                <a:spcPct val="108108"/>
              </a:lnSpc>
              <a:buNone/>
            </a:pPr>
            <a:r>
              <a:rPr lang="en-US" sz="1200" b="1" dirty="0">
                <a:solidFill>
                  <a:srgbClr val="FF6A00"/>
                </a:solidFill>
                <a:latin typeface="Arial" pitchFamily="34" charset="0"/>
                <a:ea typeface="Arial" pitchFamily="34" charset="-122"/>
                <a:cs typeface="Arial" pitchFamily="34" charset="-120"/>
              </a:rPr>
              <a:t>22</a:t>
            </a:r>
            <a:endParaRPr lang="en-US" sz="1200" dirty="0"/>
          </a:p>
        </p:txBody>
      </p:sp>
      <p:sp>
        <p:nvSpPr>
          <p:cNvPr id="70" name="Text 68"/>
          <p:cNvSpPr/>
          <p:nvPr/>
        </p:nvSpPr>
        <p:spPr>
          <a:xfrm>
            <a:off x="5143500" y="7482855"/>
            <a:ext cx="1994892" cy="252413"/>
          </a:xfrm>
          <a:prstGeom prst="rect">
            <a:avLst/>
          </a:prstGeom>
          <a:noFill/>
          <a:ln/>
        </p:spPr>
        <p:txBody>
          <a:bodyPr wrap="square" lIns="0" tIns="0" rIns="0" bIns="0" rtlCol="0" anchor="t">
            <a:normAutofit/>
          </a:bodyPr>
          <a:lstStyle/>
          <a:p>
            <a:pPr algn="l" indent="0" marL="0">
              <a:lnSpc>
                <a:spcPct val="110465"/>
              </a:lnSpc>
              <a:buNone/>
            </a:pPr>
            <a:r>
              <a:rPr lang="en-US" sz="1425" dirty="0">
                <a:solidFill>
                  <a:srgbClr val="B8C0CF"/>
                </a:solidFill>
                <a:latin typeface="Arial" pitchFamily="34" charset="0"/>
                <a:ea typeface="Arial" pitchFamily="34" charset="-122"/>
                <a:cs typeface="Arial" pitchFamily="34" charset="-120"/>
              </a:rPr>
              <a:t>Lateral Movement in AD</a:t>
            </a:r>
            <a:endParaRPr lang="en-US" sz="1425" dirty="0"/>
          </a:p>
        </p:txBody>
      </p:sp>
      <p:sp>
        <p:nvSpPr>
          <p:cNvPr id="71" name="Shape 69"/>
          <p:cNvSpPr/>
          <p:nvPr/>
        </p:nvSpPr>
        <p:spPr>
          <a:xfrm>
            <a:off x="9201150" y="7125667"/>
            <a:ext cx="4086225" cy="702469"/>
          </a:xfrm>
          <a:prstGeom prst="roundRect">
            <a:avLst>
              <a:gd name="adj" fmla="val 16271"/>
            </a:avLst>
          </a:prstGeom>
          <a:solidFill>
            <a:srgbClr val="FFFFFF">
              <a:alpha val="2000"/>
            </a:srgbClr>
          </a:solidFill>
          <a:ln w="9525">
            <a:solidFill>
              <a:srgbClr val="2A2F3A"/>
            </a:solidFill>
            <a:prstDash val="solid"/>
          </a:ln>
        </p:spPr>
      </p:sp>
      <p:sp>
        <p:nvSpPr>
          <p:cNvPr id="72" name="Text 70"/>
          <p:cNvSpPr/>
          <p:nvPr/>
        </p:nvSpPr>
        <p:spPr>
          <a:xfrm>
            <a:off x="9344025" y="7249492"/>
            <a:ext cx="4180523" cy="228600"/>
          </a:xfrm>
          <a:prstGeom prst="rect">
            <a:avLst/>
          </a:prstGeom>
          <a:noFill/>
          <a:ln/>
        </p:spPr>
        <p:txBody>
          <a:bodyPr wrap="square" lIns="25400" tIns="25400" rIns="25400" bIns="25400" rtlCol="0" anchor="t">
            <a:normAutofit/>
          </a:bodyPr>
          <a:lstStyle/>
          <a:p>
            <a:pPr algn="l" indent="0" marL="0">
              <a:lnSpc>
                <a:spcPct val="108108"/>
              </a:lnSpc>
              <a:buNone/>
            </a:pPr>
            <a:r>
              <a:rPr lang="en-US" sz="1200" b="1" dirty="0">
                <a:solidFill>
                  <a:srgbClr val="FF6A00"/>
                </a:solidFill>
                <a:latin typeface="Arial" pitchFamily="34" charset="0"/>
                <a:ea typeface="Arial" pitchFamily="34" charset="-122"/>
                <a:cs typeface="Arial" pitchFamily="34" charset="-120"/>
              </a:rPr>
              <a:t>23</a:t>
            </a:r>
            <a:endParaRPr lang="en-US" sz="1200" dirty="0"/>
          </a:p>
        </p:txBody>
      </p:sp>
      <p:sp>
        <p:nvSpPr>
          <p:cNvPr id="73" name="Text 71"/>
          <p:cNvSpPr/>
          <p:nvPr/>
        </p:nvSpPr>
        <p:spPr>
          <a:xfrm>
            <a:off x="9344025" y="7482855"/>
            <a:ext cx="1893763" cy="252413"/>
          </a:xfrm>
          <a:prstGeom prst="rect">
            <a:avLst/>
          </a:prstGeom>
          <a:noFill/>
          <a:ln/>
        </p:spPr>
        <p:txBody>
          <a:bodyPr wrap="square" lIns="0" tIns="0" rIns="0" bIns="0" rtlCol="0" anchor="t">
            <a:normAutofit/>
          </a:bodyPr>
          <a:lstStyle/>
          <a:p>
            <a:pPr algn="l" indent="0" marL="0">
              <a:lnSpc>
                <a:spcPct val="110465"/>
              </a:lnSpc>
              <a:buNone/>
            </a:pPr>
            <a:r>
              <a:rPr lang="en-US" sz="1425" dirty="0">
                <a:solidFill>
                  <a:srgbClr val="B8C0CF"/>
                </a:solidFill>
                <a:latin typeface="Arial" pitchFamily="34" charset="0"/>
                <a:ea typeface="Arial" pitchFamily="34" charset="-122"/>
                <a:cs typeface="Arial" pitchFamily="34" charset="-120"/>
              </a:rPr>
              <a:t>Assembling the Pieces</a:t>
            </a:r>
            <a:endParaRPr lang="en-US" sz="1425" dirty="0"/>
          </a:p>
        </p:txBody>
      </p:sp>
      <p:sp>
        <p:nvSpPr>
          <p:cNvPr id="74" name="Shape 72"/>
          <p:cNvSpPr/>
          <p:nvPr/>
        </p:nvSpPr>
        <p:spPr>
          <a:xfrm>
            <a:off x="13401675" y="7125667"/>
            <a:ext cx="4086225" cy="702469"/>
          </a:xfrm>
          <a:prstGeom prst="roundRect">
            <a:avLst>
              <a:gd name="adj" fmla="val 16271"/>
            </a:avLst>
          </a:prstGeom>
          <a:solidFill>
            <a:srgbClr val="FFFFFF">
              <a:alpha val="2000"/>
            </a:srgbClr>
          </a:solidFill>
          <a:ln w="9525">
            <a:solidFill>
              <a:srgbClr val="2A2F3A"/>
            </a:solidFill>
            <a:prstDash val="solid"/>
          </a:ln>
        </p:spPr>
      </p:sp>
      <p:sp>
        <p:nvSpPr>
          <p:cNvPr id="75" name="Text 73"/>
          <p:cNvSpPr/>
          <p:nvPr/>
        </p:nvSpPr>
        <p:spPr>
          <a:xfrm>
            <a:off x="13544550" y="7249492"/>
            <a:ext cx="4180523" cy="228600"/>
          </a:xfrm>
          <a:prstGeom prst="rect">
            <a:avLst/>
          </a:prstGeom>
          <a:noFill/>
          <a:ln/>
        </p:spPr>
        <p:txBody>
          <a:bodyPr wrap="square" lIns="25400" tIns="25400" rIns="25400" bIns="25400" rtlCol="0" anchor="t">
            <a:normAutofit/>
          </a:bodyPr>
          <a:lstStyle/>
          <a:p>
            <a:pPr algn="l" indent="0" marL="0">
              <a:lnSpc>
                <a:spcPct val="108108"/>
              </a:lnSpc>
              <a:buNone/>
            </a:pPr>
            <a:r>
              <a:rPr lang="en-US" sz="1200" b="1" dirty="0">
                <a:solidFill>
                  <a:srgbClr val="FF6A00"/>
                </a:solidFill>
                <a:latin typeface="Arial" pitchFamily="34" charset="0"/>
                <a:ea typeface="Arial" pitchFamily="34" charset="-122"/>
                <a:cs typeface="Arial" pitchFamily="34" charset="-120"/>
              </a:rPr>
              <a:t>24</a:t>
            </a:r>
            <a:endParaRPr lang="en-US" sz="1200" dirty="0"/>
          </a:p>
        </p:txBody>
      </p:sp>
      <p:sp>
        <p:nvSpPr>
          <p:cNvPr id="76" name="Text 74"/>
          <p:cNvSpPr/>
          <p:nvPr/>
        </p:nvSpPr>
        <p:spPr>
          <a:xfrm>
            <a:off x="13544550" y="7482855"/>
            <a:ext cx="2008584" cy="252413"/>
          </a:xfrm>
          <a:prstGeom prst="rect">
            <a:avLst/>
          </a:prstGeom>
          <a:noFill/>
          <a:ln/>
        </p:spPr>
        <p:txBody>
          <a:bodyPr wrap="square" lIns="0" tIns="0" rIns="0" bIns="0" rtlCol="0" anchor="t">
            <a:normAutofit/>
          </a:bodyPr>
          <a:lstStyle/>
          <a:p>
            <a:pPr algn="l" indent="0" marL="0">
              <a:lnSpc>
                <a:spcPct val="110465"/>
              </a:lnSpc>
              <a:buNone/>
            </a:pPr>
            <a:r>
              <a:rPr lang="en-US" sz="1425" dirty="0">
                <a:solidFill>
                  <a:srgbClr val="B8C0CF"/>
                </a:solidFill>
                <a:latin typeface="Arial" pitchFamily="34" charset="0"/>
                <a:ea typeface="Arial" pitchFamily="34" charset="-122"/>
                <a:cs typeface="Arial" pitchFamily="34" charset="-120"/>
              </a:rPr>
              <a:t>Trying Harder: The Labs</a:t>
            </a:r>
            <a:endParaRPr lang="en-US" sz="1425" dirty="0"/>
          </a:p>
        </p:txBody>
      </p:sp>
      <p:sp>
        <p:nvSpPr>
          <p:cNvPr id="77" name="Text 75"/>
          <p:cNvSpPr/>
          <p:nvPr/>
        </p:nvSpPr>
        <p:spPr>
          <a:xfrm>
            <a:off x="800100" y="8075786"/>
            <a:ext cx="16344900" cy="369540"/>
          </a:xfrm>
          <a:prstGeom prst="rect">
            <a:avLst/>
          </a:prstGeom>
          <a:noFill/>
          <a:ln/>
        </p:spPr>
        <p:txBody>
          <a:bodyPr wrap="square" lIns="25400" tIns="25400" rIns="25400" bIns="25400" rtlCol="0" anchor="t">
            <a:normAutofit/>
          </a:bodyPr>
          <a:lstStyle/>
          <a:p>
            <a:pPr algn="l" indent="0" marL="0">
              <a:lnSpc>
                <a:spcPct val="126545"/>
              </a:lnSpc>
              <a:buNone/>
            </a:pPr>
            <a:r>
              <a:rPr lang="en-US" sz="1800" dirty="0">
                <a:solidFill>
                  <a:srgbClr val="B8C0CF"/>
                </a:solidFill>
                <a:latin typeface="Arial" pitchFamily="34" charset="0"/>
                <a:ea typeface="Arial" pitchFamily="34" charset="-122"/>
                <a:cs typeface="Arial" pitchFamily="34" charset="-120"/>
              </a:rPr>
              <a:t>Module weightings: information not defined in the official exam outline.</a:t>
            </a:r>
            <a:endParaRPr lang="en-US" sz="1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800100" y="3664744"/>
            <a:ext cx="18356580" cy="285750"/>
          </a:xfrm>
          <a:prstGeom prst="rect">
            <a:avLst/>
          </a:prstGeom>
          <a:noFill/>
          <a:ln/>
        </p:spPr>
        <p:txBody>
          <a:bodyPr wrap="square" lIns="25400" tIns="25400" rIns="25400" bIns="25400" rtlCol="0" anchor="t">
            <a:normAutofit/>
          </a:bodyPr>
          <a:lstStyle/>
          <a:p>
            <a:pPr algn="l" indent="0" marL="0">
              <a:buNone/>
            </a:pPr>
            <a:r>
              <a:rPr lang="en-US" sz="1650" b="1" spc="225" kern="0" dirty="0">
                <a:solidFill>
                  <a:srgbClr val="FF6A00"/>
                </a:solidFill>
                <a:latin typeface="Arial" pitchFamily="34" charset="0"/>
                <a:ea typeface="Arial" pitchFamily="34" charset="-122"/>
                <a:cs typeface="Arial" pitchFamily="34" charset="-120"/>
              </a:rPr>
              <a:t>ORIENTATION</a:t>
            </a:r>
            <a:endParaRPr lang="en-US" sz="1650" dirty="0"/>
          </a:p>
        </p:txBody>
      </p:sp>
      <p:sp>
        <p:nvSpPr>
          <p:cNvPr id="4" name="Text 2"/>
          <p:cNvSpPr/>
          <p:nvPr/>
        </p:nvSpPr>
        <p:spPr>
          <a:xfrm>
            <a:off x="800100" y="4160044"/>
            <a:ext cx="18356580" cy="457200"/>
          </a:xfrm>
          <a:prstGeom prst="rect">
            <a:avLst/>
          </a:prstGeom>
          <a:noFill/>
          <a:ln/>
        </p:spPr>
        <p:txBody>
          <a:bodyPr wrap="square" lIns="25400" tIns="25400" rIns="25400" bIns="25400" rtlCol="0" anchor="t">
            <a:normAutofit/>
          </a:bodyPr>
          <a:lstStyle/>
          <a:p>
            <a:pPr algn="l" indent="0" marL="0">
              <a:lnSpc>
                <a:spcPct val="95652"/>
              </a:lnSpc>
              <a:buNone/>
            </a:pPr>
            <a:r>
              <a:rPr lang="en-US" sz="3000" b="1" dirty="0">
                <a:solidFill>
                  <a:srgbClr val="F5F7FB"/>
                </a:solidFill>
                <a:latin typeface="Arial" pitchFamily="34" charset="0"/>
                <a:ea typeface="Arial" pitchFamily="34" charset="-122"/>
                <a:cs typeface="Arial" pitchFamily="34" charset="-120"/>
              </a:rPr>
              <a:t>When the server offers no way in</a:t>
            </a:r>
            <a:endParaRPr lang="en-US" sz="3000" dirty="0"/>
          </a:p>
        </p:txBody>
      </p:sp>
      <p:sp>
        <p:nvSpPr>
          <p:cNvPr id="5" name="Shape 3"/>
          <p:cNvSpPr/>
          <p:nvPr/>
        </p:nvSpPr>
        <p:spPr>
          <a:xfrm>
            <a:off x="800100" y="4826794"/>
            <a:ext cx="5435575" cy="1795463"/>
          </a:xfrm>
          <a:prstGeom prst="roundRect">
            <a:avLst>
              <a:gd name="adj" fmla="val 8488"/>
            </a:avLst>
          </a:prstGeom>
          <a:solidFill>
            <a:srgbClr val="FFFFFF">
              <a:alpha val="2000"/>
            </a:srgbClr>
          </a:solidFill>
          <a:ln w="9525">
            <a:solidFill>
              <a:srgbClr val="2A2F3A"/>
            </a:solidFill>
            <a:prstDash val="solid"/>
          </a:ln>
        </p:spPr>
      </p:sp>
      <p:sp>
        <p:nvSpPr>
          <p:cNvPr id="6" name="Text 4"/>
          <p:cNvSpPr/>
          <p:nvPr/>
        </p:nvSpPr>
        <p:spPr>
          <a:xfrm>
            <a:off x="1038225" y="5064919"/>
            <a:ext cx="5455258"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THE SHIFT</a:t>
            </a:r>
            <a:endParaRPr lang="en-US" sz="1500" dirty="0"/>
          </a:p>
        </p:txBody>
      </p:sp>
      <p:sp>
        <p:nvSpPr>
          <p:cNvPr id="7" name="Text 5"/>
          <p:cNvSpPr/>
          <p:nvPr/>
        </p:nvSpPr>
        <p:spPr>
          <a:xfrm>
            <a:off x="1038225" y="5384006"/>
            <a:ext cx="5108105" cy="1038225"/>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Modules 5 to 9 attacked services directly reachable over the network. Client-side attacks instead rely on a person opening something.</a:t>
            </a:r>
            <a:endParaRPr lang="en-US" sz="1875" dirty="0"/>
          </a:p>
        </p:txBody>
      </p:sp>
      <p:sp>
        <p:nvSpPr>
          <p:cNvPr id="8" name="Shape 6"/>
          <p:cNvSpPr/>
          <p:nvPr/>
        </p:nvSpPr>
        <p:spPr>
          <a:xfrm>
            <a:off x="6426175" y="4826794"/>
            <a:ext cx="5435575" cy="1795463"/>
          </a:xfrm>
          <a:prstGeom prst="roundRect">
            <a:avLst>
              <a:gd name="adj" fmla="val 8488"/>
            </a:avLst>
          </a:prstGeom>
          <a:solidFill>
            <a:srgbClr val="FFFFFF">
              <a:alpha val="2000"/>
            </a:srgbClr>
          </a:solidFill>
          <a:ln w="9525">
            <a:solidFill>
              <a:srgbClr val="2A2F3A"/>
            </a:solidFill>
            <a:prstDash val="solid"/>
          </a:ln>
        </p:spPr>
      </p:sp>
      <p:sp>
        <p:nvSpPr>
          <p:cNvPr id="9" name="Text 7"/>
          <p:cNvSpPr/>
          <p:nvPr/>
        </p:nvSpPr>
        <p:spPr>
          <a:xfrm>
            <a:off x="6664300" y="5064919"/>
            <a:ext cx="5455258"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WHY IT MATTERS</a:t>
            </a:r>
            <a:endParaRPr lang="en-US" sz="1500" dirty="0"/>
          </a:p>
        </p:txBody>
      </p:sp>
      <p:sp>
        <p:nvSpPr>
          <p:cNvPr id="10" name="Text 8"/>
          <p:cNvSpPr/>
          <p:nvPr/>
        </p:nvSpPr>
        <p:spPr>
          <a:xfrm>
            <a:off x="6664300" y="5384006"/>
            <a:ext cx="5108105" cy="1038225"/>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A hardened perimeter with no exposed vulnerable service still has employees who open documents and click shortcuts every day.</a:t>
            </a:r>
            <a:endParaRPr lang="en-US" sz="1875" dirty="0"/>
          </a:p>
        </p:txBody>
      </p:sp>
      <p:sp>
        <p:nvSpPr>
          <p:cNvPr id="11" name="Shape 9"/>
          <p:cNvSpPr/>
          <p:nvPr/>
        </p:nvSpPr>
        <p:spPr>
          <a:xfrm>
            <a:off x="12052250" y="4826794"/>
            <a:ext cx="5435650" cy="1795463"/>
          </a:xfrm>
          <a:prstGeom prst="roundRect">
            <a:avLst>
              <a:gd name="adj" fmla="val 8488"/>
            </a:avLst>
          </a:prstGeom>
          <a:solidFill>
            <a:srgbClr val="FFFFFF">
              <a:alpha val="2000"/>
            </a:srgbClr>
          </a:solidFill>
          <a:ln w="9525">
            <a:solidFill>
              <a:srgbClr val="2A2F3A"/>
            </a:solidFill>
            <a:prstDash val="solid"/>
          </a:ln>
        </p:spPr>
      </p:sp>
      <p:sp>
        <p:nvSpPr>
          <p:cNvPr id="12" name="Text 10"/>
          <p:cNvSpPr/>
          <p:nvPr/>
        </p:nvSpPr>
        <p:spPr>
          <a:xfrm>
            <a:off x="12290375" y="5064919"/>
            <a:ext cx="5455340"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CONNECTS FORWARD</a:t>
            </a:r>
            <a:endParaRPr lang="en-US" sz="1500" dirty="0"/>
          </a:p>
        </p:txBody>
      </p:sp>
      <p:sp>
        <p:nvSpPr>
          <p:cNvPr id="13" name="Text 11"/>
          <p:cNvSpPr/>
          <p:nvPr/>
        </p:nvSpPr>
        <p:spPr>
          <a:xfrm>
            <a:off x="12290375" y="5384006"/>
            <a:ext cx="5108182" cy="1038225"/>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Module 23, Assembling the Pieces, returns to this exact technique to gain access to the domain controller at the end of the course.</a:t>
            </a:r>
            <a:endParaRPr lang="en-US" sz="1875"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8046154" y="3870945"/>
            <a:ext cx="2195691" cy="285750"/>
          </a:xfrm>
          <a:prstGeom prst="rect">
            <a:avLst/>
          </a:prstGeom>
          <a:noFill/>
          <a:ln/>
        </p:spPr>
        <p:txBody>
          <a:bodyPr wrap="square" lIns="25400" tIns="25400" rIns="25400" bIns="25400" rtlCol="0" anchor="t">
            <a:normAutofit/>
          </a:bodyPr>
          <a:lstStyle/>
          <a:p>
            <a:pPr algn="ctr" indent="0" marL="0">
              <a:buNone/>
            </a:pPr>
            <a:r>
              <a:rPr lang="en-US" sz="1650" b="1" spc="225" kern="0" dirty="0">
                <a:solidFill>
                  <a:srgbClr val="FF6A00"/>
                </a:solidFill>
                <a:latin typeface="Arial" pitchFamily="34" charset="0"/>
                <a:ea typeface="Arial" pitchFamily="34" charset="-122"/>
                <a:cs typeface="Arial" pitchFamily="34" charset="-120"/>
              </a:rPr>
              <a:t>OBJECTIVE 10.1</a:t>
            </a:r>
            <a:endParaRPr lang="en-US" sz="1650" dirty="0"/>
          </a:p>
        </p:txBody>
      </p:sp>
      <p:sp>
        <p:nvSpPr>
          <p:cNvPr id="4" name="Text 2"/>
          <p:cNvSpPr/>
          <p:nvPr/>
        </p:nvSpPr>
        <p:spPr>
          <a:xfrm>
            <a:off x="4048661" y="4385295"/>
            <a:ext cx="10190678" cy="918195"/>
          </a:xfrm>
          <a:prstGeom prst="rect">
            <a:avLst/>
          </a:prstGeom>
          <a:noFill/>
          <a:ln/>
        </p:spPr>
        <p:txBody>
          <a:bodyPr wrap="square" lIns="25400" tIns="25400" rIns="25400" bIns="25400" rtlCol="0" anchor="t">
            <a:normAutofit/>
          </a:bodyPr>
          <a:lstStyle/>
          <a:p>
            <a:pPr algn="ctr" indent="0" marL="0">
              <a:lnSpc>
                <a:spcPct val="91485"/>
              </a:lnSpc>
              <a:buNone/>
            </a:pPr>
            <a:r>
              <a:rPr lang="en-US" sz="6600" b="1" spc="-37" kern="0" dirty="0">
                <a:solidFill>
                  <a:srgbClr val="F5F7FB"/>
                </a:solidFill>
                <a:latin typeface="Arial" pitchFamily="34" charset="0"/>
                <a:ea typeface="Arial" pitchFamily="34" charset="-122"/>
                <a:cs typeface="Arial" pitchFamily="34" charset="-120"/>
              </a:rPr>
              <a:t>Target Reconnaissance</a:t>
            </a:r>
            <a:endParaRPr lang="en-US" sz="6600" dirty="0"/>
          </a:p>
        </p:txBody>
      </p:sp>
      <p:sp>
        <p:nvSpPr>
          <p:cNvPr id="5" name="Text 3"/>
          <p:cNvSpPr/>
          <p:nvPr/>
        </p:nvSpPr>
        <p:spPr>
          <a:xfrm>
            <a:off x="3012281" y="5532090"/>
            <a:ext cx="12263438" cy="921990"/>
          </a:xfrm>
          <a:prstGeom prst="rect">
            <a:avLst/>
          </a:prstGeom>
          <a:noFill/>
          <a:ln/>
        </p:spPr>
        <p:txBody>
          <a:bodyPr wrap="square" lIns="25400" tIns="25400" rIns="25400" bIns="25400" rtlCol="0" anchor="t">
            <a:normAutofit/>
          </a:bodyPr>
          <a:lstStyle/>
          <a:p>
            <a:pPr algn="ctr" indent="0" marL="0">
              <a:lnSpc>
                <a:spcPct val="125405"/>
              </a:lnSpc>
              <a:buNone/>
            </a:pPr>
            <a:r>
              <a:rPr lang="en-US" sz="2400" dirty="0">
                <a:solidFill>
                  <a:srgbClr val="B8C0CF"/>
                </a:solidFill>
                <a:latin typeface="Arial" pitchFamily="34" charset="0"/>
                <a:ea typeface="Arial" pitchFamily="34" charset="-122"/>
                <a:cs typeface="Arial" pitchFamily="34" charset="-120"/>
              </a:rPr>
              <a:t>Gather information to prepare client-side attacks, and leverage client fingerprinting to obtain information.</a:t>
            </a:r>
            <a:endParaRPr lang="en-US" sz="2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Shape 1"/>
          <p:cNvSpPr/>
          <p:nvPr/>
        </p:nvSpPr>
        <p:spPr>
          <a:xfrm>
            <a:off x="800100" y="3233291"/>
            <a:ext cx="2992859" cy="395288"/>
          </a:xfrm>
          <a:prstGeom prst="roundRect">
            <a:avLst>
              <a:gd name="adj" fmla="val 50000"/>
            </a:avLst>
          </a:prstGeom>
          <a:solidFill>
            <a:srgbClr val="FF6A00">
              <a:alpha val="15000"/>
            </a:srgbClr>
          </a:solidFill>
          <a:ln w="9525">
            <a:solidFill>
              <a:srgbClr val="FF6A00">
                <a:alpha val="35000"/>
              </a:srgbClr>
            </a:solidFill>
            <a:prstDash val="solid"/>
          </a:ln>
        </p:spPr>
      </p:sp>
      <p:sp>
        <p:nvSpPr>
          <p:cNvPr id="4" name="Text 2"/>
          <p:cNvSpPr/>
          <p:nvPr/>
        </p:nvSpPr>
        <p:spPr>
          <a:xfrm>
            <a:off x="981075" y="3319016"/>
            <a:ext cx="2720695" cy="261938"/>
          </a:xfrm>
          <a:prstGeom prst="rect">
            <a:avLst/>
          </a:prstGeom>
          <a:noFill/>
          <a:ln/>
        </p:spPr>
        <p:txBody>
          <a:bodyPr wrap="square" lIns="25400" tIns="25400" rIns="25400" bIns="25400" rtlCol="0" anchor="t">
            <a:normAutofit/>
          </a:bodyPr>
          <a:lstStyle/>
          <a:p>
            <a:pPr algn="l" indent="0" marL="0">
              <a:buNone/>
            </a:pPr>
            <a:r>
              <a:rPr lang="en-US" sz="1500" b="1" spc="75" kern="0" dirty="0">
                <a:solidFill>
                  <a:srgbClr val="FFD9BF"/>
                </a:solidFill>
                <a:latin typeface="Arial" pitchFamily="34" charset="0"/>
                <a:ea typeface="Arial" pitchFamily="34" charset="-122"/>
                <a:cs typeface="Arial" pitchFamily="34" charset="-120"/>
              </a:rPr>
              <a:t>Objective 10.1 · Task 1 of 2</a:t>
            </a:r>
            <a:endParaRPr lang="en-US" sz="1500" dirty="0"/>
          </a:p>
        </p:txBody>
      </p:sp>
      <p:sp>
        <p:nvSpPr>
          <p:cNvPr id="5" name="Text 3"/>
          <p:cNvSpPr/>
          <p:nvPr/>
        </p:nvSpPr>
        <p:spPr>
          <a:xfrm>
            <a:off x="800100" y="3876229"/>
            <a:ext cx="18356580" cy="457200"/>
          </a:xfrm>
          <a:prstGeom prst="rect">
            <a:avLst/>
          </a:prstGeom>
          <a:noFill/>
          <a:ln/>
        </p:spPr>
        <p:txBody>
          <a:bodyPr wrap="square" lIns="25400" tIns="25400" rIns="25400" bIns="25400" rtlCol="0" anchor="t">
            <a:normAutofit/>
          </a:bodyPr>
          <a:lstStyle/>
          <a:p>
            <a:pPr algn="l" indent="0" marL="0">
              <a:lnSpc>
                <a:spcPct val="95652"/>
              </a:lnSpc>
              <a:buNone/>
            </a:pPr>
            <a:r>
              <a:rPr lang="en-US" sz="3000" b="1" dirty="0">
                <a:solidFill>
                  <a:srgbClr val="F5F7FB"/>
                </a:solidFill>
                <a:latin typeface="Arial" pitchFamily="34" charset="0"/>
                <a:ea typeface="Arial" pitchFamily="34" charset="-122"/>
                <a:cs typeface="Arial" pitchFamily="34" charset="-120"/>
              </a:rPr>
              <a:t>Gathering information to prepare client-side attacks</a:t>
            </a:r>
            <a:endParaRPr lang="en-US" sz="3000" dirty="0"/>
          </a:p>
        </p:txBody>
      </p:sp>
      <p:sp>
        <p:nvSpPr>
          <p:cNvPr id="6" name="Text 4"/>
          <p:cNvSpPr/>
          <p:nvPr/>
        </p:nvSpPr>
        <p:spPr>
          <a:xfrm>
            <a:off x="800100" y="4542979"/>
            <a:ext cx="15304770" cy="839093"/>
          </a:xfrm>
          <a:prstGeom prst="rect">
            <a:avLst/>
          </a:prstGeom>
          <a:noFill/>
          <a:ln/>
        </p:spPr>
        <p:txBody>
          <a:bodyPr wrap="square" lIns="25400" tIns="25400" rIns="25400" bIns="25400" rtlCol="0" anchor="t">
            <a:normAutofit/>
          </a:bodyPr>
          <a:lstStyle/>
          <a:p>
            <a:pPr algn="l" indent="0" marL="0">
              <a:lnSpc>
                <a:spcPct val="125522"/>
              </a:lnSpc>
              <a:buNone/>
            </a:pPr>
            <a:r>
              <a:rPr lang="en-US" sz="2175" dirty="0">
                <a:solidFill>
                  <a:srgbClr val="B8C0CF"/>
                </a:solidFill>
                <a:latin typeface="Arial" pitchFamily="34" charset="0"/>
                <a:ea typeface="Arial" pitchFamily="34" charset="-122"/>
                <a:cs typeface="Arial" pitchFamily="34" charset="-120"/>
              </a:rPr>
              <a:t>A convincing client-side attack depends on knowing enough about the target person and organisation to make the delivered content plausible. This reuses the passive information gathering skills from Module 5 against people rather than infrastructure.</a:t>
            </a:r>
            <a:endParaRPr lang="en-US" sz="2175" dirty="0"/>
          </a:p>
        </p:txBody>
      </p:sp>
      <p:sp>
        <p:nvSpPr>
          <p:cNvPr id="7" name="Shape 5"/>
          <p:cNvSpPr/>
          <p:nvPr/>
        </p:nvSpPr>
        <p:spPr>
          <a:xfrm>
            <a:off x="800100" y="5591621"/>
            <a:ext cx="8239125" cy="1462088"/>
          </a:xfrm>
          <a:prstGeom prst="roundRect">
            <a:avLst>
              <a:gd name="adj" fmla="val 10423"/>
            </a:avLst>
          </a:prstGeom>
          <a:solidFill>
            <a:srgbClr val="FFFFFF">
              <a:alpha val="2000"/>
            </a:srgbClr>
          </a:solidFill>
          <a:ln w="9525">
            <a:solidFill>
              <a:srgbClr val="2A2F3A"/>
            </a:solidFill>
            <a:prstDash val="solid"/>
          </a:ln>
        </p:spPr>
      </p:sp>
      <p:sp>
        <p:nvSpPr>
          <p:cNvPr id="8" name="Text 6"/>
          <p:cNvSpPr/>
          <p:nvPr/>
        </p:nvSpPr>
        <p:spPr>
          <a:xfrm>
            <a:off x="1038225" y="5829746"/>
            <a:ext cx="8539163"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WHAT TO GATHER</a:t>
            </a:r>
            <a:endParaRPr lang="en-US" sz="1500" dirty="0"/>
          </a:p>
        </p:txBody>
      </p:sp>
      <p:sp>
        <p:nvSpPr>
          <p:cNvPr id="9" name="Text 7"/>
          <p:cNvSpPr/>
          <p:nvPr/>
        </p:nvSpPr>
        <p:spPr>
          <a:xfrm>
            <a:off x="1038225" y="6148834"/>
            <a:ext cx="7995761" cy="704850"/>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Names, roles, ongoing projects, and organisational routines that make a lure believable to the specific person receiving it.</a:t>
            </a:r>
            <a:endParaRPr lang="en-US" sz="1875" dirty="0"/>
          </a:p>
        </p:txBody>
      </p:sp>
      <p:sp>
        <p:nvSpPr>
          <p:cNvPr id="10" name="Shape 8"/>
          <p:cNvSpPr/>
          <p:nvPr/>
        </p:nvSpPr>
        <p:spPr>
          <a:xfrm>
            <a:off x="9248775" y="5591621"/>
            <a:ext cx="8239125" cy="1462088"/>
          </a:xfrm>
          <a:prstGeom prst="roundRect">
            <a:avLst>
              <a:gd name="adj" fmla="val 10423"/>
            </a:avLst>
          </a:prstGeom>
          <a:solidFill>
            <a:srgbClr val="FFFFFF">
              <a:alpha val="2000"/>
            </a:srgbClr>
          </a:solidFill>
          <a:ln w="9525">
            <a:solidFill>
              <a:srgbClr val="2A2F3A"/>
            </a:solidFill>
            <a:prstDash val="solid"/>
          </a:ln>
        </p:spPr>
      </p:sp>
      <p:sp>
        <p:nvSpPr>
          <p:cNvPr id="11" name="Text 9"/>
          <p:cNvSpPr/>
          <p:nvPr/>
        </p:nvSpPr>
        <p:spPr>
          <a:xfrm>
            <a:off x="9486900" y="5829746"/>
            <a:ext cx="8539163"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CONNECTS TO</a:t>
            </a:r>
            <a:endParaRPr lang="en-US" sz="1500" dirty="0"/>
          </a:p>
        </p:txBody>
      </p:sp>
      <p:sp>
        <p:nvSpPr>
          <p:cNvPr id="12" name="Text 10"/>
          <p:cNvSpPr/>
          <p:nvPr/>
        </p:nvSpPr>
        <p:spPr>
          <a:xfrm>
            <a:off x="9486900" y="6148834"/>
            <a:ext cx="7995761" cy="704850"/>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Module 5's OSINT unit. The techniques are identical; only the target of the research changes from infrastructure to people.</a:t>
            </a:r>
            <a:endParaRPr lang="en-US" sz="1875"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Shape 1"/>
          <p:cNvSpPr/>
          <p:nvPr/>
        </p:nvSpPr>
        <p:spPr>
          <a:xfrm>
            <a:off x="800100" y="3066604"/>
            <a:ext cx="3017118" cy="395288"/>
          </a:xfrm>
          <a:prstGeom prst="roundRect">
            <a:avLst>
              <a:gd name="adj" fmla="val 50000"/>
            </a:avLst>
          </a:prstGeom>
          <a:solidFill>
            <a:srgbClr val="FF6A00">
              <a:alpha val="15000"/>
            </a:srgbClr>
          </a:solidFill>
          <a:ln w="9525">
            <a:solidFill>
              <a:srgbClr val="FF6A00">
                <a:alpha val="35000"/>
              </a:srgbClr>
            </a:solidFill>
            <a:prstDash val="solid"/>
          </a:ln>
        </p:spPr>
      </p:sp>
      <p:sp>
        <p:nvSpPr>
          <p:cNvPr id="4" name="Text 2"/>
          <p:cNvSpPr/>
          <p:nvPr/>
        </p:nvSpPr>
        <p:spPr>
          <a:xfrm>
            <a:off x="981075" y="3152329"/>
            <a:ext cx="2745682" cy="261938"/>
          </a:xfrm>
          <a:prstGeom prst="rect">
            <a:avLst/>
          </a:prstGeom>
          <a:noFill/>
          <a:ln/>
        </p:spPr>
        <p:txBody>
          <a:bodyPr wrap="square" lIns="25400" tIns="25400" rIns="25400" bIns="25400" rtlCol="0" anchor="t">
            <a:normAutofit/>
          </a:bodyPr>
          <a:lstStyle/>
          <a:p>
            <a:pPr algn="l" indent="0" marL="0">
              <a:buNone/>
            </a:pPr>
            <a:r>
              <a:rPr lang="en-US" sz="1500" b="1" spc="75" kern="0" dirty="0">
                <a:solidFill>
                  <a:srgbClr val="FFD9BF"/>
                </a:solidFill>
                <a:latin typeface="Arial" pitchFamily="34" charset="0"/>
                <a:ea typeface="Arial" pitchFamily="34" charset="-122"/>
                <a:cs typeface="Arial" pitchFamily="34" charset="-120"/>
              </a:rPr>
              <a:t>Objective 10.1 · Task 2 of 2</a:t>
            </a:r>
            <a:endParaRPr lang="en-US" sz="1500" dirty="0"/>
          </a:p>
        </p:txBody>
      </p:sp>
      <p:sp>
        <p:nvSpPr>
          <p:cNvPr id="5" name="Text 3"/>
          <p:cNvSpPr/>
          <p:nvPr/>
        </p:nvSpPr>
        <p:spPr>
          <a:xfrm>
            <a:off x="800100" y="3709541"/>
            <a:ext cx="18356580" cy="457200"/>
          </a:xfrm>
          <a:prstGeom prst="rect">
            <a:avLst/>
          </a:prstGeom>
          <a:noFill/>
          <a:ln/>
        </p:spPr>
        <p:txBody>
          <a:bodyPr wrap="square" lIns="25400" tIns="25400" rIns="25400" bIns="25400" rtlCol="0" anchor="t">
            <a:normAutofit/>
          </a:bodyPr>
          <a:lstStyle/>
          <a:p>
            <a:pPr algn="l" indent="0" marL="0">
              <a:lnSpc>
                <a:spcPct val="95652"/>
              </a:lnSpc>
              <a:buNone/>
            </a:pPr>
            <a:r>
              <a:rPr lang="en-US" sz="3000" b="1" dirty="0">
                <a:solidFill>
                  <a:srgbClr val="F5F7FB"/>
                </a:solidFill>
                <a:latin typeface="Arial" pitchFamily="34" charset="0"/>
                <a:ea typeface="Arial" pitchFamily="34" charset="-122"/>
                <a:cs typeface="Arial" pitchFamily="34" charset="-120"/>
              </a:rPr>
              <a:t>Leveraging client fingerprinting</a:t>
            </a:r>
            <a:endParaRPr lang="en-US" sz="3000" dirty="0"/>
          </a:p>
        </p:txBody>
      </p:sp>
      <p:sp>
        <p:nvSpPr>
          <p:cNvPr id="6" name="Text 4"/>
          <p:cNvSpPr/>
          <p:nvPr/>
        </p:nvSpPr>
        <p:spPr>
          <a:xfrm>
            <a:off x="800100" y="4376291"/>
            <a:ext cx="15304770" cy="839093"/>
          </a:xfrm>
          <a:prstGeom prst="rect">
            <a:avLst/>
          </a:prstGeom>
          <a:noFill/>
          <a:ln/>
        </p:spPr>
        <p:txBody>
          <a:bodyPr wrap="square" lIns="25400" tIns="25400" rIns="25400" bIns="25400" rtlCol="0" anchor="t">
            <a:normAutofit/>
          </a:bodyPr>
          <a:lstStyle/>
          <a:p>
            <a:pPr algn="l" indent="0" marL="0">
              <a:lnSpc>
                <a:spcPct val="125522"/>
              </a:lnSpc>
              <a:buNone/>
            </a:pPr>
            <a:r>
              <a:rPr lang="en-US" sz="2175" dirty="0">
                <a:solidFill>
                  <a:srgbClr val="B8C0CF"/>
                </a:solidFill>
                <a:latin typeface="Arial" pitchFamily="34" charset="0"/>
                <a:ea typeface="Arial" pitchFamily="34" charset="-122"/>
                <a:cs typeface="Arial" pitchFamily="34" charset="-120"/>
              </a:rPr>
              <a:t>Beyond information about the person, the attack depends on knowing what software will open the delivered content. Fingerprinting the client software and its version shapes which exploitation technique will actually work.</a:t>
            </a:r>
            <a:endParaRPr lang="en-US" sz="2175" dirty="0"/>
          </a:p>
        </p:txBody>
      </p:sp>
      <p:sp>
        <p:nvSpPr>
          <p:cNvPr id="7" name="Shape 5"/>
          <p:cNvSpPr/>
          <p:nvPr/>
        </p:nvSpPr>
        <p:spPr>
          <a:xfrm>
            <a:off x="800100" y="5424934"/>
            <a:ext cx="8239125" cy="1795463"/>
          </a:xfrm>
          <a:prstGeom prst="roundRect">
            <a:avLst>
              <a:gd name="adj" fmla="val 8488"/>
            </a:avLst>
          </a:prstGeom>
          <a:solidFill>
            <a:srgbClr val="FFFFFF">
              <a:alpha val="2000"/>
            </a:srgbClr>
          </a:solidFill>
          <a:ln w="9525">
            <a:solidFill>
              <a:srgbClr val="2A2F3A"/>
            </a:solidFill>
            <a:prstDash val="solid"/>
          </a:ln>
        </p:spPr>
      </p:sp>
      <p:sp>
        <p:nvSpPr>
          <p:cNvPr id="8" name="Text 6"/>
          <p:cNvSpPr/>
          <p:nvPr/>
        </p:nvSpPr>
        <p:spPr>
          <a:xfrm>
            <a:off x="1038225" y="5663059"/>
            <a:ext cx="8539163"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WHY IT MATTERS</a:t>
            </a:r>
            <a:endParaRPr lang="en-US" sz="1500" dirty="0"/>
          </a:p>
        </p:txBody>
      </p:sp>
      <p:sp>
        <p:nvSpPr>
          <p:cNvPr id="9" name="Text 7"/>
          <p:cNvSpPr/>
          <p:nvPr/>
        </p:nvSpPr>
        <p:spPr>
          <a:xfrm>
            <a:off x="1038225" y="5982146"/>
            <a:ext cx="7995761" cy="1038225"/>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A Microsoft Office macro technique is worthless against a target that does not use Office, and a version-specific technique fails against the wrong version.</a:t>
            </a:r>
            <a:endParaRPr lang="en-US" sz="1875" dirty="0"/>
          </a:p>
        </p:txBody>
      </p:sp>
      <p:sp>
        <p:nvSpPr>
          <p:cNvPr id="10" name="Shape 8"/>
          <p:cNvSpPr/>
          <p:nvPr/>
        </p:nvSpPr>
        <p:spPr>
          <a:xfrm>
            <a:off x="9248775" y="5424934"/>
            <a:ext cx="8239125" cy="1795463"/>
          </a:xfrm>
          <a:prstGeom prst="roundRect">
            <a:avLst>
              <a:gd name="adj" fmla="val 8488"/>
            </a:avLst>
          </a:prstGeom>
          <a:solidFill>
            <a:srgbClr val="FFFFFF">
              <a:alpha val="2000"/>
            </a:srgbClr>
          </a:solidFill>
          <a:ln w="9525">
            <a:solidFill>
              <a:srgbClr val="2A2F3A"/>
            </a:solidFill>
            <a:prstDash val="solid"/>
          </a:ln>
        </p:spPr>
      </p:sp>
      <p:sp>
        <p:nvSpPr>
          <p:cNvPr id="11" name="Text 9"/>
          <p:cNvSpPr/>
          <p:nvPr/>
        </p:nvSpPr>
        <p:spPr>
          <a:xfrm>
            <a:off x="9486900" y="5663059"/>
            <a:ext cx="8539163"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WATCH FOR</a:t>
            </a:r>
            <a:endParaRPr lang="en-US" sz="1500" dirty="0"/>
          </a:p>
        </p:txBody>
      </p:sp>
      <p:sp>
        <p:nvSpPr>
          <p:cNvPr id="12" name="Text 10"/>
          <p:cNvSpPr/>
          <p:nvPr/>
        </p:nvSpPr>
        <p:spPr>
          <a:xfrm>
            <a:off x="9486900" y="5982146"/>
            <a:ext cx="7995761" cy="704850"/>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Assuming a default software stack. Confirm what is actually installed before committing to a specific delivery mechanism.</a:t>
            </a:r>
            <a:endParaRPr lang="en-US" sz="1875"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800100" y="3831431"/>
            <a:ext cx="18356580" cy="285750"/>
          </a:xfrm>
          <a:prstGeom prst="rect">
            <a:avLst/>
          </a:prstGeom>
          <a:noFill/>
          <a:ln/>
        </p:spPr>
        <p:txBody>
          <a:bodyPr wrap="square" lIns="25400" tIns="25400" rIns="25400" bIns="25400" rtlCol="0" anchor="t">
            <a:normAutofit/>
          </a:bodyPr>
          <a:lstStyle/>
          <a:p>
            <a:pPr algn="l" indent="0" marL="0">
              <a:buNone/>
            </a:pPr>
            <a:r>
              <a:rPr lang="en-US" sz="1650" b="1" spc="225" kern="0" dirty="0">
                <a:solidFill>
                  <a:srgbClr val="FF6A00"/>
                </a:solidFill>
                <a:latin typeface="Arial" pitchFamily="34" charset="0"/>
                <a:ea typeface="Arial" pitchFamily="34" charset="-122"/>
                <a:cs typeface="Arial" pitchFamily="34" charset="-120"/>
              </a:rPr>
              <a:t>OBJECTIVE 10.1 RECAP</a:t>
            </a:r>
            <a:endParaRPr lang="en-US" sz="1650" dirty="0"/>
          </a:p>
        </p:txBody>
      </p:sp>
      <p:sp>
        <p:nvSpPr>
          <p:cNvPr id="4" name="Text 2"/>
          <p:cNvSpPr/>
          <p:nvPr/>
        </p:nvSpPr>
        <p:spPr>
          <a:xfrm>
            <a:off x="800100" y="4326731"/>
            <a:ext cx="18356580" cy="457200"/>
          </a:xfrm>
          <a:prstGeom prst="rect">
            <a:avLst/>
          </a:prstGeom>
          <a:noFill/>
          <a:ln/>
        </p:spPr>
        <p:txBody>
          <a:bodyPr wrap="square" lIns="25400" tIns="25400" rIns="25400" bIns="25400" rtlCol="0" anchor="t">
            <a:normAutofit/>
          </a:bodyPr>
          <a:lstStyle/>
          <a:p>
            <a:pPr algn="l" indent="0" marL="0">
              <a:lnSpc>
                <a:spcPct val="95652"/>
              </a:lnSpc>
              <a:buNone/>
            </a:pPr>
            <a:r>
              <a:rPr lang="en-US" sz="3000" b="1" dirty="0">
                <a:solidFill>
                  <a:srgbClr val="F5F7FB"/>
                </a:solidFill>
                <a:latin typeface="Arial" pitchFamily="34" charset="0"/>
                <a:ea typeface="Arial" pitchFamily="34" charset="-122"/>
                <a:cs typeface="Arial" pitchFamily="34" charset="-120"/>
              </a:rPr>
              <a:t>Target Reconnaissance — what you should now hold</a:t>
            </a:r>
            <a:endParaRPr lang="en-US" sz="3000" dirty="0"/>
          </a:p>
        </p:txBody>
      </p:sp>
      <p:sp>
        <p:nvSpPr>
          <p:cNvPr id="5" name="Shape 3"/>
          <p:cNvSpPr/>
          <p:nvPr/>
        </p:nvSpPr>
        <p:spPr>
          <a:xfrm>
            <a:off x="800100" y="4993481"/>
            <a:ext cx="8239125" cy="1462088"/>
          </a:xfrm>
          <a:prstGeom prst="roundRect">
            <a:avLst>
              <a:gd name="adj" fmla="val 10423"/>
            </a:avLst>
          </a:prstGeom>
          <a:solidFill>
            <a:srgbClr val="FFFFFF">
              <a:alpha val="2000"/>
            </a:srgbClr>
          </a:solidFill>
          <a:ln w="9525">
            <a:solidFill>
              <a:srgbClr val="2A2F3A"/>
            </a:solidFill>
            <a:prstDash val="solid"/>
          </a:ln>
        </p:spPr>
      </p:sp>
      <p:sp>
        <p:nvSpPr>
          <p:cNvPr id="6" name="Text 4"/>
          <p:cNvSpPr/>
          <p:nvPr/>
        </p:nvSpPr>
        <p:spPr>
          <a:xfrm>
            <a:off x="1038225" y="5231606"/>
            <a:ext cx="8539163"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PEOPLE</a:t>
            </a:r>
            <a:endParaRPr lang="en-US" sz="1500" dirty="0"/>
          </a:p>
        </p:txBody>
      </p:sp>
      <p:sp>
        <p:nvSpPr>
          <p:cNvPr id="7" name="Text 5"/>
          <p:cNvSpPr/>
          <p:nvPr/>
        </p:nvSpPr>
        <p:spPr>
          <a:xfrm>
            <a:off x="1038225" y="5550694"/>
            <a:ext cx="7995761" cy="704850"/>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Information about the target person and organisation, gathered the same way Module 5 gathers information about infrastructure.</a:t>
            </a:r>
            <a:endParaRPr lang="en-US" sz="1875" dirty="0"/>
          </a:p>
        </p:txBody>
      </p:sp>
      <p:sp>
        <p:nvSpPr>
          <p:cNvPr id="8" name="Shape 6"/>
          <p:cNvSpPr/>
          <p:nvPr/>
        </p:nvSpPr>
        <p:spPr>
          <a:xfrm>
            <a:off x="9248775" y="4993481"/>
            <a:ext cx="8239125" cy="1462088"/>
          </a:xfrm>
          <a:prstGeom prst="roundRect">
            <a:avLst>
              <a:gd name="adj" fmla="val 10423"/>
            </a:avLst>
          </a:prstGeom>
          <a:solidFill>
            <a:srgbClr val="FFFFFF">
              <a:alpha val="2000"/>
            </a:srgbClr>
          </a:solidFill>
          <a:ln w="9525">
            <a:solidFill>
              <a:srgbClr val="2A2F3A"/>
            </a:solidFill>
            <a:prstDash val="solid"/>
          </a:ln>
        </p:spPr>
      </p:sp>
      <p:sp>
        <p:nvSpPr>
          <p:cNvPr id="9" name="Text 7"/>
          <p:cNvSpPr/>
          <p:nvPr/>
        </p:nvSpPr>
        <p:spPr>
          <a:xfrm>
            <a:off x="9486900" y="5231606"/>
            <a:ext cx="8539163"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SOFTWARE</a:t>
            </a:r>
            <a:endParaRPr lang="en-US" sz="1500" dirty="0"/>
          </a:p>
        </p:txBody>
      </p:sp>
      <p:sp>
        <p:nvSpPr>
          <p:cNvPr id="10" name="Text 8"/>
          <p:cNvSpPr/>
          <p:nvPr/>
        </p:nvSpPr>
        <p:spPr>
          <a:xfrm>
            <a:off x="9486900" y="5550694"/>
            <a:ext cx="7995761" cy="704850"/>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Fingerprinting of the client software stack, which determines which delivery mechanism from 10.2 or 10.3 can actually succeed.</a:t>
            </a:r>
            <a:endParaRPr lang="en-US" sz="1875"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8026591" y="3870945"/>
            <a:ext cx="2234818" cy="285750"/>
          </a:xfrm>
          <a:prstGeom prst="rect">
            <a:avLst/>
          </a:prstGeom>
          <a:noFill/>
          <a:ln/>
        </p:spPr>
        <p:txBody>
          <a:bodyPr wrap="square" lIns="25400" tIns="25400" rIns="25400" bIns="25400" rtlCol="0" anchor="t">
            <a:normAutofit/>
          </a:bodyPr>
          <a:lstStyle/>
          <a:p>
            <a:pPr algn="ctr" indent="0" marL="0">
              <a:buNone/>
            </a:pPr>
            <a:r>
              <a:rPr lang="en-US" sz="1650" b="1" spc="225" kern="0" dirty="0">
                <a:solidFill>
                  <a:srgbClr val="FF6A00"/>
                </a:solidFill>
                <a:latin typeface="Arial" pitchFamily="34" charset="0"/>
                <a:ea typeface="Arial" pitchFamily="34" charset="-122"/>
                <a:cs typeface="Arial" pitchFamily="34" charset="-120"/>
              </a:rPr>
              <a:t>OBJECTIVE 10.2</a:t>
            </a:r>
            <a:endParaRPr lang="en-US" sz="1650" dirty="0"/>
          </a:p>
        </p:txBody>
      </p:sp>
      <p:sp>
        <p:nvSpPr>
          <p:cNvPr id="4" name="Text 2"/>
          <p:cNvSpPr/>
          <p:nvPr/>
        </p:nvSpPr>
        <p:spPr>
          <a:xfrm>
            <a:off x="3321051" y="4385295"/>
            <a:ext cx="11645823" cy="918195"/>
          </a:xfrm>
          <a:prstGeom prst="rect">
            <a:avLst/>
          </a:prstGeom>
          <a:noFill/>
          <a:ln/>
        </p:spPr>
        <p:txBody>
          <a:bodyPr wrap="square" lIns="25400" tIns="25400" rIns="25400" bIns="25400" rtlCol="0" anchor="t">
            <a:normAutofit/>
          </a:bodyPr>
          <a:lstStyle/>
          <a:p>
            <a:pPr algn="ctr" indent="0" marL="0">
              <a:lnSpc>
                <a:spcPct val="91485"/>
              </a:lnSpc>
              <a:buNone/>
            </a:pPr>
            <a:r>
              <a:rPr lang="en-US" sz="6600" b="1" spc="-37" kern="0" dirty="0">
                <a:solidFill>
                  <a:srgbClr val="F5F7FB"/>
                </a:solidFill>
                <a:latin typeface="Arial" pitchFamily="34" charset="0"/>
                <a:ea typeface="Arial" pitchFamily="34" charset="-122"/>
                <a:cs typeface="Arial" pitchFamily="34" charset="-120"/>
              </a:rPr>
              <a:t>Exploiting Microsoft Office</a:t>
            </a:r>
            <a:endParaRPr lang="en-US" sz="6600" dirty="0"/>
          </a:p>
        </p:txBody>
      </p:sp>
      <p:sp>
        <p:nvSpPr>
          <p:cNvPr id="5" name="Text 3"/>
          <p:cNvSpPr/>
          <p:nvPr/>
        </p:nvSpPr>
        <p:spPr>
          <a:xfrm>
            <a:off x="3012281" y="5532090"/>
            <a:ext cx="12263438" cy="921990"/>
          </a:xfrm>
          <a:prstGeom prst="rect">
            <a:avLst/>
          </a:prstGeom>
          <a:noFill/>
          <a:ln/>
        </p:spPr>
        <p:txBody>
          <a:bodyPr wrap="square" lIns="25400" tIns="25400" rIns="25400" bIns="25400" rtlCol="0" anchor="t">
            <a:normAutofit/>
          </a:bodyPr>
          <a:lstStyle/>
          <a:p>
            <a:pPr algn="ctr" indent="0" marL="0">
              <a:lnSpc>
                <a:spcPct val="125405"/>
              </a:lnSpc>
              <a:buNone/>
            </a:pPr>
            <a:r>
              <a:rPr lang="en-US" sz="2400" dirty="0">
                <a:solidFill>
                  <a:srgbClr val="B8C0CF"/>
                </a:solidFill>
                <a:latin typeface="Arial" pitchFamily="34" charset="0"/>
                <a:ea typeface="Arial" pitchFamily="34" charset="-122"/>
                <a:cs typeface="Arial" pitchFamily="34" charset="-120"/>
              </a:rPr>
              <a:t>Understand variations of Microsoft Office client-side attacks, install Microsoft Office, and leverage Microsoft Word macros.</a:t>
            </a:r>
            <a:endParaRPr lang="en-US" sz="2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Shape 1"/>
          <p:cNvSpPr/>
          <p:nvPr/>
        </p:nvSpPr>
        <p:spPr>
          <a:xfrm>
            <a:off x="800100" y="3066604"/>
            <a:ext cx="3031108" cy="395288"/>
          </a:xfrm>
          <a:prstGeom prst="roundRect">
            <a:avLst>
              <a:gd name="adj" fmla="val 50000"/>
            </a:avLst>
          </a:prstGeom>
          <a:solidFill>
            <a:srgbClr val="FF6A00">
              <a:alpha val="15000"/>
            </a:srgbClr>
          </a:solidFill>
          <a:ln w="9525">
            <a:solidFill>
              <a:srgbClr val="FF6A00">
                <a:alpha val="35000"/>
              </a:srgbClr>
            </a:solidFill>
            <a:prstDash val="solid"/>
          </a:ln>
        </p:spPr>
      </p:sp>
      <p:sp>
        <p:nvSpPr>
          <p:cNvPr id="4" name="Text 2"/>
          <p:cNvSpPr/>
          <p:nvPr/>
        </p:nvSpPr>
        <p:spPr>
          <a:xfrm>
            <a:off x="981075" y="3152329"/>
            <a:ext cx="2760091" cy="261938"/>
          </a:xfrm>
          <a:prstGeom prst="rect">
            <a:avLst/>
          </a:prstGeom>
          <a:noFill/>
          <a:ln/>
        </p:spPr>
        <p:txBody>
          <a:bodyPr wrap="square" lIns="25400" tIns="25400" rIns="25400" bIns="25400" rtlCol="0" anchor="t">
            <a:normAutofit/>
          </a:bodyPr>
          <a:lstStyle/>
          <a:p>
            <a:pPr algn="l" indent="0" marL="0">
              <a:buNone/>
            </a:pPr>
            <a:r>
              <a:rPr lang="en-US" sz="1500" b="1" spc="75" kern="0" dirty="0">
                <a:solidFill>
                  <a:srgbClr val="FFD9BF"/>
                </a:solidFill>
                <a:latin typeface="Arial" pitchFamily="34" charset="0"/>
                <a:ea typeface="Arial" pitchFamily="34" charset="-122"/>
                <a:cs typeface="Arial" pitchFamily="34" charset="-120"/>
              </a:rPr>
              <a:t>Objective 10.2 · Task 1 of 3</a:t>
            </a:r>
            <a:endParaRPr lang="en-US" sz="1500" dirty="0"/>
          </a:p>
        </p:txBody>
      </p:sp>
      <p:sp>
        <p:nvSpPr>
          <p:cNvPr id="5" name="Text 3"/>
          <p:cNvSpPr/>
          <p:nvPr/>
        </p:nvSpPr>
        <p:spPr>
          <a:xfrm>
            <a:off x="800100" y="3709541"/>
            <a:ext cx="18356580" cy="457200"/>
          </a:xfrm>
          <a:prstGeom prst="rect">
            <a:avLst/>
          </a:prstGeom>
          <a:noFill/>
          <a:ln/>
        </p:spPr>
        <p:txBody>
          <a:bodyPr wrap="square" lIns="25400" tIns="25400" rIns="25400" bIns="25400" rtlCol="0" anchor="t">
            <a:normAutofit/>
          </a:bodyPr>
          <a:lstStyle/>
          <a:p>
            <a:pPr algn="l" indent="0" marL="0">
              <a:lnSpc>
                <a:spcPct val="95652"/>
              </a:lnSpc>
              <a:buNone/>
            </a:pPr>
            <a:r>
              <a:rPr lang="en-US" sz="3000" b="1" dirty="0">
                <a:solidFill>
                  <a:srgbClr val="F5F7FB"/>
                </a:solidFill>
                <a:latin typeface="Arial" pitchFamily="34" charset="0"/>
                <a:ea typeface="Arial" pitchFamily="34" charset="-122"/>
                <a:cs typeface="Arial" pitchFamily="34" charset="-120"/>
              </a:rPr>
              <a:t>Variations of Microsoft Office client-side attacks</a:t>
            </a:r>
            <a:endParaRPr lang="en-US" sz="3000" dirty="0"/>
          </a:p>
        </p:txBody>
      </p:sp>
      <p:sp>
        <p:nvSpPr>
          <p:cNvPr id="6" name="Text 4"/>
          <p:cNvSpPr/>
          <p:nvPr/>
        </p:nvSpPr>
        <p:spPr>
          <a:xfrm>
            <a:off x="800100" y="4376291"/>
            <a:ext cx="15304770" cy="839093"/>
          </a:xfrm>
          <a:prstGeom prst="rect">
            <a:avLst/>
          </a:prstGeom>
          <a:noFill/>
          <a:ln/>
        </p:spPr>
        <p:txBody>
          <a:bodyPr wrap="square" lIns="25400" tIns="25400" rIns="25400" bIns="25400" rtlCol="0" anchor="t">
            <a:normAutofit/>
          </a:bodyPr>
          <a:lstStyle/>
          <a:p>
            <a:pPr algn="l" indent="0" marL="0">
              <a:lnSpc>
                <a:spcPct val="125522"/>
              </a:lnSpc>
              <a:buNone/>
            </a:pPr>
            <a:r>
              <a:rPr lang="en-US" sz="2175" dirty="0">
                <a:solidFill>
                  <a:srgbClr val="B8C0CF"/>
                </a:solidFill>
                <a:latin typeface="Arial" pitchFamily="34" charset="0"/>
                <a:ea typeface="Arial" pitchFamily="34" charset="-122"/>
                <a:cs typeface="Arial" pitchFamily="34" charset="-120"/>
              </a:rPr>
              <a:t>Microsoft Office documents can carry more than one kind of attack surface. Understanding the range prevents narrowing to one technique before confirming it is the applicable one.</a:t>
            </a:r>
            <a:endParaRPr lang="en-US" sz="2175" dirty="0"/>
          </a:p>
        </p:txBody>
      </p:sp>
      <p:sp>
        <p:nvSpPr>
          <p:cNvPr id="7" name="Shape 5"/>
          <p:cNvSpPr/>
          <p:nvPr/>
        </p:nvSpPr>
        <p:spPr>
          <a:xfrm>
            <a:off x="800100" y="5424934"/>
            <a:ext cx="8239125" cy="1795463"/>
          </a:xfrm>
          <a:prstGeom prst="roundRect">
            <a:avLst>
              <a:gd name="adj" fmla="val 8488"/>
            </a:avLst>
          </a:prstGeom>
          <a:solidFill>
            <a:srgbClr val="FFFFFF">
              <a:alpha val="2000"/>
            </a:srgbClr>
          </a:solidFill>
          <a:ln w="9525">
            <a:solidFill>
              <a:srgbClr val="2A2F3A"/>
            </a:solidFill>
            <a:prstDash val="solid"/>
          </a:ln>
        </p:spPr>
      </p:sp>
      <p:sp>
        <p:nvSpPr>
          <p:cNvPr id="8" name="Text 6"/>
          <p:cNvSpPr/>
          <p:nvPr/>
        </p:nvSpPr>
        <p:spPr>
          <a:xfrm>
            <a:off x="1038225" y="5663059"/>
            <a:ext cx="8539163"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WHY IT MATTERS</a:t>
            </a:r>
            <a:endParaRPr lang="en-US" sz="1500" dirty="0"/>
          </a:p>
        </p:txBody>
      </p:sp>
      <p:sp>
        <p:nvSpPr>
          <p:cNvPr id="9" name="Text 7"/>
          <p:cNvSpPr/>
          <p:nvPr/>
        </p:nvSpPr>
        <p:spPr>
          <a:xfrm>
            <a:off x="1038225" y="5982146"/>
            <a:ext cx="7995761" cy="1038225"/>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Different Office versions and configurations expose different mechanisms. Confirming which apply avoids wasted effort on a technique the target has already mitigated.</a:t>
            </a:r>
            <a:endParaRPr lang="en-US" sz="1875" dirty="0"/>
          </a:p>
        </p:txBody>
      </p:sp>
      <p:sp>
        <p:nvSpPr>
          <p:cNvPr id="10" name="Shape 8"/>
          <p:cNvSpPr/>
          <p:nvPr/>
        </p:nvSpPr>
        <p:spPr>
          <a:xfrm>
            <a:off x="9248775" y="5424934"/>
            <a:ext cx="8239125" cy="1795463"/>
          </a:xfrm>
          <a:prstGeom prst="roundRect">
            <a:avLst>
              <a:gd name="adj" fmla="val 8488"/>
            </a:avLst>
          </a:prstGeom>
          <a:solidFill>
            <a:srgbClr val="FFFFFF">
              <a:alpha val="2000"/>
            </a:srgbClr>
          </a:solidFill>
          <a:ln w="9525">
            <a:solidFill>
              <a:srgbClr val="2A2F3A"/>
            </a:solidFill>
            <a:prstDash val="solid"/>
          </a:ln>
        </p:spPr>
      </p:sp>
      <p:sp>
        <p:nvSpPr>
          <p:cNvPr id="11" name="Text 9"/>
          <p:cNvSpPr/>
          <p:nvPr/>
        </p:nvSpPr>
        <p:spPr>
          <a:xfrm>
            <a:off x="9486900" y="5663059"/>
            <a:ext cx="8539163"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CONNECTS TO</a:t>
            </a:r>
            <a:endParaRPr lang="en-US" sz="1500" dirty="0"/>
          </a:p>
        </p:txBody>
      </p:sp>
      <p:sp>
        <p:nvSpPr>
          <p:cNvPr id="12" name="Text 10"/>
          <p:cNvSpPr/>
          <p:nvPr/>
        </p:nvSpPr>
        <p:spPr>
          <a:xfrm>
            <a:off x="9486900" y="5982146"/>
            <a:ext cx="7995761" cy="704850"/>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Objective 10.1's fingerprinting task. The Office version identified there determines which variation is worth attempting.</a:t>
            </a:r>
            <a:endParaRPr lang="en-US" sz="1875"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Shape 1"/>
          <p:cNvSpPr/>
          <p:nvPr/>
        </p:nvSpPr>
        <p:spPr>
          <a:xfrm>
            <a:off x="800100" y="3233291"/>
            <a:ext cx="3055367" cy="395288"/>
          </a:xfrm>
          <a:prstGeom prst="roundRect">
            <a:avLst>
              <a:gd name="adj" fmla="val 50000"/>
            </a:avLst>
          </a:prstGeom>
          <a:solidFill>
            <a:srgbClr val="FF6A00">
              <a:alpha val="15000"/>
            </a:srgbClr>
          </a:solidFill>
          <a:ln w="9525">
            <a:solidFill>
              <a:srgbClr val="FF6A00">
                <a:alpha val="35000"/>
              </a:srgbClr>
            </a:solidFill>
            <a:prstDash val="solid"/>
          </a:ln>
        </p:spPr>
      </p:sp>
      <p:sp>
        <p:nvSpPr>
          <p:cNvPr id="4" name="Text 2"/>
          <p:cNvSpPr/>
          <p:nvPr/>
        </p:nvSpPr>
        <p:spPr>
          <a:xfrm>
            <a:off x="981075" y="3319016"/>
            <a:ext cx="2785078" cy="261938"/>
          </a:xfrm>
          <a:prstGeom prst="rect">
            <a:avLst/>
          </a:prstGeom>
          <a:noFill/>
          <a:ln/>
        </p:spPr>
        <p:txBody>
          <a:bodyPr wrap="square" lIns="25400" tIns="25400" rIns="25400" bIns="25400" rtlCol="0" anchor="t">
            <a:normAutofit/>
          </a:bodyPr>
          <a:lstStyle/>
          <a:p>
            <a:pPr algn="l" indent="0" marL="0">
              <a:buNone/>
            </a:pPr>
            <a:r>
              <a:rPr lang="en-US" sz="1500" b="1" spc="75" kern="0" dirty="0">
                <a:solidFill>
                  <a:srgbClr val="FFD9BF"/>
                </a:solidFill>
                <a:latin typeface="Arial" pitchFamily="34" charset="0"/>
                <a:ea typeface="Arial" pitchFamily="34" charset="-122"/>
                <a:cs typeface="Arial" pitchFamily="34" charset="-120"/>
              </a:rPr>
              <a:t>Objective 10.2 · Task 2 of 3</a:t>
            </a:r>
            <a:endParaRPr lang="en-US" sz="1500" dirty="0"/>
          </a:p>
        </p:txBody>
      </p:sp>
      <p:sp>
        <p:nvSpPr>
          <p:cNvPr id="5" name="Text 3"/>
          <p:cNvSpPr/>
          <p:nvPr/>
        </p:nvSpPr>
        <p:spPr>
          <a:xfrm>
            <a:off x="800100" y="3876229"/>
            <a:ext cx="18356580" cy="457200"/>
          </a:xfrm>
          <a:prstGeom prst="rect">
            <a:avLst/>
          </a:prstGeom>
          <a:noFill/>
          <a:ln/>
        </p:spPr>
        <p:txBody>
          <a:bodyPr wrap="square" lIns="25400" tIns="25400" rIns="25400" bIns="25400" rtlCol="0" anchor="t">
            <a:normAutofit/>
          </a:bodyPr>
          <a:lstStyle/>
          <a:p>
            <a:pPr algn="l" indent="0" marL="0">
              <a:lnSpc>
                <a:spcPct val="95652"/>
              </a:lnSpc>
              <a:buNone/>
            </a:pPr>
            <a:r>
              <a:rPr lang="en-US" sz="3000" b="1" dirty="0">
                <a:solidFill>
                  <a:srgbClr val="F5F7FB"/>
                </a:solidFill>
                <a:latin typeface="Arial" pitchFamily="34" charset="0"/>
                <a:ea typeface="Arial" pitchFamily="34" charset="-122"/>
                <a:cs typeface="Arial" pitchFamily="34" charset="-120"/>
              </a:rPr>
              <a:t>Installing Microsoft Office</a:t>
            </a:r>
            <a:endParaRPr lang="en-US" sz="3000" dirty="0"/>
          </a:p>
        </p:txBody>
      </p:sp>
      <p:sp>
        <p:nvSpPr>
          <p:cNvPr id="6" name="Text 4"/>
          <p:cNvSpPr/>
          <p:nvPr/>
        </p:nvSpPr>
        <p:spPr>
          <a:xfrm>
            <a:off x="800100" y="4542979"/>
            <a:ext cx="15304770" cy="839093"/>
          </a:xfrm>
          <a:prstGeom prst="rect">
            <a:avLst/>
          </a:prstGeom>
          <a:noFill/>
          <a:ln/>
        </p:spPr>
        <p:txBody>
          <a:bodyPr wrap="square" lIns="25400" tIns="25400" rIns="25400" bIns="25400" rtlCol="0" anchor="t">
            <a:normAutofit/>
          </a:bodyPr>
          <a:lstStyle/>
          <a:p>
            <a:pPr algn="l" indent="0" marL="0">
              <a:lnSpc>
                <a:spcPct val="125522"/>
              </a:lnSpc>
              <a:buNone/>
            </a:pPr>
            <a:r>
              <a:rPr lang="en-US" sz="2175" dirty="0">
                <a:solidFill>
                  <a:srgbClr val="B8C0CF"/>
                </a:solidFill>
                <a:latin typeface="Arial" pitchFamily="34" charset="0"/>
                <a:ea typeface="Arial" pitchFamily="34" charset="-122"/>
                <a:cs typeface="Arial" pitchFamily="34" charset="-120"/>
              </a:rPr>
              <a:t>Having a working Office installation available is a stated objective in its own right — a practical necessity for building and testing a payload before it is ever delivered to a target.</a:t>
            </a:r>
            <a:endParaRPr lang="en-US" sz="2175" dirty="0"/>
          </a:p>
        </p:txBody>
      </p:sp>
      <p:sp>
        <p:nvSpPr>
          <p:cNvPr id="7" name="Shape 5"/>
          <p:cNvSpPr/>
          <p:nvPr/>
        </p:nvSpPr>
        <p:spPr>
          <a:xfrm>
            <a:off x="800100" y="5591621"/>
            <a:ext cx="8239125" cy="1462088"/>
          </a:xfrm>
          <a:prstGeom prst="roundRect">
            <a:avLst>
              <a:gd name="adj" fmla="val 10423"/>
            </a:avLst>
          </a:prstGeom>
          <a:solidFill>
            <a:srgbClr val="FFFFFF">
              <a:alpha val="2000"/>
            </a:srgbClr>
          </a:solidFill>
          <a:ln w="9525">
            <a:solidFill>
              <a:srgbClr val="2A2F3A"/>
            </a:solidFill>
            <a:prstDash val="solid"/>
          </a:ln>
        </p:spPr>
      </p:sp>
      <p:sp>
        <p:nvSpPr>
          <p:cNvPr id="8" name="Text 6"/>
          <p:cNvSpPr/>
          <p:nvPr/>
        </p:nvSpPr>
        <p:spPr>
          <a:xfrm>
            <a:off x="1038225" y="5829746"/>
            <a:ext cx="8539163"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WHY IT MATTERS</a:t>
            </a:r>
            <a:endParaRPr lang="en-US" sz="1500" dirty="0"/>
          </a:p>
        </p:txBody>
      </p:sp>
      <p:sp>
        <p:nvSpPr>
          <p:cNvPr id="9" name="Text 7"/>
          <p:cNvSpPr/>
          <p:nvPr/>
        </p:nvSpPr>
        <p:spPr>
          <a:xfrm>
            <a:off x="1038225" y="6148834"/>
            <a:ext cx="7995761" cy="704850"/>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Testing a macro's behaviour against the same version and configuration a target runs avoids surprises during a live engagement.</a:t>
            </a:r>
            <a:endParaRPr lang="en-US" sz="1875" dirty="0"/>
          </a:p>
        </p:txBody>
      </p:sp>
      <p:sp>
        <p:nvSpPr>
          <p:cNvPr id="10" name="Shape 8"/>
          <p:cNvSpPr/>
          <p:nvPr/>
        </p:nvSpPr>
        <p:spPr>
          <a:xfrm>
            <a:off x="9248775" y="5591621"/>
            <a:ext cx="8239125" cy="1462088"/>
          </a:xfrm>
          <a:prstGeom prst="roundRect">
            <a:avLst>
              <a:gd name="adj" fmla="val 10423"/>
            </a:avLst>
          </a:prstGeom>
          <a:solidFill>
            <a:srgbClr val="FFFFFF">
              <a:alpha val="2000"/>
            </a:srgbClr>
          </a:solidFill>
          <a:ln w="9525">
            <a:solidFill>
              <a:srgbClr val="2A2F3A"/>
            </a:solidFill>
            <a:prstDash val="solid"/>
          </a:ln>
        </p:spPr>
      </p:sp>
      <p:sp>
        <p:nvSpPr>
          <p:cNvPr id="11" name="Text 9"/>
          <p:cNvSpPr/>
          <p:nvPr/>
        </p:nvSpPr>
        <p:spPr>
          <a:xfrm>
            <a:off x="9486900" y="5829746"/>
            <a:ext cx="8539163"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WATCH FOR</a:t>
            </a:r>
            <a:endParaRPr lang="en-US" sz="1500" dirty="0"/>
          </a:p>
        </p:txBody>
      </p:sp>
      <p:sp>
        <p:nvSpPr>
          <p:cNvPr id="12" name="Text 10"/>
          <p:cNvSpPr/>
          <p:nvPr/>
        </p:nvSpPr>
        <p:spPr>
          <a:xfrm>
            <a:off x="9486900" y="6148834"/>
            <a:ext cx="7995761" cy="704850"/>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Testing only against the latest Office version when the target's fingerprinted version, from Objective 10.1, is older or configured differently.</a:t>
            </a:r>
            <a:endParaRPr lang="en-US" sz="1875"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Shape 1"/>
          <p:cNvSpPr/>
          <p:nvPr/>
        </p:nvSpPr>
        <p:spPr>
          <a:xfrm>
            <a:off x="800100" y="3066604"/>
            <a:ext cx="3060502" cy="395288"/>
          </a:xfrm>
          <a:prstGeom prst="roundRect">
            <a:avLst>
              <a:gd name="adj" fmla="val 50000"/>
            </a:avLst>
          </a:prstGeom>
          <a:solidFill>
            <a:srgbClr val="FF6A00">
              <a:alpha val="15000"/>
            </a:srgbClr>
          </a:solidFill>
          <a:ln w="9525">
            <a:solidFill>
              <a:srgbClr val="FF6A00">
                <a:alpha val="35000"/>
              </a:srgbClr>
            </a:solidFill>
            <a:prstDash val="solid"/>
          </a:ln>
        </p:spPr>
      </p:sp>
      <p:sp>
        <p:nvSpPr>
          <p:cNvPr id="4" name="Text 2"/>
          <p:cNvSpPr/>
          <p:nvPr/>
        </p:nvSpPr>
        <p:spPr>
          <a:xfrm>
            <a:off x="981075" y="3152329"/>
            <a:ext cx="2790367" cy="261938"/>
          </a:xfrm>
          <a:prstGeom prst="rect">
            <a:avLst/>
          </a:prstGeom>
          <a:noFill/>
          <a:ln/>
        </p:spPr>
        <p:txBody>
          <a:bodyPr wrap="square" lIns="25400" tIns="25400" rIns="25400" bIns="25400" rtlCol="0" anchor="t">
            <a:normAutofit/>
          </a:bodyPr>
          <a:lstStyle/>
          <a:p>
            <a:pPr algn="l" indent="0" marL="0">
              <a:buNone/>
            </a:pPr>
            <a:r>
              <a:rPr lang="en-US" sz="1500" b="1" spc="75" kern="0" dirty="0">
                <a:solidFill>
                  <a:srgbClr val="FFD9BF"/>
                </a:solidFill>
                <a:latin typeface="Arial" pitchFamily="34" charset="0"/>
                <a:ea typeface="Arial" pitchFamily="34" charset="-122"/>
                <a:cs typeface="Arial" pitchFamily="34" charset="-120"/>
              </a:rPr>
              <a:t>Objective 10.2 · Task 3 of 3</a:t>
            </a:r>
            <a:endParaRPr lang="en-US" sz="1500" dirty="0"/>
          </a:p>
        </p:txBody>
      </p:sp>
      <p:sp>
        <p:nvSpPr>
          <p:cNvPr id="5" name="Text 3"/>
          <p:cNvSpPr/>
          <p:nvPr/>
        </p:nvSpPr>
        <p:spPr>
          <a:xfrm>
            <a:off x="800100" y="3709541"/>
            <a:ext cx="18356580" cy="457200"/>
          </a:xfrm>
          <a:prstGeom prst="rect">
            <a:avLst/>
          </a:prstGeom>
          <a:noFill/>
          <a:ln/>
        </p:spPr>
        <p:txBody>
          <a:bodyPr wrap="square" lIns="25400" tIns="25400" rIns="25400" bIns="25400" rtlCol="0" anchor="t">
            <a:normAutofit/>
          </a:bodyPr>
          <a:lstStyle/>
          <a:p>
            <a:pPr algn="l" indent="0" marL="0">
              <a:lnSpc>
                <a:spcPct val="95652"/>
              </a:lnSpc>
              <a:buNone/>
            </a:pPr>
            <a:r>
              <a:rPr lang="en-US" sz="3000" b="1" dirty="0">
                <a:solidFill>
                  <a:srgbClr val="F5F7FB"/>
                </a:solidFill>
                <a:latin typeface="Arial" pitchFamily="34" charset="0"/>
                <a:ea typeface="Arial" pitchFamily="34" charset="-122"/>
                <a:cs typeface="Arial" pitchFamily="34" charset="-120"/>
              </a:rPr>
              <a:t>Leveraging Microsoft Word macros</a:t>
            </a:r>
            <a:endParaRPr lang="en-US" sz="3000" dirty="0"/>
          </a:p>
        </p:txBody>
      </p:sp>
      <p:sp>
        <p:nvSpPr>
          <p:cNvPr id="6" name="Text 4"/>
          <p:cNvSpPr/>
          <p:nvPr/>
        </p:nvSpPr>
        <p:spPr>
          <a:xfrm>
            <a:off x="800100" y="4376291"/>
            <a:ext cx="15304770" cy="839093"/>
          </a:xfrm>
          <a:prstGeom prst="rect">
            <a:avLst/>
          </a:prstGeom>
          <a:noFill/>
          <a:ln/>
        </p:spPr>
        <p:txBody>
          <a:bodyPr wrap="square" lIns="25400" tIns="25400" rIns="25400" bIns="25400" rtlCol="0" anchor="t">
            <a:normAutofit/>
          </a:bodyPr>
          <a:lstStyle/>
          <a:p>
            <a:pPr algn="l" indent="0" marL="0">
              <a:lnSpc>
                <a:spcPct val="125522"/>
              </a:lnSpc>
              <a:buNone/>
            </a:pPr>
            <a:r>
              <a:rPr lang="en-US" sz="2175" dirty="0">
                <a:solidFill>
                  <a:srgbClr val="B8C0CF"/>
                </a:solidFill>
                <a:latin typeface="Arial" pitchFamily="34" charset="0"/>
                <a:ea typeface="Arial" pitchFamily="34" charset="-122"/>
                <a:cs typeface="Arial" pitchFamily="34" charset="-120"/>
              </a:rPr>
              <a:t>A macro is code embedded in a document that Word can execute automatically or on a user action. A malicious macro turns opening a document into running attacker-supplied code.</a:t>
            </a:r>
            <a:endParaRPr lang="en-US" sz="2175" dirty="0"/>
          </a:p>
        </p:txBody>
      </p:sp>
      <p:sp>
        <p:nvSpPr>
          <p:cNvPr id="7" name="Shape 5"/>
          <p:cNvSpPr/>
          <p:nvPr/>
        </p:nvSpPr>
        <p:spPr>
          <a:xfrm>
            <a:off x="800100" y="5424934"/>
            <a:ext cx="8239125" cy="1795463"/>
          </a:xfrm>
          <a:prstGeom prst="roundRect">
            <a:avLst>
              <a:gd name="adj" fmla="val 8488"/>
            </a:avLst>
          </a:prstGeom>
          <a:solidFill>
            <a:srgbClr val="FFFFFF">
              <a:alpha val="2000"/>
            </a:srgbClr>
          </a:solidFill>
          <a:ln w="9525">
            <a:solidFill>
              <a:srgbClr val="2A2F3A"/>
            </a:solidFill>
            <a:prstDash val="solid"/>
          </a:ln>
        </p:spPr>
      </p:sp>
      <p:sp>
        <p:nvSpPr>
          <p:cNvPr id="8" name="Text 6"/>
          <p:cNvSpPr/>
          <p:nvPr/>
        </p:nvSpPr>
        <p:spPr>
          <a:xfrm>
            <a:off x="1038225" y="5663059"/>
            <a:ext cx="8539163"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WHY IT WORKS</a:t>
            </a:r>
            <a:endParaRPr lang="en-US" sz="1500" dirty="0"/>
          </a:p>
        </p:txBody>
      </p:sp>
      <p:sp>
        <p:nvSpPr>
          <p:cNvPr id="9" name="Text 7"/>
          <p:cNvSpPr/>
          <p:nvPr/>
        </p:nvSpPr>
        <p:spPr>
          <a:xfrm>
            <a:off x="1038225" y="5982146"/>
            <a:ext cx="7995761" cy="1038225"/>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Macros exist for legitimate automation, so the capability itself cannot be removed without breaking real business documents — only warned about or restricted by policy.</a:t>
            </a:r>
            <a:endParaRPr lang="en-US" sz="1875" dirty="0"/>
          </a:p>
        </p:txBody>
      </p:sp>
      <p:sp>
        <p:nvSpPr>
          <p:cNvPr id="10" name="Shape 8"/>
          <p:cNvSpPr/>
          <p:nvPr/>
        </p:nvSpPr>
        <p:spPr>
          <a:xfrm>
            <a:off x="9248775" y="5424934"/>
            <a:ext cx="8239125" cy="1795463"/>
          </a:xfrm>
          <a:prstGeom prst="roundRect">
            <a:avLst>
              <a:gd name="adj" fmla="val 8488"/>
            </a:avLst>
          </a:prstGeom>
          <a:solidFill>
            <a:srgbClr val="FFFFFF">
              <a:alpha val="2000"/>
            </a:srgbClr>
          </a:solidFill>
          <a:ln w="9525">
            <a:solidFill>
              <a:srgbClr val="2A2F3A"/>
            </a:solidFill>
            <a:prstDash val="solid"/>
          </a:ln>
        </p:spPr>
      </p:sp>
      <p:sp>
        <p:nvSpPr>
          <p:cNvPr id="11" name="Text 9"/>
          <p:cNvSpPr/>
          <p:nvPr/>
        </p:nvSpPr>
        <p:spPr>
          <a:xfrm>
            <a:off x="9486900" y="5663059"/>
            <a:ext cx="8539163"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WATCH FOR</a:t>
            </a:r>
            <a:endParaRPr lang="en-US" sz="1500" dirty="0"/>
          </a:p>
        </p:txBody>
      </p:sp>
      <p:sp>
        <p:nvSpPr>
          <p:cNvPr id="12" name="Text 10"/>
          <p:cNvSpPr/>
          <p:nvPr/>
        </p:nvSpPr>
        <p:spPr>
          <a:xfrm>
            <a:off x="9486900" y="5982146"/>
            <a:ext cx="7995761" cy="704850"/>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Security warnings that a target must actively dismiss. A convincing pretext, built from Objective 10.1's reconnaissance, is what makes a target do so.</a:t>
            </a:r>
            <a:endParaRPr lang="en-US" sz="1875"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800100" y="3831431"/>
            <a:ext cx="18356580" cy="285750"/>
          </a:xfrm>
          <a:prstGeom prst="rect">
            <a:avLst/>
          </a:prstGeom>
          <a:noFill/>
          <a:ln/>
        </p:spPr>
        <p:txBody>
          <a:bodyPr wrap="square" lIns="25400" tIns="25400" rIns="25400" bIns="25400" rtlCol="0" anchor="t">
            <a:normAutofit/>
          </a:bodyPr>
          <a:lstStyle/>
          <a:p>
            <a:pPr algn="l" indent="0" marL="0">
              <a:buNone/>
            </a:pPr>
            <a:r>
              <a:rPr lang="en-US" sz="1650" b="1" spc="225" kern="0" dirty="0">
                <a:solidFill>
                  <a:srgbClr val="FF6A00"/>
                </a:solidFill>
                <a:latin typeface="Arial" pitchFamily="34" charset="0"/>
                <a:ea typeface="Arial" pitchFamily="34" charset="-122"/>
                <a:cs typeface="Arial" pitchFamily="34" charset="-120"/>
              </a:rPr>
              <a:t>OBJECTIVE 10.2 RECAP</a:t>
            </a:r>
            <a:endParaRPr lang="en-US" sz="1650" dirty="0"/>
          </a:p>
        </p:txBody>
      </p:sp>
      <p:sp>
        <p:nvSpPr>
          <p:cNvPr id="4" name="Text 2"/>
          <p:cNvSpPr/>
          <p:nvPr/>
        </p:nvSpPr>
        <p:spPr>
          <a:xfrm>
            <a:off x="800100" y="4326731"/>
            <a:ext cx="18356580" cy="457200"/>
          </a:xfrm>
          <a:prstGeom prst="rect">
            <a:avLst/>
          </a:prstGeom>
          <a:noFill/>
          <a:ln/>
        </p:spPr>
        <p:txBody>
          <a:bodyPr wrap="square" lIns="25400" tIns="25400" rIns="25400" bIns="25400" rtlCol="0" anchor="t">
            <a:normAutofit/>
          </a:bodyPr>
          <a:lstStyle/>
          <a:p>
            <a:pPr algn="l" indent="0" marL="0">
              <a:lnSpc>
                <a:spcPct val="95652"/>
              </a:lnSpc>
              <a:buNone/>
            </a:pPr>
            <a:r>
              <a:rPr lang="en-US" sz="3000" b="1" dirty="0">
                <a:solidFill>
                  <a:srgbClr val="F5F7FB"/>
                </a:solidFill>
                <a:latin typeface="Arial" pitchFamily="34" charset="0"/>
                <a:ea typeface="Arial" pitchFamily="34" charset="-122"/>
                <a:cs typeface="Arial" pitchFamily="34" charset="-120"/>
              </a:rPr>
              <a:t>Exploiting Microsoft Office — what you should now hold</a:t>
            </a:r>
            <a:endParaRPr lang="en-US" sz="3000" dirty="0"/>
          </a:p>
        </p:txBody>
      </p:sp>
      <p:sp>
        <p:nvSpPr>
          <p:cNvPr id="5" name="Shape 3"/>
          <p:cNvSpPr/>
          <p:nvPr/>
        </p:nvSpPr>
        <p:spPr>
          <a:xfrm>
            <a:off x="800100" y="4993481"/>
            <a:ext cx="8239125" cy="1462088"/>
          </a:xfrm>
          <a:prstGeom prst="roundRect">
            <a:avLst>
              <a:gd name="adj" fmla="val 10423"/>
            </a:avLst>
          </a:prstGeom>
          <a:solidFill>
            <a:srgbClr val="FFFFFF">
              <a:alpha val="2000"/>
            </a:srgbClr>
          </a:solidFill>
          <a:ln w="9525">
            <a:solidFill>
              <a:srgbClr val="2A2F3A"/>
            </a:solidFill>
            <a:prstDash val="solid"/>
          </a:ln>
        </p:spPr>
      </p:sp>
      <p:sp>
        <p:nvSpPr>
          <p:cNvPr id="6" name="Text 4"/>
          <p:cNvSpPr/>
          <p:nvPr/>
        </p:nvSpPr>
        <p:spPr>
          <a:xfrm>
            <a:off x="1038225" y="5231606"/>
            <a:ext cx="8539163"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RANGE AND SETUP</a:t>
            </a:r>
            <a:endParaRPr lang="en-US" sz="1500" dirty="0"/>
          </a:p>
        </p:txBody>
      </p:sp>
      <p:sp>
        <p:nvSpPr>
          <p:cNvPr id="7" name="Text 5"/>
          <p:cNvSpPr/>
          <p:nvPr/>
        </p:nvSpPr>
        <p:spPr>
          <a:xfrm>
            <a:off x="1038225" y="5550694"/>
            <a:ext cx="7995761" cy="704850"/>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More than one Office attack variation exists, and a working local Office installation is necessary to build and test one.</a:t>
            </a:r>
            <a:endParaRPr lang="en-US" sz="1875" dirty="0"/>
          </a:p>
        </p:txBody>
      </p:sp>
      <p:sp>
        <p:nvSpPr>
          <p:cNvPr id="8" name="Shape 6"/>
          <p:cNvSpPr/>
          <p:nvPr/>
        </p:nvSpPr>
        <p:spPr>
          <a:xfrm>
            <a:off x="9248775" y="4993481"/>
            <a:ext cx="8239125" cy="1462088"/>
          </a:xfrm>
          <a:prstGeom prst="roundRect">
            <a:avLst>
              <a:gd name="adj" fmla="val 10423"/>
            </a:avLst>
          </a:prstGeom>
          <a:solidFill>
            <a:srgbClr val="FFFFFF">
              <a:alpha val="2000"/>
            </a:srgbClr>
          </a:solidFill>
          <a:ln w="9525">
            <a:solidFill>
              <a:srgbClr val="2A2F3A"/>
            </a:solidFill>
            <a:prstDash val="solid"/>
          </a:ln>
        </p:spPr>
      </p:sp>
      <p:sp>
        <p:nvSpPr>
          <p:cNvPr id="9" name="Text 7"/>
          <p:cNvSpPr/>
          <p:nvPr/>
        </p:nvSpPr>
        <p:spPr>
          <a:xfrm>
            <a:off x="9486900" y="5231606"/>
            <a:ext cx="8539163"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MACROS</a:t>
            </a:r>
            <a:endParaRPr lang="en-US" sz="1500" dirty="0"/>
          </a:p>
        </p:txBody>
      </p:sp>
      <p:sp>
        <p:nvSpPr>
          <p:cNvPr id="10" name="Text 8"/>
          <p:cNvSpPr/>
          <p:nvPr/>
        </p:nvSpPr>
        <p:spPr>
          <a:xfrm>
            <a:off x="9486900" y="5550694"/>
            <a:ext cx="7995761" cy="704850"/>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Embedded code that Word executes on open or on action — effective because the capability is legitimate and cannot simply be removed.</a:t>
            </a:r>
            <a:endParaRPr lang="en-US" sz="1875"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8025367" y="3870945"/>
            <a:ext cx="2237192" cy="285750"/>
          </a:xfrm>
          <a:prstGeom prst="rect">
            <a:avLst/>
          </a:prstGeom>
          <a:noFill/>
          <a:ln/>
        </p:spPr>
        <p:txBody>
          <a:bodyPr wrap="square" lIns="25400" tIns="25400" rIns="25400" bIns="25400" rtlCol="0" anchor="t">
            <a:normAutofit/>
          </a:bodyPr>
          <a:lstStyle/>
          <a:p>
            <a:pPr algn="ctr" indent="0" marL="0">
              <a:buNone/>
            </a:pPr>
            <a:r>
              <a:rPr lang="en-US" sz="1650" b="1" spc="225" kern="0" dirty="0">
                <a:solidFill>
                  <a:srgbClr val="FF6A00"/>
                </a:solidFill>
                <a:latin typeface="Arial" pitchFamily="34" charset="0"/>
                <a:ea typeface="Arial" pitchFamily="34" charset="-122"/>
                <a:cs typeface="Arial" pitchFamily="34" charset="-120"/>
              </a:rPr>
              <a:t>OBJECTIVE 10.3</a:t>
            </a:r>
            <a:endParaRPr lang="en-US" sz="1650" dirty="0"/>
          </a:p>
        </p:txBody>
      </p:sp>
      <p:sp>
        <p:nvSpPr>
          <p:cNvPr id="4" name="Text 2"/>
          <p:cNvSpPr/>
          <p:nvPr/>
        </p:nvSpPr>
        <p:spPr>
          <a:xfrm>
            <a:off x="2455180" y="4385295"/>
            <a:ext cx="13377639" cy="918195"/>
          </a:xfrm>
          <a:prstGeom prst="rect">
            <a:avLst/>
          </a:prstGeom>
          <a:noFill/>
          <a:ln/>
        </p:spPr>
        <p:txBody>
          <a:bodyPr wrap="square" lIns="25400" tIns="25400" rIns="25400" bIns="25400" rtlCol="0" anchor="t">
            <a:normAutofit/>
          </a:bodyPr>
          <a:lstStyle/>
          <a:p>
            <a:pPr algn="ctr" indent="0" marL="0">
              <a:lnSpc>
                <a:spcPct val="91485"/>
              </a:lnSpc>
              <a:buNone/>
            </a:pPr>
            <a:r>
              <a:rPr lang="en-US" sz="6600" b="1" spc="-37" kern="0" dirty="0">
                <a:solidFill>
                  <a:srgbClr val="F5F7FB"/>
                </a:solidFill>
                <a:latin typeface="Arial" pitchFamily="34" charset="0"/>
                <a:ea typeface="Arial" pitchFamily="34" charset="-122"/>
                <a:cs typeface="Arial" pitchFamily="34" charset="-120"/>
              </a:rPr>
              <a:t>Abusing Windows Library Files</a:t>
            </a:r>
            <a:endParaRPr lang="en-US" sz="6600" dirty="0"/>
          </a:p>
        </p:txBody>
      </p:sp>
      <p:sp>
        <p:nvSpPr>
          <p:cNvPr id="5" name="Text 3"/>
          <p:cNvSpPr/>
          <p:nvPr/>
        </p:nvSpPr>
        <p:spPr>
          <a:xfrm>
            <a:off x="3012281" y="5532090"/>
            <a:ext cx="12263438" cy="921990"/>
          </a:xfrm>
          <a:prstGeom prst="rect">
            <a:avLst/>
          </a:prstGeom>
          <a:noFill/>
          <a:ln/>
        </p:spPr>
        <p:txBody>
          <a:bodyPr wrap="square" lIns="25400" tIns="25400" rIns="25400" bIns="25400" rtlCol="0" anchor="t">
            <a:normAutofit/>
          </a:bodyPr>
          <a:lstStyle/>
          <a:p>
            <a:pPr algn="ctr" indent="0" marL="0">
              <a:lnSpc>
                <a:spcPct val="125405"/>
              </a:lnSpc>
              <a:buNone/>
            </a:pPr>
            <a:r>
              <a:rPr lang="en-US" sz="2400" dirty="0">
                <a:solidFill>
                  <a:srgbClr val="B8C0CF"/>
                </a:solidFill>
                <a:latin typeface="Arial" pitchFamily="34" charset="0"/>
                <a:ea typeface="Arial" pitchFamily="34" charset="-122"/>
                <a:cs typeface="Arial" pitchFamily="34" charset="-120"/>
              </a:rPr>
              <a:t>Prepare an attack with Windows library files, and leverage Windows shortcuts to obtain code execution.</a:t>
            </a:r>
            <a:endParaRPr lang="en-US" sz="2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Shape 1"/>
          <p:cNvSpPr/>
          <p:nvPr/>
        </p:nvSpPr>
        <p:spPr>
          <a:xfrm>
            <a:off x="800100" y="3233291"/>
            <a:ext cx="3027313" cy="395288"/>
          </a:xfrm>
          <a:prstGeom prst="roundRect">
            <a:avLst>
              <a:gd name="adj" fmla="val 50000"/>
            </a:avLst>
          </a:prstGeom>
          <a:solidFill>
            <a:srgbClr val="FF6A00">
              <a:alpha val="15000"/>
            </a:srgbClr>
          </a:solidFill>
          <a:ln w="9525">
            <a:solidFill>
              <a:srgbClr val="FF6A00">
                <a:alpha val="35000"/>
              </a:srgbClr>
            </a:solidFill>
            <a:prstDash val="solid"/>
          </a:ln>
        </p:spPr>
      </p:sp>
      <p:sp>
        <p:nvSpPr>
          <p:cNvPr id="4" name="Text 2"/>
          <p:cNvSpPr/>
          <p:nvPr/>
        </p:nvSpPr>
        <p:spPr>
          <a:xfrm>
            <a:off x="981075" y="3319016"/>
            <a:ext cx="2756182" cy="261938"/>
          </a:xfrm>
          <a:prstGeom prst="rect">
            <a:avLst/>
          </a:prstGeom>
          <a:noFill/>
          <a:ln/>
        </p:spPr>
        <p:txBody>
          <a:bodyPr wrap="square" lIns="25400" tIns="25400" rIns="25400" bIns="25400" rtlCol="0" anchor="t">
            <a:normAutofit/>
          </a:bodyPr>
          <a:lstStyle/>
          <a:p>
            <a:pPr algn="l" indent="0" marL="0">
              <a:buNone/>
            </a:pPr>
            <a:r>
              <a:rPr lang="en-US" sz="1500" b="1" spc="75" kern="0" dirty="0">
                <a:solidFill>
                  <a:srgbClr val="FFD9BF"/>
                </a:solidFill>
                <a:latin typeface="Arial" pitchFamily="34" charset="0"/>
                <a:ea typeface="Arial" pitchFamily="34" charset="-122"/>
                <a:cs typeface="Arial" pitchFamily="34" charset="-120"/>
              </a:rPr>
              <a:t>Objective 10.3 · Task 1 of 2</a:t>
            </a:r>
            <a:endParaRPr lang="en-US" sz="1500" dirty="0"/>
          </a:p>
        </p:txBody>
      </p:sp>
      <p:sp>
        <p:nvSpPr>
          <p:cNvPr id="5" name="Text 3"/>
          <p:cNvSpPr/>
          <p:nvPr/>
        </p:nvSpPr>
        <p:spPr>
          <a:xfrm>
            <a:off x="800100" y="3876229"/>
            <a:ext cx="18356580" cy="457200"/>
          </a:xfrm>
          <a:prstGeom prst="rect">
            <a:avLst/>
          </a:prstGeom>
          <a:noFill/>
          <a:ln/>
        </p:spPr>
        <p:txBody>
          <a:bodyPr wrap="square" lIns="25400" tIns="25400" rIns="25400" bIns="25400" rtlCol="0" anchor="t">
            <a:normAutofit/>
          </a:bodyPr>
          <a:lstStyle/>
          <a:p>
            <a:pPr algn="l" indent="0" marL="0">
              <a:lnSpc>
                <a:spcPct val="95652"/>
              </a:lnSpc>
              <a:buNone/>
            </a:pPr>
            <a:r>
              <a:rPr lang="en-US" sz="3000" b="1" dirty="0">
                <a:solidFill>
                  <a:srgbClr val="F5F7FB"/>
                </a:solidFill>
                <a:latin typeface="Arial" pitchFamily="34" charset="0"/>
                <a:ea typeface="Arial" pitchFamily="34" charset="-122"/>
                <a:cs typeface="Arial" pitchFamily="34" charset="-120"/>
              </a:rPr>
              <a:t>Preparing an attack with Windows library files</a:t>
            </a:r>
            <a:endParaRPr lang="en-US" sz="3000" dirty="0"/>
          </a:p>
        </p:txBody>
      </p:sp>
      <p:sp>
        <p:nvSpPr>
          <p:cNvPr id="6" name="Text 4"/>
          <p:cNvSpPr/>
          <p:nvPr/>
        </p:nvSpPr>
        <p:spPr>
          <a:xfrm>
            <a:off x="800100" y="4542979"/>
            <a:ext cx="15304770" cy="839093"/>
          </a:xfrm>
          <a:prstGeom prst="rect">
            <a:avLst/>
          </a:prstGeom>
          <a:noFill/>
          <a:ln/>
        </p:spPr>
        <p:txBody>
          <a:bodyPr wrap="square" lIns="25400" tIns="25400" rIns="25400" bIns="25400" rtlCol="0" anchor="t">
            <a:normAutofit/>
          </a:bodyPr>
          <a:lstStyle/>
          <a:p>
            <a:pPr algn="l" indent="0" marL="0">
              <a:lnSpc>
                <a:spcPct val="125522"/>
              </a:lnSpc>
              <a:buNone/>
            </a:pPr>
            <a:r>
              <a:rPr lang="en-US" sz="2175" dirty="0">
                <a:solidFill>
                  <a:srgbClr val="B8C0CF"/>
                </a:solidFill>
                <a:latin typeface="Arial" pitchFamily="34" charset="0"/>
                <a:ea typeface="Arial" pitchFamily="34" charset="-122"/>
                <a:cs typeface="Arial" pitchFamily="34" charset="-120"/>
              </a:rPr>
              <a:t>Windows library files point to one or more folder locations without containing any data themselves. Preparing one to reference attacker-controlled content is the setup step before the shortcut delivers it.</a:t>
            </a:r>
            <a:endParaRPr lang="en-US" sz="2175" dirty="0"/>
          </a:p>
        </p:txBody>
      </p:sp>
      <p:sp>
        <p:nvSpPr>
          <p:cNvPr id="7" name="Shape 5"/>
          <p:cNvSpPr/>
          <p:nvPr/>
        </p:nvSpPr>
        <p:spPr>
          <a:xfrm>
            <a:off x="800100" y="5591621"/>
            <a:ext cx="8239125" cy="1462088"/>
          </a:xfrm>
          <a:prstGeom prst="roundRect">
            <a:avLst>
              <a:gd name="adj" fmla="val 10423"/>
            </a:avLst>
          </a:prstGeom>
          <a:solidFill>
            <a:srgbClr val="FFFFFF">
              <a:alpha val="2000"/>
            </a:srgbClr>
          </a:solidFill>
          <a:ln w="9525">
            <a:solidFill>
              <a:srgbClr val="2A2F3A"/>
            </a:solidFill>
            <a:prstDash val="solid"/>
          </a:ln>
        </p:spPr>
      </p:sp>
      <p:sp>
        <p:nvSpPr>
          <p:cNvPr id="8" name="Text 6"/>
          <p:cNvSpPr/>
          <p:nvPr/>
        </p:nvSpPr>
        <p:spPr>
          <a:xfrm>
            <a:off x="1038225" y="5829746"/>
            <a:ext cx="8539163"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WHY THIS VECTOR</a:t>
            </a:r>
            <a:endParaRPr lang="en-US" sz="1500" dirty="0"/>
          </a:p>
        </p:txBody>
      </p:sp>
      <p:sp>
        <p:nvSpPr>
          <p:cNvPr id="9" name="Text 7"/>
          <p:cNvSpPr/>
          <p:nvPr/>
        </p:nvSpPr>
        <p:spPr>
          <a:xfrm>
            <a:off x="1038225" y="6148834"/>
            <a:ext cx="7995761" cy="704850"/>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Library files are an ordinary Windows feature, unfamiliar enough to most users that a manipulated one attracts little suspicion.</a:t>
            </a:r>
            <a:endParaRPr lang="en-US" sz="1875" dirty="0"/>
          </a:p>
        </p:txBody>
      </p:sp>
      <p:sp>
        <p:nvSpPr>
          <p:cNvPr id="10" name="Shape 8"/>
          <p:cNvSpPr/>
          <p:nvPr/>
        </p:nvSpPr>
        <p:spPr>
          <a:xfrm>
            <a:off x="9248775" y="5591621"/>
            <a:ext cx="8239125" cy="1462088"/>
          </a:xfrm>
          <a:prstGeom prst="roundRect">
            <a:avLst>
              <a:gd name="adj" fmla="val 10423"/>
            </a:avLst>
          </a:prstGeom>
          <a:solidFill>
            <a:srgbClr val="FFFFFF">
              <a:alpha val="2000"/>
            </a:srgbClr>
          </a:solidFill>
          <a:ln w="9525">
            <a:solidFill>
              <a:srgbClr val="2A2F3A"/>
            </a:solidFill>
            <a:prstDash val="solid"/>
          </a:ln>
        </p:spPr>
      </p:sp>
      <p:sp>
        <p:nvSpPr>
          <p:cNvPr id="11" name="Text 9"/>
          <p:cNvSpPr/>
          <p:nvPr/>
        </p:nvSpPr>
        <p:spPr>
          <a:xfrm>
            <a:off x="9486900" y="5829746"/>
            <a:ext cx="8539163"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WATCH FOR</a:t>
            </a:r>
            <a:endParaRPr lang="en-US" sz="1500" dirty="0"/>
          </a:p>
        </p:txBody>
      </p:sp>
      <p:sp>
        <p:nvSpPr>
          <p:cNvPr id="12" name="Text 10"/>
          <p:cNvSpPr/>
          <p:nvPr/>
        </p:nvSpPr>
        <p:spPr>
          <a:xfrm>
            <a:off x="9486900" y="6148834"/>
            <a:ext cx="7995761" cy="704850"/>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Treating this as identical to a macro attack. The trigger and warning behaviour differ, which is exactly why it is taught as a separate objective.</a:t>
            </a:r>
            <a:endParaRPr lang="en-US" sz="1875"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Shape 1"/>
          <p:cNvSpPr/>
          <p:nvPr/>
        </p:nvSpPr>
        <p:spPr>
          <a:xfrm>
            <a:off x="800100" y="3233291"/>
            <a:ext cx="3051572" cy="395288"/>
          </a:xfrm>
          <a:prstGeom prst="roundRect">
            <a:avLst>
              <a:gd name="adj" fmla="val 50000"/>
            </a:avLst>
          </a:prstGeom>
          <a:solidFill>
            <a:srgbClr val="FF6A00">
              <a:alpha val="15000"/>
            </a:srgbClr>
          </a:solidFill>
          <a:ln w="9525">
            <a:solidFill>
              <a:srgbClr val="FF6A00">
                <a:alpha val="35000"/>
              </a:srgbClr>
            </a:solidFill>
            <a:prstDash val="solid"/>
          </a:ln>
        </p:spPr>
      </p:sp>
      <p:sp>
        <p:nvSpPr>
          <p:cNvPr id="4" name="Text 2"/>
          <p:cNvSpPr/>
          <p:nvPr/>
        </p:nvSpPr>
        <p:spPr>
          <a:xfrm>
            <a:off x="981075" y="3319016"/>
            <a:ext cx="2781169" cy="261938"/>
          </a:xfrm>
          <a:prstGeom prst="rect">
            <a:avLst/>
          </a:prstGeom>
          <a:noFill/>
          <a:ln/>
        </p:spPr>
        <p:txBody>
          <a:bodyPr wrap="square" lIns="25400" tIns="25400" rIns="25400" bIns="25400" rtlCol="0" anchor="t">
            <a:normAutofit/>
          </a:bodyPr>
          <a:lstStyle/>
          <a:p>
            <a:pPr algn="l" indent="0" marL="0">
              <a:buNone/>
            </a:pPr>
            <a:r>
              <a:rPr lang="en-US" sz="1500" b="1" spc="75" kern="0" dirty="0">
                <a:solidFill>
                  <a:srgbClr val="FFD9BF"/>
                </a:solidFill>
                <a:latin typeface="Arial" pitchFamily="34" charset="0"/>
                <a:ea typeface="Arial" pitchFamily="34" charset="-122"/>
                <a:cs typeface="Arial" pitchFamily="34" charset="-120"/>
              </a:rPr>
              <a:t>Objective 10.3 · Task 2 of 2</a:t>
            </a:r>
            <a:endParaRPr lang="en-US" sz="1500" dirty="0"/>
          </a:p>
        </p:txBody>
      </p:sp>
      <p:sp>
        <p:nvSpPr>
          <p:cNvPr id="5" name="Text 3"/>
          <p:cNvSpPr/>
          <p:nvPr/>
        </p:nvSpPr>
        <p:spPr>
          <a:xfrm>
            <a:off x="800100" y="3876229"/>
            <a:ext cx="18356580" cy="457200"/>
          </a:xfrm>
          <a:prstGeom prst="rect">
            <a:avLst/>
          </a:prstGeom>
          <a:noFill/>
          <a:ln/>
        </p:spPr>
        <p:txBody>
          <a:bodyPr wrap="square" lIns="25400" tIns="25400" rIns="25400" bIns="25400" rtlCol="0" anchor="t">
            <a:normAutofit/>
          </a:bodyPr>
          <a:lstStyle/>
          <a:p>
            <a:pPr algn="l" indent="0" marL="0">
              <a:lnSpc>
                <a:spcPct val="95652"/>
              </a:lnSpc>
              <a:buNone/>
            </a:pPr>
            <a:r>
              <a:rPr lang="en-US" sz="3000" b="1" dirty="0">
                <a:solidFill>
                  <a:srgbClr val="F5F7FB"/>
                </a:solidFill>
                <a:latin typeface="Arial" pitchFamily="34" charset="0"/>
                <a:ea typeface="Arial" pitchFamily="34" charset="-122"/>
                <a:cs typeface="Arial" pitchFamily="34" charset="-120"/>
              </a:rPr>
              <a:t>Leveraging Windows shortcuts for code execution</a:t>
            </a:r>
            <a:endParaRPr lang="en-US" sz="3000" dirty="0"/>
          </a:p>
        </p:txBody>
      </p:sp>
      <p:sp>
        <p:nvSpPr>
          <p:cNvPr id="6" name="Text 4"/>
          <p:cNvSpPr/>
          <p:nvPr/>
        </p:nvSpPr>
        <p:spPr>
          <a:xfrm>
            <a:off x="800100" y="4542979"/>
            <a:ext cx="15304770" cy="839093"/>
          </a:xfrm>
          <a:prstGeom prst="rect">
            <a:avLst/>
          </a:prstGeom>
          <a:noFill/>
          <a:ln/>
        </p:spPr>
        <p:txBody>
          <a:bodyPr wrap="square" lIns="25400" tIns="25400" rIns="25400" bIns="25400" rtlCol="0" anchor="t">
            <a:normAutofit/>
          </a:bodyPr>
          <a:lstStyle/>
          <a:p>
            <a:pPr algn="l" indent="0" marL="0">
              <a:lnSpc>
                <a:spcPct val="125522"/>
              </a:lnSpc>
              <a:buNone/>
            </a:pPr>
            <a:r>
              <a:rPr lang="en-US" sz="2175" dirty="0">
                <a:solidFill>
                  <a:srgbClr val="B8C0CF"/>
                </a:solidFill>
                <a:latin typeface="Arial" pitchFamily="34" charset="0"/>
                <a:ea typeface="Arial" pitchFamily="34" charset="-122"/>
                <a:cs typeface="Arial" pitchFamily="34" charset="-120"/>
              </a:rPr>
              <a:t>A Windows shortcut file can be crafted to run attacker-supplied commands when opened, rather than simply pointing to a legitimate target. Paired with a prepared library file, this becomes a working delivery chain.</a:t>
            </a:r>
            <a:endParaRPr lang="en-US" sz="2175" dirty="0"/>
          </a:p>
        </p:txBody>
      </p:sp>
      <p:sp>
        <p:nvSpPr>
          <p:cNvPr id="7" name="Shape 5"/>
          <p:cNvSpPr/>
          <p:nvPr/>
        </p:nvSpPr>
        <p:spPr>
          <a:xfrm>
            <a:off x="800100" y="5591621"/>
            <a:ext cx="8239125" cy="1462088"/>
          </a:xfrm>
          <a:prstGeom prst="roundRect">
            <a:avLst>
              <a:gd name="adj" fmla="val 10423"/>
            </a:avLst>
          </a:prstGeom>
          <a:solidFill>
            <a:srgbClr val="FFFFFF">
              <a:alpha val="2000"/>
            </a:srgbClr>
          </a:solidFill>
          <a:ln w="9525">
            <a:solidFill>
              <a:srgbClr val="2A2F3A"/>
            </a:solidFill>
            <a:prstDash val="solid"/>
          </a:ln>
        </p:spPr>
      </p:sp>
      <p:sp>
        <p:nvSpPr>
          <p:cNvPr id="8" name="Text 6"/>
          <p:cNvSpPr/>
          <p:nvPr/>
        </p:nvSpPr>
        <p:spPr>
          <a:xfrm>
            <a:off x="1038225" y="5829746"/>
            <a:ext cx="8539163"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WHY IT MATTERS</a:t>
            </a:r>
            <a:endParaRPr lang="en-US" sz="1500" dirty="0"/>
          </a:p>
        </p:txBody>
      </p:sp>
      <p:sp>
        <p:nvSpPr>
          <p:cNvPr id="9" name="Text 7"/>
          <p:cNvSpPr/>
          <p:nvPr/>
        </p:nvSpPr>
        <p:spPr>
          <a:xfrm>
            <a:off x="1038225" y="6148834"/>
            <a:ext cx="7995761" cy="704850"/>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A shortcut carries none of the security warning a macro typically triggers, which changes the pretext needed to get a target to interact with it.</a:t>
            </a:r>
            <a:endParaRPr lang="en-US" sz="1875" dirty="0"/>
          </a:p>
        </p:txBody>
      </p:sp>
      <p:sp>
        <p:nvSpPr>
          <p:cNvPr id="10" name="Shape 8"/>
          <p:cNvSpPr/>
          <p:nvPr/>
        </p:nvSpPr>
        <p:spPr>
          <a:xfrm>
            <a:off x="9248775" y="5591621"/>
            <a:ext cx="8239125" cy="1462088"/>
          </a:xfrm>
          <a:prstGeom prst="roundRect">
            <a:avLst>
              <a:gd name="adj" fmla="val 10423"/>
            </a:avLst>
          </a:prstGeom>
          <a:solidFill>
            <a:srgbClr val="FFFFFF">
              <a:alpha val="2000"/>
            </a:srgbClr>
          </a:solidFill>
          <a:ln w="9525">
            <a:solidFill>
              <a:srgbClr val="2A2F3A"/>
            </a:solidFill>
            <a:prstDash val="solid"/>
          </a:ln>
        </p:spPr>
      </p:sp>
      <p:sp>
        <p:nvSpPr>
          <p:cNvPr id="11" name="Text 9"/>
          <p:cNvSpPr/>
          <p:nvPr/>
        </p:nvSpPr>
        <p:spPr>
          <a:xfrm>
            <a:off x="9486900" y="5829746"/>
            <a:ext cx="8539163"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CONNECTS TO</a:t>
            </a:r>
            <a:endParaRPr lang="en-US" sz="1500" dirty="0"/>
          </a:p>
        </p:txBody>
      </p:sp>
      <p:sp>
        <p:nvSpPr>
          <p:cNvPr id="12" name="Text 10"/>
          <p:cNvSpPr/>
          <p:nvPr/>
        </p:nvSpPr>
        <p:spPr>
          <a:xfrm>
            <a:off x="9486900" y="6148834"/>
            <a:ext cx="7995761" cy="704850"/>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Objective 10.1's reconnaissance. The shortcut's filename and icon must match the pretext built from what was learned about the target.</a:t>
            </a:r>
            <a:endParaRPr lang="en-US" sz="1875"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800100" y="3140422"/>
            <a:ext cx="18356580" cy="285750"/>
          </a:xfrm>
          <a:prstGeom prst="rect">
            <a:avLst/>
          </a:prstGeom>
          <a:noFill/>
          <a:ln/>
        </p:spPr>
        <p:txBody>
          <a:bodyPr wrap="square" lIns="25400" tIns="25400" rIns="25400" bIns="25400" rtlCol="0" anchor="t">
            <a:normAutofit/>
          </a:bodyPr>
          <a:lstStyle/>
          <a:p>
            <a:pPr algn="l" indent="0" marL="0">
              <a:buNone/>
            </a:pPr>
            <a:r>
              <a:rPr lang="en-US" sz="1650" b="1" spc="225" kern="0" dirty="0">
                <a:solidFill>
                  <a:srgbClr val="FF6A00"/>
                </a:solidFill>
                <a:latin typeface="Arial" pitchFamily="34" charset="0"/>
                <a:ea typeface="Arial" pitchFamily="34" charset="-122"/>
                <a:cs typeface="Arial" pitchFamily="34" charset="-120"/>
              </a:rPr>
              <a:t>CRITICAL DISTINCTION</a:t>
            </a:r>
            <a:endParaRPr lang="en-US" sz="1650" dirty="0"/>
          </a:p>
        </p:txBody>
      </p:sp>
      <p:sp>
        <p:nvSpPr>
          <p:cNvPr id="4" name="Text 2"/>
          <p:cNvSpPr/>
          <p:nvPr/>
        </p:nvSpPr>
        <p:spPr>
          <a:xfrm>
            <a:off x="800100" y="3635722"/>
            <a:ext cx="18356580" cy="457200"/>
          </a:xfrm>
          <a:prstGeom prst="rect">
            <a:avLst/>
          </a:prstGeom>
          <a:noFill/>
          <a:ln/>
        </p:spPr>
        <p:txBody>
          <a:bodyPr wrap="square" lIns="25400" tIns="25400" rIns="25400" bIns="25400" rtlCol="0" anchor="t">
            <a:normAutofit/>
          </a:bodyPr>
          <a:lstStyle/>
          <a:p>
            <a:pPr algn="l" indent="0" marL="0">
              <a:lnSpc>
                <a:spcPct val="95652"/>
              </a:lnSpc>
              <a:buNone/>
            </a:pPr>
            <a:r>
              <a:rPr lang="en-US" sz="3000" b="1" dirty="0">
                <a:solidFill>
                  <a:srgbClr val="F5F7FB"/>
                </a:solidFill>
                <a:latin typeface="Arial" pitchFamily="34" charset="0"/>
                <a:ea typeface="Arial" pitchFamily="34" charset="-122"/>
                <a:cs typeface="Arial" pitchFamily="34" charset="-120"/>
              </a:rPr>
              <a:t>Word macros versus library file and shortcut delivery</a:t>
            </a:r>
            <a:endParaRPr lang="en-US" sz="3000" dirty="0"/>
          </a:p>
        </p:txBody>
      </p:sp>
      <p:sp>
        <p:nvSpPr>
          <p:cNvPr id="5" name="Shape 3"/>
          <p:cNvSpPr/>
          <p:nvPr/>
        </p:nvSpPr>
        <p:spPr>
          <a:xfrm>
            <a:off x="800100" y="4302472"/>
            <a:ext cx="7581900" cy="1795463"/>
          </a:xfrm>
          <a:prstGeom prst="roundRect">
            <a:avLst>
              <a:gd name="adj" fmla="val 8488"/>
            </a:avLst>
          </a:prstGeom>
          <a:solidFill>
            <a:srgbClr val="FFFFFF">
              <a:alpha val="2000"/>
            </a:srgbClr>
          </a:solidFill>
          <a:ln w="9525">
            <a:solidFill>
              <a:srgbClr val="2A2F3A"/>
            </a:solidFill>
            <a:prstDash val="solid"/>
          </a:ln>
        </p:spPr>
      </p:sp>
      <p:sp>
        <p:nvSpPr>
          <p:cNvPr id="6" name="Text 4"/>
          <p:cNvSpPr/>
          <p:nvPr/>
        </p:nvSpPr>
        <p:spPr>
          <a:xfrm>
            <a:off x="1038225" y="4540597"/>
            <a:ext cx="7816215"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WORD MACROS</a:t>
            </a:r>
            <a:endParaRPr lang="en-US" sz="1500" dirty="0"/>
          </a:p>
        </p:txBody>
      </p:sp>
      <p:sp>
        <p:nvSpPr>
          <p:cNvPr id="7" name="Text 5"/>
          <p:cNvSpPr/>
          <p:nvPr/>
        </p:nvSpPr>
        <p:spPr>
          <a:xfrm>
            <a:off x="1038225" y="4859685"/>
            <a:ext cx="7318820" cy="704850"/>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Triggers a visible security warning the target must actively dismiss. Requires a pretext convincing enough to justify enabling content.</a:t>
            </a:r>
            <a:endParaRPr lang="en-US" sz="1875" dirty="0"/>
          </a:p>
        </p:txBody>
      </p:sp>
      <p:sp>
        <p:nvSpPr>
          <p:cNvPr id="8" name="Text 6"/>
          <p:cNvSpPr/>
          <p:nvPr/>
        </p:nvSpPr>
        <p:spPr>
          <a:xfrm>
            <a:off x="8534400" y="4302472"/>
            <a:ext cx="1219200" cy="1833563"/>
          </a:xfrm>
          <a:prstGeom prst="rect">
            <a:avLst/>
          </a:prstGeom>
          <a:noFill/>
          <a:ln/>
        </p:spPr>
        <p:txBody>
          <a:bodyPr wrap="square" lIns="25400" tIns="25400" rIns="25400" bIns="25400" rtlCol="0" anchor="ctr">
            <a:normAutofit/>
          </a:bodyPr>
          <a:lstStyle/>
          <a:p>
            <a:pPr algn="ctr" indent="0" marL="0">
              <a:buNone/>
            </a:pPr>
            <a:r>
              <a:rPr lang="en-US" sz="3900" b="1" dirty="0">
                <a:solidFill>
                  <a:srgbClr val="FF6A00"/>
                </a:solidFill>
                <a:latin typeface="Arial" pitchFamily="34" charset="0"/>
                <a:ea typeface="Arial" pitchFamily="34" charset="-122"/>
                <a:cs typeface="Arial" pitchFamily="34" charset="-120"/>
              </a:rPr>
              <a:t>VS</a:t>
            </a:r>
            <a:endParaRPr lang="en-US" sz="3900" dirty="0"/>
          </a:p>
        </p:txBody>
      </p:sp>
      <p:sp>
        <p:nvSpPr>
          <p:cNvPr id="9" name="Shape 7"/>
          <p:cNvSpPr/>
          <p:nvPr/>
        </p:nvSpPr>
        <p:spPr>
          <a:xfrm>
            <a:off x="9906000" y="4302472"/>
            <a:ext cx="7581900" cy="1795463"/>
          </a:xfrm>
          <a:prstGeom prst="roundRect">
            <a:avLst>
              <a:gd name="adj" fmla="val 8488"/>
            </a:avLst>
          </a:prstGeom>
          <a:solidFill>
            <a:srgbClr val="FF6A00">
              <a:alpha val="6000"/>
            </a:srgbClr>
          </a:solidFill>
          <a:ln w="9525">
            <a:solidFill>
              <a:srgbClr val="B85100"/>
            </a:solidFill>
            <a:prstDash val="solid"/>
          </a:ln>
        </p:spPr>
      </p:sp>
      <p:sp>
        <p:nvSpPr>
          <p:cNvPr id="10" name="Text 8"/>
          <p:cNvSpPr/>
          <p:nvPr/>
        </p:nvSpPr>
        <p:spPr>
          <a:xfrm>
            <a:off x="10144125" y="4540597"/>
            <a:ext cx="7816215"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LIBRARY FILE AND SHORTCUT</a:t>
            </a:r>
            <a:endParaRPr lang="en-US" sz="1500" dirty="0"/>
          </a:p>
        </p:txBody>
      </p:sp>
      <p:sp>
        <p:nvSpPr>
          <p:cNvPr id="11" name="Text 9"/>
          <p:cNvSpPr/>
          <p:nvPr/>
        </p:nvSpPr>
        <p:spPr>
          <a:xfrm>
            <a:off x="10144125" y="4859685"/>
            <a:ext cx="7318820" cy="1038225"/>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Uses an unfamiliar Windows feature most users have never examined closely. Carries none of the macro security warning, but needs a convincing filename and icon.</a:t>
            </a:r>
            <a:endParaRPr lang="en-US" sz="1875" dirty="0"/>
          </a:p>
        </p:txBody>
      </p:sp>
      <p:sp>
        <p:nvSpPr>
          <p:cNvPr id="12" name="Text 10"/>
          <p:cNvSpPr/>
          <p:nvPr/>
        </p:nvSpPr>
        <p:spPr>
          <a:xfrm>
            <a:off x="800100" y="6345585"/>
            <a:ext cx="15304770" cy="839093"/>
          </a:xfrm>
          <a:prstGeom prst="rect">
            <a:avLst/>
          </a:prstGeom>
          <a:noFill/>
          <a:ln/>
        </p:spPr>
        <p:txBody>
          <a:bodyPr wrap="square" lIns="25400" tIns="25400" rIns="25400" bIns="25400" rtlCol="0" anchor="t">
            <a:normAutofit/>
          </a:bodyPr>
          <a:lstStyle/>
          <a:p>
            <a:pPr algn="l" indent="0" marL="0">
              <a:lnSpc>
                <a:spcPct val="125522"/>
              </a:lnSpc>
              <a:buNone/>
            </a:pPr>
            <a:r>
              <a:rPr lang="en-US" sz="2175" dirty="0">
                <a:solidFill>
                  <a:srgbClr val="B8C0CF"/>
                </a:solidFill>
                <a:latin typeface="Arial" pitchFamily="34" charset="0"/>
                <a:ea typeface="Arial" pitchFamily="34" charset="-122"/>
                <a:cs typeface="Arial" pitchFamily="34" charset="-120"/>
              </a:rPr>
              <a:t>Both ultimately depend on the same Objective 10.1 reconnaissance to be believable — they differ only in mechanism and in what warning, if any, the target must overcome.</a:t>
            </a:r>
            <a:endParaRPr lang="en-US" sz="2175"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800100" y="3831431"/>
            <a:ext cx="18356580" cy="285750"/>
          </a:xfrm>
          <a:prstGeom prst="rect">
            <a:avLst/>
          </a:prstGeom>
          <a:noFill/>
          <a:ln/>
        </p:spPr>
        <p:txBody>
          <a:bodyPr wrap="square" lIns="25400" tIns="25400" rIns="25400" bIns="25400" rtlCol="0" anchor="t">
            <a:normAutofit/>
          </a:bodyPr>
          <a:lstStyle/>
          <a:p>
            <a:pPr algn="l" indent="0" marL="0">
              <a:buNone/>
            </a:pPr>
            <a:r>
              <a:rPr lang="en-US" sz="1650" b="1" spc="225" kern="0" dirty="0">
                <a:solidFill>
                  <a:srgbClr val="FF6A00"/>
                </a:solidFill>
                <a:latin typeface="Arial" pitchFamily="34" charset="0"/>
                <a:ea typeface="Arial" pitchFamily="34" charset="-122"/>
                <a:cs typeface="Arial" pitchFamily="34" charset="-120"/>
              </a:rPr>
              <a:t>OBJECTIVE 10.3 RECAP</a:t>
            </a:r>
            <a:endParaRPr lang="en-US" sz="1650" dirty="0"/>
          </a:p>
        </p:txBody>
      </p:sp>
      <p:sp>
        <p:nvSpPr>
          <p:cNvPr id="4" name="Text 2"/>
          <p:cNvSpPr/>
          <p:nvPr/>
        </p:nvSpPr>
        <p:spPr>
          <a:xfrm>
            <a:off x="800100" y="4326731"/>
            <a:ext cx="18356580" cy="457200"/>
          </a:xfrm>
          <a:prstGeom prst="rect">
            <a:avLst/>
          </a:prstGeom>
          <a:noFill/>
          <a:ln/>
        </p:spPr>
        <p:txBody>
          <a:bodyPr wrap="square" lIns="25400" tIns="25400" rIns="25400" bIns="25400" rtlCol="0" anchor="t">
            <a:normAutofit/>
          </a:bodyPr>
          <a:lstStyle/>
          <a:p>
            <a:pPr algn="l" indent="0" marL="0">
              <a:lnSpc>
                <a:spcPct val="95652"/>
              </a:lnSpc>
              <a:buNone/>
            </a:pPr>
            <a:r>
              <a:rPr lang="en-US" sz="3000" b="1" dirty="0">
                <a:solidFill>
                  <a:srgbClr val="F5F7FB"/>
                </a:solidFill>
                <a:latin typeface="Arial" pitchFamily="34" charset="0"/>
                <a:ea typeface="Arial" pitchFamily="34" charset="-122"/>
                <a:cs typeface="Arial" pitchFamily="34" charset="-120"/>
              </a:rPr>
              <a:t>Abusing Windows Library Files — what you should now hold</a:t>
            </a:r>
            <a:endParaRPr lang="en-US" sz="3000" dirty="0"/>
          </a:p>
        </p:txBody>
      </p:sp>
      <p:sp>
        <p:nvSpPr>
          <p:cNvPr id="5" name="Shape 3"/>
          <p:cNvSpPr/>
          <p:nvPr/>
        </p:nvSpPr>
        <p:spPr>
          <a:xfrm>
            <a:off x="800100" y="4993481"/>
            <a:ext cx="8239125" cy="1462088"/>
          </a:xfrm>
          <a:prstGeom prst="roundRect">
            <a:avLst>
              <a:gd name="adj" fmla="val 10423"/>
            </a:avLst>
          </a:prstGeom>
          <a:solidFill>
            <a:srgbClr val="FFFFFF">
              <a:alpha val="2000"/>
            </a:srgbClr>
          </a:solidFill>
          <a:ln w="9525">
            <a:solidFill>
              <a:srgbClr val="2A2F3A"/>
            </a:solidFill>
            <a:prstDash val="solid"/>
          </a:ln>
        </p:spPr>
      </p:sp>
      <p:sp>
        <p:nvSpPr>
          <p:cNvPr id="6" name="Text 4"/>
          <p:cNvSpPr/>
          <p:nvPr/>
        </p:nvSpPr>
        <p:spPr>
          <a:xfrm>
            <a:off x="1038225" y="5231606"/>
            <a:ext cx="8539163"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LIBRARY FILES</a:t>
            </a:r>
            <a:endParaRPr lang="en-US" sz="1500" dirty="0"/>
          </a:p>
        </p:txBody>
      </p:sp>
      <p:sp>
        <p:nvSpPr>
          <p:cNvPr id="7" name="Text 5"/>
          <p:cNvSpPr/>
          <p:nvPr/>
        </p:nvSpPr>
        <p:spPr>
          <a:xfrm>
            <a:off x="1038225" y="5550694"/>
            <a:ext cx="7995761" cy="704850"/>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An ordinary Windows mechanism pointing to folder locations, prepared to reference attacker-controlled content.</a:t>
            </a:r>
            <a:endParaRPr lang="en-US" sz="1875" dirty="0"/>
          </a:p>
        </p:txBody>
      </p:sp>
      <p:sp>
        <p:nvSpPr>
          <p:cNvPr id="8" name="Shape 6"/>
          <p:cNvSpPr/>
          <p:nvPr/>
        </p:nvSpPr>
        <p:spPr>
          <a:xfrm>
            <a:off x="9248775" y="4993481"/>
            <a:ext cx="8239125" cy="1462088"/>
          </a:xfrm>
          <a:prstGeom prst="roundRect">
            <a:avLst>
              <a:gd name="adj" fmla="val 10423"/>
            </a:avLst>
          </a:prstGeom>
          <a:solidFill>
            <a:srgbClr val="FFFFFF">
              <a:alpha val="2000"/>
            </a:srgbClr>
          </a:solidFill>
          <a:ln w="9525">
            <a:solidFill>
              <a:srgbClr val="2A2F3A"/>
            </a:solidFill>
            <a:prstDash val="solid"/>
          </a:ln>
        </p:spPr>
      </p:sp>
      <p:sp>
        <p:nvSpPr>
          <p:cNvPr id="9" name="Text 7"/>
          <p:cNvSpPr/>
          <p:nvPr/>
        </p:nvSpPr>
        <p:spPr>
          <a:xfrm>
            <a:off x="9486900" y="5231606"/>
            <a:ext cx="8539163"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SHORTCUTS</a:t>
            </a:r>
            <a:endParaRPr lang="en-US" sz="1500" dirty="0"/>
          </a:p>
        </p:txBody>
      </p:sp>
      <p:sp>
        <p:nvSpPr>
          <p:cNvPr id="10" name="Text 8"/>
          <p:cNvSpPr/>
          <p:nvPr/>
        </p:nvSpPr>
        <p:spPr>
          <a:xfrm>
            <a:off x="9486900" y="5550694"/>
            <a:ext cx="7995761" cy="704850"/>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Crafted to execute commands on opening, delivering code execution with no macro-style warning.</a:t>
            </a:r>
            <a:endParaRPr lang="en-US" sz="1875"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800100" y="3140422"/>
            <a:ext cx="18356580" cy="285750"/>
          </a:xfrm>
          <a:prstGeom prst="rect">
            <a:avLst/>
          </a:prstGeom>
          <a:noFill/>
          <a:ln/>
        </p:spPr>
        <p:txBody>
          <a:bodyPr wrap="square" lIns="25400" tIns="25400" rIns="25400" bIns="25400" rtlCol="0" anchor="t">
            <a:normAutofit/>
          </a:bodyPr>
          <a:lstStyle/>
          <a:p>
            <a:pPr algn="l" indent="0" marL="0">
              <a:buNone/>
            </a:pPr>
            <a:r>
              <a:rPr lang="en-US" sz="1650" b="1" spc="225" kern="0" dirty="0">
                <a:solidFill>
                  <a:srgbClr val="FF6A00"/>
                </a:solidFill>
                <a:latin typeface="Arial" pitchFamily="34" charset="0"/>
                <a:ea typeface="Arial" pitchFamily="34" charset="-122"/>
                <a:cs typeface="Arial" pitchFamily="34" charset="-120"/>
              </a:rPr>
              <a:t>APPLIED SCENARIO · DISCUSSION</a:t>
            </a:r>
            <a:endParaRPr lang="en-US" sz="1650" dirty="0"/>
          </a:p>
        </p:txBody>
      </p:sp>
      <p:sp>
        <p:nvSpPr>
          <p:cNvPr id="4" name="Text 2"/>
          <p:cNvSpPr/>
          <p:nvPr/>
        </p:nvSpPr>
        <p:spPr>
          <a:xfrm>
            <a:off x="800100" y="3635722"/>
            <a:ext cx="18356580" cy="457200"/>
          </a:xfrm>
          <a:prstGeom prst="rect">
            <a:avLst/>
          </a:prstGeom>
          <a:noFill/>
          <a:ln/>
        </p:spPr>
        <p:txBody>
          <a:bodyPr wrap="square" lIns="25400" tIns="25400" rIns="25400" bIns="25400" rtlCol="0" anchor="t">
            <a:normAutofit/>
          </a:bodyPr>
          <a:lstStyle/>
          <a:p>
            <a:pPr algn="l" indent="0" marL="0">
              <a:lnSpc>
                <a:spcPct val="95652"/>
              </a:lnSpc>
              <a:buNone/>
            </a:pPr>
            <a:r>
              <a:rPr lang="en-US" sz="3000" b="1" dirty="0">
                <a:solidFill>
                  <a:srgbClr val="F5F7FB"/>
                </a:solidFill>
                <a:latin typeface="Arial" pitchFamily="34" charset="0"/>
                <a:ea typeface="Arial" pitchFamily="34" charset="-122"/>
                <a:cs typeface="Arial" pitchFamily="34" charset="-120"/>
              </a:rPr>
              <a:t>Choosing a delivery mechanism</a:t>
            </a:r>
            <a:endParaRPr lang="en-US" sz="3000" dirty="0"/>
          </a:p>
        </p:txBody>
      </p:sp>
      <p:sp>
        <p:nvSpPr>
          <p:cNvPr id="5" name="Text 3"/>
          <p:cNvSpPr/>
          <p:nvPr/>
        </p:nvSpPr>
        <p:spPr>
          <a:xfrm>
            <a:off x="800100" y="4302472"/>
            <a:ext cx="15304770" cy="839093"/>
          </a:xfrm>
          <a:prstGeom prst="rect">
            <a:avLst/>
          </a:prstGeom>
          <a:noFill/>
          <a:ln/>
        </p:spPr>
        <p:txBody>
          <a:bodyPr wrap="square" lIns="25400" tIns="25400" rIns="25400" bIns="25400" rtlCol="0" anchor="t">
            <a:normAutofit/>
          </a:bodyPr>
          <a:lstStyle/>
          <a:p>
            <a:pPr algn="l" indent="0" marL="0">
              <a:lnSpc>
                <a:spcPct val="125522"/>
              </a:lnSpc>
              <a:buNone/>
            </a:pPr>
            <a:r>
              <a:rPr lang="en-US" sz="2175" dirty="0">
                <a:solidFill>
                  <a:srgbClr val="B8C0CF"/>
                </a:solidFill>
                <a:latin typeface="Arial" pitchFamily="34" charset="0"/>
                <a:ea typeface="Arial" pitchFamily="34" charset="-122"/>
                <a:cs typeface="Arial" pitchFamily="34" charset="-120"/>
              </a:rPr>
              <a:t>Reconnaissance confirms the target organisation runs a recent, fully patched version of Microsoft Office with macros disabled by policy, but staff regularly receive and open shared folders from external partners.</a:t>
            </a:r>
            <a:endParaRPr lang="en-US" sz="2175" dirty="0"/>
          </a:p>
        </p:txBody>
      </p:sp>
      <p:sp>
        <p:nvSpPr>
          <p:cNvPr id="6" name="Shape 4"/>
          <p:cNvSpPr/>
          <p:nvPr/>
        </p:nvSpPr>
        <p:spPr>
          <a:xfrm>
            <a:off x="800100" y="5351115"/>
            <a:ext cx="5435575" cy="1795463"/>
          </a:xfrm>
          <a:prstGeom prst="roundRect">
            <a:avLst>
              <a:gd name="adj" fmla="val 8488"/>
            </a:avLst>
          </a:prstGeom>
          <a:solidFill>
            <a:srgbClr val="FFFFFF">
              <a:alpha val="2000"/>
            </a:srgbClr>
          </a:solidFill>
          <a:ln w="9525">
            <a:solidFill>
              <a:srgbClr val="2A2F3A"/>
            </a:solidFill>
            <a:prstDash val="solid"/>
          </a:ln>
        </p:spPr>
      </p:sp>
      <p:sp>
        <p:nvSpPr>
          <p:cNvPr id="7" name="Text 5"/>
          <p:cNvSpPr/>
          <p:nvPr/>
        </p:nvSpPr>
        <p:spPr>
          <a:xfrm>
            <a:off x="1038225" y="5589240"/>
            <a:ext cx="5455258"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CONSIDER</a:t>
            </a:r>
            <a:endParaRPr lang="en-US" sz="1500" dirty="0"/>
          </a:p>
        </p:txBody>
      </p:sp>
      <p:sp>
        <p:nvSpPr>
          <p:cNvPr id="8" name="Text 6"/>
          <p:cNvSpPr/>
          <p:nvPr/>
        </p:nvSpPr>
        <p:spPr>
          <a:xfrm>
            <a:off x="1038225" y="5908328"/>
            <a:ext cx="5108105" cy="1038225"/>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Given the macro policy, is Objective 10.2's technique still worth attempting, or does the reconnaissance point elsewhere?</a:t>
            </a:r>
            <a:endParaRPr lang="en-US" sz="1875" dirty="0"/>
          </a:p>
        </p:txBody>
      </p:sp>
      <p:sp>
        <p:nvSpPr>
          <p:cNvPr id="9" name="Shape 7"/>
          <p:cNvSpPr/>
          <p:nvPr/>
        </p:nvSpPr>
        <p:spPr>
          <a:xfrm>
            <a:off x="6426175" y="5351115"/>
            <a:ext cx="5435575" cy="1795463"/>
          </a:xfrm>
          <a:prstGeom prst="roundRect">
            <a:avLst>
              <a:gd name="adj" fmla="val 8488"/>
            </a:avLst>
          </a:prstGeom>
          <a:solidFill>
            <a:srgbClr val="FFFFFF">
              <a:alpha val="2000"/>
            </a:srgbClr>
          </a:solidFill>
          <a:ln w="9525">
            <a:solidFill>
              <a:srgbClr val="2A2F3A"/>
            </a:solidFill>
            <a:prstDash val="solid"/>
          </a:ln>
        </p:spPr>
      </p:sp>
      <p:sp>
        <p:nvSpPr>
          <p:cNvPr id="10" name="Text 8"/>
          <p:cNvSpPr/>
          <p:nvPr/>
        </p:nvSpPr>
        <p:spPr>
          <a:xfrm>
            <a:off x="6664300" y="5589240"/>
            <a:ext cx="5455258"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CONSIDER</a:t>
            </a:r>
            <a:endParaRPr lang="en-US" sz="1500" dirty="0"/>
          </a:p>
        </p:txBody>
      </p:sp>
      <p:sp>
        <p:nvSpPr>
          <p:cNvPr id="11" name="Text 9"/>
          <p:cNvSpPr/>
          <p:nvPr/>
        </p:nvSpPr>
        <p:spPr>
          <a:xfrm>
            <a:off x="6664300" y="5908328"/>
            <a:ext cx="5108105" cy="704850"/>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How would the shared-folder habit shape a pretext for a library file and shortcut delivery?</a:t>
            </a:r>
            <a:endParaRPr lang="en-US" sz="1875" dirty="0"/>
          </a:p>
        </p:txBody>
      </p:sp>
      <p:sp>
        <p:nvSpPr>
          <p:cNvPr id="12" name="Shape 10"/>
          <p:cNvSpPr/>
          <p:nvPr/>
        </p:nvSpPr>
        <p:spPr>
          <a:xfrm>
            <a:off x="12052250" y="5351115"/>
            <a:ext cx="5435650" cy="1795463"/>
          </a:xfrm>
          <a:prstGeom prst="roundRect">
            <a:avLst>
              <a:gd name="adj" fmla="val 8488"/>
            </a:avLst>
          </a:prstGeom>
          <a:solidFill>
            <a:srgbClr val="FFFFFF">
              <a:alpha val="2000"/>
            </a:srgbClr>
          </a:solidFill>
          <a:ln w="9525">
            <a:solidFill>
              <a:srgbClr val="2A2F3A"/>
            </a:solidFill>
            <a:prstDash val="solid"/>
          </a:ln>
        </p:spPr>
      </p:sp>
      <p:sp>
        <p:nvSpPr>
          <p:cNvPr id="13" name="Text 11"/>
          <p:cNvSpPr/>
          <p:nvPr/>
        </p:nvSpPr>
        <p:spPr>
          <a:xfrm>
            <a:off x="12290375" y="5589240"/>
            <a:ext cx="5455340"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CONSIDER</a:t>
            </a:r>
            <a:endParaRPr lang="en-US" sz="1500" dirty="0"/>
          </a:p>
        </p:txBody>
      </p:sp>
      <p:sp>
        <p:nvSpPr>
          <p:cNvPr id="14" name="Text 12"/>
          <p:cNvSpPr/>
          <p:nvPr/>
        </p:nvSpPr>
        <p:spPr>
          <a:xfrm>
            <a:off x="12290375" y="5908328"/>
            <a:ext cx="5108182" cy="704850"/>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What additional fingerprinting would you want before committing to either mechanism?</a:t>
            </a:r>
            <a:endParaRPr lang="en-US" sz="1875"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Shape 1"/>
          <p:cNvSpPr/>
          <p:nvPr/>
        </p:nvSpPr>
        <p:spPr>
          <a:xfrm>
            <a:off x="800100" y="3233291"/>
            <a:ext cx="2323505" cy="395288"/>
          </a:xfrm>
          <a:prstGeom prst="roundRect">
            <a:avLst>
              <a:gd name="adj" fmla="val 50000"/>
            </a:avLst>
          </a:prstGeom>
          <a:solidFill>
            <a:srgbClr val="FF6A00">
              <a:alpha val="15000"/>
            </a:srgbClr>
          </a:solidFill>
          <a:ln w="9525">
            <a:solidFill>
              <a:srgbClr val="FF6A00">
                <a:alpha val="35000"/>
              </a:srgbClr>
            </a:solidFill>
            <a:prstDash val="solid"/>
          </a:ln>
        </p:spPr>
      </p:sp>
      <p:sp>
        <p:nvSpPr>
          <p:cNvPr id="4" name="Text 2"/>
          <p:cNvSpPr/>
          <p:nvPr/>
        </p:nvSpPr>
        <p:spPr>
          <a:xfrm>
            <a:off x="981075" y="3319016"/>
            <a:ext cx="2037755" cy="261938"/>
          </a:xfrm>
          <a:prstGeom prst="rect">
            <a:avLst/>
          </a:prstGeom>
          <a:noFill/>
          <a:ln/>
        </p:spPr>
        <p:txBody>
          <a:bodyPr wrap="square" lIns="25400" tIns="25400" rIns="25400" bIns="25400" rtlCol="0" anchor="t">
            <a:normAutofit/>
          </a:bodyPr>
          <a:lstStyle/>
          <a:p>
            <a:pPr algn="l" indent="0" marL="0">
              <a:buNone/>
            </a:pPr>
            <a:r>
              <a:rPr lang="en-US" sz="1500" b="1" spc="75" kern="0" dirty="0">
                <a:solidFill>
                  <a:srgbClr val="FFD9BF"/>
                </a:solidFill>
                <a:latin typeface="Arial" pitchFamily="34" charset="0"/>
                <a:ea typeface="Arial" pitchFamily="34" charset="-122"/>
                <a:cs typeface="Arial" pitchFamily="34" charset="-120"/>
              </a:rPr>
              <a:t>Practical skill 1 of 3</a:t>
            </a:r>
            <a:endParaRPr lang="en-US" sz="1500" dirty="0"/>
          </a:p>
        </p:txBody>
      </p:sp>
      <p:sp>
        <p:nvSpPr>
          <p:cNvPr id="5" name="Text 3"/>
          <p:cNvSpPr/>
          <p:nvPr/>
        </p:nvSpPr>
        <p:spPr>
          <a:xfrm>
            <a:off x="800100" y="3876229"/>
            <a:ext cx="18356580" cy="457200"/>
          </a:xfrm>
          <a:prstGeom prst="rect">
            <a:avLst/>
          </a:prstGeom>
          <a:noFill/>
          <a:ln/>
        </p:spPr>
        <p:txBody>
          <a:bodyPr wrap="square" lIns="25400" tIns="25400" rIns="25400" bIns="25400" rtlCol="0" anchor="t">
            <a:normAutofit/>
          </a:bodyPr>
          <a:lstStyle/>
          <a:p>
            <a:pPr algn="l" indent="0" marL="0">
              <a:lnSpc>
                <a:spcPct val="95652"/>
              </a:lnSpc>
              <a:buNone/>
            </a:pPr>
            <a:r>
              <a:rPr lang="en-US" sz="3000" b="1" dirty="0">
                <a:solidFill>
                  <a:srgbClr val="F5F7FB"/>
                </a:solidFill>
                <a:latin typeface="Arial" pitchFamily="34" charset="0"/>
                <a:ea typeface="Arial" pitchFamily="34" charset="-122"/>
                <a:cs typeface="Arial" pitchFamily="34" charset="-120"/>
              </a:rPr>
              <a:t>Testing payloads in a matching environment</a:t>
            </a:r>
            <a:endParaRPr lang="en-US" sz="3000" dirty="0"/>
          </a:p>
        </p:txBody>
      </p:sp>
      <p:sp>
        <p:nvSpPr>
          <p:cNvPr id="6" name="Text 4"/>
          <p:cNvSpPr/>
          <p:nvPr/>
        </p:nvSpPr>
        <p:spPr>
          <a:xfrm>
            <a:off x="800100" y="4542979"/>
            <a:ext cx="15304770" cy="839093"/>
          </a:xfrm>
          <a:prstGeom prst="rect">
            <a:avLst/>
          </a:prstGeom>
          <a:noFill/>
          <a:ln/>
        </p:spPr>
        <p:txBody>
          <a:bodyPr wrap="square" lIns="25400" tIns="25400" rIns="25400" bIns="25400" rtlCol="0" anchor="t">
            <a:normAutofit/>
          </a:bodyPr>
          <a:lstStyle/>
          <a:p>
            <a:pPr algn="l" indent="0" marL="0">
              <a:lnSpc>
                <a:spcPct val="125522"/>
              </a:lnSpc>
              <a:buNone/>
            </a:pPr>
            <a:r>
              <a:rPr lang="en-US" sz="2175" dirty="0">
                <a:solidFill>
                  <a:srgbClr val="B8C0CF"/>
                </a:solidFill>
                <a:latin typeface="Arial" pitchFamily="34" charset="0"/>
                <a:ea typeface="Arial" pitchFamily="34" charset="-122"/>
                <a:cs typeface="Arial" pitchFamily="34" charset="-120"/>
              </a:rPr>
              <a:t>Build and test a payload against the same software version and configuration the target was fingerprinted running, before ever delivering it.</a:t>
            </a:r>
            <a:endParaRPr lang="en-US" sz="2175" dirty="0"/>
          </a:p>
        </p:txBody>
      </p:sp>
      <p:sp>
        <p:nvSpPr>
          <p:cNvPr id="7" name="Shape 5"/>
          <p:cNvSpPr/>
          <p:nvPr/>
        </p:nvSpPr>
        <p:spPr>
          <a:xfrm>
            <a:off x="800100" y="5591621"/>
            <a:ext cx="8239125" cy="1462088"/>
          </a:xfrm>
          <a:prstGeom prst="roundRect">
            <a:avLst>
              <a:gd name="adj" fmla="val 10423"/>
            </a:avLst>
          </a:prstGeom>
          <a:solidFill>
            <a:srgbClr val="FFFFFF">
              <a:alpha val="2000"/>
            </a:srgbClr>
          </a:solidFill>
          <a:ln w="9525">
            <a:solidFill>
              <a:srgbClr val="2A2F3A"/>
            </a:solidFill>
            <a:prstDash val="solid"/>
          </a:ln>
        </p:spPr>
      </p:sp>
      <p:sp>
        <p:nvSpPr>
          <p:cNvPr id="8" name="Text 6"/>
          <p:cNvSpPr/>
          <p:nvPr/>
        </p:nvSpPr>
        <p:spPr>
          <a:xfrm>
            <a:off x="1038225" y="5829746"/>
            <a:ext cx="8539163"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METHOD</a:t>
            </a:r>
            <a:endParaRPr lang="en-US" sz="1500" dirty="0"/>
          </a:p>
        </p:txBody>
      </p:sp>
      <p:sp>
        <p:nvSpPr>
          <p:cNvPr id="9" name="Text 7"/>
          <p:cNvSpPr/>
          <p:nvPr/>
        </p:nvSpPr>
        <p:spPr>
          <a:xfrm>
            <a:off x="1038225" y="6148834"/>
            <a:ext cx="7995761" cy="704850"/>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Match Office version, macro security settings, and operating system build as closely as reconnaissance allows.</a:t>
            </a:r>
            <a:endParaRPr lang="en-US" sz="1875" dirty="0"/>
          </a:p>
        </p:txBody>
      </p:sp>
      <p:sp>
        <p:nvSpPr>
          <p:cNvPr id="10" name="Shape 8"/>
          <p:cNvSpPr/>
          <p:nvPr/>
        </p:nvSpPr>
        <p:spPr>
          <a:xfrm>
            <a:off x="9248775" y="5591621"/>
            <a:ext cx="8239125" cy="1462088"/>
          </a:xfrm>
          <a:prstGeom prst="roundRect">
            <a:avLst>
              <a:gd name="adj" fmla="val 10423"/>
            </a:avLst>
          </a:prstGeom>
          <a:solidFill>
            <a:srgbClr val="FFFFFF">
              <a:alpha val="2000"/>
            </a:srgbClr>
          </a:solidFill>
          <a:ln w="9525">
            <a:solidFill>
              <a:srgbClr val="2A2F3A"/>
            </a:solidFill>
            <a:prstDash val="solid"/>
          </a:ln>
        </p:spPr>
      </p:sp>
      <p:sp>
        <p:nvSpPr>
          <p:cNvPr id="11" name="Text 9"/>
          <p:cNvSpPr/>
          <p:nvPr/>
        </p:nvSpPr>
        <p:spPr>
          <a:xfrm>
            <a:off x="9486900" y="5829746"/>
            <a:ext cx="8539163"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WATCH FOR</a:t>
            </a:r>
            <a:endParaRPr lang="en-US" sz="1500" dirty="0"/>
          </a:p>
        </p:txBody>
      </p:sp>
      <p:sp>
        <p:nvSpPr>
          <p:cNvPr id="12" name="Text 10"/>
          <p:cNvSpPr/>
          <p:nvPr/>
        </p:nvSpPr>
        <p:spPr>
          <a:xfrm>
            <a:off x="9486900" y="6148834"/>
            <a:ext cx="7995761" cy="704850"/>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A payload that works flawlessly on the latest software silently failing against the older, differently configured version the target actually runs.</a:t>
            </a:r>
            <a:endParaRPr lang="en-US" sz="1875"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Shape 1"/>
          <p:cNvSpPr/>
          <p:nvPr/>
        </p:nvSpPr>
        <p:spPr>
          <a:xfrm>
            <a:off x="800100" y="3233291"/>
            <a:ext cx="2347764" cy="395288"/>
          </a:xfrm>
          <a:prstGeom prst="roundRect">
            <a:avLst>
              <a:gd name="adj" fmla="val 50000"/>
            </a:avLst>
          </a:prstGeom>
          <a:solidFill>
            <a:srgbClr val="FF6A00">
              <a:alpha val="15000"/>
            </a:srgbClr>
          </a:solidFill>
          <a:ln w="9525">
            <a:solidFill>
              <a:srgbClr val="FF6A00">
                <a:alpha val="35000"/>
              </a:srgbClr>
            </a:solidFill>
            <a:prstDash val="solid"/>
          </a:ln>
        </p:spPr>
      </p:sp>
      <p:sp>
        <p:nvSpPr>
          <p:cNvPr id="4" name="Text 2"/>
          <p:cNvSpPr/>
          <p:nvPr/>
        </p:nvSpPr>
        <p:spPr>
          <a:xfrm>
            <a:off x="981075" y="3319016"/>
            <a:ext cx="2062014" cy="261938"/>
          </a:xfrm>
          <a:prstGeom prst="rect">
            <a:avLst/>
          </a:prstGeom>
          <a:noFill/>
          <a:ln/>
        </p:spPr>
        <p:txBody>
          <a:bodyPr wrap="square" lIns="25400" tIns="25400" rIns="25400" bIns="25400" rtlCol="0" anchor="t">
            <a:normAutofit/>
          </a:bodyPr>
          <a:lstStyle/>
          <a:p>
            <a:pPr algn="l" indent="0" marL="0">
              <a:buNone/>
            </a:pPr>
            <a:r>
              <a:rPr lang="en-US" sz="1500" b="1" spc="75" kern="0" dirty="0">
                <a:solidFill>
                  <a:srgbClr val="FFD9BF"/>
                </a:solidFill>
                <a:latin typeface="Arial" pitchFamily="34" charset="0"/>
                <a:ea typeface="Arial" pitchFamily="34" charset="-122"/>
                <a:cs typeface="Arial" pitchFamily="34" charset="-120"/>
              </a:rPr>
              <a:t>Practical skill 2 of 3</a:t>
            </a:r>
            <a:endParaRPr lang="en-US" sz="1500" dirty="0"/>
          </a:p>
        </p:txBody>
      </p:sp>
      <p:sp>
        <p:nvSpPr>
          <p:cNvPr id="5" name="Text 3"/>
          <p:cNvSpPr/>
          <p:nvPr/>
        </p:nvSpPr>
        <p:spPr>
          <a:xfrm>
            <a:off x="800100" y="3876229"/>
            <a:ext cx="18356580" cy="457200"/>
          </a:xfrm>
          <a:prstGeom prst="rect">
            <a:avLst/>
          </a:prstGeom>
          <a:noFill/>
          <a:ln/>
        </p:spPr>
        <p:txBody>
          <a:bodyPr wrap="square" lIns="25400" tIns="25400" rIns="25400" bIns="25400" rtlCol="0" anchor="t">
            <a:normAutofit/>
          </a:bodyPr>
          <a:lstStyle/>
          <a:p>
            <a:pPr algn="l" indent="0" marL="0">
              <a:lnSpc>
                <a:spcPct val="95652"/>
              </a:lnSpc>
              <a:buNone/>
            </a:pPr>
            <a:r>
              <a:rPr lang="en-US" sz="3000" b="1" dirty="0">
                <a:solidFill>
                  <a:srgbClr val="F5F7FB"/>
                </a:solidFill>
                <a:latin typeface="Arial" pitchFamily="34" charset="0"/>
                <a:ea typeface="Arial" pitchFamily="34" charset="-122"/>
                <a:cs typeface="Arial" pitchFamily="34" charset="-120"/>
              </a:rPr>
              <a:t>Building the pretext from reconnaissance, not the reverse</a:t>
            </a:r>
            <a:endParaRPr lang="en-US" sz="3000" dirty="0"/>
          </a:p>
        </p:txBody>
      </p:sp>
      <p:sp>
        <p:nvSpPr>
          <p:cNvPr id="6" name="Text 4"/>
          <p:cNvSpPr/>
          <p:nvPr/>
        </p:nvSpPr>
        <p:spPr>
          <a:xfrm>
            <a:off x="800100" y="4542979"/>
            <a:ext cx="15304770" cy="839093"/>
          </a:xfrm>
          <a:prstGeom prst="rect">
            <a:avLst/>
          </a:prstGeom>
          <a:noFill/>
          <a:ln/>
        </p:spPr>
        <p:txBody>
          <a:bodyPr wrap="square" lIns="25400" tIns="25400" rIns="25400" bIns="25400" rtlCol="0" anchor="t">
            <a:normAutofit/>
          </a:bodyPr>
          <a:lstStyle/>
          <a:p>
            <a:pPr algn="l" indent="0" marL="0">
              <a:lnSpc>
                <a:spcPct val="125522"/>
              </a:lnSpc>
              <a:buNone/>
            </a:pPr>
            <a:r>
              <a:rPr lang="en-US" sz="2175" dirty="0">
                <a:solidFill>
                  <a:srgbClr val="B8C0CF"/>
                </a:solidFill>
                <a:latin typeface="Arial" pitchFamily="34" charset="0"/>
                <a:ea typeface="Arial" pitchFamily="34" charset="-122"/>
                <a:cs typeface="Arial" pitchFamily="34" charset="-120"/>
              </a:rPr>
              <a:t>Let what was learned about the target person and organisation shape the filename, subject and delivery context — rather than picking a generic lure and hoping it fits.</a:t>
            </a:r>
            <a:endParaRPr lang="en-US" sz="2175" dirty="0"/>
          </a:p>
        </p:txBody>
      </p:sp>
      <p:sp>
        <p:nvSpPr>
          <p:cNvPr id="7" name="Shape 5"/>
          <p:cNvSpPr/>
          <p:nvPr/>
        </p:nvSpPr>
        <p:spPr>
          <a:xfrm>
            <a:off x="800100" y="5591621"/>
            <a:ext cx="8239125" cy="1462088"/>
          </a:xfrm>
          <a:prstGeom prst="roundRect">
            <a:avLst>
              <a:gd name="adj" fmla="val 10423"/>
            </a:avLst>
          </a:prstGeom>
          <a:solidFill>
            <a:srgbClr val="FFFFFF">
              <a:alpha val="2000"/>
            </a:srgbClr>
          </a:solidFill>
          <a:ln w="9525">
            <a:solidFill>
              <a:srgbClr val="2A2F3A"/>
            </a:solidFill>
            <a:prstDash val="solid"/>
          </a:ln>
        </p:spPr>
      </p:sp>
      <p:sp>
        <p:nvSpPr>
          <p:cNvPr id="8" name="Text 6"/>
          <p:cNvSpPr/>
          <p:nvPr/>
        </p:nvSpPr>
        <p:spPr>
          <a:xfrm>
            <a:off x="1038225" y="5829746"/>
            <a:ext cx="8539163"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METHOD</a:t>
            </a:r>
            <a:endParaRPr lang="en-US" sz="1500" dirty="0"/>
          </a:p>
        </p:txBody>
      </p:sp>
      <p:sp>
        <p:nvSpPr>
          <p:cNvPr id="9" name="Text 7"/>
          <p:cNvSpPr/>
          <p:nvPr/>
        </p:nvSpPr>
        <p:spPr>
          <a:xfrm>
            <a:off x="1038225" y="6148834"/>
            <a:ext cx="7995761" cy="704850"/>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Reference a real project, role, or routine surfaced during Objective 10.1, so the delivered content matches what the target already expects to receive.</a:t>
            </a:r>
            <a:endParaRPr lang="en-US" sz="1875" dirty="0"/>
          </a:p>
        </p:txBody>
      </p:sp>
      <p:sp>
        <p:nvSpPr>
          <p:cNvPr id="10" name="Shape 8"/>
          <p:cNvSpPr/>
          <p:nvPr/>
        </p:nvSpPr>
        <p:spPr>
          <a:xfrm>
            <a:off x="9248775" y="5591621"/>
            <a:ext cx="8239125" cy="1462088"/>
          </a:xfrm>
          <a:prstGeom prst="roundRect">
            <a:avLst>
              <a:gd name="adj" fmla="val 10423"/>
            </a:avLst>
          </a:prstGeom>
          <a:solidFill>
            <a:srgbClr val="FFFFFF">
              <a:alpha val="2000"/>
            </a:srgbClr>
          </a:solidFill>
          <a:ln w="9525">
            <a:solidFill>
              <a:srgbClr val="2A2F3A"/>
            </a:solidFill>
            <a:prstDash val="solid"/>
          </a:ln>
        </p:spPr>
      </p:sp>
      <p:sp>
        <p:nvSpPr>
          <p:cNvPr id="11" name="Text 9"/>
          <p:cNvSpPr/>
          <p:nvPr/>
        </p:nvSpPr>
        <p:spPr>
          <a:xfrm>
            <a:off x="9486900" y="5829746"/>
            <a:ext cx="8539163"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CONNECTS TO</a:t>
            </a:r>
            <a:endParaRPr lang="en-US" sz="1500" dirty="0"/>
          </a:p>
        </p:txBody>
      </p:sp>
      <p:sp>
        <p:nvSpPr>
          <p:cNvPr id="12" name="Text 10"/>
          <p:cNvSpPr/>
          <p:nvPr/>
        </p:nvSpPr>
        <p:spPr>
          <a:xfrm>
            <a:off x="9486900" y="6148834"/>
            <a:ext cx="7995761" cy="704850"/>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The reconnaissance-first ordering of the whole module — 10.1 always precedes 10.2 or 10.3 for a reason.</a:t>
            </a:r>
            <a:endParaRPr lang="en-US" sz="1875"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Shape 1"/>
          <p:cNvSpPr/>
          <p:nvPr/>
        </p:nvSpPr>
        <p:spPr>
          <a:xfrm>
            <a:off x="800100" y="3066604"/>
            <a:ext cx="2352898" cy="395288"/>
          </a:xfrm>
          <a:prstGeom prst="roundRect">
            <a:avLst>
              <a:gd name="adj" fmla="val 50000"/>
            </a:avLst>
          </a:prstGeom>
          <a:solidFill>
            <a:srgbClr val="FF6A00">
              <a:alpha val="15000"/>
            </a:srgbClr>
          </a:solidFill>
          <a:ln w="9525">
            <a:solidFill>
              <a:srgbClr val="FF6A00">
                <a:alpha val="35000"/>
              </a:srgbClr>
            </a:solidFill>
            <a:prstDash val="solid"/>
          </a:ln>
        </p:spPr>
      </p:sp>
      <p:sp>
        <p:nvSpPr>
          <p:cNvPr id="4" name="Text 2"/>
          <p:cNvSpPr/>
          <p:nvPr/>
        </p:nvSpPr>
        <p:spPr>
          <a:xfrm>
            <a:off x="981075" y="3152329"/>
            <a:ext cx="2067148" cy="261938"/>
          </a:xfrm>
          <a:prstGeom prst="rect">
            <a:avLst/>
          </a:prstGeom>
          <a:noFill/>
          <a:ln/>
        </p:spPr>
        <p:txBody>
          <a:bodyPr wrap="square" lIns="25400" tIns="25400" rIns="25400" bIns="25400" rtlCol="0" anchor="t">
            <a:normAutofit/>
          </a:bodyPr>
          <a:lstStyle/>
          <a:p>
            <a:pPr algn="l" indent="0" marL="0">
              <a:buNone/>
            </a:pPr>
            <a:r>
              <a:rPr lang="en-US" sz="1500" b="1" spc="75" kern="0" dirty="0">
                <a:solidFill>
                  <a:srgbClr val="FFD9BF"/>
                </a:solidFill>
                <a:latin typeface="Arial" pitchFamily="34" charset="0"/>
                <a:ea typeface="Arial" pitchFamily="34" charset="-122"/>
                <a:cs typeface="Arial" pitchFamily="34" charset="-120"/>
              </a:rPr>
              <a:t>Practical skill 3 of 3</a:t>
            </a:r>
            <a:endParaRPr lang="en-US" sz="1500" dirty="0"/>
          </a:p>
        </p:txBody>
      </p:sp>
      <p:sp>
        <p:nvSpPr>
          <p:cNvPr id="5" name="Text 3"/>
          <p:cNvSpPr/>
          <p:nvPr/>
        </p:nvSpPr>
        <p:spPr>
          <a:xfrm>
            <a:off x="800100" y="3709541"/>
            <a:ext cx="18356580" cy="457200"/>
          </a:xfrm>
          <a:prstGeom prst="rect">
            <a:avLst/>
          </a:prstGeom>
          <a:noFill/>
          <a:ln/>
        </p:spPr>
        <p:txBody>
          <a:bodyPr wrap="square" lIns="25400" tIns="25400" rIns="25400" bIns="25400" rtlCol="0" anchor="t">
            <a:normAutofit/>
          </a:bodyPr>
          <a:lstStyle/>
          <a:p>
            <a:pPr algn="l" indent="0" marL="0">
              <a:lnSpc>
                <a:spcPct val="95652"/>
              </a:lnSpc>
              <a:buNone/>
            </a:pPr>
            <a:r>
              <a:rPr lang="en-US" sz="3000" b="1" dirty="0">
                <a:solidFill>
                  <a:srgbClr val="F5F7FB"/>
                </a:solidFill>
                <a:latin typeface="Arial" pitchFamily="34" charset="0"/>
                <a:ea typeface="Arial" pitchFamily="34" charset="-122"/>
                <a:cs typeface="Arial" pitchFamily="34" charset="-120"/>
              </a:rPr>
              <a:t>Documenting the pretext and mechanism used</a:t>
            </a:r>
            <a:endParaRPr lang="en-US" sz="3000" dirty="0"/>
          </a:p>
        </p:txBody>
      </p:sp>
      <p:sp>
        <p:nvSpPr>
          <p:cNvPr id="6" name="Text 4"/>
          <p:cNvSpPr/>
          <p:nvPr/>
        </p:nvSpPr>
        <p:spPr>
          <a:xfrm>
            <a:off x="800100" y="4376291"/>
            <a:ext cx="15304770" cy="839093"/>
          </a:xfrm>
          <a:prstGeom prst="rect">
            <a:avLst/>
          </a:prstGeom>
          <a:noFill/>
          <a:ln/>
        </p:spPr>
        <p:txBody>
          <a:bodyPr wrap="square" lIns="25400" tIns="25400" rIns="25400" bIns="25400" rtlCol="0" anchor="t">
            <a:normAutofit/>
          </a:bodyPr>
          <a:lstStyle/>
          <a:p>
            <a:pPr algn="l" indent="0" marL="0">
              <a:lnSpc>
                <a:spcPct val="125522"/>
              </a:lnSpc>
              <a:buNone/>
            </a:pPr>
            <a:r>
              <a:rPr lang="en-US" sz="2175" dirty="0">
                <a:solidFill>
                  <a:srgbClr val="B8C0CF"/>
                </a:solidFill>
                <a:latin typeface="Arial" pitchFamily="34" charset="0"/>
                <a:ea typeface="Arial" pitchFamily="34" charset="-122"/>
                <a:cs typeface="Arial" pitchFamily="34" charset="-120"/>
              </a:rPr>
              <a:t>A delivered document or shortcut may be deleted by the target after execution. Record the pretext, the mechanism, and the exact payload used at the time of delivery, not afterwards from memory.</a:t>
            </a:r>
            <a:endParaRPr lang="en-US" sz="2175" dirty="0"/>
          </a:p>
        </p:txBody>
      </p:sp>
      <p:sp>
        <p:nvSpPr>
          <p:cNvPr id="7" name="Shape 5"/>
          <p:cNvSpPr/>
          <p:nvPr/>
        </p:nvSpPr>
        <p:spPr>
          <a:xfrm>
            <a:off x="800100" y="5424934"/>
            <a:ext cx="8239125" cy="1795463"/>
          </a:xfrm>
          <a:prstGeom prst="roundRect">
            <a:avLst>
              <a:gd name="adj" fmla="val 8488"/>
            </a:avLst>
          </a:prstGeom>
          <a:solidFill>
            <a:srgbClr val="FFFFFF">
              <a:alpha val="2000"/>
            </a:srgbClr>
          </a:solidFill>
          <a:ln w="9525">
            <a:solidFill>
              <a:srgbClr val="2A2F3A"/>
            </a:solidFill>
            <a:prstDash val="solid"/>
          </a:ln>
        </p:spPr>
      </p:sp>
      <p:sp>
        <p:nvSpPr>
          <p:cNvPr id="8" name="Text 6"/>
          <p:cNvSpPr/>
          <p:nvPr/>
        </p:nvSpPr>
        <p:spPr>
          <a:xfrm>
            <a:off x="1038225" y="5663059"/>
            <a:ext cx="8539163"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WHY IT MATTERS</a:t>
            </a:r>
            <a:endParaRPr lang="en-US" sz="1500" dirty="0"/>
          </a:p>
        </p:txBody>
      </p:sp>
      <p:sp>
        <p:nvSpPr>
          <p:cNvPr id="9" name="Text 7"/>
          <p:cNvSpPr/>
          <p:nvPr/>
        </p:nvSpPr>
        <p:spPr>
          <a:xfrm>
            <a:off x="1038225" y="5982146"/>
            <a:ext cx="7995761" cy="1038225"/>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Module 4's report requires describing findings with evidence. A client-side finding without a preserved copy of what was actually sent is difficult to substantiate.</a:t>
            </a:r>
            <a:endParaRPr lang="en-US" sz="1875" dirty="0"/>
          </a:p>
        </p:txBody>
      </p:sp>
      <p:sp>
        <p:nvSpPr>
          <p:cNvPr id="10" name="Shape 8"/>
          <p:cNvSpPr/>
          <p:nvPr/>
        </p:nvSpPr>
        <p:spPr>
          <a:xfrm>
            <a:off x="9248775" y="5424934"/>
            <a:ext cx="8239125" cy="1795463"/>
          </a:xfrm>
          <a:prstGeom prst="roundRect">
            <a:avLst>
              <a:gd name="adj" fmla="val 8488"/>
            </a:avLst>
          </a:prstGeom>
          <a:solidFill>
            <a:srgbClr val="FFFFFF">
              <a:alpha val="2000"/>
            </a:srgbClr>
          </a:solidFill>
          <a:ln w="9525">
            <a:solidFill>
              <a:srgbClr val="2A2F3A"/>
            </a:solidFill>
            <a:prstDash val="solid"/>
          </a:ln>
        </p:spPr>
      </p:sp>
      <p:sp>
        <p:nvSpPr>
          <p:cNvPr id="11" name="Text 9"/>
          <p:cNvSpPr/>
          <p:nvPr/>
        </p:nvSpPr>
        <p:spPr>
          <a:xfrm>
            <a:off x="9486900" y="5663059"/>
            <a:ext cx="8539163"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CONNECTS TO</a:t>
            </a:r>
            <a:endParaRPr lang="en-US" sz="1500" dirty="0"/>
          </a:p>
        </p:txBody>
      </p:sp>
      <p:sp>
        <p:nvSpPr>
          <p:cNvPr id="12" name="Text 10"/>
          <p:cNvSpPr/>
          <p:nvPr/>
        </p:nvSpPr>
        <p:spPr>
          <a:xfrm>
            <a:off x="9486900" y="5982146"/>
            <a:ext cx="7995761" cy="704850"/>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Module 4's note-taking discipline, applied to an artefact that will not remain on the target system to be screenshotted later.</a:t>
            </a:r>
            <a:endParaRPr lang="en-US" sz="1875"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800100" y="2805113"/>
            <a:ext cx="18356580" cy="285750"/>
          </a:xfrm>
          <a:prstGeom prst="rect">
            <a:avLst/>
          </a:prstGeom>
          <a:noFill/>
          <a:ln/>
        </p:spPr>
        <p:txBody>
          <a:bodyPr wrap="square" lIns="25400" tIns="25400" rIns="25400" bIns="25400" rtlCol="0" anchor="t">
            <a:normAutofit/>
          </a:bodyPr>
          <a:lstStyle/>
          <a:p>
            <a:pPr algn="l" indent="0" marL="0">
              <a:buNone/>
            </a:pPr>
            <a:r>
              <a:rPr lang="en-US" sz="1650" b="1" spc="225" kern="0" dirty="0">
                <a:solidFill>
                  <a:srgbClr val="FF6A00"/>
                </a:solidFill>
                <a:latin typeface="Arial" pitchFamily="34" charset="0"/>
                <a:ea typeface="Arial" pitchFamily="34" charset="-122"/>
                <a:cs typeface="Arial" pitchFamily="34" charset="-120"/>
              </a:rPr>
              <a:t>ACRONYM SPOTLIGHT</a:t>
            </a:r>
            <a:endParaRPr lang="en-US" sz="1650" dirty="0"/>
          </a:p>
        </p:txBody>
      </p:sp>
      <p:sp>
        <p:nvSpPr>
          <p:cNvPr id="4" name="Text 2"/>
          <p:cNvSpPr/>
          <p:nvPr/>
        </p:nvSpPr>
        <p:spPr>
          <a:xfrm>
            <a:off x="800100" y="3300413"/>
            <a:ext cx="18356580" cy="457200"/>
          </a:xfrm>
          <a:prstGeom prst="rect">
            <a:avLst/>
          </a:prstGeom>
          <a:noFill/>
          <a:ln/>
        </p:spPr>
        <p:txBody>
          <a:bodyPr wrap="square" lIns="25400" tIns="25400" rIns="25400" bIns="25400" rtlCol="0" anchor="t">
            <a:normAutofit/>
          </a:bodyPr>
          <a:lstStyle/>
          <a:p>
            <a:pPr algn="l" indent="0" marL="0">
              <a:lnSpc>
                <a:spcPct val="95652"/>
              </a:lnSpc>
              <a:buNone/>
            </a:pPr>
            <a:r>
              <a:rPr lang="en-US" sz="3000" b="1" dirty="0">
                <a:solidFill>
                  <a:srgbClr val="F5F7FB"/>
                </a:solidFill>
                <a:latin typeface="Arial" pitchFamily="34" charset="0"/>
                <a:ea typeface="Arial" pitchFamily="34" charset="-122"/>
                <a:cs typeface="Arial" pitchFamily="34" charset="-120"/>
              </a:rPr>
              <a:t>Terms introduced in Module 10</a:t>
            </a:r>
            <a:endParaRPr lang="en-US" sz="3000" dirty="0"/>
          </a:p>
        </p:txBody>
      </p:sp>
      <p:sp>
        <p:nvSpPr>
          <p:cNvPr id="5" name="Shape 3"/>
          <p:cNvSpPr/>
          <p:nvPr/>
        </p:nvSpPr>
        <p:spPr>
          <a:xfrm>
            <a:off x="800100" y="3967163"/>
            <a:ext cx="2781300" cy="500063"/>
          </a:xfrm>
          <a:prstGeom prst="rect">
            <a:avLst/>
          </a:prstGeom>
          <a:solidFill>
            <a:srgbClr val="FF6A00">
              <a:alpha val="18000"/>
            </a:srgbClr>
          </a:solidFill>
          <a:ln/>
        </p:spPr>
      </p:sp>
      <p:sp>
        <p:nvSpPr>
          <p:cNvPr id="6" name="Shape 4"/>
          <p:cNvSpPr/>
          <p:nvPr/>
        </p:nvSpPr>
        <p:spPr>
          <a:xfrm>
            <a:off x="800100" y="4457700"/>
            <a:ext cx="2781300" cy="9525"/>
          </a:xfrm>
          <a:prstGeom prst="rect">
            <a:avLst/>
          </a:prstGeom>
          <a:solidFill>
            <a:srgbClr val="B85100"/>
          </a:solidFill>
          <a:ln/>
        </p:spPr>
      </p:sp>
      <p:sp>
        <p:nvSpPr>
          <p:cNvPr id="7" name="Text 5"/>
          <p:cNvSpPr/>
          <p:nvPr/>
        </p:nvSpPr>
        <p:spPr>
          <a:xfrm>
            <a:off x="952500" y="4081463"/>
            <a:ext cx="2559939" cy="300038"/>
          </a:xfrm>
          <a:prstGeom prst="rect">
            <a:avLst/>
          </a:prstGeom>
          <a:noFill/>
          <a:ln/>
        </p:spPr>
        <p:txBody>
          <a:bodyPr wrap="square" lIns="25400" tIns="25400" rIns="25400" bIns="25400" rtlCol="0" anchor="ctr">
            <a:normAutofit/>
          </a:bodyPr>
          <a:lstStyle/>
          <a:p>
            <a:pPr algn="l" indent="0" marL="0">
              <a:buNone/>
            </a:pPr>
            <a:r>
              <a:rPr lang="en-US" sz="1800" b="1" dirty="0">
                <a:solidFill>
                  <a:srgbClr val="F5F7FB"/>
                </a:solidFill>
                <a:latin typeface="Arial" pitchFamily="34" charset="0"/>
                <a:ea typeface="Arial" pitchFamily="34" charset="-122"/>
                <a:cs typeface="Arial" pitchFamily="34" charset="-120"/>
              </a:rPr>
              <a:t>Term</a:t>
            </a:r>
            <a:endParaRPr lang="en-US" sz="1800" dirty="0"/>
          </a:p>
        </p:txBody>
      </p:sp>
      <p:sp>
        <p:nvSpPr>
          <p:cNvPr id="8" name="Shape 6"/>
          <p:cNvSpPr/>
          <p:nvPr/>
        </p:nvSpPr>
        <p:spPr>
          <a:xfrm>
            <a:off x="3581400" y="3967163"/>
            <a:ext cx="4686300" cy="500063"/>
          </a:xfrm>
          <a:prstGeom prst="rect">
            <a:avLst/>
          </a:prstGeom>
          <a:solidFill>
            <a:srgbClr val="FF6A00">
              <a:alpha val="18000"/>
            </a:srgbClr>
          </a:solidFill>
          <a:ln/>
        </p:spPr>
      </p:sp>
      <p:sp>
        <p:nvSpPr>
          <p:cNvPr id="9" name="Shape 7"/>
          <p:cNvSpPr/>
          <p:nvPr/>
        </p:nvSpPr>
        <p:spPr>
          <a:xfrm>
            <a:off x="3581400" y="4457700"/>
            <a:ext cx="4686300" cy="9525"/>
          </a:xfrm>
          <a:prstGeom prst="rect">
            <a:avLst/>
          </a:prstGeom>
          <a:solidFill>
            <a:srgbClr val="B85100"/>
          </a:solidFill>
          <a:ln/>
        </p:spPr>
      </p:sp>
      <p:sp>
        <p:nvSpPr>
          <p:cNvPr id="10" name="Text 8"/>
          <p:cNvSpPr/>
          <p:nvPr/>
        </p:nvSpPr>
        <p:spPr>
          <a:xfrm>
            <a:off x="3733800" y="4081463"/>
            <a:ext cx="4522089" cy="300038"/>
          </a:xfrm>
          <a:prstGeom prst="rect">
            <a:avLst/>
          </a:prstGeom>
          <a:noFill/>
          <a:ln/>
        </p:spPr>
        <p:txBody>
          <a:bodyPr wrap="square" lIns="25400" tIns="25400" rIns="25400" bIns="25400" rtlCol="0" anchor="ctr">
            <a:normAutofit/>
          </a:bodyPr>
          <a:lstStyle/>
          <a:p>
            <a:pPr algn="l" indent="0" marL="0">
              <a:buNone/>
            </a:pPr>
            <a:r>
              <a:rPr lang="en-US" sz="1800" b="1" dirty="0">
                <a:solidFill>
                  <a:srgbClr val="F5F7FB"/>
                </a:solidFill>
                <a:latin typeface="Arial" pitchFamily="34" charset="0"/>
                <a:ea typeface="Arial" pitchFamily="34" charset="-122"/>
                <a:cs typeface="Arial" pitchFamily="34" charset="-120"/>
              </a:rPr>
              <a:t>What it is</a:t>
            </a:r>
            <a:endParaRPr lang="en-US" sz="1800" dirty="0"/>
          </a:p>
        </p:txBody>
      </p:sp>
      <p:sp>
        <p:nvSpPr>
          <p:cNvPr id="11" name="Shape 9"/>
          <p:cNvSpPr/>
          <p:nvPr/>
        </p:nvSpPr>
        <p:spPr>
          <a:xfrm>
            <a:off x="8267700" y="3967163"/>
            <a:ext cx="9220200" cy="500063"/>
          </a:xfrm>
          <a:prstGeom prst="rect">
            <a:avLst/>
          </a:prstGeom>
          <a:solidFill>
            <a:srgbClr val="FF6A00">
              <a:alpha val="18000"/>
            </a:srgbClr>
          </a:solidFill>
          <a:ln/>
        </p:spPr>
      </p:sp>
      <p:sp>
        <p:nvSpPr>
          <p:cNvPr id="12" name="Shape 10"/>
          <p:cNvSpPr/>
          <p:nvPr/>
        </p:nvSpPr>
        <p:spPr>
          <a:xfrm>
            <a:off x="8267700" y="4457700"/>
            <a:ext cx="9220200" cy="9525"/>
          </a:xfrm>
          <a:prstGeom prst="rect">
            <a:avLst/>
          </a:prstGeom>
          <a:solidFill>
            <a:srgbClr val="B85100"/>
          </a:solidFill>
          <a:ln/>
        </p:spPr>
      </p:sp>
      <p:sp>
        <p:nvSpPr>
          <p:cNvPr id="13" name="Text 11"/>
          <p:cNvSpPr/>
          <p:nvPr/>
        </p:nvSpPr>
        <p:spPr>
          <a:xfrm>
            <a:off x="8420100" y="4081463"/>
            <a:ext cx="9192006" cy="300038"/>
          </a:xfrm>
          <a:prstGeom prst="rect">
            <a:avLst/>
          </a:prstGeom>
          <a:noFill/>
          <a:ln/>
        </p:spPr>
        <p:txBody>
          <a:bodyPr wrap="square" lIns="25400" tIns="25400" rIns="25400" bIns="25400" rtlCol="0" anchor="ctr">
            <a:normAutofit/>
          </a:bodyPr>
          <a:lstStyle/>
          <a:p>
            <a:pPr algn="l" indent="0" marL="0">
              <a:buNone/>
            </a:pPr>
            <a:r>
              <a:rPr lang="en-US" sz="1800" b="1" dirty="0">
                <a:solidFill>
                  <a:srgbClr val="F5F7FB"/>
                </a:solidFill>
                <a:latin typeface="Arial" pitchFamily="34" charset="0"/>
                <a:ea typeface="Arial" pitchFamily="34" charset="-122"/>
                <a:cs typeface="Arial" pitchFamily="34" charset="-120"/>
              </a:rPr>
              <a:t>Where it appears</a:t>
            </a:r>
            <a:endParaRPr lang="en-US" sz="1800" dirty="0"/>
          </a:p>
        </p:txBody>
      </p:sp>
      <p:sp>
        <p:nvSpPr>
          <p:cNvPr id="14" name="Shape 12"/>
          <p:cNvSpPr/>
          <p:nvPr/>
        </p:nvSpPr>
        <p:spPr>
          <a:xfrm>
            <a:off x="800100" y="4467225"/>
            <a:ext cx="2781300" cy="752475"/>
          </a:xfrm>
          <a:prstGeom prst="rect">
            <a:avLst/>
          </a:prstGeom>
          <a:solidFill>
            <a:srgbClr val="FFFFFF">
              <a:alpha val="2000"/>
            </a:srgbClr>
          </a:solidFill>
          <a:ln/>
        </p:spPr>
      </p:sp>
      <p:sp>
        <p:nvSpPr>
          <p:cNvPr id="15" name="Shape 13"/>
          <p:cNvSpPr/>
          <p:nvPr/>
        </p:nvSpPr>
        <p:spPr>
          <a:xfrm>
            <a:off x="800100" y="5210175"/>
            <a:ext cx="2781300" cy="9525"/>
          </a:xfrm>
          <a:prstGeom prst="rect">
            <a:avLst/>
          </a:prstGeom>
          <a:solidFill>
            <a:srgbClr val="2A2F3A"/>
          </a:solidFill>
          <a:ln/>
        </p:spPr>
      </p:sp>
      <p:sp>
        <p:nvSpPr>
          <p:cNvPr id="16" name="Text 14"/>
          <p:cNvSpPr/>
          <p:nvPr/>
        </p:nvSpPr>
        <p:spPr>
          <a:xfrm>
            <a:off x="952500" y="4572000"/>
            <a:ext cx="2559939" cy="571500"/>
          </a:xfrm>
          <a:prstGeom prst="rect">
            <a:avLst/>
          </a:prstGeom>
          <a:noFill/>
          <a:ln/>
        </p:spPr>
        <p:txBody>
          <a:bodyPr wrap="square" lIns="25400" tIns="25400" rIns="25400" bIns="25400" rtlCol="0" anchor="ctr">
            <a:normAutofit/>
          </a:bodyPr>
          <a:lstStyle/>
          <a:p>
            <a:pPr algn="l" indent="0" marL="0">
              <a:buNone/>
            </a:pPr>
            <a:r>
              <a:rPr lang="en-US" sz="1800" dirty="0">
                <a:solidFill>
                  <a:srgbClr val="DFE3EA"/>
                </a:solidFill>
                <a:latin typeface="Arial" pitchFamily="34" charset="0"/>
                <a:ea typeface="Arial" pitchFamily="34" charset="-122"/>
                <a:cs typeface="Arial" pitchFamily="34" charset="-120"/>
              </a:rPr>
              <a:t>Client fingerprinting</a:t>
            </a:r>
            <a:endParaRPr lang="en-US" sz="1800" dirty="0"/>
          </a:p>
        </p:txBody>
      </p:sp>
      <p:sp>
        <p:nvSpPr>
          <p:cNvPr id="17" name="Shape 15"/>
          <p:cNvSpPr/>
          <p:nvPr/>
        </p:nvSpPr>
        <p:spPr>
          <a:xfrm>
            <a:off x="3581400" y="4467225"/>
            <a:ext cx="4686300" cy="752475"/>
          </a:xfrm>
          <a:prstGeom prst="rect">
            <a:avLst/>
          </a:prstGeom>
          <a:solidFill>
            <a:srgbClr val="FFFFFF">
              <a:alpha val="2000"/>
            </a:srgbClr>
          </a:solidFill>
          <a:ln/>
        </p:spPr>
      </p:sp>
      <p:sp>
        <p:nvSpPr>
          <p:cNvPr id="18" name="Shape 16"/>
          <p:cNvSpPr/>
          <p:nvPr/>
        </p:nvSpPr>
        <p:spPr>
          <a:xfrm>
            <a:off x="3581400" y="5210175"/>
            <a:ext cx="4686300" cy="9525"/>
          </a:xfrm>
          <a:prstGeom prst="rect">
            <a:avLst/>
          </a:prstGeom>
          <a:solidFill>
            <a:srgbClr val="2A2F3A"/>
          </a:solidFill>
          <a:ln/>
        </p:spPr>
      </p:sp>
      <p:sp>
        <p:nvSpPr>
          <p:cNvPr id="19" name="Text 17"/>
          <p:cNvSpPr/>
          <p:nvPr/>
        </p:nvSpPr>
        <p:spPr>
          <a:xfrm>
            <a:off x="3733800" y="4572000"/>
            <a:ext cx="4522089" cy="571500"/>
          </a:xfrm>
          <a:prstGeom prst="rect">
            <a:avLst/>
          </a:prstGeom>
          <a:noFill/>
          <a:ln/>
        </p:spPr>
        <p:txBody>
          <a:bodyPr wrap="square" lIns="25400" tIns="25400" rIns="25400" bIns="25400" rtlCol="0" anchor="ctr">
            <a:normAutofit/>
          </a:bodyPr>
          <a:lstStyle/>
          <a:p>
            <a:pPr algn="l" indent="0" marL="0">
              <a:buNone/>
            </a:pPr>
            <a:r>
              <a:rPr lang="en-US" sz="1800" dirty="0">
                <a:solidFill>
                  <a:srgbClr val="DFE3EA"/>
                </a:solidFill>
                <a:latin typeface="Arial" pitchFamily="34" charset="0"/>
                <a:ea typeface="Arial" pitchFamily="34" charset="-122"/>
                <a:cs typeface="Arial" pitchFamily="34" charset="-120"/>
              </a:rPr>
              <a:t>Identifying a target's software stack and version</a:t>
            </a:r>
            <a:endParaRPr lang="en-US" sz="1800" dirty="0"/>
          </a:p>
        </p:txBody>
      </p:sp>
      <p:sp>
        <p:nvSpPr>
          <p:cNvPr id="20" name="Shape 18"/>
          <p:cNvSpPr/>
          <p:nvPr/>
        </p:nvSpPr>
        <p:spPr>
          <a:xfrm>
            <a:off x="8267700" y="4467225"/>
            <a:ext cx="9220200" cy="752475"/>
          </a:xfrm>
          <a:prstGeom prst="rect">
            <a:avLst/>
          </a:prstGeom>
          <a:solidFill>
            <a:srgbClr val="FFFFFF">
              <a:alpha val="2000"/>
            </a:srgbClr>
          </a:solidFill>
          <a:ln/>
        </p:spPr>
      </p:sp>
      <p:sp>
        <p:nvSpPr>
          <p:cNvPr id="21" name="Shape 19"/>
          <p:cNvSpPr/>
          <p:nvPr/>
        </p:nvSpPr>
        <p:spPr>
          <a:xfrm>
            <a:off x="8267700" y="5210175"/>
            <a:ext cx="9220200" cy="9525"/>
          </a:xfrm>
          <a:prstGeom prst="rect">
            <a:avLst/>
          </a:prstGeom>
          <a:solidFill>
            <a:srgbClr val="2A2F3A"/>
          </a:solidFill>
          <a:ln/>
        </p:spPr>
      </p:sp>
      <p:sp>
        <p:nvSpPr>
          <p:cNvPr id="22" name="Text 20"/>
          <p:cNvSpPr/>
          <p:nvPr/>
        </p:nvSpPr>
        <p:spPr>
          <a:xfrm>
            <a:off x="8420100" y="4572000"/>
            <a:ext cx="9192006" cy="571500"/>
          </a:xfrm>
          <a:prstGeom prst="rect">
            <a:avLst/>
          </a:prstGeom>
          <a:noFill/>
          <a:ln/>
        </p:spPr>
        <p:txBody>
          <a:bodyPr wrap="square" lIns="25400" tIns="25400" rIns="25400" bIns="25400" rtlCol="0" anchor="ctr">
            <a:normAutofit/>
          </a:bodyPr>
          <a:lstStyle/>
          <a:p>
            <a:pPr algn="l" indent="0" marL="0">
              <a:buNone/>
            </a:pPr>
            <a:r>
              <a:rPr lang="en-US" sz="1800" dirty="0">
                <a:solidFill>
                  <a:srgbClr val="DFE3EA"/>
                </a:solidFill>
                <a:latin typeface="Arial" pitchFamily="34" charset="0"/>
                <a:ea typeface="Arial" pitchFamily="34" charset="-122"/>
                <a:cs typeface="Arial" pitchFamily="34" charset="-120"/>
              </a:rPr>
              <a:t>Objective 10.1</a:t>
            </a:r>
            <a:endParaRPr lang="en-US" sz="1800" dirty="0"/>
          </a:p>
        </p:txBody>
      </p:sp>
      <p:sp>
        <p:nvSpPr>
          <p:cNvPr id="23" name="Shape 21"/>
          <p:cNvSpPr/>
          <p:nvPr/>
        </p:nvSpPr>
        <p:spPr>
          <a:xfrm>
            <a:off x="800100" y="5962650"/>
            <a:ext cx="2781300" cy="9525"/>
          </a:xfrm>
          <a:prstGeom prst="rect">
            <a:avLst/>
          </a:prstGeom>
          <a:solidFill>
            <a:srgbClr val="2A2F3A"/>
          </a:solidFill>
          <a:ln/>
        </p:spPr>
      </p:sp>
      <p:sp>
        <p:nvSpPr>
          <p:cNvPr id="24" name="Text 22"/>
          <p:cNvSpPr/>
          <p:nvPr/>
        </p:nvSpPr>
        <p:spPr>
          <a:xfrm>
            <a:off x="952500" y="5324475"/>
            <a:ext cx="2559939" cy="571500"/>
          </a:xfrm>
          <a:prstGeom prst="rect">
            <a:avLst/>
          </a:prstGeom>
          <a:noFill/>
          <a:ln/>
        </p:spPr>
        <p:txBody>
          <a:bodyPr wrap="square" lIns="25400" tIns="25400" rIns="25400" bIns="25400" rtlCol="0" anchor="ctr">
            <a:normAutofit/>
          </a:bodyPr>
          <a:lstStyle/>
          <a:p>
            <a:pPr algn="l" indent="0" marL="0">
              <a:buNone/>
            </a:pPr>
            <a:r>
              <a:rPr lang="en-US" sz="1800" dirty="0">
                <a:solidFill>
                  <a:srgbClr val="DFE3EA"/>
                </a:solidFill>
                <a:latin typeface="Arial" pitchFamily="34" charset="0"/>
                <a:ea typeface="Arial" pitchFamily="34" charset="-122"/>
                <a:cs typeface="Arial" pitchFamily="34" charset="-120"/>
              </a:rPr>
              <a:t>Macro</a:t>
            </a:r>
            <a:endParaRPr lang="en-US" sz="1800" dirty="0"/>
          </a:p>
        </p:txBody>
      </p:sp>
      <p:sp>
        <p:nvSpPr>
          <p:cNvPr id="25" name="Shape 23"/>
          <p:cNvSpPr/>
          <p:nvPr/>
        </p:nvSpPr>
        <p:spPr>
          <a:xfrm>
            <a:off x="3581400" y="5962650"/>
            <a:ext cx="4686300" cy="9525"/>
          </a:xfrm>
          <a:prstGeom prst="rect">
            <a:avLst/>
          </a:prstGeom>
          <a:solidFill>
            <a:srgbClr val="2A2F3A"/>
          </a:solidFill>
          <a:ln/>
        </p:spPr>
      </p:sp>
      <p:sp>
        <p:nvSpPr>
          <p:cNvPr id="26" name="Text 24"/>
          <p:cNvSpPr/>
          <p:nvPr/>
        </p:nvSpPr>
        <p:spPr>
          <a:xfrm>
            <a:off x="3733800" y="5324475"/>
            <a:ext cx="4522089" cy="571500"/>
          </a:xfrm>
          <a:prstGeom prst="rect">
            <a:avLst/>
          </a:prstGeom>
          <a:noFill/>
          <a:ln/>
        </p:spPr>
        <p:txBody>
          <a:bodyPr wrap="square" lIns="25400" tIns="25400" rIns="25400" bIns="25400" rtlCol="0" anchor="ctr">
            <a:normAutofit/>
          </a:bodyPr>
          <a:lstStyle/>
          <a:p>
            <a:pPr algn="l" indent="0" marL="0">
              <a:buNone/>
            </a:pPr>
            <a:r>
              <a:rPr lang="en-US" sz="1800" dirty="0">
                <a:solidFill>
                  <a:srgbClr val="DFE3EA"/>
                </a:solidFill>
                <a:latin typeface="Arial" pitchFamily="34" charset="0"/>
                <a:ea typeface="Arial" pitchFamily="34" charset="-122"/>
                <a:cs typeface="Arial" pitchFamily="34" charset="-120"/>
              </a:rPr>
              <a:t>Embedded code a document can execute automatically or on action</a:t>
            </a:r>
            <a:endParaRPr lang="en-US" sz="1800" dirty="0"/>
          </a:p>
        </p:txBody>
      </p:sp>
      <p:sp>
        <p:nvSpPr>
          <p:cNvPr id="27" name="Shape 25"/>
          <p:cNvSpPr/>
          <p:nvPr/>
        </p:nvSpPr>
        <p:spPr>
          <a:xfrm>
            <a:off x="8267700" y="5962650"/>
            <a:ext cx="9220200" cy="9525"/>
          </a:xfrm>
          <a:prstGeom prst="rect">
            <a:avLst/>
          </a:prstGeom>
          <a:solidFill>
            <a:srgbClr val="2A2F3A"/>
          </a:solidFill>
          <a:ln/>
        </p:spPr>
      </p:sp>
      <p:sp>
        <p:nvSpPr>
          <p:cNvPr id="28" name="Text 26"/>
          <p:cNvSpPr/>
          <p:nvPr/>
        </p:nvSpPr>
        <p:spPr>
          <a:xfrm>
            <a:off x="8420100" y="5324475"/>
            <a:ext cx="9192006" cy="571500"/>
          </a:xfrm>
          <a:prstGeom prst="rect">
            <a:avLst/>
          </a:prstGeom>
          <a:noFill/>
          <a:ln/>
        </p:spPr>
        <p:txBody>
          <a:bodyPr wrap="square" lIns="25400" tIns="25400" rIns="25400" bIns="25400" rtlCol="0" anchor="ctr">
            <a:normAutofit/>
          </a:bodyPr>
          <a:lstStyle/>
          <a:p>
            <a:pPr algn="l" indent="0" marL="0">
              <a:buNone/>
            </a:pPr>
            <a:r>
              <a:rPr lang="en-US" sz="1800" dirty="0">
                <a:solidFill>
                  <a:srgbClr val="DFE3EA"/>
                </a:solidFill>
                <a:latin typeface="Arial" pitchFamily="34" charset="0"/>
                <a:ea typeface="Arial" pitchFamily="34" charset="-122"/>
                <a:cs typeface="Arial" pitchFamily="34" charset="-120"/>
              </a:rPr>
              <a:t>Objective 10.2</a:t>
            </a:r>
            <a:endParaRPr lang="en-US" sz="1800" dirty="0"/>
          </a:p>
        </p:txBody>
      </p:sp>
      <p:sp>
        <p:nvSpPr>
          <p:cNvPr id="29" name="Shape 27"/>
          <p:cNvSpPr/>
          <p:nvPr/>
        </p:nvSpPr>
        <p:spPr>
          <a:xfrm>
            <a:off x="800100" y="5972175"/>
            <a:ext cx="2781300" cy="752475"/>
          </a:xfrm>
          <a:prstGeom prst="rect">
            <a:avLst/>
          </a:prstGeom>
          <a:solidFill>
            <a:srgbClr val="FFFFFF">
              <a:alpha val="2000"/>
            </a:srgbClr>
          </a:solidFill>
          <a:ln/>
        </p:spPr>
      </p:sp>
      <p:sp>
        <p:nvSpPr>
          <p:cNvPr id="30" name="Shape 28"/>
          <p:cNvSpPr/>
          <p:nvPr/>
        </p:nvSpPr>
        <p:spPr>
          <a:xfrm>
            <a:off x="800100" y="6715125"/>
            <a:ext cx="2781300" cy="9525"/>
          </a:xfrm>
          <a:prstGeom prst="rect">
            <a:avLst/>
          </a:prstGeom>
          <a:solidFill>
            <a:srgbClr val="2A2F3A"/>
          </a:solidFill>
          <a:ln/>
        </p:spPr>
      </p:sp>
      <p:sp>
        <p:nvSpPr>
          <p:cNvPr id="31" name="Text 29"/>
          <p:cNvSpPr/>
          <p:nvPr/>
        </p:nvSpPr>
        <p:spPr>
          <a:xfrm>
            <a:off x="952500" y="6076950"/>
            <a:ext cx="2559939" cy="571500"/>
          </a:xfrm>
          <a:prstGeom prst="rect">
            <a:avLst/>
          </a:prstGeom>
          <a:noFill/>
          <a:ln/>
        </p:spPr>
        <p:txBody>
          <a:bodyPr wrap="square" lIns="25400" tIns="25400" rIns="25400" bIns="25400" rtlCol="0" anchor="ctr">
            <a:normAutofit/>
          </a:bodyPr>
          <a:lstStyle/>
          <a:p>
            <a:pPr algn="l" indent="0" marL="0">
              <a:buNone/>
            </a:pPr>
            <a:r>
              <a:rPr lang="en-US" sz="1800" dirty="0">
                <a:solidFill>
                  <a:srgbClr val="DFE3EA"/>
                </a:solidFill>
                <a:latin typeface="Arial" pitchFamily="34" charset="0"/>
                <a:ea typeface="Arial" pitchFamily="34" charset="-122"/>
                <a:cs typeface="Arial" pitchFamily="34" charset="-120"/>
              </a:rPr>
              <a:t>Library file (.library-ms)</a:t>
            </a:r>
            <a:endParaRPr lang="en-US" sz="1800" dirty="0"/>
          </a:p>
        </p:txBody>
      </p:sp>
      <p:sp>
        <p:nvSpPr>
          <p:cNvPr id="32" name="Shape 30"/>
          <p:cNvSpPr/>
          <p:nvPr/>
        </p:nvSpPr>
        <p:spPr>
          <a:xfrm>
            <a:off x="3581400" y="5972175"/>
            <a:ext cx="4686300" cy="752475"/>
          </a:xfrm>
          <a:prstGeom prst="rect">
            <a:avLst/>
          </a:prstGeom>
          <a:solidFill>
            <a:srgbClr val="FFFFFF">
              <a:alpha val="2000"/>
            </a:srgbClr>
          </a:solidFill>
          <a:ln/>
        </p:spPr>
      </p:sp>
      <p:sp>
        <p:nvSpPr>
          <p:cNvPr id="33" name="Shape 31"/>
          <p:cNvSpPr/>
          <p:nvPr/>
        </p:nvSpPr>
        <p:spPr>
          <a:xfrm>
            <a:off x="3581400" y="6715125"/>
            <a:ext cx="4686300" cy="9525"/>
          </a:xfrm>
          <a:prstGeom prst="rect">
            <a:avLst/>
          </a:prstGeom>
          <a:solidFill>
            <a:srgbClr val="2A2F3A"/>
          </a:solidFill>
          <a:ln/>
        </p:spPr>
      </p:sp>
      <p:sp>
        <p:nvSpPr>
          <p:cNvPr id="34" name="Text 32"/>
          <p:cNvSpPr/>
          <p:nvPr/>
        </p:nvSpPr>
        <p:spPr>
          <a:xfrm>
            <a:off x="3733800" y="6076950"/>
            <a:ext cx="4522089" cy="571500"/>
          </a:xfrm>
          <a:prstGeom prst="rect">
            <a:avLst/>
          </a:prstGeom>
          <a:noFill/>
          <a:ln/>
        </p:spPr>
        <p:txBody>
          <a:bodyPr wrap="square" lIns="25400" tIns="25400" rIns="25400" bIns="25400" rtlCol="0" anchor="ctr">
            <a:normAutofit/>
          </a:bodyPr>
          <a:lstStyle/>
          <a:p>
            <a:pPr algn="l" indent="0" marL="0">
              <a:buNone/>
            </a:pPr>
            <a:r>
              <a:rPr lang="en-US" sz="1800" dirty="0">
                <a:solidFill>
                  <a:srgbClr val="DFE3EA"/>
                </a:solidFill>
                <a:latin typeface="Arial" pitchFamily="34" charset="0"/>
                <a:ea typeface="Arial" pitchFamily="34" charset="-122"/>
                <a:cs typeface="Arial" pitchFamily="34" charset="-120"/>
              </a:rPr>
              <a:t>A Windows file pointing to one or more folder locations</a:t>
            </a:r>
            <a:endParaRPr lang="en-US" sz="1800" dirty="0"/>
          </a:p>
        </p:txBody>
      </p:sp>
      <p:sp>
        <p:nvSpPr>
          <p:cNvPr id="35" name="Shape 33"/>
          <p:cNvSpPr/>
          <p:nvPr/>
        </p:nvSpPr>
        <p:spPr>
          <a:xfrm>
            <a:off x="8267700" y="5972175"/>
            <a:ext cx="9220200" cy="752475"/>
          </a:xfrm>
          <a:prstGeom prst="rect">
            <a:avLst/>
          </a:prstGeom>
          <a:solidFill>
            <a:srgbClr val="FFFFFF">
              <a:alpha val="2000"/>
            </a:srgbClr>
          </a:solidFill>
          <a:ln/>
        </p:spPr>
      </p:sp>
      <p:sp>
        <p:nvSpPr>
          <p:cNvPr id="36" name="Shape 34"/>
          <p:cNvSpPr/>
          <p:nvPr/>
        </p:nvSpPr>
        <p:spPr>
          <a:xfrm>
            <a:off x="8267700" y="6715125"/>
            <a:ext cx="9220200" cy="9525"/>
          </a:xfrm>
          <a:prstGeom prst="rect">
            <a:avLst/>
          </a:prstGeom>
          <a:solidFill>
            <a:srgbClr val="2A2F3A"/>
          </a:solidFill>
          <a:ln/>
        </p:spPr>
      </p:sp>
      <p:sp>
        <p:nvSpPr>
          <p:cNvPr id="37" name="Text 35"/>
          <p:cNvSpPr/>
          <p:nvPr/>
        </p:nvSpPr>
        <p:spPr>
          <a:xfrm>
            <a:off x="8420100" y="6076950"/>
            <a:ext cx="9192006" cy="571500"/>
          </a:xfrm>
          <a:prstGeom prst="rect">
            <a:avLst/>
          </a:prstGeom>
          <a:noFill/>
          <a:ln/>
        </p:spPr>
        <p:txBody>
          <a:bodyPr wrap="square" lIns="25400" tIns="25400" rIns="25400" bIns="25400" rtlCol="0" anchor="ctr">
            <a:normAutofit/>
          </a:bodyPr>
          <a:lstStyle/>
          <a:p>
            <a:pPr algn="l" indent="0" marL="0">
              <a:buNone/>
            </a:pPr>
            <a:r>
              <a:rPr lang="en-US" sz="1800" dirty="0">
                <a:solidFill>
                  <a:srgbClr val="DFE3EA"/>
                </a:solidFill>
                <a:latin typeface="Arial" pitchFamily="34" charset="0"/>
                <a:ea typeface="Arial" pitchFamily="34" charset="-122"/>
                <a:cs typeface="Arial" pitchFamily="34" charset="-120"/>
              </a:rPr>
              <a:t>Objective 10.3</a:t>
            </a:r>
            <a:endParaRPr lang="en-US" sz="1800" dirty="0"/>
          </a:p>
        </p:txBody>
      </p:sp>
      <p:sp>
        <p:nvSpPr>
          <p:cNvPr id="38" name="Shape 36"/>
          <p:cNvSpPr/>
          <p:nvPr/>
        </p:nvSpPr>
        <p:spPr>
          <a:xfrm>
            <a:off x="800100" y="7467600"/>
            <a:ext cx="2781300" cy="9525"/>
          </a:xfrm>
          <a:prstGeom prst="rect">
            <a:avLst/>
          </a:prstGeom>
          <a:solidFill>
            <a:srgbClr val="2A2F3A"/>
          </a:solidFill>
          <a:ln/>
        </p:spPr>
      </p:sp>
      <p:sp>
        <p:nvSpPr>
          <p:cNvPr id="39" name="Text 37"/>
          <p:cNvSpPr/>
          <p:nvPr/>
        </p:nvSpPr>
        <p:spPr>
          <a:xfrm>
            <a:off x="952500" y="6829425"/>
            <a:ext cx="2559939" cy="571500"/>
          </a:xfrm>
          <a:prstGeom prst="rect">
            <a:avLst/>
          </a:prstGeom>
          <a:noFill/>
          <a:ln/>
        </p:spPr>
        <p:txBody>
          <a:bodyPr wrap="square" lIns="25400" tIns="25400" rIns="25400" bIns="25400" rtlCol="0" anchor="ctr">
            <a:normAutofit/>
          </a:bodyPr>
          <a:lstStyle/>
          <a:p>
            <a:pPr algn="l" indent="0" marL="0">
              <a:buNone/>
            </a:pPr>
            <a:r>
              <a:rPr lang="en-US" sz="1800" dirty="0">
                <a:solidFill>
                  <a:srgbClr val="DFE3EA"/>
                </a:solidFill>
                <a:latin typeface="Arial" pitchFamily="34" charset="0"/>
                <a:ea typeface="Arial" pitchFamily="34" charset="-122"/>
                <a:cs typeface="Arial" pitchFamily="34" charset="-120"/>
              </a:rPr>
              <a:t>Shortcut (.lnk)</a:t>
            </a:r>
            <a:endParaRPr lang="en-US" sz="1800" dirty="0"/>
          </a:p>
        </p:txBody>
      </p:sp>
      <p:sp>
        <p:nvSpPr>
          <p:cNvPr id="40" name="Shape 38"/>
          <p:cNvSpPr/>
          <p:nvPr/>
        </p:nvSpPr>
        <p:spPr>
          <a:xfrm>
            <a:off x="3581400" y="7467600"/>
            <a:ext cx="4686300" cy="9525"/>
          </a:xfrm>
          <a:prstGeom prst="rect">
            <a:avLst/>
          </a:prstGeom>
          <a:solidFill>
            <a:srgbClr val="2A2F3A"/>
          </a:solidFill>
          <a:ln/>
        </p:spPr>
      </p:sp>
      <p:sp>
        <p:nvSpPr>
          <p:cNvPr id="41" name="Text 39"/>
          <p:cNvSpPr/>
          <p:nvPr/>
        </p:nvSpPr>
        <p:spPr>
          <a:xfrm>
            <a:off x="3733800" y="6829425"/>
            <a:ext cx="4522089" cy="571500"/>
          </a:xfrm>
          <a:prstGeom prst="rect">
            <a:avLst/>
          </a:prstGeom>
          <a:noFill/>
          <a:ln/>
        </p:spPr>
        <p:txBody>
          <a:bodyPr wrap="square" lIns="25400" tIns="25400" rIns="25400" bIns="25400" rtlCol="0" anchor="ctr">
            <a:normAutofit/>
          </a:bodyPr>
          <a:lstStyle/>
          <a:p>
            <a:pPr algn="l" indent="0" marL="0">
              <a:buNone/>
            </a:pPr>
            <a:r>
              <a:rPr lang="en-US" sz="1800" dirty="0">
                <a:solidFill>
                  <a:srgbClr val="DFE3EA"/>
                </a:solidFill>
                <a:latin typeface="Arial" pitchFamily="34" charset="0"/>
                <a:ea typeface="Arial" pitchFamily="34" charset="-122"/>
                <a:cs typeface="Arial" pitchFamily="34" charset="-120"/>
              </a:rPr>
              <a:t>A Windows file that can be crafted to run commands on opening</a:t>
            </a:r>
            <a:endParaRPr lang="en-US" sz="1800" dirty="0"/>
          </a:p>
        </p:txBody>
      </p:sp>
      <p:sp>
        <p:nvSpPr>
          <p:cNvPr id="42" name="Shape 40"/>
          <p:cNvSpPr/>
          <p:nvPr/>
        </p:nvSpPr>
        <p:spPr>
          <a:xfrm>
            <a:off x="8267700" y="7467600"/>
            <a:ext cx="9220200" cy="9525"/>
          </a:xfrm>
          <a:prstGeom prst="rect">
            <a:avLst/>
          </a:prstGeom>
          <a:solidFill>
            <a:srgbClr val="2A2F3A"/>
          </a:solidFill>
          <a:ln/>
        </p:spPr>
      </p:sp>
      <p:sp>
        <p:nvSpPr>
          <p:cNvPr id="43" name="Text 41"/>
          <p:cNvSpPr/>
          <p:nvPr/>
        </p:nvSpPr>
        <p:spPr>
          <a:xfrm>
            <a:off x="8420100" y="6829425"/>
            <a:ext cx="9192006" cy="571500"/>
          </a:xfrm>
          <a:prstGeom prst="rect">
            <a:avLst/>
          </a:prstGeom>
          <a:noFill/>
          <a:ln/>
        </p:spPr>
        <p:txBody>
          <a:bodyPr wrap="square" lIns="25400" tIns="25400" rIns="25400" bIns="25400" rtlCol="0" anchor="ctr">
            <a:normAutofit/>
          </a:bodyPr>
          <a:lstStyle/>
          <a:p>
            <a:pPr algn="l" indent="0" marL="0">
              <a:buNone/>
            </a:pPr>
            <a:r>
              <a:rPr lang="en-US" sz="1800" dirty="0">
                <a:solidFill>
                  <a:srgbClr val="DFE3EA"/>
                </a:solidFill>
                <a:latin typeface="Arial" pitchFamily="34" charset="0"/>
                <a:ea typeface="Arial" pitchFamily="34" charset="-122"/>
                <a:cs typeface="Arial" pitchFamily="34" charset="-120"/>
              </a:rPr>
              <a:t>Objective 10.3</a:t>
            </a:r>
            <a:endParaRPr lang="en-US" sz="18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800100" y="2159794"/>
            <a:ext cx="18356580" cy="285750"/>
          </a:xfrm>
          <a:prstGeom prst="rect">
            <a:avLst/>
          </a:prstGeom>
          <a:noFill/>
          <a:ln/>
        </p:spPr>
        <p:txBody>
          <a:bodyPr wrap="square" lIns="25400" tIns="25400" rIns="25400" bIns="25400" rtlCol="0" anchor="t">
            <a:normAutofit/>
          </a:bodyPr>
          <a:lstStyle/>
          <a:p>
            <a:pPr algn="l" indent="0" marL="0">
              <a:buNone/>
            </a:pPr>
            <a:r>
              <a:rPr lang="en-US" sz="1650" b="1" spc="225" kern="0" dirty="0">
                <a:solidFill>
                  <a:srgbClr val="FF6A00"/>
                </a:solidFill>
                <a:latin typeface="Arial" pitchFamily="34" charset="0"/>
                <a:ea typeface="Arial" pitchFamily="34" charset="-122"/>
                <a:cs typeface="Arial" pitchFamily="34" charset="-120"/>
              </a:rPr>
              <a:t>COMMON MISCONCEPTIONS</a:t>
            </a:r>
            <a:endParaRPr lang="en-US" sz="1650" dirty="0"/>
          </a:p>
        </p:txBody>
      </p:sp>
      <p:sp>
        <p:nvSpPr>
          <p:cNvPr id="4" name="Text 2"/>
          <p:cNvSpPr/>
          <p:nvPr/>
        </p:nvSpPr>
        <p:spPr>
          <a:xfrm>
            <a:off x="800100" y="2655094"/>
            <a:ext cx="18356580" cy="457200"/>
          </a:xfrm>
          <a:prstGeom prst="rect">
            <a:avLst/>
          </a:prstGeom>
          <a:noFill/>
          <a:ln/>
        </p:spPr>
        <p:txBody>
          <a:bodyPr wrap="square" lIns="25400" tIns="25400" rIns="25400" bIns="25400" rtlCol="0" anchor="t">
            <a:normAutofit/>
          </a:bodyPr>
          <a:lstStyle/>
          <a:p>
            <a:pPr algn="l" indent="0" marL="0">
              <a:lnSpc>
                <a:spcPct val="95652"/>
              </a:lnSpc>
              <a:buNone/>
            </a:pPr>
            <a:r>
              <a:rPr lang="en-US" sz="3000" b="1" dirty="0">
                <a:solidFill>
                  <a:srgbClr val="F5F7FB"/>
                </a:solidFill>
                <a:latin typeface="Arial" pitchFamily="34" charset="0"/>
                <a:ea typeface="Arial" pitchFamily="34" charset="-122"/>
                <a:cs typeface="Arial" pitchFamily="34" charset="-120"/>
              </a:rPr>
              <a:t>What learners get wrong about Module 10</a:t>
            </a:r>
            <a:endParaRPr lang="en-US" sz="3000" dirty="0"/>
          </a:p>
        </p:txBody>
      </p:sp>
      <p:sp>
        <p:nvSpPr>
          <p:cNvPr id="5" name="Shape 3"/>
          <p:cNvSpPr/>
          <p:nvPr/>
        </p:nvSpPr>
        <p:spPr>
          <a:xfrm>
            <a:off x="800100" y="3321844"/>
            <a:ext cx="8239125" cy="1462088"/>
          </a:xfrm>
          <a:prstGeom prst="roundRect">
            <a:avLst>
              <a:gd name="adj" fmla="val 10423"/>
            </a:avLst>
          </a:prstGeom>
          <a:solidFill>
            <a:srgbClr val="FFFFFF">
              <a:alpha val="2000"/>
            </a:srgbClr>
          </a:solidFill>
          <a:ln w="9525">
            <a:solidFill>
              <a:srgbClr val="2A2F3A"/>
            </a:solidFill>
            <a:prstDash val="solid"/>
          </a:ln>
        </p:spPr>
      </p:sp>
      <p:sp>
        <p:nvSpPr>
          <p:cNvPr id="6" name="Text 4"/>
          <p:cNvSpPr/>
          <p:nvPr/>
        </p:nvSpPr>
        <p:spPr>
          <a:xfrm>
            <a:off x="1038225" y="3559969"/>
            <a:ext cx="8539163"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“CLIENT-SIDE ATTACKS ARE JUST SOCIAL ENGINEERING”</a:t>
            </a:r>
            <a:endParaRPr lang="en-US" sz="1500" dirty="0"/>
          </a:p>
        </p:txBody>
      </p:sp>
      <p:sp>
        <p:nvSpPr>
          <p:cNvPr id="7" name="Text 5"/>
          <p:cNvSpPr/>
          <p:nvPr/>
        </p:nvSpPr>
        <p:spPr>
          <a:xfrm>
            <a:off x="1038225" y="3879056"/>
            <a:ext cx="7995761" cy="704850"/>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The objectives cover concrete technical mechanisms — macros, library files and shortcuts — that deliver genuine code execution, not persuasion alone.</a:t>
            </a:r>
            <a:endParaRPr lang="en-US" sz="1875" dirty="0"/>
          </a:p>
        </p:txBody>
      </p:sp>
      <p:sp>
        <p:nvSpPr>
          <p:cNvPr id="8" name="Shape 6"/>
          <p:cNvSpPr/>
          <p:nvPr/>
        </p:nvSpPr>
        <p:spPr>
          <a:xfrm>
            <a:off x="9248775" y="3321844"/>
            <a:ext cx="8239125" cy="1462088"/>
          </a:xfrm>
          <a:prstGeom prst="roundRect">
            <a:avLst>
              <a:gd name="adj" fmla="val 10423"/>
            </a:avLst>
          </a:prstGeom>
          <a:solidFill>
            <a:srgbClr val="FFFFFF">
              <a:alpha val="2000"/>
            </a:srgbClr>
          </a:solidFill>
          <a:ln w="9525">
            <a:solidFill>
              <a:srgbClr val="2A2F3A"/>
            </a:solidFill>
            <a:prstDash val="solid"/>
          </a:ln>
        </p:spPr>
      </p:sp>
      <p:sp>
        <p:nvSpPr>
          <p:cNvPr id="9" name="Text 7"/>
          <p:cNvSpPr/>
          <p:nvPr/>
        </p:nvSpPr>
        <p:spPr>
          <a:xfrm>
            <a:off x="9486900" y="3559969"/>
            <a:ext cx="8539163"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“ONE PRETEXT WORKS FOR EVERY TARGET”</a:t>
            </a:r>
            <a:endParaRPr lang="en-US" sz="1500" dirty="0"/>
          </a:p>
        </p:txBody>
      </p:sp>
      <p:sp>
        <p:nvSpPr>
          <p:cNvPr id="10" name="Text 8"/>
          <p:cNvSpPr/>
          <p:nvPr/>
        </p:nvSpPr>
        <p:spPr>
          <a:xfrm>
            <a:off x="9486900" y="3879056"/>
            <a:ext cx="7995761" cy="704850"/>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Objective 10.1 exists because the pretext must be built from reconnaissance specific to the target, not reused generically.</a:t>
            </a:r>
            <a:endParaRPr lang="en-US" sz="1875" dirty="0"/>
          </a:p>
        </p:txBody>
      </p:sp>
      <p:sp>
        <p:nvSpPr>
          <p:cNvPr id="11" name="Shape 9"/>
          <p:cNvSpPr/>
          <p:nvPr/>
        </p:nvSpPr>
        <p:spPr>
          <a:xfrm>
            <a:off x="800100" y="4993481"/>
            <a:ext cx="8239125" cy="1462088"/>
          </a:xfrm>
          <a:prstGeom prst="roundRect">
            <a:avLst>
              <a:gd name="adj" fmla="val 10423"/>
            </a:avLst>
          </a:prstGeom>
          <a:solidFill>
            <a:srgbClr val="FFFFFF">
              <a:alpha val="2000"/>
            </a:srgbClr>
          </a:solidFill>
          <a:ln w="9525">
            <a:solidFill>
              <a:srgbClr val="2A2F3A"/>
            </a:solidFill>
            <a:prstDash val="solid"/>
          </a:ln>
        </p:spPr>
      </p:sp>
      <p:sp>
        <p:nvSpPr>
          <p:cNvPr id="12" name="Text 10"/>
          <p:cNvSpPr/>
          <p:nvPr/>
        </p:nvSpPr>
        <p:spPr>
          <a:xfrm>
            <a:off x="1038225" y="5231606"/>
            <a:ext cx="8539163"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“MACROS DISABLED BY POLICY MEANS THE MODULE DOESN'T APPLY”</a:t>
            </a:r>
            <a:endParaRPr lang="en-US" sz="1500" dirty="0"/>
          </a:p>
        </p:txBody>
      </p:sp>
      <p:sp>
        <p:nvSpPr>
          <p:cNvPr id="13" name="Text 11"/>
          <p:cNvSpPr/>
          <p:nvPr/>
        </p:nvSpPr>
        <p:spPr>
          <a:xfrm>
            <a:off x="1038225" y="5550694"/>
            <a:ext cx="7995761" cy="704850"/>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Objective 10.3 exists precisely for this case — a delivery mechanism that does not depend on macro security settings at all.</a:t>
            </a:r>
            <a:endParaRPr lang="en-US" sz="1875" dirty="0"/>
          </a:p>
        </p:txBody>
      </p:sp>
      <p:sp>
        <p:nvSpPr>
          <p:cNvPr id="14" name="Shape 12"/>
          <p:cNvSpPr/>
          <p:nvPr/>
        </p:nvSpPr>
        <p:spPr>
          <a:xfrm>
            <a:off x="9248775" y="4993481"/>
            <a:ext cx="8239125" cy="1462088"/>
          </a:xfrm>
          <a:prstGeom prst="roundRect">
            <a:avLst>
              <a:gd name="adj" fmla="val 10423"/>
            </a:avLst>
          </a:prstGeom>
          <a:solidFill>
            <a:srgbClr val="FFFFFF">
              <a:alpha val="2000"/>
            </a:srgbClr>
          </a:solidFill>
          <a:ln w="9525">
            <a:solidFill>
              <a:srgbClr val="2A2F3A"/>
            </a:solidFill>
            <a:prstDash val="solid"/>
          </a:ln>
        </p:spPr>
      </p:sp>
      <p:sp>
        <p:nvSpPr>
          <p:cNvPr id="15" name="Text 13"/>
          <p:cNvSpPr/>
          <p:nvPr/>
        </p:nvSpPr>
        <p:spPr>
          <a:xfrm>
            <a:off x="9486900" y="5231606"/>
            <a:ext cx="8539163"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“A LIBRARY FILE ATTACK IS THE SAME AS A MACRO ATTACK”</a:t>
            </a:r>
            <a:endParaRPr lang="en-US" sz="1500" dirty="0"/>
          </a:p>
        </p:txBody>
      </p:sp>
      <p:sp>
        <p:nvSpPr>
          <p:cNvPr id="16" name="Text 14"/>
          <p:cNvSpPr/>
          <p:nvPr/>
        </p:nvSpPr>
        <p:spPr>
          <a:xfrm>
            <a:off x="9486900" y="5550694"/>
            <a:ext cx="7995761" cy="704850"/>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They differ in mechanism and in what warning, if any, the target must overcome before execution occurs.</a:t>
            </a:r>
            <a:endParaRPr lang="en-US" sz="1875" dirty="0"/>
          </a:p>
        </p:txBody>
      </p:sp>
      <p:sp>
        <p:nvSpPr>
          <p:cNvPr id="17" name="Shape 15"/>
          <p:cNvSpPr/>
          <p:nvPr/>
        </p:nvSpPr>
        <p:spPr>
          <a:xfrm>
            <a:off x="800100" y="6665119"/>
            <a:ext cx="8239125" cy="1462088"/>
          </a:xfrm>
          <a:prstGeom prst="roundRect">
            <a:avLst>
              <a:gd name="adj" fmla="val 10423"/>
            </a:avLst>
          </a:prstGeom>
          <a:solidFill>
            <a:srgbClr val="FFFFFF">
              <a:alpha val="2000"/>
            </a:srgbClr>
          </a:solidFill>
          <a:ln w="9525">
            <a:solidFill>
              <a:srgbClr val="2A2F3A"/>
            </a:solidFill>
            <a:prstDash val="solid"/>
          </a:ln>
        </p:spPr>
      </p:sp>
      <p:sp>
        <p:nvSpPr>
          <p:cNvPr id="18" name="Text 16"/>
          <p:cNvSpPr/>
          <p:nvPr/>
        </p:nvSpPr>
        <p:spPr>
          <a:xfrm>
            <a:off x="1038225" y="6903244"/>
            <a:ext cx="8539163"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“FINGERPRINTING IS OPTIONAL”</a:t>
            </a:r>
            <a:endParaRPr lang="en-US" sz="1500" dirty="0"/>
          </a:p>
        </p:txBody>
      </p:sp>
      <p:sp>
        <p:nvSpPr>
          <p:cNvPr id="19" name="Text 17"/>
          <p:cNvSpPr/>
          <p:nvPr/>
        </p:nvSpPr>
        <p:spPr>
          <a:xfrm>
            <a:off x="1038225" y="7222331"/>
            <a:ext cx="7995761" cy="704850"/>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Without it, a tester cannot know which of the two named mechanisms is even applicable to the target.</a:t>
            </a:r>
            <a:endParaRPr lang="en-US" sz="1875" dirty="0"/>
          </a:p>
        </p:txBody>
      </p:sp>
      <p:sp>
        <p:nvSpPr>
          <p:cNvPr id="20" name="Shape 18"/>
          <p:cNvSpPr/>
          <p:nvPr/>
        </p:nvSpPr>
        <p:spPr>
          <a:xfrm>
            <a:off x="9248775" y="6665119"/>
            <a:ext cx="8239125" cy="1462088"/>
          </a:xfrm>
          <a:prstGeom prst="roundRect">
            <a:avLst>
              <a:gd name="adj" fmla="val 10423"/>
            </a:avLst>
          </a:prstGeom>
          <a:solidFill>
            <a:srgbClr val="FFFFFF">
              <a:alpha val="2000"/>
            </a:srgbClr>
          </a:solidFill>
          <a:ln w="9525">
            <a:solidFill>
              <a:srgbClr val="2A2F3A"/>
            </a:solidFill>
            <a:prstDash val="solid"/>
          </a:ln>
        </p:spPr>
      </p:sp>
      <p:sp>
        <p:nvSpPr>
          <p:cNvPr id="21" name="Text 19"/>
          <p:cNvSpPr/>
          <p:nvPr/>
        </p:nvSpPr>
        <p:spPr>
          <a:xfrm>
            <a:off x="9486900" y="6903244"/>
            <a:ext cx="8539163"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“THE ARTEFACT WILL STILL BE THERE TO DOCUMENT LATER”</a:t>
            </a:r>
            <a:endParaRPr lang="en-US" sz="1500" dirty="0"/>
          </a:p>
        </p:txBody>
      </p:sp>
      <p:sp>
        <p:nvSpPr>
          <p:cNvPr id="22" name="Text 20"/>
          <p:cNvSpPr/>
          <p:nvPr/>
        </p:nvSpPr>
        <p:spPr>
          <a:xfrm>
            <a:off x="9486900" y="7222331"/>
            <a:ext cx="7995761" cy="704850"/>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Delivered documents and shortcuts may be deleted after execution. Record the pretext and payload at delivery time.</a:t>
            </a:r>
            <a:endParaRPr lang="en-US" sz="1875"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7464244" y="3273326"/>
            <a:ext cx="3359512" cy="285750"/>
          </a:xfrm>
          <a:prstGeom prst="rect">
            <a:avLst/>
          </a:prstGeom>
          <a:noFill/>
          <a:ln/>
        </p:spPr>
        <p:txBody>
          <a:bodyPr wrap="square" lIns="25400" tIns="25400" rIns="25400" bIns="25400" rtlCol="0" anchor="t">
            <a:normAutofit/>
          </a:bodyPr>
          <a:lstStyle/>
          <a:p>
            <a:pPr algn="ctr" indent="0" marL="0">
              <a:buNone/>
            </a:pPr>
            <a:r>
              <a:rPr lang="en-US" sz="1650" b="1" spc="225" kern="0" dirty="0">
                <a:solidFill>
                  <a:srgbClr val="FF6A00"/>
                </a:solidFill>
                <a:latin typeface="Arial" pitchFamily="34" charset="0"/>
                <a:ea typeface="Arial" pitchFamily="34" charset="-122"/>
                <a:cs typeface="Arial" pitchFamily="34" charset="-120"/>
              </a:rPr>
              <a:t>MODULE 10 IN CONTEXT</a:t>
            </a:r>
            <a:endParaRPr lang="en-US" sz="1650" dirty="0"/>
          </a:p>
        </p:txBody>
      </p:sp>
      <p:sp>
        <p:nvSpPr>
          <p:cNvPr id="4" name="Text 2"/>
          <p:cNvSpPr/>
          <p:nvPr/>
        </p:nvSpPr>
        <p:spPr>
          <a:xfrm>
            <a:off x="8646468" y="3749576"/>
            <a:ext cx="995065" cy="1562100"/>
          </a:xfrm>
          <a:prstGeom prst="rect">
            <a:avLst/>
          </a:prstGeom>
          <a:noFill/>
          <a:ln/>
        </p:spPr>
        <p:txBody>
          <a:bodyPr wrap="square" lIns="25400" tIns="25400" rIns="25400" bIns="25400" rtlCol="0" anchor="t">
            <a:normAutofit/>
          </a:bodyPr>
          <a:lstStyle/>
          <a:p>
            <a:pPr algn="ctr" indent="0" marL="0">
              <a:lnSpc>
                <a:spcPct val="86957"/>
              </a:lnSpc>
              <a:buNone/>
            </a:pPr>
            <a:r>
              <a:rPr lang="en-US" sz="12000" b="1" spc="-300" kern="0" dirty="0">
                <a:solidFill>
                  <a:srgbClr val="FF6A00"/>
                </a:solidFill>
                <a:latin typeface="Arial" pitchFamily="34" charset="0"/>
                <a:ea typeface="Arial" pitchFamily="34" charset="-122"/>
                <a:cs typeface="Arial" pitchFamily="34" charset="-120"/>
              </a:rPr>
              <a:t>2</a:t>
            </a:r>
            <a:endParaRPr lang="en-US" sz="12000" dirty="0"/>
          </a:p>
        </p:txBody>
      </p:sp>
      <p:sp>
        <p:nvSpPr>
          <p:cNvPr id="5" name="Text 3"/>
          <p:cNvSpPr/>
          <p:nvPr/>
        </p:nvSpPr>
        <p:spPr>
          <a:xfrm>
            <a:off x="439162" y="5502176"/>
            <a:ext cx="17409676" cy="520005"/>
          </a:xfrm>
          <a:prstGeom prst="rect">
            <a:avLst/>
          </a:prstGeom>
          <a:noFill/>
          <a:ln/>
        </p:spPr>
        <p:txBody>
          <a:bodyPr wrap="square" lIns="25400" tIns="25400" rIns="25400" bIns="25400" rtlCol="0" anchor="t">
            <a:normAutofit/>
          </a:bodyPr>
          <a:lstStyle/>
          <a:p>
            <a:pPr algn="ctr" indent="0" marL="0">
              <a:lnSpc>
                <a:spcPct val="96381"/>
              </a:lnSpc>
              <a:buNone/>
            </a:pPr>
            <a:r>
              <a:rPr lang="en-US" sz="3450" b="1" dirty="0">
                <a:solidFill>
                  <a:srgbClr val="F5F7FB"/>
                </a:solidFill>
                <a:latin typeface="Arial" pitchFamily="34" charset="0"/>
                <a:ea typeface="Arial" pitchFamily="34" charset="-122"/>
                <a:cs typeface="Arial" pitchFamily="34" charset="-120"/>
              </a:rPr>
              <a:t>named delivery mechanisms, built on one shared reconnaissance objective</a:t>
            </a:r>
            <a:endParaRPr lang="en-US" sz="3450" dirty="0"/>
          </a:p>
        </p:txBody>
      </p:sp>
      <p:sp>
        <p:nvSpPr>
          <p:cNvPr id="6" name="Text 4"/>
          <p:cNvSpPr/>
          <p:nvPr/>
        </p:nvSpPr>
        <p:spPr>
          <a:xfrm>
            <a:off x="3257550" y="6212681"/>
            <a:ext cx="11772900" cy="839093"/>
          </a:xfrm>
          <a:prstGeom prst="rect">
            <a:avLst/>
          </a:prstGeom>
          <a:noFill/>
          <a:ln/>
        </p:spPr>
        <p:txBody>
          <a:bodyPr wrap="square" lIns="25400" tIns="25400" rIns="25400" bIns="25400" rtlCol="0" anchor="t">
            <a:normAutofit/>
          </a:bodyPr>
          <a:lstStyle/>
          <a:p>
            <a:pPr algn="ctr" indent="0" marL="0">
              <a:lnSpc>
                <a:spcPct val="125522"/>
              </a:lnSpc>
              <a:buNone/>
            </a:pPr>
            <a:r>
              <a:rPr lang="en-US" sz="2175" dirty="0">
                <a:solidFill>
                  <a:srgbClr val="B8C0CF"/>
                </a:solidFill>
                <a:latin typeface="Arial" pitchFamily="34" charset="0"/>
                <a:ea typeface="Arial" pitchFamily="34" charset="-122"/>
                <a:cs typeface="Arial" pitchFamily="34" charset="-120"/>
              </a:rPr>
              <a:t>Microsoft Office macros and Windows library files with shortcuts. Percentage weightings per module: information not defined in the official exam outline.</a:t>
            </a:r>
            <a:endParaRPr lang="en-US" sz="2175"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800100" y="2486025"/>
            <a:ext cx="18356580" cy="285750"/>
          </a:xfrm>
          <a:prstGeom prst="rect">
            <a:avLst/>
          </a:prstGeom>
          <a:noFill/>
          <a:ln/>
        </p:spPr>
        <p:txBody>
          <a:bodyPr wrap="square" lIns="25400" tIns="25400" rIns="25400" bIns="25400" rtlCol="0" anchor="t">
            <a:normAutofit/>
          </a:bodyPr>
          <a:lstStyle/>
          <a:p>
            <a:pPr algn="l" indent="0" marL="0">
              <a:buNone/>
            </a:pPr>
            <a:r>
              <a:rPr lang="en-US" sz="1650" b="1" spc="225" kern="0" dirty="0">
                <a:solidFill>
                  <a:srgbClr val="FF6A00"/>
                </a:solidFill>
                <a:latin typeface="Arial" pitchFamily="34" charset="0"/>
                <a:ea typeface="Arial" pitchFamily="34" charset="-122"/>
                <a:cs typeface="Arial" pitchFamily="34" charset="-120"/>
              </a:rPr>
              <a:t>KNOWLEDGE CHECK</a:t>
            </a:r>
            <a:endParaRPr lang="en-US" sz="1650" dirty="0"/>
          </a:p>
        </p:txBody>
      </p:sp>
      <p:sp>
        <p:nvSpPr>
          <p:cNvPr id="4" name="Text 2"/>
          <p:cNvSpPr/>
          <p:nvPr/>
        </p:nvSpPr>
        <p:spPr>
          <a:xfrm>
            <a:off x="800100" y="2981325"/>
            <a:ext cx="17188434" cy="876300"/>
          </a:xfrm>
          <a:prstGeom prst="rect">
            <a:avLst/>
          </a:prstGeom>
          <a:noFill/>
          <a:ln/>
        </p:spPr>
        <p:txBody>
          <a:bodyPr wrap="square" lIns="25400" tIns="25400" rIns="25400" bIns="25400" rtlCol="0" anchor="t">
            <a:normAutofit/>
          </a:bodyPr>
          <a:lstStyle/>
          <a:p>
            <a:pPr algn="l" indent="0" marL="0">
              <a:lnSpc>
                <a:spcPct val="95652"/>
              </a:lnSpc>
              <a:buNone/>
            </a:pPr>
            <a:r>
              <a:rPr lang="en-US" sz="3000" b="1" dirty="0">
                <a:solidFill>
                  <a:srgbClr val="F5F7FB"/>
                </a:solidFill>
                <a:latin typeface="Arial" pitchFamily="34" charset="0"/>
                <a:ea typeface="Arial" pitchFamily="34" charset="-122"/>
                <a:cs typeface="Arial" pitchFamily="34" charset="-120"/>
              </a:rPr>
              <a:t>Reconnaissance confirms macros are disabled by policy across the target organisation. Which Module 10 mechanism remains viable regardless?</a:t>
            </a:r>
            <a:endParaRPr lang="en-US" sz="3000" dirty="0"/>
          </a:p>
        </p:txBody>
      </p:sp>
      <p:sp>
        <p:nvSpPr>
          <p:cNvPr id="5" name="Shape 3"/>
          <p:cNvSpPr/>
          <p:nvPr/>
        </p:nvSpPr>
        <p:spPr>
          <a:xfrm>
            <a:off x="800100" y="4143375"/>
            <a:ext cx="16687800" cy="800100"/>
          </a:xfrm>
          <a:prstGeom prst="roundRect">
            <a:avLst>
              <a:gd name="adj" fmla="val 16667"/>
            </a:avLst>
          </a:prstGeom>
          <a:solidFill>
            <a:srgbClr val="FFFFFF">
              <a:alpha val="2000"/>
            </a:srgbClr>
          </a:solidFill>
          <a:ln w="9525">
            <a:solidFill>
              <a:srgbClr val="2A2F3A"/>
            </a:solidFill>
            <a:prstDash val="solid"/>
          </a:ln>
        </p:spPr>
      </p:sp>
      <p:sp>
        <p:nvSpPr>
          <p:cNvPr id="6" name="Shape 4"/>
          <p:cNvSpPr/>
          <p:nvPr/>
        </p:nvSpPr>
        <p:spPr>
          <a:xfrm>
            <a:off x="1038225" y="4324350"/>
            <a:ext cx="723900" cy="438150"/>
          </a:xfrm>
          <a:prstGeom prst="roundRect">
            <a:avLst>
              <a:gd name="adj" fmla="val 50000"/>
            </a:avLst>
          </a:prstGeom>
          <a:solidFill>
            <a:srgbClr val="FF6A00">
              <a:alpha val="15000"/>
            </a:srgbClr>
          </a:solidFill>
          <a:ln w="9525">
            <a:solidFill>
              <a:srgbClr val="FF6A00">
                <a:alpha val="35000"/>
              </a:srgbClr>
            </a:solidFill>
            <a:prstDash val="solid"/>
          </a:ln>
        </p:spPr>
      </p:sp>
      <p:sp>
        <p:nvSpPr>
          <p:cNvPr id="7" name="Text 5"/>
          <p:cNvSpPr/>
          <p:nvPr/>
        </p:nvSpPr>
        <p:spPr>
          <a:xfrm>
            <a:off x="1009650" y="4333875"/>
            <a:ext cx="781050" cy="457200"/>
          </a:xfrm>
          <a:prstGeom prst="rect">
            <a:avLst/>
          </a:prstGeom>
          <a:noFill/>
          <a:ln/>
        </p:spPr>
        <p:txBody>
          <a:bodyPr wrap="square" lIns="25400" tIns="25400" rIns="25400" bIns="25400" rtlCol="0" anchor="ctr">
            <a:normAutofit/>
          </a:bodyPr>
          <a:lstStyle/>
          <a:p>
            <a:pPr algn="ctr" indent="0" marL="0">
              <a:buNone/>
            </a:pPr>
            <a:r>
              <a:rPr lang="en-US" sz="1650" b="1" dirty="0">
                <a:solidFill>
                  <a:srgbClr val="FFD9BF"/>
                </a:solidFill>
                <a:latin typeface="Arial" pitchFamily="34" charset="0"/>
                <a:ea typeface="Arial" pitchFamily="34" charset="-122"/>
                <a:cs typeface="Arial" pitchFamily="34" charset="-120"/>
              </a:rPr>
              <a:t>A</a:t>
            </a:r>
            <a:endParaRPr lang="en-US" sz="1650" dirty="0"/>
          </a:p>
        </p:txBody>
      </p:sp>
      <p:sp>
        <p:nvSpPr>
          <p:cNvPr id="8" name="Text 6"/>
          <p:cNvSpPr/>
          <p:nvPr/>
        </p:nvSpPr>
        <p:spPr>
          <a:xfrm>
            <a:off x="1952625" y="4398169"/>
            <a:ext cx="2719075" cy="328613"/>
          </a:xfrm>
          <a:prstGeom prst="rect">
            <a:avLst/>
          </a:prstGeom>
          <a:noFill/>
          <a:ln/>
        </p:spPr>
        <p:txBody>
          <a:bodyPr wrap="square" lIns="25400" tIns="25400" rIns="25400" bIns="25400" rtlCol="0" anchor="t">
            <a:normAutofit/>
          </a:bodyPr>
          <a:lstStyle/>
          <a:p>
            <a:pPr algn="l" indent="0" marL="0">
              <a:buNone/>
            </a:pPr>
            <a:r>
              <a:rPr lang="en-US" sz="1950" dirty="0">
                <a:solidFill>
                  <a:srgbClr val="DFE3EA"/>
                </a:solidFill>
                <a:latin typeface="Arial" pitchFamily="34" charset="0"/>
                <a:ea typeface="Arial" pitchFamily="34" charset="-122"/>
                <a:cs typeface="Arial" pitchFamily="34" charset="-120"/>
              </a:rPr>
              <a:t>Microsoft Word macros</a:t>
            </a:r>
            <a:endParaRPr lang="en-US" sz="1950" dirty="0"/>
          </a:p>
        </p:txBody>
      </p:sp>
      <p:sp>
        <p:nvSpPr>
          <p:cNvPr id="9" name="Shape 7"/>
          <p:cNvSpPr/>
          <p:nvPr/>
        </p:nvSpPr>
        <p:spPr>
          <a:xfrm>
            <a:off x="800100" y="5095875"/>
            <a:ext cx="16687800" cy="800100"/>
          </a:xfrm>
          <a:prstGeom prst="roundRect">
            <a:avLst>
              <a:gd name="adj" fmla="val 16667"/>
            </a:avLst>
          </a:prstGeom>
          <a:solidFill>
            <a:srgbClr val="FF6A00">
              <a:alpha val="10000"/>
            </a:srgbClr>
          </a:solidFill>
          <a:ln w="9525">
            <a:solidFill>
              <a:srgbClr val="B85100"/>
            </a:solidFill>
            <a:prstDash val="solid"/>
          </a:ln>
        </p:spPr>
      </p:sp>
      <p:sp>
        <p:nvSpPr>
          <p:cNvPr id="10" name="Shape 8"/>
          <p:cNvSpPr/>
          <p:nvPr/>
        </p:nvSpPr>
        <p:spPr>
          <a:xfrm>
            <a:off x="1038225" y="5276850"/>
            <a:ext cx="723900" cy="438150"/>
          </a:xfrm>
          <a:prstGeom prst="roundRect">
            <a:avLst>
              <a:gd name="adj" fmla="val 50000"/>
            </a:avLst>
          </a:prstGeom>
          <a:solidFill>
            <a:srgbClr val="FF6A00">
              <a:alpha val="15000"/>
            </a:srgbClr>
          </a:solidFill>
          <a:ln w="9525">
            <a:solidFill>
              <a:srgbClr val="FF6A00">
                <a:alpha val="35000"/>
              </a:srgbClr>
            </a:solidFill>
            <a:prstDash val="solid"/>
          </a:ln>
        </p:spPr>
      </p:sp>
      <p:sp>
        <p:nvSpPr>
          <p:cNvPr id="11" name="Text 9"/>
          <p:cNvSpPr/>
          <p:nvPr/>
        </p:nvSpPr>
        <p:spPr>
          <a:xfrm>
            <a:off x="1009650" y="5286375"/>
            <a:ext cx="781050" cy="457200"/>
          </a:xfrm>
          <a:prstGeom prst="rect">
            <a:avLst/>
          </a:prstGeom>
          <a:noFill/>
          <a:ln/>
        </p:spPr>
        <p:txBody>
          <a:bodyPr wrap="square" lIns="25400" tIns="25400" rIns="25400" bIns="25400" rtlCol="0" anchor="ctr">
            <a:normAutofit/>
          </a:bodyPr>
          <a:lstStyle/>
          <a:p>
            <a:pPr algn="ctr" indent="0" marL="0">
              <a:buNone/>
            </a:pPr>
            <a:r>
              <a:rPr lang="en-US" sz="1650" b="1" dirty="0">
                <a:solidFill>
                  <a:srgbClr val="FFD9BF"/>
                </a:solidFill>
                <a:latin typeface="Arial" pitchFamily="34" charset="0"/>
                <a:ea typeface="Arial" pitchFamily="34" charset="-122"/>
                <a:cs typeface="Arial" pitchFamily="34" charset="-120"/>
              </a:rPr>
              <a:t>B</a:t>
            </a:r>
            <a:endParaRPr lang="en-US" sz="1650" dirty="0"/>
          </a:p>
        </p:txBody>
      </p:sp>
      <p:sp>
        <p:nvSpPr>
          <p:cNvPr id="12" name="Text 10"/>
          <p:cNvSpPr/>
          <p:nvPr/>
        </p:nvSpPr>
        <p:spPr>
          <a:xfrm>
            <a:off x="1952625" y="5350669"/>
            <a:ext cx="4089663" cy="328613"/>
          </a:xfrm>
          <a:prstGeom prst="rect">
            <a:avLst/>
          </a:prstGeom>
          <a:noFill/>
          <a:ln/>
        </p:spPr>
        <p:txBody>
          <a:bodyPr wrap="square" lIns="25400" tIns="25400" rIns="25400" bIns="25400" rtlCol="0" anchor="t">
            <a:normAutofit/>
          </a:bodyPr>
          <a:lstStyle/>
          <a:p>
            <a:pPr algn="l" indent="0" marL="0">
              <a:buNone/>
            </a:pPr>
            <a:r>
              <a:rPr lang="en-US" sz="1950" dirty="0">
                <a:solidFill>
                  <a:srgbClr val="DFE3EA"/>
                </a:solidFill>
                <a:latin typeface="Arial" pitchFamily="34" charset="0"/>
                <a:ea typeface="Arial" pitchFamily="34" charset="-122"/>
                <a:cs typeface="Arial" pitchFamily="34" charset="-120"/>
              </a:rPr>
              <a:t>Windows library files and shortcuts</a:t>
            </a:r>
            <a:endParaRPr lang="en-US" sz="1950" dirty="0"/>
          </a:p>
        </p:txBody>
      </p:sp>
      <p:sp>
        <p:nvSpPr>
          <p:cNvPr id="13" name="Shape 11"/>
          <p:cNvSpPr/>
          <p:nvPr/>
        </p:nvSpPr>
        <p:spPr>
          <a:xfrm>
            <a:off x="800100" y="6048375"/>
            <a:ext cx="16687800" cy="800100"/>
          </a:xfrm>
          <a:prstGeom prst="roundRect">
            <a:avLst>
              <a:gd name="adj" fmla="val 16667"/>
            </a:avLst>
          </a:prstGeom>
          <a:solidFill>
            <a:srgbClr val="FFFFFF">
              <a:alpha val="2000"/>
            </a:srgbClr>
          </a:solidFill>
          <a:ln w="9525">
            <a:solidFill>
              <a:srgbClr val="2A2F3A"/>
            </a:solidFill>
            <a:prstDash val="solid"/>
          </a:ln>
        </p:spPr>
      </p:sp>
      <p:sp>
        <p:nvSpPr>
          <p:cNvPr id="14" name="Shape 12"/>
          <p:cNvSpPr/>
          <p:nvPr/>
        </p:nvSpPr>
        <p:spPr>
          <a:xfrm>
            <a:off x="1038225" y="6229350"/>
            <a:ext cx="723900" cy="438150"/>
          </a:xfrm>
          <a:prstGeom prst="roundRect">
            <a:avLst>
              <a:gd name="adj" fmla="val 50000"/>
            </a:avLst>
          </a:prstGeom>
          <a:solidFill>
            <a:srgbClr val="FF6A00">
              <a:alpha val="15000"/>
            </a:srgbClr>
          </a:solidFill>
          <a:ln w="9525">
            <a:solidFill>
              <a:srgbClr val="FF6A00">
                <a:alpha val="35000"/>
              </a:srgbClr>
            </a:solidFill>
            <a:prstDash val="solid"/>
          </a:ln>
        </p:spPr>
      </p:sp>
      <p:sp>
        <p:nvSpPr>
          <p:cNvPr id="15" name="Text 13"/>
          <p:cNvSpPr/>
          <p:nvPr/>
        </p:nvSpPr>
        <p:spPr>
          <a:xfrm>
            <a:off x="1009650" y="6238875"/>
            <a:ext cx="781050" cy="457200"/>
          </a:xfrm>
          <a:prstGeom prst="rect">
            <a:avLst/>
          </a:prstGeom>
          <a:noFill/>
          <a:ln/>
        </p:spPr>
        <p:txBody>
          <a:bodyPr wrap="square" lIns="25400" tIns="25400" rIns="25400" bIns="25400" rtlCol="0" anchor="ctr">
            <a:normAutofit/>
          </a:bodyPr>
          <a:lstStyle/>
          <a:p>
            <a:pPr algn="ctr" indent="0" marL="0">
              <a:buNone/>
            </a:pPr>
            <a:r>
              <a:rPr lang="en-US" sz="1650" b="1" dirty="0">
                <a:solidFill>
                  <a:srgbClr val="FFD9BF"/>
                </a:solidFill>
                <a:latin typeface="Arial" pitchFamily="34" charset="0"/>
                <a:ea typeface="Arial" pitchFamily="34" charset="-122"/>
                <a:cs typeface="Arial" pitchFamily="34" charset="-120"/>
              </a:rPr>
              <a:t>C</a:t>
            </a:r>
            <a:endParaRPr lang="en-US" sz="1650" dirty="0"/>
          </a:p>
        </p:txBody>
      </p:sp>
      <p:sp>
        <p:nvSpPr>
          <p:cNvPr id="16" name="Text 14"/>
          <p:cNvSpPr/>
          <p:nvPr/>
        </p:nvSpPr>
        <p:spPr>
          <a:xfrm>
            <a:off x="1952625" y="6303169"/>
            <a:ext cx="1564176" cy="328613"/>
          </a:xfrm>
          <a:prstGeom prst="rect">
            <a:avLst/>
          </a:prstGeom>
          <a:noFill/>
          <a:ln/>
        </p:spPr>
        <p:txBody>
          <a:bodyPr wrap="square" lIns="25400" tIns="25400" rIns="25400" bIns="25400" rtlCol="0" anchor="t">
            <a:normAutofit/>
          </a:bodyPr>
          <a:lstStyle/>
          <a:p>
            <a:pPr algn="l" indent="0" marL="0">
              <a:buNone/>
            </a:pPr>
            <a:r>
              <a:rPr lang="en-US" sz="1950" dirty="0">
                <a:solidFill>
                  <a:srgbClr val="DFE3EA"/>
                </a:solidFill>
                <a:latin typeface="Arial" pitchFamily="34" charset="0"/>
                <a:ea typeface="Arial" pitchFamily="34" charset="-122"/>
                <a:cs typeface="Arial" pitchFamily="34" charset="-120"/>
              </a:rPr>
              <a:t>SQL injection</a:t>
            </a:r>
            <a:endParaRPr lang="en-US" sz="1950" dirty="0"/>
          </a:p>
        </p:txBody>
      </p:sp>
      <p:sp>
        <p:nvSpPr>
          <p:cNvPr id="17" name="Shape 15"/>
          <p:cNvSpPr/>
          <p:nvPr/>
        </p:nvSpPr>
        <p:spPr>
          <a:xfrm>
            <a:off x="800100" y="7000875"/>
            <a:ext cx="16687800" cy="800100"/>
          </a:xfrm>
          <a:prstGeom prst="roundRect">
            <a:avLst>
              <a:gd name="adj" fmla="val 16667"/>
            </a:avLst>
          </a:prstGeom>
          <a:solidFill>
            <a:srgbClr val="FFFFFF">
              <a:alpha val="2000"/>
            </a:srgbClr>
          </a:solidFill>
          <a:ln w="9525">
            <a:solidFill>
              <a:srgbClr val="2A2F3A"/>
            </a:solidFill>
            <a:prstDash val="solid"/>
          </a:ln>
        </p:spPr>
      </p:sp>
      <p:sp>
        <p:nvSpPr>
          <p:cNvPr id="18" name="Shape 16"/>
          <p:cNvSpPr/>
          <p:nvPr/>
        </p:nvSpPr>
        <p:spPr>
          <a:xfrm>
            <a:off x="1038225" y="7181850"/>
            <a:ext cx="723900" cy="438150"/>
          </a:xfrm>
          <a:prstGeom prst="roundRect">
            <a:avLst>
              <a:gd name="adj" fmla="val 50000"/>
            </a:avLst>
          </a:prstGeom>
          <a:solidFill>
            <a:srgbClr val="FF6A00">
              <a:alpha val="15000"/>
            </a:srgbClr>
          </a:solidFill>
          <a:ln w="9525">
            <a:solidFill>
              <a:srgbClr val="FF6A00">
                <a:alpha val="35000"/>
              </a:srgbClr>
            </a:solidFill>
            <a:prstDash val="solid"/>
          </a:ln>
        </p:spPr>
      </p:sp>
      <p:sp>
        <p:nvSpPr>
          <p:cNvPr id="19" name="Text 17"/>
          <p:cNvSpPr/>
          <p:nvPr/>
        </p:nvSpPr>
        <p:spPr>
          <a:xfrm>
            <a:off x="1009650" y="7191375"/>
            <a:ext cx="781050" cy="457200"/>
          </a:xfrm>
          <a:prstGeom prst="rect">
            <a:avLst/>
          </a:prstGeom>
          <a:noFill/>
          <a:ln/>
        </p:spPr>
        <p:txBody>
          <a:bodyPr wrap="square" lIns="25400" tIns="25400" rIns="25400" bIns="25400" rtlCol="0" anchor="ctr">
            <a:normAutofit/>
          </a:bodyPr>
          <a:lstStyle/>
          <a:p>
            <a:pPr algn="ctr" indent="0" marL="0">
              <a:buNone/>
            </a:pPr>
            <a:r>
              <a:rPr lang="en-US" sz="1650" b="1" dirty="0">
                <a:solidFill>
                  <a:srgbClr val="FFD9BF"/>
                </a:solidFill>
                <a:latin typeface="Arial" pitchFamily="34" charset="0"/>
                <a:ea typeface="Arial" pitchFamily="34" charset="-122"/>
                <a:cs typeface="Arial" pitchFamily="34" charset="-120"/>
              </a:rPr>
              <a:t>D</a:t>
            </a:r>
            <a:endParaRPr lang="en-US" sz="1650" dirty="0"/>
          </a:p>
        </p:txBody>
      </p:sp>
      <p:sp>
        <p:nvSpPr>
          <p:cNvPr id="20" name="Text 18"/>
          <p:cNvSpPr/>
          <p:nvPr/>
        </p:nvSpPr>
        <p:spPr>
          <a:xfrm>
            <a:off x="1952625" y="7255669"/>
            <a:ext cx="2133645" cy="328613"/>
          </a:xfrm>
          <a:prstGeom prst="rect">
            <a:avLst/>
          </a:prstGeom>
          <a:noFill/>
          <a:ln/>
        </p:spPr>
        <p:txBody>
          <a:bodyPr wrap="square" lIns="25400" tIns="25400" rIns="25400" bIns="25400" rtlCol="0" anchor="t">
            <a:normAutofit/>
          </a:bodyPr>
          <a:lstStyle/>
          <a:p>
            <a:pPr algn="l" indent="0" marL="0">
              <a:buNone/>
            </a:pPr>
            <a:r>
              <a:rPr lang="en-US" sz="1950" dirty="0">
                <a:solidFill>
                  <a:srgbClr val="DFE3EA"/>
                </a:solidFill>
                <a:latin typeface="Arial" pitchFamily="34" charset="0"/>
                <a:ea typeface="Arial" pitchFamily="34" charset="-122"/>
                <a:cs typeface="Arial" pitchFamily="34" charset="-120"/>
              </a:rPr>
              <a:t>Directory traversal</a:t>
            </a:r>
            <a:endParaRPr lang="en-US" sz="19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800100" y="2685604"/>
            <a:ext cx="18356580" cy="285750"/>
          </a:xfrm>
          <a:prstGeom prst="rect">
            <a:avLst/>
          </a:prstGeom>
          <a:noFill/>
          <a:ln/>
        </p:spPr>
        <p:txBody>
          <a:bodyPr wrap="square" lIns="25400" tIns="25400" rIns="25400" bIns="25400" rtlCol="0" anchor="t">
            <a:normAutofit/>
          </a:bodyPr>
          <a:lstStyle/>
          <a:p>
            <a:pPr algn="l" indent="0" marL="0">
              <a:buNone/>
            </a:pPr>
            <a:r>
              <a:rPr lang="en-US" sz="1650" b="1" spc="225" kern="0" dirty="0">
                <a:solidFill>
                  <a:srgbClr val="FF6A00"/>
                </a:solidFill>
                <a:latin typeface="Arial" pitchFamily="34" charset="0"/>
                <a:ea typeface="Arial" pitchFamily="34" charset="-122"/>
                <a:cs typeface="Arial" pitchFamily="34" charset="-120"/>
              </a:rPr>
              <a:t>MODULE SUMMARY</a:t>
            </a:r>
            <a:endParaRPr lang="en-US" sz="1650" dirty="0"/>
          </a:p>
        </p:txBody>
      </p:sp>
      <p:sp>
        <p:nvSpPr>
          <p:cNvPr id="4" name="Text 2"/>
          <p:cNvSpPr/>
          <p:nvPr/>
        </p:nvSpPr>
        <p:spPr>
          <a:xfrm>
            <a:off x="800100" y="3180904"/>
            <a:ext cx="18356580" cy="457200"/>
          </a:xfrm>
          <a:prstGeom prst="rect">
            <a:avLst/>
          </a:prstGeom>
          <a:noFill/>
          <a:ln/>
        </p:spPr>
        <p:txBody>
          <a:bodyPr wrap="square" lIns="25400" tIns="25400" rIns="25400" bIns="25400" rtlCol="0" anchor="t">
            <a:normAutofit/>
          </a:bodyPr>
          <a:lstStyle/>
          <a:p>
            <a:pPr algn="l" indent="0" marL="0">
              <a:lnSpc>
                <a:spcPct val="95652"/>
              </a:lnSpc>
              <a:buNone/>
            </a:pPr>
            <a:r>
              <a:rPr lang="en-US" sz="3000" b="1" dirty="0">
                <a:solidFill>
                  <a:srgbClr val="F5F7FB"/>
                </a:solidFill>
                <a:latin typeface="Arial" pitchFamily="34" charset="0"/>
                <a:ea typeface="Arial" pitchFamily="34" charset="-122"/>
                <a:cs typeface="Arial" pitchFamily="34" charset="-120"/>
              </a:rPr>
              <a:t>Module 10 in three lines</a:t>
            </a:r>
            <a:endParaRPr lang="en-US" sz="3000" dirty="0"/>
          </a:p>
        </p:txBody>
      </p:sp>
      <p:sp>
        <p:nvSpPr>
          <p:cNvPr id="5" name="Shape 3"/>
          <p:cNvSpPr/>
          <p:nvPr/>
        </p:nvSpPr>
        <p:spPr>
          <a:xfrm>
            <a:off x="800100" y="3847654"/>
            <a:ext cx="16687800" cy="800100"/>
          </a:xfrm>
          <a:prstGeom prst="roundRect">
            <a:avLst>
              <a:gd name="adj" fmla="val 16667"/>
            </a:avLst>
          </a:prstGeom>
          <a:solidFill>
            <a:srgbClr val="FFFFFF">
              <a:alpha val="2000"/>
            </a:srgbClr>
          </a:solidFill>
          <a:ln w="9525">
            <a:solidFill>
              <a:srgbClr val="2A2F3A"/>
            </a:solidFill>
            <a:prstDash val="solid"/>
          </a:ln>
        </p:spPr>
      </p:sp>
      <p:sp>
        <p:nvSpPr>
          <p:cNvPr id="6" name="Shape 4"/>
          <p:cNvSpPr/>
          <p:nvPr/>
        </p:nvSpPr>
        <p:spPr>
          <a:xfrm>
            <a:off x="1038225" y="4028629"/>
            <a:ext cx="723900" cy="438150"/>
          </a:xfrm>
          <a:prstGeom prst="roundRect">
            <a:avLst>
              <a:gd name="adj" fmla="val 50000"/>
            </a:avLst>
          </a:prstGeom>
          <a:solidFill>
            <a:srgbClr val="FF6A00">
              <a:alpha val="15000"/>
            </a:srgbClr>
          </a:solidFill>
          <a:ln w="9525">
            <a:solidFill>
              <a:srgbClr val="FF6A00">
                <a:alpha val="35000"/>
              </a:srgbClr>
            </a:solidFill>
            <a:prstDash val="solid"/>
          </a:ln>
        </p:spPr>
      </p:sp>
      <p:sp>
        <p:nvSpPr>
          <p:cNvPr id="7" name="Text 5"/>
          <p:cNvSpPr/>
          <p:nvPr/>
        </p:nvSpPr>
        <p:spPr>
          <a:xfrm>
            <a:off x="1009650" y="4038154"/>
            <a:ext cx="781050" cy="457200"/>
          </a:xfrm>
          <a:prstGeom prst="rect">
            <a:avLst/>
          </a:prstGeom>
          <a:noFill/>
          <a:ln/>
        </p:spPr>
        <p:txBody>
          <a:bodyPr wrap="square" lIns="25400" tIns="25400" rIns="25400" bIns="25400" rtlCol="0" anchor="ctr">
            <a:normAutofit/>
          </a:bodyPr>
          <a:lstStyle/>
          <a:p>
            <a:pPr algn="ctr" indent="0" marL="0">
              <a:buNone/>
            </a:pPr>
            <a:r>
              <a:rPr lang="en-US" sz="1650" b="1" dirty="0">
                <a:solidFill>
                  <a:srgbClr val="FFD9BF"/>
                </a:solidFill>
                <a:latin typeface="Arial" pitchFamily="34" charset="0"/>
                <a:ea typeface="Arial" pitchFamily="34" charset="-122"/>
                <a:cs typeface="Arial" pitchFamily="34" charset="-120"/>
              </a:rPr>
              <a:t>10.1</a:t>
            </a:r>
            <a:endParaRPr lang="en-US" sz="1650" dirty="0"/>
          </a:p>
        </p:txBody>
      </p:sp>
      <p:sp>
        <p:nvSpPr>
          <p:cNvPr id="8" name="Text 6"/>
          <p:cNvSpPr/>
          <p:nvPr/>
        </p:nvSpPr>
        <p:spPr>
          <a:xfrm>
            <a:off x="1952625" y="4102447"/>
            <a:ext cx="10865004" cy="328613"/>
          </a:xfrm>
          <a:prstGeom prst="rect">
            <a:avLst/>
          </a:prstGeom>
          <a:noFill/>
          <a:ln/>
        </p:spPr>
        <p:txBody>
          <a:bodyPr wrap="square" lIns="25400" tIns="25400" rIns="25400" bIns="25400" rtlCol="0" anchor="t">
            <a:normAutofit/>
          </a:bodyPr>
          <a:lstStyle/>
          <a:p>
            <a:pPr algn="l" indent="0" marL="0">
              <a:buNone/>
            </a:pPr>
            <a:r>
              <a:rPr lang="en-US" sz="1950" dirty="0">
                <a:solidFill>
                  <a:srgbClr val="DFE3EA"/>
                </a:solidFill>
                <a:latin typeface="Arial" pitchFamily="34" charset="0"/>
                <a:ea typeface="Arial" pitchFamily="34" charset="-122"/>
                <a:cs typeface="Arial" pitchFamily="34" charset="-120"/>
              </a:rPr>
              <a:t>Gather information on the target person and organisation, then fingerprint their client software</a:t>
            </a:r>
            <a:endParaRPr lang="en-US" sz="1950" dirty="0"/>
          </a:p>
        </p:txBody>
      </p:sp>
      <p:sp>
        <p:nvSpPr>
          <p:cNvPr id="9" name="Shape 7"/>
          <p:cNvSpPr/>
          <p:nvPr/>
        </p:nvSpPr>
        <p:spPr>
          <a:xfrm>
            <a:off x="800100" y="4800154"/>
            <a:ext cx="16687800" cy="800100"/>
          </a:xfrm>
          <a:prstGeom prst="roundRect">
            <a:avLst>
              <a:gd name="adj" fmla="val 16667"/>
            </a:avLst>
          </a:prstGeom>
          <a:solidFill>
            <a:srgbClr val="FFFFFF">
              <a:alpha val="2000"/>
            </a:srgbClr>
          </a:solidFill>
          <a:ln w="9525">
            <a:solidFill>
              <a:srgbClr val="2A2F3A"/>
            </a:solidFill>
            <a:prstDash val="solid"/>
          </a:ln>
        </p:spPr>
      </p:sp>
      <p:sp>
        <p:nvSpPr>
          <p:cNvPr id="10" name="Shape 8"/>
          <p:cNvSpPr/>
          <p:nvPr/>
        </p:nvSpPr>
        <p:spPr>
          <a:xfrm>
            <a:off x="1038225" y="4981129"/>
            <a:ext cx="723900" cy="438150"/>
          </a:xfrm>
          <a:prstGeom prst="roundRect">
            <a:avLst>
              <a:gd name="adj" fmla="val 50000"/>
            </a:avLst>
          </a:prstGeom>
          <a:solidFill>
            <a:srgbClr val="FF6A00">
              <a:alpha val="15000"/>
            </a:srgbClr>
          </a:solidFill>
          <a:ln w="9525">
            <a:solidFill>
              <a:srgbClr val="FF6A00">
                <a:alpha val="35000"/>
              </a:srgbClr>
            </a:solidFill>
            <a:prstDash val="solid"/>
          </a:ln>
        </p:spPr>
      </p:sp>
      <p:sp>
        <p:nvSpPr>
          <p:cNvPr id="11" name="Text 9"/>
          <p:cNvSpPr/>
          <p:nvPr/>
        </p:nvSpPr>
        <p:spPr>
          <a:xfrm>
            <a:off x="1009650" y="4990654"/>
            <a:ext cx="781050" cy="457200"/>
          </a:xfrm>
          <a:prstGeom prst="rect">
            <a:avLst/>
          </a:prstGeom>
          <a:noFill/>
          <a:ln/>
        </p:spPr>
        <p:txBody>
          <a:bodyPr wrap="square" lIns="25400" tIns="25400" rIns="25400" bIns="25400" rtlCol="0" anchor="ctr">
            <a:normAutofit/>
          </a:bodyPr>
          <a:lstStyle/>
          <a:p>
            <a:pPr algn="ctr" indent="0" marL="0">
              <a:buNone/>
            </a:pPr>
            <a:r>
              <a:rPr lang="en-US" sz="1650" b="1" dirty="0">
                <a:solidFill>
                  <a:srgbClr val="FFD9BF"/>
                </a:solidFill>
                <a:latin typeface="Arial" pitchFamily="34" charset="0"/>
                <a:ea typeface="Arial" pitchFamily="34" charset="-122"/>
                <a:cs typeface="Arial" pitchFamily="34" charset="-120"/>
              </a:rPr>
              <a:t>10.2</a:t>
            </a:r>
            <a:endParaRPr lang="en-US" sz="1650" dirty="0"/>
          </a:p>
        </p:txBody>
      </p:sp>
      <p:sp>
        <p:nvSpPr>
          <p:cNvPr id="12" name="Text 10"/>
          <p:cNvSpPr/>
          <p:nvPr/>
        </p:nvSpPr>
        <p:spPr>
          <a:xfrm>
            <a:off x="1952625" y="5054947"/>
            <a:ext cx="10628278" cy="328613"/>
          </a:xfrm>
          <a:prstGeom prst="rect">
            <a:avLst/>
          </a:prstGeom>
          <a:noFill/>
          <a:ln/>
        </p:spPr>
        <p:txBody>
          <a:bodyPr wrap="square" lIns="25400" tIns="25400" rIns="25400" bIns="25400" rtlCol="0" anchor="t">
            <a:normAutofit/>
          </a:bodyPr>
          <a:lstStyle/>
          <a:p>
            <a:pPr algn="l" indent="0" marL="0">
              <a:buNone/>
            </a:pPr>
            <a:r>
              <a:rPr lang="en-US" sz="1950" dirty="0">
                <a:solidFill>
                  <a:srgbClr val="DFE3EA"/>
                </a:solidFill>
                <a:latin typeface="Arial" pitchFamily="34" charset="0"/>
                <a:ea typeface="Arial" pitchFamily="34" charset="-122"/>
                <a:cs typeface="Arial" pitchFamily="34" charset="-120"/>
              </a:rPr>
              <a:t>Understand Office attack variations, install Office to test against, and leverage Word macros</a:t>
            </a:r>
            <a:endParaRPr lang="en-US" sz="1950" dirty="0"/>
          </a:p>
        </p:txBody>
      </p:sp>
      <p:sp>
        <p:nvSpPr>
          <p:cNvPr id="13" name="Shape 11"/>
          <p:cNvSpPr/>
          <p:nvPr/>
        </p:nvSpPr>
        <p:spPr>
          <a:xfrm>
            <a:off x="800100" y="5752654"/>
            <a:ext cx="16687800" cy="800100"/>
          </a:xfrm>
          <a:prstGeom prst="roundRect">
            <a:avLst>
              <a:gd name="adj" fmla="val 16667"/>
            </a:avLst>
          </a:prstGeom>
          <a:solidFill>
            <a:srgbClr val="FFFFFF">
              <a:alpha val="2000"/>
            </a:srgbClr>
          </a:solidFill>
          <a:ln w="9525">
            <a:solidFill>
              <a:srgbClr val="2A2F3A"/>
            </a:solidFill>
            <a:prstDash val="solid"/>
          </a:ln>
        </p:spPr>
      </p:sp>
      <p:sp>
        <p:nvSpPr>
          <p:cNvPr id="14" name="Shape 12"/>
          <p:cNvSpPr/>
          <p:nvPr/>
        </p:nvSpPr>
        <p:spPr>
          <a:xfrm>
            <a:off x="1038225" y="5933629"/>
            <a:ext cx="723900" cy="438150"/>
          </a:xfrm>
          <a:prstGeom prst="roundRect">
            <a:avLst>
              <a:gd name="adj" fmla="val 50000"/>
            </a:avLst>
          </a:prstGeom>
          <a:solidFill>
            <a:srgbClr val="FF6A00">
              <a:alpha val="15000"/>
            </a:srgbClr>
          </a:solidFill>
          <a:ln w="9525">
            <a:solidFill>
              <a:srgbClr val="FF6A00">
                <a:alpha val="35000"/>
              </a:srgbClr>
            </a:solidFill>
            <a:prstDash val="solid"/>
          </a:ln>
        </p:spPr>
      </p:sp>
      <p:sp>
        <p:nvSpPr>
          <p:cNvPr id="15" name="Text 13"/>
          <p:cNvSpPr/>
          <p:nvPr/>
        </p:nvSpPr>
        <p:spPr>
          <a:xfrm>
            <a:off x="1009650" y="5943154"/>
            <a:ext cx="781050" cy="457200"/>
          </a:xfrm>
          <a:prstGeom prst="rect">
            <a:avLst/>
          </a:prstGeom>
          <a:noFill/>
          <a:ln/>
        </p:spPr>
        <p:txBody>
          <a:bodyPr wrap="square" lIns="25400" tIns="25400" rIns="25400" bIns="25400" rtlCol="0" anchor="ctr">
            <a:normAutofit/>
          </a:bodyPr>
          <a:lstStyle/>
          <a:p>
            <a:pPr algn="ctr" indent="0" marL="0">
              <a:buNone/>
            </a:pPr>
            <a:r>
              <a:rPr lang="en-US" sz="1650" b="1" dirty="0">
                <a:solidFill>
                  <a:srgbClr val="FFD9BF"/>
                </a:solidFill>
                <a:latin typeface="Arial" pitchFamily="34" charset="0"/>
                <a:ea typeface="Arial" pitchFamily="34" charset="-122"/>
                <a:cs typeface="Arial" pitchFamily="34" charset="-120"/>
              </a:rPr>
              <a:t>10.3</a:t>
            </a:r>
            <a:endParaRPr lang="en-US" sz="1650" dirty="0"/>
          </a:p>
        </p:txBody>
      </p:sp>
      <p:sp>
        <p:nvSpPr>
          <p:cNvPr id="16" name="Text 14"/>
          <p:cNvSpPr/>
          <p:nvPr/>
        </p:nvSpPr>
        <p:spPr>
          <a:xfrm>
            <a:off x="1952625" y="6007447"/>
            <a:ext cx="12276028" cy="328613"/>
          </a:xfrm>
          <a:prstGeom prst="rect">
            <a:avLst/>
          </a:prstGeom>
          <a:noFill/>
          <a:ln/>
        </p:spPr>
        <p:txBody>
          <a:bodyPr wrap="square" lIns="25400" tIns="25400" rIns="25400" bIns="25400" rtlCol="0" anchor="t">
            <a:normAutofit/>
          </a:bodyPr>
          <a:lstStyle/>
          <a:p>
            <a:pPr algn="l" indent="0" marL="0">
              <a:buNone/>
            </a:pPr>
            <a:r>
              <a:rPr lang="en-US" sz="1950" dirty="0">
                <a:solidFill>
                  <a:srgbClr val="DFE3EA"/>
                </a:solidFill>
                <a:latin typeface="Arial" pitchFamily="34" charset="0"/>
                <a:ea typeface="Arial" pitchFamily="34" charset="-122"/>
                <a:cs typeface="Arial" pitchFamily="34" charset="-120"/>
              </a:rPr>
              <a:t>Prepare a Windows library file and leverage a crafted shortcut for code execution without a macro warning</a:t>
            </a:r>
            <a:endParaRPr lang="en-US" sz="1950" dirty="0"/>
          </a:p>
        </p:txBody>
      </p:sp>
      <p:sp>
        <p:nvSpPr>
          <p:cNvPr id="17" name="Text 15"/>
          <p:cNvSpPr/>
          <p:nvPr/>
        </p:nvSpPr>
        <p:spPr>
          <a:xfrm>
            <a:off x="800100" y="6800404"/>
            <a:ext cx="15304770" cy="839093"/>
          </a:xfrm>
          <a:prstGeom prst="rect">
            <a:avLst/>
          </a:prstGeom>
          <a:noFill/>
          <a:ln/>
        </p:spPr>
        <p:txBody>
          <a:bodyPr wrap="square" lIns="25400" tIns="25400" rIns="25400" bIns="25400" rtlCol="0" anchor="t">
            <a:normAutofit/>
          </a:bodyPr>
          <a:lstStyle/>
          <a:p>
            <a:pPr algn="l" indent="0" marL="0">
              <a:lnSpc>
                <a:spcPct val="125522"/>
              </a:lnSpc>
              <a:buNone/>
            </a:pPr>
            <a:r>
              <a:rPr lang="en-US" sz="2175" dirty="0">
                <a:solidFill>
                  <a:srgbClr val="B8C0CF"/>
                </a:solidFill>
                <a:latin typeface="Arial" pitchFamily="34" charset="0"/>
                <a:ea typeface="Arial" pitchFamily="34" charset="-122"/>
                <a:cs typeface="Arial" pitchFamily="34" charset="-120"/>
              </a:rPr>
              <a:t>This is the first module to target the person rather than a service. Module 23 returns to this exact technique to close out the course's final scenario.</a:t>
            </a:r>
            <a:endParaRPr lang="en-US" sz="2175"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800100" y="609600"/>
            <a:ext cx="18356580" cy="285750"/>
          </a:xfrm>
          <a:prstGeom prst="rect">
            <a:avLst/>
          </a:prstGeom>
          <a:noFill/>
          <a:ln/>
        </p:spPr>
        <p:txBody>
          <a:bodyPr wrap="square" lIns="25400" tIns="25400" rIns="25400" bIns="25400" rtlCol="0" anchor="t">
            <a:normAutofit/>
          </a:bodyPr>
          <a:lstStyle/>
          <a:p>
            <a:pPr algn="l" indent="0" marL="0">
              <a:buNone/>
            </a:pPr>
            <a:r>
              <a:rPr lang="en-US" sz="1650" b="1" spc="225" kern="0" dirty="0">
                <a:solidFill>
                  <a:srgbClr val="FF6A00"/>
                </a:solidFill>
                <a:latin typeface="Arial" pitchFamily="34" charset="0"/>
                <a:ea typeface="Arial" pitchFamily="34" charset="-122"/>
                <a:cs typeface="Arial" pitchFamily="34" charset="-120"/>
              </a:rPr>
              <a:t>NEXT STEPS</a:t>
            </a:r>
            <a:endParaRPr lang="en-US" sz="1650" dirty="0"/>
          </a:p>
        </p:txBody>
      </p:sp>
      <p:sp>
        <p:nvSpPr>
          <p:cNvPr id="4" name="Text 2"/>
          <p:cNvSpPr/>
          <p:nvPr/>
        </p:nvSpPr>
        <p:spPr>
          <a:xfrm>
            <a:off x="800100" y="1143000"/>
            <a:ext cx="18356580" cy="738188"/>
          </a:xfrm>
          <a:prstGeom prst="rect">
            <a:avLst/>
          </a:prstGeom>
          <a:noFill/>
          <a:ln/>
        </p:spPr>
        <p:txBody>
          <a:bodyPr wrap="square" lIns="25400" tIns="25400" rIns="25400" bIns="25400" rtlCol="0" anchor="t">
            <a:normAutofit/>
          </a:bodyPr>
          <a:lstStyle/>
          <a:p>
            <a:pPr algn="l" indent="0" marL="0">
              <a:lnSpc>
                <a:spcPct val="90741"/>
              </a:lnSpc>
              <a:buNone/>
            </a:pPr>
            <a:r>
              <a:rPr lang="en-US" sz="5250" b="1" spc="-37" kern="0" dirty="0">
                <a:solidFill>
                  <a:srgbClr val="F5F7FB"/>
                </a:solidFill>
                <a:latin typeface="Arial" pitchFamily="34" charset="0"/>
                <a:ea typeface="Arial" pitchFamily="34" charset="-122"/>
                <a:cs typeface="Arial" pitchFamily="34" charset="-120"/>
              </a:rPr>
              <a:t>Module 11: Locating Public Exploits</a:t>
            </a:r>
            <a:endParaRPr lang="en-US" sz="5250" dirty="0"/>
          </a:p>
        </p:txBody>
      </p:sp>
      <p:sp>
        <p:nvSpPr>
          <p:cNvPr id="5" name="Shape 3"/>
          <p:cNvSpPr/>
          <p:nvPr/>
        </p:nvSpPr>
        <p:spPr>
          <a:xfrm>
            <a:off x="800100" y="2128838"/>
            <a:ext cx="5435575" cy="2128838"/>
          </a:xfrm>
          <a:prstGeom prst="roundRect">
            <a:avLst>
              <a:gd name="adj" fmla="val 7159"/>
            </a:avLst>
          </a:prstGeom>
          <a:solidFill>
            <a:srgbClr val="FFFFFF">
              <a:alpha val="2000"/>
            </a:srgbClr>
          </a:solidFill>
          <a:ln w="9525">
            <a:solidFill>
              <a:srgbClr val="2A2F3A"/>
            </a:solidFill>
            <a:prstDash val="solid"/>
          </a:ln>
        </p:spPr>
      </p:sp>
      <p:sp>
        <p:nvSpPr>
          <p:cNvPr id="6" name="Text 4"/>
          <p:cNvSpPr/>
          <p:nvPr/>
        </p:nvSpPr>
        <p:spPr>
          <a:xfrm>
            <a:off x="1038225" y="2366963"/>
            <a:ext cx="5455258"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COMING NEXT</a:t>
            </a:r>
            <a:endParaRPr lang="en-US" sz="1500" dirty="0"/>
          </a:p>
        </p:txBody>
      </p:sp>
      <p:sp>
        <p:nvSpPr>
          <p:cNvPr id="7" name="Text 5"/>
          <p:cNvSpPr/>
          <p:nvPr/>
        </p:nvSpPr>
        <p:spPr>
          <a:xfrm>
            <a:off x="1038225" y="2686050"/>
            <a:ext cx="5108105" cy="1038225"/>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The risk of executing untrusted exploit code, online and offline exploit resources, and a full workflow from enumeration to a limited shell.</a:t>
            </a:r>
            <a:endParaRPr lang="en-US" sz="1875" dirty="0"/>
          </a:p>
        </p:txBody>
      </p:sp>
      <p:sp>
        <p:nvSpPr>
          <p:cNvPr id="8" name="Shape 6"/>
          <p:cNvSpPr/>
          <p:nvPr/>
        </p:nvSpPr>
        <p:spPr>
          <a:xfrm>
            <a:off x="6426175" y="2128838"/>
            <a:ext cx="5435575" cy="2128838"/>
          </a:xfrm>
          <a:prstGeom prst="roundRect">
            <a:avLst>
              <a:gd name="adj" fmla="val 7159"/>
            </a:avLst>
          </a:prstGeom>
          <a:solidFill>
            <a:srgbClr val="FFFFFF">
              <a:alpha val="2000"/>
            </a:srgbClr>
          </a:solidFill>
          <a:ln w="9525">
            <a:solidFill>
              <a:srgbClr val="2A2F3A"/>
            </a:solidFill>
            <a:prstDash val="solid"/>
          </a:ln>
        </p:spPr>
      </p:sp>
      <p:sp>
        <p:nvSpPr>
          <p:cNvPr id="9" name="Text 7"/>
          <p:cNvSpPr/>
          <p:nvPr/>
        </p:nvSpPr>
        <p:spPr>
          <a:xfrm>
            <a:off x="6664300" y="2366963"/>
            <a:ext cx="5455258"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BEFORE THEN</a:t>
            </a:r>
            <a:endParaRPr lang="en-US" sz="1500" dirty="0"/>
          </a:p>
        </p:txBody>
      </p:sp>
      <p:sp>
        <p:nvSpPr>
          <p:cNvPr id="10" name="Text 8"/>
          <p:cNvSpPr/>
          <p:nvPr/>
        </p:nvSpPr>
        <p:spPr>
          <a:xfrm>
            <a:off x="6664300" y="2686050"/>
            <a:ext cx="5108105" cy="1038225"/>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Be able to state which of the two named mechanisms in this module applies when macros are disabled by policy.</a:t>
            </a:r>
            <a:endParaRPr lang="en-US" sz="1875" dirty="0"/>
          </a:p>
        </p:txBody>
      </p:sp>
      <p:sp>
        <p:nvSpPr>
          <p:cNvPr id="11" name="Shape 9"/>
          <p:cNvSpPr/>
          <p:nvPr/>
        </p:nvSpPr>
        <p:spPr>
          <a:xfrm>
            <a:off x="12052250" y="2128838"/>
            <a:ext cx="5435650" cy="2128838"/>
          </a:xfrm>
          <a:prstGeom prst="roundRect">
            <a:avLst>
              <a:gd name="adj" fmla="val 7159"/>
            </a:avLst>
          </a:prstGeom>
          <a:solidFill>
            <a:srgbClr val="FFFFFF">
              <a:alpha val="2000"/>
            </a:srgbClr>
          </a:solidFill>
          <a:ln w="9525">
            <a:solidFill>
              <a:srgbClr val="2A2F3A"/>
            </a:solidFill>
            <a:prstDash val="solid"/>
          </a:ln>
        </p:spPr>
      </p:sp>
      <p:sp>
        <p:nvSpPr>
          <p:cNvPr id="12" name="Text 10"/>
          <p:cNvSpPr/>
          <p:nvPr/>
        </p:nvSpPr>
        <p:spPr>
          <a:xfrm>
            <a:off x="12290375" y="2366963"/>
            <a:ext cx="5455340"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CARRY FORWARD</a:t>
            </a:r>
            <a:endParaRPr lang="en-US" sz="1500" dirty="0"/>
          </a:p>
        </p:txBody>
      </p:sp>
      <p:sp>
        <p:nvSpPr>
          <p:cNvPr id="13" name="Text 11"/>
          <p:cNvSpPr/>
          <p:nvPr/>
        </p:nvSpPr>
        <p:spPr>
          <a:xfrm>
            <a:off x="12290375" y="2686050"/>
            <a:ext cx="5108182" cy="1371600"/>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The reconnaissance-first discipline from Objective 10.1. Module 11 applies the same discipline to choosing an exploit, not just a pretext.</a:t>
            </a:r>
            <a:endParaRPr lang="en-US" sz="1875" dirty="0"/>
          </a:p>
        </p:txBody>
      </p:sp>
      <p:sp>
        <p:nvSpPr>
          <p:cNvPr id="14" name="Shape 12"/>
          <p:cNvSpPr/>
          <p:nvPr/>
        </p:nvSpPr>
        <p:spPr>
          <a:xfrm>
            <a:off x="800100" y="9210675"/>
            <a:ext cx="16687800" cy="9525"/>
          </a:xfrm>
          <a:prstGeom prst="rect">
            <a:avLst/>
          </a:prstGeom>
          <a:solidFill>
            <a:srgbClr val="2A2F3A"/>
          </a:solidFill>
          <a:ln/>
        </p:spPr>
      </p:sp>
      <p:sp>
        <p:nvSpPr>
          <p:cNvPr id="15" name="Text 13"/>
          <p:cNvSpPr/>
          <p:nvPr/>
        </p:nvSpPr>
        <p:spPr>
          <a:xfrm>
            <a:off x="800100" y="9432131"/>
            <a:ext cx="1796482" cy="261937"/>
          </a:xfrm>
          <a:prstGeom prst="rect">
            <a:avLst/>
          </a:prstGeom>
          <a:noFill/>
          <a:ln/>
        </p:spPr>
        <p:txBody>
          <a:bodyPr wrap="square" lIns="25400" tIns="25400" rIns="25400" bIns="25400" rtlCol="0" anchor="t">
            <a:normAutofit/>
          </a:bodyPr>
          <a:lstStyle/>
          <a:p>
            <a:pPr algn="l" indent="0" marL="0">
              <a:buNone/>
            </a:pPr>
            <a:r>
              <a:rPr lang="en-US" sz="1500" dirty="0">
                <a:solidFill>
                  <a:srgbClr val="8891A1"/>
                </a:solidFill>
                <a:latin typeface="Arial" pitchFamily="34" charset="0"/>
                <a:ea typeface="Arial" pitchFamily="34" charset="-122"/>
                <a:cs typeface="Arial" pitchFamily="34" charset="-120"/>
              </a:rPr>
              <a:t>My Cyber Academy</a:t>
            </a:r>
            <a:endParaRPr lang="en-US" sz="1500" dirty="0"/>
          </a:p>
        </p:txBody>
      </p:sp>
      <p:sp>
        <p:nvSpPr>
          <p:cNvPr id="16" name="Text 14"/>
          <p:cNvSpPr/>
          <p:nvPr/>
        </p:nvSpPr>
        <p:spPr>
          <a:xfrm>
            <a:off x="16763181" y="9410700"/>
            <a:ext cx="800919" cy="304800"/>
          </a:xfrm>
          <a:prstGeom prst="rect">
            <a:avLst/>
          </a:prstGeom>
          <a:noFill/>
          <a:ln/>
        </p:spPr>
        <p:txBody>
          <a:bodyPr wrap="square" lIns="25400" tIns="25400" rIns="25400" bIns="25400" rtlCol="0" anchor="t">
            <a:normAutofit/>
          </a:bodyPr>
          <a:lstStyle/>
          <a:p>
            <a:pPr algn="l" indent="0" marL="0">
              <a:buNone/>
            </a:pPr>
            <a:r>
              <a:rPr lang="en-US" sz="1800" b="1" spc="150" kern="0" dirty="0">
                <a:solidFill>
                  <a:srgbClr val="FF6A00"/>
                </a:solidFill>
                <a:latin typeface="Arial" pitchFamily="34" charset="0"/>
                <a:ea typeface="Arial" pitchFamily="34" charset="-122"/>
                <a:cs typeface="Arial" pitchFamily="34" charset="-120"/>
              </a:rPr>
              <a:t>OS</a:t>
            </a:r>
            <a:pPr algn="l" indent="0" marL="0">
              <a:buNone/>
            </a:pPr>
            <a:r>
              <a:rPr lang="en-US" sz="1800" b="1" spc="150" kern="0" dirty="0">
                <a:solidFill>
                  <a:srgbClr val="8891A1"/>
                </a:solidFill>
                <a:latin typeface="Arial" pitchFamily="34" charset="0"/>
                <a:ea typeface="Arial" pitchFamily="34" charset="-122"/>
                <a:cs typeface="Arial" pitchFamily="34" charset="-120"/>
              </a:rPr>
              <a:t>CP</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28</Slides>
  <Notes>28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28</vt:i4>
      </vt:variant>
    </vt:vector>
  </HeadingPairs>
  <TitlesOfParts>
    <vt:vector size="3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2026-08-01T09:59:43Z</dcterms:created>
  <dcterms:modified xsi:type="dcterms:W3CDTF">2026-08-01T09:59:43Z</dcterms:modified>
</cp:coreProperties>
</file>