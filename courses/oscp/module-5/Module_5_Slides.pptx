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The first module with real offensive technique. Set the tone shift explicitly — the orientation block is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units. Note the lifecycle unit is short but load-bearing — everything after it assumes the stages it defines.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of 24. The orientation block is complete; this is the start of the technical spine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Every technique in the remaining 19 modules assumes a target was already enumerated correctly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5.1. Three objectives establishing the frame the rest of the course operates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5.1, task 1. The stages of a penetration test. Keep this generic — the syllabus names stages, not a specific named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5.1, task 2. Information gathering is not a single stage — it recurs. Emphasise this is why the skill is practised so often across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5.1, task 3. The central distinction of the whole module. Get this exactly right before moving on — everything in 5.2 and 5.3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5.1 before the two technique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5.2. Three objectives on gathering information the target never sees being gathered.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5.2, task 1. The two passive approaches: what others say about the target, and what the target's own public footprint reveals without being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5.2, task 2. OSINT named explicitly. Keep the examples generic categories, not named commercial tools, since the syllabus names the concept, not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5.2, task 3. Passive web server and DNS gathering — reading records already published by third parties rather than querying the target's own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Ground the abstract categories in what each source actually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5.2 before active gathering.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5.3 — the module's technical core, and the first unit in the course where the target is directly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1, part one. Establish why port scanning matters before naming the tools — it is how a tester discovers what is actually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1, part two. Netcat scanning: simple, minimal, useful when Nmap is unavailable or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1, part three. Nmap: the primary scanner of the course. Keep the flags illustrative rather than exhaustive.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When each scanner is the right choice — this is a genuinely examinable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2, part one. DNS enumeration is the first named active technique in 5.3 — actively querying the target's own resolvers.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2, part two. SMB enumeration — the protocol that dominates the Windows modules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2, part three. SMTP enumeration — a compact but genuinely useful technique for validating usernames.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2, part four. SNMP enumeration — frequently overlooked, and frequently misconfigured with default community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pulling the four protocols together. This is the slide to keep pinned during practical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5.3, task 3. Living off the land: using tools already present on the target rather than introducing new ones. This concept recurs constantly in later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passive/active sequencing and a defensible reason for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Exhaust passive sources before touching the target — the discipline the whole module is structured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Recording scan output live — direct callback to Module 4's note discipline, applied to the first technical data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Building a target tracker from day one of enumeration — the foundation every later module's notes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4. Distinguishing filtered from closed — a small technical habit that prevents real attack paths being written off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passive/active boundary is the one worth spending the most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Three units, and the first module with directly usable offensive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B.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Three units in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6 — vulnerability scanning builds directly on this module's port and service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5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Information Gathering</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The penetration testing lifecycle, then passive and active information gathering — the first offensive technique in the course.</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8178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577084"/>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46194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6429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6524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5.1</a:t>
            </a:r>
            <a:endParaRPr lang="en-US" sz="1650" dirty="0"/>
          </a:p>
        </p:txBody>
      </p:sp>
      <p:sp>
        <p:nvSpPr>
          <p:cNvPr id="8" name="Text 6"/>
          <p:cNvSpPr/>
          <p:nvPr/>
        </p:nvSpPr>
        <p:spPr>
          <a:xfrm>
            <a:off x="1952625" y="4716735"/>
            <a:ext cx="1190792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The Penetration Testing Lifecycle — stages of a test, the role of information gathering, active vs passive</a:t>
            </a:r>
            <a:endParaRPr lang="en-US" sz="1950" dirty="0"/>
          </a:p>
        </p:txBody>
      </p:sp>
      <p:sp>
        <p:nvSpPr>
          <p:cNvPr id="9" name="Shape 7"/>
          <p:cNvSpPr/>
          <p:nvPr/>
        </p:nvSpPr>
        <p:spPr>
          <a:xfrm>
            <a:off x="800100" y="543349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6144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6239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5.2</a:t>
            </a:r>
            <a:endParaRPr lang="en-US" sz="1650" dirty="0"/>
          </a:p>
        </p:txBody>
      </p:sp>
      <p:sp>
        <p:nvSpPr>
          <p:cNvPr id="12" name="Text 10"/>
          <p:cNvSpPr/>
          <p:nvPr/>
        </p:nvSpPr>
        <p:spPr>
          <a:xfrm>
            <a:off x="1952625" y="5688285"/>
            <a:ext cx="1122574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Passive Information Gathering — two approaches, OSINT, web server and DNS passive gathering</a:t>
            </a:r>
            <a:endParaRPr lang="en-US" sz="1950" dirty="0"/>
          </a:p>
        </p:txBody>
      </p:sp>
      <p:sp>
        <p:nvSpPr>
          <p:cNvPr id="13" name="Shape 11"/>
          <p:cNvSpPr/>
          <p:nvPr/>
        </p:nvSpPr>
        <p:spPr>
          <a:xfrm>
            <a:off x="800100" y="640504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5860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5955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5.3</a:t>
            </a:r>
            <a:endParaRPr lang="en-US" sz="1650" dirty="0"/>
          </a:p>
        </p:txBody>
      </p:sp>
      <p:sp>
        <p:nvSpPr>
          <p:cNvPr id="16" name="Text 14"/>
          <p:cNvSpPr/>
          <p:nvPr/>
        </p:nvSpPr>
        <p:spPr>
          <a:xfrm>
            <a:off x="1952625" y="6659835"/>
            <a:ext cx="1396298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Active Information Gathering — Netcat and Nmap port scanning, DNS/SMB/SMTP/SNMP enumeration, living off the land</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5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6A00">
              <a:alpha val="12000"/>
            </a:srgbClr>
          </a:solidFill>
          <a:ln w="9525">
            <a:solidFill>
              <a:srgbClr val="FF6A00"/>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2027783"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49805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99335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every engagement starts here</a:t>
            </a:r>
            <a:endParaRPr lang="en-US" sz="3000" dirty="0"/>
          </a:p>
        </p:txBody>
      </p:sp>
      <p:sp>
        <p:nvSpPr>
          <p:cNvPr id="5" name="Shape 3"/>
          <p:cNvSpPr/>
          <p:nvPr/>
        </p:nvSpPr>
        <p:spPr>
          <a:xfrm>
            <a:off x="800100"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NOTHING IS EXPLOITABLE UNSEEN</a:t>
            </a:r>
            <a:endParaRPr lang="en-US" sz="1500" dirty="0"/>
          </a:p>
        </p:txBody>
      </p:sp>
      <p:sp>
        <p:nvSpPr>
          <p:cNvPr id="7" name="Text 5"/>
          <p:cNvSpPr/>
          <p:nvPr/>
        </p:nvSpPr>
        <p:spPr>
          <a:xfrm>
            <a:off x="1038225" y="521731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vulnerability that was never discovered cannot be attacked. Enumeration is what converts an unknown target into a set of testable claims.</a:t>
            </a:r>
            <a:endParaRPr lang="en-US" sz="1875" dirty="0"/>
          </a:p>
        </p:txBody>
      </p:sp>
      <p:sp>
        <p:nvSpPr>
          <p:cNvPr id="8" name="Shape 6"/>
          <p:cNvSpPr/>
          <p:nvPr/>
        </p:nvSpPr>
        <p:spPr>
          <a:xfrm>
            <a:off x="6426175"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QUALITY BOUNDS EVERYTHING AFTER</a:t>
            </a:r>
            <a:endParaRPr lang="en-US" sz="1500" dirty="0"/>
          </a:p>
        </p:txBody>
      </p:sp>
      <p:sp>
        <p:nvSpPr>
          <p:cNvPr id="10" name="Text 8"/>
          <p:cNvSpPr/>
          <p:nvPr/>
        </p:nvSpPr>
        <p:spPr>
          <a:xfrm>
            <a:off x="6664300" y="521731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7 through 22 all attack something this module found. A missed service or a misread version carries forward as a missed attack path.</a:t>
            </a:r>
            <a:endParaRPr lang="en-US" sz="1875" dirty="0"/>
          </a:p>
        </p:txBody>
      </p:sp>
      <p:sp>
        <p:nvSpPr>
          <p:cNvPr id="11" name="Shape 9"/>
          <p:cNvSpPr/>
          <p:nvPr/>
        </p:nvSpPr>
        <p:spPr>
          <a:xfrm>
            <a:off x="12052250" y="4660106"/>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489823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MOST REPEATED SKILL</a:t>
            </a:r>
            <a:endParaRPr lang="en-US" sz="1500" dirty="0"/>
          </a:p>
        </p:txBody>
      </p:sp>
      <p:sp>
        <p:nvSpPr>
          <p:cNvPr id="13" name="Text 11"/>
          <p:cNvSpPr/>
          <p:nvPr/>
        </p:nvSpPr>
        <p:spPr>
          <a:xfrm>
            <a:off x="12290375" y="521731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module from here to Module 23 opens with some form of enumeration. This is the technique practised most often in the entire course.</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20561" y="3910980"/>
            <a:ext cx="2046878"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5.1</a:t>
            </a:r>
            <a:endParaRPr lang="en-US" sz="1650" dirty="0"/>
          </a:p>
        </p:txBody>
      </p:sp>
      <p:sp>
        <p:nvSpPr>
          <p:cNvPr id="4" name="Text 2"/>
          <p:cNvSpPr/>
          <p:nvPr/>
        </p:nvSpPr>
        <p:spPr>
          <a:xfrm>
            <a:off x="2581320" y="4425330"/>
            <a:ext cx="13125361"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The Penetration Testing Lifecycle</a:t>
            </a:r>
            <a:endParaRPr lang="en-US" sz="6000" dirty="0"/>
          </a:p>
        </p:txBody>
      </p:sp>
      <p:sp>
        <p:nvSpPr>
          <p:cNvPr id="5" name="Text 3"/>
          <p:cNvSpPr/>
          <p:nvPr/>
        </p:nvSpPr>
        <p:spPr>
          <a:xfrm>
            <a:off x="2767013" y="549213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The stages of a penetration test, the role of information gathering inside each stage, and the difference between active and passive information gathering.</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89173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1653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5.1 · Task 1 of 3</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stages of a penetration test</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penetration test moves through a repeatable sequence of stages, each producing the input the next stage needs. Understanding the sequence is what lets a tester know what stage they are actually in when something goes wrong.</a:t>
            </a:r>
            <a:endParaRPr lang="en-US" sz="2175" dirty="0"/>
          </a:p>
        </p:txBody>
      </p:sp>
      <p:sp>
        <p:nvSpPr>
          <p:cNvPr id="7" name="Shape 5"/>
          <p:cNvSpPr/>
          <p:nvPr/>
        </p:nvSpPr>
        <p:spPr>
          <a:xfrm>
            <a:off x="800100"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PRE-ENGAGEMENT</a:t>
            </a:r>
            <a:endParaRPr lang="en-US" sz="1500" dirty="0"/>
          </a:p>
        </p:txBody>
      </p:sp>
      <p:sp>
        <p:nvSpPr>
          <p:cNvPr id="9" name="Text 7"/>
          <p:cNvSpPr/>
          <p:nvPr/>
        </p:nvSpPr>
        <p:spPr>
          <a:xfrm>
            <a:off x="1038225"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Scope, authorisation and rules of engagement agreed in writing, before any technical activity begins.</a:t>
            </a:r>
            <a:endParaRPr lang="en-US" sz="1875" dirty="0"/>
          </a:p>
        </p:txBody>
      </p:sp>
      <p:sp>
        <p:nvSpPr>
          <p:cNvPr id="10" name="Shape 8"/>
          <p:cNvSpPr/>
          <p:nvPr/>
        </p:nvSpPr>
        <p:spPr>
          <a:xfrm>
            <a:off x="5014913"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5253038"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INFORMATION GATHERING</a:t>
            </a:r>
            <a:endParaRPr lang="en-US" sz="1500" dirty="0"/>
          </a:p>
        </p:txBody>
      </p:sp>
      <p:sp>
        <p:nvSpPr>
          <p:cNvPr id="12" name="Text 10"/>
          <p:cNvSpPr/>
          <p:nvPr/>
        </p:nvSpPr>
        <p:spPr>
          <a:xfrm>
            <a:off x="5253038" y="5815459"/>
            <a:ext cx="36741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Building an accurate picture of the target, passively and then actively.</a:t>
            </a:r>
            <a:endParaRPr lang="en-US" sz="1875" dirty="0"/>
          </a:p>
        </p:txBody>
      </p:sp>
      <p:sp>
        <p:nvSpPr>
          <p:cNvPr id="13" name="Shape 11"/>
          <p:cNvSpPr/>
          <p:nvPr/>
        </p:nvSpPr>
        <p:spPr>
          <a:xfrm>
            <a:off x="9229725"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9467850" y="5496371"/>
            <a:ext cx="3674126" cy="485775"/>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VULNERABILITY ANALYSIS AND EXPLOITATION</a:t>
            </a:r>
            <a:endParaRPr lang="en-US" sz="1500" dirty="0"/>
          </a:p>
        </p:txBody>
      </p:sp>
      <p:sp>
        <p:nvSpPr>
          <p:cNvPr id="15" name="Text 13"/>
          <p:cNvSpPr/>
          <p:nvPr/>
        </p:nvSpPr>
        <p:spPr>
          <a:xfrm>
            <a:off x="9467850" y="603929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Identifying weaknesses in what was found, then a demonstrated compromise.</a:t>
            </a:r>
            <a:endParaRPr lang="en-US" sz="1875" dirty="0"/>
          </a:p>
        </p:txBody>
      </p:sp>
      <p:sp>
        <p:nvSpPr>
          <p:cNvPr id="16" name="Shape 14"/>
          <p:cNvSpPr/>
          <p:nvPr/>
        </p:nvSpPr>
        <p:spPr>
          <a:xfrm>
            <a:off x="13444538"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7" name="Text 15"/>
          <p:cNvSpPr/>
          <p:nvPr/>
        </p:nvSpPr>
        <p:spPr>
          <a:xfrm>
            <a:off x="13682663" y="5496371"/>
            <a:ext cx="3674126" cy="485775"/>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POST-EXPLOITATION AND REPORTING</a:t>
            </a:r>
            <a:endParaRPr lang="en-US" sz="1500" dirty="0"/>
          </a:p>
        </p:txBody>
      </p:sp>
      <p:sp>
        <p:nvSpPr>
          <p:cNvPr id="18" name="Text 16"/>
          <p:cNvSpPr/>
          <p:nvPr/>
        </p:nvSpPr>
        <p:spPr>
          <a:xfrm>
            <a:off x="13682663" y="603929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Establishing impact and, per Module 4, converting everything into a defensible report.</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598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151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5.1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role of information gathering inside each stage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Information gathering is not confined to one stage of the lifecycle. It recurs every time the tester's picture of the target changes — after a new host is reached, after a foothold is gained, after credentials are obtained.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tester who enumerates once at the start and never again will miss everything that only becomes visible after the first foothold — which is most of an Active Directory estate.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23 makes this explicit: it has separate enumeration steps for the public network and the internal network, because the picture genuinely changes.</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Active versus passive information gathering</a:t>
            </a:r>
            <a:endParaRPr lang="en-US" sz="3000" dirty="0"/>
          </a:p>
        </p:txBody>
      </p:sp>
      <p:sp>
        <p:nvSpPr>
          <p:cNvPr id="5" name="Shape 3"/>
          <p:cNvSpPr/>
          <p:nvPr/>
        </p:nvSpPr>
        <p:spPr>
          <a:xfrm>
            <a:off x="8001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PASSIVE</a:t>
            </a:r>
            <a:endParaRPr lang="en-US" sz="1500" dirty="0"/>
          </a:p>
        </p:txBody>
      </p:sp>
      <p:sp>
        <p:nvSpPr>
          <p:cNvPr id="7" name="Text 5"/>
          <p:cNvSpPr/>
          <p:nvPr/>
        </p:nvSpPr>
        <p:spPr>
          <a:xfrm>
            <a:off x="10382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is gathered without sending traffic to the target itself — using third-party sources, public records and services the target does not directly observe.</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ACTIVE</a:t>
            </a:r>
            <a:endParaRPr lang="en-US" sz="1500" dirty="0"/>
          </a:p>
        </p:txBody>
      </p:sp>
      <p:sp>
        <p:nvSpPr>
          <p:cNvPr id="11" name="Text 9"/>
          <p:cNvSpPr/>
          <p:nvPr/>
        </p:nvSpPr>
        <p:spPr>
          <a:xfrm>
            <a:off x="101441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is gathered by interacting with the target directly — sending packets, requests or queries it will see and can potentially log.</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distinguishing question is simple: does the target, or anything it controls, observe this action taking place?</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5.1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Lifecycle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STAGES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Pre-engagement, information gathering, vulnerability analysis and exploitation, post-exploitation and reporting.</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RECURRENCE</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gathering repeats whenever the picture of the target changes, not only at the start.</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ACTIVE VS PASSIVE</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Whether the target observes the action is the distinguishing question, not how much effort it takes.</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0998" y="3870945"/>
            <a:ext cx="2086005"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5.2</a:t>
            </a:r>
            <a:endParaRPr lang="en-US" sz="1650" dirty="0"/>
          </a:p>
        </p:txBody>
      </p:sp>
      <p:sp>
        <p:nvSpPr>
          <p:cNvPr id="4" name="Text 2"/>
          <p:cNvSpPr/>
          <p:nvPr/>
        </p:nvSpPr>
        <p:spPr>
          <a:xfrm>
            <a:off x="2552507" y="4385295"/>
            <a:ext cx="13182987"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Passive Information Gathering</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The two different passive approaches, Open Source Intelligence, and passive web server and DNS information gathering.</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66852"/>
            <a:ext cx="292484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52577"/>
            <a:ext cx="265064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5.2 · Task 1 of 3</a:t>
            </a:r>
            <a:endParaRPr lang="en-US" sz="1500" dirty="0"/>
          </a:p>
        </p:txBody>
      </p:sp>
      <p:sp>
        <p:nvSpPr>
          <p:cNvPr id="5" name="Text 3"/>
          <p:cNvSpPr/>
          <p:nvPr/>
        </p:nvSpPr>
        <p:spPr>
          <a:xfrm>
            <a:off x="800100" y="390978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Two different passive approaches</a:t>
            </a:r>
            <a:endParaRPr lang="en-US" sz="3000" dirty="0"/>
          </a:p>
        </p:txBody>
      </p:sp>
      <p:sp>
        <p:nvSpPr>
          <p:cNvPr id="6" name="Text 4"/>
          <p:cNvSpPr/>
          <p:nvPr/>
        </p:nvSpPr>
        <p:spPr>
          <a:xfrm>
            <a:off x="800100" y="4576539"/>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Passive gathering splits into two distinct approaches, separated by whose data is being read.</a:t>
            </a:r>
            <a:endParaRPr lang="en-US" sz="2175" dirty="0"/>
          </a:p>
        </p:txBody>
      </p:sp>
      <p:sp>
        <p:nvSpPr>
          <p:cNvPr id="7" name="Shape 5"/>
          <p:cNvSpPr/>
          <p:nvPr/>
        </p:nvSpPr>
        <p:spPr>
          <a:xfrm>
            <a:off x="800100" y="5224686"/>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46281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THIRD-PARTY INFORMATION</a:t>
            </a:r>
            <a:endParaRPr lang="en-US" sz="1500" dirty="0"/>
          </a:p>
        </p:txBody>
      </p:sp>
      <p:sp>
        <p:nvSpPr>
          <p:cNvPr id="9" name="Text 7"/>
          <p:cNvSpPr/>
          <p:nvPr/>
        </p:nvSpPr>
        <p:spPr>
          <a:xfrm>
            <a:off x="1038225" y="5781898"/>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other organisations and services already know and publish about the target — registries, breach data, social platforms, code repositories.</a:t>
            </a:r>
            <a:endParaRPr lang="en-US" sz="1875" dirty="0"/>
          </a:p>
        </p:txBody>
      </p:sp>
      <p:sp>
        <p:nvSpPr>
          <p:cNvPr id="10" name="Shape 8"/>
          <p:cNvSpPr/>
          <p:nvPr/>
        </p:nvSpPr>
        <p:spPr>
          <a:xfrm>
            <a:off x="9248775" y="5224686"/>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46281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TARGET'S OWN PUBLIC FOOTPRINT</a:t>
            </a:r>
            <a:endParaRPr lang="en-US" sz="1500" dirty="0"/>
          </a:p>
        </p:txBody>
      </p:sp>
      <p:sp>
        <p:nvSpPr>
          <p:cNvPr id="12" name="Text 10"/>
          <p:cNvSpPr/>
          <p:nvPr/>
        </p:nvSpPr>
        <p:spPr>
          <a:xfrm>
            <a:off x="9486900" y="5781898"/>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the target itself has published or exposed publicly — DNS records, certificates, cached pages — read via a third party rather than queried directly.</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94917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7570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5.2 · Task 2 of 3</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Open Source Intelligence (OSINT)</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OSINT is intelligence gathered from publicly available sources. It requires no access beyond what anyone on the internet already has, and it never touches the target directly.</a:t>
            </a:r>
            <a:endParaRPr lang="en-US" sz="2175" dirty="0"/>
          </a:p>
        </p:txBody>
      </p:sp>
      <p:sp>
        <p:nvSpPr>
          <p:cNvPr id="7" name="Shape 5"/>
          <p:cNvSpPr/>
          <p:nvPr/>
        </p:nvSpPr>
        <p:spPr>
          <a:xfrm>
            <a:off x="800100"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ORGANISATIONAL</a:t>
            </a:r>
            <a:endParaRPr lang="en-US" sz="1500" dirty="0"/>
          </a:p>
        </p:txBody>
      </p:sp>
      <p:sp>
        <p:nvSpPr>
          <p:cNvPr id="9" name="Text 7"/>
          <p:cNvSpPr/>
          <p:nvPr/>
        </p:nvSpPr>
        <p:spPr>
          <a:xfrm>
            <a:off x="1038225"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Registration records, job postings naming technology stacks, and press releases describing infrastructure changes.</a:t>
            </a:r>
            <a:endParaRPr lang="en-US" sz="1875" dirty="0"/>
          </a:p>
        </p:txBody>
      </p:sp>
      <p:sp>
        <p:nvSpPr>
          <p:cNvPr id="10" name="Shape 8"/>
          <p:cNvSpPr/>
          <p:nvPr/>
        </p:nvSpPr>
        <p:spPr>
          <a:xfrm>
            <a:off x="5014913"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5253038"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PEOPLE</a:t>
            </a:r>
            <a:endParaRPr lang="en-US" sz="1500" dirty="0"/>
          </a:p>
        </p:txBody>
      </p:sp>
      <p:sp>
        <p:nvSpPr>
          <p:cNvPr id="12" name="Text 10"/>
          <p:cNvSpPr/>
          <p:nvPr/>
        </p:nvSpPr>
        <p:spPr>
          <a:xfrm>
            <a:off x="5253038"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Staff names, roles and relationships useful for later client-side attacks in Module 10.</a:t>
            </a:r>
            <a:endParaRPr lang="en-US" sz="1875" dirty="0"/>
          </a:p>
        </p:txBody>
      </p:sp>
      <p:sp>
        <p:nvSpPr>
          <p:cNvPr id="13" name="Shape 11"/>
          <p:cNvSpPr/>
          <p:nvPr/>
        </p:nvSpPr>
        <p:spPr>
          <a:xfrm>
            <a:off x="9229725"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9467850"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TECHNICAL</a:t>
            </a:r>
            <a:endParaRPr lang="en-US" sz="1500" dirty="0"/>
          </a:p>
        </p:txBody>
      </p:sp>
      <p:sp>
        <p:nvSpPr>
          <p:cNvPr id="15" name="Text 13"/>
          <p:cNvSpPr/>
          <p:nvPr/>
        </p:nvSpPr>
        <p:spPr>
          <a:xfrm>
            <a:off x="9467850"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Leaked credentials, exposed code repositories, and configuration fragments shared in public forums.</a:t>
            </a:r>
            <a:endParaRPr lang="en-US" sz="1875" dirty="0"/>
          </a:p>
        </p:txBody>
      </p:sp>
      <p:sp>
        <p:nvSpPr>
          <p:cNvPr id="16" name="Shape 14"/>
          <p:cNvSpPr/>
          <p:nvPr/>
        </p:nvSpPr>
        <p:spPr>
          <a:xfrm>
            <a:off x="13444538"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7" name="Text 15"/>
          <p:cNvSpPr/>
          <p:nvPr/>
        </p:nvSpPr>
        <p:spPr>
          <a:xfrm>
            <a:off x="13682663"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HISTORICAL</a:t>
            </a:r>
            <a:endParaRPr lang="en-US" sz="1500" dirty="0"/>
          </a:p>
        </p:txBody>
      </p:sp>
      <p:sp>
        <p:nvSpPr>
          <p:cNvPr id="18" name="Text 16"/>
          <p:cNvSpPr/>
          <p:nvPr/>
        </p:nvSpPr>
        <p:spPr>
          <a:xfrm>
            <a:off x="13682663"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Archived versions of a site or service that may reveal something the current version does not.</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423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091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5.2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Passive web server and DNS information gathering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DNS and web infrastructure can be profiled through records already published to third parties, without a single query reaching the target's own servers.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PASSIVE DNS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Historical resolution records held by third-party passive DNS services, and registration data revealing name servers, registrant details and related domains.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PASSIVE WEB SERVER DATA</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Certificate transparency logs revealing every certificate ever issued for a domain, and cached or archived copies of pages showing prior server responses.</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622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34575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Passive sources and what they reveal</a:t>
            </a:r>
            <a:endParaRPr lang="en-US" sz="3000" dirty="0"/>
          </a:p>
        </p:txBody>
      </p:sp>
      <p:sp>
        <p:nvSpPr>
          <p:cNvPr id="5" name="Shape 3"/>
          <p:cNvSpPr/>
          <p:nvPr/>
        </p:nvSpPr>
        <p:spPr>
          <a:xfrm>
            <a:off x="800100" y="4124325"/>
            <a:ext cx="3162300" cy="500063"/>
          </a:xfrm>
          <a:prstGeom prst="rect">
            <a:avLst/>
          </a:prstGeom>
          <a:solidFill>
            <a:srgbClr val="FF6A00">
              <a:alpha val="18000"/>
            </a:srgbClr>
          </a:solidFill>
          <a:ln/>
        </p:spPr>
      </p:sp>
      <p:sp>
        <p:nvSpPr>
          <p:cNvPr id="6" name="Shape 4"/>
          <p:cNvSpPr/>
          <p:nvPr/>
        </p:nvSpPr>
        <p:spPr>
          <a:xfrm>
            <a:off x="800100" y="4614863"/>
            <a:ext cx="3162300" cy="9525"/>
          </a:xfrm>
          <a:prstGeom prst="rect">
            <a:avLst/>
          </a:prstGeom>
          <a:solidFill>
            <a:srgbClr val="B85100"/>
          </a:solidFill>
          <a:ln/>
        </p:spPr>
      </p:sp>
      <p:sp>
        <p:nvSpPr>
          <p:cNvPr id="7" name="Text 5"/>
          <p:cNvSpPr/>
          <p:nvPr/>
        </p:nvSpPr>
        <p:spPr>
          <a:xfrm>
            <a:off x="952500" y="4238625"/>
            <a:ext cx="295236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Source</a:t>
            </a:r>
            <a:endParaRPr lang="en-US" sz="1800" dirty="0"/>
          </a:p>
        </p:txBody>
      </p:sp>
      <p:sp>
        <p:nvSpPr>
          <p:cNvPr id="8" name="Shape 6"/>
          <p:cNvSpPr/>
          <p:nvPr/>
        </p:nvSpPr>
        <p:spPr>
          <a:xfrm>
            <a:off x="3962400" y="4124325"/>
            <a:ext cx="13525500" cy="500063"/>
          </a:xfrm>
          <a:prstGeom prst="rect">
            <a:avLst/>
          </a:prstGeom>
          <a:solidFill>
            <a:srgbClr val="FF6A00">
              <a:alpha val="18000"/>
            </a:srgbClr>
          </a:solidFill>
          <a:ln/>
        </p:spPr>
      </p:sp>
      <p:sp>
        <p:nvSpPr>
          <p:cNvPr id="9" name="Shape 7"/>
          <p:cNvSpPr/>
          <p:nvPr/>
        </p:nvSpPr>
        <p:spPr>
          <a:xfrm>
            <a:off x="3962400" y="4614863"/>
            <a:ext cx="13525500" cy="9525"/>
          </a:xfrm>
          <a:prstGeom prst="rect">
            <a:avLst/>
          </a:prstGeom>
          <a:solidFill>
            <a:srgbClr val="B85100"/>
          </a:solidFill>
          <a:ln/>
        </p:spPr>
      </p:sp>
      <p:sp>
        <p:nvSpPr>
          <p:cNvPr id="10" name="Text 8"/>
          <p:cNvSpPr/>
          <p:nvPr/>
        </p:nvSpPr>
        <p:spPr>
          <a:xfrm>
            <a:off x="4114800" y="4238625"/>
            <a:ext cx="13626465"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reveals</a:t>
            </a:r>
            <a:endParaRPr lang="en-US" sz="1800" dirty="0"/>
          </a:p>
        </p:txBody>
      </p:sp>
      <p:sp>
        <p:nvSpPr>
          <p:cNvPr id="11" name="Shape 9"/>
          <p:cNvSpPr/>
          <p:nvPr/>
        </p:nvSpPr>
        <p:spPr>
          <a:xfrm>
            <a:off x="800100" y="4624388"/>
            <a:ext cx="3162300" cy="485775"/>
          </a:xfrm>
          <a:prstGeom prst="rect">
            <a:avLst/>
          </a:prstGeom>
          <a:solidFill>
            <a:srgbClr val="FFFFFF">
              <a:alpha val="2000"/>
            </a:srgbClr>
          </a:solidFill>
          <a:ln/>
        </p:spPr>
      </p:sp>
      <p:sp>
        <p:nvSpPr>
          <p:cNvPr id="12" name="Shape 10"/>
          <p:cNvSpPr/>
          <p:nvPr/>
        </p:nvSpPr>
        <p:spPr>
          <a:xfrm>
            <a:off x="800100" y="5100638"/>
            <a:ext cx="3162300" cy="9525"/>
          </a:xfrm>
          <a:prstGeom prst="rect">
            <a:avLst/>
          </a:prstGeom>
          <a:solidFill>
            <a:srgbClr val="2A2F3A"/>
          </a:solidFill>
          <a:ln/>
        </p:spPr>
      </p:sp>
      <p:sp>
        <p:nvSpPr>
          <p:cNvPr id="13" name="Text 11"/>
          <p:cNvSpPr/>
          <p:nvPr/>
        </p:nvSpPr>
        <p:spPr>
          <a:xfrm>
            <a:off x="952500" y="4729163"/>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Domain registration records</a:t>
            </a:r>
            <a:endParaRPr lang="en-US" sz="1800" dirty="0"/>
          </a:p>
        </p:txBody>
      </p:sp>
      <p:sp>
        <p:nvSpPr>
          <p:cNvPr id="14" name="Shape 12"/>
          <p:cNvSpPr/>
          <p:nvPr/>
        </p:nvSpPr>
        <p:spPr>
          <a:xfrm>
            <a:off x="3962400" y="4624388"/>
            <a:ext cx="13525500" cy="485775"/>
          </a:xfrm>
          <a:prstGeom prst="rect">
            <a:avLst/>
          </a:prstGeom>
          <a:solidFill>
            <a:srgbClr val="FFFFFF">
              <a:alpha val="2000"/>
            </a:srgbClr>
          </a:solidFill>
          <a:ln/>
        </p:spPr>
      </p:sp>
      <p:sp>
        <p:nvSpPr>
          <p:cNvPr id="15" name="Shape 13"/>
          <p:cNvSpPr/>
          <p:nvPr/>
        </p:nvSpPr>
        <p:spPr>
          <a:xfrm>
            <a:off x="3962400" y="5100638"/>
            <a:ext cx="13525500" cy="9525"/>
          </a:xfrm>
          <a:prstGeom prst="rect">
            <a:avLst/>
          </a:prstGeom>
          <a:solidFill>
            <a:srgbClr val="2A2F3A"/>
          </a:solidFill>
          <a:ln/>
        </p:spPr>
      </p:sp>
      <p:sp>
        <p:nvSpPr>
          <p:cNvPr id="16" name="Text 14"/>
          <p:cNvSpPr/>
          <p:nvPr/>
        </p:nvSpPr>
        <p:spPr>
          <a:xfrm>
            <a:off x="4114800" y="4729163"/>
            <a:ext cx="1362646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Registrant details, name servers, and related domains under common ownership</a:t>
            </a:r>
            <a:endParaRPr lang="en-US" sz="1800" dirty="0"/>
          </a:p>
        </p:txBody>
      </p:sp>
      <p:sp>
        <p:nvSpPr>
          <p:cNvPr id="17" name="Shape 15"/>
          <p:cNvSpPr/>
          <p:nvPr/>
        </p:nvSpPr>
        <p:spPr>
          <a:xfrm>
            <a:off x="800100" y="5586413"/>
            <a:ext cx="3162300" cy="9525"/>
          </a:xfrm>
          <a:prstGeom prst="rect">
            <a:avLst/>
          </a:prstGeom>
          <a:solidFill>
            <a:srgbClr val="2A2F3A"/>
          </a:solidFill>
          <a:ln/>
        </p:spPr>
      </p:sp>
      <p:sp>
        <p:nvSpPr>
          <p:cNvPr id="18" name="Text 16"/>
          <p:cNvSpPr/>
          <p:nvPr/>
        </p:nvSpPr>
        <p:spPr>
          <a:xfrm>
            <a:off x="952500" y="5214938"/>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Certificate transparency logs</a:t>
            </a:r>
            <a:endParaRPr lang="en-US" sz="1800" dirty="0"/>
          </a:p>
        </p:txBody>
      </p:sp>
      <p:sp>
        <p:nvSpPr>
          <p:cNvPr id="19" name="Shape 17"/>
          <p:cNvSpPr/>
          <p:nvPr/>
        </p:nvSpPr>
        <p:spPr>
          <a:xfrm>
            <a:off x="3962400" y="5586413"/>
            <a:ext cx="13525500" cy="9525"/>
          </a:xfrm>
          <a:prstGeom prst="rect">
            <a:avLst/>
          </a:prstGeom>
          <a:solidFill>
            <a:srgbClr val="2A2F3A"/>
          </a:solidFill>
          <a:ln/>
        </p:spPr>
      </p:sp>
      <p:sp>
        <p:nvSpPr>
          <p:cNvPr id="20" name="Text 18"/>
          <p:cNvSpPr/>
          <p:nvPr/>
        </p:nvSpPr>
        <p:spPr>
          <a:xfrm>
            <a:off x="4114800" y="5214938"/>
            <a:ext cx="1362646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Every certificate ever issued for a domain, often exposing subdomains not otherwise advertised</a:t>
            </a:r>
            <a:endParaRPr lang="en-US" sz="1800" dirty="0"/>
          </a:p>
        </p:txBody>
      </p:sp>
      <p:sp>
        <p:nvSpPr>
          <p:cNvPr id="21" name="Shape 19"/>
          <p:cNvSpPr/>
          <p:nvPr/>
        </p:nvSpPr>
        <p:spPr>
          <a:xfrm>
            <a:off x="800100" y="5595938"/>
            <a:ext cx="3162300" cy="485775"/>
          </a:xfrm>
          <a:prstGeom prst="rect">
            <a:avLst/>
          </a:prstGeom>
          <a:solidFill>
            <a:srgbClr val="FFFFFF">
              <a:alpha val="2000"/>
            </a:srgbClr>
          </a:solidFill>
          <a:ln/>
        </p:spPr>
      </p:sp>
      <p:sp>
        <p:nvSpPr>
          <p:cNvPr id="22" name="Shape 20"/>
          <p:cNvSpPr/>
          <p:nvPr/>
        </p:nvSpPr>
        <p:spPr>
          <a:xfrm>
            <a:off x="800100" y="6072188"/>
            <a:ext cx="3162300" cy="9525"/>
          </a:xfrm>
          <a:prstGeom prst="rect">
            <a:avLst/>
          </a:prstGeom>
          <a:solidFill>
            <a:srgbClr val="2A2F3A"/>
          </a:solidFill>
          <a:ln/>
        </p:spPr>
      </p:sp>
      <p:sp>
        <p:nvSpPr>
          <p:cNvPr id="23" name="Text 21"/>
          <p:cNvSpPr/>
          <p:nvPr/>
        </p:nvSpPr>
        <p:spPr>
          <a:xfrm>
            <a:off x="952500" y="5700713"/>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Passive DNS history</a:t>
            </a:r>
            <a:endParaRPr lang="en-US" sz="1800" dirty="0"/>
          </a:p>
        </p:txBody>
      </p:sp>
      <p:sp>
        <p:nvSpPr>
          <p:cNvPr id="24" name="Shape 22"/>
          <p:cNvSpPr/>
          <p:nvPr/>
        </p:nvSpPr>
        <p:spPr>
          <a:xfrm>
            <a:off x="3962400" y="5595938"/>
            <a:ext cx="13525500" cy="485775"/>
          </a:xfrm>
          <a:prstGeom prst="rect">
            <a:avLst/>
          </a:prstGeom>
          <a:solidFill>
            <a:srgbClr val="FFFFFF">
              <a:alpha val="2000"/>
            </a:srgbClr>
          </a:solidFill>
          <a:ln/>
        </p:spPr>
      </p:sp>
      <p:sp>
        <p:nvSpPr>
          <p:cNvPr id="25" name="Shape 23"/>
          <p:cNvSpPr/>
          <p:nvPr/>
        </p:nvSpPr>
        <p:spPr>
          <a:xfrm>
            <a:off x="3962400" y="6072188"/>
            <a:ext cx="13525500" cy="9525"/>
          </a:xfrm>
          <a:prstGeom prst="rect">
            <a:avLst/>
          </a:prstGeom>
          <a:solidFill>
            <a:srgbClr val="2A2F3A"/>
          </a:solidFill>
          <a:ln/>
        </p:spPr>
      </p:sp>
      <p:sp>
        <p:nvSpPr>
          <p:cNvPr id="26" name="Text 24"/>
          <p:cNvSpPr/>
          <p:nvPr/>
        </p:nvSpPr>
        <p:spPr>
          <a:xfrm>
            <a:off x="4114800" y="5700713"/>
            <a:ext cx="1362646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Past IP addresses a domain has resolved to, useful even after infrastructure moves</a:t>
            </a:r>
            <a:endParaRPr lang="en-US" sz="1800" dirty="0"/>
          </a:p>
        </p:txBody>
      </p:sp>
      <p:sp>
        <p:nvSpPr>
          <p:cNvPr id="27" name="Shape 25"/>
          <p:cNvSpPr/>
          <p:nvPr/>
        </p:nvSpPr>
        <p:spPr>
          <a:xfrm>
            <a:off x="800100" y="6557963"/>
            <a:ext cx="3162300" cy="9525"/>
          </a:xfrm>
          <a:prstGeom prst="rect">
            <a:avLst/>
          </a:prstGeom>
          <a:solidFill>
            <a:srgbClr val="2A2F3A"/>
          </a:solidFill>
          <a:ln/>
        </p:spPr>
      </p:sp>
      <p:sp>
        <p:nvSpPr>
          <p:cNvPr id="28" name="Text 26"/>
          <p:cNvSpPr/>
          <p:nvPr/>
        </p:nvSpPr>
        <p:spPr>
          <a:xfrm>
            <a:off x="952500" y="6186488"/>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Cached or archived pages</a:t>
            </a:r>
            <a:endParaRPr lang="en-US" sz="1800" dirty="0"/>
          </a:p>
        </p:txBody>
      </p:sp>
      <p:sp>
        <p:nvSpPr>
          <p:cNvPr id="29" name="Shape 27"/>
          <p:cNvSpPr/>
          <p:nvPr/>
        </p:nvSpPr>
        <p:spPr>
          <a:xfrm>
            <a:off x="3962400" y="6557963"/>
            <a:ext cx="13525500" cy="9525"/>
          </a:xfrm>
          <a:prstGeom prst="rect">
            <a:avLst/>
          </a:prstGeom>
          <a:solidFill>
            <a:srgbClr val="2A2F3A"/>
          </a:solidFill>
          <a:ln/>
        </p:spPr>
      </p:sp>
      <p:sp>
        <p:nvSpPr>
          <p:cNvPr id="30" name="Text 28"/>
          <p:cNvSpPr/>
          <p:nvPr/>
        </p:nvSpPr>
        <p:spPr>
          <a:xfrm>
            <a:off x="4114800" y="6186488"/>
            <a:ext cx="1362646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Prior versions of a site that may retain since-removed information</a:t>
            </a:r>
            <a:endParaRPr lang="en-US" sz="1800" dirty="0"/>
          </a:p>
        </p:txBody>
      </p:sp>
      <p:sp>
        <p:nvSpPr>
          <p:cNvPr id="31" name="Shape 29"/>
          <p:cNvSpPr/>
          <p:nvPr/>
        </p:nvSpPr>
        <p:spPr>
          <a:xfrm>
            <a:off x="800100" y="6567488"/>
            <a:ext cx="3162300" cy="752475"/>
          </a:xfrm>
          <a:prstGeom prst="rect">
            <a:avLst/>
          </a:prstGeom>
          <a:solidFill>
            <a:srgbClr val="FFFFFF">
              <a:alpha val="2000"/>
            </a:srgbClr>
          </a:solidFill>
          <a:ln/>
        </p:spPr>
      </p:sp>
      <p:sp>
        <p:nvSpPr>
          <p:cNvPr id="32" name="Shape 30"/>
          <p:cNvSpPr/>
          <p:nvPr/>
        </p:nvSpPr>
        <p:spPr>
          <a:xfrm>
            <a:off x="800100" y="7310438"/>
            <a:ext cx="3162300" cy="9525"/>
          </a:xfrm>
          <a:prstGeom prst="rect">
            <a:avLst/>
          </a:prstGeom>
          <a:solidFill>
            <a:srgbClr val="2A2F3A"/>
          </a:solidFill>
          <a:ln/>
        </p:spPr>
      </p:sp>
      <p:sp>
        <p:nvSpPr>
          <p:cNvPr id="33" name="Text 31"/>
          <p:cNvSpPr/>
          <p:nvPr/>
        </p:nvSpPr>
        <p:spPr>
          <a:xfrm>
            <a:off x="952500" y="6672263"/>
            <a:ext cx="295236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Code repositories and paste sites</a:t>
            </a:r>
            <a:endParaRPr lang="en-US" sz="1800" dirty="0"/>
          </a:p>
        </p:txBody>
      </p:sp>
      <p:sp>
        <p:nvSpPr>
          <p:cNvPr id="34" name="Shape 32"/>
          <p:cNvSpPr/>
          <p:nvPr/>
        </p:nvSpPr>
        <p:spPr>
          <a:xfrm>
            <a:off x="3962400" y="6567488"/>
            <a:ext cx="13525500" cy="752475"/>
          </a:xfrm>
          <a:prstGeom prst="rect">
            <a:avLst/>
          </a:prstGeom>
          <a:solidFill>
            <a:srgbClr val="FFFFFF">
              <a:alpha val="2000"/>
            </a:srgbClr>
          </a:solidFill>
          <a:ln/>
        </p:spPr>
      </p:sp>
      <p:sp>
        <p:nvSpPr>
          <p:cNvPr id="35" name="Shape 33"/>
          <p:cNvSpPr/>
          <p:nvPr/>
        </p:nvSpPr>
        <p:spPr>
          <a:xfrm>
            <a:off x="3962400" y="7310438"/>
            <a:ext cx="13525500" cy="9525"/>
          </a:xfrm>
          <a:prstGeom prst="rect">
            <a:avLst/>
          </a:prstGeom>
          <a:solidFill>
            <a:srgbClr val="2A2F3A"/>
          </a:solidFill>
          <a:ln/>
        </p:spPr>
      </p:sp>
      <p:sp>
        <p:nvSpPr>
          <p:cNvPr id="36" name="Text 34"/>
          <p:cNvSpPr/>
          <p:nvPr/>
        </p:nvSpPr>
        <p:spPr>
          <a:xfrm>
            <a:off x="4114800" y="6672263"/>
            <a:ext cx="13626465"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Leaked credentials, internal hostnames, and configuration detail</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5.2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Passive Information Gathering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TWO APPROACHES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Third-party information about the target, and the target's own public footprint read via a third party.</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OSINT</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Publicly available intelligence spanning organisational, people, technical and historical categories.</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DNS AND WEB</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Certificate transparency, passive DNS history, and cached pages reveal infrastructure without a single packet reaching it.</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9774" y="3870945"/>
            <a:ext cx="2088379"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5.3</a:t>
            </a:r>
            <a:endParaRPr lang="en-US" sz="1650" dirty="0"/>
          </a:p>
        </p:txBody>
      </p:sp>
      <p:sp>
        <p:nvSpPr>
          <p:cNvPr id="4" name="Text 2"/>
          <p:cNvSpPr/>
          <p:nvPr/>
        </p:nvSpPr>
        <p:spPr>
          <a:xfrm>
            <a:off x="2835481" y="4385295"/>
            <a:ext cx="12617038"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Active Information Gathering</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Netcat and Nmap port scanning, DNS, SMB, SMTP and SNMP enumeration, and living off the land techniques.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2618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520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port scanning comes first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port scan answers the first active question of an engagement: what is actually reachable, and what is listening on it. Everything that follows in this module depends on this answer being accurate.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closed port cannot be enumerated further. Missing an open port here means the service behind it is invisible for the rest of the engagement.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Firewalls and filtering that make a port appear closed when it is actually filtered. The two states require different follow-up.</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28454"/>
            <a:ext cx="292618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14179"/>
            <a:ext cx="26520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1 of 3</a:t>
            </a:r>
            <a:endParaRPr lang="en-US" sz="1500" dirty="0"/>
          </a:p>
        </p:txBody>
      </p:sp>
      <p:sp>
        <p:nvSpPr>
          <p:cNvPr id="5" name="Text 3"/>
          <p:cNvSpPr/>
          <p:nvPr/>
        </p:nvSpPr>
        <p:spPr>
          <a:xfrm>
            <a:off x="800100" y="327139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Port scanning with Netcat</a:t>
            </a:r>
            <a:endParaRPr lang="en-US" sz="3000" dirty="0"/>
          </a:p>
        </p:txBody>
      </p:sp>
      <p:sp>
        <p:nvSpPr>
          <p:cNvPr id="6" name="Text 4"/>
          <p:cNvSpPr/>
          <p:nvPr/>
        </p:nvSpPr>
        <p:spPr>
          <a:xfrm>
            <a:off x="800100" y="393814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Netcat can perform a basic connect scan by attempting a full connection to a range of ports. It is minimal and unsophisticated compared to a purpose-built scanner, which is exactly its value in constrained situations.</a:t>
            </a:r>
            <a:endParaRPr lang="en-US" sz="2175" dirty="0"/>
          </a:p>
        </p:txBody>
      </p:sp>
      <p:sp>
        <p:nvSpPr>
          <p:cNvPr id="7" name="Shape 5"/>
          <p:cNvSpPr/>
          <p:nvPr/>
        </p:nvSpPr>
        <p:spPr>
          <a:xfrm>
            <a:off x="800100" y="4986784"/>
            <a:ext cx="16687800" cy="628650"/>
          </a:xfrm>
          <a:prstGeom prst="roundRect">
            <a:avLst>
              <a:gd name="adj" fmla="val 18182"/>
            </a:avLst>
          </a:prstGeom>
          <a:solidFill>
            <a:srgbClr val="000000">
              <a:alpha val="35000"/>
            </a:srgbClr>
          </a:solidFill>
          <a:ln w="9525">
            <a:solidFill>
              <a:srgbClr val="2A2F3A"/>
            </a:solidFill>
            <a:prstDash val="solid"/>
          </a:ln>
        </p:spPr>
      </p:sp>
      <p:sp>
        <p:nvSpPr>
          <p:cNvPr id="8" name="Text 6"/>
          <p:cNvSpPr/>
          <p:nvPr/>
        </p:nvSpPr>
        <p:spPr>
          <a:xfrm>
            <a:off x="1019175" y="5167759"/>
            <a:ext cx="16750284" cy="304800"/>
          </a:xfrm>
          <a:prstGeom prst="rect">
            <a:avLst/>
          </a:prstGeom>
          <a:noFill/>
          <a:ln/>
        </p:spPr>
        <p:txBody>
          <a:bodyPr wrap="none" lIns="25400" tIns="25400" rIns="25400" bIns="25400" rtlCol="0" anchor="t">
            <a:normAutofit/>
          </a:bodyPr>
          <a:lstStyle/>
          <a:p>
            <a:pPr algn="l" indent="0" marL="0">
              <a:buNone/>
            </a:pPr>
            <a:r>
              <a:rPr lang="en-US" sz="1800" dirty="0">
                <a:solidFill>
                  <a:srgbClr val="FFD9BF"/>
                </a:solidFill>
                <a:latin typeface="Courier New" pitchFamily="34" charset="0"/>
                <a:ea typeface="Courier New" pitchFamily="34" charset="-122"/>
                <a:cs typeface="Courier New" pitchFamily="34" charset="-120"/>
              </a:rPr>
              <a:t>nc -nvz -w1 &lt;target&gt; 1-1000</a:t>
            </a:r>
            <a:endParaRPr lang="en-US" sz="1800" dirty="0"/>
          </a:p>
        </p:txBody>
      </p:sp>
      <p:sp>
        <p:nvSpPr>
          <p:cNvPr id="9" name="Shape 7"/>
          <p:cNvSpPr/>
          <p:nvPr/>
        </p:nvSpPr>
        <p:spPr>
          <a:xfrm>
            <a:off x="800100"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38225"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42029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Netcat is present on far more systems than a dedicated scanner. Knowing this fallback matters when the primary tool is unavailable or would be too noisy.</a:t>
            </a:r>
            <a:endParaRPr lang="en-US" sz="1875" dirty="0"/>
          </a:p>
        </p:txBody>
      </p:sp>
      <p:sp>
        <p:nvSpPr>
          <p:cNvPr id="12" name="Shape 10"/>
          <p:cNvSpPr/>
          <p:nvPr/>
        </p:nvSpPr>
        <p:spPr>
          <a:xfrm>
            <a:off x="9248775"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9486900"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LIMITATION</a:t>
            </a:r>
            <a:endParaRPr lang="en-US" sz="1500" dirty="0"/>
          </a:p>
        </p:txBody>
      </p:sp>
      <p:sp>
        <p:nvSpPr>
          <p:cNvPr id="14" name="Text 12"/>
          <p:cNvSpPr/>
          <p:nvPr/>
        </p:nvSpPr>
        <p:spPr>
          <a:xfrm>
            <a:off x="9486900" y="642029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full connect scan is slower and far more visible in logs than a scanner's stealthier options, and it identifies far less about each open port.</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461766"/>
            <a:ext cx="292618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547491"/>
            <a:ext cx="26520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1 of 3</a:t>
            </a:r>
            <a:endParaRPr lang="en-US" sz="1500" dirty="0"/>
          </a:p>
        </p:txBody>
      </p:sp>
      <p:sp>
        <p:nvSpPr>
          <p:cNvPr id="5" name="Text 3"/>
          <p:cNvSpPr/>
          <p:nvPr/>
        </p:nvSpPr>
        <p:spPr>
          <a:xfrm>
            <a:off x="800100" y="310470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Port scanning with Nmap</a:t>
            </a:r>
            <a:endParaRPr lang="en-US" sz="3000" dirty="0"/>
          </a:p>
        </p:txBody>
      </p:sp>
      <p:sp>
        <p:nvSpPr>
          <p:cNvPr id="6" name="Text 4"/>
          <p:cNvSpPr/>
          <p:nvPr/>
        </p:nvSpPr>
        <p:spPr>
          <a:xfrm>
            <a:off x="800100" y="377145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Nmap is the primary port scanning tool of the course, offering scan types, timing control and service identification that a basic connect scan cannot match.</a:t>
            </a:r>
            <a:endParaRPr lang="en-US" sz="2175" dirty="0"/>
          </a:p>
        </p:txBody>
      </p:sp>
      <p:sp>
        <p:nvSpPr>
          <p:cNvPr id="7" name="Shape 5"/>
          <p:cNvSpPr/>
          <p:nvPr/>
        </p:nvSpPr>
        <p:spPr>
          <a:xfrm>
            <a:off x="800100" y="4820096"/>
            <a:ext cx="16687800" cy="628650"/>
          </a:xfrm>
          <a:prstGeom prst="roundRect">
            <a:avLst>
              <a:gd name="adj" fmla="val 18182"/>
            </a:avLst>
          </a:prstGeom>
          <a:solidFill>
            <a:srgbClr val="000000">
              <a:alpha val="35000"/>
            </a:srgbClr>
          </a:solidFill>
          <a:ln w="9525">
            <a:solidFill>
              <a:srgbClr val="2A2F3A"/>
            </a:solidFill>
            <a:prstDash val="solid"/>
          </a:ln>
        </p:spPr>
      </p:sp>
      <p:sp>
        <p:nvSpPr>
          <p:cNvPr id="8" name="Text 6"/>
          <p:cNvSpPr/>
          <p:nvPr/>
        </p:nvSpPr>
        <p:spPr>
          <a:xfrm>
            <a:off x="1019175" y="5001071"/>
            <a:ext cx="16750284" cy="304800"/>
          </a:xfrm>
          <a:prstGeom prst="rect">
            <a:avLst/>
          </a:prstGeom>
          <a:noFill/>
          <a:ln/>
        </p:spPr>
        <p:txBody>
          <a:bodyPr wrap="none" lIns="25400" tIns="25400" rIns="25400" bIns="25400" rtlCol="0" anchor="t">
            <a:normAutofit/>
          </a:bodyPr>
          <a:lstStyle/>
          <a:p>
            <a:pPr algn="l" indent="0" marL="0">
              <a:buNone/>
            </a:pPr>
            <a:r>
              <a:rPr lang="en-US" sz="1800" dirty="0">
                <a:solidFill>
                  <a:srgbClr val="FFD9BF"/>
                </a:solidFill>
                <a:latin typeface="Courier New" pitchFamily="34" charset="0"/>
                <a:ea typeface="Courier New" pitchFamily="34" charset="-122"/>
                <a:cs typeface="Courier New" pitchFamily="34" charset="-120"/>
              </a:rPr>
              <a:t>nmap -sC -sV -p- &lt;target&gt;</a:t>
            </a:r>
            <a:endParaRPr lang="en-US" sz="1800" dirty="0"/>
          </a:p>
        </p:txBody>
      </p:sp>
      <p:sp>
        <p:nvSpPr>
          <p:cNvPr id="9" name="Shape 7"/>
          <p:cNvSpPr/>
          <p:nvPr/>
        </p:nvSpPr>
        <p:spPr>
          <a:xfrm>
            <a:off x="800100" y="5696396"/>
            <a:ext cx="5435575" cy="2128838"/>
          </a:xfrm>
          <a:prstGeom prst="roundRect">
            <a:avLst>
              <a:gd name="adj" fmla="val 7159"/>
            </a:avLst>
          </a:prstGeom>
          <a:solidFill>
            <a:srgbClr val="FFFFFF">
              <a:alpha val="2000"/>
            </a:srgbClr>
          </a:solidFill>
          <a:ln w="9525">
            <a:solidFill>
              <a:srgbClr val="2A2F3A"/>
            </a:solidFill>
            <a:prstDash val="solid"/>
          </a:ln>
        </p:spPr>
      </p:sp>
      <p:sp>
        <p:nvSpPr>
          <p:cNvPr id="10" name="Text 8"/>
          <p:cNvSpPr/>
          <p:nvPr/>
        </p:nvSpPr>
        <p:spPr>
          <a:xfrm>
            <a:off x="1038225" y="593452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SCAN TYPES</a:t>
            </a:r>
            <a:endParaRPr lang="en-US" sz="1500" dirty="0"/>
          </a:p>
        </p:txBody>
      </p:sp>
      <p:sp>
        <p:nvSpPr>
          <p:cNvPr id="11" name="Text 9"/>
          <p:cNvSpPr/>
          <p:nvPr/>
        </p:nvSpPr>
        <p:spPr>
          <a:xfrm>
            <a:off x="1038225" y="625360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SYN scans avoid completing the TCP handshake; connect scans complete it; UDP scanning covers a distinct set of services entirely.</a:t>
            </a:r>
            <a:endParaRPr lang="en-US" sz="1875" dirty="0"/>
          </a:p>
        </p:txBody>
      </p:sp>
      <p:sp>
        <p:nvSpPr>
          <p:cNvPr id="12" name="Shape 10"/>
          <p:cNvSpPr/>
          <p:nvPr/>
        </p:nvSpPr>
        <p:spPr>
          <a:xfrm>
            <a:off x="6426175" y="5696396"/>
            <a:ext cx="5435575" cy="2128838"/>
          </a:xfrm>
          <a:prstGeom prst="roundRect">
            <a:avLst>
              <a:gd name="adj" fmla="val 7159"/>
            </a:avLst>
          </a:prstGeom>
          <a:solidFill>
            <a:srgbClr val="FFFFFF">
              <a:alpha val="2000"/>
            </a:srgbClr>
          </a:solidFill>
          <a:ln w="9525">
            <a:solidFill>
              <a:srgbClr val="2A2F3A"/>
            </a:solidFill>
            <a:prstDash val="solid"/>
          </a:ln>
        </p:spPr>
      </p:sp>
      <p:sp>
        <p:nvSpPr>
          <p:cNvPr id="13" name="Text 11"/>
          <p:cNvSpPr/>
          <p:nvPr/>
        </p:nvSpPr>
        <p:spPr>
          <a:xfrm>
            <a:off x="6664300" y="593452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SERVICE IDENTIFICATION</a:t>
            </a:r>
            <a:endParaRPr lang="en-US" sz="1500" dirty="0"/>
          </a:p>
        </p:txBody>
      </p:sp>
      <p:sp>
        <p:nvSpPr>
          <p:cNvPr id="14" name="Text 12"/>
          <p:cNvSpPr/>
          <p:nvPr/>
        </p:nvSpPr>
        <p:spPr>
          <a:xfrm>
            <a:off x="6664300" y="625360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Version detection fingerprints what is actually listening, which is the single piece of information Module 6 and Module 11 both depend on.</a:t>
            </a:r>
            <a:endParaRPr lang="en-US" sz="1875" dirty="0"/>
          </a:p>
        </p:txBody>
      </p:sp>
      <p:sp>
        <p:nvSpPr>
          <p:cNvPr id="15" name="Shape 13"/>
          <p:cNvSpPr/>
          <p:nvPr/>
        </p:nvSpPr>
        <p:spPr>
          <a:xfrm>
            <a:off x="12052250" y="5696396"/>
            <a:ext cx="5435650" cy="2128838"/>
          </a:xfrm>
          <a:prstGeom prst="roundRect">
            <a:avLst>
              <a:gd name="adj" fmla="val 7159"/>
            </a:avLst>
          </a:prstGeom>
          <a:solidFill>
            <a:srgbClr val="FFFFFF">
              <a:alpha val="2000"/>
            </a:srgbClr>
          </a:solidFill>
          <a:ln w="9525">
            <a:solidFill>
              <a:srgbClr val="2A2F3A"/>
            </a:solidFill>
            <a:prstDash val="solid"/>
          </a:ln>
        </p:spPr>
      </p:sp>
      <p:sp>
        <p:nvSpPr>
          <p:cNvPr id="16" name="Text 14"/>
          <p:cNvSpPr/>
          <p:nvPr/>
        </p:nvSpPr>
        <p:spPr>
          <a:xfrm>
            <a:off x="12290375" y="593452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TIMING AND STEALTH</a:t>
            </a:r>
            <a:endParaRPr lang="en-US" sz="1500" dirty="0"/>
          </a:p>
        </p:txBody>
      </p:sp>
      <p:sp>
        <p:nvSpPr>
          <p:cNvPr id="17" name="Text 15"/>
          <p:cNvSpPr/>
          <p:nvPr/>
        </p:nvSpPr>
        <p:spPr>
          <a:xfrm>
            <a:off x="12290375" y="6253609"/>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Scan speed trades against visibility. A test with agreed noise tolerance can scan aggressively; one without it cannot.</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Netcat scanning versus Nmap scanning</a:t>
            </a:r>
            <a:endParaRPr lang="en-US" sz="3000" dirty="0"/>
          </a:p>
        </p:txBody>
      </p:sp>
      <p:sp>
        <p:nvSpPr>
          <p:cNvPr id="5" name="Shape 3"/>
          <p:cNvSpPr/>
          <p:nvPr/>
        </p:nvSpPr>
        <p:spPr>
          <a:xfrm>
            <a:off x="800100" y="4993481"/>
            <a:ext cx="7581900"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NETCAT</a:t>
            </a:r>
            <a:endParaRPr lang="en-US" sz="1500" dirty="0"/>
          </a:p>
        </p:txBody>
      </p:sp>
      <p:sp>
        <p:nvSpPr>
          <p:cNvPr id="7" name="Text 5"/>
          <p:cNvSpPr/>
          <p:nvPr/>
        </p:nvSpPr>
        <p:spPr>
          <a:xfrm>
            <a:off x="1038225" y="5550694"/>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Minimal, almost universally present, but slow and reveals little beyond open or closed. Use when Nmap is unavailable on the attacking path.</a:t>
            </a:r>
            <a:endParaRPr lang="en-US" sz="1875" dirty="0"/>
          </a:p>
        </p:txBody>
      </p:sp>
      <p:sp>
        <p:nvSpPr>
          <p:cNvPr id="8" name="Text 6"/>
          <p:cNvSpPr/>
          <p:nvPr/>
        </p:nvSpPr>
        <p:spPr>
          <a:xfrm>
            <a:off x="8534400" y="4993481"/>
            <a:ext cx="1219200" cy="1500188"/>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993481"/>
            <a:ext cx="7581900" cy="1462088"/>
          </a:xfrm>
          <a:prstGeom prst="roundRect">
            <a:avLst>
              <a:gd name="adj" fmla="val 10423"/>
            </a:avLst>
          </a:prstGeom>
          <a:solidFill>
            <a:srgbClr val="FF6A00">
              <a:alpha val="6000"/>
            </a:srgbClr>
          </a:solidFill>
          <a:ln w="9525">
            <a:solidFill>
              <a:srgbClr val="B85100"/>
            </a:solidFill>
            <a:prstDash val="solid"/>
          </a:ln>
        </p:spPr>
      </p:sp>
      <p:sp>
        <p:nvSpPr>
          <p:cNvPr id="10" name="Text 8"/>
          <p:cNvSpPr/>
          <p:nvPr/>
        </p:nvSpPr>
        <p:spPr>
          <a:xfrm>
            <a:off x="10144125" y="523160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NMAP</a:t>
            </a:r>
            <a:endParaRPr lang="en-US" sz="1500" dirty="0"/>
          </a:p>
        </p:txBody>
      </p:sp>
      <p:sp>
        <p:nvSpPr>
          <p:cNvPr id="11" name="Text 9"/>
          <p:cNvSpPr/>
          <p:nvPr/>
        </p:nvSpPr>
        <p:spPr>
          <a:xfrm>
            <a:off x="10144125" y="5550694"/>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Purpose-built: multiple scan types, service and version detection, scripting via NSE. The default choice whenever it is available.</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540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8068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DNS Enumeration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Actively querying a target's own DNS infrastructure — rather than reading third-party passive records — can reveal hosts, mail servers and internal naming conventions directly.</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TECHNIQUES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Zone transfer attempts against misconfigured name servers, and systematic subdomain brute-forcing against the target's own resolver.</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 5.2</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queries the target's DNS servers directly. Certificate transparency and passive DNS history in Objective 5.2 never touch them at all.</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540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8068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SMB Enumeration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SMB enumeration reveals shares, users, groups and operating system detail on Windows hosts, and is often the single richest source of information on a Windows-heavy network.</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REVEALS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Available shares and their permissions, null session information where sessions are permitted, and OS and patch-level fingerprinting.</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14's password attacks and Module 20's Active Directory enumeration both build directly on what SMB enumeration first exposes.</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40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068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2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SMTP Enumeration</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Mail servers can be induced to confirm whether a given username exists, turning a mail service into a username validation tool for later password attacks.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MECHANISM</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Certain SMTP commands respond differently for valid versus invalid recipients, letting a tester enumerate valid usernames without ever authenticating.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14's password attacks against network logins require exactly this: a validated list of real usernames to attack.</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40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068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2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SNMP Enumeration</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SNMP, used for device monitoring and management, frequently ships with weak default community strings and can expose a surprising amount of internal detail once queried.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REVEALS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Running processes, installed software, network interfaces and routing information — often on infrastructure devices rarely hardened as carefully as servers.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Default or guessable community strings. A surprising number of production devices never change them from their factory default.</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7176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316706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Active enumeration by protocol</a:t>
            </a:r>
            <a:endParaRPr lang="en-US" sz="3000" dirty="0"/>
          </a:p>
        </p:txBody>
      </p:sp>
      <p:sp>
        <p:nvSpPr>
          <p:cNvPr id="5" name="Shape 3"/>
          <p:cNvSpPr/>
          <p:nvPr/>
        </p:nvSpPr>
        <p:spPr>
          <a:xfrm>
            <a:off x="800100" y="3833812"/>
            <a:ext cx="2019300" cy="500063"/>
          </a:xfrm>
          <a:prstGeom prst="rect">
            <a:avLst/>
          </a:prstGeom>
          <a:solidFill>
            <a:srgbClr val="FF6A00">
              <a:alpha val="18000"/>
            </a:srgbClr>
          </a:solidFill>
          <a:ln/>
        </p:spPr>
      </p:sp>
      <p:sp>
        <p:nvSpPr>
          <p:cNvPr id="6" name="Shape 4"/>
          <p:cNvSpPr/>
          <p:nvPr/>
        </p:nvSpPr>
        <p:spPr>
          <a:xfrm>
            <a:off x="800100" y="4324350"/>
            <a:ext cx="2019300" cy="9525"/>
          </a:xfrm>
          <a:prstGeom prst="rect">
            <a:avLst/>
          </a:prstGeom>
          <a:solidFill>
            <a:srgbClr val="B85100"/>
          </a:solidFill>
          <a:ln/>
        </p:spPr>
      </p:sp>
      <p:sp>
        <p:nvSpPr>
          <p:cNvPr id="7" name="Text 5"/>
          <p:cNvSpPr/>
          <p:nvPr/>
        </p:nvSpPr>
        <p:spPr>
          <a:xfrm>
            <a:off x="952500" y="3948112"/>
            <a:ext cx="1790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Protocol</a:t>
            </a:r>
            <a:endParaRPr lang="en-US" sz="1800" dirty="0"/>
          </a:p>
        </p:txBody>
      </p:sp>
      <p:sp>
        <p:nvSpPr>
          <p:cNvPr id="8" name="Shape 6"/>
          <p:cNvSpPr/>
          <p:nvPr/>
        </p:nvSpPr>
        <p:spPr>
          <a:xfrm>
            <a:off x="2819400" y="3833812"/>
            <a:ext cx="2781300" cy="500063"/>
          </a:xfrm>
          <a:prstGeom prst="rect">
            <a:avLst/>
          </a:prstGeom>
          <a:solidFill>
            <a:srgbClr val="FF6A00">
              <a:alpha val="18000"/>
            </a:srgbClr>
          </a:solidFill>
          <a:ln/>
        </p:spPr>
      </p:sp>
      <p:sp>
        <p:nvSpPr>
          <p:cNvPr id="9" name="Shape 7"/>
          <p:cNvSpPr/>
          <p:nvPr/>
        </p:nvSpPr>
        <p:spPr>
          <a:xfrm>
            <a:off x="2819400" y="4324350"/>
            <a:ext cx="2781300" cy="9525"/>
          </a:xfrm>
          <a:prstGeom prst="rect">
            <a:avLst/>
          </a:prstGeom>
          <a:solidFill>
            <a:srgbClr val="B85100"/>
          </a:solidFill>
          <a:ln/>
        </p:spPr>
      </p:sp>
      <p:sp>
        <p:nvSpPr>
          <p:cNvPr id="10" name="Text 8"/>
          <p:cNvSpPr/>
          <p:nvPr/>
        </p:nvSpPr>
        <p:spPr>
          <a:xfrm>
            <a:off x="2971800" y="3948112"/>
            <a:ext cx="255993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Reveals</a:t>
            </a:r>
            <a:endParaRPr lang="en-US" sz="1800" dirty="0"/>
          </a:p>
        </p:txBody>
      </p:sp>
      <p:sp>
        <p:nvSpPr>
          <p:cNvPr id="11" name="Shape 9"/>
          <p:cNvSpPr/>
          <p:nvPr/>
        </p:nvSpPr>
        <p:spPr>
          <a:xfrm>
            <a:off x="5600700" y="3833812"/>
            <a:ext cx="11887200" cy="500063"/>
          </a:xfrm>
          <a:prstGeom prst="rect">
            <a:avLst/>
          </a:prstGeom>
          <a:solidFill>
            <a:srgbClr val="FF6A00">
              <a:alpha val="18000"/>
            </a:srgbClr>
          </a:solidFill>
          <a:ln/>
        </p:spPr>
      </p:sp>
      <p:sp>
        <p:nvSpPr>
          <p:cNvPr id="12" name="Shape 10"/>
          <p:cNvSpPr/>
          <p:nvPr/>
        </p:nvSpPr>
        <p:spPr>
          <a:xfrm>
            <a:off x="5600700" y="4324350"/>
            <a:ext cx="11887200" cy="9525"/>
          </a:xfrm>
          <a:prstGeom prst="rect">
            <a:avLst/>
          </a:prstGeom>
          <a:solidFill>
            <a:srgbClr val="B85100"/>
          </a:solidFill>
          <a:ln/>
        </p:spPr>
      </p:sp>
      <p:sp>
        <p:nvSpPr>
          <p:cNvPr id="13" name="Text 11"/>
          <p:cNvSpPr/>
          <p:nvPr/>
        </p:nvSpPr>
        <p:spPr>
          <a:xfrm>
            <a:off x="5753100" y="3948112"/>
            <a:ext cx="1193901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Feeds into</a:t>
            </a:r>
            <a:endParaRPr lang="en-US" sz="1800" dirty="0"/>
          </a:p>
        </p:txBody>
      </p:sp>
      <p:sp>
        <p:nvSpPr>
          <p:cNvPr id="14" name="Shape 12"/>
          <p:cNvSpPr/>
          <p:nvPr/>
        </p:nvSpPr>
        <p:spPr>
          <a:xfrm>
            <a:off x="800100" y="4333875"/>
            <a:ext cx="2019300" cy="752475"/>
          </a:xfrm>
          <a:prstGeom prst="rect">
            <a:avLst/>
          </a:prstGeom>
          <a:solidFill>
            <a:srgbClr val="FFFFFF">
              <a:alpha val="2000"/>
            </a:srgbClr>
          </a:solidFill>
          <a:ln/>
        </p:spPr>
      </p:sp>
      <p:sp>
        <p:nvSpPr>
          <p:cNvPr id="15" name="Shape 13"/>
          <p:cNvSpPr/>
          <p:nvPr/>
        </p:nvSpPr>
        <p:spPr>
          <a:xfrm>
            <a:off x="800100" y="5076825"/>
            <a:ext cx="2019300" cy="9525"/>
          </a:xfrm>
          <a:prstGeom prst="rect">
            <a:avLst/>
          </a:prstGeom>
          <a:solidFill>
            <a:srgbClr val="2A2F3A"/>
          </a:solidFill>
          <a:ln/>
        </p:spPr>
      </p:sp>
      <p:sp>
        <p:nvSpPr>
          <p:cNvPr id="16" name="Text 14"/>
          <p:cNvSpPr/>
          <p:nvPr/>
        </p:nvSpPr>
        <p:spPr>
          <a:xfrm>
            <a:off x="952500" y="4438650"/>
            <a:ext cx="1790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DNS</a:t>
            </a:r>
            <a:endParaRPr lang="en-US" sz="1800" dirty="0"/>
          </a:p>
        </p:txBody>
      </p:sp>
      <p:sp>
        <p:nvSpPr>
          <p:cNvPr id="17" name="Shape 15"/>
          <p:cNvSpPr/>
          <p:nvPr/>
        </p:nvSpPr>
        <p:spPr>
          <a:xfrm>
            <a:off x="2819400" y="4333875"/>
            <a:ext cx="2781300" cy="752475"/>
          </a:xfrm>
          <a:prstGeom prst="rect">
            <a:avLst/>
          </a:prstGeom>
          <a:solidFill>
            <a:srgbClr val="FFFFFF">
              <a:alpha val="2000"/>
            </a:srgbClr>
          </a:solidFill>
          <a:ln/>
        </p:spPr>
      </p:sp>
      <p:sp>
        <p:nvSpPr>
          <p:cNvPr id="18" name="Shape 16"/>
          <p:cNvSpPr/>
          <p:nvPr/>
        </p:nvSpPr>
        <p:spPr>
          <a:xfrm>
            <a:off x="2819400" y="5076825"/>
            <a:ext cx="2781300" cy="9525"/>
          </a:xfrm>
          <a:prstGeom prst="rect">
            <a:avLst/>
          </a:prstGeom>
          <a:solidFill>
            <a:srgbClr val="2A2F3A"/>
          </a:solidFill>
          <a:ln/>
        </p:spPr>
      </p:sp>
      <p:sp>
        <p:nvSpPr>
          <p:cNvPr id="19" name="Text 17"/>
          <p:cNvSpPr/>
          <p:nvPr/>
        </p:nvSpPr>
        <p:spPr>
          <a:xfrm>
            <a:off x="2971800" y="4438650"/>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Hosts, mail servers, naming conventions</a:t>
            </a:r>
            <a:endParaRPr lang="en-US" sz="1800" dirty="0"/>
          </a:p>
        </p:txBody>
      </p:sp>
      <p:sp>
        <p:nvSpPr>
          <p:cNvPr id="20" name="Shape 18"/>
          <p:cNvSpPr/>
          <p:nvPr/>
        </p:nvSpPr>
        <p:spPr>
          <a:xfrm>
            <a:off x="5600700" y="4333875"/>
            <a:ext cx="11887200" cy="752475"/>
          </a:xfrm>
          <a:prstGeom prst="rect">
            <a:avLst/>
          </a:prstGeom>
          <a:solidFill>
            <a:srgbClr val="FFFFFF">
              <a:alpha val="2000"/>
            </a:srgbClr>
          </a:solidFill>
          <a:ln/>
        </p:spPr>
      </p:sp>
      <p:sp>
        <p:nvSpPr>
          <p:cNvPr id="21" name="Shape 19"/>
          <p:cNvSpPr/>
          <p:nvPr/>
        </p:nvSpPr>
        <p:spPr>
          <a:xfrm>
            <a:off x="5600700" y="5076825"/>
            <a:ext cx="11887200" cy="9525"/>
          </a:xfrm>
          <a:prstGeom prst="rect">
            <a:avLst/>
          </a:prstGeom>
          <a:solidFill>
            <a:srgbClr val="2A2F3A"/>
          </a:solidFill>
          <a:ln/>
        </p:spPr>
      </p:sp>
      <p:sp>
        <p:nvSpPr>
          <p:cNvPr id="22" name="Text 20"/>
          <p:cNvSpPr/>
          <p:nvPr/>
        </p:nvSpPr>
        <p:spPr>
          <a:xfrm>
            <a:off x="5753100" y="4438650"/>
            <a:ext cx="1193901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Target list expansion, Module 7 web application discovery</a:t>
            </a:r>
            <a:endParaRPr lang="en-US" sz="1800" dirty="0"/>
          </a:p>
        </p:txBody>
      </p:sp>
      <p:sp>
        <p:nvSpPr>
          <p:cNvPr id="23" name="Shape 21"/>
          <p:cNvSpPr/>
          <p:nvPr/>
        </p:nvSpPr>
        <p:spPr>
          <a:xfrm>
            <a:off x="800100" y="5829300"/>
            <a:ext cx="2019300" cy="9525"/>
          </a:xfrm>
          <a:prstGeom prst="rect">
            <a:avLst/>
          </a:prstGeom>
          <a:solidFill>
            <a:srgbClr val="2A2F3A"/>
          </a:solidFill>
          <a:ln/>
        </p:spPr>
      </p:sp>
      <p:sp>
        <p:nvSpPr>
          <p:cNvPr id="24" name="Text 22"/>
          <p:cNvSpPr/>
          <p:nvPr/>
        </p:nvSpPr>
        <p:spPr>
          <a:xfrm>
            <a:off x="952500" y="5191125"/>
            <a:ext cx="1790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SMB</a:t>
            </a:r>
            <a:endParaRPr lang="en-US" sz="1800" dirty="0"/>
          </a:p>
        </p:txBody>
      </p:sp>
      <p:sp>
        <p:nvSpPr>
          <p:cNvPr id="25" name="Shape 23"/>
          <p:cNvSpPr/>
          <p:nvPr/>
        </p:nvSpPr>
        <p:spPr>
          <a:xfrm>
            <a:off x="2819400" y="5829300"/>
            <a:ext cx="2781300" cy="9525"/>
          </a:xfrm>
          <a:prstGeom prst="rect">
            <a:avLst/>
          </a:prstGeom>
          <a:solidFill>
            <a:srgbClr val="2A2F3A"/>
          </a:solidFill>
          <a:ln/>
        </p:spPr>
      </p:sp>
      <p:sp>
        <p:nvSpPr>
          <p:cNvPr id="26" name="Text 24"/>
          <p:cNvSpPr/>
          <p:nvPr/>
        </p:nvSpPr>
        <p:spPr>
          <a:xfrm>
            <a:off x="2971800" y="5191125"/>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Shares, users, groups, OS fingerprint</a:t>
            </a:r>
            <a:endParaRPr lang="en-US" sz="1800" dirty="0"/>
          </a:p>
        </p:txBody>
      </p:sp>
      <p:sp>
        <p:nvSpPr>
          <p:cNvPr id="27" name="Shape 25"/>
          <p:cNvSpPr/>
          <p:nvPr/>
        </p:nvSpPr>
        <p:spPr>
          <a:xfrm>
            <a:off x="5600700" y="5829300"/>
            <a:ext cx="11887200" cy="9525"/>
          </a:xfrm>
          <a:prstGeom prst="rect">
            <a:avLst/>
          </a:prstGeom>
          <a:solidFill>
            <a:srgbClr val="2A2F3A"/>
          </a:solidFill>
          <a:ln/>
        </p:spPr>
      </p:sp>
      <p:sp>
        <p:nvSpPr>
          <p:cNvPr id="28" name="Text 26"/>
          <p:cNvSpPr/>
          <p:nvPr/>
        </p:nvSpPr>
        <p:spPr>
          <a:xfrm>
            <a:off x="5753100" y="5191125"/>
            <a:ext cx="1193901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Module 14 password attacks, Module 20 AD enumeration</a:t>
            </a:r>
            <a:endParaRPr lang="en-US" sz="1800" dirty="0"/>
          </a:p>
        </p:txBody>
      </p:sp>
      <p:sp>
        <p:nvSpPr>
          <p:cNvPr id="29" name="Shape 27"/>
          <p:cNvSpPr/>
          <p:nvPr/>
        </p:nvSpPr>
        <p:spPr>
          <a:xfrm>
            <a:off x="800100" y="5838825"/>
            <a:ext cx="2019300" cy="1019175"/>
          </a:xfrm>
          <a:prstGeom prst="rect">
            <a:avLst/>
          </a:prstGeom>
          <a:solidFill>
            <a:srgbClr val="FFFFFF">
              <a:alpha val="2000"/>
            </a:srgbClr>
          </a:solidFill>
          <a:ln/>
        </p:spPr>
      </p:sp>
      <p:sp>
        <p:nvSpPr>
          <p:cNvPr id="30" name="Shape 28"/>
          <p:cNvSpPr/>
          <p:nvPr/>
        </p:nvSpPr>
        <p:spPr>
          <a:xfrm>
            <a:off x="800100" y="6848475"/>
            <a:ext cx="2019300" cy="9525"/>
          </a:xfrm>
          <a:prstGeom prst="rect">
            <a:avLst/>
          </a:prstGeom>
          <a:solidFill>
            <a:srgbClr val="2A2F3A"/>
          </a:solidFill>
          <a:ln/>
        </p:spPr>
      </p:sp>
      <p:sp>
        <p:nvSpPr>
          <p:cNvPr id="31" name="Text 29"/>
          <p:cNvSpPr/>
          <p:nvPr/>
        </p:nvSpPr>
        <p:spPr>
          <a:xfrm>
            <a:off x="952500" y="5943600"/>
            <a:ext cx="1790700" cy="8382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SMTP</a:t>
            </a:r>
            <a:endParaRPr lang="en-US" sz="1800" dirty="0"/>
          </a:p>
        </p:txBody>
      </p:sp>
      <p:sp>
        <p:nvSpPr>
          <p:cNvPr id="32" name="Shape 30"/>
          <p:cNvSpPr/>
          <p:nvPr/>
        </p:nvSpPr>
        <p:spPr>
          <a:xfrm>
            <a:off x="2819400" y="5838825"/>
            <a:ext cx="2781300" cy="1019175"/>
          </a:xfrm>
          <a:prstGeom prst="rect">
            <a:avLst/>
          </a:prstGeom>
          <a:solidFill>
            <a:srgbClr val="FFFFFF">
              <a:alpha val="2000"/>
            </a:srgbClr>
          </a:solidFill>
          <a:ln/>
        </p:spPr>
      </p:sp>
      <p:sp>
        <p:nvSpPr>
          <p:cNvPr id="33" name="Shape 31"/>
          <p:cNvSpPr/>
          <p:nvPr/>
        </p:nvSpPr>
        <p:spPr>
          <a:xfrm>
            <a:off x="2819400" y="6848475"/>
            <a:ext cx="2781300" cy="9525"/>
          </a:xfrm>
          <a:prstGeom prst="rect">
            <a:avLst/>
          </a:prstGeom>
          <a:solidFill>
            <a:srgbClr val="2A2F3A"/>
          </a:solidFill>
          <a:ln/>
        </p:spPr>
      </p:sp>
      <p:sp>
        <p:nvSpPr>
          <p:cNvPr id="34" name="Text 32"/>
          <p:cNvSpPr/>
          <p:nvPr/>
        </p:nvSpPr>
        <p:spPr>
          <a:xfrm>
            <a:off x="2971800" y="5943600"/>
            <a:ext cx="2559939" cy="8382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Valid usernames via command response differences</a:t>
            </a:r>
            <a:endParaRPr lang="en-US" sz="1800" dirty="0"/>
          </a:p>
        </p:txBody>
      </p:sp>
      <p:sp>
        <p:nvSpPr>
          <p:cNvPr id="35" name="Shape 33"/>
          <p:cNvSpPr/>
          <p:nvPr/>
        </p:nvSpPr>
        <p:spPr>
          <a:xfrm>
            <a:off x="5600700" y="5838825"/>
            <a:ext cx="11887200" cy="1019175"/>
          </a:xfrm>
          <a:prstGeom prst="rect">
            <a:avLst/>
          </a:prstGeom>
          <a:solidFill>
            <a:srgbClr val="FFFFFF">
              <a:alpha val="2000"/>
            </a:srgbClr>
          </a:solidFill>
          <a:ln/>
        </p:spPr>
      </p:sp>
      <p:sp>
        <p:nvSpPr>
          <p:cNvPr id="36" name="Shape 34"/>
          <p:cNvSpPr/>
          <p:nvPr/>
        </p:nvSpPr>
        <p:spPr>
          <a:xfrm>
            <a:off x="5600700" y="6848475"/>
            <a:ext cx="11887200" cy="9525"/>
          </a:xfrm>
          <a:prstGeom prst="rect">
            <a:avLst/>
          </a:prstGeom>
          <a:solidFill>
            <a:srgbClr val="2A2F3A"/>
          </a:solidFill>
          <a:ln/>
        </p:spPr>
      </p:sp>
      <p:sp>
        <p:nvSpPr>
          <p:cNvPr id="37" name="Text 35"/>
          <p:cNvSpPr/>
          <p:nvPr/>
        </p:nvSpPr>
        <p:spPr>
          <a:xfrm>
            <a:off x="5753100" y="5943600"/>
            <a:ext cx="11939016" cy="8382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Module 14 password attacks against network logins</a:t>
            </a:r>
            <a:endParaRPr lang="en-US" sz="1800" dirty="0"/>
          </a:p>
        </p:txBody>
      </p:sp>
      <p:sp>
        <p:nvSpPr>
          <p:cNvPr id="38" name="Shape 36"/>
          <p:cNvSpPr/>
          <p:nvPr/>
        </p:nvSpPr>
        <p:spPr>
          <a:xfrm>
            <a:off x="800100" y="7600950"/>
            <a:ext cx="2019300" cy="9525"/>
          </a:xfrm>
          <a:prstGeom prst="rect">
            <a:avLst/>
          </a:prstGeom>
          <a:solidFill>
            <a:srgbClr val="2A2F3A"/>
          </a:solidFill>
          <a:ln/>
        </p:spPr>
      </p:sp>
      <p:sp>
        <p:nvSpPr>
          <p:cNvPr id="39" name="Text 37"/>
          <p:cNvSpPr/>
          <p:nvPr/>
        </p:nvSpPr>
        <p:spPr>
          <a:xfrm>
            <a:off x="952500" y="6962775"/>
            <a:ext cx="1790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SNMP</a:t>
            </a:r>
            <a:endParaRPr lang="en-US" sz="1800" dirty="0"/>
          </a:p>
        </p:txBody>
      </p:sp>
      <p:sp>
        <p:nvSpPr>
          <p:cNvPr id="40" name="Shape 38"/>
          <p:cNvSpPr/>
          <p:nvPr/>
        </p:nvSpPr>
        <p:spPr>
          <a:xfrm>
            <a:off x="2819400" y="7600950"/>
            <a:ext cx="2781300" cy="9525"/>
          </a:xfrm>
          <a:prstGeom prst="rect">
            <a:avLst/>
          </a:prstGeom>
          <a:solidFill>
            <a:srgbClr val="2A2F3A"/>
          </a:solidFill>
          <a:ln/>
        </p:spPr>
      </p:sp>
      <p:sp>
        <p:nvSpPr>
          <p:cNvPr id="41" name="Text 39"/>
          <p:cNvSpPr/>
          <p:nvPr/>
        </p:nvSpPr>
        <p:spPr>
          <a:xfrm>
            <a:off x="2971800" y="6962775"/>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Processes, software, interfaces, routing</a:t>
            </a:r>
            <a:endParaRPr lang="en-US" sz="1800" dirty="0"/>
          </a:p>
        </p:txBody>
      </p:sp>
      <p:sp>
        <p:nvSpPr>
          <p:cNvPr id="42" name="Shape 40"/>
          <p:cNvSpPr/>
          <p:nvPr/>
        </p:nvSpPr>
        <p:spPr>
          <a:xfrm>
            <a:off x="5600700" y="7600950"/>
            <a:ext cx="11887200" cy="9525"/>
          </a:xfrm>
          <a:prstGeom prst="rect">
            <a:avLst/>
          </a:prstGeom>
          <a:solidFill>
            <a:srgbClr val="2A2F3A"/>
          </a:solidFill>
          <a:ln/>
        </p:spPr>
      </p:sp>
      <p:sp>
        <p:nvSpPr>
          <p:cNvPr id="43" name="Text 41"/>
          <p:cNvSpPr/>
          <p:nvPr/>
        </p:nvSpPr>
        <p:spPr>
          <a:xfrm>
            <a:off x="5753100" y="6962775"/>
            <a:ext cx="1193901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Network topology understanding, further host discovery</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557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229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5.3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Living off the Land Techniques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Living off the land means using tools and binaries already present on a system to gather information or perform actions, rather than introducing new tooling that must be transferred and could be flagged.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Native tools are trusted by the operating system and rarely flagged by antivirus, and they require nothing to be uploaded to the target at all.</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13's antivirus evasion and Module 15's Windows enumeration both lean on this same principle — native tools first, introduced tools only when necessary.</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5.3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Active Information Gathering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PORT SCANNING</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Netcat as a minimal fallback, Nmap as the primary scanner with scan types, versioning and NSE scripting.</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PROTOCOL ENUMERATION</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DNS, SMB, SMTP and SNMP each reveal a distinct category of information feeding directly into later modules.</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LIVING OFF THE LAND</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Prefer tools already present on the target — trusted, unflagged, and requiring nothing to be introduced.</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Sequencing an engagement's first hour</a:t>
            </a:r>
            <a:endParaRPr lang="en-US" sz="3000" dirty="0"/>
          </a:p>
        </p:txBody>
      </p:sp>
      <p:sp>
        <p:nvSpPr>
          <p:cNvPr id="5" name="Text 3"/>
          <p:cNvSpPr/>
          <p:nvPr/>
        </p:nvSpPr>
        <p:spPr>
          <a:xfrm>
            <a:off x="800100" y="4302472"/>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You have an authorised scope of a single external domain and its IP range, with no further detail supplied by the client. The rules of engagement permit active scanning but ask that noisy techniques be used sparingly in the first hour.</a:t>
            </a:r>
            <a:endParaRPr lang="en-US" sz="2175" dirty="0"/>
          </a:p>
        </p:txBody>
      </p:sp>
      <p:sp>
        <p:nvSpPr>
          <p:cNvPr id="6" name="Shape 4"/>
          <p:cNvSpPr/>
          <p:nvPr/>
        </p:nvSpPr>
        <p:spPr>
          <a:xfrm>
            <a:off x="800100"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passive sources would you exhaust before sending a single packet to the target, and what would you expect each to reveal?</a:t>
            </a:r>
            <a:endParaRPr lang="en-US" sz="1875" dirty="0"/>
          </a:p>
        </p:txBody>
      </p:sp>
      <p:sp>
        <p:nvSpPr>
          <p:cNvPr id="9" name="Shape 7"/>
          <p:cNvSpPr/>
          <p:nvPr/>
        </p:nvSpPr>
        <p:spPr>
          <a:xfrm>
            <a:off x="6426175"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Once active scanning begins, what is the correct order between port scanning and protocol-specific enumeration, and why?</a:t>
            </a:r>
            <a:endParaRPr lang="en-US" sz="1875" dirty="0"/>
          </a:p>
        </p:txBody>
      </p:sp>
      <p:sp>
        <p:nvSpPr>
          <p:cNvPr id="12" name="Shape 10"/>
          <p:cNvSpPr/>
          <p:nvPr/>
        </p:nvSpPr>
        <p:spPr>
          <a:xfrm>
            <a:off x="12052250" y="5351115"/>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5892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5908328"/>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Where would living off the land change your approach once you have a foothold, versus before you have one?</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700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4125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Exhausting passive sources first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Complete every passive avenue before sending the first active packet. Passive information gathered later cannot retroactively make an earlier active scan quieter.</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Work through registration data, certificate transparency, passive DNS history and OSINT categories as a fixed checklist before opening a scanner.</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Passive results often narrow the active scan — a subdomain found in a certificate log turns a blind sweep into a targeted scan.</a:t>
            </a:r>
            <a:endParaRPr lang="en-US" sz="18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126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551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Recording scan output as it is produced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Save every scan's raw output the moment it completes, tagged with the target and the exact command used. This is Module 4's note discipline applied to the first technical data the course produces.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Direct scanner output to a file named for the target and scan type, and log the command itself alongside it, not just the result.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rescan hours later on a system that has changed state produces different results. Only the saved output proves what was true at the time.</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639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7064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Building a target tracker from the first scan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Create one record per host the moment it is discovered, and update it continuously as each enumeration technique adds detail. This becomes the spine every later module's findings attach to.</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Track per host: open ports, identified services and versions, and any credentials or usernames discovered from that host.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23's public and internal network enumeration steps are this same tracker, simply applied a second time to a second network.</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99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7421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4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Distinguishing filtered from closed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Treat a filtered port differently from a closed one. A closed port has no service; a filtered port may have one hidden behind a firewall rule that a different technique could reveal.</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Re-examine filtered results with a different scan type or timing profile before writing a port off as unreachable.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Treating "no response" as equivalent to "nothing there". The two states require entirely different follow-up.</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85273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34803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5</a:t>
            </a:r>
            <a:endParaRPr lang="en-US" sz="3000" dirty="0"/>
          </a:p>
        </p:txBody>
      </p:sp>
      <p:sp>
        <p:nvSpPr>
          <p:cNvPr id="5" name="Shape 3"/>
          <p:cNvSpPr/>
          <p:nvPr/>
        </p:nvSpPr>
        <p:spPr>
          <a:xfrm>
            <a:off x="800100" y="4014788"/>
            <a:ext cx="2209800" cy="500063"/>
          </a:xfrm>
          <a:prstGeom prst="rect">
            <a:avLst/>
          </a:prstGeom>
          <a:solidFill>
            <a:srgbClr val="FF6A00">
              <a:alpha val="18000"/>
            </a:srgbClr>
          </a:solidFill>
          <a:ln/>
        </p:spPr>
      </p:sp>
      <p:sp>
        <p:nvSpPr>
          <p:cNvPr id="6" name="Shape 4"/>
          <p:cNvSpPr/>
          <p:nvPr/>
        </p:nvSpPr>
        <p:spPr>
          <a:xfrm>
            <a:off x="800100" y="4505325"/>
            <a:ext cx="2209800" cy="9525"/>
          </a:xfrm>
          <a:prstGeom prst="rect">
            <a:avLst/>
          </a:prstGeom>
          <a:solidFill>
            <a:srgbClr val="B85100"/>
          </a:solidFill>
          <a:ln/>
        </p:spPr>
      </p:sp>
      <p:sp>
        <p:nvSpPr>
          <p:cNvPr id="7" name="Text 5"/>
          <p:cNvSpPr/>
          <p:nvPr/>
        </p:nvSpPr>
        <p:spPr>
          <a:xfrm>
            <a:off x="952500" y="4129088"/>
            <a:ext cx="19812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009900" y="4014788"/>
            <a:ext cx="4305300" cy="500063"/>
          </a:xfrm>
          <a:prstGeom prst="rect">
            <a:avLst/>
          </a:prstGeom>
          <a:solidFill>
            <a:srgbClr val="FF6A00">
              <a:alpha val="18000"/>
            </a:srgbClr>
          </a:solidFill>
          <a:ln/>
        </p:spPr>
      </p:sp>
      <p:sp>
        <p:nvSpPr>
          <p:cNvPr id="9" name="Shape 7"/>
          <p:cNvSpPr/>
          <p:nvPr/>
        </p:nvSpPr>
        <p:spPr>
          <a:xfrm>
            <a:off x="3009900" y="4505325"/>
            <a:ext cx="4305300" cy="9525"/>
          </a:xfrm>
          <a:prstGeom prst="rect">
            <a:avLst/>
          </a:prstGeom>
          <a:solidFill>
            <a:srgbClr val="B85100"/>
          </a:solidFill>
          <a:ln/>
        </p:spPr>
      </p:sp>
      <p:sp>
        <p:nvSpPr>
          <p:cNvPr id="10" name="Text 8"/>
          <p:cNvSpPr/>
          <p:nvPr/>
        </p:nvSpPr>
        <p:spPr>
          <a:xfrm>
            <a:off x="3162300" y="4129088"/>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Expansion</a:t>
            </a:r>
            <a:endParaRPr lang="en-US" sz="1800" dirty="0"/>
          </a:p>
        </p:txBody>
      </p:sp>
      <p:sp>
        <p:nvSpPr>
          <p:cNvPr id="11" name="Shape 9"/>
          <p:cNvSpPr/>
          <p:nvPr/>
        </p:nvSpPr>
        <p:spPr>
          <a:xfrm>
            <a:off x="7315200" y="4014788"/>
            <a:ext cx="10172700" cy="500063"/>
          </a:xfrm>
          <a:prstGeom prst="rect">
            <a:avLst/>
          </a:prstGeom>
          <a:solidFill>
            <a:srgbClr val="FF6A00">
              <a:alpha val="18000"/>
            </a:srgbClr>
          </a:solidFill>
          <a:ln/>
        </p:spPr>
      </p:sp>
      <p:sp>
        <p:nvSpPr>
          <p:cNvPr id="12" name="Shape 10"/>
          <p:cNvSpPr/>
          <p:nvPr/>
        </p:nvSpPr>
        <p:spPr>
          <a:xfrm>
            <a:off x="7315200" y="4505325"/>
            <a:ext cx="10172700" cy="9525"/>
          </a:xfrm>
          <a:prstGeom prst="rect">
            <a:avLst/>
          </a:prstGeom>
          <a:solidFill>
            <a:srgbClr val="B85100"/>
          </a:solidFill>
          <a:ln/>
        </p:spPr>
      </p:sp>
      <p:sp>
        <p:nvSpPr>
          <p:cNvPr id="13" name="Text 11"/>
          <p:cNvSpPr/>
          <p:nvPr/>
        </p:nvSpPr>
        <p:spPr>
          <a:xfrm>
            <a:off x="7467600" y="4129088"/>
            <a:ext cx="1017308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names</a:t>
            </a:r>
            <a:endParaRPr lang="en-US" sz="1800" dirty="0"/>
          </a:p>
        </p:txBody>
      </p:sp>
      <p:sp>
        <p:nvSpPr>
          <p:cNvPr id="14" name="Shape 12"/>
          <p:cNvSpPr/>
          <p:nvPr/>
        </p:nvSpPr>
        <p:spPr>
          <a:xfrm>
            <a:off x="800100" y="4514850"/>
            <a:ext cx="2209800" cy="485775"/>
          </a:xfrm>
          <a:prstGeom prst="rect">
            <a:avLst/>
          </a:prstGeom>
          <a:solidFill>
            <a:srgbClr val="FFFFFF">
              <a:alpha val="2000"/>
            </a:srgbClr>
          </a:solidFill>
          <a:ln/>
        </p:spPr>
      </p:sp>
      <p:sp>
        <p:nvSpPr>
          <p:cNvPr id="15" name="Shape 13"/>
          <p:cNvSpPr/>
          <p:nvPr/>
        </p:nvSpPr>
        <p:spPr>
          <a:xfrm>
            <a:off x="800100" y="4991100"/>
            <a:ext cx="2209800" cy="9525"/>
          </a:xfrm>
          <a:prstGeom prst="rect">
            <a:avLst/>
          </a:prstGeom>
          <a:solidFill>
            <a:srgbClr val="2A2F3A"/>
          </a:solidFill>
          <a:ln/>
        </p:spPr>
      </p:sp>
      <p:sp>
        <p:nvSpPr>
          <p:cNvPr id="16" name="Text 14"/>
          <p:cNvSpPr/>
          <p:nvPr/>
        </p:nvSpPr>
        <p:spPr>
          <a:xfrm>
            <a:off x="952500" y="4619625"/>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OSINT</a:t>
            </a:r>
            <a:endParaRPr lang="en-US" sz="1800" dirty="0"/>
          </a:p>
        </p:txBody>
      </p:sp>
      <p:sp>
        <p:nvSpPr>
          <p:cNvPr id="17" name="Shape 15"/>
          <p:cNvSpPr/>
          <p:nvPr/>
        </p:nvSpPr>
        <p:spPr>
          <a:xfrm>
            <a:off x="3009900" y="4514850"/>
            <a:ext cx="4305300" cy="485775"/>
          </a:xfrm>
          <a:prstGeom prst="rect">
            <a:avLst/>
          </a:prstGeom>
          <a:solidFill>
            <a:srgbClr val="FFFFFF">
              <a:alpha val="2000"/>
            </a:srgbClr>
          </a:solidFill>
          <a:ln/>
        </p:spPr>
      </p:sp>
      <p:sp>
        <p:nvSpPr>
          <p:cNvPr id="18" name="Shape 16"/>
          <p:cNvSpPr/>
          <p:nvPr/>
        </p:nvSpPr>
        <p:spPr>
          <a:xfrm>
            <a:off x="3009900" y="4991100"/>
            <a:ext cx="4305300" cy="9525"/>
          </a:xfrm>
          <a:prstGeom prst="rect">
            <a:avLst/>
          </a:prstGeom>
          <a:solidFill>
            <a:srgbClr val="2A2F3A"/>
          </a:solidFill>
          <a:ln/>
        </p:spPr>
      </p:sp>
      <p:sp>
        <p:nvSpPr>
          <p:cNvPr id="19" name="Text 17"/>
          <p:cNvSpPr/>
          <p:nvPr/>
        </p:nvSpPr>
        <p:spPr>
          <a:xfrm>
            <a:off x="3162300" y="461962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Open Source Intelligence</a:t>
            </a:r>
            <a:endParaRPr lang="en-US" sz="1800" dirty="0"/>
          </a:p>
        </p:txBody>
      </p:sp>
      <p:sp>
        <p:nvSpPr>
          <p:cNvPr id="20" name="Shape 18"/>
          <p:cNvSpPr/>
          <p:nvPr/>
        </p:nvSpPr>
        <p:spPr>
          <a:xfrm>
            <a:off x="7315200" y="4514850"/>
            <a:ext cx="10172700" cy="485775"/>
          </a:xfrm>
          <a:prstGeom prst="rect">
            <a:avLst/>
          </a:prstGeom>
          <a:solidFill>
            <a:srgbClr val="FFFFFF">
              <a:alpha val="2000"/>
            </a:srgbClr>
          </a:solidFill>
          <a:ln/>
        </p:spPr>
      </p:sp>
      <p:sp>
        <p:nvSpPr>
          <p:cNvPr id="21" name="Shape 19"/>
          <p:cNvSpPr/>
          <p:nvPr/>
        </p:nvSpPr>
        <p:spPr>
          <a:xfrm>
            <a:off x="7315200" y="4991100"/>
            <a:ext cx="10172700" cy="9525"/>
          </a:xfrm>
          <a:prstGeom prst="rect">
            <a:avLst/>
          </a:prstGeom>
          <a:solidFill>
            <a:srgbClr val="2A2F3A"/>
          </a:solidFill>
          <a:ln/>
        </p:spPr>
      </p:sp>
      <p:sp>
        <p:nvSpPr>
          <p:cNvPr id="22" name="Text 20"/>
          <p:cNvSpPr/>
          <p:nvPr/>
        </p:nvSpPr>
        <p:spPr>
          <a:xfrm>
            <a:off x="7467600" y="4619625"/>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Intelligence gathered from publicly available sources</a:t>
            </a:r>
            <a:endParaRPr lang="en-US" sz="1800" dirty="0"/>
          </a:p>
        </p:txBody>
      </p:sp>
      <p:sp>
        <p:nvSpPr>
          <p:cNvPr id="23" name="Shape 21"/>
          <p:cNvSpPr/>
          <p:nvPr/>
        </p:nvSpPr>
        <p:spPr>
          <a:xfrm>
            <a:off x="800100" y="5476875"/>
            <a:ext cx="2209800" cy="9525"/>
          </a:xfrm>
          <a:prstGeom prst="rect">
            <a:avLst/>
          </a:prstGeom>
          <a:solidFill>
            <a:srgbClr val="2A2F3A"/>
          </a:solidFill>
          <a:ln/>
        </p:spPr>
      </p:sp>
      <p:sp>
        <p:nvSpPr>
          <p:cNvPr id="24" name="Text 22"/>
          <p:cNvSpPr/>
          <p:nvPr/>
        </p:nvSpPr>
        <p:spPr>
          <a:xfrm>
            <a:off x="952500" y="5105400"/>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NSE</a:t>
            </a:r>
            <a:endParaRPr lang="en-US" sz="1800" dirty="0"/>
          </a:p>
        </p:txBody>
      </p:sp>
      <p:sp>
        <p:nvSpPr>
          <p:cNvPr id="25" name="Shape 23"/>
          <p:cNvSpPr/>
          <p:nvPr/>
        </p:nvSpPr>
        <p:spPr>
          <a:xfrm>
            <a:off x="3009900" y="5476875"/>
            <a:ext cx="4305300" cy="9525"/>
          </a:xfrm>
          <a:prstGeom prst="rect">
            <a:avLst/>
          </a:prstGeom>
          <a:solidFill>
            <a:srgbClr val="2A2F3A"/>
          </a:solidFill>
          <a:ln/>
        </p:spPr>
      </p:sp>
      <p:sp>
        <p:nvSpPr>
          <p:cNvPr id="26" name="Text 24"/>
          <p:cNvSpPr/>
          <p:nvPr/>
        </p:nvSpPr>
        <p:spPr>
          <a:xfrm>
            <a:off x="3162300" y="510540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Nmap Scripting Engine</a:t>
            </a:r>
            <a:endParaRPr lang="en-US" sz="1800" dirty="0"/>
          </a:p>
        </p:txBody>
      </p:sp>
      <p:sp>
        <p:nvSpPr>
          <p:cNvPr id="27" name="Shape 25"/>
          <p:cNvSpPr/>
          <p:nvPr/>
        </p:nvSpPr>
        <p:spPr>
          <a:xfrm>
            <a:off x="7315200" y="5476875"/>
            <a:ext cx="10172700" cy="9525"/>
          </a:xfrm>
          <a:prstGeom prst="rect">
            <a:avLst/>
          </a:prstGeom>
          <a:solidFill>
            <a:srgbClr val="2A2F3A"/>
          </a:solidFill>
          <a:ln/>
        </p:spPr>
      </p:sp>
      <p:sp>
        <p:nvSpPr>
          <p:cNvPr id="28" name="Text 26"/>
          <p:cNvSpPr/>
          <p:nvPr/>
        </p:nvSpPr>
        <p:spPr>
          <a:xfrm>
            <a:off x="7467600" y="5105400"/>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Scriptable extension of Nmap, developed further in Module 6</a:t>
            </a:r>
            <a:endParaRPr lang="en-US" sz="1800" dirty="0"/>
          </a:p>
        </p:txBody>
      </p:sp>
      <p:sp>
        <p:nvSpPr>
          <p:cNvPr id="29" name="Shape 27"/>
          <p:cNvSpPr/>
          <p:nvPr/>
        </p:nvSpPr>
        <p:spPr>
          <a:xfrm>
            <a:off x="800100" y="5486400"/>
            <a:ext cx="2209800" cy="485775"/>
          </a:xfrm>
          <a:prstGeom prst="rect">
            <a:avLst/>
          </a:prstGeom>
          <a:solidFill>
            <a:srgbClr val="FFFFFF">
              <a:alpha val="2000"/>
            </a:srgbClr>
          </a:solidFill>
          <a:ln/>
        </p:spPr>
      </p:sp>
      <p:sp>
        <p:nvSpPr>
          <p:cNvPr id="30" name="Shape 28"/>
          <p:cNvSpPr/>
          <p:nvPr/>
        </p:nvSpPr>
        <p:spPr>
          <a:xfrm>
            <a:off x="800100" y="5962650"/>
            <a:ext cx="2209800" cy="9525"/>
          </a:xfrm>
          <a:prstGeom prst="rect">
            <a:avLst/>
          </a:prstGeom>
          <a:solidFill>
            <a:srgbClr val="2A2F3A"/>
          </a:solidFill>
          <a:ln/>
        </p:spPr>
      </p:sp>
      <p:sp>
        <p:nvSpPr>
          <p:cNvPr id="31" name="Text 29"/>
          <p:cNvSpPr/>
          <p:nvPr/>
        </p:nvSpPr>
        <p:spPr>
          <a:xfrm>
            <a:off x="952500" y="5591175"/>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SMB</a:t>
            </a:r>
            <a:endParaRPr lang="en-US" sz="1800" dirty="0"/>
          </a:p>
        </p:txBody>
      </p:sp>
      <p:sp>
        <p:nvSpPr>
          <p:cNvPr id="32" name="Shape 30"/>
          <p:cNvSpPr/>
          <p:nvPr/>
        </p:nvSpPr>
        <p:spPr>
          <a:xfrm>
            <a:off x="3009900" y="5486400"/>
            <a:ext cx="4305300" cy="485775"/>
          </a:xfrm>
          <a:prstGeom prst="rect">
            <a:avLst/>
          </a:prstGeom>
          <a:solidFill>
            <a:srgbClr val="FFFFFF">
              <a:alpha val="2000"/>
            </a:srgbClr>
          </a:solidFill>
          <a:ln/>
        </p:spPr>
      </p:sp>
      <p:sp>
        <p:nvSpPr>
          <p:cNvPr id="33" name="Shape 31"/>
          <p:cNvSpPr/>
          <p:nvPr/>
        </p:nvSpPr>
        <p:spPr>
          <a:xfrm>
            <a:off x="3009900" y="5962650"/>
            <a:ext cx="4305300" cy="9525"/>
          </a:xfrm>
          <a:prstGeom prst="rect">
            <a:avLst/>
          </a:prstGeom>
          <a:solidFill>
            <a:srgbClr val="2A2F3A"/>
          </a:solidFill>
          <a:ln/>
        </p:spPr>
      </p:sp>
      <p:sp>
        <p:nvSpPr>
          <p:cNvPr id="34" name="Text 32"/>
          <p:cNvSpPr/>
          <p:nvPr/>
        </p:nvSpPr>
        <p:spPr>
          <a:xfrm>
            <a:off x="3162300" y="559117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Server Message Block</a:t>
            </a:r>
            <a:endParaRPr lang="en-US" sz="1800" dirty="0"/>
          </a:p>
        </p:txBody>
      </p:sp>
      <p:sp>
        <p:nvSpPr>
          <p:cNvPr id="35" name="Shape 33"/>
          <p:cNvSpPr/>
          <p:nvPr/>
        </p:nvSpPr>
        <p:spPr>
          <a:xfrm>
            <a:off x="7315200" y="5486400"/>
            <a:ext cx="10172700" cy="485775"/>
          </a:xfrm>
          <a:prstGeom prst="rect">
            <a:avLst/>
          </a:prstGeom>
          <a:solidFill>
            <a:srgbClr val="FFFFFF">
              <a:alpha val="2000"/>
            </a:srgbClr>
          </a:solidFill>
          <a:ln/>
        </p:spPr>
      </p:sp>
      <p:sp>
        <p:nvSpPr>
          <p:cNvPr id="36" name="Shape 34"/>
          <p:cNvSpPr/>
          <p:nvPr/>
        </p:nvSpPr>
        <p:spPr>
          <a:xfrm>
            <a:off x="7315200" y="5962650"/>
            <a:ext cx="10172700" cy="9525"/>
          </a:xfrm>
          <a:prstGeom prst="rect">
            <a:avLst/>
          </a:prstGeom>
          <a:solidFill>
            <a:srgbClr val="2A2F3A"/>
          </a:solidFill>
          <a:ln/>
        </p:spPr>
      </p:sp>
      <p:sp>
        <p:nvSpPr>
          <p:cNvPr id="37" name="Text 35"/>
          <p:cNvSpPr/>
          <p:nvPr/>
        </p:nvSpPr>
        <p:spPr>
          <a:xfrm>
            <a:off x="7467600" y="5591175"/>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Windows file and resource sharing protocol</a:t>
            </a:r>
            <a:endParaRPr lang="en-US" sz="1800" dirty="0"/>
          </a:p>
        </p:txBody>
      </p:sp>
      <p:sp>
        <p:nvSpPr>
          <p:cNvPr id="38" name="Shape 36"/>
          <p:cNvSpPr/>
          <p:nvPr/>
        </p:nvSpPr>
        <p:spPr>
          <a:xfrm>
            <a:off x="800100" y="6448425"/>
            <a:ext cx="2209800" cy="9525"/>
          </a:xfrm>
          <a:prstGeom prst="rect">
            <a:avLst/>
          </a:prstGeom>
          <a:solidFill>
            <a:srgbClr val="2A2F3A"/>
          </a:solidFill>
          <a:ln/>
        </p:spPr>
      </p:sp>
      <p:sp>
        <p:nvSpPr>
          <p:cNvPr id="39" name="Text 37"/>
          <p:cNvSpPr/>
          <p:nvPr/>
        </p:nvSpPr>
        <p:spPr>
          <a:xfrm>
            <a:off x="952500" y="6076950"/>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SMTP</a:t>
            </a:r>
            <a:endParaRPr lang="en-US" sz="1800" dirty="0"/>
          </a:p>
        </p:txBody>
      </p:sp>
      <p:sp>
        <p:nvSpPr>
          <p:cNvPr id="40" name="Shape 38"/>
          <p:cNvSpPr/>
          <p:nvPr/>
        </p:nvSpPr>
        <p:spPr>
          <a:xfrm>
            <a:off x="3009900" y="6448425"/>
            <a:ext cx="4305300" cy="9525"/>
          </a:xfrm>
          <a:prstGeom prst="rect">
            <a:avLst/>
          </a:prstGeom>
          <a:solidFill>
            <a:srgbClr val="2A2F3A"/>
          </a:solidFill>
          <a:ln/>
        </p:spPr>
      </p:sp>
      <p:sp>
        <p:nvSpPr>
          <p:cNvPr id="41" name="Text 39"/>
          <p:cNvSpPr/>
          <p:nvPr/>
        </p:nvSpPr>
        <p:spPr>
          <a:xfrm>
            <a:off x="3162300" y="607695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Simple Mail Transfer Protocol</a:t>
            </a:r>
            <a:endParaRPr lang="en-US" sz="1800" dirty="0"/>
          </a:p>
        </p:txBody>
      </p:sp>
      <p:sp>
        <p:nvSpPr>
          <p:cNvPr id="42" name="Shape 40"/>
          <p:cNvSpPr/>
          <p:nvPr/>
        </p:nvSpPr>
        <p:spPr>
          <a:xfrm>
            <a:off x="7315200" y="6448425"/>
            <a:ext cx="10172700" cy="9525"/>
          </a:xfrm>
          <a:prstGeom prst="rect">
            <a:avLst/>
          </a:prstGeom>
          <a:solidFill>
            <a:srgbClr val="2A2F3A"/>
          </a:solidFill>
          <a:ln/>
        </p:spPr>
      </p:sp>
      <p:sp>
        <p:nvSpPr>
          <p:cNvPr id="43" name="Text 41"/>
          <p:cNvSpPr/>
          <p:nvPr/>
        </p:nvSpPr>
        <p:spPr>
          <a:xfrm>
            <a:off x="7467600" y="6076950"/>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Mail transmission protocol, usable for username enumeration</a:t>
            </a:r>
            <a:endParaRPr lang="en-US" sz="1800" dirty="0"/>
          </a:p>
        </p:txBody>
      </p:sp>
      <p:sp>
        <p:nvSpPr>
          <p:cNvPr id="44" name="Shape 42"/>
          <p:cNvSpPr/>
          <p:nvPr/>
        </p:nvSpPr>
        <p:spPr>
          <a:xfrm>
            <a:off x="800100" y="6457950"/>
            <a:ext cx="2209800" cy="485775"/>
          </a:xfrm>
          <a:prstGeom prst="rect">
            <a:avLst/>
          </a:prstGeom>
          <a:solidFill>
            <a:srgbClr val="FFFFFF">
              <a:alpha val="2000"/>
            </a:srgbClr>
          </a:solidFill>
          <a:ln/>
        </p:spPr>
      </p:sp>
      <p:sp>
        <p:nvSpPr>
          <p:cNvPr id="45" name="Shape 43"/>
          <p:cNvSpPr/>
          <p:nvPr/>
        </p:nvSpPr>
        <p:spPr>
          <a:xfrm>
            <a:off x="800100" y="6934200"/>
            <a:ext cx="2209800" cy="9525"/>
          </a:xfrm>
          <a:prstGeom prst="rect">
            <a:avLst/>
          </a:prstGeom>
          <a:solidFill>
            <a:srgbClr val="2A2F3A"/>
          </a:solidFill>
          <a:ln/>
        </p:spPr>
      </p:sp>
      <p:sp>
        <p:nvSpPr>
          <p:cNvPr id="46" name="Text 44"/>
          <p:cNvSpPr/>
          <p:nvPr/>
        </p:nvSpPr>
        <p:spPr>
          <a:xfrm>
            <a:off x="952500" y="6562725"/>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SNMP</a:t>
            </a:r>
            <a:endParaRPr lang="en-US" sz="1800" dirty="0"/>
          </a:p>
        </p:txBody>
      </p:sp>
      <p:sp>
        <p:nvSpPr>
          <p:cNvPr id="47" name="Shape 45"/>
          <p:cNvSpPr/>
          <p:nvPr/>
        </p:nvSpPr>
        <p:spPr>
          <a:xfrm>
            <a:off x="3009900" y="6457950"/>
            <a:ext cx="4305300" cy="485775"/>
          </a:xfrm>
          <a:prstGeom prst="rect">
            <a:avLst/>
          </a:prstGeom>
          <a:solidFill>
            <a:srgbClr val="FFFFFF">
              <a:alpha val="2000"/>
            </a:srgbClr>
          </a:solidFill>
          <a:ln/>
        </p:spPr>
      </p:sp>
      <p:sp>
        <p:nvSpPr>
          <p:cNvPr id="48" name="Shape 46"/>
          <p:cNvSpPr/>
          <p:nvPr/>
        </p:nvSpPr>
        <p:spPr>
          <a:xfrm>
            <a:off x="3009900" y="6934200"/>
            <a:ext cx="4305300" cy="9525"/>
          </a:xfrm>
          <a:prstGeom prst="rect">
            <a:avLst/>
          </a:prstGeom>
          <a:solidFill>
            <a:srgbClr val="2A2F3A"/>
          </a:solidFill>
          <a:ln/>
        </p:spPr>
      </p:sp>
      <p:sp>
        <p:nvSpPr>
          <p:cNvPr id="49" name="Text 47"/>
          <p:cNvSpPr/>
          <p:nvPr/>
        </p:nvSpPr>
        <p:spPr>
          <a:xfrm>
            <a:off x="3162300" y="656272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Simple Network Management Protocol</a:t>
            </a:r>
            <a:endParaRPr lang="en-US" sz="1800" dirty="0"/>
          </a:p>
        </p:txBody>
      </p:sp>
      <p:sp>
        <p:nvSpPr>
          <p:cNvPr id="50" name="Shape 48"/>
          <p:cNvSpPr/>
          <p:nvPr/>
        </p:nvSpPr>
        <p:spPr>
          <a:xfrm>
            <a:off x="7315200" y="6457950"/>
            <a:ext cx="10172700" cy="485775"/>
          </a:xfrm>
          <a:prstGeom prst="rect">
            <a:avLst/>
          </a:prstGeom>
          <a:solidFill>
            <a:srgbClr val="FFFFFF">
              <a:alpha val="2000"/>
            </a:srgbClr>
          </a:solidFill>
          <a:ln/>
        </p:spPr>
      </p:sp>
      <p:sp>
        <p:nvSpPr>
          <p:cNvPr id="51" name="Shape 49"/>
          <p:cNvSpPr/>
          <p:nvPr/>
        </p:nvSpPr>
        <p:spPr>
          <a:xfrm>
            <a:off x="7315200" y="6934200"/>
            <a:ext cx="10172700" cy="9525"/>
          </a:xfrm>
          <a:prstGeom prst="rect">
            <a:avLst/>
          </a:prstGeom>
          <a:solidFill>
            <a:srgbClr val="2A2F3A"/>
          </a:solidFill>
          <a:ln/>
        </p:spPr>
      </p:sp>
      <p:sp>
        <p:nvSpPr>
          <p:cNvPr id="52" name="Text 50"/>
          <p:cNvSpPr/>
          <p:nvPr/>
        </p:nvSpPr>
        <p:spPr>
          <a:xfrm>
            <a:off x="7467600" y="6562725"/>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Device monitoring and management protocol</a:t>
            </a:r>
            <a:endParaRPr lang="en-US" sz="1800" dirty="0"/>
          </a:p>
        </p:txBody>
      </p:sp>
      <p:sp>
        <p:nvSpPr>
          <p:cNvPr id="53" name="Shape 51"/>
          <p:cNvSpPr/>
          <p:nvPr/>
        </p:nvSpPr>
        <p:spPr>
          <a:xfrm>
            <a:off x="800100" y="7419975"/>
            <a:ext cx="2209800" cy="9525"/>
          </a:xfrm>
          <a:prstGeom prst="rect">
            <a:avLst/>
          </a:prstGeom>
          <a:solidFill>
            <a:srgbClr val="2A2F3A"/>
          </a:solidFill>
          <a:ln/>
        </p:spPr>
      </p:sp>
      <p:sp>
        <p:nvSpPr>
          <p:cNvPr id="54" name="Text 52"/>
          <p:cNvSpPr/>
          <p:nvPr/>
        </p:nvSpPr>
        <p:spPr>
          <a:xfrm>
            <a:off x="952500" y="7048500"/>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LOTL</a:t>
            </a:r>
            <a:endParaRPr lang="en-US" sz="1800" dirty="0"/>
          </a:p>
        </p:txBody>
      </p:sp>
      <p:sp>
        <p:nvSpPr>
          <p:cNvPr id="55" name="Shape 53"/>
          <p:cNvSpPr/>
          <p:nvPr/>
        </p:nvSpPr>
        <p:spPr>
          <a:xfrm>
            <a:off x="3009900" y="7419975"/>
            <a:ext cx="4305300" cy="9525"/>
          </a:xfrm>
          <a:prstGeom prst="rect">
            <a:avLst/>
          </a:prstGeom>
          <a:solidFill>
            <a:srgbClr val="2A2F3A"/>
          </a:solidFill>
          <a:ln/>
        </p:spPr>
      </p:sp>
      <p:sp>
        <p:nvSpPr>
          <p:cNvPr id="56" name="Text 54"/>
          <p:cNvSpPr/>
          <p:nvPr/>
        </p:nvSpPr>
        <p:spPr>
          <a:xfrm>
            <a:off x="3162300" y="704850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Living Off The Land</a:t>
            </a:r>
            <a:endParaRPr lang="en-US" sz="1800" dirty="0"/>
          </a:p>
        </p:txBody>
      </p:sp>
      <p:sp>
        <p:nvSpPr>
          <p:cNvPr id="57" name="Shape 55"/>
          <p:cNvSpPr/>
          <p:nvPr/>
        </p:nvSpPr>
        <p:spPr>
          <a:xfrm>
            <a:off x="7315200" y="7419975"/>
            <a:ext cx="10172700" cy="9525"/>
          </a:xfrm>
          <a:prstGeom prst="rect">
            <a:avLst/>
          </a:prstGeom>
          <a:solidFill>
            <a:srgbClr val="2A2F3A"/>
          </a:solidFill>
          <a:ln/>
        </p:spPr>
      </p:sp>
      <p:sp>
        <p:nvSpPr>
          <p:cNvPr id="58" name="Text 56"/>
          <p:cNvSpPr/>
          <p:nvPr/>
        </p:nvSpPr>
        <p:spPr>
          <a:xfrm>
            <a:off x="7467600" y="7048500"/>
            <a:ext cx="1017308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Using tools already present on a target rather than introducing new ones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5</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“PASSIVE MEANS USING FEW TOOLS”</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Passive means the target never observes the action. A dozen third-party tools queried about a target are all still passive.</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QUIET NMAP SCAN IS PASSIVE”</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Any packet sent to the target is active, regardless of scan speed or stealth setting. Quiet is not the same as unseen.</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“INFORMATION GATHERING IS ONE STAGE, DONE ONCE”</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recurs throughout the lifecycle, every time the tester's picture of the target changes.</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FILTERED PORT MEANS NOTHING IS THERE”</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Filtered means undetermined, not absent. A different technique may reveal a real service behind the filter.</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“NMAP ALWAYS REPLACES NETCAT”</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Netcat remains useful precisely when Nmap is unavailable on the path being used to reach a target.</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“SNMP IS NOT WORTH CHECKING”</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Default community strings are common enough that SNMP frequently exposes more than hardened services do.</a:t>
            </a:r>
            <a:endParaRPr lang="en-US" sz="18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540615" y="3273326"/>
            <a:ext cx="320677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5 IN CONTEXT</a:t>
            </a:r>
            <a:endParaRPr lang="en-US" sz="1650" dirty="0"/>
          </a:p>
        </p:txBody>
      </p:sp>
      <p:sp>
        <p:nvSpPr>
          <p:cNvPr id="4" name="Text 2"/>
          <p:cNvSpPr/>
          <p:nvPr/>
        </p:nvSpPr>
        <p:spPr>
          <a:xfrm>
            <a:off x="7997450" y="3749576"/>
            <a:ext cx="2293099"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1st</a:t>
            </a:r>
            <a:endParaRPr lang="en-US" sz="12000" dirty="0"/>
          </a:p>
        </p:txBody>
      </p:sp>
      <p:sp>
        <p:nvSpPr>
          <p:cNvPr id="5" name="Text 3"/>
          <p:cNvSpPr/>
          <p:nvPr/>
        </p:nvSpPr>
        <p:spPr>
          <a:xfrm>
            <a:off x="4379852" y="5502176"/>
            <a:ext cx="9528222"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module with directly offensive technique</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Everything from Module 7 onward attacks something first found here. Percentage weightings per module: information not defined in the official exam outline.</a:t>
            </a:r>
            <a:endParaRPr lang="en-US" sz="21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tester reads certificate transparency logs to find subdomains, without sending any request to the target. Is this passive or active information gathering?</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533296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Active, because certificates are technical data</a:t>
            </a:r>
            <a:endParaRPr lang="en-US" sz="1950" dirty="0"/>
          </a:p>
        </p:txBody>
      </p:sp>
      <p:sp>
        <p:nvSpPr>
          <p:cNvPr id="9" name="Shape 7"/>
          <p:cNvSpPr/>
          <p:nvPr/>
        </p:nvSpPr>
        <p:spPr>
          <a:xfrm>
            <a:off x="800100" y="50958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624033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Passive, because the target never observes the action</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719673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Neither — certificate logs are not part of information gathering</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525937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Active, because it reveals infrastructure detail</a:t>
            </a:r>
            <a:endParaRPr lang="en-US" sz="1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2099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370522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5 in three lines</a:t>
            </a:r>
            <a:endParaRPr lang="en-US" sz="3000" dirty="0"/>
          </a:p>
        </p:txBody>
      </p:sp>
      <p:sp>
        <p:nvSpPr>
          <p:cNvPr id="5" name="Shape 3"/>
          <p:cNvSpPr/>
          <p:nvPr/>
        </p:nvSpPr>
        <p:spPr>
          <a:xfrm>
            <a:off x="800100" y="43719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5529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5624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5.1</a:t>
            </a:r>
            <a:endParaRPr lang="en-US" sz="1650" dirty="0"/>
          </a:p>
        </p:txBody>
      </p:sp>
      <p:sp>
        <p:nvSpPr>
          <p:cNvPr id="8" name="Text 6"/>
          <p:cNvSpPr/>
          <p:nvPr/>
        </p:nvSpPr>
        <p:spPr>
          <a:xfrm>
            <a:off x="1952625" y="4626769"/>
            <a:ext cx="1231998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The pentest lifecycle, the recurring role of information gathering within it, and the active/passive distinction</a:t>
            </a:r>
            <a:endParaRPr lang="en-US" sz="1950" dirty="0"/>
          </a:p>
        </p:txBody>
      </p:sp>
      <p:sp>
        <p:nvSpPr>
          <p:cNvPr id="9" name="Shape 7"/>
          <p:cNvSpPr/>
          <p:nvPr/>
        </p:nvSpPr>
        <p:spPr>
          <a:xfrm>
            <a:off x="800100" y="53244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5054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5149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5.2</a:t>
            </a:r>
            <a:endParaRPr lang="en-US" sz="1650" dirty="0"/>
          </a:p>
        </p:txBody>
      </p:sp>
      <p:sp>
        <p:nvSpPr>
          <p:cNvPr id="12" name="Text 10"/>
          <p:cNvSpPr/>
          <p:nvPr/>
        </p:nvSpPr>
        <p:spPr>
          <a:xfrm>
            <a:off x="1952625" y="5579269"/>
            <a:ext cx="1249196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Two passive approaches, OSINT across several categories, and passive web/DNS gathering via third parties</a:t>
            </a:r>
            <a:endParaRPr lang="en-US" sz="1950" dirty="0"/>
          </a:p>
        </p:txBody>
      </p:sp>
      <p:sp>
        <p:nvSpPr>
          <p:cNvPr id="13" name="Shape 11"/>
          <p:cNvSpPr/>
          <p:nvPr/>
        </p:nvSpPr>
        <p:spPr>
          <a:xfrm>
            <a:off x="800100" y="62769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4579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4674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5.3</a:t>
            </a:r>
            <a:endParaRPr lang="en-US" sz="1650" dirty="0"/>
          </a:p>
        </p:txBody>
      </p:sp>
      <p:sp>
        <p:nvSpPr>
          <p:cNvPr id="16" name="Text 14"/>
          <p:cNvSpPr/>
          <p:nvPr/>
        </p:nvSpPr>
        <p:spPr>
          <a:xfrm>
            <a:off x="1952625" y="6531769"/>
            <a:ext cx="1077381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Netcat and Nmap port scanning, DNS/SMB/SMTP/SNMP enumeration, and living off the land</a:t>
            </a:r>
            <a:endParaRPr lang="en-US" sz="1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6: Vulnerability Scanning</a:t>
            </a:r>
            <a:endParaRPr lang="en-US" sz="5250" dirty="0"/>
          </a:p>
        </p:txBody>
      </p:sp>
      <p:sp>
        <p:nvSpPr>
          <p:cNvPr id="5" name="Shape 3"/>
          <p:cNvSpPr/>
          <p:nvPr/>
        </p:nvSpPr>
        <p:spPr>
          <a:xfrm>
            <a:off x="800100" y="2128838"/>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Vulnerability scanning theory and scan types, scanning with Nessus including authenticated scans, and lightweight scanning with the Nmap Scripting Engine.</a:t>
            </a:r>
            <a:endParaRPr lang="en-US" sz="1875" dirty="0"/>
          </a:p>
        </p:txBody>
      </p:sp>
      <p:sp>
        <p:nvSpPr>
          <p:cNvPr id="8" name="Shape 6"/>
          <p:cNvSpPr/>
          <p:nvPr/>
        </p:nvSpPr>
        <p:spPr>
          <a:xfrm>
            <a:off x="6426175" y="2128838"/>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Have a target tracker populated with every open port, service and version this module's scans produced.</a:t>
            </a:r>
            <a:endParaRPr lang="en-US" sz="1875" dirty="0"/>
          </a:p>
        </p:txBody>
      </p:sp>
      <p:sp>
        <p:nvSpPr>
          <p:cNvPr id="11" name="Shape 9"/>
          <p:cNvSpPr/>
          <p:nvPr/>
        </p:nvSpPr>
        <p:spPr>
          <a:xfrm>
            <a:off x="12052250" y="2128838"/>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distinction between filtered and closed. Module 6's scan results depend on the same care in reading them.</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2026-08-01T09:41:41Z</dcterms:created>
  <dcterms:modified xsi:type="dcterms:W3CDTF">2026-08-01T09:41:41Z</dcterms:modified>
</cp:coreProperties>
</file>