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21. The second of three AD modules. Module 20 mapped the domain; this module attacks how it proves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units. Performing Attacks carries five objectives — the technical core of the module, escalating from password guessing to domain controller impersonation.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21 of 24. Second of the three-module AD block, directly between enumeration and lateral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Orientation. Module 20 mapped who exists and what they can touch. This module attacks the mechanism that proves who someone actually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21.1. Three objectives on how AD authentication actually works, before any attack is attempted.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21.1, task 1. NTLM authentication mechanics — the older of the two protocols, and the one Module 14 already introduced hashes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21.1, task 2. Kerberos — the modern default AD authentication protocol, and the foundation for Kerberoasting and golden tickets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21.1, task 3. Cached AD credentials — what lets a domain-joined machine authenticate a user when the domain controller is unreachable.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distinction. This comparison table is the single most important reference slide in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21.1 before the attacks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21.2 — five objectives, escalating from password attacks through SPN abuse to full domain controller impersonation.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21.2, task 1. Password attacks reapplied to the domain context — connects directly back to Module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21.2, task 2. Account option abuse — configuration settings on an account that weaken its own authentication.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21.2, task 3. Kerberoasting — the direct payoff of Module 20's SPN enumeration. The single most examinable named attack in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21.2, task 4. Forging tickets — once sufficient material or privilege exists, tickets themselves can be fabricated rather than merely requested.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21.2, task 5. Domain controller impersonation — the module's most severe outcome, closing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slide summarising the whole attack unit. This is the slide to keep pinned during practical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21.2, then the applied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Discussion. Five minutes in pairs. Listening for correct sequencing of the escalation ladder and correct connection back to Module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1. Prioritising Kerberoasting once SPNs are known — a direct, practical application of the module's core named attack.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2. Checking account options as part of enumeration, not as an afterthought once other attacks 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3. Treating domain controller impersonation with the caution its severity demands, given the availability impact of the underlying replication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Acronym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Misconceptions. The 'NTLM and Kerberos are interchangeable' one is the most common and worth spending the most time correcting.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number. Two units, five escalating attacks in Objective 21.2 — the technical heart of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check. Answer is B. Also appears as Q1 of the module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 Two units in two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Preview Module 22 — from obtaining credentials to moving and persisting with them across the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21 OF 24 · OFFSEC PEN-200 (PWK)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81100"/>
            <a:ext cx="1835658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90"/>
              </a:lnSpc>
              <a:buNone/>
            </a:pPr>
            <a:r>
              <a:rPr lang="en-US" sz="46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Active Directory Authentication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800100" y="2124968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NTLM and Kerberos authentication, then attacking that authentication directly — from password guessing to impersonating a domain controller.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567559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062859"/>
            <a:ext cx="1835658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module covers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800100" y="4947717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5128692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5138217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5202510"/>
            <a:ext cx="54381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Active Directory Authentication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919267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6100242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6109767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6174060"/>
            <a:ext cx="627217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 Attacks on Active Directory Authentication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187977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CONTEXT · 24 LEARNING MODULES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37507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Module 21 sits in PEN-200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2975" y="3399011"/>
            <a:ext cx="234225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Course Introduction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500062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43500" y="3399011"/>
            <a:ext cx="242537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Cybersecurity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20115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4402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44025" y="3399011"/>
            <a:ext cx="238541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Learning Strategies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340167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4455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44550" y="3399011"/>
            <a:ext cx="312066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Writing for Penetration Testers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80010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97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2975" y="4215780"/>
            <a:ext cx="183118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Gathering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500062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0" y="4215780"/>
            <a:ext cx="18587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20115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402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44025" y="4215780"/>
            <a:ext cx="270493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Web Applications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340167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4455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544550" y="4215780"/>
            <a:ext cx="28205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Web Application Attacks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80010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97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2975" y="5032549"/>
            <a:ext cx="179419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Attacks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500062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43500" y="5032549"/>
            <a:ext cx="16199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Attacks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920115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402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44025" y="5032549"/>
            <a:ext cx="198000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Public Exploits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340167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54455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544550" y="5032549"/>
            <a:ext cx="122351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Exploits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80010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97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2975" y="5849317"/>
            <a:ext cx="144385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500062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350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43500" y="5849317"/>
            <a:ext cx="149981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920115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4402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344025" y="5849317"/>
            <a:ext cx="241280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Privilege Escalation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1340167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54455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544550" y="5849317"/>
            <a:ext cx="210405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Privilege Escalation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80010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297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42975" y="6666086"/>
            <a:ext cx="294774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Redirection and SSH Tunneling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500062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4350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43500" y="6666086"/>
            <a:ext cx="170557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Tunneling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920115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4402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344025" y="6666086"/>
            <a:ext cx="221716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Metasploit Framework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1340167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54455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3544550" y="6666086"/>
            <a:ext cx="27483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Introduction and Enumeration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80010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6A00">
              <a:alpha val="12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297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42975" y="7482855"/>
            <a:ext cx="258804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AD Authentication</a:t>
            </a:r>
            <a:endParaRPr lang="en-US" sz="1425" dirty="0"/>
          </a:p>
        </p:txBody>
      </p:sp>
      <p:sp>
        <p:nvSpPr>
          <p:cNvPr id="68" name="Shape 66"/>
          <p:cNvSpPr/>
          <p:nvPr/>
        </p:nvSpPr>
        <p:spPr>
          <a:xfrm>
            <a:off x="500062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4350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143500" y="7482855"/>
            <a:ext cx="199489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in AD</a:t>
            </a:r>
            <a:endParaRPr lang="en-US" sz="1425" dirty="0"/>
          </a:p>
        </p:txBody>
      </p:sp>
      <p:sp>
        <p:nvSpPr>
          <p:cNvPr id="71" name="Shape 69"/>
          <p:cNvSpPr/>
          <p:nvPr/>
        </p:nvSpPr>
        <p:spPr>
          <a:xfrm>
            <a:off x="920115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4402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344025" y="7482855"/>
            <a:ext cx="189376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Assembling the Pieces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1340167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54455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3544550" y="7482855"/>
            <a:ext cx="200858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Harder: The Labs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800100" y="8075786"/>
            <a:ext cx="163449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weightings: information not defined in the official exam outline.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498056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993356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the mechanism that proves identity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660106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898231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HERE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217319"/>
            <a:ext cx="510810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20 mapped accounts, permissions and relationships. This module attacks the authentication protocols that decide whether a claimed identity is accepted.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660106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4898231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PROTOCOLS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217319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NTLM and Kerberos both authenticate users to the domain, through different mechanisms with different weaknesses.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660106"/>
            <a:ext cx="5435650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4898231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ESCALATING ATTACKS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217319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21.2 moves from simple password attacks through SPN abuse to impersonating the domain controller itself.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49511" y="3960986"/>
            <a:ext cx="218897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21.1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76138" y="4475336"/>
            <a:ext cx="1633565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741"/>
              </a:lnSpc>
              <a:buNone/>
            </a:pPr>
            <a:r>
              <a:rPr lang="en-US" sz="52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Active Directory Authentication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2767013" y="5442124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NTLM authentication, understand Kerberos authentication, and become familiar with cached AD credentials.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93380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72123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21.1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NTLM authentication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NTLM authenticates a user through a challenge-response exchange based on a hash of their password, without the password itself ever crossing the network in plaintext.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exact mechanism Module 14's NTLM and Net-NTLMv2 hash content depends on — understanding the protocol explains why those hashes can be passed or relayed.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14's password hash objectives directly — the theory behind the practical hash attacks already introduced.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17639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4621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21.1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Kerberos authentication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Kerberos authenticates using tickets issued by a trusted authority, granting access without repeatedly transmitting credentials. It is the default, modern authentication protocol across Active Directory.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every named attack in Objective 21.2 — Kerberoasting, forged tickets, domain controller impersonation — targets this protocol specifically.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20's SPN enumeration — Kerberos tickets are requested for services identified by exactly those Service Principal Names.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2277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51507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21.1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familiar with cached AD credentials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domain-joined machine caches recent authentication material locally, allowing a user to log in even when the domain controller cannot be reached — a convenience that also leaves recoverable material on the endpoint.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credentials extend the credential-hunting objectives from Modules 15 and 16 specifically into the domain-joined context.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15 and 16's exposed-credential objectives — the same principle, applied to material specific to domain authentication.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44805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DISTINCTION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943350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NTLM versus Kerberos authentication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610100"/>
            <a:ext cx="2400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5100638"/>
            <a:ext cx="2400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724400"/>
            <a:ext cx="21717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4610100"/>
            <a:ext cx="4686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5100638"/>
            <a:ext cx="4686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352800" y="4724400"/>
            <a:ext cx="45220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NTLM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886700" y="4610100"/>
            <a:ext cx="96012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886700" y="5100638"/>
            <a:ext cx="96012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8039100" y="4724400"/>
            <a:ext cx="958443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Kerberos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" y="5110163"/>
            <a:ext cx="2400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5586413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5214938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00400" y="5110163"/>
            <a:ext cx="4686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5586413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352800" y="5214938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Challenge-response using a password hash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886700" y="5110163"/>
            <a:ext cx="96012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886700" y="5586413"/>
            <a:ext cx="9601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8039100" y="5214938"/>
            <a:ext cx="95844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issued by a trusted authority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0100" y="6072188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700713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00400" y="6072188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352800" y="5700713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Legacy, still supported for compatibility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886700" y="6072188"/>
            <a:ext cx="9601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8039100" y="5700713"/>
            <a:ext cx="95844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Default, modern protocol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0100" y="6081713"/>
            <a:ext cx="2400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" y="6824663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6186488"/>
            <a:ext cx="2171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attacks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00400" y="6081713"/>
            <a:ext cx="4686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0" y="6824663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3352800" y="6186488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the hash, Net-NTLMv2 relay (Module 14)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886700" y="6081713"/>
            <a:ext cx="96012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886700" y="6824663"/>
            <a:ext cx="9601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8039100" y="6186488"/>
            <a:ext cx="958443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Kerberoasting, ticket forging (Module 21.2)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83143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21.1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2673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AD Authentication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993481"/>
            <a:ext cx="54355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231606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NTLM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550694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Challenge-response via password hash, legacy but still present.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993481"/>
            <a:ext cx="54355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231606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KERBEROS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550694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Ticket-based, the modern default, and the target of most attacks that follow.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993481"/>
            <a:ext cx="5435650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231606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CREDENTIALS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550694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material enabling offline login, and a fresh hunting ground on domain-joined machines.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29951" y="3981004"/>
            <a:ext cx="222802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21.2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24046" y="4495354"/>
            <a:ext cx="17839908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788"/>
              </a:lnSpc>
              <a:buNone/>
            </a:pPr>
            <a:r>
              <a:rPr lang="en-US" sz="49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 Attacks on Active Directory Authentication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2521744" y="5422106"/>
            <a:ext cx="13244513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 for valid credentials, abusing account options, abusing the Kerberos SPN mechanism, forging service tickets, and impersonating a domain controller.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25676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54496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21.2 · Task 1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password attacks to obtain valid user credentials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password attack techniques from Module 14 — live login attacks and offline cracking — apply directly against domain accounts, providing the first valid credential to build further Active Directory attacks from.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later objective in this unit assumes at least one valid domain credential already exists to work from.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14 directly — the identical techniques, now aimed specifically at domain accounts.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50009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79559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21.2 · Task 2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Abusing enabled user account options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Certain account configuration options, when enabled, weaken how that specific account authenticates — for example, permitting authentication without Kerberos pre-authentication, which can be abused to attack the account offline.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misconfigured account option can undermine the domain's authentication defences for that account, regardless of password strength.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20's enumeration objectives — identifying which accounts carry unusual options is itself an enumeration task.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33043"/>
            <a:ext cx="3055069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18768"/>
            <a:ext cx="278477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21.2 · Task 3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675980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Abusing the Kerberos SPN authentication mechanism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42730"/>
            <a:ext cx="15304770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authenticated domain user can request a Kerberos ticket for a service identified by its Service Principal Name. That ticket is encrypted with the service account's own password hash, which can then be cracked offline — the technique known as Kerberoasting.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791870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6029995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349082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accounts are frequently over-privileged and use weak, rarely rotated passwords, making Kerberoasting a reliably productive attack.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791870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6029995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349082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20's SPN enumeration objective directly — you cannot request a ticket for a service account you have not first identified.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5864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8845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21.2 · Task 4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Forging service tickets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sufficient material, a service ticket can be fabricated directly rather than legitimately requested, granting access to a specific service as if properly authenticated.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moves beyond exploiting the SPN mechanism as designed, to constructing authentication material the domain will accept as genuine.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22's golden ticket persistence technique — a related, more powerful form of forged ticket covered there.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5425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8392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21.2 · Task 5 of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Impersonating a domain controller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specific conditions, a compromised context can impersonate the domain controller itself when requesting credential data, retrieving any domain user's authentication material directly — the module's most severe outcome.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furthest point Module 21 reaches — from a single valid credential at the unit's start, to the ability to retrieve any domain user's credentials.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22's lateral movement and persistence content, which assumes credential material of exactly this reach may already be available.</a:t>
            </a:r>
            <a:endParaRPr lang="en-US" sz="18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83143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2673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escalation ladder of Objective 21.2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5160169"/>
            <a:ext cx="2834580" cy="1128713"/>
          </a:xfrm>
          <a:prstGeom prst="roundRect">
            <a:avLst>
              <a:gd name="adj" fmla="val 1350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398294"/>
            <a:ext cx="259416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717381"/>
            <a:ext cx="259416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valid credential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3672780" y="5476875"/>
            <a:ext cx="5524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4263330" y="5160169"/>
            <a:ext cx="2834655" cy="1128713"/>
          </a:xfrm>
          <a:prstGeom prst="roundRect">
            <a:avLst>
              <a:gd name="adj" fmla="val 1350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1455" y="5398294"/>
            <a:ext cx="259424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OPTIONS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01455" y="5717381"/>
            <a:ext cx="25942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Weakened accounts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7136085" y="5476875"/>
            <a:ext cx="5524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7726635" y="4993481"/>
            <a:ext cx="283465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64760" y="5231606"/>
            <a:ext cx="259424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KERBEROASTING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64760" y="5550694"/>
            <a:ext cx="24346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account hashes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0599390" y="5476875"/>
            <a:ext cx="5524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11189940" y="5160169"/>
            <a:ext cx="2834655" cy="1128713"/>
          </a:xfrm>
          <a:prstGeom prst="roundRect">
            <a:avLst>
              <a:gd name="adj" fmla="val 1350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28065" y="5398294"/>
            <a:ext cx="259424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FORGED TICKETS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28065" y="5717381"/>
            <a:ext cx="25942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Fabricated access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4062695" y="5476875"/>
            <a:ext cx="5524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14653245" y="5160169"/>
            <a:ext cx="2834655" cy="1128713"/>
          </a:xfrm>
          <a:prstGeom prst="roundRect">
            <a:avLst>
              <a:gd name="adj" fmla="val 1350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891370" y="5398294"/>
            <a:ext cx="259424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IMPERSONATION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891370" y="5717381"/>
            <a:ext cx="25942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domain credential</a:t>
            </a:r>
            <a:endParaRPr lang="en-US" sz="18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83143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21.2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2673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 Attacks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993481"/>
            <a:ext cx="54355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231606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550694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 and account option abuse obtain or exploit the first valid credential.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993481"/>
            <a:ext cx="543557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231606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KERBEROS-SPECIFIC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550694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Kerberoasting and ticket forging exploit the protocol's own mechanisms directly.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993481"/>
            <a:ext cx="5435650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231606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CEILING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550694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controller impersonation is the module's most severe, furthest-reaching outcome.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140422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 · DISCUSSION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635722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Escalating from one valid domain credential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0100" y="4302472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tester has obtained one valid, low-privileged domain user credential through a password attack. Module 20's SharpHound collection has already identified several service accounts holding SPNs.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800100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8225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8225" y="5908328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next step available given this single credential and the already-enumerated SPNs?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26175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4300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64300" y="590832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cracked service account password turns out to be highly privileged, what does that unlock next on the escalation ladder?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52250" y="5351115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90375" y="5589240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90375" y="5908328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this scenario demonstrate the dependency between Module 20's enumeration and this module's attacks?</a:t>
            </a:r>
            <a:endParaRPr lang="en-US" sz="18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2350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3775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Prioritising Kerberoasting once SPNs are known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Module 20's enumeration has surfaced service accounts, request tickets for them early — the offline cracking process takes time and can run in parallel with other enumeration.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tickets for every enumerated SPN, then begin offline cracking while continuing other manual and automated enumeration work.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20's SPN enumeration and Module 14's cracking fundamentals, combined directly.</a:t>
            </a:r>
            <a:endParaRPr lang="en-US" sz="18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4776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201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account options during enumeration, not after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 a check for unusual account authentication options into the same enumeration pass that identifies SPNs and object permissions, rather than only reaching for it once other attacks have stalled.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weakened account option found early can be the fastest path to a credential, ahead of slower attacks like offline cracking.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20's enumeration discipline, extended to include authentication-relevant configuration specifically.</a:t>
            </a:r>
            <a:endParaRPr lang="en-US" sz="18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5289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714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the most severe technique with proportional caution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controller impersonation retrieves the most sensitive material in the domain. Confirm scope and authorisation cover this specific technique explicitly before attempting it.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severity and reach of this technique make it exactly the kind of action a client may want called out and agreed separately in scope.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2's authorisation discipline — the most powerful technique in the module deserves the most explicit scope confirmation.</a:t>
            </a:r>
            <a:endParaRPr lang="en-US" sz="18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205163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 SPOTLIGHT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700463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introduced in Module 21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367213"/>
            <a:ext cx="25908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857750"/>
            <a:ext cx="25908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481513"/>
            <a:ext cx="236372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90900" y="4367213"/>
            <a:ext cx="4686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90900" y="4857750"/>
            <a:ext cx="4686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543300" y="4481513"/>
            <a:ext cx="45220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77200" y="4367213"/>
            <a:ext cx="94107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77200" y="4857750"/>
            <a:ext cx="94107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4481513"/>
            <a:ext cx="938822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appears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" y="4867275"/>
            <a:ext cx="25908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5343525"/>
            <a:ext cx="2590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4972050"/>
            <a:ext cx="23637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NTLM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90900" y="4867275"/>
            <a:ext cx="4686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90900" y="5343525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543300" y="4972050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 LAN Manager authentication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77200" y="4867275"/>
            <a:ext cx="94107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5343525"/>
            <a:ext cx="9410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4972050"/>
            <a:ext cx="9388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21.1, extending Module 14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0100" y="5829300"/>
            <a:ext cx="2590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457825"/>
            <a:ext cx="23637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Kerberos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390900" y="5829300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543300" y="5457825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Ticket-based AD authentication protocol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77200" y="5829300"/>
            <a:ext cx="9410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5457825"/>
            <a:ext cx="9388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21.1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0100" y="5838825"/>
            <a:ext cx="25908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" y="6581775"/>
            <a:ext cx="2590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5943600"/>
            <a:ext cx="23637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Kerberoasting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390900" y="5838825"/>
            <a:ext cx="4686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90900" y="6581775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3543300" y="5943600"/>
            <a:ext cx="45220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Cracking a service ticket's encrypted hash offline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077200" y="5838825"/>
            <a:ext cx="94107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077200" y="6581775"/>
            <a:ext cx="9410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5943600"/>
            <a:ext cx="938822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21.2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0100" y="7067550"/>
            <a:ext cx="2590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9" name="Text 37"/>
          <p:cNvSpPr/>
          <p:nvPr/>
        </p:nvSpPr>
        <p:spPr>
          <a:xfrm>
            <a:off x="952500" y="6696075"/>
            <a:ext cx="23637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SPN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390900" y="7067550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1" name="Text 39"/>
          <p:cNvSpPr/>
          <p:nvPr/>
        </p:nvSpPr>
        <p:spPr>
          <a:xfrm>
            <a:off x="3543300" y="6696075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Principal Name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077200" y="7067550"/>
            <a:ext cx="9410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0" y="6696075"/>
            <a:ext cx="9388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21.2, first enumerated in Module 20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04787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54317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learners get wrong about Module 21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20992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344805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“NTLM AND KERBEROS ARE INTERCHANGEABLE TERMS”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376713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distinct protocols with different mechanisms, different weaknesses, and different named attacks against each.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3209925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3448050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“KERBEROASTING REQUIRES ADMINISTRATIVE PRIVILEGE”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3767138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authenticated domain user can request a service ticket, making it available from a low-privileged starting point.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00100" y="4881563"/>
            <a:ext cx="8239125" cy="1685925"/>
          </a:xfrm>
          <a:prstGeom prst="roundRect">
            <a:avLst>
              <a:gd name="adj" fmla="val 904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8225" y="5119688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“FORGING A TICKET AND KERBEROASTING ARE THE SAME TECHNIQUE”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8225" y="5438775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Kerberoasting exploits the SPN mechanism as designed to obtain a crackable hash; forging fabricates a ticket directly.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48775" y="4881563"/>
            <a:ext cx="8239125" cy="1685925"/>
          </a:xfrm>
          <a:prstGeom prst="roundRect">
            <a:avLst>
              <a:gd name="adj" fmla="val 904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6900" y="5119688"/>
            <a:ext cx="7995761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“DOMAIN CONTROLLER IMPERSONATION IS JUST ANOTHER NAMED ATTACK”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86900" y="5662613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deliberately the module's most severe technique, closing the escalation ladder for a reason.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800100" y="6777038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8225" y="7015163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“CACHED CREDENTIALS ARE IRRELEVANT ONCE ONLINE”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8225" y="7334250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remain recoverable material on domain-joined endpoints regardless of connectivity to the domain controller.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248775" y="6777038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6900" y="7015163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“ACCOUNT OPTION ABUSE IS A MINOR, RARELY USEFUL TECHNIQUE”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86900" y="7334250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weakened account option can bypass password strength entirely for that account.</a:t>
            </a:r>
            <a:endParaRPr lang="en-US" sz="18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470219" y="3032373"/>
            <a:ext cx="33475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21 IN CONTEXT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628236" y="3508623"/>
            <a:ext cx="1031528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000" b="1" spc="-30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549783" y="5261223"/>
            <a:ext cx="17188434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381"/>
              </a:lnSpc>
              <a:buNone/>
            </a:pPr>
            <a:r>
              <a:rPr lang="en-US" sz="3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escalating attacks in Objective 21.2, from password guessing to domain controller impersonation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3257550" y="6453634"/>
            <a:ext cx="1177290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AD Authentication, and Performing Attacks on AD Authentication. Percentage weightings per module: information not defined in the official exam outline.</a:t>
            </a:r>
            <a:endParaRPr lang="en-US" sz="21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48602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981325"/>
            <a:ext cx="1718843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technique lets any authenticated domain user request a service ticket whose encrypted hash can then be cracked offline?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143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324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333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398169"/>
            <a:ext cx="38010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controller impersonation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095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6A00">
              <a:alpha val="10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276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286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350669"/>
            <a:ext cx="163465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Kerberoasting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048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229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238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303169"/>
            <a:ext cx="162147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the hash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7000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7181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7191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7255669"/>
            <a:ext cx="175612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tunnelling</a:t>
            </a:r>
            <a:endParaRPr lang="en-US" sz="1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018979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51427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21 in two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181029"/>
            <a:ext cx="16687800" cy="942975"/>
          </a:xfrm>
          <a:prstGeom prst="roundRect">
            <a:avLst>
              <a:gd name="adj" fmla="val 1414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433441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442966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362004"/>
            <a:ext cx="1575606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NTLM and Kerberos authenticate the domain through different mechanisms; cached credentials extend credential-hunting onto domain-joined machines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276404"/>
            <a:ext cx="16687800" cy="942975"/>
          </a:xfrm>
          <a:prstGeom prst="roundRect">
            <a:avLst>
              <a:gd name="adj" fmla="val 1414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528816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538341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457379"/>
            <a:ext cx="1575606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attacks, account option abuse, Kerberoasting, ticket forging, and domain controller impersonation escalate from one credential to full domain compromise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00100" y="646702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20 mapped the domain; this module attacked its authentication. Module 22 now moves laterally using exactly what both produced.</a:t>
            </a:r>
            <a:endParaRPr lang="en-US" sz="21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43000"/>
            <a:ext cx="18356580" cy="698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788"/>
              </a:lnSpc>
              <a:buNone/>
            </a:pPr>
            <a:r>
              <a:rPr lang="en-US" sz="49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22: Lateral Movement in Active Directory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800100" y="2088803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2326928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2646015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WMI, WinRS and WinRM techniques, PsExec, Pass the Hash, DCOM misuse, and persistence through golden tickets and shadow copies.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2088803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2326928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2646015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able to state the escalation ladder from Objective 21.2 in order, without notes.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2088803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2326928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FORWARD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2646015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credential and ticket obtained in this module. Module 22 assumes exactly this material is already available to move with.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2026-08-01T10:45:03Z</dcterms:created>
  <dcterms:modified xsi:type="dcterms:W3CDTF">2026-08-01T10:45:03Z</dcterms:modified>
</cp:coreProperties>
</file>