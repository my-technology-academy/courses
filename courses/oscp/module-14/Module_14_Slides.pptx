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14. Credentials are the connective tissue of the rest of the course — password attacks here feed directly into Modules 15, 16 and 20 through 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units, moving from live logins to cracking theory to the hash mechanics that dominate the Active Directory modules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14 of 24. Follows Antivirus Evasion; precedes Windows Privilege Escalation, which depends directly on credential material gathered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Orientation. Credentials are the connective tissue of the entire second half of the course. Name the forward connections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14.1. Two objectives on attacking authentication that is live and reachable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14.1, task 1. SSH and RDP named explicitly — two of the most common remote administration protocols encountered on real engagements.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14.1, task 2. Web login forms — connects directly back to Module 7's enumeration and Burp Suite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14.1 before cracking fundamentals.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14.2. Five objectives on the theory and mechanics of cracking, before Objective 14.3 moves to hashes specifically.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14.2, task 1. The fundamentals — what cracking actually is, as distinct from the live login attacks in 14.1.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14.2, task 1 continued. The basic methodology — dictionary vs brute force vs rule-based, as a decision, not just a tool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14.2, task 2. Wordlist mutation — the practical mechanics behind the rule-based approach just introduced.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14.2, task 3. Password manager key files — a specific, named target rather than a generic hash.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14.2, task 4. SSH private key passphrases — directly referenced again in Module 23's Assembling the Pieces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14.2 before moving to hashes specifically.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 into 14.3 — four objectives on hashes specifically, the material that dominates the Active Directory modules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14.3, task 1. NTLM hashes — obtaining and cracking. The foundational Windows credential material for everything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14.3, task 2. Passing the hash — using the hash directly as a credential without ever needing the plaintext.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14.3, task 3. Net-NTLMv2 — a related but distinct hash type, obtained, cracked, and relayed rather than passed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distinction closing the module. Extracted-at-rest vs captured-over-the-network is the key line, and it determines which of the three techniques applies.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14.3, then the applied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Discussion. Five minutes in pairs. Listening for correct technique selection based on the hash type and whether cracking succeeded.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1. Respecting lockout policy during live login attacks — a direct professional-conduct application of 14.1.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2. Building custom, targeted wordlists rather than relying purely on generic public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skill 3. Trying passing or relaying before spending excessive time on cracking.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Acronym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Misconceptions. The NTLM/Net-NTLMv2 conflation is the most damaging and the most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number. Three units, and the module whose hash content returns in full force across Modules 20 to 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check. Answer is B. Also appears as Q1 of the module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Summary. Three units in three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Preview Module 15 — from obtaining credentials to using limited access to escalate privileges on 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14 OF 24 · OFFSEC PEN-200 (PWK)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81100"/>
            <a:ext cx="18356580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00100" y="2385045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network service logins, password cracking fundamentals, and working directly with NTLM and Net-NTLMv2 hashes.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08178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577084"/>
            <a:ext cx="1835658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96"/>
              </a:lnSpc>
              <a:buNone/>
            </a:pPr>
            <a:r>
              <a:rPr lang="en-US" sz="43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module covers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800100" y="44619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6429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6524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716735"/>
            <a:ext cx="40779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Network Services Logins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43349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61446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62399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688285"/>
            <a:ext cx="396761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Cracking Fundamentals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405042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586017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595542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659835"/>
            <a:ext cx="366483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Password Hashes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187977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CONTEXT · 24 LEARNING MODULES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37507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Module 14 sits in PEN-200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2975" y="3399011"/>
            <a:ext cx="234225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Course Introduction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500062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43500" y="3399011"/>
            <a:ext cx="242537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Cybersecurity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9201150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44025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44025" y="3399011"/>
            <a:ext cx="238541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Learning Strategies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3401675" y="3041824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44550" y="3165649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544550" y="3399011"/>
            <a:ext cx="312066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Writing for Penetration Testers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80010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97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2975" y="4215780"/>
            <a:ext cx="183118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Gathering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500062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43500" y="4215780"/>
            <a:ext cx="18587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201150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44025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44025" y="4215780"/>
            <a:ext cx="270493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Web Applications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13401675" y="3858592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544550" y="3982417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544550" y="4215780"/>
            <a:ext cx="282051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Web Application Attacks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80010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297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2975" y="5032549"/>
            <a:ext cx="179419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Attacks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500062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43500" y="5032549"/>
            <a:ext cx="16199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Attacks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9201150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4025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44025" y="5032549"/>
            <a:ext cx="1980009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Locating Public Exploits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3401675" y="4675361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544550" y="4799186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544550" y="5032549"/>
            <a:ext cx="122351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Exploits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80010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97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2975" y="5849317"/>
            <a:ext cx="144385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Antivirus Evasion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500062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6A00">
              <a:alpha val="12000"/>
            </a:srgbClr>
          </a:solidFill>
          <a:ln w="9525">
            <a:solidFill>
              <a:srgbClr val="FF6A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350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43500" y="5849317"/>
            <a:ext cx="166084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Attacks</a:t>
            </a:r>
            <a:endParaRPr lang="en-US" sz="1425" dirty="0"/>
          </a:p>
        </p:txBody>
      </p:sp>
      <p:sp>
        <p:nvSpPr>
          <p:cNvPr id="47" name="Shape 45"/>
          <p:cNvSpPr/>
          <p:nvPr/>
        </p:nvSpPr>
        <p:spPr>
          <a:xfrm>
            <a:off x="9201150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44025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344025" y="5849317"/>
            <a:ext cx="241280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Privilege Escalation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13401675" y="5492130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544550" y="5615955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544550" y="5849317"/>
            <a:ext cx="210405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Privilege Escalation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80010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297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42975" y="6666086"/>
            <a:ext cx="294774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Redirection and SSH Tunneling</a:t>
            </a:r>
            <a:endParaRPr lang="en-US" sz="1425" dirty="0"/>
          </a:p>
        </p:txBody>
      </p:sp>
      <p:sp>
        <p:nvSpPr>
          <p:cNvPr id="56" name="Shape 54"/>
          <p:cNvSpPr/>
          <p:nvPr/>
        </p:nvSpPr>
        <p:spPr>
          <a:xfrm>
            <a:off x="500062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4350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143500" y="6666086"/>
            <a:ext cx="170557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Tunneling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9201150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44025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344025" y="6666086"/>
            <a:ext cx="221716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Metasploit Framework</a:t>
            </a:r>
            <a:endParaRPr lang="en-US" sz="1425" dirty="0"/>
          </a:p>
        </p:txBody>
      </p:sp>
      <p:sp>
        <p:nvSpPr>
          <p:cNvPr id="62" name="Shape 60"/>
          <p:cNvSpPr/>
          <p:nvPr/>
        </p:nvSpPr>
        <p:spPr>
          <a:xfrm>
            <a:off x="13401675" y="6308899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544550" y="6432724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3544550" y="6666086"/>
            <a:ext cx="27483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Introduction and Enumeration</a:t>
            </a:r>
            <a:endParaRPr lang="en-US" sz="1425" dirty="0"/>
          </a:p>
        </p:txBody>
      </p:sp>
      <p:sp>
        <p:nvSpPr>
          <p:cNvPr id="65" name="Shape 63"/>
          <p:cNvSpPr/>
          <p:nvPr/>
        </p:nvSpPr>
        <p:spPr>
          <a:xfrm>
            <a:off x="80010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4297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42975" y="7482855"/>
            <a:ext cx="233935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AD Authentication</a:t>
            </a:r>
            <a:endParaRPr lang="en-US" sz="1425" dirty="0"/>
          </a:p>
        </p:txBody>
      </p:sp>
      <p:sp>
        <p:nvSpPr>
          <p:cNvPr id="68" name="Shape 66"/>
          <p:cNvSpPr/>
          <p:nvPr/>
        </p:nvSpPr>
        <p:spPr>
          <a:xfrm>
            <a:off x="500062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4350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143500" y="7482855"/>
            <a:ext cx="199489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in AD</a:t>
            </a:r>
            <a:endParaRPr lang="en-US" sz="1425" dirty="0"/>
          </a:p>
        </p:txBody>
      </p:sp>
      <p:sp>
        <p:nvSpPr>
          <p:cNvPr id="71" name="Shape 69"/>
          <p:cNvSpPr/>
          <p:nvPr/>
        </p:nvSpPr>
        <p:spPr>
          <a:xfrm>
            <a:off x="9201150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44025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344025" y="7482855"/>
            <a:ext cx="189376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Assembling the Pieces</a:t>
            </a:r>
            <a:endParaRPr lang="en-US" sz="1425" dirty="0"/>
          </a:p>
        </p:txBody>
      </p:sp>
      <p:sp>
        <p:nvSpPr>
          <p:cNvPr id="74" name="Shape 72"/>
          <p:cNvSpPr/>
          <p:nvPr/>
        </p:nvSpPr>
        <p:spPr>
          <a:xfrm>
            <a:off x="13401675" y="7125667"/>
            <a:ext cx="4086225" cy="702469"/>
          </a:xfrm>
          <a:prstGeom prst="roundRect">
            <a:avLst>
              <a:gd name="adj" fmla="val 16271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544550" y="7249492"/>
            <a:ext cx="418052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12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3544550" y="7482855"/>
            <a:ext cx="200858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465"/>
              </a:lnSpc>
              <a:buNone/>
            </a:pPr>
            <a:r>
              <a:rPr lang="en-US" sz="142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Harder: The Labs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800100" y="8075786"/>
            <a:ext cx="163449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weightings: information not defined in the official exam outline.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498056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993356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as the connective tissue of the course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660106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898231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HERE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217319"/>
            <a:ext cx="510810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 credential often opens more doors than another exploit. This module is where the course first treats credentials as a target in their own right.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660106"/>
            <a:ext cx="5435575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4898231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CONNECTIONS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217319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NTLM and Net-NTLMv2 hashes return in full force in Modules 20 through 22, where Active Directory authentication is attacked directly.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660106"/>
            <a:ext cx="5435650" cy="2128838"/>
          </a:xfrm>
          <a:prstGeom prst="roundRect">
            <a:avLst>
              <a:gd name="adj" fmla="val 715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4898231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ANGLES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217319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live logins, cracking captured passwords, and working with hashes directly — three related but distinct problems.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42802" y="4111972"/>
            <a:ext cx="220232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860009" y="4626322"/>
            <a:ext cx="14567981" cy="8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399"/>
              </a:lnSpc>
              <a:buNone/>
            </a:pPr>
            <a:r>
              <a:rPr lang="en-US" sz="63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Network Services Logins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4594555" y="5733083"/>
            <a:ext cx="9098890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SSH and RDP logins, and attack HTTP POST login forms.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299963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72767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14.1 · Task 1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SSH and RDP logins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and RDP are two of the most common remote administration services exposed on a network. Both accept credentials directly, making them common targets for systematic login attempts.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TWO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dominates Linux administration; RDP dominates Windows. Together they cover the majority of remote administration access encountered in the field.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lockout policies and rate limiting. An attack that ignores them can lock out legitimate users or alert defenders before any credential succeeds.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2396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52733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14.1 · Task 2 of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HTTP POST login forms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 login forms accept credentials through an HTTP POST request. Attacking them systematically requires understanding the exact request structure the form submits.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SSH or RDP, every web form has its own field names, error behaviour, and possible anti-automation defences to account for.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7's web proxy and enumeration content — the same tooling that inspects headers and cookies is what reveals a login form's exact structure.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831431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14.1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32673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Network Services Logins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SERVICES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and RDP both accept direct credential submission and require respecting lockout and rate-limit behaviour.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499348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523160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FORMS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555069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POST login forms require understanding each form's specific structure before a systematic attempt can succeed.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23317" y="3910980"/>
            <a:ext cx="224136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391251" y="4425330"/>
            <a:ext cx="1350549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304"/>
              </a:lnSpc>
              <a:buNone/>
            </a:pPr>
            <a:r>
              <a:rPr lang="en-US" sz="60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Cracking Fundamentals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767013" y="549213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cracking fundamentals and methodology, mutate wordlists, attack password manager key files, and attack SSH private key passphrases.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41452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7074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14.2 · Task 1 of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fundamentals of password cracking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Cracking recovers a plaintext password from a captured hash or protected file offline, rather than submitting guesses against a live service. This removes lockout and rate-limit concerns entirely, at the cost of needing the protected material first.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material is captured, cracking speed is limited only by computing power and wordlist quality, not by a target's defensive throttling.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FROM 14.1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14.1 attacks a live service directly. Cracking works offline against material already captured or obtained.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3041452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77074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14.2 · Task 1 of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password cracking methodology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Cracking approaches trade coverage against speed. Choosing the right one for a given target is a methodology decision, not simply picking whichever tool is fastest to run.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Tries known real-world passwords first — fast, and effective against common human choices.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426175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4300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64300" y="598214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systematic mutations to a dictionary, covering realistic variations without the cost of pure brute force.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052250" y="542493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90375" y="566305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90375" y="598214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Tries every possible combination — guaranteed eventually, but the slowest approach by a wide margin.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2795141"/>
            <a:ext cx="3065711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2880866"/>
            <a:ext cx="279573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14.2 · Task 2 of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43807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Mutating wordlists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10482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passwords are rarely dictionary words exactly — they carry predictable human alterations. Mutation rules apply these systematically to a base wordlist, generating realistic variants without brute-forcing everything.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153471"/>
            <a:ext cx="16687800" cy="628650"/>
          </a:xfrm>
          <a:prstGeom prst="roundRect">
            <a:avLst>
              <a:gd name="adj" fmla="val 18182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9175" y="5334446"/>
            <a:ext cx="167502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D9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→ Password1! → P@ssw0rd → password2024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0100" y="602977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8225" y="626789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MUTATIONS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38225" y="658698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Capitalising the first letter, appending numbers or years, and substituting characters that resemble letters.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48775" y="602977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86900" y="626789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86900" y="658698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well-mutated wordlist based on a small dictionary regularly outperforms a vastly larger unmutated one.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307084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80102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14.2 · Task 3 of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password manager key files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managers protect their entire vault behind a single master password, encoded into a key file. Cracking that key file, where feasible, can expose every credential the vault holds at once.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successful crack against a key file can yield far more credentials than any individual service login attack.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42493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66305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598214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master passwords and modern key-derivation functions, which can make this approach impractical within reasonable time even with a good wordlist.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74417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80470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14.2 · Task 4 of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the passphrase of SSH private keys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SSH private key may itself be protected by a passphrase. Cracking that passphrase turns a captured but unusable key into full working access, without needing the corresponding live server credential.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private key found during an engagement is worthless if passphrase-protected until this specific attack is applied to it.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23, Assembling the Pieces, names cracking an SSH private key passphrase explicitly as part of its closing scenario.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14.2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Cracking Fundamentals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IDEA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Cracking recovers plaintext offline from captured material, trading dictionary, rule-based, and brute-force approaches against speed and coverage.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4826794"/>
            <a:ext cx="823912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5064919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TARGETS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5384006"/>
            <a:ext cx="7995761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Mutated wordlists, password manager key files, and SSH private key passphrases are all specific, named applications of the same underlying method.</a:t>
            </a:r>
            <a:endParaRPr lang="en-US" sz="18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22093" y="3870945"/>
            <a:ext cx="22437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14.3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291801" y="4385295"/>
            <a:ext cx="13704324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1485"/>
              </a:lnSpc>
              <a:buNone/>
            </a:pPr>
            <a:r>
              <a:rPr lang="en-US" sz="660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Password Hashes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2767013" y="5532090"/>
            <a:ext cx="12753975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405"/>
              </a:lnSpc>
              <a:buNone/>
            </a:pPr>
            <a:r>
              <a:rPr lang="en-US" sz="24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and crack NTLM hashes, pass NTLM hashes, and obtain, crack and relay Net-NTLMv2 hashes.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39219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68446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14.3 · Task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Obtaining and cracking NTLM hashes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NTLM hashes are a stored representation of a Windows account's password. Obtaining them from a compromised host and attempting to crack them is a direct route from limited access towards a usable plaintext credential.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cracked NTLM hash yields a plaintext password usable anywhere that account authenticates, not only on the host it was taken from.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passwords resisting cracking entirely, which is exactly why passing the hash exists as a separate technique.</a:t>
            </a:r>
            <a:endParaRPr lang="en-US" sz="18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306347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793432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14.3 · Task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NTLM hashes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Certain Windows authentication protocols accept the NTLM hash itself as proof of identity, without ever requiring the plaintext password behind it. This is the direct answer to a hash that resists cracking.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uncracked hash is still a usable credential through this mechanism — cracking failure does not end the attack path.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22, Lateral Movement in Active Directory, names Pass the Hash explicitly as a lateral movement technique.</a:t>
            </a:r>
            <a:endParaRPr lang="en-US" sz="18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066604"/>
            <a:ext cx="3068613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152329"/>
            <a:ext cx="2798721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14.3 · Task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709541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Obtaining, cracking, and relaying Net-NTLMv2 hashes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376291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Net-NTLMv2 hashes are captured during an authentication attempt over the network, rather than extracted at rest from a compromised host. They can be cracked offline, or relayed directly to authenticate elsewhere without cracking at all.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598214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Capturing the hash as a target machine attempts to authenticate to a listener the tester controls.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6426175" y="542493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4300" y="566305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64300" y="598214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Attempting offline recovery of the plaintext, the same fundamentals from Objective 14.2 applied to this specific hash type.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052250" y="542493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90375" y="566305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90375" y="5982146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Forwarding the captured authentication attempt live to a different target, authenticating as the victim without ever needing the plaintext.</a:t>
            </a:r>
            <a:endParaRPr lang="en-US" sz="18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140422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DISTINCTION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635722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NTLM versus Net-NTLMv2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302472"/>
            <a:ext cx="758190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540597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NTLM HASH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4859685"/>
            <a:ext cx="73188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at rest from a compromised host. Can be cracked, or passed directly as a credential without cracking.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8534400" y="4302472"/>
            <a:ext cx="1219200" cy="1833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9906000" y="4302472"/>
            <a:ext cx="7581900" cy="1795463"/>
          </a:xfrm>
          <a:prstGeom prst="roundRect">
            <a:avLst>
              <a:gd name="adj" fmla="val 8488"/>
            </a:avLst>
          </a:prstGeom>
          <a:solidFill>
            <a:srgbClr val="FF6A00">
              <a:alpha val="6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4125" y="4540597"/>
            <a:ext cx="78162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NET-NTLMV2 HASH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44125" y="4859685"/>
            <a:ext cx="731882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Captured over the network during a live authentication attempt. Can be cracked, or relayed live to a different target — it cannot simply be passed the way an NTLM hash can.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00100" y="6345585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treating pass-the-hash and relaying as the same technique. They apply to different hash types captured in different ways.</a:t>
            </a:r>
            <a:endParaRPr lang="en-US" sz="21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66474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14.3 RECAP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416004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Password Hashes — what you should now hold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NTLM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at rest; crackable, or usable directly through passing without ever needing the plaintext.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4826794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5064919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NET-NTLMV2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5384006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Captured over the network during authentication; crackable, or relayable live to a different target.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4826794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5064919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LOOK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5384006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hash types return in depth in Modules 20 through 22's Active Directory content.</a:t>
            </a:r>
            <a:endParaRPr lang="en-US" sz="18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140422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SCENARIO · DISCUSSION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635722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technique for captured credential material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0100" y="4302472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an engagement, a tester extracts an NTLM hash from a compromised workstation that resists cracking against a strong wordlist. Separately, a listener captures a Net-NTLMv2 hash from another host attempting to authenticate.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800100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8225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8225" y="590832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next viable step for the uncracked NTLM hash, given that cracking has already failed?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26175" y="5351115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4300" y="5589240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64300" y="5908328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two viable paths for the captured Net-NTLMv2 hash, and what would decide between them?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52250" y="5351115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90375" y="5589240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90375" y="5908328"/>
            <a:ext cx="510818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 the Net-NTLMv2 hash not simply be passed the way the NTLM hash could be?</a:t>
            </a:r>
            <a:endParaRPr lang="en-US" sz="18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23505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3775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1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Respecting lockout policy during live attacks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attacking SSH, RDP, or a web login form systematically, confirm the account lockout threshold if possible, and pace attempts to avoid locking out legitimate users.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Locking out real accounts during testing can disrupt business operations well beyond the scope the client authorised.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2's authorisation and scope discipline — a technique being possible does not make its side effects automatically acceptable.</a:t>
            </a:r>
            <a:endParaRPr lang="en-US" sz="18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47764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2014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2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targeted wordlists from reconnaissance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Incorporate names, dates, and terminology gathered during earlier reconnaissance into a custom base wordlist before mutating it — a targeted list frequently outperforms a much larger generic one.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organisation-specific terms from Module 5 and Module 10's reconnaissance into the base list before applying mutation rules.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people build passwords from what is meaningful to them — company names, product names, and personal details recur constantly.</a:t>
            </a:r>
            <a:endParaRPr lang="en-US" sz="18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00100" y="3233291"/>
            <a:ext cx="2352898" cy="395288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1075" y="3319016"/>
            <a:ext cx="2067148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3 of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0100" y="3876229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over-investing in cracking before trying the alternative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0100" y="4542979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spending extensive time cracking a hash, consider whether passing or relaying it directly would achieve the same access without the cracking effort at all.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800100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8225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8225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a quick, time-boxed crack first; if it does not succeed rapidly, move to passing or relaying rather than continuing indefinitely.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48775" y="5591621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86900" y="5829746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86900" y="6148834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3's time allotment strategy, applied directly to a technical decision under time pressure.</a:t>
            </a:r>
            <a:endParaRPr lang="en-US" sz="18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309562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ACRONYM SPOTLIGHT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590925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introduced in Module 14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257675"/>
            <a:ext cx="25908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0100" y="4748213"/>
            <a:ext cx="25908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4371975"/>
            <a:ext cx="236372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90900" y="4257675"/>
            <a:ext cx="46863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90900" y="4748213"/>
            <a:ext cx="46863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0" name="Text 8"/>
          <p:cNvSpPr/>
          <p:nvPr/>
        </p:nvSpPr>
        <p:spPr>
          <a:xfrm>
            <a:off x="3543300" y="4371975"/>
            <a:ext cx="45220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77200" y="4257675"/>
            <a:ext cx="9410700" cy="500063"/>
          </a:xfrm>
          <a:prstGeom prst="rect">
            <a:avLst/>
          </a:prstGeom>
          <a:solidFill>
            <a:srgbClr val="FF6A00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077200" y="4748213"/>
            <a:ext cx="9410700" cy="9525"/>
          </a:xfrm>
          <a:prstGeom prst="rect">
            <a:avLst/>
          </a:prstGeom>
          <a:solidFill>
            <a:srgbClr val="B8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4371975"/>
            <a:ext cx="938822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appears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0100" y="4757738"/>
            <a:ext cx="25908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" y="5233988"/>
            <a:ext cx="2590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4862513"/>
            <a:ext cx="23637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90900" y="4757738"/>
            <a:ext cx="4686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90900" y="5233988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9" name="Text 17"/>
          <p:cNvSpPr/>
          <p:nvPr/>
        </p:nvSpPr>
        <p:spPr>
          <a:xfrm>
            <a:off x="3543300" y="4862513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Shell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77200" y="4757738"/>
            <a:ext cx="94107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5233988"/>
            <a:ext cx="9410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4862513"/>
            <a:ext cx="9388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14.1, and again in Objective 14.2 for private key passphrases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0100" y="5719763"/>
            <a:ext cx="2590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348288"/>
            <a:ext cx="23637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RDP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390900" y="5719763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6" name="Text 24"/>
          <p:cNvSpPr/>
          <p:nvPr/>
        </p:nvSpPr>
        <p:spPr>
          <a:xfrm>
            <a:off x="3543300" y="5348288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Desktop Protocol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77200" y="5719763"/>
            <a:ext cx="9410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5348288"/>
            <a:ext cx="9388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14.1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0100" y="5729288"/>
            <a:ext cx="25908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" y="6205538"/>
            <a:ext cx="2590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1" name="Text 29"/>
          <p:cNvSpPr/>
          <p:nvPr/>
        </p:nvSpPr>
        <p:spPr>
          <a:xfrm>
            <a:off x="952500" y="5834063"/>
            <a:ext cx="23637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NTLM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390900" y="5729288"/>
            <a:ext cx="4686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90900" y="6205538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4" name="Text 32"/>
          <p:cNvSpPr/>
          <p:nvPr/>
        </p:nvSpPr>
        <p:spPr>
          <a:xfrm>
            <a:off x="3543300" y="5834063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 LAN Manager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077200" y="5729288"/>
            <a:ext cx="94107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077200" y="6205538"/>
            <a:ext cx="9410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5834063"/>
            <a:ext cx="9388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14.3, extended fully in Modules 20-22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00100" y="6691313"/>
            <a:ext cx="2590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39" name="Text 37"/>
          <p:cNvSpPr/>
          <p:nvPr/>
        </p:nvSpPr>
        <p:spPr>
          <a:xfrm>
            <a:off x="952500" y="6319838"/>
            <a:ext cx="23637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Net-NTLMv2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390900" y="6691313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1" name="Text 39"/>
          <p:cNvSpPr/>
          <p:nvPr/>
        </p:nvSpPr>
        <p:spPr>
          <a:xfrm>
            <a:off x="3543300" y="6319838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NTLM version 2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077200" y="6691313"/>
            <a:ext cx="9410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0" y="6319838"/>
            <a:ext cx="9388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14.3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00100" y="6700838"/>
            <a:ext cx="25908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0100" y="7177088"/>
            <a:ext cx="2590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6" name="Text 44"/>
          <p:cNvSpPr/>
          <p:nvPr/>
        </p:nvSpPr>
        <p:spPr>
          <a:xfrm>
            <a:off x="952500" y="6805613"/>
            <a:ext cx="23637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the Hash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3390900" y="6700838"/>
            <a:ext cx="46863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390900" y="7177088"/>
            <a:ext cx="46863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49" name="Text 47"/>
          <p:cNvSpPr/>
          <p:nvPr/>
        </p:nvSpPr>
        <p:spPr>
          <a:xfrm>
            <a:off x="3543300" y="6805613"/>
            <a:ext cx="4522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8077200" y="6700838"/>
            <a:ext cx="9410700" cy="4857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77200" y="7177088"/>
            <a:ext cx="94107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52" name="Text 50"/>
          <p:cNvSpPr/>
          <p:nvPr/>
        </p:nvSpPr>
        <p:spPr>
          <a:xfrm>
            <a:off x="8229600" y="6805613"/>
            <a:ext cx="93882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14.3, named again in Module 22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995613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MISCONCEPTIONS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490913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learners get wrong about Module 14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157663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4395788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“NTLM AND NET-NTLMV2 ARE THE SAME HASH”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4714875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NTLM is extracted at rest; Net-NTLMv2 is captured over the network during authentication. They are handled differently.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48775" y="4157663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86900" y="4395788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 UNCRACKED HASH IS A DEAD END”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86900" y="4714875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an NTLM hash or relaying a Net-NTLMv2 hash can both provide access without ever cracking the plaintext.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00100" y="5829300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8225" y="6067425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“NET-NTLMV2 HASHES CAN BE PASSED LIKE NTLM HASHES”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8225" y="6386513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Net-NTLMv2 hashes are relayed, not passed directly — a distinct mechanism from Pass the Hash.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248775" y="5829300"/>
            <a:ext cx="8239125" cy="1462088"/>
          </a:xfrm>
          <a:prstGeom prst="roundRect">
            <a:avLst>
              <a:gd name="adj" fmla="val 10423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6900" y="6067425"/>
            <a:ext cx="85391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“BRUTE FORCE IS ALWAYS THE BEST CRACKING APPROACH”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86900" y="6386513"/>
            <a:ext cx="799576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 and rule-based mutation frequently succeed far faster by reflecting how real people actually choose passwords.</a:t>
            </a:r>
            <a:endParaRPr lang="en-US" sz="18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464899" y="3273326"/>
            <a:ext cx="33582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14 IN CONTEXT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626004" y="3749576"/>
            <a:ext cx="1035993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2000" b="1" spc="-30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244620" y="5502176"/>
            <a:ext cx="1579876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381"/>
              </a:lnSpc>
              <a:buNone/>
            </a:pPr>
            <a:r>
              <a:rPr lang="en-US" sz="3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Units connecting live logins, cracking, and hash mechanics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3257550" y="6212681"/>
            <a:ext cx="1177290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Attacking network service logins, password cracking fundamentals, and working with password hashes. Percentage weightings per module: information not defined in the official exam outline.</a:t>
            </a:r>
            <a:endParaRPr lang="en-US" sz="21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486025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2981325"/>
            <a:ext cx="1718843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NTLM hash extracted from a compromised host resists cracking against a strong wordlist. What is the most direct next step?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4143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324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333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398169"/>
            <a:ext cx="457441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 the hash and abandon the host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5095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6A00">
              <a:alpha val="10000"/>
            </a:srgbClr>
          </a:solidFill>
          <a:ln w="9525">
            <a:solidFill>
              <a:srgbClr val="B85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5276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5286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350669"/>
            <a:ext cx="42876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the hash directly as a credential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60483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62293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62388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303169"/>
            <a:ext cx="398947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the hash to a different target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800100" y="7000875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8225" y="7181850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650" y="7191375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52625" y="7255669"/>
            <a:ext cx="496478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the hash into a Net-NTLMv2 hash</a:t>
            </a:r>
            <a:endParaRPr lang="en-US" sz="1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2685604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SUMMARY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3180904"/>
            <a:ext cx="183565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14 in three 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3847654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4028629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4038154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952625" y="4102447"/>
            <a:ext cx="1134819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SSH, RDP, and HTTP POST login forms directly, respecting lockout and rate-limit behaviour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00100" y="4800154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225" y="4981129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4990654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52625" y="5054947"/>
            <a:ext cx="1397010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 offline using dictionary, rule-based mutation and brute force, against wordlists, key files, and SSH key passphrases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00100" y="5752654"/>
            <a:ext cx="16687800" cy="800100"/>
          </a:xfrm>
          <a:prstGeom prst="roundRect">
            <a:avLst>
              <a:gd name="adj" fmla="val 1666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8225" y="5933629"/>
            <a:ext cx="723900" cy="438150"/>
          </a:xfrm>
          <a:prstGeom prst="roundRect">
            <a:avLst>
              <a:gd name="adj" fmla="val 50000"/>
            </a:avLst>
          </a:prstGeom>
          <a:solidFill>
            <a:srgbClr val="FF6A00">
              <a:alpha val="15000"/>
            </a:srgbClr>
          </a:solidFill>
          <a:ln w="9525">
            <a:solidFill>
              <a:srgbClr val="FF6A00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9650" y="5943154"/>
            <a:ext cx="7810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D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952625" y="6007447"/>
            <a:ext cx="1146287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and crack NTLM hashes, pass them directly, and obtain, crack or relay Net-NTLMv2 hashes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00100" y="6800404"/>
            <a:ext cx="153047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gathered here are the connective tissue for the rest of the course — expect NTLM and Net-NTLMv2 to reappear constantly from Module 20 onwards.</a:t>
            </a:r>
            <a:endParaRPr lang="en-US" sz="21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00100" y="609600"/>
            <a:ext cx="183565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00100" y="1143000"/>
            <a:ext cx="1835658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41"/>
              </a:lnSpc>
              <a:buNone/>
            </a:pPr>
            <a:r>
              <a:rPr lang="en-US" sz="5250" b="1" spc="-37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15: Windows Privilege Escalation</a:t>
            </a:r>
            <a:endParaRPr lang="en-US" sz="5250" dirty="0"/>
          </a:p>
        </p:txBody>
      </p:sp>
      <p:sp>
        <p:nvSpPr>
          <p:cNvPr id="5" name="Shape 3"/>
          <p:cNvSpPr/>
          <p:nvPr/>
        </p:nvSpPr>
        <p:spPr>
          <a:xfrm>
            <a:off x="800100" y="2128838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8225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NEXT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8225" y="2686050"/>
            <a:ext cx="510810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Enumerating Windows, leveraging Windows services, and abusing other Windows components to escalate privileges.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426175" y="2128838"/>
            <a:ext cx="5435575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4300" y="2366963"/>
            <a:ext cx="5455258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64300" y="2686050"/>
            <a:ext cx="51081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able to state, without notes, why an uncracked NTLM hash is not a dead end.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2052250" y="2128838"/>
            <a:ext cx="5435650" cy="1795463"/>
          </a:xfrm>
          <a:prstGeom prst="roundRect">
            <a:avLst>
              <a:gd name="adj" fmla="val 8488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90375" y="2366963"/>
            <a:ext cx="545534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13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FORWARD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90375" y="2686050"/>
            <a:ext cx="510818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DF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credential and hash captured from this module onward. Module 15 assumes some limited access already exists to escalate from.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800100" y="9210675"/>
            <a:ext cx="16687800" cy="9525"/>
          </a:xfrm>
          <a:prstGeom prst="rect">
            <a:avLst/>
          </a:prstGeom>
          <a:solidFill>
            <a:srgbClr val="2A2F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9432131"/>
            <a:ext cx="179648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763181" y="9410700"/>
            <a:ext cx="8009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pPr algn="l" indent="0" marL="0">
              <a:buNone/>
            </a:pPr>
            <a:r>
              <a:rPr lang="en-US" sz="180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2026-08-01T10:15:39Z</dcterms:created>
  <dcterms:modified xsi:type="dcterms:W3CDTF">2026-08-01T10:15:39Z</dcterms:modified>
</cp:coreProperties>
</file>