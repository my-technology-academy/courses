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Lst>
  <p:notesMasterIdLst>
    <p:notesMasterId r:id="rId61"/>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notesMaster" Target="notesMasters/notesMaster1.xml"/><Relationship Id="rId62" Type="http://schemas.openxmlformats.org/officeDocument/2006/relationships/presProps" Target="presProps.xml"/><Relationship Id="rId63" Type="http://schemas.openxmlformats.org/officeDocument/2006/relationships/viewProps" Target="viewProps.xml"/><Relationship Id="rId64" Type="http://schemas.openxmlformats.org/officeDocument/2006/relationships/theme" Target="theme/theme1.xml"/><Relationship Id="rId6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2. This module supplies the vocabulary and the professional context a tester operates inside. It is the module that turns someone who can compromise a host into someone who can be employed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Learning Units, nineteen stated objectives — the widest module in the opening block. Read the six aloud and note that only 2.6 is a single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2 of 24, still in the orientation block. No offensive technique yet — that begins at Module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Orientation. Three reasons this module is not optional: precision of language, understanding the adversary, and knowing the legal boundary you operate inside.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Divider into Objective 2.1. Three objectives, all about the shape of the discipline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2.1, task 1. Ask the group what makes information security harder than other engineering disciplines before revealing. The asymmetry point usually comes up unprompted.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2.1, task 2. The syllabus wording is 'reflect each other' — they are the same knowledge viewed from opposite ends. Emphasise that a good tester thinks like a defender when writing recommendations.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Critical distinction. Same knowledge, different objective function. Use this to explain why OffSec teaches defence inside an offensive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2.1, task 3. The syllabus asks learners to begin building a mental model of useful mindsets. These four are the ones that carry through the whole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2.1 before moving to threat actors.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Divider into Objective 2.2. Four objectives, and the most examinable vocabulary in the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2.2, task 1. The co-evolution point. Every control in the course exists because an attack forced it, and every evasion technique exists because a control forced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2.2, task 2 — first of four terms, each given its own slide because learners conflate them constantly. Risk is the only one of the four that is a business measure rather than a technical 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Term 2 of 4. A threat is the actor or event with potential to cause harm — it exists whether or not you have a weakness.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Term 3 of 4. A weakness that can be exploited. This is the term a penetration test actually produces.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Term 4 of 4. The exploit is the thing that turns a vulnerability into an outcome. Modules 11 and 12 are entirely about this term.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table. This is the slide learners photograph. Walk the example row across all four columns to show they describe one situation from four angles.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2.2, task 3. Classes of threat actor. The distinguishing variables are capability, resourcing and motivation — not skill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Comparison table. The point to land: the class of actor a client faces determines what a realistic test should simulate.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2.2, task 4. Deliberately taught as patterns rather than a list of named incidents — incident details date quickly and specifics not in the syllabus are out of scope. Ask the group for recent examples they have followed.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2.2. The four terms are the single most important takeaway of this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Divider into Objective 2.3. Three objectives, one per leg of the triad.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2.3, task 1. Confidentiality is the leg most tests are commissioned to attack, and the one clients understand best.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2.3, task 2. Integrity failures are quieter and more damaging than disclosure — the data is still there, it is simply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2.3, task 3. Availability is the leg penetration tests usually must NOT attack — stress that scope normally excludes disruption.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Flow slide. The triad is a set of competing requirements, not three separate goals. Ask which leg a client would sacrifice first — the answer is usually revealing.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Decision table. Give a finding, ask which leg it breaks. Good five-minute drill and directly transferable to writing impact statements.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2.3. The triad is the language of impact — it turns a technical finding into a business consequence.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Divider into Objective 2.4 — six objectives, the largest unit in the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2.4, task 1. Multiple layers of defence. The tester's view: every layer is a place the chain can break, which is why a single finding rarely ends an engagement.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2.4, task 2. Threat intelligence and its applications. Keep this practical — intelligence that does not change a decision is just news.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2.4, task 3. Least privilege. This is the control whose absence funds most of Modules 15, 16 and 20 to 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2.4, task 4. Security must not depend on secrecy. Kerckhoffs's principle in practice — the design may be public; the keys must not 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Critical distinction. Obscurity as a layer is fine; obscurity as the layer is a finding. Make sure the group can state the difference.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2.4, task 5. Policies that mitigate threats. Policy is a control — it changes behaviour at scale, which no technical control can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2.4, task 6. Controls an organisation can use. Introduce the two axes: function (preventive/detective/corrective) and nature (technical/administrative/physical). This is standard NIST-aligned terminology.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table combining both axes. Learners should be able to place any control they meet in a client estate into one cell.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2.4. Six objectives condensed to three ideas.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Divider into Objective 2.5. Two objectives, but commercially critical — this is the unit that keeps a tester out of court.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2.5, task 1. Emphasise: authorisation is what separates a tester from a criminal, and it is the only thing that does. Specific national statutes are not defined in the outline — teach the principle.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2.5, task 2. Frameworks and standards help organisations orient their activity. Name only what is genuinely relevant and align with NIST, CREST and CompTIA terminology.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table. The four instrument types are frequently conflated. The distinguishing question is who compels you and what happens if you ignore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Critical distinction, drilled one more time because it appears in client conversations constantly.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2.5. Two ideas: authorisation is the only thing making this lawful, and the client's framework is the language your report should speak.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Divider into Objective 2.6 — a single objective, and the shortest unit in the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2.6, single task. Keep this grounded: the course leads towards offensive roles, but the field is wider and the adjacent roles are where most work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framing of 2.6. The OSCP evidences hands-on capability specifically — be honest about what it does and does not signal.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recap 2.6, then into the applied scenario.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Five minutes in pairs. You are listening for correct use of the four terms and for impact phrased against the triad — not for the technical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skill 1. Make learners rewrite a sloppy sentence live if time allows — it lands better than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skill 2. The triad as an impact vocabulary. This is what makes a report readable by someone who cannot read a shell.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skill 3. Threat modelling the actor before testing. This is what stops a test from being a tool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skill 4. Authorisation hygiene. Short, unglamorous, and the reason this profession is a profession.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Acronym table. Keep to terms this module actually introduces.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Misconceptions. These are the real distractor patterns. Ask which ones the group held an hour ago.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number. Six units, nineteen stated objectives — the widest unit count in the opening block. Reiterate that no weighting is published.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Answer is C. This question also appears as Q1 of the module quiz.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Six units in six lines. Confirm the four terms are secure before closing — everything downstream depends on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Preview Module 3 and set expectations: it is the module that makes the remaining 21 learnable.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609600"/>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MODULE 2 OF 24 · OFFSEC PEN-200 (PWK)</a:t>
            </a:r>
            <a:endParaRPr lang="en-US" sz="1650" dirty="0"/>
          </a:p>
        </p:txBody>
      </p:sp>
      <p:sp>
        <p:nvSpPr>
          <p:cNvPr id="4" name="Text 2"/>
          <p:cNvSpPr/>
          <p:nvPr/>
        </p:nvSpPr>
        <p:spPr>
          <a:xfrm>
            <a:off x="800100" y="1181100"/>
            <a:ext cx="18356580" cy="918195"/>
          </a:xfrm>
          <a:prstGeom prst="rect">
            <a:avLst/>
          </a:prstGeom>
          <a:noFill/>
          <a:ln/>
        </p:spPr>
        <p:txBody>
          <a:bodyPr wrap="square" lIns="25400" tIns="25400" rIns="25400" bIns="25400" rtlCol="0" anchor="t">
            <a:normAutofit/>
          </a:bodyPr>
          <a:lstStyle/>
          <a:p>
            <a:pPr algn="l" indent="0" marL="0">
              <a:lnSpc>
                <a:spcPct val="91485"/>
              </a:lnSpc>
              <a:buNone/>
            </a:pPr>
            <a:r>
              <a:rPr lang="en-US" sz="6600" b="1" spc="-37" kern="0" dirty="0">
                <a:solidFill>
                  <a:srgbClr val="F5F7FB"/>
                </a:solidFill>
                <a:latin typeface="Arial" pitchFamily="34" charset="0"/>
                <a:ea typeface="Arial" pitchFamily="34" charset="-122"/>
                <a:cs typeface="Arial" pitchFamily="34" charset="-120"/>
              </a:rPr>
              <a:t>Introduction to Cybersecurity</a:t>
            </a:r>
            <a:endParaRPr lang="en-US" sz="6600" dirty="0"/>
          </a:p>
        </p:txBody>
      </p:sp>
      <p:sp>
        <p:nvSpPr>
          <p:cNvPr id="5" name="Text 3"/>
          <p:cNvSpPr/>
          <p:nvPr/>
        </p:nvSpPr>
        <p:spPr>
          <a:xfrm>
            <a:off x="800100" y="2385045"/>
            <a:ext cx="13735050" cy="977205"/>
          </a:xfrm>
          <a:prstGeom prst="rect">
            <a:avLst/>
          </a:prstGeom>
          <a:noFill/>
          <a:ln/>
        </p:spPr>
        <p:txBody>
          <a:bodyPr wrap="square" lIns="25400" tIns="25400" rIns="25400" bIns="25400" rtlCol="0" anchor="t">
            <a:normAutofit/>
          </a:bodyPr>
          <a:lstStyle/>
          <a:p>
            <a:pPr algn="l" indent="0" marL="0">
              <a:lnSpc>
                <a:spcPct val="126410"/>
              </a:lnSpc>
              <a:buNone/>
            </a:pPr>
            <a:r>
              <a:rPr lang="en-US" sz="2550" dirty="0">
                <a:solidFill>
                  <a:srgbClr val="B8C0CF"/>
                </a:solidFill>
                <a:latin typeface="Arial" pitchFamily="34" charset="0"/>
                <a:ea typeface="Arial" pitchFamily="34" charset="-122"/>
                <a:cs typeface="Arial" pitchFamily="34" charset="-120"/>
              </a:rPr>
              <a:t>The practice of cybersecurity, the adversaries it defends against, what it protects, how organisations defend, and the law that governs all of it.</a:t>
            </a:r>
            <a:endParaRPr lang="en-US" sz="2550" dirty="0"/>
          </a:p>
        </p:txBody>
      </p:sp>
      <p:sp>
        <p:nvSpPr>
          <p:cNvPr id="6" name="Shape 4"/>
          <p:cNvSpPr/>
          <p:nvPr/>
        </p:nvSpPr>
        <p:spPr>
          <a:xfrm>
            <a:off x="800100" y="9210675"/>
            <a:ext cx="16687800" cy="9525"/>
          </a:xfrm>
          <a:prstGeom prst="rect">
            <a:avLst/>
          </a:prstGeom>
          <a:solidFill>
            <a:srgbClr val="2A2F3A"/>
          </a:solidFill>
          <a:ln/>
        </p:spPr>
      </p:sp>
      <p:sp>
        <p:nvSpPr>
          <p:cNvPr id="7" name="Text 5"/>
          <p:cNvSpPr/>
          <p:nvPr/>
        </p:nvSpPr>
        <p:spPr>
          <a:xfrm>
            <a:off x="800100" y="9432131"/>
            <a:ext cx="1796482" cy="261937"/>
          </a:xfrm>
          <a:prstGeom prst="rect">
            <a:avLst/>
          </a:prstGeom>
          <a:noFill/>
          <a:ln/>
        </p:spPr>
        <p:txBody>
          <a:bodyPr wrap="square" lIns="25400" tIns="25400" rIns="25400" bIns="25400" rtlCol="0" anchor="t">
            <a:normAutofit/>
          </a:bodyPr>
          <a:lstStyle/>
          <a:p>
            <a:pPr algn="l" indent="0" marL="0">
              <a:buNone/>
            </a:pPr>
            <a:r>
              <a:rPr lang="en-US" sz="1500" dirty="0">
                <a:solidFill>
                  <a:srgbClr val="8891A1"/>
                </a:solidFill>
                <a:latin typeface="Arial" pitchFamily="34" charset="0"/>
                <a:ea typeface="Arial" pitchFamily="34" charset="-122"/>
                <a:cs typeface="Arial" pitchFamily="34" charset="-120"/>
              </a:rPr>
              <a:t>My Cyber Academy</a:t>
            </a:r>
            <a:endParaRPr lang="en-US" sz="1500" dirty="0"/>
          </a:p>
        </p:txBody>
      </p:sp>
      <p:sp>
        <p:nvSpPr>
          <p:cNvPr id="8" name="Text 6"/>
          <p:cNvSpPr/>
          <p:nvPr/>
        </p:nvSpPr>
        <p:spPr>
          <a:xfrm>
            <a:off x="16763181" y="9410700"/>
            <a:ext cx="800919" cy="304800"/>
          </a:xfrm>
          <a:prstGeom prst="rect">
            <a:avLst/>
          </a:prstGeom>
          <a:noFill/>
          <a:ln/>
        </p:spPr>
        <p:txBody>
          <a:bodyPr wrap="square" lIns="25400" tIns="25400" rIns="25400" bIns="25400" rtlCol="0" anchor="t">
            <a:normAutofit/>
          </a:bodyPr>
          <a:lstStyle/>
          <a:p>
            <a:pPr algn="l" indent="0" marL="0">
              <a:buNone/>
            </a:pPr>
            <a:r>
              <a:rPr lang="en-US" sz="1800" b="1" spc="150" kern="0" dirty="0">
                <a:solidFill>
                  <a:srgbClr val="FF6A00"/>
                </a:solidFill>
                <a:latin typeface="Arial" pitchFamily="34" charset="0"/>
                <a:ea typeface="Arial" pitchFamily="34" charset="-122"/>
                <a:cs typeface="Arial" pitchFamily="34" charset="-120"/>
              </a:rPr>
              <a:t>OS</a:t>
            </a:r>
            <a:pPr algn="l" indent="0" marL="0">
              <a:buNone/>
            </a:pPr>
            <a:r>
              <a:rPr lang="en-US" sz="1800" b="1" spc="150" kern="0" dirty="0">
                <a:solidFill>
                  <a:srgbClr val="8891A1"/>
                </a:solidFill>
                <a:latin typeface="Arial" pitchFamily="34" charset="0"/>
                <a:ea typeface="Arial" pitchFamily="34" charset="-122"/>
                <a:cs typeface="Arial" pitchFamily="34" charset="-120"/>
              </a:rPr>
              <a:t>CP</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1729234"/>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LEARNING OBJECTIVES</a:t>
            </a:r>
            <a:endParaRPr lang="en-US" sz="1650" dirty="0"/>
          </a:p>
        </p:txBody>
      </p:sp>
      <p:sp>
        <p:nvSpPr>
          <p:cNvPr id="4" name="Text 2"/>
          <p:cNvSpPr/>
          <p:nvPr/>
        </p:nvSpPr>
        <p:spPr>
          <a:xfrm>
            <a:off x="800100" y="2224534"/>
            <a:ext cx="18356580" cy="618158"/>
          </a:xfrm>
          <a:prstGeom prst="rect">
            <a:avLst/>
          </a:prstGeom>
          <a:noFill/>
          <a:ln/>
        </p:spPr>
        <p:txBody>
          <a:bodyPr wrap="square" lIns="25400" tIns="25400" rIns="25400" bIns="25400" rtlCol="0" anchor="t">
            <a:normAutofit/>
          </a:bodyPr>
          <a:lstStyle/>
          <a:p>
            <a:pPr algn="l" indent="0" marL="0">
              <a:lnSpc>
                <a:spcPct val="90896"/>
              </a:lnSpc>
              <a:buNone/>
            </a:pPr>
            <a:r>
              <a:rPr lang="en-US" sz="4350" b="1" spc="-37" kern="0" dirty="0">
                <a:solidFill>
                  <a:srgbClr val="F5F7FB"/>
                </a:solidFill>
                <a:latin typeface="Arial" pitchFamily="34" charset="0"/>
                <a:ea typeface="Arial" pitchFamily="34" charset="-122"/>
                <a:cs typeface="Arial" pitchFamily="34" charset="-120"/>
              </a:rPr>
              <a:t>What this module covers</a:t>
            </a:r>
            <a:endParaRPr lang="en-US" sz="4350" dirty="0"/>
          </a:p>
        </p:txBody>
      </p:sp>
      <p:sp>
        <p:nvSpPr>
          <p:cNvPr id="5" name="Shape 3"/>
          <p:cNvSpPr/>
          <p:nvPr/>
        </p:nvSpPr>
        <p:spPr>
          <a:xfrm>
            <a:off x="800100" y="3090342"/>
            <a:ext cx="16687800" cy="800100"/>
          </a:xfrm>
          <a:prstGeom prst="roundRect">
            <a:avLst>
              <a:gd name="adj" fmla="val 16667"/>
            </a:avLst>
          </a:prstGeom>
          <a:solidFill>
            <a:srgbClr val="FFFFFF">
              <a:alpha val="2000"/>
            </a:srgbClr>
          </a:solidFill>
          <a:ln w="9525">
            <a:solidFill>
              <a:srgbClr val="2A2F3A"/>
            </a:solidFill>
            <a:prstDash val="solid"/>
          </a:ln>
        </p:spPr>
      </p:sp>
      <p:sp>
        <p:nvSpPr>
          <p:cNvPr id="6" name="Shape 4"/>
          <p:cNvSpPr/>
          <p:nvPr/>
        </p:nvSpPr>
        <p:spPr>
          <a:xfrm>
            <a:off x="1038225" y="3271317"/>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7" name="Text 5"/>
          <p:cNvSpPr/>
          <p:nvPr/>
        </p:nvSpPr>
        <p:spPr>
          <a:xfrm>
            <a:off x="1009650" y="3280842"/>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2.1</a:t>
            </a:r>
            <a:endParaRPr lang="en-US" sz="1650" dirty="0"/>
          </a:p>
        </p:txBody>
      </p:sp>
      <p:sp>
        <p:nvSpPr>
          <p:cNvPr id="8" name="Text 6"/>
          <p:cNvSpPr/>
          <p:nvPr/>
        </p:nvSpPr>
        <p:spPr>
          <a:xfrm>
            <a:off x="1952625" y="3345135"/>
            <a:ext cx="3469035"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The Practice of Cybersecurity</a:t>
            </a:r>
            <a:endParaRPr lang="en-US" sz="1950" dirty="0"/>
          </a:p>
        </p:txBody>
      </p:sp>
      <p:sp>
        <p:nvSpPr>
          <p:cNvPr id="9" name="Shape 7"/>
          <p:cNvSpPr/>
          <p:nvPr/>
        </p:nvSpPr>
        <p:spPr>
          <a:xfrm>
            <a:off x="800100" y="4023792"/>
            <a:ext cx="16687800" cy="800100"/>
          </a:xfrm>
          <a:prstGeom prst="roundRect">
            <a:avLst>
              <a:gd name="adj" fmla="val 16667"/>
            </a:avLst>
          </a:prstGeom>
          <a:solidFill>
            <a:srgbClr val="FFFFFF">
              <a:alpha val="2000"/>
            </a:srgbClr>
          </a:solidFill>
          <a:ln w="9525">
            <a:solidFill>
              <a:srgbClr val="2A2F3A"/>
            </a:solidFill>
            <a:prstDash val="solid"/>
          </a:ln>
        </p:spPr>
      </p:sp>
      <p:sp>
        <p:nvSpPr>
          <p:cNvPr id="10" name="Shape 8"/>
          <p:cNvSpPr/>
          <p:nvPr/>
        </p:nvSpPr>
        <p:spPr>
          <a:xfrm>
            <a:off x="1038225" y="4204767"/>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11" name="Text 9"/>
          <p:cNvSpPr/>
          <p:nvPr/>
        </p:nvSpPr>
        <p:spPr>
          <a:xfrm>
            <a:off x="1009650" y="4214292"/>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2.2</a:t>
            </a:r>
            <a:endParaRPr lang="en-US" sz="1650" dirty="0"/>
          </a:p>
        </p:txBody>
      </p:sp>
      <p:sp>
        <p:nvSpPr>
          <p:cNvPr id="12" name="Text 10"/>
          <p:cNvSpPr/>
          <p:nvPr/>
        </p:nvSpPr>
        <p:spPr>
          <a:xfrm>
            <a:off x="1952625" y="4278585"/>
            <a:ext cx="3041013"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Threats and Threat Actors</a:t>
            </a:r>
            <a:endParaRPr lang="en-US" sz="1950" dirty="0"/>
          </a:p>
        </p:txBody>
      </p:sp>
      <p:sp>
        <p:nvSpPr>
          <p:cNvPr id="13" name="Shape 11"/>
          <p:cNvSpPr/>
          <p:nvPr/>
        </p:nvSpPr>
        <p:spPr>
          <a:xfrm>
            <a:off x="800100" y="4957242"/>
            <a:ext cx="16687800" cy="800100"/>
          </a:xfrm>
          <a:prstGeom prst="roundRect">
            <a:avLst>
              <a:gd name="adj" fmla="val 16667"/>
            </a:avLst>
          </a:prstGeom>
          <a:solidFill>
            <a:srgbClr val="FFFFFF">
              <a:alpha val="2000"/>
            </a:srgbClr>
          </a:solidFill>
          <a:ln w="9525">
            <a:solidFill>
              <a:srgbClr val="2A2F3A"/>
            </a:solidFill>
            <a:prstDash val="solid"/>
          </a:ln>
        </p:spPr>
      </p:sp>
      <p:sp>
        <p:nvSpPr>
          <p:cNvPr id="14" name="Shape 12"/>
          <p:cNvSpPr/>
          <p:nvPr/>
        </p:nvSpPr>
        <p:spPr>
          <a:xfrm>
            <a:off x="1038225" y="5138217"/>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15" name="Text 13"/>
          <p:cNvSpPr/>
          <p:nvPr/>
        </p:nvSpPr>
        <p:spPr>
          <a:xfrm>
            <a:off x="1009650" y="5147742"/>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2.3</a:t>
            </a:r>
            <a:endParaRPr lang="en-US" sz="1650" dirty="0"/>
          </a:p>
        </p:txBody>
      </p:sp>
      <p:sp>
        <p:nvSpPr>
          <p:cNvPr id="16" name="Text 14"/>
          <p:cNvSpPr/>
          <p:nvPr/>
        </p:nvSpPr>
        <p:spPr>
          <a:xfrm>
            <a:off x="1952625" y="5212035"/>
            <a:ext cx="1580711"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The CIA Triad</a:t>
            </a:r>
            <a:endParaRPr lang="en-US" sz="1950" dirty="0"/>
          </a:p>
        </p:txBody>
      </p:sp>
      <p:sp>
        <p:nvSpPr>
          <p:cNvPr id="17" name="Shape 15"/>
          <p:cNvSpPr/>
          <p:nvPr/>
        </p:nvSpPr>
        <p:spPr>
          <a:xfrm>
            <a:off x="800100" y="5890692"/>
            <a:ext cx="16687800" cy="800100"/>
          </a:xfrm>
          <a:prstGeom prst="roundRect">
            <a:avLst>
              <a:gd name="adj" fmla="val 16667"/>
            </a:avLst>
          </a:prstGeom>
          <a:solidFill>
            <a:srgbClr val="FFFFFF">
              <a:alpha val="2000"/>
            </a:srgbClr>
          </a:solidFill>
          <a:ln w="9525">
            <a:solidFill>
              <a:srgbClr val="2A2F3A"/>
            </a:solidFill>
            <a:prstDash val="solid"/>
          </a:ln>
        </p:spPr>
      </p:sp>
      <p:sp>
        <p:nvSpPr>
          <p:cNvPr id="18" name="Shape 16"/>
          <p:cNvSpPr/>
          <p:nvPr/>
        </p:nvSpPr>
        <p:spPr>
          <a:xfrm>
            <a:off x="1038225" y="6071667"/>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19" name="Text 17"/>
          <p:cNvSpPr/>
          <p:nvPr/>
        </p:nvSpPr>
        <p:spPr>
          <a:xfrm>
            <a:off x="1009650" y="6081192"/>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2.4</a:t>
            </a:r>
            <a:endParaRPr lang="en-US" sz="1650" dirty="0"/>
          </a:p>
        </p:txBody>
      </p:sp>
      <p:sp>
        <p:nvSpPr>
          <p:cNvPr id="20" name="Text 18"/>
          <p:cNvSpPr/>
          <p:nvPr/>
        </p:nvSpPr>
        <p:spPr>
          <a:xfrm>
            <a:off x="1952625" y="6145485"/>
            <a:ext cx="5069800"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Security Principles, Controls, and Strategies</a:t>
            </a:r>
            <a:endParaRPr lang="en-US" sz="1950" dirty="0"/>
          </a:p>
        </p:txBody>
      </p:sp>
      <p:sp>
        <p:nvSpPr>
          <p:cNvPr id="21" name="Shape 19"/>
          <p:cNvSpPr/>
          <p:nvPr/>
        </p:nvSpPr>
        <p:spPr>
          <a:xfrm>
            <a:off x="800100" y="6824142"/>
            <a:ext cx="16687800" cy="800100"/>
          </a:xfrm>
          <a:prstGeom prst="roundRect">
            <a:avLst>
              <a:gd name="adj" fmla="val 16667"/>
            </a:avLst>
          </a:prstGeom>
          <a:solidFill>
            <a:srgbClr val="FFFFFF">
              <a:alpha val="2000"/>
            </a:srgbClr>
          </a:solidFill>
          <a:ln w="9525">
            <a:solidFill>
              <a:srgbClr val="2A2F3A"/>
            </a:solidFill>
            <a:prstDash val="solid"/>
          </a:ln>
        </p:spPr>
      </p:sp>
      <p:sp>
        <p:nvSpPr>
          <p:cNvPr id="22" name="Shape 20"/>
          <p:cNvSpPr/>
          <p:nvPr/>
        </p:nvSpPr>
        <p:spPr>
          <a:xfrm>
            <a:off x="1038225" y="7005117"/>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23" name="Text 21"/>
          <p:cNvSpPr/>
          <p:nvPr/>
        </p:nvSpPr>
        <p:spPr>
          <a:xfrm>
            <a:off x="1009650" y="7014642"/>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2.5</a:t>
            </a:r>
            <a:endParaRPr lang="en-US" sz="1650" dirty="0"/>
          </a:p>
        </p:txBody>
      </p:sp>
      <p:sp>
        <p:nvSpPr>
          <p:cNvPr id="24" name="Text 22"/>
          <p:cNvSpPr/>
          <p:nvPr/>
        </p:nvSpPr>
        <p:spPr>
          <a:xfrm>
            <a:off x="1952625" y="7078935"/>
            <a:ext cx="7163909"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Cybersecurity Laws, Regulations, Standards, and Frameworks</a:t>
            </a:r>
            <a:endParaRPr lang="en-US" sz="1950" dirty="0"/>
          </a:p>
        </p:txBody>
      </p:sp>
      <p:sp>
        <p:nvSpPr>
          <p:cNvPr id="25" name="Shape 23"/>
          <p:cNvSpPr/>
          <p:nvPr/>
        </p:nvSpPr>
        <p:spPr>
          <a:xfrm>
            <a:off x="800100" y="7757592"/>
            <a:ext cx="16687800" cy="800100"/>
          </a:xfrm>
          <a:prstGeom prst="roundRect">
            <a:avLst>
              <a:gd name="adj" fmla="val 16667"/>
            </a:avLst>
          </a:prstGeom>
          <a:solidFill>
            <a:srgbClr val="FFFFFF">
              <a:alpha val="2000"/>
            </a:srgbClr>
          </a:solidFill>
          <a:ln w="9525">
            <a:solidFill>
              <a:srgbClr val="2A2F3A"/>
            </a:solidFill>
            <a:prstDash val="solid"/>
          </a:ln>
        </p:spPr>
      </p:sp>
      <p:sp>
        <p:nvSpPr>
          <p:cNvPr id="26" name="Shape 24"/>
          <p:cNvSpPr/>
          <p:nvPr/>
        </p:nvSpPr>
        <p:spPr>
          <a:xfrm>
            <a:off x="1038225" y="7938567"/>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27" name="Text 25"/>
          <p:cNvSpPr/>
          <p:nvPr/>
        </p:nvSpPr>
        <p:spPr>
          <a:xfrm>
            <a:off x="1009650" y="7948092"/>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2.6</a:t>
            </a:r>
            <a:endParaRPr lang="en-US" sz="1650" dirty="0"/>
          </a:p>
        </p:txBody>
      </p:sp>
      <p:sp>
        <p:nvSpPr>
          <p:cNvPr id="28" name="Text 26"/>
          <p:cNvSpPr/>
          <p:nvPr/>
        </p:nvSpPr>
        <p:spPr>
          <a:xfrm>
            <a:off x="1952625" y="8012385"/>
            <a:ext cx="4426580"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Career Opportunities in Cybersecurity</a:t>
            </a:r>
            <a:endParaRPr lang="en-US" sz="1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1879774"/>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COURSE CONTEXT · 24 LEARNING MODULES</a:t>
            </a:r>
            <a:endParaRPr lang="en-US" sz="1650" dirty="0"/>
          </a:p>
        </p:txBody>
      </p:sp>
      <p:sp>
        <p:nvSpPr>
          <p:cNvPr id="4" name="Text 2"/>
          <p:cNvSpPr/>
          <p:nvPr/>
        </p:nvSpPr>
        <p:spPr>
          <a:xfrm>
            <a:off x="800100" y="2375074"/>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Where Module 2 sits in PEN-200</a:t>
            </a:r>
            <a:endParaRPr lang="en-US" sz="3000" dirty="0"/>
          </a:p>
        </p:txBody>
      </p:sp>
      <p:sp>
        <p:nvSpPr>
          <p:cNvPr id="5" name="Shape 3"/>
          <p:cNvSpPr/>
          <p:nvPr/>
        </p:nvSpPr>
        <p:spPr>
          <a:xfrm>
            <a:off x="800100" y="3041824"/>
            <a:ext cx="4086225" cy="702469"/>
          </a:xfrm>
          <a:prstGeom prst="roundRect">
            <a:avLst>
              <a:gd name="adj" fmla="val 16271"/>
            </a:avLst>
          </a:prstGeom>
          <a:solidFill>
            <a:srgbClr val="FFFFFF">
              <a:alpha val="2000"/>
            </a:srgbClr>
          </a:solidFill>
          <a:ln w="9525">
            <a:solidFill>
              <a:srgbClr val="2A2F3A"/>
            </a:solidFill>
            <a:prstDash val="solid"/>
          </a:ln>
        </p:spPr>
      </p:sp>
      <p:sp>
        <p:nvSpPr>
          <p:cNvPr id="6" name="Text 4"/>
          <p:cNvSpPr/>
          <p:nvPr/>
        </p:nvSpPr>
        <p:spPr>
          <a:xfrm>
            <a:off x="942975" y="3165649"/>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01</a:t>
            </a:r>
            <a:endParaRPr lang="en-US" sz="1200" dirty="0"/>
          </a:p>
        </p:txBody>
      </p:sp>
      <p:sp>
        <p:nvSpPr>
          <p:cNvPr id="7" name="Text 5"/>
          <p:cNvSpPr/>
          <p:nvPr/>
        </p:nvSpPr>
        <p:spPr>
          <a:xfrm>
            <a:off x="942975" y="3399011"/>
            <a:ext cx="2342257"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General Course Introduction</a:t>
            </a:r>
            <a:endParaRPr lang="en-US" sz="1425" dirty="0"/>
          </a:p>
        </p:txBody>
      </p:sp>
      <p:sp>
        <p:nvSpPr>
          <p:cNvPr id="8" name="Shape 6"/>
          <p:cNvSpPr/>
          <p:nvPr/>
        </p:nvSpPr>
        <p:spPr>
          <a:xfrm>
            <a:off x="5000625" y="3041824"/>
            <a:ext cx="4086225" cy="702469"/>
          </a:xfrm>
          <a:prstGeom prst="roundRect">
            <a:avLst>
              <a:gd name="adj" fmla="val 16271"/>
            </a:avLst>
          </a:prstGeom>
          <a:solidFill>
            <a:srgbClr val="FF6A00">
              <a:alpha val="12000"/>
            </a:srgbClr>
          </a:solidFill>
          <a:ln w="9525">
            <a:solidFill>
              <a:srgbClr val="FF6A00"/>
            </a:solidFill>
            <a:prstDash val="solid"/>
          </a:ln>
        </p:spPr>
      </p:sp>
      <p:sp>
        <p:nvSpPr>
          <p:cNvPr id="9" name="Text 7"/>
          <p:cNvSpPr/>
          <p:nvPr/>
        </p:nvSpPr>
        <p:spPr>
          <a:xfrm>
            <a:off x="5143500" y="3165649"/>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02</a:t>
            </a:r>
            <a:endParaRPr lang="en-US" sz="1200" dirty="0"/>
          </a:p>
        </p:txBody>
      </p:sp>
      <p:sp>
        <p:nvSpPr>
          <p:cNvPr id="10" name="Text 8"/>
          <p:cNvSpPr/>
          <p:nvPr/>
        </p:nvSpPr>
        <p:spPr>
          <a:xfrm>
            <a:off x="5143500" y="3399011"/>
            <a:ext cx="2690292" cy="252413"/>
          </a:xfrm>
          <a:prstGeom prst="rect">
            <a:avLst/>
          </a:prstGeom>
          <a:noFill/>
          <a:ln/>
        </p:spPr>
        <p:txBody>
          <a:bodyPr wrap="square" lIns="0" tIns="0" rIns="0" bIns="0" rtlCol="0" anchor="t">
            <a:normAutofit/>
          </a:bodyPr>
          <a:lstStyle/>
          <a:p>
            <a:pPr algn="l" indent="0" marL="0">
              <a:lnSpc>
                <a:spcPct val="110465"/>
              </a:lnSpc>
              <a:buNone/>
            </a:pPr>
            <a:r>
              <a:rPr lang="en-US" sz="1425" b="1" dirty="0">
                <a:solidFill>
                  <a:srgbClr val="F5F7FB"/>
                </a:solidFill>
                <a:latin typeface="Arial" pitchFamily="34" charset="0"/>
                <a:ea typeface="Arial" pitchFamily="34" charset="-122"/>
                <a:cs typeface="Arial" pitchFamily="34" charset="-120"/>
              </a:rPr>
              <a:t>Introduction to Cybersecurity</a:t>
            </a:r>
            <a:endParaRPr lang="en-US" sz="1425" dirty="0"/>
          </a:p>
        </p:txBody>
      </p:sp>
      <p:sp>
        <p:nvSpPr>
          <p:cNvPr id="11" name="Shape 9"/>
          <p:cNvSpPr/>
          <p:nvPr/>
        </p:nvSpPr>
        <p:spPr>
          <a:xfrm>
            <a:off x="9201150" y="3041824"/>
            <a:ext cx="4086225" cy="702469"/>
          </a:xfrm>
          <a:prstGeom prst="roundRect">
            <a:avLst>
              <a:gd name="adj" fmla="val 16271"/>
            </a:avLst>
          </a:prstGeom>
          <a:solidFill>
            <a:srgbClr val="FFFFFF">
              <a:alpha val="2000"/>
            </a:srgbClr>
          </a:solidFill>
          <a:ln w="9525">
            <a:solidFill>
              <a:srgbClr val="2A2F3A"/>
            </a:solidFill>
            <a:prstDash val="solid"/>
          </a:ln>
        </p:spPr>
      </p:sp>
      <p:sp>
        <p:nvSpPr>
          <p:cNvPr id="12" name="Text 10"/>
          <p:cNvSpPr/>
          <p:nvPr/>
        </p:nvSpPr>
        <p:spPr>
          <a:xfrm>
            <a:off x="9344025" y="3165649"/>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03</a:t>
            </a:r>
            <a:endParaRPr lang="en-US" sz="1200" dirty="0"/>
          </a:p>
        </p:txBody>
      </p:sp>
      <p:sp>
        <p:nvSpPr>
          <p:cNvPr id="13" name="Text 11"/>
          <p:cNvSpPr/>
          <p:nvPr/>
        </p:nvSpPr>
        <p:spPr>
          <a:xfrm>
            <a:off x="9344025" y="3399011"/>
            <a:ext cx="2385417"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Effective Learning Strategies</a:t>
            </a:r>
            <a:endParaRPr lang="en-US" sz="1425" dirty="0"/>
          </a:p>
        </p:txBody>
      </p:sp>
      <p:sp>
        <p:nvSpPr>
          <p:cNvPr id="14" name="Shape 12"/>
          <p:cNvSpPr/>
          <p:nvPr/>
        </p:nvSpPr>
        <p:spPr>
          <a:xfrm>
            <a:off x="13401675" y="3041824"/>
            <a:ext cx="4086225" cy="702469"/>
          </a:xfrm>
          <a:prstGeom prst="roundRect">
            <a:avLst>
              <a:gd name="adj" fmla="val 16271"/>
            </a:avLst>
          </a:prstGeom>
          <a:solidFill>
            <a:srgbClr val="FFFFFF">
              <a:alpha val="2000"/>
            </a:srgbClr>
          </a:solidFill>
          <a:ln w="9525">
            <a:solidFill>
              <a:srgbClr val="2A2F3A"/>
            </a:solidFill>
            <a:prstDash val="solid"/>
          </a:ln>
        </p:spPr>
      </p:sp>
      <p:sp>
        <p:nvSpPr>
          <p:cNvPr id="15" name="Text 13"/>
          <p:cNvSpPr/>
          <p:nvPr/>
        </p:nvSpPr>
        <p:spPr>
          <a:xfrm>
            <a:off x="13544550" y="3165649"/>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04</a:t>
            </a:r>
            <a:endParaRPr lang="en-US" sz="1200" dirty="0"/>
          </a:p>
        </p:txBody>
      </p:sp>
      <p:sp>
        <p:nvSpPr>
          <p:cNvPr id="16" name="Text 14"/>
          <p:cNvSpPr/>
          <p:nvPr/>
        </p:nvSpPr>
        <p:spPr>
          <a:xfrm>
            <a:off x="13544550" y="3399011"/>
            <a:ext cx="3120662"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Report Writing for Penetration Testers</a:t>
            </a:r>
            <a:endParaRPr lang="en-US" sz="1425" dirty="0"/>
          </a:p>
        </p:txBody>
      </p:sp>
      <p:sp>
        <p:nvSpPr>
          <p:cNvPr id="17" name="Shape 15"/>
          <p:cNvSpPr/>
          <p:nvPr/>
        </p:nvSpPr>
        <p:spPr>
          <a:xfrm>
            <a:off x="800100" y="3858592"/>
            <a:ext cx="4086225" cy="702469"/>
          </a:xfrm>
          <a:prstGeom prst="roundRect">
            <a:avLst>
              <a:gd name="adj" fmla="val 16271"/>
            </a:avLst>
          </a:prstGeom>
          <a:solidFill>
            <a:srgbClr val="FFFFFF">
              <a:alpha val="2000"/>
            </a:srgbClr>
          </a:solidFill>
          <a:ln w="9525">
            <a:solidFill>
              <a:srgbClr val="2A2F3A"/>
            </a:solidFill>
            <a:prstDash val="solid"/>
          </a:ln>
        </p:spPr>
      </p:sp>
      <p:sp>
        <p:nvSpPr>
          <p:cNvPr id="18" name="Text 16"/>
          <p:cNvSpPr/>
          <p:nvPr/>
        </p:nvSpPr>
        <p:spPr>
          <a:xfrm>
            <a:off x="942975" y="3982417"/>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05</a:t>
            </a:r>
            <a:endParaRPr lang="en-US" sz="1200" dirty="0"/>
          </a:p>
        </p:txBody>
      </p:sp>
      <p:sp>
        <p:nvSpPr>
          <p:cNvPr id="19" name="Text 17"/>
          <p:cNvSpPr/>
          <p:nvPr/>
        </p:nvSpPr>
        <p:spPr>
          <a:xfrm>
            <a:off x="942975" y="4215780"/>
            <a:ext cx="1831181"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Information Gathering</a:t>
            </a:r>
            <a:endParaRPr lang="en-US" sz="1425" dirty="0"/>
          </a:p>
        </p:txBody>
      </p:sp>
      <p:sp>
        <p:nvSpPr>
          <p:cNvPr id="20" name="Shape 18"/>
          <p:cNvSpPr/>
          <p:nvPr/>
        </p:nvSpPr>
        <p:spPr>
          <a:xfrm>
            <a:off x="5000625" y="3858592"/>
            <a:ext cx="4086225" cy="702469"/>
          </a:xfrm>
          <a:prstGeom prst="roundRect">
            <a:avLst>
              <a:gd name="adj" fmla="val 16271"/>
            </a:avLst>
          </a:prstGeom>
          <a:solidFill>
            <a:srgbClr val="FFFFFF">
              <a:alpha val="2000"/>
            </a:srgbClr>
          </a:solidFill>
          <a:ln w="9525">
            <a:solidFill>
              <a:srgbClr val="2A2F3A"/>
            </a:solidFill>
            <a:prstDash val="solid"/>
          </a:ln>
        </p:spPr>
      </p:sp>
      <p:sp>
        <p:nvSpPr>
          <p:cNvPr id="21" name="Text 19"/>
          <p:cNvSpPr/>
          <p:nvPr/>
        </p:nvSpPr>
        <p:spPr>
          <a:xfrm>
            <a:off x="5143500" y="3982417"/>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06</a:t>
            </a:r>
            <a:endParaRPr lang="en-US" sz="1200" dirty="0"/>
          </a:p>
        </p:txBody>
      </p:sp>
      <p:sp>
        <p:nvSpPr>
          <p:cNvPr id="22" name="Text 20"/>
          <p:cNvSpPr/>
          <p:nvPr/>
        </p:nvSpPr>
        <p:spPr>
          <a:xfrm>
            <a:off x="5143500" y="4215780"/>
            <a:ext cx="1858714"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Vulnerability Scanning</a:t>
            </a:r>
            <a:endParaRPr lang="en-US" sz="1425" dirty="0"/>
          </a:p>
        </p:txBody>
      </p:sp>
      <p:sp>
        <p:nvSpPr>
          <p:cNvPr id="23" name="Shape 21"/>
          <p:cNvSpPr/>
          <p:nvPr/>
        </p:nvSpPr>
        <p:spPr>
          <a:xfrm>
            <a:off x="9201150" y="3858592"/>
            <a:ext cx="4086225" cy="702469"/>
          </a:xfrm>
          <a:prstGeom prst="roundRect">
            <a:avLst>
              <a:gd name="adj" fmla="val 16271"/>
            </a:avLst>
          </a:prstGeom>
          <a:solidFill>
            <a:srgbClr val="FFFFFF">
              <a:alpha val="2000"/>
            </a:srgbClr>
          </a:solidFill>
          <a:ln w="9525">
            <a:solidFill>
              <a:srgbClr val="2A2F3A"/>
            </a:solidFill>
            <a:prstDash val="solid"/>
          </a:ln>
        </p:spPr>
      </p:sp>
      <p:sp>
        <p:nvSpPr>
          <p:cNvPr id="24" name="Text 22"/>
          <p:cNvSpPr/>
          <p:nvPr/>
        </p:nvSpPr>
        <p:spPr>
          <a:xfrm>
            <a:off x="9344025" y="3982417"/>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07</a:t>
            </a:r>
            <a:endParaRPr lang="en-US" sz="1200" dirty="0"/>
          </a:p>
        </p:txBody>
      </p:sp>
      <p:sp>
        <p:nvSpPr>
          <p:cNvPr id="25" name="Text 23"/>
          <p:cNvSpPr/>
          <p:nvPr/>
        </p:nvSpPr>
        <p:spPr>
          <a:xfrm>
            <a:off x="9344025" y="4215780"/>
            <a:ext cx="2704931"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Introduction to Web Applications</a:t>
            </a:r>
            <a:endParaRPr lang="en-US" sz="1425" dirty="0"/>
          </a:p>
        </p:txBody>
      </p:sp>
      <p:sp>
        <p:nvSpPr>
          <p:cNvPr id="26" name="Shape 24"/>
          <p:cNvSpPr/>
          <p:nvPr/>
        </p:nvSpPr>
        <p:spPr>
          <a:xfrm>
            <a:off x="13401675" y="3858592"/>
            <a:ext cx="4086225" cy="702469"/>
          </a:xfrm>
          <a:prstGeom prst="roundRect">
            <a:avLst>
              <a:gd name="adj" fmla="val 16271"/>
            </a:avLst>
          </a:prstGeom>
          <a:solidFill>
            <a:srgbClr val="FFFFFF">
              <a:alpha val="2000"/>
            </a:srgbClr>
          </a:solidFill>
          <a:ln w="9525">
            <a:solidFill>
              <a:srgbClr val="2A2F3A"/>
            </a:solidFill>
            <a:prstDash val="solid"/>
          </a:ln>
        </p:spPr>
      </p:sp>
      <p:sp>
        <p:nvSpPr>
          <p:cNvPr id="27" name="Text 25"/>
          <p:cNvSpPr/>
          <p:nvPr/>
        </p:nvSpPr>
        <p:spPr>
          <a:xfrm>
            <a:off x="13544550" y="3982417"/>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08</a:t>
            </a:r>
            <a:endParaRPr lang="en-US" sz="1200" dirty="0"/>
          </a:p>
        </p:txBody>
      </p:sp>
      <p:sp>
        <p:nvSpPr>
          <p:cNvPr id="28" name="Text 26"/>
          <p:cNvSpPr/>
          <p:nvPr/>
        </p:nvSpPr>
        <p:spPr>
          <a:xfrm>
            <a:off x="13544550" y="4215780"/>
            <a:ext cx="2820514"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Common Web Application Attacks</a:t>
            </a:r>
            <a:endParaRPr lang="en-US" sz="1425" dirty="0"/>
          </a:p>
        </p:txBody>
      </p:sp>
      <p:sp>
        <p:nvSpPr>
          <p:cNvPr id="29" name="Shape 27"/>
          <p:cNvSpPr/>
          <p:nvPr/>
        </p:nvSpPr>
        <p:spPr>
          <a:xfrm>
            <a:off x="800100" y="4675361"/>
            <a:ext cx="4086225" cy="702469"/>
          </a:xfrm>
          <a:prstGeom prst="roundRect">
            <a:avLst>
              <a:gd name="adj" fmla="val 16271"/>
            </a:avLst>
          </a:prstGeom>
          <a:solidFill>
            <a:srgbClr val="FFFFFF">
              <a:alpha val="2000"/>
            </a:srgbClr>
          </a:solidFill>
          <a:ln w="9525">
            <a:solidFill>
              <a:srgbClr val="2A2F3A"/>
            </a:solidFill>
            <a:prstDash val="solid"/>
          </a:ln>
        </p:spPr>
      </p:sp>
      <p:sp>
        <p:nvSpPr>
          <p:cNvPr id="30" name="Text 28"/>
          <p:cNvSpPr/>
          <p:nvPr/>
        </p:nvSpPr>
        <p:spPr>
          <a:xfrm>
            <a:off x="942975" y="4799186"/>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09</a:t>
            </a:r>
            <a:endParaRPr lang="en-US" sz="1200" dirty="0"/>
          </a:p>
        </p:txBody>
      </p:sp>
      <p:sp>
        <p:nvSpPr>
          <p:cNvPr id="31" name="Text 29"/>
          <p:cNvSpPr/>
          <p:nvPr/>
        </p:nvSpPr>
        <p:spPr>
          <a:xfrm>
            <a:off x="942975" y="5032549"/>
            <a:ext cx="1794197"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SQL Injection Attacks</a:t>
            </a:r>
            <a:endParaRPr lang="en-US" sz="1425" dirty="0"/>
          </a:p>
        </p:txBody>
      </p:sp>
      <p:sp>
        <p:nvSpPr>
          <p:cNvPr id="32" name="Shape 30"/>
          <p:cNvSpPr/>
          <p:nvPr/>
        </p:nvSpPr>
        <p:spPr>
          <a:xfrm>
            <a:off x="5000625" y="4675361"/>
            <a:ext cx="4086225" cy="702469"/>
          </a:xfrm>
          <a:prstGeom prst="roundRect">
            <a:avLst>
              <a:gd name="adj" fmla="val 16271"/>
            </a:avLst>
          </a:prstGeom>
          <a:solidFill>
            <a:srgbClr val="FFFFFF">
              <a:alpha val="2000"/>
            </a:srgbClr>
          </a:solidFill>
          <a:ln w="9525">
            <a:solidFill>
              <a:srgbClr val="2A2F3A"/>
            </a:solidFill>
            <a:prstDash val="solid"/>
          </a:ln>
        </p:spPr>
      </p:sp>
      <p:sp>
        <p:nvSpPr>
          <p:cNvPr id="33" name="Text 31"/>
          <p:cNvSpPr/>
          <p:nvPr/>
        </p:nvSpPr>
        <p:spPr>
          <a:xfrm>
            <a:off x="5143500" y="4799186"/>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10</a:t>
            </a:r>
            <a:endParaRPr lang="en-US" sz="1200" dirty="0"/>
          </a:p>
        </p:txBody>
      </p:sp>
      <p:sp>
        <p:nvSpPr>
          <p:cNvPr id="34" name="Text 32"/>
          <p:cNvSpPr/>
          <p:nvPr/>
        </p:nvSpPr>
        <p:spPr>
          <a:xfrm>
            <a:off x="5143500" y="5032549"/>
            <a:ext cx="1619920"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Client-Side Attacks</a:t>
            </a:r>
            <a:endParaRPr lang="en-US" sz="1425" dirty="0"/>
          </a:p>
        </p:txBody>
      </p:sp>
      <p:sp>
        <p:nvSpPr>
          <p:cNvPr id="35" name="Shape 33"/>
          <p:cNvSpPr/>
          <p:nvPr/>
        </p:nvSpPr>
        <p:spPr>
          <a:xfrm>
            <a:off x="9201150" y="4675361"/>
            <a:ext cx="4086225" cy="702469"/>
          </a:xfrm>
          <a:prstGeom prst="roundRect">
            <a:avLst>
              <a:gd name="adj" fmla="val 16271"/>
            </a:avLst>
          </a:prstGeom>
          <a:solidFill>
            <a:srgbClr val="FFFFFF">
              <a:alpha val="2000"/>
            </a:srgbClr>
          </a:solidFill>
          <a:ln w="9525">
            <a:solidFill>
              <a:srgbClr val="2A2F3A"/>
            </a:solidFill>
            <a:prstDash val="solid"/>
          </a:ln>
        </p:spPr>
      </p:sp>
      <p:sp>
        <p:nvSpPr>
          <p:cNvPr id="36" name="Text 34"/>
          <p:cNvSpPr/>
          <p:nvPr/>
        </p:nvSpPr>
        <p:spPr>
          <a:xfrm>
            <a:off x="9344025" y="4799186"/>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11</a:t>
            </a:r>
            <a:endParaRPr lang="en-US" sz="1200" dirty="0"/>
          </a:p>
        </p:txBody>
      </p:sp>
      <p:sp>
        <p:nvSpPr>
          <p:cNvPr id="37" name="Text 35"/>
          <p:cNvSpPr/>
          <p:nvPr/>
        </p:nvSpPr>
        <p:spPr>
          <a:xfrm>
            <a:off x="9344025" y="5032549"/>
            <a:ext cx="1980009"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Locating Public Exploits</a:t>
            </a:r>
            <a:endParaRPr lang="en-US" sz="1425" dirty="0"/>
          </a:p>
        </p:txBody>
      </p:sp>
      <p:sp>
        <p:nvSpPr>
          <p:cNvPr id="38" name="Shape 36"/>
          <p:cNvSpPr/>
          <p:nvPr/>
        </p:nvSpPr>
        <p:spPr>
          <a:xfrm>
            <a:off x="13401675" y="4675361"/>
            <a:ext cx="4086225" cy="702469"/>
          </a:xfrm>
          <a:prstGeom prst="roundRect">
            <a:avLst>
              <a:gd name="adj" fmla="val 16271"/>
            </a:avLst>
          </a:prstGeom>
          <a:solidFill>
            <a:srgbClr val="FFFFFF">
              <a:alpha val="2000"/>
            </a:srgbClr>
          </a:solidFill>
          <a:ln w="9525">
            <a:solidFill>
              <a:srgbClr val="2A2F3A"/>
            </a:solidFill>
            <a:prstDash val="solid"/>
          </a:ln>
        </p:spPr>
      </p:sp>
      <p:sp>
        <p:nvSpPr>
          <p:cNvPr id="39" name="Text 37"/>
          <p:cNvSpPr/>
          <p:nvPr/>
        </p:nvSpPr>
        <p:spPr>
          <a:xfrm>
            <a:off x="13544550" y="4799186"/>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12</a:t>
            </a:r>
            <a:endParaRPr lang="en-US" sz="1200" dirty="0"/>
          </a:p>
        </p:txBody>
      </p:sp>
      <p:sp>
        <p:nvSpPr>
          <p:cNvPr id="40" name="Text 38"/>
          <p:cNvSpPr/>
          <p:nvPr/>
        </p:nvSpPr>
        <p:spPr>
          <a:xfrm>
            <a:off x="13544550" y="5032549"/>
            <a:ext cx="1223516"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Fixing Exploits</a:t>
            </a:r>
            <a:endParaRPr lang="en-US" sz="1425" dirty="0"/>
          </a:p>
        </p:txBody>
      </p:sp>
      <p:sp>
        <p:nvSpPr>
          <p:cNvPr id="41" name="Shape 39"/>
          <p:cNvSpPr/>
          <p:nvPr/>
        </p:nvSpPr>
        <p:spPr>
          <a:xfrm>
            <a:off x="800100" y="5492130"/>
            <a:ext cx="4086225" cy="702469"/>
          </a:xfrm>
          <a:prstGeom prst="roundRect">
            <a:avLst>
              <a:gd name="adj" fmla="val 16271"/>
            </a:avLst>
          </a:prstGeom>
          <a:solidFill>
            <a:srgbClr val="FFFFFF">
              <a:alpha val="2000"/>
            </a:srgbClr>
          </a:solidFill>
          <a:ln w="9525">
            <a:solidFill>
              <a:srgbClr val="2A2F3A"/>
            </a:solidFill>
            <a:prstDash val="solid"/>
          </a:ln>
        </p:spPr>
      </p:sp>
      <p:sp>
        <p:nvSpPr>
          <p:cNvPr id="42" name="Text 40"/>
          <p:cNvSpPr/>
          <p:nvPr/>
        </p:nvSpPr>
        <p:spPr>
          <a:xfrm>
            <a:off x="942975" y="5615955"/>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13</a:t>
            </a:r>
            <a:endParaRPr lang="en-US" sz="1200" dirty="0"/>
          </a:p>
        </p:txBody>
      </p:sp>
      <p:sp>
        <p:nvSpPr>
          <p:cNvPr id="43" name="Text 41"/>
          <p:cNvSpPr/>
          <p:nvPr/>
        </p:nvSpPr>
        <p:spPr>
          <a:xfrm>
            <a:off x="942975" y="5849317"/>
            <a:ext cx="1443856"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Antivirus Evasion</a:t>
            </a:r>
            <a:endParaRPr lang="en-US" sz="1425" dirty="0"/>
          </a:p>
        </p:txBody>
      </p:sp>
      <p:sp>
        <p:nvSpPr>
          <p:cNvPr id="44" name="Shape 42"/>
          <p:cNvSpPr/>
          <p:nvPr/>
        </p:nvSpPr>
        <p:spPr>
          <a:xfrm>
            <a:off x="5000625" y="5492130"/>
            <a:ext cx="4086225" cy="702469"/>
          </a:xfrm>
          <a:prstGeom prst="roundRect">
            <a:avLst>
              <a:gd name="adj" fmla="val 16271"/>
            </a:avLst>
          </a:prstGeom>
          <a:solidFill>
            <a:srgbClr val="FFFFFF">
              <a:alpha val="2000"/>
            </a:srgbClr>
          </a:solidFill>
          <a:ln w="9525">
            <a:solidFill>
              <a:srgbClr val="2A2F3A"/>
            </a:solidFill>
            <a:prstDash val="solid"/>
          </a:ln>
        </p:spPr>
      </p:sp>
      <p:sp>
        <p:nvSpPr>
          <p:cNvPr id="45" name="Text 43"/>
          <p:cNvSpPr/>
          <p:nvPr/>
        </p:nvSpPr>
        <p:spPr>
          <a:xfrm>
            <a:off x="5143500" y="5615955"/>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14</a:t>
            </a:r>
            <a:endParaRPr lang="en-US" sz="1200" dirty="0"/>
          </a:p>
        </p:txBody>
      </p:sp>
      <p:sp>
        <p:nvSpPr>
          <p:cNvPr id="46" name="Text 44"/>
          <p:cNvSpPr/>
          <p:nvPr/>
        </p:nvSpPr>
        <p:spPr>
          <a:xfrm>
            <a:off x="5143500" y="5849317"/>
            <a:ext cx="1499815"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Password Attacks</a:t>
            </a:r>
            <a:endParaRPr lang="en-US" sz="1425" dirty="0"/>
          </a:p>
        </p:txBody>
      </p:sp>
      <p:sp>
        <p:nvSpPr>
          <p:cNvPr id="47" name="Shape 45"/>
          <p:cNvSpPr/>
          <p:nvPr/>
        </p:nvSpPr>
        <p:spPr>
          <a:xfrm>
            <a:off x="9201150" y="5492130"/>
            <a:ext cx="4086225" cy="702469"/>
          </a:xfrm>
          <a:prstGeom prst="roundRect">
            <a:avLst>
              <a:gd name="adj" fmla="val 16271"/>
            </a:avLst>
          </a:prstGeom>
          <a:solidFill>
            <a:srgbClr val="FFFFFF">
              <a:alpha val="2000"/>
            </a:srgbClr>
          </a:solidFill>
          <a:ln w="9525">
            <a:solidFill>
              <a:srgbClr val="2A2F3A"/>
            </a:solidFill>
            <a:prstDash val="solid"/>
          </a:ln>
        </p:spPr>
      </p:sp>
      <p:sp>
        <p:nvSpPr>
          <p:cNvPr id="48" name="Text 46"/>
          <p:cNvSpPr/>
          <p:nvPr/>
        </p:nvSpPr>
        <p:spPr>
          <a:xfrm>
            <a:off x="9344025" y="5615955"/>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15</a:t>
            </a:r>
            <a:endParaRPr lang="en-US" sz="1200" dirty="0"/>
          </a:p>
        </p:txBody>
      </p:sp>
      <p:sp>
        <p:nvSpPr>
          <p:cNvPr id="49" name="Text 47"/>
          <p:cNvSpPr/>
          <p:nvPr/>
        </p:nvSpPr>
        <p:spPr>
          <a:xfrm>
            <a:off x="9344025" y="5849317"/>
            <a:ext cx="2412802"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Windows Privilege Escalation</a:t>
            </a:r>
            <a:endParaRPr lang="en-US" sz="1425" dirty="0"/>
          </a:p>
        </p:txBody>
      </p:sp>
      <p:sp>
        <p:nvSpPr>
          <p:cNvPr id="50" name="Shape 48"/>
          <p:cNvSpPr/>
          <p:nvPr/>
        </p:nvSpPr>
        <p:spPr>
          <a:xfrm>
            <a:off x="13401675" y="5492130"/>
            <a:ext cx="4086225" cy="702469"/>
          </a:xfrm>
          <a:prstGeom prst="roundRect">
            <a:avLst>
              <a:gd name="adj" fmla="val 16271"/>
            </a:avLst>
          </a:prstGeom>
          <a:solidFill>
            <a:srgbClr val="FFFFFF">
              <a:alpha val="2000"/>
            </a:srgbClr>
          </a:solidFill>
          <a:ln w="9525">
            <a:solidFill>
              <a:srgbClr val="2A2F3A"/>
            </a:solidFill>
            <a:prstDash val="solid"/>
          </a:ln>
        </p:spPr>
      </p:sp>
      <p:sp>
        <p:nvSpPr>
          <p:cNvPr id="51" name="Text 49"/>
          <p:cNvSpPr/>
          <p:nvPr/>
        </p:nvSpPr>
        <p:spPr>
          <a:xfrm>
            <a:off x="13544550" y="5615955"/>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16</a:t>
            </a:r>
            <a:endParaRPr lang="en-US" sz="1200" dirty="0"/>
          </a:p>
        </p:txBody>
      </p:sp>
      <p:sp>
        <p:nvSpPr>
          <p:cNvPr id="52" name="Text 50"/>
          <p:cNvSpPr/>
          <p:nvPr/>
        </p:nvSpPr>
        <p:spPr>
          <a:xfrm>
            <a:off x="13544550" y="5849317"/>
            <a:ext cx="2104058"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Linux Privilege Escalation</a:t>
            </a:r>
            <a:endParaRPr lang="en-US" sz="1425" dirty="0"/>
          </a:p>
        </p:txBody>
      </p:sp>
      <p:sp>
        <p:nvSpPr>
          <p:cNvPr id="53" name="Shape 51"/>
          <p:cNvSpPr/>
          <p:nvPr/>
        </p:nvSpPr>
        <p:spPr>
          <a:xfrm>
            <a:off x="800100" y="6308899"/>
            <a:ext cx="4086225" cy="702469"/>
          </a:xfrm>
          <a:prstGeom prst="roundRect">
            <a:avLst>
              <a:gd name="adj" fmla="val 16271"/>
            </a:avLst>
          </a:prstGeom>
          <a:solidFill>
            <a:srgbClr val="FFFFFF">
              <a:alpha val="2000"/>
            </a:srgbClr>
          </a:solidFill>
          <a:ln w="9525">
            <a:solidFill>
              <a:srgbClr val="2A2F3A"/>
            </a:solidFill>
            <a:prstDash val="solid"/>
          </a:ln>
        </p:spPr>
      </p:sp>
      <p:sp>
        <p:nvSpPr>
          <p:cNvPr id="54" name="Text 52"/>
          <p:cNvSpPr/>
          <p:nvPr/>
        </p:nvSpPr>
        <p:spPr>
          <a:xfrm>
            <a:off x="942975" y="6432724"/>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17</a:t>
            </a:r>
            <a:endParaRPr lang="en-US" sz="1200" dirty="0"/>
          </a:p>
        </p:txBody>
      </p:sp>
      <p:sp>
        <p:nvSpPr>
          <p:cNvPr id="55" name="Text 53"/>
          <p:cNvSpPr/>
          <p:nvPr/>
        </p:nvSpPr>
        <p:spPr>
          <a:xfrm>
            <a:off x="942975" y="6666086"/>
            <a:ext cx="2947747"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Port Redirection and SSH Tunneling</a:t>
            </a:r>
            <a:endParaRPr lang="en-US" sz="1425" dirty="0"/>
          </a:p>
        </p:txBody>
      </p:sp>
      <p:sp>
        <p:nvSpPr>
          <p:cNvPr id="56" name="Shape 54"/>
          <p:cNvSpPr/>
          <p:nvPr/>
        </p:nvSpPr>
        <p:spPr>
          <a:xfrm>
            <a:off x="5000625" y="6308899"/>
            <a:ext cx="4086225" cy="702469"/>
          </a:xfrm>
          <a:prstGeom prst="roundRect">
            <a:avLst>
              <a:gd name="adj" fmla="val 16271"/>
            </a:avLst>
          </a:prstGeom>
          <a:solidFill>
            <a:srgbClr val="FFFFFF">
              <a:alpha val="2000"/>
            </a:srgbClr>
          </a:solidFill>
          <a:ln w="9525">
            <a:solidFill>
              <a:srgbClr val="2A2F3A"/>
            </a:solidFill>
            <a:prstDash val="solid"/>
          </a:ln>
        </p:spPr>
      </p:sp>
      <p:sp>
        <p:nvSpPr>
          <p:cNvPr id="57" name="Text 55"/>
          <p:cNvSpPr/>
          <p:nvPr/>
        </p:nvSpPr>
        <p:spPr>
          <a:xfrm>
            <a:off x="5143500" y="6432724"/>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18</a:t>
            </a:r>
            <a:endParaRPr lang="en-US" sz="1200" dirty="0"/>
          </a:p>
        </p:txBody>
      </p:sp>
      <p:sp>
        <p:nvSpPr>
          <p:cNvPr id="58" name="Text 56"/>
          <p:cNvSpPr/>
          <p:nvPr/>
        </p:nvSpPr>
        <p:spPr>
          <a:xfrm>
            <a:off x="5143500" y="6666086"/>
            <a:ext cx="1705570"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Advanced Tunneling</a:t>
            </a:r>
            <a:endParaRPr lang="en-US" sz="1425" dirty="0"/>
          </a:p>
        </p:txBody>
      </p:sp>
      <p:sp>
        <p:nvSpPr>
          <p:cNvPr id="59" name="Shape 57"/>
          <p:cNvSpPr/>
          <p:nvPr/>
        </p:nvSpPr>
        <p:spPr>
          <a:xfrm>
            <a:off x="9201150" y="6308899"/>
            <a:ext cx="4086225" cy="702469"/>
          </a:xfrm>
          <a:prstGeom prst="roundRect">
            <a:avLst>
              <a:gd name="adj" fmla="val 16271"/>
            </a:avLst>
          </a:prstGeom>
          <a:solidFill>
            <a:srgbClr val="FFFFFF">
              <a:alpha val="2000"/>
            </a:srgbClr>
          </a:solidFill>
          <a:ln w="9525">
            <a:solidFill>
              <a:srgbClr val="2A2F3A"/>
            </a:solidFill>
            <a:prstDash val="solid"/>
          </a:ln>
        </p:spPr>
      </p:sp>
      <p:sp>
        <p:nvSpPr>
          <p:cNvPr id="60" name="Text 58"/>
          <p:cNvSpPr/>
          <p:nvPr/>
        </p:nvSpPr>
        <p:spPr>
          <a:xfrm>
            <a:off x="9344025" y="6432724"/>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19</a:t>
            </a:r>
            <a:endParaRPr lang="en-US" sz="1200" dirty="0"/>
          </a:p>
        </p:txBody>
      </p:sp>
      <p:sp>
        <p:nvSpPr>
          <p:cNvPr id="61" name="Text 59"/>
          <p:cNvSpPr/>
          <p:nvPr/>
        </p:nvSpPr>
        <p:spPr>
          <a:xfrm>
            <a:off x="9344025" y="6666086"/>
            <a:ext cx="2217167"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The Metasploit Framework</a:t>
            </a:r>
            <a:endParaRPr lang="en-US" sz="1425" dirty="0"/>
          </a:p>
        </p:txBody>
      </p:sp>
      <p:sp>
        <p:nvSpPr>
          <p:cNvPr id="62" name="Shape 60"/>
          <p:cNvSpPr/>
          <p:nvPr/>
        </p:nvSpPr>
        <p:spPr>
          <a:xfrm>
            <a:off x="13401675" y="6308899"/>
            <a:ext cx="4086225" cy="702469"/>
          </a:xfrm>
          <a:prstGeom prst="roundRect">
            <a:avLst>
              <a:gd name="adj" fmla="val 16271"/>
            </a:avLst>
          </a:prstGeom>
          <a:solidFill>
            <a:srgbClr val="FFFFFF">
              <a:alpha val="2000"/>
            </a:srgbClr>
          </a:solidFill>
          <a:ln w="9525">
            <a:solidFill>
              <a:srgbClr val="2A2F3A"/>
            </a:solidFill>
            <a:prstDash val="solid"/>
          </a:ln>
        </p:spPr>
      </p:sp>
      <p:sp>
        <p:nvSpPr>
          <p:cNvPr id="63" name="Text 61"/>
          <p:cNvSpPr/>
          <p:nvPr/>
        </p:nvSpPr>
        <p:spPr>
          <a:xfrm>
            <a:off x="13544550" y="6432724"/>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20</a:t>
            </a:r>
            <a:endParaRPr lang="en-US" sz="1200" dirty="0"/>
          </a:p>
        </p:txBody>
      </p:sp>
      <p:sp>
        <p:nvSpPr>
          <p:cNvPr id="64" name="Text 62"/>
          <p:cNvSpPr/>
          <p:nvPr/>
        </p:nvSpPr>
        <p:spPr>
          <a:xfrm>
            <a:off x="13544550" y="6666086"/>
            <a:ext cx="2748390"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AD Introduction and Enumeration</a:t>
            </a:r>
            <a:endParaRPr lang="en-US" sz="1425" dirty="0"/>
          </a:p>
        </p:txBody>
      </p:sp>
      <p:sp>
        <p:nvSpPr>
          <p:cNvPr id="65" name="Shape 63"/>
          <p:cNvSpPr/>
          <p:nvPr/>
        </p:nvSpPr>
        <p:spPr>
          <a:xfrm>
            <a:off x="800100" y="7125667"/>
            <a:ext cx="4086225" cy="702469"/>
          </a:xfrm>
          <a:prstGeom prst="roundRect">
            <a:avLst>
              <a:gd name="adj" fmla="val 16271"/>
            </a:avLst>
          </a:prstGeom>
          <a:solidFill>
            <a:srgbClr val="FFFFFF">
              <a:alpha val="2000"/>
            </a:srgbClr>
          </a:solidFill>
          <a:ln w="9525">
            <a:solidFill>
              <a:srgbClr val="2A2F3A"/>
            </a:solidFill>
            <a:prstDash val="solid"/>
          </a:ln>
        </p:spPr>
      </p:sp>
      <p:sp>
        <p:nvSpPr>
          <p:cNvPr id="66" name="Text 64"/>
          <p:cNvSpPr/>
          <p:nvPr/>
        </p:nvSpPr>
        <p:spPr>
          <a:xfrm>
            <a:off x="942975" y="7249492"/>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21</a:t>
            </a:r>
            <a:endParaRPr lang="en-US" sz="1200" dirty="0"/>
          </a:p>
        </p:txBody>
      </p:sp>
      <p:sp>
        <p:nvSpPr>
          <p:cNvPr id="67" name="Text 65"/>
          <p:cNvSpPr/>
          <p:nvPr/>
        </p:nvSpPr>
        <p:spPr>
          <a:xfrm>
            <a:off x="942975" y="7482855"/>
            <a:ext cx="2339355"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Attacking AD Authentication</a:t>
            </a:r>
            <a:endParaRPr lang="en-US" sz="1425" dirty="0"/>
          </a:p>
        </p:txBody>
      </p:sp>
      <p:sp>
        <p:nvSpPr>
          <p:cNvPr id="68" name="Shape 66"/>
          <p:cNvSpPr/>
          <p:nvPr/>
        </p:nvSpPr>
        <p:spPr>
          <a:xfrm>
            <a:off x="5000625" y="7125667"/>
            <a:ext cx="4086225" cy="702469"/>
          </a:xfrm>
          <a:prstGeom prst="roundRect">
            <a:avLst>
              <a:gd name="adj" fmla="val 16271"/>
            </a:avLst>
          </a:prstGeom>
          <a:solidFill>
            <a:srgbClr val="FFFFFF">
              <a:alpha val="2000"/>
            </a:srgbClr>
          </a:solidFill>
          <a:ln w="9525">
            <a:solidFill>
              <a:srgbClr val="2A2F3A"/>
            </a:solidFill>
            <a:prstDash val="solid"/>
          </a:ln>
        </p:spPr>
      </p:sp>
      <p:sp>
        <p:nvSpPr>
          <p:cNvPr id="69" name="Text 67"/>
          <p:cNvSpPr/>
          <p:nvPr/>
        </p:nvSpPr>
        <p:spPr>
          <a:xfrm>
            <a:off x="5143500" y="7249492"/>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22</a:t>
            </a:r>
            <a:endParaRPr lang="en-US" sz="1200" dirty="0"/>
          </a:p>
        </p:txBody>
      </p:sp>
      <p:sp>
        <p:nvSpPr>
          <p:cNvPr id="70" name="Text 68"/>
          <p:cNvSpPr/>
          <p:nvPr/>
        </p:nvSpPr>
        <p:spPr>
          <a:xfrm>
            <a:off x="5143500" y="7482855"/>
            <a:ext cx="1994892"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Lateral Movement in AD</a:t>
            </a:r>
            <a:endParaRPr lang="en-US" sz="1425" dirty="0"/>
          </a:p>
        </p:txBody>
      </p:sp>
      <p:sp>
        <p:nvSpPr>
          <p:cNvPr id="71" name="Shape 69"/>
          <p:cNvSpPr/>
          <p:nvPr/>
        </p:nvSpPr>
        <p:spPr>
          <a:xfrm>
            <a:off x="9201150" y="7125667"/>
            <a:ext cx="4086225" cy="702469"/>
          </a:xfrm>
          <a:prstGeom prst="roundRect">
            <a:avLst>
              <a:gd name="adj" fmla="val 16271"/>
            </a:avLst>
          </a:prstGeom>
          <a:solidFill>
            <a:srgbClr val="FFFFFF">
              <a:alpha val="2000"/>
            </a:srgbClr>
          </a:solidFill>
          <a:ln w="9525">
            <a:solidFill>
              <a:srgbClr val="2A2F3A"/>
            </a:solidFill>
            <a:prstDash val="solid"/>
          </a:ln>
        </p:spPr>
      </p:sp>
      <p:sp>
        <p:nvSpPr>
          <p:cNvPr id="72" name="Text 70"/>
          <p:cNvSpPr/>
          <p:nvPr/>
        </p:nvSpPr>
        <p:spPr>
          <a:xfrm>
            <a:off x="9344025" y="7249492"/>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23</a:t>
            </a:r>
            <a:endParaRPr lang="en-US" sz="1200" dirty="0"/>
          </a:p>
        </p:txBody>
      </p:sp>
      <p:sp>
        <p:nvSpPr>
          <p:cNvPr id="73" name="Text 71"/>
          <p:cNvSpPr/>
          <p:nvPr/>
        </p:nvSpPr>
        <p:spPr>
          <a:xfrm>
            <a:off x="9344025" y="7482855"/>
            <a:ext cx="1893763"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Assembling the Pieces</a:t>
            </a:r>
            <a:endParaRPr lang="en-US" sz="1425" dirty="0"/>
          </a:p>
        </p:txBody>
      </p:sp>
      <p:sp>
        <p:nvSpPr>
          <p:cNvPr id="74" name="Shape 72"/>
          <p:cNvSpPr/>
          <p:nvPr/>
        </p:nvSpPr>
        <p:spPr>
          <a:xfrm>
            <a:off x="13401675" y="7125667"/>
            <a:ext cx="4086225" cy="702469"/>
          </a:xfrm>
          <a:prstGeom prst="roundRect">
            <a:avLst>
              <a:gd name="adj" fmla="val 16271"/>
            </a:avLst>
          </a:prstGeom>
          <a:solidFill>
            <a:srgbClr val="FFFFFF">
              <a:alpha val="2000"/>
            </a:srgbClr>
          </a:solidFill>
          <a:ln w="9525">
            <a:solidFill>
              <a:srgbClr val="2A2F3A"/>
            </a:solidFill>
            <a:prstDash val="solid"/>
          </a:ln>
        </p:spPr>
      </p:sp>
      <p:sp>
        <p:nvSpPr>
          <p:cNvPr id="75" name="Text 73"/>
          <p:cNvSpPr/>
          <p:nvPr/>
        </p:nvSpPr>
        <p:spPr>
          <a:xfrm>
            <a:off x="13544550" y="7249492"/>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24</a:t>
            </a:r>
            <a:endParaRPr lang="en-US" sz="1200" dirty="0"/>
          </a:p>
        </p:txBody>
      </p:sp>
      <p:sp>
        <p:nvSpPr>
          <p:cNvPr id="76" name="Text 74"/>
          <p:cNvSpPr/>
          <p:nvPr/>
        </p:nvSpPr>
        <p:spPr>
          <a:xfrm>
            <a:off x="13544550" y="7482855"/>
            <a:ext cx="2008584"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Trying Harder: The Labs</a:t>
            </a:r>
            <a:endParaRPr lang="en-US" sz="1425" dirty="0"/>
          </a:p>
        </p:txBody>
      </p:sp>
      <p:sp>
        <p:nvSpPr>
          <p:cNvPr id="77" name="Text 75"/>
          <p:cNvSpPr/>
          <p:nvPr/>
        </p:nvSpPr>
        <p:spPr>
          <a:xfrm>
            <a:off x="800100" y="8075786"/>
            <a:ext cx="16344900" cy="369540"/>
          </a:xfrm>
          <a:prstGeom prst="rect">
            <a:avLst/>
          </a:prstGeom>
          <a:noFill/>
          <a:ln/>
        </p:spPr>
        <p:txBody>
          <a:bodyPr wrap="square" lIns="25400" tIns="25400" rIns="25400" bIns="25400" rtlCol="0" anchor="t">
            <a:normAutofit/>
          </a:bodyPr>
          <a:lstStyle/>
          <a:p>
            <a:pPr algn="l" indent="0" marL="0">
              <a:lnSpc>
                <a:spcPct val="126545"/>
              </a:lnSpc>
              <a:buNone/>
            </a:pPr>
            <a:r>
              <a:rPr lang="en-US" sz="1800" dirty="0">
                <a:solidFill>
                  <a:srgbClr val="B8C0CF"/>
                </a:solidFill>
                <a:latin typeface="Arial" pitchFamily="34" charset="0"/>
                <a:ea typeface="Arial" pitchFamily="34" charset="-122"/>
                <a:cs typeface="Arial" pitchFamily="34" charset="-120"/>
              </a:rPr>
              <a:t>Module weightings: information not defined in the official exam outline.</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3498056"/>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ORIENTATION</a:t>
            </a:r>
            <a:endParaRPr lang="en-US" sz="1650" dirty="0"/>
          </a:p>
        </p:txBody>
      </p:sp>
      <p:sp>
        <p:nvSpPr>
          <p:cNvPr id="4" name="Text 2"/>
          <p:cNvSpPr/>
          <p:nvPr/>
        </p:nvSpPr>
        <p:spPr>
          <a:xfrm>
            <a:off x="800100" y="3993356"/>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Why a penetration tester studies defence</a:t>
            </a:r>
            <a:endParaRPr lang="en-US" sz="3000" dirty="0"/>
          </a:p>
        </p:txBody>
      </p:sp>
      <p:sp>
        <p:nvSpPr>
          <p:cNvPr id="5" name="Shape 3"/>
          <p:cNvSpPr/>
          <p:nvPr/>
        </p:nvSpPr>
        <p:spPr>
          <a:xfrm>
            <a:off x="800100" y="4660106"/>
            <a:ext cx="5435575" cy="2128838"/>
          </a:xfrm>
          <a:prstGeom prst="roundRect">
            <a:avLst>
              <a:gd name="adj" fmla="val 7159"/>
            </a:avLst>
          </a:prstGeom>
          <a:solidFill>
            <a:srgbClr val="FFFFFF">
              <a:alpha val="2000"/>
            </a:srgbClr>
          </a:solidFill>
          <a:ln w="9525">
            <a:solidFill>
              <a:srgbClr val="2A2F3A"/>
            </a:solidFill>
            <a:prstDash val="solid"/>
          </a:ln>
        </p:spPr>
      </p:sp>
      <p:sp>
        <p:nvSpPr>
          <p:cNvPr id="6" name="Text 4"/>
          <p:cNvSpPr/>
          <p:nvPr/>
        </p:nvSpPr>
        <p:spPr>
          <a:xfrm>
            <a:off x="1038225" y="4898231"/>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PRECISION OF LANGUAGE</a:t>
            </a:r>
            <a:endParaRPr lang="en-US" sz="1500" dirty="0"/>
          </a:p>
        </p:txBody>
      </p:sp>
      <p:sp>
        <p:nvSpPr>
          <p:cNvPr id="7" name="Text 5"/>
          <p:cNvSpPr/>
          <p:nvPr/>
        </p:nvSpPr>
        <p:spPr>
          <a:xfrm>
            <a:off x="1038225" y="5217319"/>
            <a:ext cx="5108105" cy="137160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A finding is only actionable if the words are exact. Risk, threat, vulnerability and exploit are four different things, and a report that confuses them will be rejected.</a:t>
            </a:r>
            <a:endParaRPr lang="en-US" sz="1875" dirty="0"/>
          </a:p>
        </p:txBody>
      </p:sp>
      <p:sp>
        <p:nvSpPr>
          <p:cNvPr id="8" name="Shape 6"/>
          <p:cNvSpPr/>
          <p:nvPr/>
        </p:nvSpPr>
        <p:spPr>
          <a:xfrm>
            <a:off x="6426175" y="4660106"/>
            <a:ext cx="5435575" cy="2128838"/>
          </a:xfrm>
          <a:prstGeom prst="roundRect">
            <a:avLst>
              <a:gd name="adj" fmla="val 7159"/>
            </a:avLst>
          </a:prstGeom>
          <a:solidFill>
            <a:srgbClr val="FFFFFF">
              <a:alpha val="2000"/>
            </a:srgbClr>
          </a:solidFill>
          <a:ln w="9525">
            <a:solidFill>
              <a:srgbClr val="2A2F3A"/>
            </a:solidFill>
            <a:prstDash val="solid"/>
          </a:ln>
        </p:spPr>
      </p:sp>
      <p:sp>
        <p:nvSpPr>
          <p:cNvPr id="9" name="Text 7"/>
          <p:cNvSpPr/>
          <p:nvPr/>
        </p:nvSpPr>
        <p:spPr>
          <a:xfrm>
            <a:off x="6664300" y="4898231"/>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UNDERSTANDING THE ADVERSARY</a:t>
            </a:r>
            <a:endParaRPr lang="en-US" sz="1500" dirty="0"/>
          </a:p>
        </p:txBody>
      </p:sp>
      <p:sp>
        <p:nvSpPr>
          <p:cNvPr id="10" name="Text 8"/>
          <p:cNvSpPr/>
          <p:nvPr/>
        </p:nvSpPr>
        <p:spPr>
          <a:xfrm>
            <a:off x="6664300" y="5217319"/>
            <a:ext cx="5108105" cy="137160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Attackers and defenders learn from each other. A tester who cannot describe the threat actor a client actually faces is testing against the wrong model.</a:t>
            </a:r>
            <a:endParaRPr lang="en-US" sz="1875" dirty="0"/>
          </a:p>
        </p:txBody>
      </p:sp>
      <p:sp>
        <p:nvSpPr>
          <p:cNvPr id="11" name="Shape 9"/>
          <p:cNvSpPr/>
          <p:nvPr/>
        </p:nvSpPr>
        <p:spPr>
          <a:xfrm>
            <a:off x="12052250" y="4660106"/>
            <a:ext cx="5435650" cy="2128838"/>
          </a:xfrm>
          <a:prstGeom prst="roundRect">
            <a:avLst>
              <a:gd name="adj" fmla="val 7159"/>
            </a:avLst>
          </a:prstGeom>
          <a:solidFill>
            <a:srgbClr val="FFFFFF">
              <a:alpha val="2000"/>
            </a:srgbClr>
          </a:solidFill>
          <a:ln w="9525">
            <a:solidFill>
              <a:srgbClr val="2A2F3A"/>
            </a:solidFill>
            <a:prstDash val="solid"/>
          </a:ln>
        </p:spPr>
      </p:sp>
      <p:sp>
        <p:nvSpPr>
          <p:cNvPr id="12" name="Text 10"/>
          <p:cNvSpPr/>
          <p:nvPr/>
        </p:nvSpPr>
        <p:spPr>
          <a:xfrm>
            <a:off x="12290375" y="4898231"/>
            <a:ext cx="5455340"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THE LEGAL BOUNDARY</a:t>
            </a:r>
            <a:endParaRPr lang="en-US" sz="1500" dirty="0"/>
          </a:p>
        </p:txBody>
      </p:sp>
      <p:sp>
        <p:nvSpPr>
          <p:cNvPr id="13" name="Text 11"/>
          <p:cNvSpPr/>
          <p:nvPr/>
        </p:nvSpPr>
        <p:spPr>
          <a:xfrm>
            <a:off x="12290375" y="5217319"/>
            <a:ext cx="5108182" cy="137160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Everything in the remaining 22 modules is legal only inside an authorised scope. This module establishes why that boundary exists and what governs it.</a:t>
            </a:r>
            <a:endParaRPr lang="en-US" sz="187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120807" y="3870945"/>
            <a:ext cx="2046387" cy="285750"/>
          </a:xfrm>
          <a:prstGeom prst="rect">
            <a:avLst/>
          </a:prstGeom>
          <a:noFill/>
          <a:ln/>
        </p:spPr>
        <p:txBody>
          <a:bodyPr wrap="square" lIns="25400" tIns="25400" rIns="25400" bIns="25400" rtlCol="0" anchor="t">
            <a:normAutofit/>
          </a:bodyPr>
          <a:lstStyle/>
          <a:p>
            <a:pPr algn="ctr" indent="0" marL="0">
              <a:buNone/>
            </a:pPr>
            <a:r>
              <a:rPr lang="en-US" sz="1650" b="1" spc="225" kern="0" dirty="0">
                <a:solidFill>
                  <a:srgbClr val="FF6A00"/>
                </a:solidFill>
                <a:latin typeface="Arial" pitchFamily="34" charset="0"/>
                <a:ea typeface="Arial" pitchFamily="34" charset="-122"/>
                <a:cs typeface="Arial" pitchFamily="34" charset="-120"/>
              </a:rPr>
              <a:t>OBJECTIVE 2.1</a:t>
            </a:r>
            <a:endParaRPr lang="en-US" sz="1650" dirty="0"/>
          </a:p>
        </p:txBody>
      </p:sp>
      <p:sp>
        <p:nvSpPr>
          <p:cNvPr id="4" name="Text 2"/>
          <p:cNvSpPr/>
          <p:nvPr/>
        </p:nvSpPr>
        <p:spPr>
          <a:xfrm>
            <a:off x="2653274" y="4385295"/>
            <a:ext cx="12981377" cy="918195"/>
          </a:xfrm>
          <a:prstGeom prst="rect">
            <a:avLst/>
          </a:prstGeom>
          <a:noFill/>
          <a:ln/>
        </p:spPr>
        <p:txBody>
          <a:bodyPr wrap="square" lIns="25400" tIns="25400" rIns="25400" bIns="25400" rtlCol="0" anchor="t">
            <a:normAutofit/>
          </a:bodyPr>
          <a:lstStyle/>
          <a:p>
            <a:pPr algn="ctr" indent="0" marL="0">
              <a:lnSpc>
                <a:spcPct val="91485"/>
              </a:lnSpc>
              <a:buNone/>
            </a:pPr>
            <a:r>
              <a:rPr lang="en-US" sz="6600" b="1" spc="-37" kern="0" dirty="0">
                <a:solidFill>
                  <a:srgbClr val="F5F7FB"/>
                </a:solidFill>
                <a:latin typeface="Arial" pitchFamily="34" charset="0"/>
                <a:ea typeface="Arial" pitchFamily="34" charset="-122"/>
                <a:cs typeface="Arial" pitchFamily="34" charset="-120"/>
              </a:rPr>
              <a:t>The Practice of Cybersecurity</a:t>
            </a:r>
            <a:endParaRPr lang="en-US" sz="6600" dirty="0"/>
          </a:p>
        </p:txBody>
      </p:sp>
      <p:sp>
        <p:nvSpPr>
          <p:cNvPr id="5" name="Text 3"/>
          <p:cNvSpPr/>
          <p:nvPr/>
        </p:nvSpPr>
        <p:spPr>
          <a:xfrm>
            <a:off x="3012281" y="5532090"/>
            <a:ext cx="12263438" cy="921990"/>
          </a:xfrm>
          <a:prstGeom prst="rect">
            <a:avLst/>
          </a:prstGeom>
          <a:noFill/>
          <a:ln/>
        </p:spPr>
        <p:txBody>
          <a:bodyPr wrap="square" lIns="25400" tIns="25400" rIns="25400" bIns="25400" rtlCol="0" anchor="t">
            <a:normAutofit/>
          </a:bodyPr>
          <a:lstStyle/>
          <a:p>
            <a:pPr algn="ctr" indent="0" marL="0">
              <a:lnSpc>
                <a:spcPct val="125405"/>
              </a:lnSpc>
              <a:buNone/>
            </a:pPr>
            <a:r>
              <a:rPr lang="en-US" sz="2400" dirty="0">
                <a:solidFill>
                  <a:srgbClr val="B8C0CF"/>
                </a:solidFill>
                <a:latin typeface="Arial" pitchFamily="34" charset="0"/>
                <a:ea typeface="Arial" pitchFamily="34" charset="-122"/>
                <a:cs typeface="Arial" pitchFamily="34" charset="-120"/>
              </a:rPr>
              <a:t>Recognise the challenges unique to information security, understand how offensive and defensive security reflect each other, and begin building useful mental models.</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066604"/>
            <a:ext cx="2892921"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152329"/>
            <a:ext cx="2617759"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2.1 · Task 1 of 3</a:t>
            </a:r>
            <a:endParaRPr lang="en-US" sz="1500" dirty="0"/>
          </a:p>
        </p:txBody>
      </p:sp>
      <p:sp>
        <p:nvSpPr>
          <p:cNvPr id="5" name="Text 3"/>
          <p:cNvSpPr/>
          <p:nvPr/>
        </p:nvSpPr>
        <p:spPr>
          <a:xfrm>
            <a:off x="800100" y="3709541"/>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Challenges unique to information security</a:t>
            </a:r>
            <a:endParaRPr lang="en-US" sz="3000" dirty="0"/>
          </a:p>
        </p:txBody>
      </p:sp>
      <p:sp>
        <p:nvSpPr>
          <p:cNvPr id="6" name="Text 4"/>
          <p:cNvSpPr/>
          <p:nvPr/>
        </p:nvSpPr>
        <p:spPr>
          <a:xfrm>
            <a:off x="800100" y="4376291"/>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Information security is not ordinary engineering with a security requirement bolted on. It is adversarial: the environment contains an intelligent opponent who adapts specifically to whatever you build.</a:t>
            </a:r>
            <a:endParaRPr lang="en-US" sz="2175" dirty="0"/>
          </a:p>
        </p:txBody>
      </p:sp>
      <p:sp>
        <p:nvSpPr>
          <p:cNvPr id="7" name="Shape 5"/>
          <p:cNvSpPr/>
          <p:nvPr/>
        </p:nvSpPr>
        <p:spPr>
          <a:xfrm>
            <a:off x="800100"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8" name="Text 6"/>
          <p:cNvSpPr/>
          <p:nvPr/>
        </p:nvSpPr>
        <p:spPr>
          <a:xfrm>
            <a:off x="1038225"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WHY IT MATTERS</a:t>
            </a:r>
            <a:endParaRPr lang="en-US" sz="1500" dirty="0"/>
          </a:p>
        </p:txBody>
      </p:sp>
      <p:sp>
        <p:nvSpPr>
          <p:cNvPr id="9" name="Text 7"/>
          <p:cNvSpPr/>
          <p:nvPr/>
        </p:nvSpPr>
        <p:spPr>
          <a:xfrm>
            <a:off x="1038225" y="5982146"/>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A bridge does not study your engineering and change its behaviour. An attacker does. Controls that were adequate last year can be trivially bypassed this year without a single line of your code changing.</a:t>
            </a:r>
            <a:endParaRPr lang="en-US" sz="1875" dirty="0"/>
          </a:p>
        </p:txBody>
      </p:sp>
      <p:sp>
        <p:nvSpPr>
          <p:cNvPr id="10" name="Shape 8"/>
          <p:cNvSpPr/>
          <p:nvPr/>
        </p:nvSpPr>
        <p:spPr>
          <a:xfrm>
            <a:off x="9248775"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11" name="Text 9"/>
          <p:cNvSpPr/>
          <p:nvPr/>
        </p:nvSpPr>
        <p:spPr>
          <a:xfrm>
            <a:off x="9486900"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ASYMMETRY</a:t>
            </a:r>
            <a:endParaRPr lang="en-US" sz="1500" dirty="0"/>
          </a:p>
        </p:txBody>
      </p:sp>
      <p:sp>
        <p:nvSpPr>
          <p:cNvPr id="12" name="Text 10"/>
          <p:cNvSpPr/>
          <p:nvPr/>
        </p:nvSpPr>
        <p:spPr>
          <a:xfrm>
            <a:off x="9486900" y="5982146"/>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A defender must hold every path; an attacker needs one. That imbalance is the structural reason defence is expensive and offence is cheap — and the reason testing exists at all.</a:t>
            </a:r>
            <a:endParaRPr lang="en-US" sz="187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066604"/>
            <a:ext cx="2917254"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152329"/>
            <a:ext cx="2642822"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2.1 · Task 2 of 3</a:t>
            </a:r>
            <a:endParaRPr lang="en-US" sz="1500" dirty="0"/>
          </a:p>
        </p:txBody>
      </p:sp>
      <p:sp>
        <p:nvSpPr>
          <p:cNvPr id="5" name="Text 3"/>
          <p:cNvSpPr/>
          <p:nvPr/>
        </p:nvSpPr>
        <p:spPr>
          <a:xfrm>
            <a:off x="800100" y="3709541"/>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Offensive and defensive security reflect each other</a:t>
            </a:r>
            <a:endParaRPr lang="en-US" sz="3000" dirty="0"/>
          </a:p>
        </p:txBody>
      </p:sp>
      <p:sp>
        <p:nvSpPr>
          <p:cNvPr id="6" name="Text 4"/>
          <p:cNvSpPr/>
          <p:nvPr/>
        </p:nvSpPr>
        <p:spPr>
          <a:xfrm>
            <a:off x="800100" y="4376291"/>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The two disciplines are not opponents but mirror images. Every offensive technique implies a detection and a mitigation; every control implies a bypass. Knowledge acquired on one side is directly usable on the other.</a:t>
            </a:r>
            <a:endParaRPr lang="en-US" sz="2175" dirty="0"/>
          </a:p>
        </p:txBody>
      </p:sp>
      <p:sp>
        <p:nvSpPr>
          <p:cNvPr id="7" name="Shape 5"/>
          <p:cNvSpPr/>
          <p:nvPr/>
        </p:nvSpPr>
        <p:spPr>
          <a:xfrm>
            <a:off x="800100"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8" name="Text 6"/>
          <p:cNvSpPr/>
          <p:nvPr/>
        </p:nvSpPr>
        <p:spPr>
          <a:xfrm>
            <a:off x="1038225"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EXAMPLE</a:t>
            </a:r>
            <a:endParaRPr lang="en-US" sz="1500" dirty="0"/>
          </a:p>
        </p:txBody>
      </p:sp>
      <p:sp>
        <p:nvSpPr>
          <p:cNvPr id="9" name="Text 7"/>
          <p:cNvSpPr/>
          <p:nvPr/>
        </p:nvSpPr>
        <p:spPr>
          <a:xfrm>
            <a:off x="1038225" y="5982146"/>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A tester who understands how service binary hijacking works (Module 15) can immediately state the defensive control — correct permissions on service paths — because the attack and the fix describe the same fact.</a:t>
            </a:r>
            <a:endParaRPr lang="en-US" sz="1875" dirty="0"/>
          </a:p>
        </p:txBody>
      </p:sp>
      <p:sp>
        <p:nvSpPr>
          <p:cNvPr id="10" name="Shape 8"/>
          <p:cNvSpPr/>
          <p:nvPr/>
        </p:nvSpPr>
        <p:spPr>
          <a:xfrm>
            <a:off x="9248775"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11" name="Text 9"/>
          <p:cNvSpPr/>
          <p:nvPr/>
        </p:nvSpPr>
        <p:spPr>
          <a:xfrm>
            <a:off x="9486900"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SECURITY RELEVANCE</a:t>
            </a:r>
            <a:endParaRPr lang="en-US" sz="1500" dirty="0"/>
          </a:p>
        </p:txBody>
      </p:sp>
      <p:sp>
        <p:nvSpPr>
          <p:cNvPr id="12" name="Text 10"/>
          <p:cNvSpPr/>
          <p:nvPr/>
        </p:nvSpPr>
        <p:spPr>
          <a:xfrm>
            <a:off x="9486900" y="5982146"/>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This is why the recommendation column of a report is not an afterthought. A finding without a credible mitigation demonstrates the attack but not the understanding.</a:t>
            </a:r>
            <a:endParaRPr lang="en-US" sz="187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3307110"/>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CRITICAL DISTINCTION</a:t>
            </a:r>
            <a:endParaRPr lang="en-US" sz="1650" dirty="0"/>
          </a:p>
        </p:txBody>
      </p:sp>
      <p:sp>
        <p:nvSpPr>
          <p:cNvPr id="4" name="Text 2"/>
          <p:cNvSpPr/>
          <p:nvPr/>
        </p:nvSpPr>
        <p:spPr>
          <a:xfrm>
            <a:off x="800100" y="3802410"/>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Same knowledge, opposite objective</a:t>
            </a:r>
            <a:endParaRPr lang="en-US" sz="3000" dirty="0"/>
          </a:p>
        </p:txBody>
      </p:sp>
      <p:sp>
        <p:nvSpPr>
          <p:cNvPr id="5" name="Shape 3"/>
          <p:cNvSpPr/>
          <p:nvPr/>
        </p:nvSpPr>
        <p:spPr>
          <a:xfrm>
            <a:off x="800100" y="4469160"/>
            <a:ext cx="7581900" cy="1462088"/>
          </a:xfrm>
          <a:prstGeom prst="roundRect">
            <a:avLst>
              <a:gd name="adj" fmla="val 10423"/>
            </a:avLst>
          </a:prstGeom>
          <a:solidFill>
            <a:srgbClr val="FF6A00">
              <a:alpha val="6000"/>
            </a:srgbClr>
          </a:solidFill>
          <a:ln w="9525">
            <a:solidFill>
              <a:srgbClr val="B85100"/>
            </a:solidFill>
            <a:prstDash val="solid"/>
          </a:ln>
        </p:spPr>
      </p:sp>
      <p:sp>
        <p:nvSpPr>
          <p:cNvPr id="6" name="Text 4"/>
          <p:cNvSpPr/>
          <p:nvPr/>
        </p:nvSpPr>
        <p:spPr>
          <a:xfrm>
            <a:off x="1038225" y="4707285"/>
            <a:ext cx="7816215"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OFFENSIVE SECURITY</a:t>
            </a:r>
            <a:endParaRPr lang="en-US" sz="1500" dirty="0"/>
          </a:p>
        </p:txBody>
      </p:sp>
      <p:sp>
        <p:nvSpPr>
          <p:cNvPr id="7" name="Text 5"/>
          <p:cNvSpPr/>
          <p:nvPr/>
        </p:nvSpPr>
        <p:spPr>
          <a:xfrm>
            <a:off x="1038225" y="5026372"/>
            <a:ext cx="7318820"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Seeks one viable path and proves it. Success is a demonstrated compromise with evidence. Optimises for depth on a single chain.</a:t>
            </a:r>
            <a:endParaRPr lang="en-US" sz="1875" dirty="0"/>
          </a:p>
        </p:txBody>
      </p:sp>
      <p:sp>
        <p:nvSpPr>
          <p:cNvPr id="8" name="Text 6"/>
          <p:cNvSpPr/>
          <p:nvPr/>
        </p:nvSpPr>
        <p:spPr>
          <a:xfrm>
            <a:off x="8534400" y="4469160"/>
            <a:ext cx="1219200" cy="1500188"/>
          </a:xfrm>
          <a:prstGeom prst="rect">
            <a:avLst/>
          </a:prstGeom>
          <a:noFill/>
          <a:ln/>
        </p:spPr>
        <p:txBody>
          <a:bodyPr wrap="square" lIns="25400" tIns="25400" rIns="25400" bIns="25400" rtlCol="0" anchor="ctr">
            <a:normAutofit/>
          </a:bodyPr>
          <a:lstStyle/>
          <a:p>
            <a:pPr algn="ctr" indent="0" marL="0">
              <a:buNone/>
            </a:pPr>
            <a:r>
              <a:rPr lang="en-US" sz="3900" b="1" dirty="0">
                <a:solidFill>
                  <a:srgbClr val="FF6A00"/>
                </a:solidFill>
                <a:latin typeface="Arial" pitchFamily="34" charset="0"/>
                <a:ea typeface="Arial" pitchFamily="34" charset="-122"/>
                <a:cs typeface="Arial" pitchFamily="34" charset="-120"/>
              </a:rPr>
              <a:t>VS</a:t>
            </a:r>
            <a:endParaRPr lang="en-US" sz="3900" dirty="0"/>
          </a:p>
        </p:txBody>
      </p:sp>
      <p:sp>
        <p:nvSpPr>
          <p:cNvPr id="9" name="Shape 7"/>
          <p:cNvSpPr/>
          <p:nvPr/>
        </p:nvSpPr>
        <p:spPr>
          <a:xfrm>
            <a:off x="9906000" y="4469160"/>
            <a:ext cx="7581900" cy="1462088"/>
          </a:xfrm>
          <a:prstGeom prst="roundRect">
            <a:avLst>
              <a:gd name="adj" fmla="val 10423"/>
            </a:avLst>
          </a:prstGeom>
          <a:solidFill>
            <a:srgbClr val="FFFFFF">
              <a:alpha val="2000"/>
            </a:srgbClr>
          </a:solidFill>
          <a:ln w="9525">
            <a:solidFill>
              <a:srgbClr val="2A2F3A"/>
            </a:solidFill>
            <a:prstDash val="solid"/>
          </a:ln>
        </p:spPr>
      </p:sp>
      <p:sp>
        <p:nvSpPr>
          <p:cNvPr id="10" name="Text 8"/>
          <p:cNvSpPr/>
          <p:nvPr/>
        </p:nvSpPr>
        <p:spPr>
          <a:xfrm>
            <a:off x="10144125" y="4707285"/>
            <a:ext cx="7816215"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DEFENSIVE SECURITY</a:t>
            </a:r>
            <a:endParaRPr lang="en-US" sz="1500" dirty="0"/>
          </a:p>
        </p:txBody>
      </p:sp>
      <p:sp>
        <p:nvSpPr>
          <p:cNvPr id="11" name="Text 9"/>
          <p:cNvSpPr/>
          <p:nvPr/>
        </p:nvSpPr>
        <p:spPr>
          <a:xfrm>
            <a:off x="10144125" y="5026372"/>
            <a:ext cx="7318820"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Must account for every path. Success is the absence of compromise, which is far harder to evidence. Optimises for breadth of coverage.</a:t>
            </a:r>
            <a:endParaRPr lang="en-US" sz="1875" dirty="0"/>
          </a:p>
        </p:txBody>
      </p:sp>
      <p:sp>
        <p:nvSpPr>
          <p:cNvPr id="12" name="Text 10"/>
          <p:cNvSpPr/>
          <p:nvPr/>
        </p:nvSpPr>
        <p:spPr>
          <a:xfrm>
            <a:off x="800100" y="6178897"/>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Distinct from: offence and defence being different bodies of knowledge. They are the same body of knowledge with different success conditions.</a:t>
            </a:r>
            <a:endParaRPr lang="en-US" sz="217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066604"/>
            <a:ext cx="2922315"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152329"/>
            <a:ext cx="2648034"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2.1 · Task 3 of 3</a:t>
            </a:r>
            <a:endParaRPr lang="en-US" sz="1500" dirty="0"/>
          </a:p>
        </p:txBody>
      </p:sp>
      <p:sp>
        <p:nvSpPr>
          <p:cNvPr id="5" name="Text 3"/>
          <p:cNvSpPr/>
          <p:nvPr/>
        </p:nvSpPr>
        <p:spPr>
          <a:xfrm>
            <a:off x="800100" y="3709541"/>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Mindsets that transfer</a:t>
            </a:r>
            <a:endParaRPr lang="en-US" sz="3000" dirty="0"/>
          </a:p>
        </p:txBody>
      </p:sp>
      <p:sp>
        <p:nvSpPr>
          <p:cNvPr id="6" name="Text 4"/>
          <p:cNvSpPr/>
          <p:nvPr/>
        </p:nvSpPr>
        <p:spPr>
          <a:xfrm>
            <a:off x="800100" y="4376291"/>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The syllabus asks the learner to begin building a mental model of the mindsets applicable to information security. These are habits of thought rather than techniques, and they are what the rest of the course exercises.</a:t>
            </a:r>
            <a:endParaRPr lang="en-US" sz="2175" dirty="0"/>
          </a:p>
        </p:txBody>
      </p:sp>
      <p:sp>
        <p:nvSpPr>
          <p:cNvPr id="7" name="Shape 5"/>
          <p:cNvSpPr/>
          <p:nvPr/>
        </p:nvSpPr>
        <p:spPr>
          <a:xfrm>
            <a:off x="800100" y="5424934"/>
            <a:ext cx="4043363" cy="1795463"/>
          </a:xfrm>
          <a:prstGeom prst="roundRect">
            <a:avLst>
              <a:gd name="adj" fmla="val 8488"/>
            </a:avLst>
          </a:prstGeom>
          <a:solidFill>
            <a:srgbClr val="FFFFFF">
              <a:alpha val="2000"/>
            </a:srgbClr>
          </a:solidFill>
          <a:ln w="9525">
            <a:solidFill>
              <a:srgbClr val="2A2F3A"/>
            </a:solidFill>
            <a:prstDash val="solid"/>
          </a:ln>
        </p:spPr>
      </p:sp>
      <p:sp>
        <p:nvSpPr>
          <p:cNvPr id="8" name="Text 6"/>
          <p:cNvSpPr/>
          <p:nvPr/>
        </p:nvSpPr>
        <p:spPr>
          <a:xfrm>
            <a:off x="1038225" y="5663059"/>
            <a:ext cx="3923824"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ASSUME NOTHING</a:t>
            </a:r>
            <a:endParaRPr lang="en-US" sz="1500" dirty="0"/>
          </a:p>
        </p:txBody>
      </p:sp>
      <p:sp>
        <p:nvSpPr>
          <p:cNvPr id="9" name="Text 7"/>
          <p:cNvSpPr/>
          <p:nvPr/>
        </p:nvSpPr>
        <p:spPr>
          <a:xfrm>
            <a:off x="1038225" y="5982146"/>
            <a:ext cx="3674126"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Treat every assumption about a system as a claim to be tested, including your own.</a:t>
            </a:r>
            <a:endParaRPr lang="en-US" sz="1875" dirty="0"/>
          </a:p>
        </p:txBody>
      </p:sp>
      <p:sp>
        <p:nvSpPr>
          <p:cNvPr id="10" name="Shape 8"/>
          <p:cNvSpPr/>
          <p:nvPr/>
        </p:nvSpPr>
        <p:spPr>
          <a:xfrm>
            <a:off x="5014913" y="5424934"/>
            <a:ext cx="4043363" cy="1795463"/>
          </a:xfrm>
          <a:prstGeom prst="roundRect">
            <a:avLst>
              <a:gd name="adj" fmla="val 8488"/>
            </a:avLst>
          </a:prstGeom>
          <a:solidFill>
            <a:srgbClr val="FFFFFF">
              <a:alpha val="2000"/>
            </a:srgbClr>
          </a:solidFill>
          <a:ln w="9525">
            <a:solidFill>
              <a:srgbClr val="2A2F3A"/>
            </a:solidFill>
            <a:prstDash val="solid"/>
          </a:ln>
        </p:spPr>
      </p:sp>
      <p:sp>
        <p:nvSpPr>
          <p:cNvPr id="11" name="Text 9"/>
          <p:cNvSpPr/>
          <p:nvPr/>
        </p:nvSpPr>
        <p:spPr>
          <a:xfrm>
            <a:off x="5253038" y="5663059"/>
            <a:ext cx="3923824"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THINK IN SYSTEMS</a:t>
            </a:r>
            <a:endParaRPr lang="en-US" sz="1500" dirty="0"/>
          </a:p>
        </p:txBody>
      </p:sp>
      <p:sp>
        <p:nvSpPr>
          <p:cNvPr id="12" name="Text 10"/>
          <p:cNvSpPr/>
          <p:nvPr/>
        </p:nvSpPr>
        <p:spPr>
          <a:xfrm>
            <a:off x="5253038" y="5982146"/>
            <a:ext cx="3674126"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Compromise usually comes from how components interact, not from one component failing alone.</a:t>
            </a:r>
            <a:endParaRPr lang="en-US" sz="1875" dirty="0"/>
          </a:p>
        </p:txBody>
      </p:sp>
      <p:sp>
        <p:nvSpPr>
          <p:cNvPr id="13" name="Shape 11"/>
          <p:cNvSpPr/>
          <p:nvPr/>
        </p:nvSpPr>
        <p:spPr>
          <a:xfrm>
            <a:off x="9229725" y="5424934"/>
            <a:ext cx="4043363" cy="1795463"/>
          </a:xfrm>
          <a:prstGeom prst="roundRect">
            <a:avLst>
              <a:gd name="adj" fmla="val 8488"/>
            </a:avLst>
          </a:prstGeom>
          <a:solidFill>
            <a:srgbClr val="FFFFFF">
              <a:alpha val="2000"/>
            </a:srgbClr>
          </a:solidFill>
          <a:ln w="9525">
            <a:solidFill>
              <a:srgbClr val="2A2F3A"/>
            </a:solidFill>
            <a:prstDash val="solid"/>
          </a:ln>
        </p:spPr>
      </p:sp>
      <p:sp>
        <p:nvSpPr>
          <p:cNvPr id="14" name="Text 12"/>
          <p:cNvSpPr/>
          <p:nvPr/>
        </p:nvSpPr>
        <p:spPr>
          <a:xfrm>
            <a:off x="9467850" y="5663059"/>
            <a:ext cx="3923824"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EVIDENCE OVER BELIEF</a:t>
            </a:r>
            <a:endParaRPr lang="en-US" sz="1500" dirty="0"/>
          </a:p>
        </p:txBody>
      </p:sp>
      <p:sp>
        <p:nvSpPr>
          <p:cNvPr id="15" name="Text 13"/>
          <p:cNvSpPr/>
          <p:nvPr/>
        </p:nvSpPr>
        <p:spPr>
          <a:xfrm>
            <a:off x="9467850" y="5982146"/>
            <a:ext cx="3674126"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A finding you cannot evidence is an opinion. This becomes a formal requirement in Module 4.</a:t>
            </a:r>
            <a:endParaRPr lang="en-US" sz="1875" dirty="0"/>
          </a:p>
        </p:txBody>
      </p:sp>
      <p:sp>
        <p:nvSpPr>
          <p:cNvPr id="16" name="Shape 14"/>
          <p:cNvSpPr/>
          <p:nvPr/>
        </p:nvSpPr>
        <p:spPr>
          <a:xfrm>
            <a:off x="13444538" y="5424934"/>
            <a:ext cx="4043363" cy="1795463"/>
          </a:xfrm>
          <a:prstGeom prst="roundRect">
            <a:avLst>
              <a:gd name="adj" fmla="val 8488"/>
            </a:avLst>
          </a:prstGeom>
          <a:solidFill>
            <a:srgbClr val="FFFFFF">
              <a:alpha val="2000"/>
            </a:srgbClr>
          </a:solidFill>
          <a:ln w="9525">
            <a:solidFill>
              <a:srgbClr val="2A2F3A"/>
            </a:solidFill>
            <a:prstDash val="solid"/>
          </a:ln>
        </p:spPr>
      </p:sp>
      <p:sp>
        <p:nvSpPr>
          <p:cNvPr id="17" name="Text 15"/>
          <p:cNvSpPr/>
          <p:nvPr/>
        </p:nvSpPr>
        <p:spPr>
          <a:xfrm>
            <a:off x="13682663" y="5663059"/>
            <a:ext cx="3923824"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PERSIST DELIBERATELY</a:t>
            </a:r>
            <a:endParaRPr lang="en-US" sz="1500" dirty="0"/>
          </a:p>
        </p:txBody>
      </p:sp>
      <p:sp>
        <p:nvSpPr>
          <p:cNvPr id="18" name="Text 16"/>
          <p:cNvSpPr/>
          <p:nvPr/>
        </p:nvSpPr>
        <p:spPr>
          <a:xfrm>
            <a:off x="13682663" y="5982146"/>
            <a:ext cx="3674126"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Try harder means try differently. Repeating a failed approach with more effort is not persistence.</a:t>
            </a:r>
            <a:endParaRPr lang="en-US" sz="187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3664744"/>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OBJECTIVE 2.1 RECAP</a:t>
            </a:r>
            <a:endParaRPr lang="en-US" sz="1650" dirty="0"/>
          </a:p>
        </p:txBody>
      </p:sp>
      <p:sp>
        <p:nvSpPr>
          <p:cNvPr id="4" name="Text 2"/>
          <p:cNvSpPr/>
          <p:nvPr/>
        </p:nvSpPr>
        <p:spPr>
          <a:xfrm>
            <a:off x="800100" y="4160044"/>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The Practice of Cybersecurity — what you should now hold</a:t>
            </a:r>
            <a:endParaRPr lang="en-US" sz="3000" dirty="0"/>
          </a:p>
        </p:txBody>
      </p:sp>
      <p:sp>
        <p:nvSpPr>
          <p:cNvPr id="5" name="Shape 3"/>
          <p:cNvSpPr/>
          <p:nvPr/>
        </p:nvSpPr>
        <p:spPr>
          <a:xfrm>
            <a:off x="800100" y="4826794"/>
            <a:ext cx="5435575" cy="1795463"/>
          </a:xfrm>
          <a:prstGeom prst="roundRect">
            <a:avLst>
              <a:gd name="adj" fmla="val 8488"/>
            </a:avLst>
          </a:prstGeom>
          <a:solidFill>
            <a:srgbClr val="FFFFFF">
              <a:alpha val="2000"/>
            </a:srgbClr>
          </a:solidFill>
          <a:ln w="9525">
            <a:solidFill>
              <a:srgbClr val="2A2F3A"/>
            </a:solidFill>
            <a:prstDash val="solid"/>
          </a:ln>
        </p:spPr>
      </p:sp>
      <p:sp>
        <p:nvSpPr>
          <p:cNvPr id="6" name="Text 4"/>
          <p:cNvSpPr/>
          <p:nvPr/>
        </p:nvSpPr>
        <p:spPr>
          <a:xfrm>
            <a:off x="1038225" y="5064919"/>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THE DISCIPLINE</a:t>
            </a:r>
            <a:endParaRPr lang="en-US" sz="1500" dirty="0"/>
          </a:p>
        </p:txBody>
      </p:sp>
      <p:sp>
        <p:nvSpPr>
          <p:cNvPr id="7" name="Text 5"/>
          <p:cNvSpPr/>
          <p:nvPr/>
        </p:nvSpPr>
        <p:spPr>
          <a:xfrm>
            <a:off x="1038225" y="5384006"/>
            <a:ext cx="5108105"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Adversarial by nature, structurally asymmetric — the defender holds every path, the attacker needs one.</a:t>
            </a:r>
            <a:endParaRPr lang="en-US" sz="1875" dirty="0"/>
          </a:p>
        </p:txBody>
      </p:sp>
      <p:sp>
        <p:nvSpPr>
          <p:cNvPr id="8" name="Shape 6"/>
          <p:cNvSpPr/>
          <p:nvPr/>
        </p:nvSpPr>
        <p:spPr>
          <a:xfrm>
            <a:off x="6426175" y="4826794"/>
            <a:ext cx="5435575" cy="1795463"/>
          </a:xfrm>
          <a:prstGeom prst="roundRect">
            <a:avLst>
              <a:gd name="adj" fmla="val 8488"/>
            </a:avLst>
          </a:prstGeom>
          <a:solidFill>
            <a:srgbClr val="FFFFFF">
              <a:alpha val="2000"/>
            </a:srgbClr>
          </a:solidFill>
          <a:ln w="9525">
            <a:solidFill>
              <a:srgbClr val="2A2F3A"/>
            </a:solidFill>
            <a:prstDash val="solid"/>
          </a:ln>
        </p:spPr>
      </p:sp>
      <p:sp>
        <p:nvSpPr>
          <p:cNvPr id="9" name="Text 7"/>
          <p:cNvSpPr/>
          <p:nvPr/>
        </p:nvSpPr>
        <p:spPr>
          <a:xfrm>
            <a:off x="6664300" y="5064919"/>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THE RELATIONSHIP</a:t>
            </a:r>
            <a:endParaRPr lang="en-US" sz="1500" dirty="0"/>
          </a:p>
        </p:txBody>
      </p:sp>
      <p:sp>
        <p:nvSpPr>
          <p:cNvPr id="10" name="Text 8"/>
          <p:cNvSpPr/>
          <p:nvPr/>
        </p:nvSpPr>
        <p:spPr>
          <a:xfrm>
            <a:off x="6664300" y="5384006"/>
            <a:ext cx="5108105"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Offensive and defensive security reflect each other; each technique implies its own mitigation.</a:t>
            </a:r>
            <a:endParaRPr lang="en-US" sz="1875" dirty="0"/>
          </a:p>
        </p:txBody>
      </p:sp>
      <p:sp>
        <p:nvSpPr>
          <p:cNvPr id="11" name="Shape 9"/>
          <p:cNvSpPr/>
          <p:nvPr/>
        </p:nvSpPr>
        <p:spPr>
          <a:xfrm>
            <a:off x="12052250" y="4826794"/>
            <a:ext cx="5435650" cy="1795463"/>
          </a:xfrm>
          <a:prstGeom prst="roundRect">
            <a:avLst>
              <a:gd name="adj" fmla="val 8488"/>
            </a:avLst>
          </a:prstGeom>
          <a:solidFill>
            <a:srgbClr val="FFFFFF">
              <a:alpha val="2000"/>
            </a:srgbClr>
          </a:solidFill>
          <a:ln w="9525">
            <a:solidFill>
              <a:srgbClr val="2A2F3A"/>
            </a:solidFill>
            <a:prstDash val="solid"/>
          </a:ln>
        </p:spPr>
      </p:sp>
      <p:sp>
        <p:nvSpPr>
          <p:cNvPr id="12" name="Text 10"/>
          <p:cNvSpPr/>
          <p:nvPr/>
        </p:nvSpPr>
        <p:spPr>
          <a:xfrm>
            <a:off x="12290375" y="5064919"/>
            <a:ext cx="5455340"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THE HABITS</a:t>
            </a:r>
            <a:endParaRPr lang="en-US" sz="1500" dirty="0"/>
          </a:p>
        </p:txBody>
      </p:sp>
      <p:sp>
        <p:nvSpPr>
          <p:cNvPr id="13" name="Text 11"/>
          <p:cNvSpPr/>
          <p:nvPr/>
        </p:nvSpPr>
        <p:spPr>
          <a:xfrm>
            <a:off x="12290375" y="5384006"/>
            <a:ext cx="5108182"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Assume nothing, think in systems, evidence over belief, persist deliberately.</a:t>
            </a:r>
            <a:endParaRPr lang="en-US" sz="187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101243" y="3870945"/>
            <a:ext cx="2085514" cy="285750"/>
          </a:xfrm>
          <a:prstGeom prst="rect">
            <a:avLst/>
          </a:prstGeom>
          <a:noFill/>
          <a:ln/>
        </p:spPr>
        <p:txBody>
          <a:bodyPr wrap="square" lIns="25400" tIns="25400" rIns="25400" bIns="25400" rtlCol="0" anchor="t">
            <a:normAutofit/>
          </a:bodyPr>
          <a:lstStyle/>
          <a:p>
            <a:pPr algn="ctr" indent="0" marL="0">
              <a:buNone/>
            </a:pPr>
            <a:r>
              <a:rPr lang="en-US" sz="1650" b="1" spc="225" kern="0" dirty="0">
                <a:solidFill>
                  <a:srgbClr val="FF6A00"/>
                </a:solidFill>
                <a:latin typeface="Arial" pitchFamily="34" charset="0"/>
                <a:ea typeface="Arial" pitchFamily="34" charset="-122"/>
                <a:cs typeface="Arial" pitchFamily="34" charset="-120"/>
              </a:rPr>
              <a:t>OBJECTIVE 2.2</a:t>
            </a:r>
            <a:endParaRPr lang="en-US" sz="1650" dirty="0"/>
          </a:p>
        </p:txBody>
      </p:sp>
      <p:sp>
        <p:nvSpPr>
          <p:cNvPr id="4" name="Text 2"/>
          <p:cNvSpPr/>
          <p:nvPr/>
        </p:nvSpPr>
        <p:spPr>
          <a:xfrm>
            <a:off x="3451611" y="4385295"/>
            <a:ext cx="11384704" cy="918195"/>
          </a:xfrm>
          <a:prstGeom prst="rect">
            <a:avLst/>
          </a:prstGeom>
          <a:noFill/>
          <a:ln/>
        </p:spPr>
        <p:txBody>
          <a:bodyPr wrap="square" lIns="25400" tIns="25400" rIns="25400" bIns="25400" rtlCol="0" anchor="t">
            <a:normAutofit/>
          </a:bodyPr>
          <a:lstStyle/>
          <a:p>
            <a:pPr algn="ctr" indent="0" marL="0">
              <a:lnSpc>
                <a:spcPct val="91485"/>
              </a:lnSpc>
              <a:buNone/>
            </a:pPr>
            <a:r>
              <a:rPr lang="en-US" sz="6600" b="1" spc="-37" kern="0" dirty="0">
                <a:solidFill>
                  <a:srgbClr val="F5F7FB"/>
                </a:solidFill>
                <a:latin typeface="Arial" pitchFamily="34" charset="0"/>
                <a:ea typeface="Arial" pitchFamily="34" charset="-122"/>
                <a:cs typeface="Arial" pitchFamily="34" charset="-120"/>
              </a:rPr>
              <a:t>Threats and Threat Actors</a:t>
            </a:r>
            <a:endParaRPr lang="en-US" sz="6600" dirty="0"/>
          </a:p>
        </p:txBody>
      </p:sp>
      <p:sp>
        <p:nvSpPr>
          <p:cNvPr id="5" name="Text 3"/>
          <p:cNvSpPr/>
          <p:nvPr/>
        </p:nvSpPr>
        <p:spPr>
          <a:xfrm>
            <a:off x="3012281" y="5532090"/>
            <a:ext cx="12263438" cy="921990"/>
          </a:xfrm>
          <a:prstGeom prst="rect">
            <a:avLst/>
          </a:prstGeom>
          <a:noFill/>
          <a:ln/>
        </p:spPr>
        <p:txBody>
          <a:bodyPr wrap="square" lIns="25400" tIns="25400" rIns="25400" bIns="25400" rtlCol="0" anchor="t">
            <a:normAutofit/>
          </a:bodyPr>
          <a:lstStyle/>
          <a:p>
            <a:pPr algn="ctr" indent="0" marL="0">
              <a:lnSpc>
                <a:spcPct val="125405"/>
              </a:lnSpc>
              <a:buNone/>
            </a:pPr>
            <a:r>
              <a:rPr lang="en-US" sz="2400" dirty="0">
                <a:solidFill>
                  <a:srgbClr val="B8C0CF"/>
                </a:solidFill>
                <a:latin typeface="Arial" pitchFamily="34" charset="0"/>
                <a:ea typeface="Arial" pitchFamily="34" charset="-122"/>
                <a:cs typeface="Arial" pitchFamily="34" charset="-120"/>
              </a:rPr>
              <a:t>How attackers and defenders learn from each other, the difference between risks, threats, vulnerabilities and exploits, the classes of threat actor, and recent attacks.</a:t>
            </a:r>
            <a:endParaRPr 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066604"/>
            <a:ext cx="2929607"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152329"/>
            <a:ext cx="2655545"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2.2 · Task 1 of 4</a:t>
            </a:r>
            <a:endParaRPr lang="en-US" sz="1500" dirty="0"/>
          </a:p>
        </p:txBody>
      </p:sp>
      <p:sp>
        <p:nvSpPr>
          <p:cNvPr id="5" name="Text 3"/>
          <p:cNvSpPr/>
          <p:nvPr/>
        </p:nvSpPr>
        <p:spPr>
          <a:xfrm>
            <a:off x="800100" y="3709541"/>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How attackers and defenders learn from each other</a:t>
            </a:r>
            <a:endParaRPr lang="en-US" sz="3000" dirty="0"/>
          </a:p>
        </p:txBody>
      </p:sp>
      <p:sp>
        <p:nvSpPr>
          <p:cNvPr id="6" name="Text 4"/>
          <p:cNvSpPr/>
          <p:nvPr/>
        </p:nvSpPr>
        <p:spPr>
          <a:xfrm>
            <a:off x="800100" y="4376291"/>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Security capability on both sides co-evolves. A successful attack technique produces a control; the control produces an evasion; the evasion produces a detection. Neither side develops in isolation.</a:t>
            </a:r>
            <a:endParaRPr lang="en-US" sz="2175" dirty="0"/>
          </a:p>
        </p:txBody>
      </p:sp>
      <p:sp>
        <p:nvSpPr>
          <p:cNvPr id="7" name="Shape 5"/>
          <p:cNvSpPr/>
          <p:nvPr/>
        </p:nvSpPr>
        <p:spPr>
          <a:xfrm>
            <a:off x="800100"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8" name="Text 6"/>
          <p:cNvSpPr/>
          <p:nvPr/>
        </p:nvSpPr>
        <p:spPr>
          <a:xfrm>
            <a:off x="1038225"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EXAMPLE</a:t>
            </a:r>
            <a:endParaRPr lang="en-US" sz="1500" dirty="0"/>
          </a:p>
        </p:txBody>
      </p:sp>
      <p:sp>
        <p:nvSpPr>
          <p:cNvPr id="9" name="Text 7"/>
          <p:cNvSpPr/>
          <p:nvPr/>
        </p:nvSpPr>
        <p:spPr>
          <a:xfrm>
            <a:off x="1038225" y="5982146"/>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Antivirus signature detection produced payload obfuscation, which produced behavioural detection engines — the exact sequence Module 13, Antivirus Evasion, works through.</a:t>
            </a:r>
            <a:endParaRPr lang="en-US" sz="1875" dirty="0"/>
          </a:p>
        </p:txBody>
      </p:sp>
      <p:sp>
        <p:nvSpPr>
          <p:cNvPr id="10" name="Shape 8"/>
          <p:cNvSpPr/>
          <p:nvPr/>
        </p:nvSpPr>
        <p:spPr>
          <a:xfrm>
            <a:off x="9248775"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11" name="Text 9"/>
          <p:cNvSpPr/>
          <p:nvPr/>
        </p:nvSpPr>
        <p:spPr>
          <a:xfrm>
            <a:off x="9486900"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CONNECTS TO</a:t>
            </a:r>
            <a:endParaRPr lang="en-US" sz="1500" dirty="0"/>
          </a:p>
        </p:txBody>
      </p:sp>
      <p:sp>
        <p:nvSpPr>
          <p:cNvPr id="12" name="Text 10"/>
          <p:cNvSpPr/>
          <p:nvPr/>
        </p:nvSpPr>
        <p:spPr>
          <a:xfrm>
            <a:off x="9486900" y="5982146"/>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This is why the course teaches manual technique before frameworks. Understanding why a control exists is what lets you reason about a control you have never seen.</a:t>
            </a:r>
            <a:endParaRPr lang="en-US" sz="187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066604"/>
            <a:ext cx="4227835"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152329"/>
            <a:ext cx="3992720"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2.2 · Task 2 of 4 · Term 1 of 4</a:t>
            </a:r>
            <a:endParaRPr lang="en-US" sz="1500" dirty="0"/>
          </a:p>
        </p:txBody>
      </p:sp>
      <p:sp>
        <p:nvSpPr>
          <p:cNvPr id="5" name="Text 3"/>
          <p:cNvSpPr/>
          <p:nvPr/>
        </p:nvSpPr>
        <p:spPr>
          <a:xfrm>
            <a:off x="800100" y="3709541"/>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Risk</a:t>
            </a:r>
            <a:endParaRPr lang="en-US" sz="3000" dirty="0"/>
          </a:p>
        </p:txBody>
      </p:sp>
      <p:sp>
        <p:nvSpPr>
          <p:cNvPr id="6" name="Text 4"/>
          <p:cNvSpPr/>
          <p:nvPr/>
        </p:nvSpPr>
        <p:spPr>
          <a:xfrm>
            <a:off x="800100" y="4376291"/>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Risk is the potential for loss or harm, expressed as a function of how likely something is and how much damage it would do. It is a business measure, not a technical property of a system.</a:t>
            </a:r>
            <a:endParaRPr lang="en-US" sz="2175" dirty="0"/>
          </a:p>
        </p:txBody>
      </p:sp>
      <p:sp>
        <p:nvSpPr>
          <p:cNvPr id="7" name="Shape 5"/>
          <p:cNvSpPr/>
          <p:nvPr/>
        </p:nvSpPr>
        <p:spPr>
          <a:xfrm>
            <a:off x="800100"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8" name="Text 6"/>
          <p:cNvSpPr/>
          <p:nvPr/>
        </p:nvSpPr>
        <p:spPr>
          <a:xfrm>
            <a:off x="1038225"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WHY IT MATTERS</a:t>
            </a:r>
            <a:endParaRPr lang="en-US" sz="1500" dirty="0"/>
          </a:p>
        </p:txBody>
      </p:sp>
      <p:sp>
        <p:nvSpPr>
          <p:cNvPr id="9" name="Text 7"/>
          <p:cNvSpPr/>
          <p:nvPr/>
        </p:nvSpPr>
        <p:spPr>
          <a:xfrm>
            <a:off x="1038225" y="5982146"/>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Clients make decisions on risk, not on findings. Two identical vulnerabilities on different hosts carry different risk, and the report must say why.</a:t>
            </a:r>
            <a:endParaRPr lang="en-US" sz="1875" dirty="0"/>
          </a:p>
        </p:txBody>
      </p:sp>
      <p:sp>
        <p:nvSpPr>
          <p:cNvPr id="10" name="Shape 8"/>
          <p:cNvSpPr/>
          <p:nvPr/>
        </p:nvSpPr>
        <p:spPr>
          <a:xfrm>
            <a:off x="9248775"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11" name="Text 9"/>
          <p:cNvSpPr/>
          <p:nvPr/>
        </p:nvSpPr>
        <p:spPr>
          <a:xfrm>
            <a:off x="9486900"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DISTINCT FROM</a:t>
            </a:r>
            <a:endParaRPr lang="en-US" sz="1500" dirty="0"/>
          </a:p>
        </p:txBody>
      </p:sp>
      <p:sp>
        <p:nvSpPr>
          <p:cNvPr id="12" name="Text 10"/>
          <p:cNvSpPr/>
          <p:nvPr/>
        </p:nvSpPr>
        <p:spPr>
          <a:xfrm>
            <a:off x="9486900" y="5982146"/>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A vulnerability. A vulnerability is a weakness that exists; risk is the consequence of that weakness being exploited in this particular environment.</a:t>
            </a:r>
            <a:endParaRPr lang="en-US" sz="1875"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233291"/>
            <a:ext cx="4252094"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319016"/>
            <a:ext cx="4017707"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2.2 · Task 2 of 4 · Term 2 of 4</a:t>
            </a:r>
            <a:endParaRPr lang="en-US" sz="1500" dirty="0"/>
          </a:p>
        </p:txBody>
      </p:sp>
      <p:sp>
        <p:nvSpPr>
          <p:cNvPr id="5" name="Text 3"/>
          <p:cNvSpPr/>
          <p:nvPr/>
        </p:nvSpPr>
        <p:spPr>
          <a:xfrm>
            <a:off x="800100" y="3876229"/>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Threat</a:t>
            </a:r>
            <a:endParaRPr lang="en-US" sz="3000" dirty="0"/>
          </a:p>
        </p:txBody>
      </p:sp>
      <p:sp>
        <p:nvSpPr>
          <p:cNvPr id="6" name="Text 4"/>
          <p:cNvSpPr/>
          <p:nvPr/>
        </p:nvSpPr>
        <p:spPr>
          <a:xfrm>
            <a:off x="800100" y="4542979"/>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A threat is any circumstance or actor with the potential to cause harm to an asset. Threats exist independently of your systems — you do not create them and you cannot remove them.</a:t>
            </a:r>
            <a:endParaRPr lang="en-US" sz="2175" dirty="0"/>
          </a:p>
        </p:txBody>
      </p:sp>
      <p:sp>
        <p:nvSpPr>
          <p:cNvPr id="7" name="Shape 5"/>
          <p:cNvSpPr/>
          <p:nvPr/>
        </p:nvSpPr>
        <p:spPr>
          <a:xfrm>
            <a:off x="800100"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8" name="Text 6"/>
          <p:cNvSpPr/>
          <p:nvPr/>
        </p:nvSpPr>
        <p:spPr>
          <a:xfrm>
            <a:off x="1038225"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WHY IT MATTERS</a:t>
            </a:r>
            <a:endParaRPr lang="en-US" sz="1500" dirty="0"/>
          </a:p>
        </p:txBody>
      </p:sp>
      <p:sp>
        <p:nvSpPr>
          <p:cNvPr id="9" name="Text 7"/>
          <p:cNvSpPr/>
          <p:nvPr/>
        </p:nvSpPr>
        <p:spPr>
          <a:xfrm>
            <a:off x="1038225"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Because threats cannot be eliminated, defence works on the other terms: reduce vulnerabilities, reduce impact, increase the cost of exploitation.</a:t>
            </a:r>
            <a:endParaRPr lang="en-US" sz="1875" dirty="0"/>
          </a:p>
        </p:txBody>
      </p:sp>
      <p:sp>
        <p:nvSpPr>
          <p:cNvPr id="10" name="Shape 8"/>
          <p:cNvSpPr/>
          <p:nvPr/>
        </p:nvSpPr>
        <p:spPr>
          <a:xfrm>
            <a:off x="9248775"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11" name="Text 9"/>
          <p:cNvSpPr/>
          <p:nvPr/>
        </p:nvSpPr>
        <p:spPr>
          <a:xfrm>
            <a:off x="9486900"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WATCH FOR</a:t>
            </a:r>
            <a:endParaRPr lang="en-US" sz="1500" dirty="0"/>
          </a:p>
        </p:txBody>
      </p:sp>
      <p:sp>
        <p:nvSpPr>
          <p:cNvPr id="12" name="Text 10"/>
          <p:cNvSpPr/>
          <p:nvPr/>
        </p:nvSpPr>
        <p:spPr>
          <a:xfrm>
            <a:off x="9486900"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Reports that describe a vulnerability and call it a threat. The vulnerability is yours; the threat is the actor who would use it.</a:t>
            </a:r>
            <a:endParaRPr lang="en-US" sz="187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066604"/>
            <a:ext cx="4257229"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152329"/>
            <a:ext cx="4022995"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2.2 · Task 2 of 4 · Term 3 of 4</a:t>
            </a:r>
            <a:endParaRPr lang="en-US" sz="1500" dirty="0"/>
          </a:p>
        </p:txBody>
      </p:sp>
      <p:sp>
        <p:nvSpPr>
          <p:cNvPr id="5" name="Text 3"/>
          <p:cNvSpPr/>
          <p:nvPr/>
        </p:nvSpPr>
        <p:spPr>
          <a:xfrm>
            <a:off x="800100" y="3709541"/>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Vulnerability</a:t>
            </a:r>
            <a:endParaRPr lang="en-US" sz="3000" dirty="0"/>
          </a:p>
        </p:txBody>
      </p:sp>
      <p:sp>
        <p:nvSpPr>
          <p:cNvPr id="6" name="Text 4"/>
          <p:cNvSpPr/>
          <p:nvPr/>
        </p:nvSpPr>
        <p:spPr>
          <a:xfrm>
            <a:off x="800100" y="4376291"/>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A vulnerability is a weakness in a system, configuration, process or person that a threat could use to cause harm. It is the term a penetration test is commissioned to discover.</a:t>
            </a:r>
            <a:endParaRPr lang="en-US" sz="2175" dirty="0"/>
          </a:p>
        </p:txBody>
      </p:sp>
      <p:sp>
        <p:nvSpPr>
          <p:cNvPr id="7" name="Shape 5"/>
          <p:cNvSpPr/>
          <p:nvPr/>
        </p:nvSpPr>
        <p:spPr>
          <a:xfrm>
            <a:off x="800100"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8" name="Text 6"/>
          <p:cNvSpPr/>
          <p:nvPr/>
        </p:nvSpPr>
        <p:spPr>
          <a:xfrm>
            <a:off x="1038225"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EXAMPLE</a:t>
            </a:r>
            <a:endParaRPr lang="en-US" sz="1500" dirty="0"/>
          </a:p>
        </p:txBody>
      </p:sp>
      <p:sp>
        <p:nvSpPr>
          <p:cNvPr id="9" name="Text 7"/>
          <p:cNvSpPr/>
          <p:nvPr/>
        </p:nvSpPr>
        <p:spPr>
          <a:xfrm>
            <a:off x="1038225" y="5982146"/>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An unquoted service path on a Windows host (Module 15). The weakness exists whether or not anyone has attempted to abuse it.</a:t>
            </a:r>
            <a:endParaRPr lang="en-US" sz="1875" dirty="0"/>
          </a:p>
        </p:txBody>
      </p:sp>
      <p:sp>
        <p:nvSpPr>
          <p:cNvPr id="10" name="Shape 8"/>
          <p:cNvSpPr/>
          <p:nvPr/>
        </p:nvSpPr>
        <p:spPr>
          <a:xfrm>
            <a:off x="9248775"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11" name="Text 9"/>
          <p:cNvSpPr/>
          <p:nvPr/>
        </p:nvSpPr>
        <p:spPr>
          <a:xfrm>
            <a:off x="9486900"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LIMITATION</a:t>
            </a:r>
            <a:endParaRPr lang="en-US" sz="1500" dirty="0"/>
          </a:p>
        </p:txBody>
      </p:sp>
      <p:sp>
        <p:nvSpPr>
          <p:cNvPr id="12" name="Text 10"/>
          <p:cNvSpPr/>
          <p:nvPr/>
        </p:nvSpPr>
        <p:spPr>
          <a:xfrm>
            <a:off x="9486900" y="5982146"/>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A vulnerability is not automatically exploitable. Environmental conditions, compensating controls or lack of a reachable path can make a real weakness unusable.</a:t>
            </a:r>
            <a:endParaRPr lang="en-US" sz="1875"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066604"/>
            <a:ext cx="4260726"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152329"/>
            <a:ext cx="4026598"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2.2 · Task 2 of 4 · Term 4 of 4</a:t>
            </a:r>
            <a:endParaRPr lang="en-US" sz="1500" dirty="0"/>
          </a:p>
        </p:txBody>
      </p:sp>
      <p:sp>
        <p:nvSpPr>
          <p:cNvPr id="5" name="Text 3"/>
          <p:cNvSpPr/>
          <p:nvPr/>
        </p:nvSpPr>
        <p:spPr>
          <a:xfrm>
            <a:off x="800100" y="3709541"/>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Exploit</a:t>
            </a:r>
            <a:endParaRPr lang="en-US" sz="3000" dirty="0"/>
          </a:p>
        </p:txBody>
      </p:sp>
      <p:sp>
        <p:nvSpPr>
          <p:cNvPr id="6" name="Text 4"/>
          <p:cNvSpPr/>
          <p:nvPr/>
        </p:nvSpPr>
        <p:spPr>
          <a:xfrm>
            <a:off x="800100" y="4376291"/>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An exploit is the specific technique, code or sequence of actions that takes advantage of a vulnerability to produce an effect. It is the mechanism, not the weakness.</a:t>
            </a:r>
            <a:endParaRPr lang="en-US" sz="2175" dirty="0"/>
          </a:p>
        </p:txBody>
      </p:sp>
      <p:sp>
        <p:nvSpPr>
          <p:cNvPr id="7" name="Shape 5"/>
          <p:cNvSpPr/>
          <p:nvPr/>
        </p:nvSpPr>
        <p:spPr>
          <a:xfrm>
            <a:off x="800100"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8" name="Text 6"/>
          <p:cNvSpPr/>
          <p:nvPr/>
        </p:nvSpPr>
        <p:spPr>
          <a:xfrm>
            <a:off x="1038225"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CONNECTS TO</a:t>
            </a:r>
            <a:endParaRPr lang="en-US" sz="1500" dirty="0"/>
          </a:p>
        </p:txBody>
      </p:sp>
      <p:sp>
        <p:nvSpPr>
          <p:cNvPr id="9" name="Text 7"/>
          <p:cNvSpPr/>
          <p:nvPr/>
        </p:nvSpPr>
        <p:spPr>
          <a:xfrm>
            <a:off x="1038225" y="5982146"/>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Module 11, Locating Public Exploits, and Module 12, Fixing Exploits, deal exclusively with this term — finding exploit code, reading it before running it, and repairing it when it does not work.</a:t>
            </a:r>
            <a:endParaRPr lang="en-US" sz="1875" dirty="0"/>
          </a:p>
        </p:txBody>
      </p:sp>
      <p:sp>
        <p:nvSpPr>
          <p:cNvPr id="10" name="Shape 8"/>
          <p:cNvSpPr/>
          <p:nvPr/>
        </p:nvSpPr>
        <p:spPr>
          <a:xfrm>
            <a:off x="9248775"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11" name="Text 9"/>
          <p:cNvSpPr/>
          <p:nvPr/>
        </p:nvSpPr>
        <p:spPr>
          <a:xfrm>
            <a:off x="9486900"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WATCH FOR</a:t>
            </a:r>
            <a:endParaRPr lang="en-US" sz="1500" dirty="0"/>
          </a:p>
        </p:txBody>
      </p:sp>
      <p:sp>
        <p:nvSpPr>
          <p:cNvPr id="12" name="Text 10"/>
          <p:cNvSpPr/>
          <p:nvPr/>
        </p:nvSpPr>
        <p:spPr>
          <a:xfrm>
            <a:off x="9486900" y="5982146"/>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Absence of a public exploit is not absence of a vulnerability. Many real weaknesses have never had exploit code written for them.</a:t>
            </a:r>
            <a:endParaRPr lang="en-US" sz="1875"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2782267"/>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CRITICAL DISTINCTION</a:t>
            </a:r>
            <a:endParaRPr lang="en-US" sz="1650" dirty="0"/>
          </a:p>
        </p:txBody>
      </p:sp>
      <p:sp>
        <p:nvSpPr>
          <p:cNvPr id="4" name="Text 2"/>
          <p:cNvSpPr/>
          <p:nvPr/>
        </p:nvSpPr>
        <p:spPr>
          <a:xfrm>
            <a:off x="800100" y="3277567"/>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Risk · Threat · Vulnerability · Exploit</a:t>
            </a:r>
            <a:endParaRPr lang="en-US" sz="3000" dirty="0"/>
          </a:p>
        </p:txBody>
      </p:sp>
      <p:sp>
        <p:nvSpPr>
          <p:cNvPr id="5" name="Shape 3"/>
          <p:cNvSpPr/>
          <p:nvPr/>
        </p:nvSpPr>
        <p:spPr>
          <a:xfrm>
            <a:off x="800100" y="3944317"/>
            <a:ext cx="2781300" cy="500063"/>
          </a:xfrm>
          <a:prstGeom prst="rect">
            <a:avLst/>
          </a:prstGeom>
          <a:solidFill>
            <a:srgbClr val="FF6A00">
              <a:alpha val="18000"/>
            </a:srgbClr>
          </a:solidFill>
          <a:ln/>
        </p:spPr>
      </p:sp>
      <p:sp>
        <p:nvSpPr>
          <p:cNvPr id="6" name="Shape 4"/>
          <p:cNvSpPr/>
          <p:nvPr/>
        </p:nvSpPr>
        <p:spPr>
          <a:xfrm>
            <a:off x="800100" y="4434855"/>
            <a:ext cx="2781300" cy="9525"/>
          </a:xfrm>
          <a:prstGeom prst="rect">
            <a:avLst/>
          </a:prstGeom>
          <a:solidFill>
            <a:srgbClr val="B85100"/>
          </a:solidFill>
          <a:ln/>
        </p:spPr>
      </p:sp>
      <p:sp>
        <p:nvSpPr>
          <p:cNvPr id="7" name="Text 5"/>
          <p:cNvSpPr/>
          <p:nvPr/>
        </p:nvSpPr>
        <p:spPr>
          <a:xfrm>
            <a:off x="952500" y="4058617"/>
            <a:ext cx="2559939" cy="300038"/>
          </a:xfrm>
          <a:prstGeom prst="rect">
            <a:avLst/>
          </a:prstGeom>
          <a:noFill/>
          <a:ln/>
        </p:spPr>
        <p:txBody>
          <a:bodyPr wrap="square" lIns="25400" tIns="25400" rIns="25400" bIns="25400" rtlCol="0" anchor="ctr">
            <a:normAutofit/>
          </a:bodyPr>
          <a:lstStyle/>
          <a:p>
            <a:pPr algn="l" indent="0" marL="0">
              <a:buNone/>
            </a:pPr>
            <a:r>
              <a:rPr lang="en-US" sz="1800" b="1" dirty="0">
                <a:solidFill>
                  <a:srgbClr val="F5F7FB"/>
                </a:solidFill>
                <a:latin typeface="Arial" pitchFamily="34" charset="0"/>
                <a:ea typeface="Arial" pitchFamily="34" charset="-122"/>
                <a:cs typeface="Arial" pitchFamily="34" charset="-120"/>
              </a:rPr>
              <a:t>Term</a:t>
            </a:r>
            <a:endParaRPr lang="en-US" sz="1800" dirty="0"/>
          </a:p>
        </p:txBody>
      </p:sp>
      <p:sp>
        <p:nvSpPr>
          <p:cNvPr id="8" name="Shape 6"/>
          <p:cNvSpPr/>
          <p:nvPr/>
        </p:nvSpPr>
        <p:spPr>
          <a:xfrm>
            <a:off x="3581400" y="3944317"/>
            <a:ext cx="4305300" cy="500063"/>
          </a:xfrm>
          <a:prstGeom prst="rect">
            <a:avLst/>
          </a:prstGeom>
          <a:solidFill>
            <a:srgbClr val="FF6A00">
              <a:alpha val="18000"/>
            </a:srgbClr>
          </a:solidFill>
          <a:ln/>
        </p:spPr>
      </p:sp>
      <p:sp>
        <p:nvSpPr>
          <p:cNvPr id="9" name="Shape 7"/>
          <p:cNvSpPr/>
          <p:nvPr/>
        </p:nvSpPr>
        <p:spPr>
          <a:xfrm>
            <a:off x="3581400" y="4434855"/>
            <a:ext cx="4305300" cy="9525"/>
          </a:xfrm>
          <a:prstGeom prst="rect">
            <a:avLst/>
          </a:prstGeom>
          <a:solidFill>
            <a:srgbClr val="B85100"/>
          </a:solidFill>
          <a:ln/>
        </p:spPr>
      </p:sp>
      <p:sp>
        <p:nvSpPr>
          <p:cNvPr id="10" name="Text 8"/>
          <p:cNvSpPr/>
          <p:nvPr/>
        </p:nvSpPr>
        <p:spPr>
          <a:xfrm>
            <a:off x="3733800" y="4058617"/>
            <a:ext cx="4129659" cy="300038"/>
          </a:xfrm>
          <a:prstGeom prst="rect">
            <a:avLst/>
          </a:prstGeom>
          <a:noFill/>
          <a:ln/>
        </p:spPr>
        <p:txBody>
          <a:bodyPr wrap="square" lIns="25400" tIns="25400" rIns="25400" bIns="25400" rtlCol="0" anchor="ctr">
            <a:normAutofit/>
          </a:bodyPr>
          <a:lstStyle/>
          <a:p>
            <a:pPr algn="l" indent="0" marL="0">
              <a:buNone/>
            </a:pPr>
            <a:r>
              <a:rPr lang="en-US" sz="1800" b="1" dirty="0">
                <a:solidFill>
                  <a:srgbClr val="F5F7FB"/>
                </a:solidFill>
                <a:latin typeface="Arial" pitchFamily="34" charset="0"/>
                <a:ea typeface="Arial" pitchFamily="34" charset="-122"/>
                <a:cs typeface="Arial" pitchFamily="34" charset="-120"/>
              </a:rPr>
              <a:t>What it is</a:t>
            </a:r>
            <a:endParaRPr lang="en-US" sz="1800" dirty="0"/>
          </a:p>
        </p:txBody>
      </p:sp>
      <p:sp>
        <p:nvSpPr>
          <p:cNvPr id="11" name="Shape 9"/>
          <p:cNvSpPr/>
          <p:nvPr/>
        </p:nvSpPr>
        <p:spPr>
          <a:xfrm>
            <a:off x="7886700" y="3944317"/>
            <a:ext cx="9601200" cy="500063"/>
          </a:xfrm>
          <a:prstGeom prst="rect">
            <a:avLst/>
          </a:prstGeom>
          <a:solidFill>
            <a:srgbClr val="FF6A00">
              <a:alpha val="18000"/>
            </a:srgbClr>
          </a:solidFill>
          <a:ln/>
        </p:spPr>
      </p:sp>
      <p:sp>
        <p:nvSpPr>
          <p:cNvPr id="12" name="Shape 10"/>
          <p:cNvSpPr/>
          <p:nvPr/>
        </p:nvSpPr>
        <p:spPr>
          <a:xfrm>
            <a:off x="7886700" y="4434855"/>
            <a:ext cx="9601200" cy="9525"/>
          </a:xfrm>
          <a:prstGeom prst="rect">
            <a:avLst/>
          </a:prstGeom>
          <a:solidFill>
            <a:srgbClr val="B85100"/>
          </a:solidFill>
          <a:ln/>
        </p:spPr>
      </p:sp>
      <p:sp>
        <p:nvSpPr>
          <p:cNvPr id="13" name="Text 11"/>
          <p:cNvSpPr/>
          <p:nvPr/>
        </p:nvSpPr>
        <p:spPr>
          <a:xfrm>
            <a:off x="8039100" y="4058617"/>
            <a:ext cx="9584436" cy="300038"/>
          </a:xfrm>
          <a:prstGeom prst="rect">
            <a:avLst/>
          </a:prstGeom>
          <a:noFill/>
          <a:ln/>
        </p:spPr>
        <p:txBody>
          <a:bodyPr wrap="square" lIns="25400" tIns="25400" rIns="25400" bIns="25400" rtlCol="0" anchor="ctr">
            <a:normAutofit/>
          </a:bodyPr>
          <a:lstStyle/>
          <a:p>
            <a:pPr algn="l" indent="0" marL="0">
              <a:buNone/>
            </a:pPr>
            <a:r>
              <a:rPr lang="en-US" sz="1800" b="1" dirty="0">
                <a:solidFill>
                  <a:srgbClr val="F5F7FB"/>
                </a:solidFill>
                <a:latin typeface="Arial" pitchFamily="34" charset="0"/>
                <a:ea typeface="Arial" pitchFamily="34" charset="-122"/>
                <a:cs typeface="Arial" pitchFamily="34" charset="-120"/>
              </a:rPr>
              <a:t>In one situation</a:t>
            </a:r>
            <a:endParaRPr lang="en-US" sz="1800" dirty="0"/>
          </a:p>
        </p:txBody>
      </p:sp>
      <p:sp>
        <p:nvSpPr>
          <p:cNvPr id="14" name="Shape 12"/>
          <p:cNvSpPr/>
          <p:nvPr/>
        </p:nvSpPr>
        <p:spPr>
          <a:xfrm>
            <a:off x="800100" y="4444380"/>
            <a:ext cx="2781300" cy="752475"/>
          </a:xfrm>
          <a:prstGeom prst="rect">
            <a:avLst/>
          </a:prstGeom>
          <a:solidFill>
            <a:srgbClr val="FFFFFF">
              <a:alpha val="2000"/>
            </a:srgbClr>
          </a:solidFill>
          <a:ln/>
        </p:spPr>
      </p:sp>
      <p:sp>
        <p:nvSpPr>
          <p:cNvPr id="15" name="Shape 13"/>
          <p:cNvSpPr/>
          <p:nvPr/>
        </p:nvSpPr>
        <p:spPr>
          <a:xfrm>
            <a:off x="800100" y="5187330"/>
            <a:ext cx="2781300" cy="9525"/>
          </a:xfrm>
          <a:prstGeom prst="rect">
            <a:avLst/>
          </a:prstGeom>
          <a:solidFill>
            <a:srgbClr val="2A2F3A"/>
          </a:solidFill>
          <a:ln/>
        </p:spPr>
      </p:sp>
      <p:sp>
        <p:nvSpPr>
          <p:cNvPr id="16" name="Text 14"/>
          <p:cNvSpPr/>
          <p:nvPr/>
        </p:nvSpPr>
        <p:spPr>
          <a:xfrm>
            <a:off x="952500" y="4549155"/>
            <a:ext cx="2559939" cy="5715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Threat</a:t>
            </a:r>
            <a:endParaRPr lang="en-US" sz="1800" dirty="0"/>
          </a:p>
        </p:txBody>
      </p:sp>
      <p:sp>
        <p:nvSpPr>
          <p:cNvPr id="17" name="Shape 15"/>
          <p:cNvSpPr/>
          <p:nvPr/>
        </p:nvSpPr>
        <p:spPr>
          <a:xfrm>
            <a:off x="3581400" y="4444380"/>
            <a:ext cx="4305300" cy="752475"/>
          </a:xfrm>
          <a:prstGeom prst="rect">
            <a:avLst/>
          </a:prstGeom>
          <a:solidFill>
            <a:srgbClr val="FFFFFF">
              <a:alpha val="2000"/>
            </a:srgbClr>
          </a:solidFill>
          <a:ln/>
        </p:spPr>
      </p:sp>
      <p:sp>
        <p:nvSpPr>
          <p:cNvPr id="18" name="Shape 16"/>
          <p:cNvSpPr/>
          <p:nvPr/>
        </p:nvSpPr>
        <p:spPr>
          <a:xfrm>
            <a:off x="3581400" y="5187330"/>
            <a:ext cx="4305300" cy="9525"/>
          </a:xfrm>
          <a:prstGeom prst="rect">
            <a:avLst/>
          </a:prstGeom>
          <a:solidFill>
            <a:srgbClr val="2A2F3A"/>
          </a:solidFill>
          <a:ln/>
        </p:spPr>
      </p:sp>
      <p:sp>
        <p:nvSpPr>
          <p:cNvPr id="19" name="Text 17"/>
          <p:cNvSpPr/>
          <p:nvPr/>
        </p:nvSpPr>
        <p:spPr>
          <a:xfrm>
            <a:off x="3733800" y="4549155"/>
            <a:ext cx="4129659" cy="5715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An actor or circumstance able to cause harm</a:t>
            </a:r>
            <a:endParaRPr lang="en-US" sz="1800" dirty="0"/>
          </a:p>
        </p:txBody>
      </p:sp>
      <p:sp>
        <p:nvSpPr>
          <p:cNvPr id="20" name="Shape 18"/>
          <p:cNvSpPr/>
          <p:nvPr/>
        </p:nvSpPr>
        <p:spPr>
          <a:xfrm>
            <a:off x="7886700" y="4444380"/>
            <a:ext cx="9601200" cy="752475"/>
          </a:xfrm>
          <a:prstGeom prst="rect">
            <a:avLst/>
          </a:prstGeom>
          <a:solidFill>
            <a:srgbClr val="FFFFFF">
              <a:alpha val="2000"/>
            </a:srgbClr>
          </a:solidFill>
          <a:ln/>
        </p:spPr>
      </p:sp>
      <p:sp>
        <p:nvSpPr>
          <p:cNvPr id="21" name="Shape 19"/>
          <p:cNvSpPr/>
          <p:nvPr/>
        </p:nvSpPr>
        <p:spPr>
          <a:xfrm>
            <a:off x="7886700" y="5187330"/>
            <a:ext cx="9601200" cy="9525"/>
          </a:xfrm>
          <a:prstGeom prst="rect">
            <a:avLst/>
          </a:prstGeom>
          <a:solidFill>
            <a:srgbClr val="2A2F3A"/>
          </a:solidFill>
          <a:ln/>
        </p:spPr>
      </p:sp>
      <p:sp>
        <p:nvSpPr>
          <p:cNvPr id="22" name="Text 20"/>
          <p:cNvSpPr/>
          <p:nvPr/>
        </p:nvSpPr>
        <p:spPr>
          <a:xfrm>
            <a:off x="8039100" y="4549155"/>
            <a:ext cx="9584436" cy="5715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A criminal group that monetises access to corporate networks</a:t>
            </a:r>
            <a:endParaRPr lang="en-US" sz="1800" dirty="0"/>
          </a:p>
        </p:txBody>
      </p:sp>
      <p:sp>
        <p:nvSpPr>
          <p:cNvPr id="23" name="Shape 21"/>
          <p:cNvSpPr/>
          <p:nvPr/>
        </p:nvSpPr>
        <p:spPr>
          <a:xfrm>
            <a:off x="800100" y="5673105"/>
            <a:ext cx="2781300" cy="9525"/>
          </a:xfrm>
          <a:prstGeom prst="rect">
            <a:avLst/>
          </a:prstGeom>
          <a:solidFill>
            <a:srgbClr val="2A2F3A"/>
          </a:solidFill>
          <a:ln/>
        </p:spPr>
      </p:sp>
      <p:sp>
        <p:nvSpPr>
          <p:cNvPr id="24" name="Text 22"/>
          <p:cNvSpPr/>
          <p:nvPr/>
        </p:nvSpPr>
        <p:spPr>
          <a:xfrm>
            <a:off x="952500" y="5301630"/>
            <a:ext cx="2559939"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Vulnerability</a:t>
            </a:r>
            <a:endParaRPr lang="en-US" sz="1800" dirty="0"/>
          </a:p>
        </p:txBody>
      </p:sp>
      <p:sp>
        <p:nvSpPr>
          <p:cNvPr id="25" name="Shape 23"/>
          <p:cNvSpPr/>
          <p:nvPr/>
        </p:nvSpPr>
        <p:spPr>
          <a:xfrm>
            <a:off x="3581400" y="5673105"/>
            <a:ext cx="4305300" cy="9525"/>
          </a:xfrm>
          <a:prstGeom prst="rect">
            <a:avLst/>
          </a:prstGeom>
          <a:solidFill>
            <a:srgbClr val="2A2F3A"/>
          </a:solidFill>
          <a:ln/>
        </p:spPr>
      </p:sp>
      <p:sp>
        <p:nvSpPr>
          <p:cNvPr id="26" name="Text 24"/>
          <p:cNvSpPr/>
          <p:nvPr/>
        </p:nvSpPr>
        <p:spPr>
          <a:xfrm>
            <a:off x="3733800" y="5301630"/>
            <a:ext cx="4129659"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A weakness that could be used</a:t>
            </a:r>
            <a:endParaRPr lang="en-US" sz="1800" dirty="0"/>
          </a:p>
        </p:txBody>
      </p:sp>
      <p:sp>
        <p:nvSpPr>
          <p:cNvPr id="27" name="Shape 25"/>
          <p:cNvSpPr/>
          <p:nvPr/>
        </p:nvSpPr>
        <p:spPr>
          <a:xfrm>
            <a:off x="7886700" y="5673105"/>
            <a:ext cx="9601200" cy="9525"/>
          </a:xfrm>
          <a:prstGeom prst="rect">
            <a:avLst/>
          </a:prstGeom>
          <a:solidFill>
            <a:srgbClr val="2A2F3A"/>
          </a:solidFill>
          <a:ln/>
        </p:spPr>
      </p:sp>
      <p:sp>
        <p:nvSpPr>
          <p:cNvPr id="28" name="Text 26"/>
          <p:cNvSpPr/>
          <p:nvPr/>
        </p:nvSpPr>
        <p:spPr>
          <a:xfrm>
            <a:off x="8039100" y="5301630"/>
            <a:ext cx="9584436"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A file server running a service with a writable binary path</a:t>
            </a:r>
            <a:endParaRPr lang="en-US" sz="1800" dirty="0"/>
          </a:p>
        </p:txBody>
      </p:sp>
      <p:sp>
        <p:nvSpPr>
          <p:cNvPr id="29" name="Shape 27"/>
          <p:cNvSpPr/>
          <p:nvPr/>
        </p:nvSpPr>
        <p:spPr>
          <a:xfrm>
            <a:off x="800100" y="5682630"/>
            <a:ext cx="2781300" cy="485775"/>
          </a:xfrm>
          <a:prstGeom prst="rect">
            <a:avLst/>
          </a:prstGeom>
          <a:solidFill>
            <a:srgbClr val="FFFFFF">
              <a:alpha val="2000"/>
            </a:srgbClr>
          </a:solidFill>
          <a:ln/>
        </p:spPr>
      </p:sp>
      <p:sp>
        <p:nvSpPr>
          <p:cNvPr id="30" name="Shape 28"/>
          <p:cNvSpPr/>
          <p:nvPr/>
        </p:nvSpPr>
        <p:spPr>
          <a:xfrm>
            <a:off x="800100" y="6158880"/>
            <a:ext cx="2781300" cy="9525"/>
          </a:xfrm>
          <a:prstGeom prst="rect">
            <a:avLst/>
          </a:prstGeom>
          <a:solidFill>
            <a:srgbClr val="2A2F3A"/>
          </a:solidFill>
          <a:ln/>
        </p:spPr>
      </p:sp>
      <p:sp>
        <p:nvSpPr>
          <p:cNvPr id="31" name="Text 29"/>
          <p:cNvSpPr/>
          <p:nvPr/>
        </p:nvSpPr>
        <p:spPr>
          <a:xfrm>
            <a:off x="952500" y="5787405"/>
            <a:ext cx="2559939"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Exploit</a:t>
            </a:r>
            <a:endParaRPr lang="en-US" sz="1800" dirty="0"/>
          </a:p>
        </p:txBody>
      </p:sp>
      <p:sp>
        <p:nvSpPr>
          <p:cNvPr id="32" name="Shape 30"/>
          <p:cNvSpPr/>
          <p:nvPr/>
        </p:nvSpPr>
        <p:spPr>
          <a:xfrm>
            <a:off x="3581400" y="5682630"/>
            <a:ext cx="4305300" cy="485775"/>
          </a:xfrm>
          <a:prstGeom prst="rect">
            <a:avLst/>
          </a:prstGeom>
          <a:solidFill>
            <a:srgbClr val="FFFFFF">
              <a:alpha val="2000"/>
            </a:srgbClr>
          </a:solidFill>
          <a:ln/>
        </p:spPr>
      </p:sp>
      <p:sp>
        <p:nvSpPr>
          <p:cNvPr id="33" name="Shape 31"/>
          <p:cNvSpPr/>
          <p:nvPr/>
        </p:nvSpPr>
        <p:spPr>
          <a:xfrm>
            <a:off x="3581400" y="6158880"/>
            <a:ext cx="4305300" cy="9525"/>
          </a:xfrm>
          <a:prstGeom prst="rect">
            <a:avLst/>
          </a:prstGeom>
          <a:solidFill>
            <a:srgbClr val="2A2F3A"/>
          </a:solidFill>
          <a:ln/>
        </p:spPr>
      </p:sp>
      <p:sp>
        <p:nvSpPr>
          <p:cNvPr id="34" name="Text 32"/>
          <p:cNvSpPr/>
          <p:nvPr/>
        </p:nvSpPr>
        <p:spPr>
          <a:xfrm>
            <a:off x="3733800" y="5787405"/>
            <a:ext cx="4129659"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The mechanism that uses the weakness</a:t>
            </a:r>
            <a:endParaRPr lang="en-US" sz="1800" dirty="0"/>
          </a:p>
        </p:txBody>
      </p:sp>
      <p:sp>
        <p:nvSpPr>
          <p:cNvPr id="35" name="Shape 33"/>
          <p:cNvSpPr/>
          <p:nvPr/>
        </p:nvSpPr>
        <p:spPr>
          <a:xfrm>
            <a:off x="7886700" y="5682630"/>
            <a:ext cx="9601200" cy="485775"/>
          </a:xfrm>
          <a:prstGeom prst="rect">
            <a:avLst/>
          </a:prstGeom>
          <a:solidFill>
            <a:srgbClr val="FFFFFF">
              <a:alpha val="2000"/>
            </a:srgbClr>
          </a:solidFill>
          <a:ln/>
        </p:spPr>
      </p:sp>
      <p:sp>
        <p:nvSpPr>
          <p:cNvPr id="36" name="Shape 34"/>
          <p:cNvSpPr/>
          <p:nvPr/>
        </p:nvSpPr>
        <p:spPr>
          <a:xfrm>
            <a:off x="7886700" y="6158880"/>
            <a:ext cx="9601200" cy="9525"/>
          </a:xfrm>
          <a:prstGeom prst="rect">
            <a:avLst/>
          </a:prstGeom>
          <a:solidFill>
            <a:srgbClr val="2A2F3A"/>
          </a:solidFill>
          <a:ln/>
        </p:spPr>
      </p:sp>
      <p:sp>
        <p:nvSpPr>
          <p:cNvPr id="37" name="Text 35"/>
          <p:cNvSpPr/>
          <p:nvPr/>
        </p:nvSpPr>
        <p:spPr>
          <a:xfrm>
            <a:off x="8039100" y="5787405"/>
            <a:ext cx="9584436"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Replacing the service binary and restarting the service to gain SYSTEM</a:t>
            </a:r>
            <a:endParaRPr lang="en-US" sz="1800" dirty="0"/>
          </a:p>
        </p:txBody>
      </p:sp>
      <p:sp>
        <p:nvSpPr>
          <p:cNvPr id="38" name="Shape 36"/>
          <p:cNvSpPr/>
          <p:nvPr/>
        </p:nvSpPr>
        <p:spPr>
          <a:xfrm>
            <a:off x="800100" y="6911355"/>
            <a:ext cx="2781300" cy="9525"/>
          </a:xfrm>
          <a:prstGeom prst="rect">
            <a:avLst/>
          </a:prstGeom>
          <a:solidFill>
            <a:srgbClr val="2A2F3A"/>
          </a:solidFill>
          <a:ln/>
        </p:spPr>
      </p:sp>
      <p:sp>
        <p:nvSpPr>
          <p:cNvPr id="39" name="Text 37"/>
          <p:cNvSpPr/>
          <p:nvPr/>
        </p:nvSpPr>
        <p:spPr>
          <a:xfrm>
            <a:off x="952500" y="6273180"/>
            <a:ext cx="2559939" cy="5715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Risk</a:t>
            </a:r>
            <a:endParaRPr lang="en-US" sz="1800" dirty="0"/>
          </a:p>
        </p:txBody>
      </p:sp>
      <p:sp>
        <p:nvSpPr>
          <p:cNvPr id="40" name="Shape 38"/>
          <p:cNvSpPr/>
          <p:nvPr/>
        </p:nvSpPr>
        <p:spPr>
          <a:xfrm>
            <a:off x="3581400" y="6911355"/>
            <a:ext cx="4305300" cy="9525"/>
          </a:xfrm>
          <a:prstGeom prst="rect">
            <a:avLst/>
          </a:prstGeom>
          <a:solidFill>
            <a:srgbClr val="2A2F3A"/>
          </a:solidFill>
          <a:ln/>
        </p:spPr>
      </p:sp>
      <p:sp>
        <p:nvSpPr>
          <p:cNvPr id="41" name="Text 39"/>
          <p:cNvSpPr/>
          <p:nvPr/>
        </p:nvSpPr>
        <p:spPr>
          <a:xfrm>
            <a:off x="3733800" y="6273180"/>
            <a:ext cx="4129659" cy="5715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Likelihood combined with impact, in context</a:t>
            </a:r>
            <a:endParaRPr lang="en-US" sz="1800" dirty="0"/>
          </a:p>
        </p:txBody>
      </p:sp>
      <p:sp>
        <p:nvSpPr>
          <p:cNvPr id="42" name="Shape 40"/>
          <p:cNvSpPr/>
          <p:nvPr/>
        </p:nvSpPr>
        <p:spPr>
          <a:xfrm>
            <a:off x="7886700" y="6911355"/>
            <a:ext cx="9601200" cy="9525"/>
          </a:xfrm>
          <a:prstGeom prst="rect">
            <a:avLst/>
          </a:prstGeom>
          <a:solidFill>
            <a:srgbClr val="2A2F3A"/>
          </a:solidFill>
          <a:ln/>
        </p:spPr>
      </p:sp>
      <p:sp>
        <p:nvSpPr>
          <p:cNvPr id="43" name="Text 41"/>
          <p:cNvSpPr/>
          <p:nvPr/>
        </p:nvSpPr>
        <p:spPr>
          <a:xfrm>
            <a:off x="8039100" y="6273180"/>
            <a:ext cx="9584436" cy="5715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High — the host stores the finance department's shared drive</a:t>
            </a:r>
            <a:endParaRPr lang="en-US" sz="1800" dirty="0"/>
          </a:p>
        </p:txBody>
      </p:sp>
      <p:sp>
        <p:nvSpPr>
          <p:cNvPr id="44" name="Text 42"/>
          <p:cNvSpPr/>
          <p:nvPr/>
        </p:nvSpPr>
        <p:spPr>
          <a:xfrm>
            <a:off x="800100" y="7173292"/>
            <a:ext cx="16344900" cy="369540"/>
          </a:xfrm>
          <a:prstGeom prst="rect">
            <a:avLst/>
          </a:prstGeom>
          <a:noFill/>
          <a:ln/>
        </p:spPr>
        <p:txBody>
          <a:bodyPr wrap="square" lIns="25400" tIns="25400" rIns="25400" bIns="25400" rtlCol="0" anchor="t">
            <a:normAutofit/>
          </a:bodyPr>
          <a:lstStyle/>
          <a:p>
            <a:pPr algn="l" indent="0" marL="0">
              <a:lnSpc>
                <a:spcPct val="126545"/>
              </a:lnSpc>
              <a:buNone/>
            </a:pPr>
            <a:r>
              <a:rPr lang="en-US" sz="1800" dirty="0">
                <a:solidFill>
                  <a:srgbClr val="B8C0CF"/>
                </a:solidFill>
                <a:latin typeface="Arial" pitchFamily="34" charset="0"/>
                <a:ea typeface="Arial" pitchFamily="34" charset="-122"/>
                <a:cs typeface="Arial" pitchFamily="34" charset="-120"/>
              </a:rPr>
              <a:t>One situation, four different statements. A report that collapses them into one loses the client's ability to prioritise.</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1740247"/>
            <a:ext cx="2959001"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1825972"/>
            <a:ext cx="2685821"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2.2 · Task 3 of 4</a:t>
            </a:r>
            <a:endParaRPr lang="en-US" sz="1500" dirty="0"/>
          </a:p>
        </p:txBody>
      </p:sp>
      <p:sp>
        <p:nvSpPr>
          <p:cNvPr id="5" name="Text 3"/>
          <p:cNvSpPr/>
          <p:nvPr/>
        </p:nvSpPr>
        <p:spPr>
          <a:xfrm>
            <a:off x="800100" y="2383185"/>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Classes of threat actor</a:t>
            </a:r>
            <a:endParaRPr lang="en-US" sz="3000" dirty="0"/>
          </a:p>
        </p:txBody>
      </p:sp>
      <p:sp>
        <p:nvSpPr>
          <p:cNvPr id="6" name="Text 4"/>
          <p:cNvSpPr/>
          <p:nvPr/>
        </p:nvSpPr>
        <p:spPr>
          <a:xfrm>
            <a:off x="800100" y="3049935"/>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The syllabus requires learners to list and describe the different classes of threat actor. They are separated by capability, resourcing, persistence and motivation — not by technical skill alone.</a:t>
            </a:r>
            <a:endParaRPr lang="en-US" sz="2175" dirty="0"/>
          </a:p>
        </p:txBody>
      </p:sp>
      <p:sp>
        <p:nvSpPr>
          <p:cNvPr id="7" name="Shape 5"/>
          <p:cNvSpPr/>
          <p:nvPr/>
        </p:nvSpPr>
        <p:spPr>
          <a:xfrm>
            <a:off x="800100" y="4098578"/>
            <a:ext cx="5435575" cy="2128838"/>
          </a:xfrm>
          <a:prstGeom prst="roundRect">
            <a:avLst>
              <a:gd name="adj" fmla="val 7159"/>
            </a:avLst>
          </a:prstGeom>
          <a:solidFill>
            <a:srgbClr val="FFFFFF">
              <a:alpha val="2000"/>
            </a:srgbClr>
          </a:solidFill>
          <a:ln w="9525">
            <a:solidFill>
              <a:srgbClr val="2A2F3A"/>
            </a:solidFill>
            <a:prstDash val="solid"/>
          </a:ln>
        </p:spPr>
      </p:sp>
      <p:sp>
        <p:nvSpPr>
          <p:cNvPr id="8" name="Text 6"/>
          <p:cNvSpPr/>
          <p:nvPr/>
        </p:nvSpPr>
        <p:spPr>
          <a:xfrm>
            <a:off x="1038225" y="4336703"/>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OPPORTUNISTIC</a:t>
            </a:r>
            <a:endParaRPr lang="en-US" sz="1500" dirty="0"/>
          </a:p>
        </p:txBody>
      </p:sp>
      <p:sp>
        <p:nvSpPr>
          <p:cNvPr id="9" name="Text 7"/>
          <p:cNvSpPr/>
          <p:nvPr/>
        </p:nvSpPr>
        <p:spPr>
          <a:xfrm>
            <a:off x="1038225" y="4655790"/>
            <a:ext cx="5108105" cy="137160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Low capability, broad targeting, automated tooling. Motivated by whatever is easily reachable — they do not choose you, they find you.</a:t>
            </a:r>
            <a:endParaRPr lang="en-US" sz="1875" dirty="0"/>
          </a:p>
        </p:txBody>
      </p:sp>
      <p:sp>
        <p:nvSpPr>
          <p:cNvPr id="10" name="Shape 8"/>
          <p:cNvSpPr/>
          <p:nvPr/>
        </p:nvSpPr>
        <p:spPr>
          <a:xfrm>
            <a:off x="6426175" y="4098578"/>
            <a:ext cx="5435575" cy="2128838"/>
          </a:xfrm>
          <a:prstGeom prst="roundRect">
            <a:avLst>
              <a:gd name="adj" fmla="val 7159"/>
            </a:avLst>
          </a:prstGeom>
          <a:solidFill>
            <a:srgbClr val="FFFFFF">
              <a:alpha val="2000"/>
            </a:srgbClr>
          </a:solidFill>
          <a:ln w="9525">
            <a:solidFill>
              <a:srgbClr val="2A2F3A"/>
            </a:solidFill>
            <a:prstDash val="solid"/>
          </a:ln>
        </p:spPr>
      </p:sp>
      <p:sp>
        <p:nvSpPr>
          <p:cNvPr id="11" name="Text 9"/>
          <p:cNvSpPr/>
          <p:nvPr/>
        </p:nvSpPr>
        <p:spPr>
          <a:xfrm>
            <a:off x="6664300" y="4336703"/>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ORGANISED CRIMINAL</a:t>
            </a:r>
            <a:endParaRPr lang="en-US" sz="1500" dirty="0"/>
          </a:p>
        </p:txBody>
      </p:sp>
      <p:sp>
        <p:nvSpPr>
          <p:cNvPr id="12" name="Text 10"/>
          <p:cNvSpPr/>
          <p:nvPr/>
        </p:nvSpPr>
        <p:spPr>
          <a:xfrm>
            <a:off x="6664300" y="4655790"/>
            <a:ext cx="5108105"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Well resourced and commercially motivated. Targeting is deliberate and driven by expected return; capability is bought as readily as built.</a:t>
            </a:r>
            <a:endParaRPr lang="en-US" sz="1875" dirty="0"/>
          </a:p>
        </p:txBody>
      </p:sp>
      <p:sp>
        <p:nvSpPr>
          <p:cNvPr id="13" name="Shape 11"/>
          <p:cNvSpPr/>
          <p:nvPr/>
        </p:nvSpPr>
        <p:spPr>
          <a:xfrm>
            <a:off x="12052250" y="4098578"/>
            <a:ext cx="5435650" cy="2128838"/>
          </a:xfrm>
          <a:prstGeom prst="roundRect">
            <a:avLst>
              <a:gd name="adj" fmla="val 7159"/>
            </a:avLst>
          </a:prstGeom>
          <a:solidFill>
            <a:srgbClr val="FFFFFF">
              <a:alpha val="2000"/>
            </a:srgbClr>
          </a:solidFill>
          <a:ln w="9525">
            <a:solidFill>
              <a:srgbClr val="2A2F3A"/>
            </a:solidFill>
            <a:prstDash val="solid"/>
          </a:ln>
        </p:spPr>
      </p:sp>
      <p:sp>
        <p:nvSpPr>
          <p:cNvPr id="14" name="Text 12"/>
          <p:cNvSpPr/>
          <p:nvPr/>
        </p:nvSpPr>
        <p:spPr>
          <a:xfrm>
            <a:off x="12290375" y="4336703"/>
            <a:ext cx="5455340"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STATE-SPONSORED</a:t>
            </a:r>
            <a:endParaRPr lang="en-US" sz="1500" dirty="0"/>
          </a:p>
        </p:txBody>
      </p:sp>
      <p:sp>
        <p:nvSpPr>
          <p:cNvPr id="15" name="Text 13"/>
          <p:cNvSpPr/>
          <p:nvPr/>
        </p:nvSpPr>
        <p:spPr>
          <a:xfrm>
            <a:off x="12290375" y="4655790"/>
            <a:ext cx="5108182" cy="137160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Highly resourced, patient, and objective-driven rather than profit-driven. Willing to spend months on a single target and to accept no immediate return.</a:t>
            </a:r>
            <a:endParaRPr lang="en-US" sz="1875" dirty="0"/>
          </a:p>
        </p:txBody>
      </p:sp>
      <p:sp>
        <p:nvSpPr>
          <p:cNvPr id="16" name="Shape 14"/>
          <p:cNvSpPr/>
          <p:nvPr/>
        </p:nvSpPr>
        <p:spPr>
          <a:xfrm>
            <a:off x="800100" y="6417915"/>
            <a:ext cx="5435575" cy="2128838"/>
          </a:xfrm>
          <a:prstGeom prst="roundRect">
            <a:avLst>
              <a:gd name="adj" fmla="val 7159"/>
            </a:avLst>
          </a:prstGeom>
          <a:solidFill>
            <a:srgbClr val="FFFFFF">
              <a:alpha val="2000"/>
            </a:srgbClr>
          </a:solidFill>
          <a:ln w="9525">
            <a:solidFill>
              <a:srgbClr val="2A2F3A"/>
            </a:solidFill>
            <a:prstDash val="solid"/>
          </a:ln>
        </p:spPr>
      </p:sp>
      <p:sp>
        <p:nvSpPr>
          <p:cNvPr id="17" name="Text 15"/>
          <p:cNvSpPr/>
          <p:nvPr/>
        </p:nvSpPr>
        <p:spPr>
          <a:xfrm>
            <a:off x="1038225" y="6656040"/>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INSIDER</a:t>
            </a:r>
            <a:endParaRPr lang="en-US" sz="1500" dirty="0"/>
          </a:p>
        </p:txBody>
      </p:sp>
      <p:sp>
        <p:nvSpPr>
          <p:cNvPr id="18" name="Text 16"/>
          <p:cNvSpPr/>
          <p:nvPr/>
        </p:nvSpPr>
        <p:spPr>
          <a:xfrm>
            <a:off x="1038225" y="6975128"/>
            <a:ext cx="5108105" cy="137160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Already inside the trust boundary, whether malicious or negligent. Requires no exploitation to obtain initial access, which defeats most perimeter reasoning.</a:t>
            </a:r>
            <a:endParaRPr lang="en-US" sz="1875" dirty="0"/>
          </a:p>
        </p:txBody>
      </p:sp>
      <p:sp>
        <p:nvSpPr>
          <p:cNvPr id="19" name="Shape 17"/>
          <p:cNvSpPr/>
          <p:nvPr/>
        </p:nvSpPr>
        <p:spPr>
          <a:xfrm>
            <a:off x="6426175" y="6417915"/>
            <a:ext cx="5435575" cy="2128838"/>
          </a:xfrm>
          <a:prstGeom prst="roundRect">
            <a:avLst>
              <a:gd name="adj" fmla="val 7159"/>
            </a:avLst>
          </a:prstGeom>
          <a:solidFill>
            <a:srgbClr val="FFFFFF">
              <a:alpha val="2000"/>
            </a:srgbClr>
          </a:solidFill>
          <a:ln w="9525">
            <a:solidFill>
              <a:srgbClr val="2A2F3A"/>
            </a:solidFill>
            <a:prstDash val="solid"/>
          </a:ln>
        </p:spPr>
      </p:sp>
      <p:sp>
        <p:nvSpPr>
          <p:cNvPr id="20" name="Text 18"/>
          <p:cNvSpPr/>
          <p:nvPr/>
        </p:nvSpPr>
        <p:spPr>
          <a:xfrm>
            <a:off x="6664300" y="6656040"/>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ACTIVIST</a:t>
            </a:r>
            <a:endParaRPr lang="en-US" sz="1500" dirty="0"/>
          </a:p>
        </p:txBody>
      </p:sp>
      <p:sp>
        <p:nvSpPr>
          <p:cNvPr id="21" name="Text 19"/>
          <p:cNvSpPr/>
          <p:nvPr/>
        </p:nvSpPr>
        <p:spPr>
          <a:xfrm>
            <a:off x="6664300" y="6975128"/>
            <a:ext cx="5108105" cy="137160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Motivated by cause rather than money. Objectives tend towards disruption, exposure and reputational damage rather than quiet persistence.</a:t>
            </a:r>
            <a:endParaRPr lang="en-US" sz="1875" dirty="0"/>
          </a:p>
        </p:txBody>
      </p:sp>
      <p:sp>
        <p:nvSpPr>
          <p:cNvPr id="22" name="Shape 20"/>
          <p:cNvSpPr/>
          <p:nvPr/>
        </p:nvSpPr>
        <p:spPr>
          <a:xfrm>
            <a:off x="12052250" y="6417915"/>
            <a:ext cx="5435650" cy="2128838"/>
          </a:xfrm>
          <a:prstGeom prst="roundRect">
            <a:avLst>
              <a:gd name="adj" fmla="val 7159"/>
            </a:avLst>
          </a:prstGeom>
          <a:solidFill>
            <a:srgbClr val="FFFFFF">
              <a:alpha val="2000"/>
            </a:srgbClr>
          </a:solidFill>
          <a:ln w="9525">
            <a:solidFill>
              <a:srgbClr val="2A2F3A"/>
            </a:solidFill>
            <a:prstDash val="solid"/>
          </a:ln>
        </p:spPr>
      </p:sp>
      <p:sp>
        <p:nvSpPr>
          <p:cNvPr id="23" name="Text 21"/>
          <p:cNvSpPr/>
          <p:nvPr/>
        </p:nvSpPr>
        <p:spPr>
          <a:xfrm>
            <a:off x="12290375" y="6656040"/>
            <a:ext cx="5455340"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AUTHORISED TESTER</a:t>
            </a:r>
            <a:endParaRPr lang="en-US" sz="1500" dirty="0"/>
          </a:p>
        </p:txBody>
      </p:sp>
      <p:sp>
        <p:nvSpPr>
          <p:cNvPr id="24" name="Text 22"/>
          <p:cNvSpPr/>
          <p:nvPr/>
        </p:nvSpPr>
        <p:spPr>
          <a:xfrm>
            <a:off x="12290375" y="6975128"/>
            <a:ext cx="5108182"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You. Same techniques, bounded by written scope and authorisation — the only class whose activity is lawful by agreement.</a:t>
            </a:r>
            <a:endParaRPr lang="en-US" sz="1875"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3048967"/>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DECISION AID</a:t>
            </a:r>
            <a:endParaRPr lang="en-US" sz="1650" dirty="0"/>
          </a:p>
        </p:txBody>
      </p:sp>
      <p:sp>
        <p:nvSpPr>
          <p:cNvPr id="4" name="Text 2"/>
          <p:cNvSpPr/>
          <p:nvPr/>
        </p:nvSpPr>
        <p:spPr>
          <a:xfrm>
            <a:off x="800100" y="3544267"/>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Which actor should a test simulate?</a:t>
            </a:r>
            <a:endParaRPr lang="en-US" sz="3000" dirty="0"/>
          </a:p>
        </p:txBody>
      </p:sp>
      <p:sp>
        <p:nvSpPr>
          <p:cNvPr id="5" name="Shape 3"/>
          <p:cNvSpPr/>
          <p:nvPr/>
        </p:nvSpPr>
        <p:spPr>
          <a:xfrm>
            <a:off x="800100" y="4211017"/>
            <a:ext cx="3162300" cy="500063"/>
          </a:xfrm>
          <a:prstGeom prst="rect">
            <a:avLst/>
          </a:prstGeom>
          <a:solidFill>
            <a:srgbClr val="FF6A00">
              <a:alpha val="18000"/>
            </a:srgbClr>
          </a:solidFill>
          <a:ln/>
        </p:spPr>
      </p:sp>
      <p:sp>
        <p:nvSpPr>
          <p:cNvPr id="6" name="Shape 4"/>
          <p:cNvSpPr/>
          <p:nvPr/>
        </p:nvSpPr>
        <p:spPr>
          <a:xfrm>
            <a:off x="800100" y="4701555"/>
            <a:ext cx="3162300" cy="9525"/>
          </a:xfrm>
          <a:prstGeom prst="rect">
            <a:avLst/>
          </a:prstGeom>
          <a:solidFill>
            <a:srgbClr val="B85100"/>
          </a:solidFill>
          <a:ln/>
        </p:spPr>
      </p:sp>
      <p:sp>
        <p:nvSpPr>
          <p:cNvPr id="7" name="Text 5"/>
          <p:cNvSpPr/>
          <p:nvPr/>
        </p:nvSpPr>
        <p:spPr>
          <a:xfrm>
            <a:off x="952500" y="4325317"/>
            <a:ext cx="2952369" cy="300038"/>
          </a:xfrm>
          <a:prstGeom prst="rect">
            <a:avLst/>
          </a:prstGeom>
          <a:noFill/>
          <a:ln/>
        </p:spPr>
        <p:txBody>
          <a:bodyPr wrap="square" lIns="25400" tIns="25400" rIns="25400" bIns="25400" rtlCol="0" anchor="ctr">
            <a:normAutofit/>
          </a:bodyPr>
          <a:lstStyle/>
          <a:p>
            <a:pPr algn="l" indent="0" marL="0">
              <a:buNone/>
            </a:pPr>
            <a:r>
              <a:rPr lang="en-US" sz="1800" b="1" dirty="0">
                <a:solidFill>
                  <a:srgbClr val="F5F7FB"/>
                </a:solidFill>
                <a:latin typeface="Arial" pitchFamily="34" charset="0"/>
                <a:ea typeface="Arial" pitchFamily="34" charset="-122"/>
                <a:cs typeface="Arial" pitchFamily="34" charset="-120"/>
              </a:rPr>
              <a:t>Actor class</a:t>
            </a:r>
            <a:endParaRPr lang="en-US" sz="1800" dirty="0"/>
          </a:p>
        </p:txBody>
      </p:sp>
      <p:sp>
        <p:nvSpPr>
          <p:cNvPr id="8" name="Shape 6"/>
          <p:cNvSpPr/>
          <p:nvPr/>
        </p:nvSpPr>
        <p:spPr>
          <a:xfrm>
            <a:off x="3962400" y="4211017"/>
            <a:ext cx="3162300" cy="500063"/>
          </a:xfrm>
          <a:prstGeom prst="rect">
            <a:avLst/>
          </a:prstGeom>
          <a:solidFill>
            <a:srgbClr val="FF6A00">
              <a:alpha val="18000"/>
            </a:srgbClr>
          </a:solidFill>
          <a:ln/>
        </p:spPr>
      </p:sp>
      <p:sp>
        <p:nvSpPr>
          <p:cNvPr id="9" name="Shape 7"/>
          <p:cNvSpPr/>
          <p:nvPr/>
        </p:nvSpPr>
        <p:spPr>
          <a:xfrm>
            <a:off x="3962400" y="4701555"/>
            <a:ext cx="3162300" cy="9525"/>
          </a:xfrm>
          <a:prstGeom prst="rect">
            <a:avLst/>
          </a:prstGeom>
          <a:solidFill>
            <a:srgbClr val="B85100"/>
          </a:solidFill>
          <a:ln/>
        </p:spPr>
      </p:sp>
      <p:sp>
        <p:nvSpPr>
          <p:cNvPr id="10" name="Text 8"/>
          <p:cNvSpPr/>
          <p:nvPr/>
        </p:nvSpPr>
        <p:spPr>
          <a:xfrm>
            <a:off x="4114800" y="4325317"/>
            <a:ext cx="2952369" cy="300038"/>
          </a:xfrm>
          <a:prstGeom prst="rect">
            <a:avLst/>
          </a:prstGeom>
          <a:noFill/>
          <a:ln/>
        </p:spPr>
        <p:txBody>
          <a:bodyPr wrap="square" lIns="25400" tIns="25400" rIns="25400" bIns="25400" rtlCol="0" anchor="ctr">
            <a:normAutofit/>
          </a:bodyPr>
          <a:lstStyle/>
          <a:p>
            <a:pPr algn="l" indent="0" marL="0">
              <a:buNone/>
            </a:pPr>
            <a:r>
              <a:rPr lang="en-US" sz="1800" b="1" dirty="0">
                <a:solidFill>
                  <a:srgbClr val="F5F7FB"/>
                </a:solidFill>
                <a:latin typeface="Arial" pitchFamily="34" charset="0"/>
                <a:ea typeface="Arial" pitchFamily="34" charset="-122"/>
                <a:cs typeface="Arial" pitchFamily="34" charset="-120"/>
              </a:rPr>
              <a:t>Defining variable</a:t>
            </a:r>
            <a:endParaRPr lang="en-US" sz="1800" dirty="0"/>
          </a:p>
        </p:txBody>
      </p:sp>
      <p:sp>
        <p:nvSpPr>
          <p:cNvPr id="11" name="Shape 9"/>
          <p:cNvSpPr/>
          <p:nvPr/>
        </p:nvSpPr>
        <p:spPr>
          <a:xfrm>
            <a:off x="7124700" y="4211017"/>
            <a:ext cx="10363200" cy="500063"/>
          </a:xfrm>
          <a:prstGeom prst="rect">
            <a:avLst/>
          </a:prstGeom>
          <a:solidFill>
            <a:srgbClr val="FF6A00">
              <a:alpha val="18000"/>
            </a:srgbClr>
          </a:solidFill>
          <a:ln/>
        </p:spPr>
      </p:sp>
      <p:sp>
        <p:nvSpPr>
          <p:cNvPr id="12" name="Shape 10"/>
          <p:cNvSpPr/>
          <p:nvPr/>
        </p:nvSpPr>
        <p:spPr>
          <a:xfrm>
            <a:off x="7124700" y="4701555"/>
            <a:ext cx="10363200" cy="9525"/>
          </a:xfrm>
          <a:prstGeom prst="rect">
            <a:avLst/>
          </a:prstGeom>
          <a:solidFill>
            <a:srgbClr val="B85100"/>
          </a:solidFill>
          <a:ln/>
        </p:spPr>
      </p:sp>
      <p:sp>
        <p:nvSpPr>
          <p:cNvPr id="13" name="Text 11"/>
          <p:cNvSpPr/>
          <p:nvPr/>
        </p:nvSpPr>
        <p:spPr>
          <a:xfrm>
            <a:off x="7277100" y="4325317"/>
            <a:ext cx="10369296" cy="300038"/>
          </a:xfrm>
          <a:prstGeom prst="rect">
            <a:avLst/>
          </a:prstGeom>
          <a:noFill/>
          <a:ln/>
        </p:spPr>
        <p:txBody>
          <a:bodyPr wrap="square" lIns="25400" tIns="25400" rIns="25400" bIns="25400" rtlCol="0" anchor="ctr">
            <a:normAutofit/>
          </a:bodyPr>
          <a:lstStyle/>
          <a:p>
            <a:pPr algn="l" indent="0" marL="0">
              <a:buNone/>
            </a:pPr>
            <a:r>
              <a:rPr lang="en-US" sz="1800" b="1" dirty="0">
                <a:solidFill>
                  <a:srgbClr val="F5F7FB"/>
                </a:solidFill>
                <a:latin typeface="Arial" pitchFamily="34" charset="0"/>
                <a:ea typeface="Arial" pitchFamily="34" charset="-122"/>
                <a:cs typeface="Arial" pitchFamily="34" charset="-120"/>
              </a:rPr>
              <a:t>What a test simulating them looks like</a:t>
            </a:r>
            <a:endParaRPr lang="en-US" sz="1800" dirty="0"/>
          </a:p>
        </p:txBody>
      </p:sp>
      <p:sp>
        <p:nvSpPr>
          <p:cNvPr id="14" name="Shape 12"/>
          <p:cNvSpPr/>
          <p:nvPr/>
        </p:nvSpPr>
        <p:spPr>
          <a:xfrm>
            <a:off x="800100" y="4711080"/>
            <a:ext cx="3162300" cy="485775"/>
          </a:xfrm>
          <a:prstGeom prst="rect">
            <a:avLst/>
          </a:prstGeom>
          <a:solidFill>
            <a:srgbClr val="FFFFFF">
              <a:alpha val="2000"/>
            </a:srgbClr>
          </a:solidFill>
          <a:ln/>
        </p:spPr>
      </p:sp>
      <p:sp>
        <p:nvSpPr>
          <p:cNvPr id="15" name="Shape 13"/>
          <p:cNvSpPr/>
          <p:nvPr/>
        </p:nvSpPr>
        <p:spPr>
          <a:xfrm>
            <a:off x="800100" y="5187330"/>
            <a:ext cx="3162300" cy="9525"/>
          </a:xfrm>
          <a:prstGeom prst="rect">
            <a:avLst/>
          </a:prstGeom>
          <a:solidFill>
            <a:srgbClr val="2A2F3A"/>
          </a:solidFill>
          <a:ln/>
        </p:spPr>
      </p:sp>
      <p:sp>
        <p:nvSpPr>
          <p:cNvPr id="16" name="Text 14"/>
          <p:cNvSpPr/>
          <p:nvPr/>
        </p:nvSpPr>
        <p:spPr>
          <a:xfrm>
            <a:off x="952500" y="4815855"/>
            <a:ext cx="2952369"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Opportunistic</a:t>
            </a:r>
            <a:endParaRPr lang="en-US" sz="1800" dirty="0"/>
          </a:p>
        </p:txBody>
      </p:sp>
      <p:sp>
        <p:nvSpPr>
          <p:cNvPr id="17" name="Shape 15"/>
          <p:cNvSpPr/>
          <p:nvPr/>
        </p:nvSpPr>
        <p:spPr>
          <a:xfrm>
            <a:off x="3962400" y="4711080"/>
            <a:ext cx="3162300" cy="485775"/>
          </a:xfrm>
          <a:prstGeom prst="rect">
            <a:avLst/>
          </a:prstGeom>
          <a:solidFill>
            <a:srgbClr val="FFFFFF">
              <a:alpha val="2000"/>
            </a:srgbClr>
          </a:solidFill>
          <a:ln/>
        </p:spPr>
      </p:sp>
      <p:sp>
        <p:nvSpPr>
          <p:cNvPr id="18" name="Shape 16"/>
          <p:cNvSpPr/>
          <p:nvPr/>
        </p:nvSpPr>
        <p:spPr>
          <a:xfrm>
            <a:off x="3962400" y="5187330"/>
            <a:ext cx="3162300" cy="9525"/>
          </a:xfrm>
          <a:prstGeom prst="rect">
            <a:avLst/>
          </a:prstGeom>
          <a:solidFill>
            <a:srgbClr val="2A2F3A"/>
          </a:solidFill>
          <a:ln/>
        </p:spPr>
      </p:sp>
      <p:sp>
        <p:nvSpPr>
          <p:cNvPr id="19" name="Text 17"/>
          <p:cNvSpPr/>
          <p:nvPr/>
        </p:nvSpPr>
        <p:spPr>
          <a:xfrm>
            <a:off x="4114800" y="4815855"/>
            <a:ext cx="2952369"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Automation, breadth</a:t>
            </a:r>
            <a:endParaRPr lang="en-US" sz="1800" dirty="0"/>
          </a:p>
        </p:txBody>
      </p:sp>
      <p:sp>
        <p:nvSpPr>
          <p:cNvPr id="20" name="Shape 18"/>
          <p:cNvSpPr/>
          <p:nvPr/>
        </p:nvSpPr>
        <p:spPr>
          <a:xfrm>
            <a:off x="7124700" y="4711080"/>
            <a:ext cx="10363200" cy="485775"/>
          </a:xfrm>
          <a:prstGeom prst="rect">
            <a:avLst/>
          </a:prstGeom>
          <a:solidFill>
            <a:srgbClr val="FFFFFF">
              <a:alpha val="2000"/>
            </a:srgbClr>
          </a:solidFill>
          <a:ln/>
        </p:spPr>
      </p:sp>
      <p:sp>
        <p:nvSpPr>
          <p:cNvPr id="21" name="Shape 19"/>
          <p:cNvSpPr/>
          <p:nvPr/>
        </p:nvSpPr>
        <p:spPr>
          <a:xfrm>
            <a:off x="7124700" y="5187330"/>
            <a:ext cx="10363200" cy="9525"/>
          </a:xfrm>
          <a:prstGeom prst="rect">
            <a:avLst/>
          </a:prstGeom>
          <a:solidFill>
            <a:srgbClr val="2A2F3A"/>
          </a:solidFill>
          <a:ln/>
        </p:spPr>
      </p:sp>
      <p:sp>
        <p:nvSpPr>
          <p:cNvPr id="22" name="Text 20"/>
          <p:cNvSpPr/>
          <p:nvPr/>
        </p:nvSpPr>
        <p:spPr>
          <a:xfrm>
            <a:off x="7277100" y="4815855"/>
            <a:ext cx="10369296"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Unauthenticated external scanning, known public exploits, default credentials</a:t>
            </a:r>
            <a:endParaRPr lang="en-US" sz="1800" dirty="0"/>
          </a:p>
        </p:txBody>
      </p:sp>
      <p:sp>
        <p:nvSpPr>
          <p:cNvPr id="23" name="Shape 21"/>
          <p:cNvSpPr/>
          <p:nvPr/>
        </p:nvSpPr>
        <p:spPr>
          <a:xfrm>
            <a:off x="800100" y="5673105"/>
            <a:ext cx="3162300" cy="9525"/>
          </a:xfrm>
          <a:prstGeom prst="rect">
            <a:avLst/>
          </a:prstGeom>
          <a:solidFill>
            <a:srgbClr val="2A2F3A"/>
          </a:solidFill>
          <a:ln/>
        </p:spPr>
      </p:sp>
      <p:sp>
        <p:nvSpPr>
          <p:cNvPr id="24" name="Text 22"/>
          <p:cNvSpPr/>
          <p:nvPr/>
        </p:nvSpPr>
        <p:spPr>
          <a:xfrm>
            <a:off x="952500" y="5301630"/>
            <a:ext cx="2952369"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Organised criminal</a:t>
            </a:r>
            <a:endParaRPr lang="en-US" sz="1800" dirty="0"/>
          </a:p>
        </p:txBody>
      </p:sp>
      <p:sp>
        <p:nvSpPr>
          <p:cNvPr id="25" name="Shape 23"/>
          <p:cNvSpPr/>
          <p:nvPr/>
        </p:nvSpPr>
        <p:spPr>
          <a:xfrm>
            <a:off x="3962400" y="5673105"/>
            <a:ext cx="3162300" cy="9525"/>
          </a:xfrm>
          <a:prstGeom prst="rect">
            <a:avLst/>
          </a:prstGeom>
          <a:solidFill>
            <a:srgbClr val="2A2F3A"/>
          </a:solidFill>
          <a:ln/>
        </p:spPr>
      </p:sp>
      <p:sp>
        <p:nvSpPr>
          <p:cNvPr id="26" name="Text 24"/>
          <p:cNvSpPr/>
          <p:nvPr/>
        </p:nvSpPr>
        <p:spPr>
          <a:xfrm>
            <a:off x="4114800" y="5301630"/>
            <a:ext cx="2952369"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Return on investment</a:t>
            </a:r>
            <a:endParaRPr lang="en-US" sz="1800" dirty="0"/>
          </a:p>
        </p:txBody>
      </p:sp>
      <p:sp>
        <p:nvSpPr>
          <p:cNvPr id="27" name="Shape 25"/>
          <p:cNvSpPr/>
          <p:nvPr/>
        </p:nvSpPr>
        <p:spPr>
          <a:xfrm>
            <a:off x="7124700" y="5673105"/>
            <a:ext cx="10363200" cy="9525"/>
          </a:xfrm>
          <a:prstGeom prst="rect">
            <a:avLst/>
          </a:prstGeom>
          <a:solidFill>
            <a:srgbClr val="2A2F3A"/>
          </a:solidFill>
          <a:ln/>
        </p:spPr>
      </p:sp>
      <p:sp>
        <p:nvSpPr>
          <p:cNvPr id="28" name="Text 26"/>
          <p:cNvSpPr/>
          <p:nvPr/>
        </p:nvSpPr>
        <p:spPr>
          <a:xfrm>
            <a:off x="7277100" y="5301630"/>
            <a:ext cx="10369296"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Phishing for initial access, credential attacks, rapid escalation towards monetisable data</a:t>
            </a:r>
            <a:endParaRPr lang="en-US" sz="1800" dirty="0"/>
          </a:p>
        </p:txBody>
      </p:sp>
      <p:sp>
        <p:nvSpPr>
          <p:cNvPr id="29" name="Shape 27"/>
          <p:cNvSpPr/>
          <p:nvPr/>
        </p:nvSpPr>
        <p:spPr>
          <a:xfrm>
            <a:off x="800100" y="5682630"/>
            <a:ext cx="3162300" cy="485775"/>
          </a:xfrm>
          <a:prstGeom prst="rect">
            <a:avLst/>
          </a:prstGeom>
          <a:solidFill>
            <a:srgbClr val="FFFFFF">
              <a:alpha val="2000"/>
            </a:srgbClr>
          </a:solidFill>
          <a:ln/>
        </p:spPr>
      </p:sp>
      <p:sp>
        <p:nvSpPr>
          <p:cNvPr id="30" name="Shape 28"/>
          <p:cNvSpPr/>
          <p:nvPr/>
        </p:nvSpPr>
        <p:spPr>
          <a:xfrm>
            <a:off x="800100" y="6158880"/>
            <a:ext cx="3162300" cy="9525"/>
          </a:xfrm>
          <a:prstGeom prst="rect">
            <a:avLst/>
          </a:prstGeom>
          <a:solidFill>
            <a:srgbClr val="2A2F3A"/>
          </a:solidFill>
          <a:ln/>
        </p:spPr>
      </p:sp>
      <p:sp>
        <p:nvSpPr>
          <p:cNvPr id="31" name="Text 29"/>
          <p:cNvSpPr/>
          <p:nvPr/>
        </p:nvSpPr>
        <p:spPr>
          <a:xfrm>
            <a:off x="952500" y="5787405"/>
            <a:ext cx="2952369"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State-sponsored</a:t>
            </a:r>
            <a:endParaRPr lang="en-US" sz="1800" dirty="0"/>
          </a:p>
        </p:txBody>
      </p:sp>
      <p:sp>
        <p:nvSpPr>
          <p:cNvPr id="32" name="Shape 30"/>
          <p:cNvSpPr/>
          <p:nvPr/>
        </p:nvSpPr>
        <p:spPr>
          <a:xfrm>
            <a:off x="3962400" y="5682630"/>
            <a:ext cx="3162300" cy="485775"/>
          </a:xfrm>
          <a:prstGeom prst="rect">
            <a:avLst/>
          </a:prstGeom>
          <a:solidFill>
            <a:srgbClr val="FFFFFF">
              <a:alpha val="2000"/>
            </a:srgbClr>
          </a:solidFill>
          <a:ln/>
        </p:spPr>
      </p:sp>
      <p:sp>
        <p:nvSpPr>
          <p:cNvPr id="33" name="Shape 31"/>
          <p:cNvSpPr/>
          <p:nvPr/>
        </p:nvSpPr>
        <p:spPr>
          <a:xfrm>
            <a:off x="3962400" y="6158880"/>
            <a:ext cx="3162300" cy="9525"/>
          </a:xfrm>
          <a:prstGeom prst="rect">
            <a:avLst/>
          </a:prstGeom>
          <a:solidFill>
            <a:srgbClr val="2A2F3A"/>
          </a:solidFill>
          <a:ln/>
        </p:spPr>
      </p:sp>
      <p:sp>
        <p:nvSpPr>
          <p:cNvPr id="34" name="Text 32"/>
          <p:cNvSpPr/>
          <p:nvPr/>
        </p:nvSpPr>
        <p:spPr>
          <a:xfrm>
            <a:off x="4114800" y="5787405"/>
            <a:ext cx="2952369"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Patience, resourcing</a:t>
            </a:r>
            <a:endParaRPr lang="en-US" sz="1800" dirty="0"/>
          </a:p>
        </p:txBody>
      </p:sp>
      <p:sp>
        <p:nvSpPr>
          <p:cNvPr id="35" name="Shape 33"/>
          <p:cNvSpPr/>
          <p:nvPr/>
        </p:nvSpPr>
        <p:spPr>
          <a:xfrm>
            <a:off x="7124700" y="5682630"/>
            <a:ext cx="10363200" cy="485775"/>
          </a:xfrm>
          <a:prstGeom prst="rect">
            <a:avLst/>
          </a:prstGeom>
          <a:solidFill>
            <a:srgbClr val="FFFFFF">
              <a:alpha val="2000"/>
            </a:srgbClr>
          </a:solidFill>
          <a:ln/>
        </p:spPr>
      </p:sp>
      <p:sp>
        <p:nvSpPr>
          <p:cNvPr id="36" name="Shape 34"/>
          <p:cNvSpPr/>
          <p:nvPr/>
        </p:nvSpPr>
        <p:spPr>
          <a:xfrm>
            <a:off x="7124700" y="6158880"/>
            <a:ext cx="10363200" cy="9525"/>
          </a:xfrm>
          <a:prstGeom prst="rect">
            <a:avLst/>
          </a:prstGeom>
          <a:solidFill>
            <a:srgbClr val="2A2F3A"/>
          </a:solidFill>
          <a:ln/>
        </p:spPr>
      </p:sp>
      <p:sp>
        <p:nvSpPr>
          <p:cNvPr id="37" name="Text 35"/>
          <p:cNvSpPr/>
          <p:nvPr/>
        </p:nvSpPr>
        <p:spPr>
          <a:xfrm>
            <a:off x="7277100" y="5787405"/>
            <a:ext cx="10369296"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Quiet enumeration, evasion, long-dwell persistence and lateral movement</a:t>
            </a:r>
            <a:endParaRPr lang="en-US" sz="1800" dirty="0"/>
          </a:p>
        </p:txBody>
      </p:sp>
      <p:sp>
        <p:nvSpPr>
          <p:cNvPr id="38" name="Shape 36"/>
          <p:cNvSpPr/>
          <p:nvPr/>
        </p:nvSpPr>
        <p:spPr>
          <a:xfrm>
            <a:off x="800100" y="6644655"/>
            <a:ext cx="3162300" cy="9525"/>
          </a:xfrm>
          <a:prstGeom prst="rect">
            <a:avLst/>
          </a:prstGeom>
          <a:solidFill>
            <a:srgbClr val="2A2F3A"/>
          </a:solidFill>
          <a:ln/>
        </p:spPr>
      </p:sp>
      <p:sp>
        <p:nvSpPr>
          <p:cNvPr id="39" name="Text 37"/>
          <p:cNvSpPr/>
          <p:nvPr/>
        </p:nvSpPr>
        <p:spPr>
          <a:xfrm>
            <a:off x="952500" y="6273180"/>
            <a:ext cx="2952369"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Insider</a:t>
            </a:r>
            <a:endParaRPr lang="en-US" sz="1800" dirty="0"/>
          </a:p>
        </p:txBody>
      </p:sp>
      <p:sp>
        <p:nvSpPr>
          <p:cNvPr id="40" name="Shape 38"/>
          <p:cNvSpPr/>
          <p:nvPr/>
        </p:nvSpPr>
        <p:spPr>
          <a:xfrm>
            <a:off x="3962400" y="6644655"/>
            <a:ext cx="3162300" cy="9525"/>
          </a:xfrm>
          <a:prstGeom prst="rect">
            <a:avLst/>
          </a:prstGeom>
          <a:solidFill>
            <a:srgbClr val="2A2F3A"/>
          </a:solidFill>
          <a:ln/>
        </p:spPr>
      </p:sp>
      <p:sp>
        <p:nvSpPr>
          <p:cNvPr id="41" name="Text 39"/>
          <p:cNvSpPr/>
          <p:nvPr/>
        </p:nvSpPr>
        <p:spPr>
          <a:xfrm>
            <a:off x="4114800" y="6273180"/>
            <a:ext cx="2952369"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Pre-existing trust</a:t>
            </a:r>
            <a:endParaRPr lang="en-US" sz="1800" dirty="0"/>
          </a:p>
        </p:txBody>
      </p:sp>
      <p:sp>
        <p:nvSpPr>
          <p:cNvPr id="42" name="Shape 40"/>
          <p:cNvSpPr/>
          <p:nvPr/>
        </p:nvSpPr>
        <p:spPr>
          <a:xfrm>
            <a:off x="7124700" y="6644655"/>
            <a:ext cx="10363200" cy="9525"/>
          </a:xfrm>
          <a:prstGeom prst="rect">
            <a:avLst/>
          </a:prstGeom>
          <a:solidFill>
            <a:srgbClr val="2A2F3A"/>
          </a:solidFill>
          <a:ln/>
        </p:spPr>
      </p:sp>
      <p:sp>
        <p:nvSpPr>
          <p:cNvPr id="43" name="Text 41"/>
          <p:cNvSpPr/>
          <p:nvPr/>
        </p:nvSpPr>
        <p:spPr>
          <a:xfrm>
            <a:off x="7277100" y="6273180"/>
            <a:ext cx="10369296"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Assumed-breach start: begin with valid credentials and test what they reach</a:t>
            </a:r>
            <a:endParaRPr lang="en-US" sz="1800" dirty="0"/>
          </a:p>
        </p:txBody>
      </p:sp>
      <p:sp>
        <p:nvSpPr>
          <p:cNvPr id="44" name="Text 42"/>
          <p:cNvSpPr/>
          <p:nvPr/>
        </p:nvSpPr>
        <p:spPr>
          <a:xfrm>
            <a:off x="800100" y="6906592"/>
            <a:ext cx="16344900" cy="369540"/>
          </a:xfrm>
          <a:prstGeom prst="rect">
            <a:avLst/>
          </a:prstGeom>
          <a:noFill/>
          <a:ln/>
        </p:spPr>
        <p:txBody>
          <a:bodyPr wrap="square" lIns="25400" tIns="25400" rIns="25400" bIns="25400" rtlCol="0" anchor="t">
            <a:normAutofit/>
          </a:bodyPr>
          <a:lstStyle/>
          <a:p>
            <a:pPr algn="l" indent="0" marL="0">
              <a:lnSpc>
                <a:spcPct val="126545"/>
              </a:lnSpc>
              <a:buNone/>
            </a:pPr>
            <a:r>
              <a:rPr lang="en-US" sz="1800" dirty="0">
                <a:solidFill>
                  <a:srgbClr val="B8C0CF"/>
                </a:solidFill>
                <a:latin typeface="Arial" pitchFamily="34" charset="0"/>
                <a:ea typeface="Arial" pitchFamily="34" charset="-122"/>
                <a:cs typeface="Arial" pitchFamily="34" charset="-120"/>
              </a:rPr>
              <a:t>Agreeing the actor model with the client before testing is what makes a result meaningful rather than merely technical.</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066604"/>
            <a:ext cx="2962573"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152329"/>
            <a:ext cx="2689500"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2.2 · Task 4 of 4</a:t>
            </a:r>
            <a:endParaRPr lang="en-US" sz="1500" dirty="0"/>
          </a:p>
        </p:txBody>
      </p:sp>
      <p:sp>
        <p:nvSpPr>
          <p:cNvPr id="5" name="Text 3"/>
          <p:cNvSpPr/>
          <p:nvPr/>
        </p:nvSpPr>
        <p:spPr>
          <a:xfrm>
            <a:off x="800100" y="3709541"/>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Recognising recent attacks</a:t>
            </a:r>
            <a:endParaRPr lang="en-US" sz="3000" dirty="0"/>
          </a:p>
        </p:txBody>
      </p:sp>
      <p:sp>
        <p:nvSpPr>
          <p:cNvPr id="6" name="Text 4"/>
          <p:cNvSpPr/>
          <p:nvPr/>
        </p:nvSpPr>
        <p:spPr>
          <a:xfrm>
            <a:off x="800100" y="4376291"/>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The syllabus asks learners to recognise recent cybersecurity attacks. Named incident detail is not defined in the official exam outline, so the durable skill is pattern recognition: reading a public incident and extracting its structure.</a:t>
            </a:r>
            <a:endParaRPr lang="en-US" sz="2175" dirty="0"/>
          </a:p>
        </p:txBody>
      </p:sp>
      <p:sp>
        <p:nvSpPr>
          <p:cNvPr id="7" name="Shape 5"/>
          <p:cNvSpPr/>
          <p:nvPr/>
        </p:nvSpPr>
        <p:spPr>
          <a:xfrm>
            <a:off x="800100"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8" name="Text 6"/>
          <p:cNvSpPr/>
          <p:nvPr/>
        </p:nvSpPr>
        <p:spPr>
          <a:xfrm>
            <a:off x="1038225"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RECURRING PATTERNS</a:t>
            </a:r>
            <a:endParaRPr lang="en-US" sz="1500" dirty="0"/>
          </a:p>
        </p:txBody>
      </p:sp>
      <p:sp>
        <p:nvSpPr>
          <p:cNvPr id="9" name="Text 7"/>
          <p:cNvSpPr/>
          <p:nvPr/>
        </p:nvSpPr>
        <p:spPr>
          <a:xfrm>
            <a:off x="1038225" y="5982146"/>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Initial access through a person or an exposed service; credential reuse to move sideways; escalation to a privileged account; then either data theft or disruption. Almost every published incident fits this shape.</a:t>
            </a:r>
            <a:endParaRPr lang="en-US" sz="1875" dirty="0"/>
          </a:p>
        </p:txBody>
      </p:sp>
      <p:sp>
        <p:nvSpPr>
          <p:cNvPr id="10" name="Shape 8"/>
          <p:cNvSpPr/>
          <p:nvPr/>
        </p:nvSpPr>
        <p:spPr>
          <a:xfrm>
            <a:off x="9248775"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11" name="Text 9"/>
          <p:cNvSpPr/>
          <p:nvPr/>
        </p:nvSpPr>
        <p:spPr>
          <a:xfrm>
            <a:off x="9486900"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METHOD</a:t>
            </a:r>
            <a:endParaRPr lang="en-US" sz="1500" dirty="0"/>
          </a:p>
        </p:txBody>
      </p:sp>
      <p:sp>
        <p:nvSpPr>
          <p:cNvPr id="12" name="Text 10"/>
          <p:cNvSpPr/>
          <p:nvPr/>
        </p:nvSpPr>
        <p:spPr>
          <a:xfrm>
            <a:off x="9486900" y="5982146"/>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For any incident, ask four questions: how did they get in, how did they move, what did they reach, and which control would have stopped it earliest? The answers map directly onto Modules 5 to 22.</a:t>
            </a:r>
            <a:endParaRPr lang="en-US" sz="1875"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3664744"/>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OBJECTIVE 2.2 RECAP</a:t>
            </a:r>
            <a:endParaRPr lang="en-US" sz="1650" dirty="0"/>
          </a:p>
        </p:txBody>
      </p:sp>
      <p:sp>
        <p:nvSpPr>
          <p:cNvPr id="4" name="Text 2"/>
          <p:cNvSpPr/>
          <p:nvPr/>
        </p:nvSpPr>
        <p:spPr>
          <a:xfrm>
            <a:off x="800100" y="4160044"/>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Threats and Threat Actors — what you should now hold</a:t>
            </a:r>
            <a:endParaRPr lang="en-US" sz="3000" dirty="0"/>
          </a:p>
        </p:txBody>
      </p:sp>
      <p:sp>
        <p:nvSpPr>
          <p:cNvPr id="5" name="Shape 3"/>
          <p:cNvSpPr/>
          <p:nvPr/>
        </p:nvSpPr>
        <p:spPr>
          <a:xfrm>
            <a:off x="800100" y="4826794"/>
            <a:ext cx="5435575" cy="1795463"/>
          </a:xfrm>
          <a:prstGeom prst="roundRect">
            <a:avLst>
              <a:gd name="adj" fmla="val 8488"/>
            </a:avLst>
          </a:prstGeom>
          <a:solidFill>
            <a:srgbClr val="FFFFFF">
              <a:alpha val="2000"/>
            </a:srgbClr>
          </a:solidFill>
          <a:ln w="9525">
            <a:solidFill>
              <a:srgbClr val="2A2F3A"/>
            </a:solidFill>
            <a:prstDash val="solid"/>
          </a:ln>
        </p:spPr>
      </p:sp>
      <p:sp>
        <p:nvSpPr>
          <p:cNvPr id="6" name="Text 4"/>
          <p:cNvSpPr/>
          <p:nvPr/>
        </p:nvSpPr>
        <p:spPr>
          <a:xfrm>
            <a:off x="1038225" y="5064919"/>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CO-EVOLUTION</a:t>
            </a:r>
            <a:endParaRPr lang="en-US" sz="1500" dirty="0"/>
          </a:p>
        </p:txBody>
      </p:sp>
      <p:sp>
        <p:nvSpPr>
          <p:cNvPr id="7" name="Text 5"/>
          <p:cNvSpPr/>
          <p:nvPr/>
        </p:nvSpPr>
        <p:spPr>
          <a:xfrm>
            <a:off x="1038225" y="5384006"/>
            <a:ext cx="5108105"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Attack produces control, control produces evasion, evasion produces detection. Neither side develops alone.</a:t>
            </a:r>
            <a:endParaRPr lang="en-US" sz="1875" dirty="0"/>
          </a:p>
        </p:txBody>
      </p:sp>
      <p:sp>
        <p:nvSpPr>
          <p:cNvPr id="8" name="Shape 6"/>
          <p:cNvSpPr/>
          <p:nvPr/>
        </p:nvSpPr>
        <p:spPr>
          <a:xfrm>
            <a:off x="6426175" y="4826794"/>
            <a:ext cx="5435575" cy="1795463"/>
          </a:xfrm>
          <a:prstGeom prst="roundRect">
            <a:avLst>
              <a:gd name="adj" fmla="val 8488"/>
            </a:avLst>
          </a:prstGeom>
          <a:solidFill>
            <a:srgbClr val="FFFFFF">
              <a:alpha val="2000"/>
            </a:srgbClr>
          </a:solidFill>
          <a:ln w="9525">
            <a:solidFill>
              <a:srgbClr val="2A2F3A"/>
            </a:solidFill>
            <a:prstDash val="solid"/>
          </a:ln>
        </p:spPr>
      </p:sp>
      <p:sp>
        <p:nvSpPr>
          <p:cNvPr id="9" name="Text 7"/>
          <p:cNvSpPr/>
          <p:nvPr/>
        </p:nvSpPr>
        <p:spPr>
          <a:xfrm>
            <a:off x="6664300" y="5064919"/>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FOUR TERMS</a:t>
            </a:r>
            <a:endParaRPr lang="en-US" sz="1500" dirty="0"/>
          </a:p>
        </p:txBody>
      </p:sp>
      <p:sp>
        <p:nvSpPr>
          <p:cNvPr id="10" name="Text 8"/>
          <p:cNvSpPr/>
          <p:nvPr/>
        </p:nvSpPr>
        <p:spPr>
          <a:xfrm>
            <a:off x="6664300" y="5384006"/>
            <a:ext cx="5108105"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Threat, vulnerability, exploit and risk describe one situation from four angles, and are not interchangeable.</a:t>
            </a:r>
            <a:endParaRPr lang="en-US" sz="1875" dirty="0"/>
          </a:p>
        </p:txBody>
      </p:sp>
      <p:sp>
        <p:nvSpPr>
          <p:cNvPr id="11" name="Shape 9"/>
          <p:cNvSpPr/>
          <p:nvPr/>
        </p:nvSpPr>
        <p:spPr>
          <a:xfrm>
            <a:off x="12052250" y="4826794"/>
            <a:ext cx="5435650" cy="1795463"/>
          </a:xfrm>
          <a:prstGeom prst="roundRect">
            <a:avLst>
              <a:gd name="adj" fmla="val 8488"/>
            </a:avLst>
          </a:prstGeom>
          <a:solidFill>
            <a:srgbClr val="FFFFFF">
              <a:alpha val="2000"/>
            </a:srgbClr>
          </a:solidFill>
          <a:ln w="9525">
            <a:solidFill>
              <a:srgbClr val="2A2F3A"/>
            </a:solidFill>
            <a:prstDash val="solid"/>
          </a:ln>
        </p:spPr>
      </p:sp>
      <p:sp>
        <p:nvSpPr>
          <p:cNvPr id="12" name="Text 10"/>
          <p:cNvSpPr/>
          <p:nvPr/>
        </p:nvSpPr>
        <p:spPr>
          <a:xfrm>
            <a:off x="12290375" y="5064919"/>
            <a:ext cx="5455340"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ACTOR CLASSES</a:t>
            </a:r>
            <a:endParaRPr lang="en-US" sz="1500" dirty="0"/>
          </a:p>
        </p:txBody>
      </p:sp>
      <p:sp>
        <p:nvSpPr>
          <p:cNvPr id="13" name="Text 11"/>
          <p:cNvSpPr/>
          <p:nvPr/>
        </p:nvSpPr>
        <p:spPr>
          <a:xfrm>
            <a:off x="12290375" y="5384006"/>
            <a:ext cx="5108182"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Separated by capability, resourcing, persistence and motivation — and the chosen class determines what a test should simulate.</a:t>
            </a:r>
            <a:endParaRPr lang="en-US" sz="1875"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100019" y="4091955"/>
            <a:ext cx="2087887" cy="285750"/>
          </a:xfrm>
          <a:prstGeom prst="rect">
            <a:avLst/>
          </a:prstGeom>
          <a:noFill/>
          <a:ln/>
        </p:spPr>
        <p:txBody>
          <a:bodyPr wrap="square" lIns="25400" tIns="25400" rIns="25400" bIns="25400" rtlCol="0" anchor="t">
            <a:normAutofit/>
          </a:bodyPr>
          <a:lstStyle/>
          <a:p>
            <a:pPr algn="ctr" indent="0" marL="0">
              <a:buNone/>
            </a:pPr>
            <a:r>
              <a:rPr lang="en-US" sz="1650" b="1" spc="225" kern="0" dirty="0">
                <a:solidFill>
                  <a:srgbClr val="FF6A00"/>
                </a:solidFill>
                <a:latin typeface="Arial" pitchFamily="34" charset="0"/>
                <a:ea typeface="Arial" pitchFamily="34" charset="-122"/>
                <a:cs typeface="Arial" pitchFamily="34" charset="-120"/>
              </a:rPr>
              <a:t>OBJECTIVE 2.3</a:t>
            </a:r>
            <a:endParaRPr lang="en-US" sz="1650" dirty="0"/>
          </a:p>
        </p:txBody>
      </p:sp>
      <p:sp>
        <p:nvSpPr>
          <p:cNvPr id="4" name="Text 2"/>
          <p:cNvSpPr/>
          <p:nvPr/>
        </p:nvSpPr>
        <p:spPr>
          <a:xfrm>
            <a:off x="6230027" y="4606305"/>
            <a:ext cx="5827946" cy="918195"/>
          </a:xfrm>
          <a:prstGeom prst="rect">
            <a:avLst/>
          </a:prstGeom>
          <a:noFill/>
          <a:ln/>
        </p:spPr>
        <p:txBody>
          <a:bodyPr wrap="square" lIns="25400" tIns="25400" rIns="25400" bIns="25400" rtlCol="0" anchor="t">
            <a:normAutofit/>
          </a:bodyPr>
          <a:lstStyle/>
          <a:p>
            <a:pPr algn="ctr" indent="0" marL="0">
              <a:lnSpc>
                <a:spcPct val="91485"/>
              </a:lnSpc>
              <a:buNone/>
            </a:pPr>
            <a:r>
              <a:rPr lang="en-US" sz="6600" b="1" spc="-37" kern="0" dirty="0">
                <a:solidFill>
                  <a:srgbClr val="F5F7FB"/>
                </a:solidFill>
                <a:latin typeface="Arial" pitchFamily="34" charset="0"/>
                <a:ea typeface="Arial" pitchFamily="34" charset="-122"/>
                <a:cs typeface="Arial" pitchFamily="34" charset="-120"/>
              </a:rPr>
              <a:t>The CIA Triad</a:t>
            </a:r>
            <a:endParaRPr lang="en-US" sz="6600" dirty="0"/>
          </a:p>
        </p:txBody>
      </p:sp>
      <p:sp>
        <p:nvSpPr>
          <p:cNvPr id="5" name="Text 3"/>
          <p:cNvSpPr/>
          <p:nvPr/>
        </p:nvSpPr>
        <p:spPr>
          <a:xfrm>
            <a:off x="2690433" y="5753100"/>
            <a:ext cx="12907134" cy="480045"/>
          </a:xfrm>
          <a:prstGeom prst="rect">
            <a:avLst/>
          </a:prstGeom>
          <a:noFill/>
          <a:ln/>
        </p:spPr>
        <p:txBody>
          <a:bodyPr wrap="square" lIns="25400" tIns="25400" rIns="25400" bIns="25400" rtlCol="0" anchor="t">
            <a:normAutofit/>
          </a:bodyPr>
          <a:lstStyle/>
          <a:p>
            <a:pPr algn="ctr" indent="0" marL="0">
              <a:lnSpc>
                <a:spcPct val="125405"/>
              </a:lnSpc>
              <a:buNone/>
            </a:pPr>
            <a:r>
              <a:rPr lang="en-US" sz="2400" dirty="0">
                <a:solidFill>
                  <a:srgbClr val="B8C0CF"/>
                </a:solidFill>
                <a:latin typeface="Arial" pitchFamily="34" charset="0"/>
                <a:ea typeface="Arial" pitchFamily="34" charset="-122"/>
                <a:cs typeface="Arial" pitchFamily="34" charset="-120"/>
              </a:rPr>
              <a:t>Why it matters to protect the confidentiality, the integrity, and the availability of information.</a:t>
            </a:r>
            <a:endParaRPr lang="en-US"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066604"/>
            <a:ext cx="2927375"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152329"/>
            <a:ext cx="2653246"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2.3 · Task 1 of 3</a:t>
            </a:r>
            <a:endParaRPr lang="en-US" sz="1500" dirty="0"/>
          </a:p>
        </p:txBody>
      </p:sp>
      <p:sp>
        <p:nvSpPr>
          <p:cNvPr id="5" name="Text 3"/>
          <p:cNvSpPr/>
          <p:nvPr/>
        </p:nvSpPr>
        <p:spPr>
          <a:xfrm>
            <a:off x="800100" y="3709541"/>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Confidentiality</a:t>
            </a:r>
            <a:endParaRPr lang="en-US" sz="3000" dirty="0"/>
          </a:p>
        </p:txBody>
      </p:sp>
      <p:sp>
        <p:nvSpPr>
          <p:cNvPr id="6" name="Text 4"/>
          <p:cNvSpPr/>
          <p:nvPr/>
        </p:nvSpPr>
        <p:spPr>
          <a:xfrm>
            <a:off x="800100" y="4376291"/>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Confidentiality is the property that information is disclosed only to those authorised to see it. It is the leg of the triad most penetration tests are commissioned to attack, because unauthorised disclosure is the easiest harm to demonstrate.</a:t>
            </a:r>
            <a:endParaRPr lang="en-US" sz="2175" dirty="0"/>
          </a:p>
        </p:txBody>
      </p:sp>
      <p:sp>
        <p:nvSpPr>
          <p:cNvPr id="7" name="Shape 5"/>
          <p:cNvSpPr/>
          <p:nvPr/>
        </p:nvSpPr>
        <p:spPr>
          <a:xfrm>
            <a:off x="800100"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8" name="Text 6"/>
          <p:cNvSpPr/>
          <p:nvPr/>
        </p:nvSpPr>
        <p:spPr>
          <a:xfrm>
            <a:off x="1038225"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HOW IT FAILS</a:t>
            </a:r>
            <a:endParaRPr lang="en-US" sz="1500" dirty="0"/>
          </a:p>
        </p:txBody>
      </p:sp>
      <p:sp>
        <p:nvSpPr>
          <p:cNvPr id="9" name="Text 7"/>
          <p:cNvSpPr/>
          <p:nvPr/>
        </p:nvSpPr>
        <p:spPr>
          <a:xfrm>
            <a:off x="1038225" y="5982146"/>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Weak access control, exposed services, credential compromise, and information disclosure through error messages or source code — all covered from Module 5 onwards.</a:t>
            </a:r>
            <a:endParaRPr lang="en-US" sz="1875" dirty="0"/>
          </a:p>
        </p:txBody>
      </p:sp>
      <p:sp>
        <p:nvSpPr>
          <p:cNvPr id="10" name="Shape 8"/>
          <p:cNvSpPr/>
          <p:nvPr/>
        </p:nvSpPr>
        <p:spPr>
          <a:xfrm>
            <a:off x="9248775"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11" name="Text 9"/>
          <p:cNvSpPr/>
          <p:nvPr/>
        </p:nvSpPr>
        <p:spPr>
          <a:xfrm>
            <a:off x="9486900"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EVIDENCE TO LOOK FOR</a:t>
            </a:r>
            <a:endParaRPr lang="en-US" sz="1500" dirty="0"/>
          </a:p>
        </p:txBody>
      </p:sp>
      <p:sp>
        <p:nvSpPr>
          <p:cNvPr id="12" name="Text 10"/>
          <p:cNvSpPr/>
          <p:nvPr/>
        </p:nvSpPr>
        <p:spPr>
          <a:xfrm>
            <a:off x="9486900" y="5982146"/>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Data reachable without authentication, or reachable by an account that should not hold it. Both are confidentiality failures even if nothing was taken.</a:t>
            </a:r>
            <a:endParaRPr lang="en-US" sz="1875"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066604"/>
            <a:ext cx="2951708"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152329"/>
            <a:ext cx="2678309"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2.3 · Task 2 of 3</a:t>
            </a:r>
            <a:endParaRPr lang="en-US" sz="1500" dirty="0"/>
          </a:p>
        </p:txBody>
      </p:sp>
      <p:sp>
        <p:nvSpPr>
          <p:cNvPr id="5" name="Text 3"/>
          <p:cNvSpPr/>
          <p:nvPr/>
        </p:nvSpPr>
        <p:spPr>
          <a:xfrm>
            <a:off x="800100" y="3709541"/>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Integrity</a:t>
            </a:r>
            <a:endParaRPr lang="en-US" sz="3000" dirty="0"/>
          </a:p>
        </p:txBody>
      </p:sp>
      <p:sp>
        <p:nvSpPr>
          <p:cNvPr id="6" name="Text 4"/>
          <p:cNvSpPr/>
          <p:nvPr/>
        </p:nvSpPr>
        <p:spPr>
          <a:xfrm>
            <a:off x="800100" y="4376291"/>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Integrity is the property that information is accurate and has not been altered except by authorised action. Its failures are quieter than disclosure and frequently more damaging, because the data remains present while being wrong.</a:t>
            </a:r>
            <a:endParaRPr lang="en-US" sz="2175" dirty="0"/>
          </a:p>
        </p:txBody>
      </p:sp>
      <p:sp>
        <p:nvSpPr>
          <p:cNvPr id="7" name="Shape 5"/>
          <p:cNvSpPr/>
          <p:nvPr/>
        </p:nvSpPr>
        <p:spPr>
          <a:xfrm>
            <a:off x="800100"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8" name="Text 6"/>
          <p:cNvSpPr/>
          <p:nvPr/>
        </p:nvSpPr>
        <p:spPr>
          <a:xfrm>
            <a:off x="1038225"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WHY IT MATTERS</a:t>
            </a:r>
            <a:endParaRPr lang="en-US" sz="1500" dirty="0"/>
          </a:p>
        </p:txBody>
      </p:sp>
      <p:sp>
        <p:nvSpPr>
          <p:cNvPr id="9" name="Text 7"/>
          <p:cNvSpPr/>
          <p:nvPr/>
        </p:nvSpPr>
        <p:spPr>
          <a:xfrm>
            <a:off x="1038225" y="5982146"/>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A client can recover from stolen data. Recovering from silently modified data means distrusting every record produced since the compromise, often without knowing when it started.</a:t>
            </a:r>
            <a:endParaRPr lang="en-US" sz="1875" dirty="0"/>
          </a:p>
        </p:txBody>
      </p:sp>
      <p:sp>
        <p:nvSpPr>
          <p:cNvPr id="10" name="Shape 8"/>
          <p:cNvSpPr/>
          <p:nvPr/>
        </p:nvSpPr>
        <p:spPr>
          <a:xfrm>
            <a:off x="9248775"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11" name="Text 9"/>
          <p:cNvSpPr/>
          <p:nvPr/>
        </p:nvSpPr>
        <p:spPr>
          <a:xfrm>
            <a:off x="9486900"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HOW IT FAILS</a:t>
            </a:r>
            <a:endParaRPr lang="en-US" sz="1500" dirty="0"/>
          </a:p>
        </p:txBody>
      </p:sp>
      <p:sp>
        <p:nvSpPr>
          <p:cNvPr id="12" name="Text 10"/>
          <p:cNvSpPr/>
          <p:nvPr/>
        </p:nvSpPr>
        <p:spPr>
          <a:xfrm>
            <a:off x="9486900" y="5982146"/>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Injection flaws that write as well as read (Module 9), file upload leading to code execution (Module 8), and privileged access allowing arbitrary modification (Modules 15 and 16).</a:t>
            </a:r>
            <a:endParaRPr lang="en-US" sz="1875"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066604"/>
            <a:ext cx="2956768"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152329"/>
            <a:ext cx="2683521"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2.3 · Task 3 of 3</a:t>
            </a:r>
            <a:endParaRPr lang="en-US" sz="1500" dirty="0"/>
          </a:p>
        </p:txBody>
      </p:sp>
      <p:sp>
        <p:nvSpPr>
          <p:cNvPr id="5" name="Text 3"/>
          <p:cNvSpPr/>
          <p:nvPr/>
        </p:nvSpPr>
        <p:spPr>
          <a:xfrm>
            <a:off x="800100" y="3709541"/>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Availability</a:t>
            </a:r>
            <a:endParaRPr lang="en-US" sz="3000" dirty="0"/>
          </a:p>
        </p:txBody>
      </p:sp>
      <p:sp>
        <p:nvSpPr>
          <p:cNvPr id="6" name="Text 4"/>
          <p:cNvSpPr/>
          <p:nvPr/>
        </p:nvSpPr>
        <p:spPr>
          <a:xfrm>
            <a:off x="800100" y="4376291"/>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Availability is the property that information and services are accessible to authorised users when required. For a business it is often the leg whose failure is felt first and costs most.</a:t>
            </a:r>
            <a:endParaRPr lang="en-US" sz="2175" dirty="0"/>
          </a:p>
        </p:txBody>
      </p:sp>
      <p:sp>
        <p:nvSpPr>
          <p:cNvPr id="7" name="Shape 5"/>
          <p:cNvSpPr/>
          <p:nvPr/>
        </p:nvSpPr>
        <p:spPr>
          <a:xfrm>
            <a:off x="800100"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8" name="Text 6"/>
          <p:cNvSpPr/>
          <p:nvPr/>
        </p:nvSpPr>
        <p:spPr>
          <a:xfrm>
            <a:off x="1038225"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WATCH FOR</a:t>
            </a:r>
            <a:endParaRPr lang="en-US" sz="1500" dirty="0"/>
          </a:p>
        </p:txBody>
      </p:sp>
      <p:sp>
        <p:nvSpPr>
          <p:cNvPr id="9" name="Text 7"/>
          <p:cNvSpPr/>
          <p:nvPr/>
        </p:nvSpPr>
        <p:spPr>
          <a:xfrm>
            <a:off x="1038225" y="5982146"/>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Availability is normally excluded from penetration test scope. Techniques that risk disrupting a production service must be agreed in writing before use — and usually are not.</a:t>
            </a:r>
            <a:endParaRPr lang="en-US" sz="1875" dirty="0"/>
          </a:p>
        </p:txBody>
      </p:sp>
      <p:sp>
        <p:nvSpPr>
          <p:cNvPr id="10" name="Shape 8"/>
          <p:cNvSpPr/>
          <p:nvPr/>
        </p:nvSpPr>
        <p:spPr>
          <a:xfrm>
            <a:off x="9248775"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11" name="Text 9"/>
          <p:cNvSpPr/>
          <p:nvPr/>
        </p:nvSpPr>
        <p:spPr>
          <a:xfrm>
            <a:off x="9486900"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TRADE-OFF</a:t>
            </a:r>
            <a:endParaRPr lang="en-US" sz="1500" dirty="0"/>
          </a:p>
        </p:txBody>
      </p:sp>
      <p:sp>
        <p:nvSpPr>
          <p:cNvPr id="12" name="Text 10"/>
          <p:cNvSpPr/>
          <p:nvPr/>
        </p:nvSpPr>
        <p:spPr>
          <a:xfrm>
            <a:off x="9486900" y="5982146"/>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Hardening for confidentiality frequently costs availability. Every control that blocks an attacker can also block a legitimate user, and clients weigh that trade themselves.</a:t>
            </a:r>
            <a:endParaRPr lang="en-US" sz="1875"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3473797"/>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THE TRIAD AS A BALANCE</a:t>
            </a:r>
            <a:endParaRPr lang="en-US" sz="1650" dirty="0"/>
          </a:p>
        </p:txBody>
      </p:sp>
      <p:sp>
        <p:nvSpPr>
          <p:cNvPr id="4" name="Text 2"/>
          <p:cNvSpPr/>
          <p:nvPr/>
        </p:nvSpPr>
        <p:spPr>
          <a:xfrm>
            <a:off x="800100" y="3969097"/>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Three properties in tension</a:t>
            </a:r>
            <a:endParaRPr lang="en-US" sz="3000" dirty="0"/>
          </a:p>
        </p:txBody>
      </p:sp>
      <p:sp>
        <p:nvSpPr>
          <p:cNvPr id="5" name="Shape 3"/>
          <p:cNvSpPr/>
          <p:nvPr/>
        </p:nvSpPr>
        <p:spPr>
          <a:xfrm>
            <a:off x="800100" y="4635847"/>
            <a:ext cx="4940275" cy="1128713"/>
          </a:xfrm>
          <a:prstGeom prst="roundRect">
            <a:avLst>
              <a:gd name="adj" fmla="val 13502"/>
            </a:avLst>
          </a:prstGeom>
          <a:solidFill>
            <a:srgbClr val="FFFFFF">
              <a:alpha val="2000"/>
            </a:srgbClr>
          </a:solidFill>
          <a:ln w="9525">
            <a:solidFill>
              <a:srgbClr val="2A2F3A"/>
            </a:solidFill>
            <a:prstDash val="solid"/>
          </a:ln>
        </p:spPr>
      </p:sp>
      <p:sp>
        <p:nvSpPr>
          <p:cNvPr id="6" name="Text 4"/>
          <p:cNvSpPr/>
          <p:nvPr/>
        </p:nvSpPr>
        <p:spPr>
          <a:xfrm>
            <a:off x="1038225" y="4873972"/>
            <a:ext cx="491042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CONFIDENTIALITY</a:t>
            </a:r>
            <a:endParaRPr lang="en-US" sz="1500" dirty="0"/>
          </a:p>
        </p:txBody>
      </p:sp>
      <p:sp>
        <p:nvSpPr>
          <p:cNvPr id="7" name="Text 5"/>
          <p:cNvSpPr/>
          <p:nvPr/>
        </p:nvSpPr>
        <p:spPr>
          <a:xfrm>
            <a:off x="1038225" y="5193060"/>
            <a:ext cx="4910428" cy="37147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Only the authorised may see it.</a:t>
            </a:r>
            <a:endParaRPr lang="en-US" sz="1875" dirty="0"/>
          </a:p>
        </p:txBody>
      </p:sp>
      <p:sp>
        <p:nvSpPr>
          <p:cNvPr id="8" name="Text 6"/>
          <p:cNvSpPr/>
          <p:nvPr/>
        </p:nvSpPr>
        <p:spPr>
          <a:xfrm>
            <a:off x="5835625" y="4952554"/>
            <a:ext cx="742950" cy="533400"/>
          </a:xfrm>
          <a:prstGeom prst="rect">
            <a:avLst/>
          </a:prstGeom>
          <a:noFill/>
          <a:ln/>
        </p:spPr>
        <p:txBody>
          <a:bodyPr wrap="square" lIns="25400" tIns="25400" rIns="25400" bIns="25400" rtlCol="0" anchor="ctr">
            <a:normAutofit/>
          </a:bodyPr>
          <a:lstStyle/>
          <a:p>
            <a:pPr algn="ctr" indent="0" marL="0">
              <a:buNone/>
            </a:pPr>
            <a:r>
              <a:rPr lang="en-US" sz="3300" dirty="0">
                <a:solidFill>
                  <a:srgbClr val="FF6A00"/>
                </a:solidFill>
                <a:latin typeface="Arial" pitchFamily="34" charset="0"/>
                <a:ea typeface="Arial" pitchFamily="34" charset="-122"/>
                <a:cs typeface="Arial" pitchFamily="34" charset="-120"/>
              </a:rPr>
              <a:t>↔</a:t>
            </a:r>
            <a:endParaRPr lang="en-US" sz="3300" dirty="0"/>
          </a:p>
        </p:txBody>
      </p:sp>
      <p:sp>
        <p:nvSpPr>
          <p:cNvPr id="9" name="Shape 7"/>
          <p:cNvSpPr/>
          <p:nvPr/>
        </p:nvSpPr>
        <p:spPr>
          <a:xfrm>
            <a:off x="6673825" y="4635847"/>
            <a:ext cx="4940275" cy="1128713"/>
          </a:xfrm>
          <a:prstGeom prst="roundRect">
            <a:avLst>
              <a:gd name="adj" fmla="val 13502"/>
            </a:avLst>
          </a:prstGeom>
          <a:solidFill>
            <a:srgbClr val="FFFFFF">
              <a:alpha val="2000"/>
            </a:srgbClr>
          </a:solidFill>
          <a:ln w="9525">
            <a:solidFill>
              <a:srgbClr val="2A2F3A"/>
            </a:solidFill>
            <a:prstDash val="solid"/>
          </a:ln>
        </p:spPr>
      </p:sp>
      <p:sp>
        <p:nvSpPr>
          <p:cNvPr id="10" name="Text 8"/>
          <p:cNvSpPr/>
          <p:nvPr/>
        </p:nvSpPr>
        <p:spPr>
          <a:xfrm>
            <a:off x="6911950" y="4873972"/>
            <a:ext cx="491042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INTEGRITY</a:t>
            </a:r>
            <a:endParaRPr lang="en-US" sz="1500" dirty="0"/>
          </a:p>
        </p:txBody>
      </p:sp>
      <p:sp>
        <p:nvSpPr>
          <p:cNvPr id="11" name="Text 9"/>
          <p:cNvSpPr/>
          <p:nvPr/>
        </p:nvSpPr>
        <p:spPr>
          <a:xfrm>
            <a:off x="6911950" y="5193060"/>
            <a:ext cx="4910428" cy="37147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Only the authorised may change it.</a:t>
            </a:r>
            <a:endParaRPr lang="en-US" sz="1875" dirty="0"/>
          </a:p>
        </p:txBody>
      </p:sp>
      <p:sp>
        <p:nvSpPr>
          <p:cNvPr id="12" name="Text 10"/>
          <p:cNvSpPr/>
          <p:nvPr/>
        </p:nvSpPr>
        <p:spPr>
          <a:xfrm>
            <a:off x="11709350" y="4952554"/>
            <a:ext cx="742950" cy="533400"/>
          </a:xfrm>
          <a:prstGeom prst="rect">
            <a:avLst/>
          </a:prstGeom>
          <a:noFill/>
          <a:ln/>
        </p:spPr>
        <p:txBody>
          <a:bodyPr wrap="square" lIns="25400" tIns="25400" rIns="25400" bIns="25400" rtlCol="0" anchor="ctr">
            <a:normAutofit/>
          </a:bodyPr>
          <a:lstStyle/>
          <a:p>
            <a:pPr algn="ctr" indent="0" marL="0">
              <a:buNone/>
            </a:pPr>
            <a:r>
              <a:rPr lang="en-US" sz="3300" dirty="0">
                <a:solidFill>
                  <a:srgbClr val="FF6A00"/>
                </a:solidFill>
                <a:latin typeface="Arial" pitchFamily="34" charset="0"/>
                <a:ea typeface="Arial" pitchFamily="34" charset="-122"/>
                <a:cs typeface="Arial" pitchFamily="34" charset="-120"/>
              </a:rPr>
              <a:t>↔</a:t>
            </a:r>
            <a:endParaRPr lang="en-US" sz="3300" dirty="0"/>
          </a:p>
        </p:txBody>
      </p:sp>
      <p:sp>
        <p:nvSpPr>
          <p:cNvPr id="13" name="Shape 11"/>
          <p:cNvSpPr/>
          <p:nvPr/>
        </p:nvSpPr>
        <p:spPr>
          <a:xfrm>
            <a:off x="12547550" y="4635847"/>
            <a:ext cx="4940350" cy="1128713"/>
          </a:xfrm>
          <a:prstGeom prst="roundRect">
            <a:avLst>
              <a:gd name="adj" fmla="val 13502"/>
            </a:avLst>
          </a:prstGeom>
          <a:solidFill>
            <a:srgbClr val="FFFFFF">
              <a:alpha val="2000"/>
            </a:srgbClr>
          </a:solidFill>
          <a:ln w="9525">
            <a:solidFill>
              <a:srgbClr val="2A2F3A"/>
            </a:solidFill>
            <a:prstDash val="solid"/>
          </a:ln>
        </p:spPr>
      </p:sp>
      <p:sp>
        <p:nvSpPr>
          <p:cNvPr id="14" name="Text 12"/>
          <p:cNvSpPr/>
          <p:nvPr/>
        </p:nvSpPr>
        <p:spPr>
          <a:xfrm>
            <a:off x="12785675" y="4873972"/>
            <a:ext cx="4910510"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AVAILABILITY</a:t>
            </a:r>
            <a:endParaRPr lang="en-US" sz="1500" dirty="0"/>
          </a:p>
        </p:txBody>
      </p:sp>
      <p:sp>
        <p:nvSpPr>
          <p:cNvPr id="15" name="Text 13"/>
          <p:cNvSpPr/>
          <p:nvPr/>
        </p:nvSpPr>
        <p:spPr>
          <a:xfrm>
            <a:off x="12785675" y="5193060"/>
            <a:ext cx="4910510" cy="37147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The authorised must be able to reach it.</a:t>
            </a:r>
            <a:endParaRPr lang="en-US" sz="1875" dirty="0"/>
          </a:p>
        </p:txBody>
      </p:sp>
      <p:sp>
        <p:nvSpPr>
          <p:cNvPr id="16" name="Text 14"/>
          <p:cNvSpPr/>
          <p:nvPr/>
        </p:nvSpPr>
        <p:spPr>
          <a:xfrm>
            <a:off x="800100" y="6012210"/>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Maximising any one leg costs the others. Security design is the act of choosing where on that balance the organisation sits — which is a business decision, not a technical one.</a:t>
            </a:r>
            <a:endParaRPr lang="en-US" sz="2175"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3095625"/>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DECISION AID</a:t>
            </a:r>
            <a:endParaRPr lang="en-US" sz="1650" dirty="0"/>
          </a:p>
        </p:txBody>
      </p:sp>
      <p:sp>
        <p:nvSpPr>
          <p:cNvPr id="4" name="Text 2"/>
          <p:cNvSpPr/>
          <p:nvPr/>
        </p:nvSpPr>
        <p:spPr>
          <a:xfrm>
            <a:off x="800100" y="3590925"/>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Which leg does the finding break?</a:t>
            </a:r>
            <a:endParaRPr lang="en-US" sz="3000" dirty="0"/>
          </a:p>
        </p:txBody>
      </p:sp>
      <p:sp>
        <p:nvSpPr>
          <p:cNvPr id="5" name="Shape 3"/>
          <p:cNvSpPr/>
          <p:nvPr/>
        </p:nvSpPr>
        <p:spPr>
          <a:xfrm>
            <a:off x="800100" y="4257675"/>
            <a:ext cx="6400800" cy="500063"/>
          </a:xfrm>
          <a:prstGeom prst="rect">
            <a:avLst/>
          </a:prstGeom>
          <a:solidFill>
            <a:srgbClr val="FF6A00">
              <a:alpha val="18000"/>
            </a:srgbClr>
          </a:solidFill>
          <a:ln/>
        </p:spPr>
      </p:sp>
      <p:sp>
        <p:nvSpPr>
          <p:cNvPr id="6" name="Shape 4"/>
          <p:cNvSpPr/>
          <p:nvPr/>
        </p:nvSpPr>
        <p:spPr>
          <a:xfrm>
            <a:off x="800100" y="4748213"/>
            <a:ext cx="6400800" cy="9525"/>
          </a:xfrm>
          <a:prstGeom prst="rect">
            <a:avLst/>
          </a:prstGeom>
          <a:solidFill>
            <a:srgbClr val="B85100"/>
          </a:solidFill>
          <a:ln/>
        </p:spPr>
      </p:sp>
      <p:sp>
        <p:nvSpPr>
          <p:cNvPr id="7" name="Text 5"/>
          <p:cNvSpPr/>
          <p:nvPr/>
        </p:nvSpPr>
        <p:spPr>
          <a:xfrm>
            <a:off x="952500" y="4371975"/>
            <a:ext cx="6288024" cy="300038"/>
          </a:xfrm>
          <a:prstGeom prst="rect">
            <a:avLst/>
          </a:prstGeom>
          <a:noFill/>
          <a:ln/>
        </p:spPr>
        <p:txBody>
          <a:bodyPr wrap="square" lIns="25400" tIns="25400" rIns="25400" bIns="25400" rtlCol="0" anchor="ctr">
            <a:normAutofit/>
          </a:bodyPr>
          <a:lstStyle/>
          <a:p>
            <a:pPr algn="l" indent="0" marL="0">
              <a:buNone/>
            </a:pPr>
            <a:r>
              <a:rPr lang="en-US" sz="1800" b="1" dirty="0">
                <a:solidFill>
                  <a:srgbClr val="F5F7FB"/>
                </a:solidFill>
                <a:latin typeface="Arial" pitchFamily="34" charset="0"/>
                <a:ea typeface="Arial" pitchFamily="34" charset="-122"/>
                <a:cs typeface="Arial" pitchFamily="34" charset="-120"/>
              </a:rPr>
              <a:t>Finding</a:t>
            </a:r>
            <a:endParaRPr lang="en-US" sz="1800" dirty="0"/>
          </a:p>
        </p:txBody>
      </p:sp>
      <p:sp>
        <p:nvSpPr>
          <p:cNvPr id="8" name="Shape 6"/>
          <p:cNvSpPr/>
          <p:nvPr/>
        </p:nvSpPr>
        <p:spPr>
          <a:xfrm>
            <a:off x="7200900" y="4257675"/>
            <a:ext cx="2971800" cy="500063"/>
          </a:xfrm>
          <a:prstGeom prst="rect">
            <a:avLst/>
          </a:prstGeom>
          <a:solidFill>
            <a:srgbClr val="FF6A00">
              <a:alpha val="18000"/>
            </a:srgbClr>
          </a:solidFill>
          <a:ln/>
        </p:spPr>
      </p:sp>
      <p:sp>
        <p:nvSpPr>
          <p:cNvPr id="9" name="Shape 7"/>
          <p:cNvSpPr/>
          <p:nvPr/>
        </p:nvSpPr>
        <p:spPr>
          <a:xfrm>
            <a:off x="7200900" y="4748213"/>
            <a:ext cx="2971800" cy="9525"/>
          </a:xfrm>
          <a:prstGeom prst="rect">
            <a:avLst/>
          </a:prstGeom>
          <a:solidFill>
            <a:srgbClr val="B85100"/>
          </a:solidFill>
          <a:ln/>
        </p:spPr>
      </p:sp>
      <p:sp>
        <p:nvSpPr>
          <p:cNvPr id="10" name="Text 8"/>
          <p:cNvSpPr/>
          <p:nvPr/>
        </p:nvSpPr>
        <p:spPr>
          <a:xfrm>
            <a:off x="7353300" y="4371975"/>
            <a:ext cx="2756154" cy="300038"/>
          </a:xfrm>
          <a:prstGeom prst="rect">
            <a:avLst/>
          </a:prstGeom>
          <a:noFill/>
          <a:ln/>
        </p:spPr>
        <p:txBody>
          <a:bodyPr wrap="square" lIns="25400" tIns="25400" rIns="25400" bIns="25400" rtlCol="0" anchor="ctr">
            <a:normAutofit/>
          </a:bodyPr>
          <a:lstStyle/>
          <a:p>
            <a:pPr algn="l" indent="0" marL="0">
              <a:buNone/>
            </a:pPr>
            <a:r>
              <a:rPr lang="en-US" sz="1800" b="1" dirty="0">
                <a:solidFill>
                  <a:srgbClr val="F5F7FB"/>
                </a:solidFill>
                <a:latin typeface="Arial" pitchFamily="34" charset="0"/>
                <a:ea typeface="Arial" pitchFamily="34" charset="-122"/>
                <a:cs typeface="Arial" pitchFamily="34" charset="-120"/>
              </a:rPr>
              <a:t>Leg affected</a:t>
            </a:r>
            <a:endParaRPr lang="en-US" sz="1800" dirty="0"/>
          </a:p>
        </p:txBody>
      </p:sp>
      <p:sp>
        <p:nvSpPr>
          <p:cNvPr id="11" name="Shape 9"/>
          <p:cNvSpPr/>
          <p:nvPr/>
        </p:nvSpPr>
        <p:spPr>
          <a:xfrm>
            <a:off x="10172700" y="4257675"/>
            <a:ext cx="7315200" cy="500063"/>
          </a:xfrm>
          <a:prstGeom prst="rect">
            <a:avLst/>
          </a:prstGeom>
          <a:solidFill>
            <a:srgbClr val="FF6A00">
              <a:alpha val="18000"/>
            </a:srgbClr>
          </a:solidFill>
          <a:ln/>
        </p:spPr>
      </p:sp>
      <p:sp>
        <p:nvSpPr>
          <p:cNvPr id="12" name="Shape 10"/>
          <p:cNvSpPr/>
          <p:nvPr/>
        </p:nvSpPr>
        <p:spPr>
          <a:xfrm>
            <a:off x="10172700" y="4748213"/>
            <a:ext cx="7315200" cy="9525"/>
          </a:xfrm>
          <a:prstGeom prst="rect">
            <a:avLst/>
          </a:prstGeom>
          <a:solidFill>
            <a:srgbClr val="B85100"/>
          </a:solidFill>
          <a:ln/>
        </p:spPr>
      </p:sp>
      <p:sp>
        <p:nvSpPr>
          <p:cNvPr id="13" name="Text 11"/>
          <p:cNvSpPr/>
          <p:nvPr/>
        </p:nvSpPr>
        <p:spPr>
          <a:xfrm>
            <a:off x="10325100" y="4371975"/>
            <a:ext cx="7229856" cy="300038"/>
          </a:xfrm>
          <a:prstGeom prst="rect">
            <a:avLst/>
          </a:prstGeom>
          <a:noFill/>
          <a:ln/>
        </p:spPr>
        <p:txBody>
          <a:bodyPr wrap="square" lIns="25400" tIns="25400" rIns="25400" bIns="25400" rtlCol="0" anchor="ctr">
            <a:normAutofit/>
          </a:bodyPr>
          <a:lstStyle/>
          <a:p>
            <a:pPr algn="l" indent="0" marL="0">
              <a:buNone/>
            </a:pPr>
            <a:r>
              <a:rPr lang="en-US" sz="1800" b="1" dirty="0">
                <a:solidFill>
                  <a:srgbClr val="F5F7FB"/>
                </a:solidFill>
                <a:latin typeface="Arial" pitchFamily="34" charset="0"/>
                <a:ea typeface="Arial" pitchFamily="34" charset="-122"/>
                <a:cs typeface="Arial" pitchFamily="34" charset="-120"/>
              </a:rPr>
              <a:t>Why</a:t>
            </a:r>
            <a:endParaRPr lang="en-US" sz="1800" dirty="0"/>
          </a:p>
        </p:txBody>
      </p:sp>
      <p:sp>
        <p:nvSpPr>
          <p:cNvPr id="14" name="Shape 12"/>
          <p:cNvSpPr/>
          <p:nvPr/>
        </p:nvSpPr>
        <p:spPr>
          <a:xfrm>
            <a:off x="800100" y="4757738"/>
            <a:ext cx="6400800" cy="485775"/>
          </a:xfrm>
          <a:prstGeom prst="rect">
            <a:avLst/>
          </a:prstGeom>
          <a:solidFill>
            <a:srgbClr val="FFFFFF">
              <a:alpha val="2000"/>
            </a:srgbClr>
          </a:solidFill>
          <a:ln/>
        </p:spPr>
      </p:sp>
      <p:sp>
        <p:nvSpPr>
          <p:cNvPr id="15" name="Shape 13"/>
          <p:cNvSpPr/>
          <p:nvPr/>
        </p:nvSpPr>
        <p:spPr>
          <a:xfrm>
            <a:off x="800100" y="5233988"/>
            <a:ext cx="6400800" cy="9525"/>
          </a:xfrm>
          <a:prstGeom prst="rect">
            <a:avLst/>
          </a:prstGeom>
          <a:solidFill>
            <a:srgbClr val="2A2F3A"/>
          </a:solidFill>
          <a:ln/>
        </p:spPr>
      </p:sp>
      <p:sp>
        <p:nvSpPr>
          <p:cNvPr id="16" name="Text 14"/>
          <p:cNvSpPr/>
          <p:nvPr/>
        </p:nvSpPr>
        <p:spPr>
          <a:xfrm>
            <a:off x="952500" y="4862513"/>
            <a:ext cx="6288024"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Directory traversal exposing configuration files</a:t>
            </a:r>
            <a:endParaRPr lang="en-US" sz="1800" dirty="0"/>
          </a:p>
        </p:txBody>
      </p:sp>
      <p:sp>
        <p:nvSpPr>
          <p:cNvPr id="17" name="Shape 15"/>
          <p:cNvSpPr/>
          <p:nvPr/>
        </p:nvSpPr>
        <p:spPr>
          <a:xfrm>
            <a:off x="7200900" y="4757738"/>
            <a:ext cx="2971800" cy="485775"/>
          </a:xfrm>
          <a:prstGeom prst="rect">
            <a:avLst/>
          </a:prstGeom>
          <a:solidFill>
            <a:srgbClr val="FFFFFF">
              <a:alpha val="2000"/>
            </a:srgbClr>
          </a:solidFill>
          <a:ln/>
        </p:spPr>
      </p:sp>
      <p:sp>
        <p:nvSpPr>
          <p:cNvPr id="18" name="Shape 16"/>
          <p:cNvSpPr/>
          <p:nvPr/>
        </p:nvSpPr>
        <p:spPr>
          <a:xfrm>
            <a:off x="7200900" y="5233988"/>
            <a:ext cx="2971800" cy="9525"/>
          </a:xfrm>
          <a:prstGeom prst="rect">
            <a:avLst/>
          </a:prstGeom>
          <a:solidFill>
            <a:srgbClr val="2A2F3A"/>
          </a:solidFill>
          <a:ln/>
        </p:spPr>
      </p:sp>
      <p:sp>
        <p:nvSpPr>
          <p:cNvPr id="19" name="Text 17"/>
          <p:cNvSpPr/>
          <p:nvPr/>
        </p:nvSpPr>
        <p:spPr>
          <a:xfrm>
            <a:off x="7353300" y="4862513"/>
            <a:ext cx="2756154"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Confidentiality</a:t>
            </a:r>
            <a:endParaRPr lang="en-US" sz="1800" dirty="0"/>
          </a:p>
        </p:txBody>
      </p:sp>
      <p:sp>
        <p:nvSpPr>
          <p:cNvPr id="20" name="Shape 18"/>
          <p:cNvSpPr/>
          <p:nvPr/>
        </p:nvSpPr>
        <p:spPr>
          <a:xfrm>
            <a:off x="10172700" y="4757738"/>
            <a:ext cx="7315200" cy="485775"/>
          </a:xfrm>
          <a:prstGeom prst="rect">
            <a:avLst/>
          </a:prstGeom>
          <a:solidFill>
            <a:srgbClr val="FFFFFF">
              <a:alpha val="2000"/>
            </a:srgbClr>
          </a:solidFill>
          <a:ln/>
        </p:spPr>
      </p:sp>
      <p:sp>
        <p:nvSpPr>
          <p:cNvPr id="21" name="Shape 19"/>
          <p:cNvSpPr/>
          <p:nvPr/>
        </p:nvSpPr>
        <p:spPr>
          <a:xfrm>
            <a:off x="10172700" y="5233988"/>
            <a:ext cx="7315200" cy="9525"/>
          </a:xfrm>
          <a:prstGeom prst="rect">
            <a:avLst/>
          </a:prstGeom>
          <a:solidFill>
            <a:srgbClr val="2A2F3A"/>
          </a:solidFill>
          <a:ln/>
        </p:spPr>
      </p:sp>
      <p:sp>
        <p:nvSpPr>
          <p:cNvPr id="22" name="Text 20"/>
          <p:cNvSpPr/>
          <p:nvPr/>
        </p:nvSpPr>
        <p:spPr>
          <a:xfrm>
            <a:off x="10325100" y="4862513"/>
            <a:ext cx="7229856"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Unauthorised disclosure; nothing is altered</a:t>
            </a:r>
            <a:endParaRPr lang="en-US" sz="1800" dirty="0"/>
          </a:p>
        </p:txBody>
      </p:sp>
      <p:sp>
        <p:nvSpPr>
          <p:cNvPr id="23" name="Shape 21"/>
          <p:cNvSpPr/>
          <p:nvPr/>
        </p:nvSpPr>
        <p:spPr>
          <a:xfrm>
            <a:off x="800100" y="5719763"/>
            <a:ext cx="6400800" cy="9525"/>
          </a:xfrm>
          <a:prstGeom prst="rect">
            <a:avLst/>
          </a:prstGeom>
          <a:solidFill>
            <a:srgbClr val="2A2F3A"/>
          </a:solidFill>
          <a:ln/>
        </p:spPr>
      </p:sp>
      <p:sp>
        <p:nvSpPr>
          <p:cNvPr id="24" name="Text 22"/>
          <p:cNvSpPr/>
          <p:nvPr/>
        </p:nvSpPr>
        <p:spPr>
          <a:xfrm>
            <a:off x="952500" y="5348288"/>
            <a:ext cx="6288024"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SQL injection permitting UPDATE statements</a:t>
            </a:r>
            <a:endParaRPr lang="en-US" sz="1800" dirty="0"/>
          </a:p>
        </p:txBody>
      </p:sp>
      <p:sp>
        <p:nvSpPr>
          <p:cNvPr id="25" name="Shape 23"/>
          <p:cNvSpPr/>
          <p:nvPr/>
        </p:nvSpPr>
        <p:spPr>
          <a:xfrm>
            <a:off x="7200900" y="5719763"/>
            <a:ext cx="2971800" cy="9525"/>
          </a:xfrm>
          <a:prstGeom prst="rect">
            <a:avLst/>
          </a:prstGeom>
          <a:solidFill>
            <a:srgbClr val="2A2F3A"/>
          </a:solidFill>
          <a:ln/>
        </p:spPr>
      </p:sp>
      <p:sp>
        <p:nvSpPr>
          <p:cNvPr id="26" name="Text 24"/>
          <p:cNvSpPr/>
          <p:nvPr/>
        </p:nvSpPr>
        <p:spPr>
          <a:xfrm>
            <a:off x="7353300" y="5348288"/>
            <a:ext cx="2756154"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Integrity</a:t>
            </a:r>
            <a:endParaRPr lang="en-US" sz="1800" dirty="0"/>
          </a:p>
        </p:txBody>
      </p:sp>
      <p:sp>
        <p:nvSpPr>
          <p:cNvPr id="27" name="Shape 25"/>
          <p:cNvSpPr/>
          <p:nvPr/>
        </p:nvSpPr>
        <p:spPr>
          <a:xfrm>
            <a:off x="10172700" y="5719763"/>
            <a:ext cx="7315200" cy="9525"/>
          </a:xfrm>
          <a:prstGeom prst="rect">
            <a:avLst/>
          </a:prstGeom>
          <a:solidFill>
            <a:srgbClr val="2A2F3A"/>
          </a:solidFill>
          <a:ln/>
        </p:spPr>
      </p:sp>
      <p:sp>
        <p:nvSpPr>
          <p:cNvPr id="28" name="Text 26"/>
          <p:cNvSpPr/>
          <p:nvPr/>
        </p:nvSpPr>
        <p:spPr>
          <a:xfrm>
            <a:off x="10325100" y="5348288"/>
            <a:ext cx="7229856"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Records can be altered by an unauthorised party</a:t>
            </a:r>
            <a:endParaRPr lang="en-US" sz="1800" dirty="0"/>
          </a:p>
        </p:txBody>
      </p:sp>
      <p:sp>
        <p:nvSpPr>
          <p:cNvPr id="29" name="Shape 27"/>
          <p:cNvSpPr/>
          <p:nvPr/>
        </p:nvSpPr>
        <p:spPr>
          <a:xfrm>
            <a:off x="800100" y="5729288"/>
            <a:ext cx="6400800" cy="485775"/>
          </a:xfrm>
          <a:prstGeom prst="rect">
            <a:avLst/>
          </a:prstGeom>
          <a:solidFill>
            <a:srgbClr val="FFFFFF">
              <a:alpha val="2000"/>
            </a:srgbClr>
          </a:solidFill>
          <a:ln/>
        </p:spPr>
      </p:sp>
      <p:sp>
        <p:nvSpPr>
          <p:cNvPr id="30" name="Shape 28"/>
          <p:cNvSpPr/>
          <p:nvPr/>
        </p:nvSpPr>
        <p:spPr>
          <a:xfrm>
            <a:off x="800100" y="6205538"/>
            <a:ext cx="6400800" cy="9525"/>
          </a:xfrm>
          <a:prstGeom prst="rect">
            <a:avLst/>
          </a:prstGeom>
          <a:solidFill>
            <a:srgbClr val="2A2F3A"/>
          </a:solidFill>
          <a:ln/>
        </p:spPr>
      </p:sp>
      <p:sp>
        <p:nvSpPr>
          <p:cNvPr id="31" name="Text 29"/>
          <p:cNvSpPr/>
          <p:nvPr/>
        </p:nvSpPr>
        <p:spPr>
          <a:xfrm>
            <a:off x="952500" y="5834063"/>
            <a:ext cx="6288024"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Ransomware encrypting a file share</a:t>
            </a:r>
            <a:endParaRPr lang="en-US" sz="1800" dirty="0"/>
          </a:p>
        </p:txBody>
      </p:sp>
      <p:sp>
        <p:nvSpPr>
          <p:cNvPr id="32" name="Shape 30"/>
          <p:cNvSpPr/>
          <p:nvPr/>
        </p:nvSpPr>
        <p:spPr>
          <a:xfrm>
            <a:off x="7200900" y="5729288"/>
            <a:ext cx="2971800" cy="485775"/>
          </a:xfrm>
          <a:prstGeom prst="rect">
            <a:avLst/>
          </a:prstGeom>
          <a:solidFill>
            <a:srgbClr val="FFFFFF">
              <a:alpha val="2000"/>
            </a:srgbClr>
          </a:solidFill>
          <a:ln/>
        </p:spPr>
      </p:sp>
      <p:sp>
        <p:nvSpPr>
          <p:cNvPr id="33" name="Shape 31"/>
          <p:cNvSpPr/>
          <p:nvPr/>
        </p:nvSpPr>
        <p:spPr>
          <a:xfrm>
            <a:off x="7200900" y="6205538"/>
            <a:ext cx="2971800" cy="9525"/>
          </a:xfrm>
          <a:prstGeom prst="rect">
            <a:avLst/>
          </a:prstGeom>
          <a:solidFill>
            <a:srgbClr val="2A2F3A"/>
          </a:solidFill>
          <a:ln/>
        </p:spPr>
      </p:sp>
      <p:sp>
        <p:nvSpPr>
          <p:cNvPr id="34" name="Text 32"/>
          <p:cNvSpPr/>
          <p:nvPr/>
        </p:nvSpPr>
        <p:spPr>
          <a:xfrm>
            <a:off x="7353300" y="5834063"/>
            <a:ext cx="2756154"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Availability and integrity</a:t>
            </a:r>
            <a:endParaRPr lang="en-US" sz="1800" dirty="0"/>
          </a:p>
        </p:txBody>
      </p:sp>
      <p:sp>
        <p:nvSpPr>
          <p:cNvPr id="35" name="Shape 33"/>
          <p:cNvSpPr/>
          <p:nvPr/>
        </p:nvSpPr>
        <p:spPr>
          <a:xfrm>
            <a:off x="10172700" y="5729288"/>
            <a:ext cx="7315200" cy="485775"/>
          </a:xfrm>
          <a:prstGeom prst="rect">
            <a:avLst/>
          </a:prstGeom>
          <a:solidFill>
            <a:srgbClr val="FFFFFF">
              <a:alpha val="2000"/>
            </a:srgbClr>
          </a:solidFill>
          <a:ln/>
        </p:spPr>
      </p:sp>
      <p:sp>
        <p:nvSpPr>
          <p:cNvPr id="36" name="Shape 34"/>
          <p:cNvSpPr/>
          <p:nvPr/>
        </p:nvSpPr>
        <p:spPr>
          <a:xfrm>
            <a:off x="10172700" y="6205538"/>
            <a:ext cx="7315200" cy="9525"/>
          </a:xfrm>
          <a:prstGeom prst="rect">
            <a:avLst/>
          </a:prstGeom>
          <a:solidFill>
            <a:srgbClr val="2A2F3A"/>
          </a:solidFill>
          <a:ln/>
        </p:spPr>
      </p:sp>
      <p:sp>
        <p:nvSpPr>
          <p:cNvPr id="37" name="Text 35"/>
          <p:cNvSpPr/>
          <p:nvPr/>
        </p:nvSpPr>
        <p:spPr>
          <a:xfrm>
            <a:off x="10325100" y="5834063"/>
            <a:ext cx="7229856"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Data is unreachable and no longer trustworthy</a:t>
            </a:r>
            <a:endParaRPr lang="en-US" sz="1800" dirty="0"/>
          </a:p>
        </p:txBody>
      </p:sp>
      <p:sp>
        <p:nvSpPr>
          <p:cNvPr id="38" name="Shape 36"/>
          <p:cNvSpPr/>
          <p:nvPr/>
        </p:nvSpPr>
        <p:spPr>
          <a:xfrm>
            <a:off x="800100" y="6691313"/>
            <a:ext cx="6400800" cy="9525"/>
          </a:xfrm>
          <a:prstGeom prst="rect">
            <a:avLst/>
          </a:prstGeom>
          <a:solidFill>
            <a:srgbClr val="2A2F3A"/>
          </a:solidFill>
          <a:ln/>
        </p:spPr>
      </p:sp>
      <p:sp>
        <p:nvSpPr>
          <p:cNvPr id="39" name="Text 37"/>
          <p:cNvSpPr/>
          <p:nvPr/>
        </p:nvSpPr>
        <p:spPr>
          <a:xfrm>
            <a:off x="952500" y="6319838"/>
            <a:ext cx="6288024"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Stolen credentials for a read-only reporting account</a:t>
            </a:r>
            <a:endParaRPr lang="en-US" sz="1800" dirty="0"/>
          </a:p>
        </p:txBody>
      </p:sp>
      <p:sp>
        <p:nvSpPr>
          <p:cNvPr id="40" name="Shape 38"/>
          <p:cNvSpPr/>
          <p:nvPr/>
        </p:nvSpPr>
        <p:spPr>
          <a:xfrm>
            <a:off x="7200900" y="6691313"/>
            <a:ext cx="2971800" cy="9525"/>
          </a:xfrm>
          <a:prstGeom prst="rect">
            <a:avLst/>
          </a:prstGeom>
          <a:solidFill>
            <a:srgbClr val="2A2F3A"/>
          </a:solidFill>
          <a:ln/>
        </p:spPr>
      </p:sp>
      <p:sp>
        <p:nvSpPr>
          <p:cNvPr id="41" name="Text 39"/>
          <p:cNvSpPr/>
          <p:nvPr/>
        </p:nvSpPr>
        <p:spPr>
          <a:xfrm>
            <a:off x="7353300" y="6319838"/>
            <a:ext cx="2756154"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Confidentiality</a:t>
            </a:r>
            <a:endParaRPr lang="en-US" sz="1800" dirty="0"/>
          </a:p>
        </p:txBody>
      </p:sp>
      <p:sp>
        <p:nvSpPr>
          <p:cNvPr id="42" name="Shape 40"/>
          <p:cNvSpPr/>
          <p:nvPr/>
        </p:nvSpPr>
        <p:spPr>
          <a:xfrm>
            <a:off x="10172700" y="6691313"/>
            <a:ext cx="7315200" cy="9525"/>
          </a:xfrm>
          <a:prstGeom prst="rect">
            <a:avLst/>
          </a:prstGeom>
          <a:solidFill>
            <a:srgbClr val="2A2F3A"/>
          </a:solidFill>
          <a:ln/>
        </p:spPr>
      </p:sp>
      <p:sp>
        <p:nvSpPr>
          <p:cNvPr id="43" name="Text 41"/>
          <p:cNvSpPr/>
          <p:nvPr/>
        </p:nvSpPr>
        <p:spPr>
          <a:xfrm>
            <a:off x="10325100" y="6319838"/>
            <a:ext cx="7229856"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Access without modification capability</a:t>
            </a:r>
            <a:endParaRPr lang="en-US" sz="1800" dirty="0"/>
          </a:p>
        </p:txBody>
      </p:sp>
      <p:sp>
        <p:nvSpPr>
          <p:cNvPr id="44" name="Shape 42"/>
          <p:cNvSpPr/>
          <p:nvPr/>
        </p:nvSpPr>
        <p:spPr>
          <a:xfrm>
            <a:off x="800100" y="6700838"/>
            <a:ext cx="6400800" cy="485775"/>
          </a:xfrm>
          <a:prstGeom prst="rect">
            <a:avLst/>
          </a:prstGeom>
          <a:solidFill>
            <a:srgbClr val="FFFFFF">
              <a:alpha val="2000"/>
            </a:srgbClr>
          </a:solidFill>
          <a:ln/>
        </p:spPr>
      </p:sp>
      <p:sp>
        <p:nvSpPr>
          <p:cNvPr id="45" name="Shape 43"/>
          <p:cNvSpPr/>
          <p:nvPr/>
        </p:nvSpPr>
        <p:spPr>
          <a:xfrm>
            <a:off x="800100" y="7177088"/>
            <a:ext cx="6400800" cy="9525"/>
          </a:xfrm>
          <a:prstGeom prst="rect">
            <a:avLst/>
          </a:prstGeom>
          <a:solidFill>
            <a:srgbClr val="2A2F3A"/>
          </a:solidFill>
          <a:ln/>
        </p:spPr>
      </p:sp>
      <p:sp>
        <p:nvSpPr>
          <p:cNvPr id="46" name="Text 44"/>
          <p:cNvSpPr/>
          <p:nvPr/>
        </p:nvSpPr>
        <p:spPr>
          <a:xfrm>
            <a:off x="952500" y="6805613"/>
            <a:ext cx="6288024"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Service account with permission to rewrite audit logs</a:t>
            </a:r>
            <a:endParaRPr lang="en-US" sz="1800" dirty="0"/>
          </a:p>
        </p:txBody>
      </p:sp>
      <p:sp>
        <p:nvSpPr>
          <p:cNvPr id="47" name="Shape 45"/>
          <p:cNvSpPr/>
          <p:nvPr/>
        </p:nvSpPr>
        <p:spPr>
          <a:xfrm>
            <a:off x="7200900" y="6700838"/>
            <a:ext cx="2971800" cy="485775"/>
          </a:xfrm>
          <a:prstGeom prst="rect">
            <a:avLst/>
          </a:prstGeom>
          <a:solidFill>
            <a:srgbClr val="FFFFFF">
              <a:alpha val="2000"/>
            </a:srgbClr>
          </a:solidFill>
          <a:ln/>
        </p:spPr>
      </p:sp>
      <p:sp>
        <p:nvSpPr>
          <p:cNvPr id="48" name="Shape 46"/>
          <p:cNvSpPr/>
          <p:nvPr/>
        </p:nvSpPr>
        <p:spPr>
          <a:xfrm>
            <a:off x="7200900" y="7177088"/>
            <a:ext cx="2971800" cy="9525"/>
          </a:xfrm>
          <a:prstGeom prst="rect">
            <a:avLst/>
          </a:prstGeom>
          <a:solidFill>
            <a:srgbClr val="2A2F3A"/>
          </a:solidFill>
          <a:ln/>
        </p:spPr>
      </p:sp>
      <p:sp>
        <p:nvSpPr>
          <p:cNvPr id="49" name="Text 47"/>
          <p:cNvSpPr/>
          <p:nvPr/>
        </p:nvSpPr>
        <p:spPr>
          <a:xfrm>
            <a:off x="7353300" y="6805613"/>
            <a:ext cx="2756154"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Integrity</a:t>
            </a:r>
            <a:endParaRPr lang="en-US" sz="1800" dirty="0"/>
          </a:p>
        </p:txBody>
      </p:sp>
      <p:sp>
        <p:nvSpPr>
          <p:cNvPr id="50" name="Shape 48"/>
          <p:cNvSpPr/>
          <p:nvPr/>
        </p:nvSpPr>
        <p:spPr>
          <a:xfrm>
            <a:off x="10172700" y="6700838"/>
            <a:ext cx="7315200" cy="485775"/>
          </a:xfrm>
          <a:prstGeom prst="rect">
            <a:avLst/>
          </a:prstGeom>
          <a:solidFill>
            <a:srgbClr val="FFFFFF">
              <a:alpha val="2000"/>
            </a:srgbClr>
          </a:solidFill>
          <a:ln/>
        </p:spPr>
      </p:sp>
      <p:sp>
        <p:nvSpPr>
          <p:cNvPr id="51" name="Shape 49"/>
          <p:cNvSpPr/>
          <p:nvPr/>
        </p:nvSpPr>
        <p:spPr>
          <a:xfrm>
            <a:off x="10172700" y="7177088"/>
            <a:ext cx="7315200" cy="9525"/>
          </a:xfrm>
          <a:prstGeom prst="rect">
            <a:avLst/>
          </a:prstGeom>
          <a:solidFill>
            <a:srgbClr val="2A2F3A"/>
          </a:solidFill>
          <a:ln/>
        </p:spPr>
      </p:sp>
      <p:sp>
        <p:nvSpPr>
          <p:cNvPr id="52" name="Text 50"/>
          <p:cNvSpPr/>
          <p:nvPr/>
        </p:nvSpPr>
        <p:spPr>
          <a:xfrm>
            <a:off x="10325100" y="6805613"/>
            <a:ext cx="7229856"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The record of events itself becomes unreliable</a:t>
            </a:r>
            <a:endParaRPr lang="en-US" sz="1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3507358"/>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OBJECTIVE 2.3 RECAP</a:t>
            </a:r>
            <a:endParaRPr lang="en-US" sz="1650" dirty="0"/>
          </a:p>
        </p:txBody>
      </p:sp>
      <p:sp>
        <p:nvSpPr>
          <p:cNvPr id="4" name="Text 2"/>
          <p:cNvSpPr/>
          <p:nvPr/>
        </p:nvSpPr>
        <p:spPr>
          <a:xfrm>
            <a:off x="800100" y="4002658"/>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The CIA Triad — what you should now hold</a:t>
            </a:r>
            <a:endParaRPr lang="en-US" sz="3000" dirty="0"/>
          </a:p>
        </p:txBody>
      </p:sp>
      <p:sp>
        <p:nvSpPr>
          <p:cNvPr id="5" name="Shape 3"/>
          <p:cNvSpPr/>
          <p:nvPr/>
        </p:nvSpPr>
        <p:spPr>
          <a:xfrm>
            <a:off x="800100" y="4669408"/>
            <a:ext cx="5435575" cy="1462088"/>
          </a:xfrm>
          <a:prstGeom prst="roundRect">
            <a:avLst>
              <a:gd name="adj" fmla="val 10423"/>
            </a:avLst>
          </a:prstGeom>
          <a:solidFill>
            <a:srgbClr val="FFFFFF">
              <a:alpha val="2000"/>
            </a:srgbClr>
          </a:solidFill>
          <a:ln w="9525">
            <a:solidFill>
              <a:srgbClr val="2A2F3A"/>
            </a:solidFill>
            <a:prstDash val="solid"/>
          </a:ln>
        </p:spPr>
      </p:sp>
      <p:sp>
        <p:nvSpPr>
          <p:cNvPr id="6" name="Text 4"/>
          <p:cNvSpPr/>
          <p:nvPr/>
        </p:nvSpPr>
        <p:spPr>
          <a:xfrm>
            <a:off x="1038225" y="4907533"/>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CONFIDENTIALITY</a:t>
            </a:r>
            <a:endParaRPr lang="en-US" sz="1500" dirty="0"/>
          </a:p>
        </p:txBody>
      </p:sp>
      <p:sp>
        <p:nvSpPr>
          <p:cNvPr id="7" name="Text 5"/>
          <p:cNvSpPr/>
          <p:nvPr/>
        </p:nvSpPr>
        <p:spPr>
          <a:xfrm>
            <a:off x="1038225" y="5226621"/>
            <a:ext cx="5108105"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Disclosure only to the authorised. The leg most tests are commissioned to attack.</a:t>
            </a:r>
            <a:endParaRPr lang="en-US" sz="1875" dirty="0"/>
          </a:p>
        </p:txBody>
      </p:sp>
      <p:sp>
        <p:nvSpPr>
          <p:cNvPr id="8" name="Shape 6"/>
          <p:cNvSpPr/>
          <p:nvPr/>
        </p:nvSpPr>
        <p:spPr>
          <a:xfrm>
            <a:off x="6426175" y="4669408"/>
            <a:ext cx="5435575" cy="1462088"/>
          </a:xfrm>
          <a:prstGeom prst="roundRect">
            <a:avLst>
              <a:gd name="adj" fmla="val 10423"/>
            </a:avLst>
          </a:prstGeom>
          <a:solidFill>
            <a:srgbClr val="FFFFFF">
              <a:alpha val="2000"/>
            </a:srgbClr>
          </a:solidFill>
          <a:ln w="9525">
            <a:solidFill>
              <a:srgbClr val="2A2F3A"/>
            </a:solidFill>
            <a:prstDash val="solid"/>
          </a:ln>
        </p:spPr>
      </p:sp>
      <p:sp>
        <p:nvSpPr>
          <p:cNvPr id="9" name="Text 7"/>
          <p:cNvSpPr/>
          <p:nvPr/>
        </p:nvSpPr>
        <p:spPr>
          <a:xfrm>
            <a:off x="6664300" y="4907533"/>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INTEGRITY</a:t>
            </a:r>
            <a:endParaRPr lang="en-US" sz="1500" dirty="0"/>
          </a:p>
        </p:txBody>
      </p:sp>
      <p:sp>
        <p:nvSpPr>
          <p:cNvPr id="10" name="Text 8"/>
          <p:cNvSpPr/>
          <p:nvPr/>
        </p:nvSpPr>
        <p:spPr>
          <a:xfrm>
            <a:off x="6664300" y="5226621"/>
            <a:ext cx="5108105"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Alteration only by the authorised. Quieter failures, higher recovery cost.</a:t>
            </a:r>
            <a:endParaRPr lang="en-US" sz="1875" dirty="0"/>
          </a:p>
        </p:txBody>
      </p:sp>
      <p:sp>
        <p:nvSpPr>
          <p:cNvPr id="11" name="Shape 9"/>
          <p:cNvSpPr/>
          <p:nvPr/>
        </p:nvSpPr>
        <p:spPr>
          <a:xfrm>
            <a:off x="12052250" y="4669408"/>
            <a:ext cx="5435650" cy="1462088"/>
          </a:xfrm>
          <a:prstGeom prst="roundRect">
            <a:avLst>
              <a:gd name="adj" fmla="val 10423"/>
            </a:avLst>
          </a:prstGeom>
          <a:solidFill>
            <a:srgbClr val="FFFFFF">
              <a:alpha val="2000"/>
            </a:srgbClr>
          </a:solidFill>
          <a:ln w="9525">
            <a:solidFill>
              <a:srgbClr val="2A2F3A"/>
            </a:solidFill>
            <a:prstDash val="solid"/>
          </a:ln>
        </p:spPr>
      </p:sp>
      <p:sp>
        <p:nvSpPr>
          <p:cNvPr id="12" name="Text 10"/>
          <p:cNvSpPr/>
          <p:nvPr/>
        </p:nvSpPr>
        <p:spPr>
          <a:xfrm>
            <a:off x="12290375" y="4907533"/>
            <a:ext cx="5455340"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AVAILABILITY</a:t>
            </a:r>
            <a:endParaRPr lang="en-US" sz="1500" dirty="0"/>
          </a:p>
        </p:txBody>
      </p:sp>
      <p:sp>
        <p:nvSpPr>
          <p:cNvPr id="13" name="Text 11"/>
          <p:cNvSpPr/>
          <p:nvPr/>
        </p:nvSpPr>
        <p:spPr>
          <a:xfrm>
            <a:off x="12290375" y="5226621"/>
            <a:ext cx="5108182"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Reachable when required. Usually excluded from test scope by agreement.</a:t>
            </a:r>
            <a:endParaRPr lang="en-US" sz="1875" dirty="0"/>
          </a:p>
        </p:txBody>
      </p:sp>
      <p:sp>
        <p:nvSpPr>
          <p:cNvPr id="14" name="Text 12"/>
          <p:cNvSpPr/>
          <p:nvPr/>
        </p:nvSpPr>
        <p:spPr>
          <a:xfrm>
            <a:off x="800100" y="6379146"/>
            <a:ext cx="16344900" cy="438596"/>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Use the triad to phrase impact. "An attacker can read the payroll share" is a confidentiality statement a client can act on.</a:t>
            </a:r>
            <a:endParaRPr lang="en-US" sz="2175"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95350" y="3910980"/>
            <a:ext cx="2097301" cy="285750"/>
          </a:xfrm>
          <a:prstGeom prst="rect">
            <a:avLst/>
          </a:prstGeom>
          <a:noFill/>
          <a:ln/>
        </p:spPr>
        <p:txBody>
          <a:bodyPr wrap="square" lIns="25400" tIns="25400" rIns="25400" bIns="25400" rtlCol="0" anchor="t">
            <a:normAutofit/>
          </a:bodyPr>
          <a:lstStyle/>
          <a:p>
            <a:pPr algn="ctr" indent="0" marL="0">
              <a:buNone/>
            </a:pPr>
            <a:r>
              <a:rPr lang="en-US" sz="1650" b="1" spc="225" kern="0" dirty="0">
                <a:solidFill>
                  <a:srgbClr val="FF6A00"/>
                </a:solidFill>
                <a:latin typeface="Arial" pitchFamily="34" charset="0"/>
                <a:ea typeface="Arial" pitchFamily="34" charset="-122"/>
                <a:cs typeface="Arial" pitchFamily="34" charset="-120"/>
              </a:rPr>
              <a:t>OBJECTIVE 2.4</a:t>
            </a:r>
            <a:endParaRPr lang="en-US" sz="1650" dirty="0"/>
          </a:p>
        </p:txBody>
      </p:sp>
      <p:sp>
        <p:nvSpPr>
          <p:cNvPr id="4" name="Text 2"/>
          <p:cNvSpPr/>
          <p:nvPr/>
        </p:nvSpPr>
        <p:spPr>
          <a:xfrm>
            <a:off x="491468" y="4425330"/>
            <a:ext cx="17305065" cy="838200"/>
          </a:xfrm>
          <a:prstGeom prst="rect">
            <a:avLst/>
          </a:prstGeom>
          <a:noFill/>
          <a:ln/>
        </p:spPr>
        <p:txBody>
          <a:bodyPr wrap="square" lIns="25400" tIns="25400" rIns="25400" bIns="25400" rtlCol="0" anchor="t">
            <a:normAutofit/>
          </a:bodyPr>
          <a:lstStyle/>
          <a:p>
            <a:pPr algn="ctr" indent="0" marL="0">
              <a:lnSpc>
                <a:spcPct val="91304"/>
              </a:lnSpc>
              <a:buNone/>
            </a:pPr>
            <a:r>
              <a:rPr lang="en-US" sz="6000" b="1" spc="-37" kern="0" dirty="0">
                <a:solidFill>
                  <a:srgbClr val="F5F7FB"/>
                </a:solidFill>
                <a:latin typeface="Arial" pitchFamily="34" charset="0"/>
                <a:ea typeface="Arial" pitchFamily="34" charset="-122"/>
                <a:cs typeface="Arial" pitchFamily="34" charset="-120"/>
              </a:rPr>
              <a:t>Security Principles, Controls, and Strategies</a:t>
            </a:r>
            <a:endParaRPr lang="en-US" sz="6000" dirty="0"/>
          </a:p>
        </p:txBody>
      </p:sp>
      <p:sp>
        <p:nvSpPr>
          <p:cNvPr id="5" name="Text 3"/>
          <p:cNvSpPr/>
          <p:nvPr/>
        </p:nvSpPr>
        <p:spPr>
          <a:xfrm>
            <a:off x="2767013" y="5492130"/>
            <a:ext cx="12753975" cy="921990"/>
          </a:xfrm>
          <a:prstGeom prst="rect">
            <a:avLst/>
          </a:prstGeom>
          <a:noFill/>
          <a:ln/>
        </p:spPr>
        <p:txBody>
          <a:bodyPr wrap="square" lIns="25400" tIns="25400" rIns="25400" bIns="25400" rtlCol="0" anchor="t">
            <a:normAutofit/>
          </a:bodyPr>
          <a:lstStyle/>
          <a:p>
            <a:pPr algn="ctr" indent="0" marL="0">
              <a:lnSpc>
                <a:spcPct val="125405"/>
              </a:lnSpc>
              <a:buNone/>
            </a:pPr>
            <a:r>
              <a:rPr lang="en-US" sz="2400" dirty="0">
                <a:solidFill>
                  <a:srgbClr val="B8C0CF"/>
                </a:solidFill>
                <a:latin typeface="Arial" pitchFamily="34" charset="0"/>
                <a:ea typeface="Arial" pitchFamily="34" charset="-122"/>
                <a:cs typeface="Arial" pitchFamily="34" charset="-120"/>
              </a:rPr>
              <a:t>Layered defence, threat intelligence, least privilege, why security must not depend on secrecy, and the policies and controls that mitigate threats.</a:t>
            </a:r>
            <a:endParaRPr lang="en-US" sz="2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066604"/>
            <a:ext cx="2938239"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152329"/>
            <a:ext cx="2664436"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2.4 · Task 1 of 6</a:t>
            </a:r>
            <a:endParaRPr lang="en-US" sz="1500" dirty="0"/>
          </a:p>
        </p:txBody>
      </p:sp>
      <p:sp>
        <p:nvSpPr>
          <p:cNvPr id="5" name="Text 3"/>
          <p:cNvSpPr/>
          <p:nvPr/>
        </p:nvSpPr>
        <p:spPr>
          <a:xfrm>
            <a:off x="800100" y="3709541"/>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Multiple layers of defence</a:t>
            </a:r>
            <a:endParaRPr lang="en-US" sz="3000" dirty="0"/>
          </a:p>
        </p:txBody>
      </p:sp>
      <p:sp>
        <p:nvSpPr>
          <p:cNvPr id="6" name="Text 4"/>
          <p:cNvSpPr/>
          <p:nvPr/>
        </p:nvSpPr>
        <p:spPr>
          <a:xfrm>
            <a:off x="800100" y="4376291"/>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The syllabus requires understanding why a security strategy uses multiple layers. No single control is reliable, so defence assumes each layer will eventually fail and arranges that failure is survivable.</a:t>
            </a:r>
            <a:endParaRPr lang="en-US" sz="2175" dirty="0"/>
          </a:p>
        </p:txBody>
      </p:sp>
      <p:sp>
        <p:nvSpPr>
          <p:cNvPr id="7" name="Shape 5"/>
          <p:cNvSpPr/>
          <p:nvPr/>
        </p:nvSpPr>
        <p:spPr>
          <a:xfrm>
            <a:off x="800100"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8" name="Text 6"/>
          <p:cNvSpPr/>
          <p:nvPr/>
        </p:nvSpPr>
        <p:spPr>
          <a:xfrm>
            <a:off x="1038225"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WHY IT MATTERS</a:t>
            </a:r>
            <a:endParaRPr lang="en-US" sz="1500" dirty="0"/>
          </a:p>
        </p:txBody>
      </p:sp>
      <p:sp>
        <p:nvSpPr>
          <p:cNvPr id="9" name="Text 7"/>
          <p:cNvSpPr/>
          <p:nvPr/>
        </p:nvSpPr>
        <p:spPr>
          <a:xfrm>
            <a:off x="1038225" y="5982146"/>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A layered estate turns one compromise into a contained incident. It is also why real engagements chain many small findings rather than relying on one dramatic exploit.</a:t>
            </a:r>
            <a:endParaRPr lang="en-US" sz="1875" dirty="0"/>
          </a:p>
        </p:txBody>
      </p:sp>
      <p:sp>
        <p:nvSpPr>
          <p:cNvPr id="10" name="Shape 8"/>
          <p:cNvSpPr/>
          <p:nvPr/>
        </p:nvSpPr>
        <p:spPr>
          <a:xfrm>
            <a:off x="9248775"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11" name="Text 9"/>
          <p:cNvSpPr/>
          <p:nvPr/>
        </p:nvSpPr>
        <p:spPr>
          <a:xfrm>
            <a:off x="9486900"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WATCH FOR</a:t>
            </a:r>
            <a:endParaRPr lang="en-US" sz="1500" dirty="0"/>
          </a:p>
        </p:txBody>
      </p:sp>
      <p:sp>
        <p:nvSpPr>
          <p:cNvPr id="12" name="Text 10"/>
          <p:cNvSpPr/>
          <p:nvPr/>
        </p:nvSpPr>
        <p:spPr>
          <a:xfrm>
            <a:off x="9486900" y="5982146"/>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Layers that share a failure mode. Three controls that all depend on the same directory service are one control wearing three names.</a:t>
            </a:r>
            <a:endParaRPr lang="en-US" sz="1875"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2899916"/>
            <a:ext cx="2962498"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2985641"/>
            <a:ext cx="2689423"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2.4 · Task 2 of 6</a:t>
            </a:r>
            <a:endParaRPr lang="en-US" sz="1500" dirty="0"/>
          </a:p>
        </p:txBody>
      </p:sp>
      <p:sp>
        <p:nvSpPr>
          <p:cNvPr id="5" name="Text 3"/>
          <p:cNvSpPr/>
          <p:nvPr/>
        </p:nvSpPr>
        <p:spPr>
          <a:xfrm>
            <a:off x="800100" y="3542854"/>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Threat intelligence and its applications</a:t>
            </a:r>
            <a:endParaRPr lang="en-US" sz="3000" dirty="0"/>
          </a:p>
        </p:txBody>
      </p:sp>
      <p:sp>
        <p:nvSpPr>
          <p:cNvPr id="6" name="Text 4"/>
          <p:cNvSpPr/>
          <p:nvPr/>
        </p:nvSpPr>
        <p:spPr>
          <a:xfrm>
            <a:off x="800100" y="4209604"/>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Threat intelligence is processed information about adversaries — who they are, what they target, and how they operate — used to inform defensive decisions. Its value lies entirely in the decisions it changes.</a:t>
            </a:r>
            <a:endParaRPr lang="en-US" sz="2175" dirty="0"/>
          </a:p>
        </p:txBody>
      </p:sp>
      <p:sp>
        <p:nvSpPr>
          <p:cNvPr id="7" name="Shape 5"/>
          <p:cNvSpPr/>
          <p:nvPr/>
        </p:nvSpPr>
        <p:spPr>
          <a:xfrm>
            <a:off x="800100" y="5258246"/>
            <a:ext cx="5435575" cy="2128838"/>
          </a:xfrm>
          <a:prstGeom prst="roundRect">
            <a:avLst>
              <a:gd name="adj" fmla="val 7159"/>
            </a:avLst>
          </a:prstGeom>
          <a:solidFill>
            <a:srgbClr val="FFFFFF">
              <a:alpha val="2000"/>
            </a:srgbClr>
          </a:solidFill>
          <a:ln w="9525">
            <a:solidFill>
              <a:srgbClr val="2A2F3A"/>
            </a:solidFill>
            <a:prstDash val="solid"/>
          </a:ln>
        </p:spPr>
      </p:sp>
      <p:sp>
        <p:nvSpPr>
          <p:cNvPr id="8" name="Text 6"/>
          <p:cNvSpPr/>
          <p:nvPr/>
        </p:nvSpPr>
        <p:spPr>
          <a:xfrm>
            <a:off x="1038225" y="5496371"/>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APPLICATION</a:t>
            </a:r>
            <a:endParaRPr lang="en-US" sz="1500" dirty="0"/>
          </a:p>
        </p:txBody>
      </p:sp>
      <p:sp>
        <p:nvSpPr>
          <p:cNvPr id="9" name="Text 7"/>
          <p:cNvSpPr/>
          <p:nvPr/>
        </p:nvSpPr>
        <p:spPr>
          <a:xfrm>
            <a:off x="1038225" y="5815459"/>
            <a:ext cx="5108105"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Prioritising which vulnerabilities to remediate first, based on what is actually being exploited rather than on severity score alone.</a:t>
            </a:r>
            <a:endParaRPr lang="en-US" sz="1875" dirty="0"/>
          </a:p>
        </p:txBody>
      </p:sp>
      <p:sp>
        <p:nvSpPr>
          <p:cNvPr id="10" name="Shape 8"/>
          <p:cNvSpPr/>
          <p:nvPr/>
        </p:nvSpPr>
        <p:spPr>
          <a:xfrm>
            <a:off x="6426175" y="5258246"/>
            <a:ext cx="5435575" cy="2128838"/>
          </a:xfrm>
          <a:prstGeom prst="roundRect">
            <a:avLst>
              <a:gd name="adj" fmla="val 7159"/>
            </a:avLst>
          </a:prstGeom>
          <a:solidFill>
            <a:srgbClr val="FFFFFF">
              <a:alpha val="2000"/>
            </a:srgbClr>
          </a:solidFill>
          <a:ln w="9525">
            <a:solidFill>
              <a:srgbClr val="2A2F3A"/>
            </a:solidFill>
            <a:prstDash val="solid"/>
          </a:ln>
        </p:spPr>
      </p:sp>
      <p:sp>
        <p:nvSpPr>
          <p:cNvPr id="11" name="Text 9"/>
          <p:cNvSpPr/>
          <p:nvPr/>
        </p:nvSpPr>
        <p:spPr>
          <a:xfrm>
            <a:off x="6664300" y="5496371"/>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APPLICATION</a:t>
            </a:r>
            <a:endParaRPr lang="en-US" sz="1500" dirty="0"/>
          </a:p>
        </p:txBody>
      </p:sp>
      <p:sp>
        <p:nvSpPr>
          <p:cNvPr id="12" name="Text 10"/>
          <p:cNvSpPr/>
          <p:nvPr/>
        </p:nvSpPr>
        <p:spPr>
          <a:xfrm>
            <a:off x="6664300" y="5815459"/>
            <a:ext cx="5108105"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Shaping detection: if an actor group is known to use a technique, defenders can build coverage for it before being targeted.</a:t>
            </a:r>
            <a:endParaRPr lang="en-US" sz="1875" dirty="0"/>
          </a:p>
        </p:txBody>
      </p:sp>
      <p:sp>
        <p:nvSpPr>
          <p:cNvPr id="13" name="Shape 11"/>
          <p:cNvSpPr/>
          <p:nvPr/>
        </p:nvSpPr>
        <p:spPr>
          <a:xfrm>
            <a:off x="12052250" y="5258246"/>
            <a:ext cx="5435650" cy="2128838"/>
          </a:xfrm>
          <a:prstGeom prst="roundRect">
            <a:avLst>
              <a:gd name="adj" fmla="val 7159"/>
            </a:avLst>
          </a:prstGeom>
          <a:solidFill>
            <a:srgbClr val="FFFFFF">
              <a:alpha val="2000"/>
            </a:srgbClr>
          </a:solidFill>
          <a:ln w="9525">
            <a:solidFill>
              <a:srgbClr val="2A2F3A"/>
            </a:solidFill>
            <a:prstDash val="solid"/>
          </a:ln>
        </p:spPr>
      </p:sp>
      <p:sp>
        <p:nvSpPr>
          <p:cNvPr id="14" name="Text 12"/>
          <p:cNvSpPr/>
          <p:nvPr/>
        </p:nvSpPr>
        <p:spPr>
          <a:xfrm>
            <a:off x="12290375" y="5496371"/>
            <a:ext cx="5455340"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LIMITATION</a:t>
            </a:r>
            <a:endParaRPr lang="en-US" sz="1500" dirty="0"/>
          </a:p>
        </p:txBody>
      </p:sp>
      <p:sp>
        <p:nvSpPr>
          <p:cNvPr id="15" name="Text 13"/>
          <p:cNvSpPr/>
          <p:nvPr/>
        </p:nvSpPr>
        <p:spPr>
          <a:xfrm>
            <a:off x="12290375" y="5815459"/>
            <a:ext cx="5108182" cy="137160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Intelligence describes the past. An actor changing tooling invalidates indicator-based defence immediately, which is why behavioural detection exists.</a:t>
            </a:r>
            <a:endParaRPr lang="en-US" sz="1875"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066604"/>
            <a:ext cx="2967633"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152329"/>
            <a:ext cx="2694712"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2.4 · Task 3 of 6</a:t>
            </a:r>
            <a:endParaRPr lang="en-US" sz="1500" dirty="0"/>
          </a:p>
        </p:txBody>
      </p:sp>
      <p:sp>
        <p:nvSpPr>
          <p:cNvPr id="5" name="Text 3"/>
          <p:cNvSpPr/>
          <p:nvPr/>
        </p:nvSpPr>
        <p:spPr>
          <a:xfrm>
            <a:off x="800100" y="3709541"/>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Restricting access and user privileges</a:t>
            </a:r>
            <a:endParaRPr lang="en-US" sz="3000" dirty="0"/>
          </a:p>
        </p:txBody>
      </p:sp>
      <p:sp>
        <p:nvSpPr>
          <p:cNvPr id="6" name="Text 4"/>
          <p:cNvSpPr/>
          <p:nvPr/>
        </p:nvSpPr>
        <p:spPr>
          <a:xfrm>
            <a:off x="800100" y="4376291"/>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Access and privileges should be restricted as far as the task permits. Every privilege granted beyond need is an asset the attacker inherits the moment that account is compromised.</a:t>
            </a:r>
            <a:endParaRPr lang="en-US" sz="2175" dirty="0"/>
          </a:p>
        </p:txBody>
      </p:sp>
      <p:sp>
        <p:nvSpPr>
          <p:cNvPr id="7" name="Shape 5"/>
          <p:cNvSpPr/>
          <p:nvPr/>
        </p:nvSpPr>
        <p:spPr>
          <a:xfrm>
            <a:off x="800100"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8" name="Text 6"/>
          <p:cNvSpPr/>
          <p:nvPr/>
        </p:nvSpPr>
        <p:spPr>
          <a:xfrm>
            <a:off x="1038225"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SECURITY RELEVANCE</a:t>
            </a:r>
            <a:endParaRPr lang="en-US" sz="1500" dirty="0"/>
          </a:p>
        </p:txBody>
      </p:sp>
      <p:sp>
        <p:nvSpPr>
          <p:cNvPr id="9" name="Text 7"/>
          <p:cNvSpPr/>
          <p:nvPr/>
        </p:nvSpPr>
        <p:spPr>
          <a:xfrm>
            <a:off x="1038225" y="5982146"/>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Almost every escalation technique in Modules 15 and 16, and every lateral movement technique in Module 22, depends on an account holding more rights than its function requires.</a:t>
            </a:r>
            <a:endParaRPr lang="en-US" sz="1875" dirty="0"/>
          </a:p>
        </p:txBody>
      </p:sp>
      <p:sp>
        <p:nvSpPr>
          <p:cNvPr id="10" name="Shape 8"/>
          <p:cNvSpPr/>
          <p:nvPr/>
        </p:nvSpPr>
        <p:spPr>
          <a:xfrm>
            <a:off x="9248775"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11" name="Text 9"/>
          <p:cNvSpPr/>
          <p:nvPr/>
        </p:nvSpPr>
        <p:spPr>
          <a:xfrm>
            <a:off x="9486900"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WATCH FOR</a:t>
            </a:r>
            <a:endParaRPr lang="en-US" sz="1500" dirty="0"/>
          </a:p>
        </p:txBody>
      </p:sp>
      <p:sp>
        <p:nvSpPr>
          <p:cNvPr id="12" name="Text 10"/>
          <p:cNvSpPr/>
          <p:nvPr/>
        </p:nvSpPr>
        <p:spPr>
          <a:xfrm>
            <a:off x="9486900" y="5982146"/>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Privilege accumulated over time. Accounts are rarely reduced when roles change, so the effective privilege of a long-lived account almost always exceeds its documented privilege.</a:t>
            </a:r>
            <a:endParaRPr lang="en-US" sz="1875"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066604"/>
            <a:ext cx="2971130"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152329"/>
            <a:ext cx="2698314"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2.4 · Task 4 of 6</a:t>
            </a:r>
            <a:endParaRPr lang="en-US" sz="1500" dirty="0"/>
          </a:p>
        </p:txBody>
      </p:sp>
      <p:sp>
        <p:nvSpPr>
          <p:cNvPr id="5" name="Text 3"/>
          <p:cNvSpPr/>
          <p:nvPr/>
        </p:nvSpPr>
        <p:spPr>
          <a:xfrm>
            <a:off x="800100" y="3709541"/>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Security should not depend on secrecy</a:t>
            </a:r>
            <a:endParaRPr lang="en-US" sz="3000" dirty="0"/>
          </a:p>
        </p:txBody>
      </p:sp>
      <p:sp>
        <p:nvSpPr>
          <p:cNvPr id="6" name="Text 4"/>
          <p:cNvSpPr/>
          <p:nvPr/>
        </p:nvSpPr>
        <p:spPr>
          <a:xfrm>
            <a:off x="800100" y="4376291"/>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A control whose only strength is that the attacker does not know about it has no strength at all — it has a delay. Secrecy of design is not a security property; secrecy of keys and credentials is.</a:t>
            </a:r>
            <a:endParaRPr lang="en-US" sz="2175" dirty="0"/>
          </a:p>
        </p:txBody>
      </p:sp>
      <p:sp>
        <p:nvSpPr>
          <p:cNvPr id="7" name="Shape 5"/>
          <p:cNvSpPr/>
          <p:nvPr/>
        </p:nvSpPr>
        <p:spPr>
          <a:xfrm>
            <a:off x="800100"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8" name="Text 6"/>
          <p:cNvSpPr/>
          <p:nvPr/>
        </p:nvSpPr>
        <p:spPr>
          <a:xfrm>
            <a:off x="1038225"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WHY IT MATTERS</a:t>
            </a:r>
            <a:endParaRPr lang="en-US" sz="1500" dirty="0"/>
          </a:p>
        </p:txBody>
      </p:sp>
      <p:sp>
        <p:nvSpPr>
          <p:cNvPr id="9" name="Text 7"/>
          <p:cNvSpPr/>
          <p:nvPr/>
        </p:nvSpPr>
        <p:spPr>
          <a:xfrm>
            <a:off x="1038225" y="5982146"/>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Design details leak through error messages, client-side code, documentation, job adverts and former staff. Every information-gathering technique in Module 5 exists because they leak.</a:t>
            </a:r>
            <a:endParaRPr lang="en-US" sz="1875" dirty="0"/>
          </a:p>
        </p:txBody>
      </p:sp>
      <p:sp>
        <p:nvSpPr>
          <p:cNvPr id="10" name="Shape 8"/>
          <p:cNvSpPr/>
          <p:nvPr/>
        </p:nvSpPr>
        <p:spPr>
          <a:xfrm>
            <a:off x="9248775"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11" name="Text 9"/>
          <p:cNvSpPr/>
          <p:nvPr/>
        </p:nvSpPr>
        <p:spPr>
          <a:xfrm>
            <a:off x="9486900"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DISTINCT FROM</a:t>
            </a:r>
            <a:endParaRPr lang="en-US" sz="1500" dirty="0"/>
          </a:p>
        </p:txBody>
      </p:sp>
      <p:sp>
        <p:nvSpPr>
          <p:cNvPr id="12" name="Text 10"/>
          <p:cNvSpPr/>
          <p:nvPr/>
        </p:nvSpPr>
        <p:spPr>
          <a:xfrm>
            <a:off x="9486900" y="5982146"/>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Reducing exposure. Not publishing your internal architecture is sensible hygiene; relying on it being unpublished is not a control.</a:t>
            </a:r>
            <a:endParaRPr lang="en-US" sz="1875"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3340671"/>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CRITICAL DISTINCTION</a:t>
            </a:r>
            <a:endParaRPr lang="en-US" sz="1650" dirty="0"/>
          </a:p>
        </p:txBody>
      </p:sp>
      <p:sp>
        <p:nvSpPr>
          <p:cNvPr id="4" name="Text 2"/>
          <p:cNvSpPr/>
          <p:nvPr/>
        </p:nvSpPr>
        <p:spPr>
          <a:xfrm>
            <a:off x="800100" y="3835971"/>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Obscurity as a layer, not as the layer</a:t>
            </a:r>
            <a:endParaRPr lang="en-US" sz="3000" dirty="0"/>
          </a:p>
        </p:txBody>
      </p:sp>
      <p:sp>
        <p:nvSpPr>
          <p:cNvPr id="5" name="Shape 3"/>
          <p:cNvSpPr/>
          <p:nvPr/>
        </p:nvSpPr>
        <p:spPr>
          <a:xfrm>
            <a:off x="800100" y="4502721"/>
            <a:ext cx="7581900" cy="1795463"/>
          </a:xfrm>
          <a:prstGeom prst="roundRect">
            <a:avLst>
              <a:gd name="adj" fmla="val 8488"/>
            </a:avLst>
          </a:prstGeom>
          <a:solidFill>
            <a:srgbClr val="FFFFFF">
              <a:alpha val="2000"/>
            </a:srgbClr>
          </a:solidFill>
          <a:ln w="9525">
            <a:solidFill>
              <a:srgbClr val="2A2F3A"/>
            </a:solidFill>
            <a:prstDash val="solid"/>
          </a:ln>
        </p:spPr>
      </p:sp>
      <p:sp>
        <p:nvSpPr>
          <p:cNvPr id="6" name="Text 4"/>
          <p:cNvSpPr/>
          <p:nvPr/>
        </p:nvSpPr>
        <p:spPr>
          <a:xfrm>
            <a:off x="1038225" y="4740846"/>
            <a:ext cx="7816215"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ACCEPTABLE</a:t>
            </a:r>
            <a:endParaRPr lang="en-US" sz="1500" dirty="0"/>
          </a:p>
        </p:txBody>
      </p:sp>
      <p:sp>
        <p:nvSpPr>
          <p:cNvPr id="7" name="Text 5"/>
          <p:cNvSpPr/>
          <p:nvPr/>
        </p:nvSpPr>
        <p:spPr>
          <a:xfrm>
            <a:off x="1038225" y="5059933"/>
            <a:ext cx="7318820"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Moving an administrative interface to a non-standard port reduces automated noise. It is a cost imposed on the opportunistic attacker, layered on top of authentication that actually holds.</a:t>
            </a:r>
            <a:endParaRPr lang="en-US" sz="1875" dirty="0"/>
          </a:p>
        </p:txBody>
      </p:sp>
      <p:sp>
        <p:nvSpPr>
          <p:cNvPr id="8" name="Text 6"/>
          <p:cNvSpPr/>
          <p:nvPr/>
        </p:nvSpPr>
        <p:spPr>
          <a:xfrm>
            <a:off x="8534400" y="4502721"/>
            <a:ext cx="1219200" cy="1833563"/>
          </a:xfrm>
          <a:prstGeom prst="rect">
            <a:avLst/>
          </a:prstGeom>
          <a:noFill/>
          <a:ln/>
        </p:spPr>
        <p:txBody>
          <a:bodyPr wrap="square" lIns="25400" tIns="25400" rIns="25400" bIns="25400" rtlCol="0" anchor="ctr">
            <a:normAutofit/>
          </a:bodyPr>
          <a:lstStyle/>
          <a:p>
            <a:pPr algn="ctr" indent="0" marL="0">
              <a:buNone/>
            </a:pPr>
            <a:r>
              <a:rPr lang="en-US" sz="3900" b="1" dirty="0">
                <a:solidFill>
                  <a:srgbClr val="FF6A00"/>
                </a:solidFill>
                <a:latin typeface="Arial" pitchFamily="34" charset="0"/>
                <a:ea typeface="Arial" pitchFamily="34" charset="-122"/>
                <a:cs typeface="Arial" pitchFamily="34" charset="-120"/>
              </a:rPr>
              <a:t>VS</a:t>
            </a:r>
            <a:endParaRPr lang="en-US" sz="3900" dirty="0"/>
          </a:p>
        </p:txBody>
      </p:sp>
      <p:sp>
        <p:nvSpPr>
          <p:cNvPr id="9" name="Shape 7"/>
          <p:cNvSpPr/>
          <p:nvPr/>
        </p:nvSpPr>
        <p:spPr>
          <a:xfrm>
            <a:off x="9906000" y="4502721"/>
            <a:ext cx="7581900" cy="1795463"/>
          </a:xfrm>
          <a:prstGeom prst="roundRect">
            <a:avLst>
              <a:gd name="adj" fmla="val 8488"/>
            </a:avLst>
          </a:prstGeom>
          <a:solidFill>
            <a:srgbClr val="FF6A00">
              <a:alpha val="6000"/>
            </a:srgbClr>
          </a:solidFill>
          <a:ln w="9525">
            <a:solidFill>
              <a:srgbClr val="B85100"/>
            </a:solidFill>
            <a:prstDash val="solid"/>
          </a:ln>
        </p:spPr>
      </p:sp>
      <p:sp>
        <p:nvSpPr>
          <p:cNvPr id="10" name="Text 8"/>
          <p:cNvSpPr/>
          <p:nvPr/>
        </p:nvSpPr>
        <p:spPr>
          <a:xfrm>
            <a:off x="10144125" y="4740846"/>
            <a:ext cx="7816215"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A FINDING</a:t>
            </a:r>
            <a:endParaRPr lang="en-US" sz="1500" dirty="0"/>
          </a:p>
        </p:txBody>
      </p:sp>
      <p:sp>
        <p:nvSpPr>
          <p:cNvPr id="11" name="Text 9"/>
          <p:cNvSpPr/>
          <p:nvPr/>
        </p:nvSpPr>
        <p:spPr>
          <a:xfrm>
            <a:off x="10144125" y="5059933"/>
            <a:ext cx="7318820"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Moving that interface to a non-standard port </a:t>
            </a:r>
            <a:pPr algn="l" indent="0" marL="0">
              <a:lnSpc>
                <a:spcPct val="120690"/>
              </a:lnSpc>
              <a:buNone/>
            </a:pPr>
            <a:r>
              <a:rPr lang="en-US" sz="1875" i="1" dirty="0">
                <a:solidFill>
                  <a:srgbClr val="DFE3EA"/>
                </a:solidFill>
                <a:latin typeface="Arial" pitchFamily="34" charset="0"/>
                <a:ea typeface="Arial" pitchFamily="34" charset="-122"/>
                <a:cs typeface="Arial" pitchFamily="34" charset="-120"/>
              </a:rPr>
              <a:t>instead of </a:t>
            </a:r>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authenticating it. Any attacker who scans all ports — which is all of them — is now fully authorised.</a:t>
            </a:r>
            <a:endParaRPr lang="en-US" sz="1875" dirty="0"/>
          </a:p>
        </p:txBody>
      </p:sp>
      <p:sp>
        <p:nvSpPr>
          <p:cNvPr id="12" name="Text 10"/>
          <p:cNvSpPr/>
          <p:nvPr/>
        </p:nvSpPr>
        <p:spPr>
          <a:xfrm>
            <a:off x="800100" y="6545833"/>
            <a:ext cx="16344900" cy="438596"/>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The test question is simple: if the attacker knows everything about the design, does the control still hold?</a:t>
            </a:r>
            <a:endParaRPr lang="en-US" sz="2175"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2899916"/>
            <a:ext cx="2966740"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2985641"/>
            <a:ext cx="2693792"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2.4 · Task 5 of 6</a:t>
            </a:r>
            <a:endParaRPr lang="en-US" sz="1500" dirty="0"/>
          </a:p>
        </p:txBody>
      </p:sp>
      <p:sp>
        <p:nvSpPr>
          <p:cNvPr id="5" name="Text 3"/>
          <p:cNvSpPr/>
          <p:nvPr/>
        </p:nvSpPr>
        <p:spPr>
          <a:xfrm>
            <a:off x="800100" y="3542854"/>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Policies that mitigate threats</a:t>
            </a:r>
            <a:endParaRPr lang="en-US" sz="3000" dirty="0"/>
          </a:p>
        </p:txBody>
      </p:sp>
      <p:sp>
        <p:nvSpPr>
          <p:cNvPr id="6" name="Text 4"/>
          <p:cNvSpPr/>
          <p:nvPr/>
        </p:nvSpPr>
        <p:spPr>
          <a:xfrm>
            <a:off x="800100" y="4209604"/>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Policy is how an organisation makes secure behaviour the default at a scale no technical control can reach. It is also the layer most often written and least often enforced.</a:t>
            </a:r>
            <a:endParaRPr lang="en-US" sz="2175" dirty="0"/>
          </a:p>
        </p:txBody>
      </p:sp>
      <p:sp>
        <p:nvSpPr>
          <p:cNvPr id="7" name="Shape 5"/>
          <p:cNvSpPr/>
          <p:nvPr/>
        </p:nvSpPr>
        <p:spPr>
          <a:xfrm>
            <a:off x="800100" y="5258246"/>
            <a:ext cx="5435575" cy="2128838"/>
          </a:xfrm>
          <a:prstGeom prst="roundRect">
            <a:avLst>
              <a:gd name="adj" fmla="val 7159"/>
            </a:avLst>
          </a:prstGeom>
          <a:solidFill>
            <a:srgbClr val="FFFFFF">
              <a:alpha val="2000"/>
            </a:srgbClr>
          </a:solidFill>
          <a:ln w="9525">
            <a:solidFill>
              <a:srgbClr val="2A2F3A"/>
            </a:solidFill>
            <a:prstDash val="solid"/>
          </a:ln>
        </p:spPr>
      </p:sp>
      <p:sp>
        <p:nvSpPr>
          <p:cNvPr id="8" name="Text 6"/>
          <p:cNvSpPr/>
          <p:nvPr/>
        </p:nvSpPr>
        <p:spPr>
          <a:xfrm>
            <a:off x="1038225" y="5496371"/>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ACCESS AND IDENTITY</a:t>
            </a:r>
            <a:endParaRPr lang="en-US" sz="1500" dirty="0"/>
          </a:p>
        </p:txBody>
      </p:sp>
      <p:sp>
        <p:nvSpPr>
          <p:cNvPr id="9" name="Text 7"/>
          <p:cNvSpPr/>
          <p:nvPr/>
        </p:nvSpPr>
        <p:spPr>
          <a:xfrm>
            <a:off x="1038225" y="5815459"/>
            <a:ext cx="5108105" cy="137160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Who may hold which privileges, how access is requested, reviewed and revoked, and how privileged accounts are separated from daily-use accounts.</a:t>
            </a:r>
            <a:endParaRPr lang="en-US" sz="1875" dirty="0"/>
          </a:p>
        </p:txBody>
      </p:sp>
      <p:sp>
        <p:nvSpPr>
          <p:cNvPr id="10" name="Shape 8"/>
          <p:cNvSpPr/>
          <p:nvPr/>
        </p:nvSpPr>
        <p:spPr>
          <a:xfrm>
            <a:off x="6426175" y="5258246"/>
            <a:ext cx="5435575" cy="2128838"/>
          </a:xfrm>
          <a:prstGeom prst="roundRect">
            <a:avLst>
              <a:gd name="adj" fmla="val 7159"/>
            </a:avLst>
          </a:prstGeom>
          <a:solidFill>
            <a:srgbClr val="FFFFFF">
              <a:alpha val="2000"/>
            </a:srgbClr>
          </a:solidFill>
          <a:ln w="9525">
            <a:solidFill>
              <a:srgbClr val="2A2F3A"/>
            </a:solidFill>
            <a:prstDash val="solid"/>
          </a:ln>
        </p:spPr>
      </p:sp>
      <p:sp>
        <p:nvSpPr>
          <p:cNvPr id="11" name="Text 9"/>
          <p:cNvSpPr/>
          <p:nvPr/>
        </p:nvSpPr>
        <p:spPr>
          <a:xfrm>
            <a:off x="6664300" y="5496371"/>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CHANGE AND CONFIGURATION</a:t>
            </a:r>
            <a:endParaRPr lang="en-US" sz="1500" dirty="0"/>
          </a:p>
        </p:txBody>
      </p:sp>
      <p:sp>
        <p:nvSpPr>
          <p:cNvPr id="12" name="Text 10"/>
          <p:cNvSpPr/>
          <p:nvPr/>
        </p:nvSpPr>
        <p:spPr>
          <a:xfrm>
            <a:off x="6664300" y="5815459"/>
            <a:ext cx="5108105"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How systems are built, hardened and patched, and how deviations from the standard build are authorised and recorded.</a:t>
            </a:r>
            <a:endParaRPr lang="en-US" sz="1875" dirty="0"/>
          </a:p>
        </p:txBody>
      </p:sp>
      <p:sp>
        <p:nvSpPr>
          <p:cNvPr id="13" name="Shape 11"/>
          <p:cNvSpPr/>
          <p:nvPr/>
        </p:nvSpPr>
        <p:spPr>
          <a:xfrm>
            <a:off x="12052250" y="5258246"/>
            <a:ext cx="5435650" cy="2128838"/>
          </a:xfrm>
          <a:prstGeom prst="roundRect">
            <a:avLst>
              <a:gd name="adj" fmla="val 7159"/>
            </a:avLst>
          </a:prstGeom>
          <a:solidFill>
            <a:srgbClr val="FFFFFF">
              <a:alpha val="2000"/>
            </a:srgbClr>
          </a:solidFill>
          <a:ln w="9525">
            <a:solidFill>
              <a:srgbClr val="2A2F3A"/>
            </a:solidFill>
            <a:prstDash val="solid"/>
          </a:ln>
        </p:spPr>
      </p:sp>
      <p:sp>
        <p:nvSpPr>
          <p:cNvPr id="14" name="Text 12"/>
          <p:cNvSpPr/>
          <p:nvPr/>
        </p:nvSpPr>
        <p:spPr>
          <a:xfrm>
            <a:off x="12290375" y="5496371"/>
            <a:ext cx="5455340"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INCIDENT AND ACCEPTABLE USE</a:t>
            </a:r>
            <a:endParaRPr lang="en-US" sz="1500" dirty="0"/>
          </a:p>
        </p:txBody>
      </p:sp>
      <p:sp>
        <p:nvSpPr>
          <p:cNvPr id="15" name="Text 13"/>
          <p:cNvSpPr/>
          <p:nvPr/>
        </p:nvSpPr>
        <p:spPr>
          <a:xfrm>
            <a:off x="12290375" y="5815459"/>
            <a:ext cx="5108182"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What staff may do with company systems and data, and what happens — and in what order — when something goes wrong.</a:t>
            </a:r>
            <a:endParaRPr lang="en-US" sz="1875"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066604"/>
            <a:ext cx="2970981"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152329"/>
            <a:ext cx="2698161"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2.4 · Task 6 of 6</a:t>
            </a:r>
            <a:endParaRPr lang="en-US" sz="1500" dirty="0"/>
          </a:p>
        </p:txBody>
      </p:sp>
      <p:sp>
        <p:nvSpPr>
          <p:cNvPr id="5" name="Text 3"/>
          <p:cNvSpPr/>
          <p:nvPr/>
        </p:nvSpPr>
        <p:spPr>
          <a:xfrm>
            <a:off x="800100" y="3709541"/>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Controls that mitigate cybersecurity threats</a:t>
            </a:r>
            <a:endParaRPr lang="en-US" sz="3000" dirty="0"/>
          </a:p>
        </p:txBody>
      </p:sp>
      <p:sp>
        <p:nvSpPr>
          <p:cNvPr id="6" name="Text 4"/>
          <p:cNvSpPr/>
          <p:nvPr/>
        </p:nvSpPr>
        <p:spPr>
          <a:xfrm>
            <a:off x="800100" y="4376291"/>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A control is any measure that reduces risk. Controls are usefully classified along two axes at once: what they do, and what kind of thing they are.</a:t>
            </a:r>
            <a:endParaRPr lang="en-US" sz="2175" dirty="0"/>
          </a:p>
        </p:txBody>
      </p:sp>
      <p:sp>
        <p:nvSpPr>
          <p:cNvPr id="7" name="Shape 5"/>
          <p:cNvSpPr/>
          <p:nvPr/>
        </p:nvSpPr>
        <p:spPr>
          <a:xfrm>
            <a:off x="800100"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8" name="Text 6"/>
          <p:cNvSpPr/>
          <p:nvPr/>
        </p:nvSpPr>
        <p:spPr>
          <a:xfrm>
            <a:off x="1038225"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BY FUNCTION</a:t>
            </a:r>
            <a:endParaRPr lang="en-US" sz="1500" dirty="0"/>
          </a:p>
        </p:txBody>
      </p:sp>
      <p:sp>
        <p:nvSpPr>
          <p:cNvPr id="9" name="Text 7"/>
          <p:cNvSpPr/>
          <p:nvPr/>
        </p:nvSpPr>
        <p:spPr>
          <a:xfrm>
            <a:off x="1038225" y="5982146"/>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Preventive stops the action; detective identifies that it happened; corrective restores the position afterwards. Deterrent and compensating controls sit alongside these.</a:t>
            </a:r>
            <a:endParaRPr lang="en-US" sz="1875" dirty="0"/>
          </a:p>
        </p:txBody>
      </p:sp>
      <p:sp>
        <p:nvSpPr>
          <p:cNvPr id="10" name="Shape 8"/>
          <p:cNvSpPr/>
          <p:nvPr/>
        </p:nvSpPr>
        <p:spPr>
          <a:xfrm>
            <a:off x="9248775"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11" name="Text 9"/>
          <p:cNvSpPr/>
          <p:nvPr/>
        </p:nvSpPr>
        <p:spPr>
          <a:xfrm>
            <a:off x="9486900"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BY NATURE</a:t>
            </a:r>
            <a:endParaRPr lang="en-US" sz="1500" dirty="0"/>
          </a:p>
        </p:txBody>
      </p:sp>
      <p:sp>
        <p:nvSpPr>
          <p:cNvPr id="12" name="Text 10"/>
          <p:cNvSpPr/>
          <p:nvPr/>
        </p:nvSpPr>
        <p:spPr>
          <a:xfrm>
            <a:off x="9486900" y="5982146"/>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Technical controls are enforced by systems; administrative controls by process and policy; physical controls by the built environment.</a:t>
            </a:r>
            <a:endParaRPr lang="en-US" sz="1875"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2695575"/>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REFERENCE</a:t>
            </a:r>
            <a:endParaRPr lang="en-US" sz="1650" dirty="0"/>
          </a:p>
        </p:txBody>
      </p:sp>
      <p:sp>
        <p:nvSpPr>
          <p:cNvPr id="4" name="Text 2"/>
          <p:cNvSpPr/>
          <p:nvPr/>
        </p:nvSpPr>
        <p:spPr>
          <a:xfrm>
            <a:off x="800100" y="3190875"/>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Controls by function and nature</a:t>
            </a:r>
            <a:endParaRPr lang="en-US" sz="3000" dirty="0"/>
          </a:p>
        </p:txBody>
      </p:sp>
      <p:sp>
        <p:nvSpPr>
          <p:cNvPr id="5" name="Shape 3"/>
          <p:cNvSpPr/>
          <p:nvPr/>
        </p:nvSpPr>
        <p:spPr>
          <a:xfrm>
            <a:off x="800100" y="3857625"/>
            <a:ext cx="2971800" cy="500063"/>
          </a:xfrm>
          <a:prstGeom prst="rect">
            <a:avLst/>
          </a:prstGeom>
          <a:solidFill>
            <a:srgbClr val="FF6A00">
              <a:alpha val="18000"/>
            </a:srgbClr>
          </a:solidFill>
          <a:ln/>
        </p:spPr>
      </p:sp>
      <p:sp>
        <p:nvSpPr>
          <p:cNvPr id="6" name="Shape 4"/>
          <p:cNvSpPr/>
          <p:nvPr/>
        </p:nvSpPr>
        <p:spPr>
          <a:xfrm>
            <a:off x="800100" y="4348163"/>
            <a:ext cx="2971800" cy="9525"/>
          </a:xfrm>
          <a:prstGeom prst="rect">
            <a:avLst/>
          </a:prstGeom>
          <a:solidFill>
            <a:srgbClr val="B85100"/>
          </a:solidFill>
          <a:ln/>
        </p:spPr>
      </p:sp>
      <p:sp>
        <p:nvSpPr>
          <p:cNvPr id="7" name="Text 5"/>
          <p:cNvSpPr/>
          <p:nvPr/>
        </p:nvSpPr>
        <p:spPr>
          <a:xfrm>
            <a:off x="952500" y="3971925"/>
            <a:ext cx="2756154" cy="300038"/>
          </a:xfrm>
          <a:prstGeom prst="rect">
            <a:avLst/>
          </a:prstGeom>
          <a:noFill/>
          <a:ln/>
        </p:spPr>
        <p:txBody>
          <a:bodyPr wrap="square" lIns="25400" tIns="25400" rIns="25400" bIns="25400" rtlCol="0" anchor="ctr">
            <a:normAutofit/>
          </a:bodyPr>
          <a:lstStyle/>
          <a:p>
            <a:pPr algn="l" indent="0" marL="0">
              <a:buNone/>
            </a:pPr>
            <a:r>
              <a:rPr lang="en-US" sz="1800" b="1" dirty="0">
                <a:solidFill>
                  <a:srgbClr val="F5F7FB"/>
                </a:solidFill>
                <a:latin typeface="Arial" pitchFamily="34" charset="0"/>
                <a:ea typeface="Arial" pitchFamily="34" charset="-122"/>
                <a:cs typeface="Arial" pitchFamily="34" charset="-120"/>
              </a:rPr>
              <a:t>Function</a:t>
            </a:r>
            <a:endParaRPr lang="en-US" sz="1800" dirty="0"/>
          </a:p>
        </p:txBody>
      </p:sp>
      <p:sp>
        <p:nvSpPr>
          <p:cNvPr id="8" name="Shape 6"/>
          <p:cNvSpPr/>
          <p:nvPr/>
        </p:nvSpPr>
        <p:spPr>
          <a:xfrm>
            <a:off x="3771900" y="3857625"/>
            <a:ext cx="4305300" cy="500063"/>
          </a:xfrm>
          <a:prstGeom prst="rect">
            <a:avLst/>
          </a:prstGeom>
          <a:solidFill>
            <a:srgbClr val="FF6A00">
              <a:alpha val="18000"/>
            </a:srgbClr>
          </a:solidFill>
          <a:ln/>
        </p:spPr>
      </p:sp>
      <p:sp>
        <p:nvSpPr>
          <p:cNvPr id="9" name="Shape 7"/>
          <p:cNvSpPr/>
          <p:nvPr/>
        </p:nvSpPr>
        <p:spPr>
          <a:xfrm>
            <a:off x="3771900" y="4348163"/>
            <a:ext cx="4305300" cy="9525"/>
          </a:xfrm>
          <a:prstGeom prst="rect">
            <a:avLst/>
          </a:prstGeom>
          <a:solidFill>
            <a:srgbClr val="B85100"/>
          </a:solidFill>
          <a:ln/>
        </p:spPr>
      </p:sp>
      <p:sp>
        <p:nvSpPr>
          <p:cNvPr id="10" name="Text 8"/>
          <p:cNvSpPr/>
          <p:nvPr/>
        </p:nvSpPr>
        <p:spPr>
          <a:xfrm>
            <a:off x="3924300" y="3971925"/>
            <a:ext cx="4129659" cy="300038"/>
          </a:xfrm>
          <a:prstGeom prst="rect">
            <a:avLst/>
          </a:prstGeom>
          <a:noFill/>
          <a:ln/>
        </p:spPr>
        <p:txBody>
          <a:bodyPr wrap="square" lIns="25400" tIns="25400" rIns="25400" bIns="25400" rtlCol="0" anchor="ctr">
            <a:normAutofit/>
          </a:bodyPr>
          <a:lstStyle/>
          <a:p>
            <a:pPr algn="l" indent="0" marL="0">
              <a:buNone/>
            </a:pPr>
            <a:r>
              <a:rPr lang="en-US" sz="1800" b="1" dirty="0">
                <a:solidFill>
                  <a:srgbClr val="F5F7FB"/>
                </a:solidFill>
                <a:latin typeface="Arial" pitchFamily="34" charset="0"/>
                <a:ea typeface="Arial" pitchFamily="34" charset="-122"/>
                <a:cs typeface="Arial" pitchFamily="34" charset="-120"/>
              </a:rPr>
              <a:t>Technical</a:t>
            </a:r>
            <a:endParaRPr lang="en-US" sz="1800" dirty="0"/>
          </a:p>
        </p:txBody>
      </p:sp>
      <p:sp>
        <p:nvSpPr>
          <p:cNvPr id="11" name="Shape 9"/>
          <p:cNvSpPr/>
          <p:nvPr/>
        </p:nvSpPr>
        <p:spPr>
          <a:xfrm>
            <a:off x="8077200" y="3857625"/>
            <a:ext cx="9410700" cy="500063"/>
          </a:xfrm>
          <a:prstGeom prst="rect">
            <a:avLst/>
          </a:prstGeom>
          <a:solidFill>
            <a:srgbClr val="FF6A00">
              <a:alpha val="18000"/>
            </a:srgbClr>
          </a:solidFill>
          <a:ln/>
        </p:spPr>
      </p:sp>
      <p:sp>
        <p:nvSpPr>
          <p:cNvPr id="12" name="Shape 10"/>
          <p:cNvSpPr/>
          <p:nvPr/>
        </p:nvSpPr>
        <p:spPr>
          <a:xfrm>
            <a:off x="8077200" y="4348163"/>
            <a:ext cx="9410700" cy="9525"/>
          </a:xfrm>
          <a:prstGeom prst="rect">
            <a:avLst/>
          </a:prstGeom>
          <a:solidFill>
            <a:srgbClr val="B85100"/>
          </a:solidFill>
          <a:ln/>
        </p:spPr>
      </p:sp>
      <p:sp>
        <p:nvSpPr>
          <p:cNvPr id="13" name="Text 11"/>
          <p:cNvSpPr/>
          <p:nvPr/>
        </p:nvSpPr>
        <p:spPr>
          <a:xfrm>
            <a:off x="8229600" y="3971925"/>
            <a:ext cx="9388221" cy="300038"/>
          </a:xfrm>
          <a:prstGeom prst="rect">
            <a:avLst/>
          </a:prstGeom>
          <a:noFill/>
          <a:ln/>
        </p:spPr>
        <p:txBody>
          <a:bodyPr wrap="square" lIns="25400" tIns="25400" rIns="25400" bIns="25400" rtlCol="0" anchor="ctr">
            <a:normAutofit/>
          </a:bodyPr>
          <a:lstStyle/>
          <a:p>
            <a:pPr algn="l" indent="0" marL="0">
              <a:buNone/>
            </a:pPr>
            <a:r>
              <a:rPr lang="en-US" sz="1800" b="1" dirty="0">
                <a:solidFill>
                  <a:srgbClr val="F5F7FB"/>
                </a:solidFill>
                <a:latin typeface="Arial" pitchFamily="34" charset="0"/>
                <a:ea typeface="Arial" pitchFamily="34" charset="-122"/>
                <a:cs typeface="Arial" pitchFamily="34" charset="-120"/>
              </a:rPr>
              <a:t>Administrative</a:t>
            </a:r>
            <a:endParaRPr lang="en-US" sz="1800" dirty="0"/>
          </a:p>
        </p:txBody>
      </p:sp>
      <p:sp>
        <p:nvSpPr>
          <p:cNvPr id="14" name="Shape 12"/>
          <p:cNvSpPr/>
          <p:nvPr/>
        </p:nvSpPr>
        <p:spPr>
          <a:xfrm>
            <a:off x="800100" y="4357688"/>
            <a:ext cx="2971800" cy="752475"/>
          </a:xfrm>
          <a:prstGeom prst="rect">
            <a:avLst/>
          </a:prstGeom>
          <a:solidFill>
            <a:srgbClr val="FFFFFF">
              <a:alpha val="2000"/>
            </a:srgbClr>
          </a:solidFill>
          <a:ln/>
        </p:spPr>
      </p:sp>
      <p:sp>
        <p:nvSpPr>
          <p:cNvPr id="15" name="Shape 13"/>
          <p:cNvSpPr/>
          <p:nvPr/>
        </p:nvSpPr>
        <p:spPr>
          <a:xfrm>
            <a:off x="800100" y="5100638"/>
            <a:ext cx="2971800" cy="9525"/>
          </a:xfrm>
          <a:prstGeom prst="rect">
            <a:avLst/>
          </a:prstGeom>
          <a:solidFill>
            <a:srgbClr val="2A2F3A"/>
          </a:solidFill>
          <a:ln/>
        </p:spPr>
      </p:sp>
      <p:sp>
        <p:nvSpPr>
          <p:cNvPr id="16" name="Text 14"/>
          <p:cNvSpPr/>
          <p:nvPr/>
        </p:nvSpPr>
        <p:spPr>
          <a:xfrm>
            <a:off x="952500" y="4462463"/>
            <a:ext cx="2756154" cy="5715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Preventive</a:t>
            </a:r>
            <a:endParaRPr lang="en-US" sz="1800" dirty="0"/>
          </a:p>
        </p:txBody>
      </p:sp>
      <p:sp>
        <p:nvSpPr>
          <p:cNvPr id="17" name="Shape 15"/>
          <p:cNvSpPr/>
          <p:nvPr/>
        </p:nvSpPr>
        <p:spPr>
          <a:xfrm>
            <a:off x="3771900" y="4357688"/>
            <a:ext cx="4305300" cy="752475"/>
          </a:xfrm>
          <a:prstGeom prst="rect">
            <a:avLst/>
          </a:prstGeom>
          <a:solidFill>
            <a:srgbClr val="FFFFFF">
              <a:alpha val="2000"/>
            </a:srgbClr>
          </a:solidFill>
          <a:ln/>
        </p:spPr>
      </p:sp>
      <p:sp>
        <p:nvSpPr>
          <p:cNvPr id="18" name="Shape 16"/>
          <p:cNvSpPr/>
          <p:nvPr/>
        </p:nvSpPr>
        <p:spPr>
          <a:xfrm>
            <a:off x="3771900" y="5100638"/>
            <a:ext cx="4305300" cy="9525"/>
          </a:xfrm>
          <a:prstGeom prst="rect">
            <a:avLst/>
          </a:prstGeom>
          <a:solidFill>
            <a:srgbClr val="2A2F3A"/>
          </a:solidFill>
          <a:ln/>
        </p:spPr>
      </p:sp>
      <p:sp>
        <p:nvSpPr>
          <p:cNvPr id="19" name="Text 17"/>
          <p:cNvSpPr/>
          <p:nvPr/>
        </p:nvSpPr>
        <p:spPr>
          <a:xfrm>
            <a:off x="3924300" y="4462463"/>
            <a:ext cx="4129659" cy="5715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Access control, application allow-listing, network segmentation</a:t>
            </a:r>
            <a:endParaRPr lang="en-US" sz="1800" dirty="0"/>
          </a:p>
        </p:txBody>
      </p:sp>
      <p:sp>
        <p:nvSpPr>
          <p:cNvPr id="20" name="Shape 18"/>
          <p:cNvSpPr/>
          <p:nvPr/>
        </p:nvSpPr>
        <p:spPr>
          <a:xfrm>
            <a:off x="8077200" y="4357688"/>
            <a:ext cx="9410700" cy="752475"/>
          </a:xfrm>
          <a:prstGeom prst="rect">
            <a:avLst/>
          </a:prstGeom>
          <a:solidFill>
            <a:srgbClr val="FFFFFF">
              <a:alpha val="2000"/>
            </a:srgbClr>
          </a:solidFill>
          <a:ln/>
        </p:spPr>
      </p:sp>
      <p:sp>
        <p:nvSpPr>
          <p:cNvPr id="21" name="Shape 19"/>
          <p:cNvSpPr/>
          <p:nvPr/>
        </p:nvSpPr>
        <p:spPr>
          <a:xfrm>
            <a:off x="8077200" y="5100638"/>
            <a:ext cx="9410700" cy="9525"/>
          </a:xfrm>
          <a:prstGeom prst="rect">
            <a:avLst/>
          </a:prstGeom>
          <a:solidFill>
            <a:srgbClr val="2A2F3A"/>
          </a:solidFill>
          <a:ln/>
        </p:spPr>
      </p:sp>
      <p:sp>
        <p:nvSpPr>
          <p:cNvPr id="22" name="Text 20"/>
          <p:cNvSpPr/>
          <p:nvPr/>
        </p:nvSpPr>
        <p:spPr>
          <a:xfrm>
            <a:off x="8229600" y="4462463"/>
            <a:ext cx="9388221" cy="5715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Joiners and leavers process, mandatory change approval</a:t>
            </a:r>
            <a:endParaRPr lang="en-US" sz="1800" dirty="0"/>
          </a:p>
        </p:txBody>
      </p:sp>
      <p:sp>
        <p:nvSpPr>
          <p:cNvPr id="23" name="Shape 21"/>
          <p:cNvSpPr/>
          <p:nvPr/>
        </p:nvSpPr>
        <p:spPr>
          <a:xfrm>
            <a:off x="800100" y="5586413"/>
            <a:ext cx="2971800" cy="9525"/>
          </a:xfrm>
          <a:prstGeom prst="rect">
            <a:avLst/>
          </a:prstGeom>
          <a:solidFill>
            <a:srgbClr val="2A2F3A"/>
          </a:solidFill>
          <a:ln/>
        </p:spPr>
      </p:sp>
      <p:sp>
        <p:nvSpPr>
          <p:cNvPr id="24" name="Text 22"/>
          <p:cNvSpPr/>
          <p:nvPr/>
        </p:nvSpPr>
        <p:spPr>
          <a:xfrm>
            <a:off x="952500" y="5214938"/>
            <a:ext cx="2756154"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Detective</a:t>
            </a:r>
            <a:endParaRPr lang="en-US" sz="1800" dirty="0"/>
          </a:p>
        </p:txBody>
      </p:sp>
      <p:sp>
        <p:nvSpPr>
          <p:cNvPr id="25" name="Shape 23"/>
          <p:cNvSpPr/>
          <p:nvPr/>
        </p:nvSpPr>
        <p:spPr>
          <a:xfrm>
            <a:off x="3771900" y="5586413"/>
            <a:ext cx="4305300" cy="9525"/>
          </a:xfrm>
          <a:prstGeom prst="rect">
            <a:avLst/>
          </a:prstGeom>
          <a:solidFill>
            <a:srgbClr val="2A2F3A"/>
          </a:solidFill>
          <a:ln/>
        </p:spPr>
      </p:sp>
      <p:sp>
        <p:nvSpPr>
          <p:cNvPr id="26" name="Text 24"/>
          <p:cNvSpPr/>
          <p:nvPr/>
        </p:nvSpPr>
        <p:spPr>
          <a:xfrm>
            <a:off x="3924300" y="5214938"/>
            <a:ext cx="4129659"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Logging, alerting, file integrity monitoring</a:t>
            </a:r>
            <a:endParaRPr lang="en-US" sz="1800" dirty="0"/>
          </a:p>
        </p:txBody>
      </p:sp>
      <p:sp>
        <p:nvSpPr>
          <p:cNvPr id="27" name="Shape 25"/>
          <p:cNvSpPr/>
          <p:nvPr/>
        </p:nvSpPr>
        <p:spPr>
          <a:xfrm>
            <a:off x="8077200" y="5586413"/>
            <a:ext cx="9410700" cy="9525"/>
          </a:xfrm>
          <a:prstGeom prst="rect">
            <a:avLst/>
          </a:prstGeom>
          <a:solidFill>
            <a:srgbClr val="2A2F3A"/>
          </a:solidFill>
          <a:ln/>
        </p:spPr>
      </p:sp>
      <p:sp>
        <p:nvSpPr>
          <p:cNvPr id="28" name="Text 26"/>
          <p:cNvSpPr/>
          <p:nvPr/>
        </p:nvSpPr>
        <p:spPr>
          <a:xfrm>
            <a:off x="8229600" y="5214938"/>
            <a:ext cx="9388221"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Access reviews, internal audit, supervision</a:t>
            </a:r>
            <a:endParaRPr lang="en-US" sz="1800" dirty="0"/>
          </a:p>
        </p:txBody>
      </p:sp>
      <p:sp>
        <p:nvSpPr>
          <p:cNvPr id="29" name="Shape 27"/>
          <p:cNvSpPr/>
          <p:nvPr/>
        </p:nvSpPr>
        <p:spPr>
          <a:xfrm>
            <a:off x="800100" y="5595938"/>
            <a:ext cx="2971800" cy="752475"/>
          </a:xfrm>
          <a:prstGeom prst="rect">
            <a:avLst/>
          </a:prstGeom>
          <a:solidFill>
            <a:srgbClr val="FFFFFF">
              <a:alpha val="2000"/>
            </a:srgbClr>
          </a:solidFill>
          <a:ln/>
        </p:spPr>
      </p:sp>
      <p:sp>
        <p:nvSpPr>
          <p:cNvPr id="30" name="Shape 28"/>
          <p:cNvSpPr/>
          <p:nvPr/>
        </p:nvSpPr>
        <p:spPr>
          <a:xfrm>
            <a:off x="800100" y="6338888"/>
            <a:ext cx="2971800" cy="9525"/>
          </a:xfrm>
          <a:prstGeom prst="rect">
            <a:avLst/>
          </a:prstGeom>
          <a:solidFill>
            <a:srgbClr val="2A2F3A"/>
          </a:solidFill>
          <a:ln/>
        </p:spPr>
      </p:sp>
      <p:sp>
        <p:nvSpPr>
          <p:cNvPr id="31" name="Text 29"/>
          <p:cNvSpPr/>
          <p:nvPr/>
        </p:nvSpPr>
        <p:spPr>
          <a:xfrm>
            <a:off x="952500" y="5700713"/>
            <a:ext cx="2756154" cy="5715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Corrective</a:t>
            </a:r>
            <a:endParaRPr lang="en-US" sz="1800" dirty="0"/>
          </a:p>
        </p:txBody>
      </p:sp>
      <p:sp>
        <p:nvSpPr>
          <p:cNvPr id="32" name="Shape 30"/>
          <p:cNvSpPr/>
          <p:nvPr/>
        </p:nvSpPr>
        <p:spPr>
          <a:xfrm>
            <a:off x="3771900" y="5595938"/>
            <a:ext cx="4305300" cy="752475"/>
          </a:xfrm>
          <a:prstGeom prst="rect">
            <a:avLst/>
          </a:prstGeom>
          <a:solidFill>
            <a:srgbClr val="FFFFFF">
              <a:alpha val="2000"/>
            </a:srgbClr>
          </a:solidFill>
          <a:ln/>
        </p:spPr>
      </p:sp>
      <p:sp>
        <p:nvSpPr>
          <p:cNvPr id="33" name="Shape 31"/>
          <p:cNvSpPr/>
          <p:nvPr/>
        </p:nvSpPr>
        <p:spPr>
          <a:xfrm>
            <a:off x="3771900" y="6338888"/>
            <a:ext cx="4305300" cy="9525"/>
          </a:xfrm>
          <a:prstGeom prst="rect">
            <a:avLst/>
          </a:prstGeom>
          <a:solidFill>
            <a:srgbClr val="2A2F3A"/>
          </a:solidFill>
          <a:ln/>
        </p:spPr>
      </p:sp>
      <p:sp>
        <p:nvSpPr>
          <p:cNvPr id="34" name="Text 32"/>
          <p:cNvSpPr/>
          <p:nvPr/>
        </p:nvSpPr>
        <p:spPr>
          <a:xfrm>
            <a:off x="3924300" y="5700713"/>
            <a:ext cx="4129659" cy="5715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Backup restoration, automated isolation of a host</a:t>
            </a:r>
            <a:endParaRPr lang="en-US" sz="1800" dirty="0"/>
          </a:p>
        </p:txBody>
      </p:sp>
      <p:sp>
        <p:nvSpPr>
          <p:cNvPr id="35" name="Shape 33"/>
          <p:cNvSpPr/>
          <p:nvPr/>
        </p:nvSpPr>
        <p:spPr>
          <a:xfrm>
            <a:off x="8077200" y="5595938"/>
            <a:ext cx="9410700" cy="752475"/>
          </a:xfrm>
          <a:prstGeom prst="rect">
            <a:avLst/>
          </a:prstGeom>
          <a:solidFill>
            <a:srgbClr val="FFFFFF">
              <a:alpha val="2000"/>
            </a:srgbClr>
          </a:solidFill>
          <a:ln/>
        </p:spPr>
      </p:sp>
      <p:sp>
        <p:nvSpPr>
          <p:cNvPr id="36" name="Shape 34"/>
          <p:cNvSpPr/>
          <p:nvPr/>
        </p:nvSpPr>
        <p:spPr>
          <a:xfrm>
            <a:off x="8077200" y="6338888"/>
            <a:ext cx="9410700" cy="9525"/>
          </a:xfrm>
          <a:prstGeom prst="rect">
            <a:avLst/>
          </a:prstGeom>
          <a:solidFill>
            <a:srgbClr val="2A2F3A"/>
          </a:solidFill>
          <a:ln/>
        </p:spPr>
      </p:sp>
      <p:sp>
        <p:nvSpPr>
          <p:cNvPr id="37" name="Text 35"/>
          <p:cNvSpPr/>
          <p:nvPr/>
        </p:nvSpPr>
        <p:spPr>
          <a:xfrm>
            <a:off x="8229600" y="5700713"/>
            <a:ext cx="9388221" cy="5715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Incident response plan, post-incident review</a:t>
            </a:r>
            <a:endParaRPr lang="en-US" sz="1800" dirty="0"/>
          </a:p>
        </p:txBody>
      </p:sp>
      <p:sp>
        <p:nvSpPr>
          <p:cNvPr id="38" name="Shape 36"/>
          <p:cNvSpPr/>
          <p:nvPr/>
        </p:nvSpPr>
        <p:spPr>
          <a:xfrm>
            <a:off x="800100" y="6824663"/>
            <a:ext cx="2971800" cy="9525"/>
          </a:xfrm>
          <a:prstGeom prst="rect">
            <a:avLst/>
          </a:prstGeom>
          <a:solidFill>
            <a:srgbClr val="2A2F3A"/>
          </a:solidFill>
          <a:ln/>
        </p:spPr>
      </p:sp>
      <p:sp>
        <p:nvSpPr>
          <p:cNvPr id="39" name="Text 37"/>
          <p:cNvSpPr/>
          <p:nvPr/>
        </p:nvSpPr>
        <p:spPr>
          <a:xfrm>
            <a:off x="952500" y="6453187"/>
            <a:ext cx="2756154"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Deterrent</a:t>
            </a:r>
            <a:endParaRPr lang="en-US" sz="1800" dirty="0"/>
          </a:p>
        </p:txBody>
      </p:sp>
      <p:sp>
        <p:nvSpPr>
          <p:cNvPr id="40" name="Shape 38"/>
          <p:cNvSpPr/>
          <p:nvPr/>
        </p:nvSpPr>
        <p:spPr>
          <a:xfrm>
            <a:off x="3771900" y="6824663"/>
            <a:ext cx="4305300" cy="9525"/>
          </a:xfrm>
          <a:prstGeom prst="rect">
            <a:avLst/>
          </a:prstGeom>
          <a:solidFill>
            <a:srgbClr val="2A2F3A"/>
          </a:solidFill>
          <a:ln/>
        </p:spPr>
      </p:sp>
      <p:sp>
        <p:nvSpPr>
          <p:cNvPr id="41" name="Text 39"/>
          <p:cNvSpPr/>
          <p:nvPr/>
        </p:nvSpPr>
        <p:spPr>
          <a:xfrm>
            <a:off x="3924300" y="6453187"/>
            <a:ext cx="4129659"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Login banners, visible monitoring notices</a:t>
            </a:r>
            <a:endParaRPr lang="en-US" sz="1800" dirty="0"/>
          </a:p>
        </p:txBody>
      </p:sp>
      <p:sp>
        <p:nvSpPr>
          <p:cNvPr id="42" name="Shape 40"/>
          <p:cNvSpPr/>
          <p:nvPr/>
        </p:nvSpPr>
        <p:spPr>
          <a:xfrm>
            <a:off x="8077200" y="6824663"/>
            <a:ext cx="9410700" cy="9525"/>
          </a:xfrm>
          <a:prstGeom prst="rect">
            <a:avLst/>
          </a:prstGeom>
          <a:solidFill>
            <a:srgbClr val="2A2F3A"/>
          </a:solidFill>
          <a:ln/>
        </p:spPr>
      </p:sp>
      <p:sp>
        <p:nvSpPr>
          <p:cNvPr id="43" name="Text 41"/>
          <p:cNvSpPr/>
          <p:nvPr/>
        </p:nvSpPr>
        <p:spPr>
          <a:xfrm>
            <a:off x="8229600" y="6453187"/>
            <a:ext cx="9388221"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Disciplinary policy, contractual obligations</a:t>
            </a:r>
            <a:endParaRPr lang="en-US" sz="1800" dirty="0"/>
          </a:p>
        </p:txBody>
      </p:sp>
      <p:sp>
        <p:nvSpPr>
          <p:cNvPr id="44" name="Shape 42"/>
          <p:cNvSpPr/>
          <p:nvPr/>
        </p:nvSpPr>
        <p:spPr>
          <a:xfrm>
            <a:off x="800100" y="6834188"/>
            <a:ext cx="2971800" cy="752475"/>
          </a:xfrm>
          <a:prstGeom prst="rect">
            <a:avLst/>
          </a:prstGeom>
          <a:solidFill>
            <a:srgbClr val="FFFFFF">
              <a:alpha val="2000"/>
            </a:srgbClr>
          </a:solidFill>
          <a:ln/>
        </p:spPr>
      </p:sp>
      <p:sp>
        <p:nvSpPr>
          <p:cNvPr id="45" name="Shape 43"/>
          <p:cNvSpPr/>
          <p:nvPr/>
        </p:nvSpPr>
        <p:spPr>
          <a:xfrm>
            <a:off x="800100" y="7577138"/>
            <a:ext cx="2971800" cy="9525"/>
          </a:xfrm>
          <a:prstGeom prst="rect">
            <a:avLst/>
          </a:prstGeom>
          <a:solidFill>
            <a:srgbClr val="2A2F3A"/>
          </a:solidFill>
          <a:ln/>
        </p:spPr>
      </p:sp>
      <p:sp>
        <p:nvSpPr>
          <p:cNvPr id="46" name="Text 44"/>
          <p:cNvSpPr/>
          <p:nvPr/>
        </p:nvSpPr>
        <p:spPr>
          <a:xfrm>
            <a:off x="952500" y="6938962"/>
            <a:ext cx="2756154" cy="5715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Compensating</a:t>
            </a:r>
            <a:endParaRPr lang="en-US" sz="1800" dirty="0"/>
          </a:p>
        </p:txBody>
      </p:sp>
      <p:sp>
        <p:nvSpPr>
          <p:cNvPr id="47" name="Shape 45"/>
          <p:cNvSpPr/>
          <p:nvPr/>
        </p:nvSpPr>
        <p:spPr>
          <a:xfrm>
            <a:off x="3771900" y="6834188"/>
            <a:ext cx="4305300" cy="752475"/>
          </a:xfrm>
          <a:prstGeom prst="rect">
            <a:avLst/>
          </a:prstGeom>
          <a:solidFill>
            <a:srgbClr val="FFFFFF">
              <a:alpha val="2000"/>
            </a:srgbClr>
          </a:solidFill>
          <a:ln/>
        </p:spPr>
      </p:sp>
      <p:sp>
        <p:nvSpPr>
          <p:cNvPr id="48" name="Shape 46"/>
          <p:cNvSpPr/>
          <p:nvPr/>
        </p:nvSpPr>
        <p:spPr>
          <a:xfrm>
            <a:off x="3771900" y="7577138"/>
            <a:ext cx="4305300" cy="9525"/>
          </a:xfrm>
          <a:prstGeom prst="rect">
            <a:avLst/>
          </a:prstGeom>
          <a:solidFill>
            <a:srgbClr val="2A2F3A"/>
          </a:solidFill>
          <a:ln/>
        </p:spPr>
      </p:sp>
      <p:sp>
        <p:nvSpPr>
          <p:cNvPr id="49" name="Text 47"/>
          <p:cNvSpPr/>
          <p:nvPr/>
        </p:nvSpPr>
        <p:spPr>
          <a:xfrm>
            <a:off x="3924300" y="6938962"/>
            <a:ext cx="4129659" cy="5715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Additional monitoring where a fix is not yet possible</a:t>
            </a:r>
            <a:endParaRPr lang="en-US" sz="1800" dirty="0"/>
          </a:p>
        </p:txBody>
      </p:sp>
      <p:sp>
        <p:nvSpPr>
          <p:cNvPr id="50" name="Shape 48"/>
          <p:cNvSpPr/>
          <p:nvPr/>
        </p:nvSpPr>
        <p:spPr>
          <a:xfrm>
            <a:off x="8077200" y="6834188"/>
            <a:ext cx="9410700" cy="752475"/>
          </a:xfrm>
          <a:prstGeom prst="rect">
            <a:avLst/>
          </a:prstGeom>
          <a:solidFill>
            <a:srgbClr val="FFFFFF">
              <a:alpha val="2000"/>
            </a:srgbClr>
          </a:solidFill>
          <a:ln/>
        </p:spPr>
      </p:sp>
      <p:sp>
        <p:nvSpPr>
          <p:cNvPr id="51" name="Shape 49"/>
          <p:cNvSpPr/>
          <p:nvPr/>
        </p:nvSpPr>
        <p:spPr>
          <a:xfrm>
            <a:off x="8077200" y="7577138"/>
            <a:ext cx="9410700" cy="9525"/>
          </a:xfrm>
          <a:prstGeom prst="rect">
            <a:avLst/>
          </a:prstGeom>
          <a:solidFill>
            <a:srgbClr val="2A2F3A"/>
          </a:solidFill>
          <a:ln/>
        </p:spPr>
      </p:sp>
      <p:sp>
        <p:nvSpPr>
          <p:cNvPr id="52" name="Text 50"/>
          <p:cNvSpPr/>
          <p:nvPr/>
        </p:nvSpPr>
        <p:spPr>
          <a:xfrm>
            <a:off x="8229600" y="6938962"/>
            <a:ext cx="9388221" cy="5715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Manual approval where automation cannot be trusted</a:t>
            </a:r>
            <a:endParaRPr lang="en-US" sz="1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3664744"/>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OBJECTIVE 2.4 RECAP</a:t>
            </a:r>
            <a:endParaRPr lang="en-US" sz="1650" dirty="0"/>
          </a:p>
        </p:txBody>
      </p:sp>
      <p:sp>
        <p:nvSpPr>
          <p:cNvPr id="4" name="Text 2"/>
          <p:cNvSpPr/>
          <p:nvPr/>
        </p:nvSpPr>
        <p:spPr>
          <a:xfrm>
            <a:off x="800100" y="4160044"/>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Principles, Controls and Strategies — what you should now hold</a:t>
            </a:r>
            <a:endParaRPr lang="en-US" sz="3000" dirty="0"/>
          </a:p>
        </p:txBody>
      </p:sp>
      <p:sp>
        <p:nvSpPr>
          <p:cNvPr id="5" name="Shape 3"/>
          <p:cNvSpPr/>
          <p:nvPr/>
        </p:nvSpPr>
        <p:spPr>
          <a:xfrm>
            <a:off x="800100" y="4826794"/>
            <a:ext cx="5435575" cy="1795463"/>
          </a:xfrm>
          <a:prstGeom prst="roundRect">
            <a:avLst>
              <a:gd name="adj" fmla="val 8488"/>
            </a:avLst>
          </a:prstGeom>
          <a:solidFill>
            <a:srgbClr val="FFFFFF">
              <a:alpha val="2000"/>
            </a:srgbClr>
          </a:solidFill>
          <a:ln w="9525">
            <a:solidFill>
              <a:srgbClr val="2A2F3A"/>
            </a:solidFill>
            <a:prstDash val="solid"/>
          </a:ln>
        </p:spPr>
      </p:sp>
      <p:sp>
        <p:nvSpPr>
          <p:cNvPr id="6" name="Text 4"/>
          <p:cNvSpPr/>
          <p:nvPr/>
        </p:nvSpPr>
        <p:spPr>
          <a:xfrm>
            <a:off x="1038225" y="5064919"/>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PRINCIPLES</a:t>
            </a:r>
            <a:endParaRPr lang="en-US" sz="1500" dirty="0"/>
          </a:p>
        </p:txBody>
      </p:sp>
      <p:sp>
        <p:nvSpPr>
          <p:cNvPr id="7" name="Text 5"/>
          <p:cNvSpPr/>
          <p:nvPr/>
        </p:nvSpPr>
        <p:spPr>
          <a:xfrm>
            <a:off x="1038225" y="5384006"/>
            <a:ext cx="5108105"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Layer defences, restrict privilege to need, and never let secrecy of design be the control that holds.</a:t>
            </a:r>
            <a:endParaRPr lang="en-US" sz="1875" dirty="0"/>
          </a:p>
        </p:txBody>
      </p:sp>
      <p:sp>
        <p:nvSpPr>
          <p:cNvPr id="8" name="Shape 6"/>
          <p:cNvSpPr/>
          <p:nvPr/>
        </p:nvSpPr>
        <p:spPr>
          <a:xfrm>
            <a:off x="6426175" y="4826794"/>
            <a:ext cx="5435575" cy="1795463"/>
          </a:xfrm>
          <a:prstGeom prst="roundRect">
            <a:avLst>
              <a:gd name="adj" fmla="val 8488"/>
            </a:avLst>
          </a:prstGeom>
          <a:solidFill>
            <a:srgbClr val="FFFFFF">
              <a:alpha val="2000"/>
            </a:srgbClr>
          </a:solidFill>
          <a:ln w="9525">
            <a:solidFill>
              <a:srgbClr val="2A2F3A"/>
            </a:solidFill>
            <a:prstDash val="solid"/>
          </a:ln>
        </p:spPr>
      </p:sp>
      <p:sp>
        <p:nvSpPr>
          <p:cNvPr id="9" name="Text 7"/>
          <p:cNvSpPr/>
          <p:nvPr/>
        </p:nvSpPr>
        <p:spPr>
          <a:xfrm>
            <a:off x="6664300" y="5064919"/>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INTELLIGENCE</a:t>
            </a:r>
            <a:endParaRPr lang="en-US" sz="1500" dirty="0"/>
          </a:p>
        </p:txBody>
      </p:sp>
      <p:sp>
        <p:nvSpPr>
          <p:cNvPr id="10" name="Text 8"/>
          <p:cNvSpPr/>
          <p:nvPr/>
        </p:nvSpPr>
        <p:spPr>
          <a:xfrm>
            <a:off x="6664300" y="5384006"/>
            <a:ext cx="5108105"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Threat intelligence earns its cost only through the defensive decisions it changes.</a:t>
            </a:r>
            <a:endParaRPr lang="en-US" sz="1875" dirty="0"/>
          </a:p>
        </p:txBody>
      </p:sp>
      <p:sp>
        <p:nvSpPr>
          <p:cNvPr id="11" name="Shape 9"/>
          <p:cNvSpPr/>
          <p:nvPr/>
        </p:nvSpPr>
        <p:spPr>
          <a:xfrm>
            <a:off x="12052250" y="4826794"/>
            <a:ext cx="5435650" cy="1795463"/>
          </a:xfrm>
          <a:prstGeom prst="roundRect">
            <a:avLst>
              <a:gd name="adj" fmla="val 8488"/>
            </a:avLst>
          </a:prstGeom>
          <a:solidFill>
            <a:srgbClr val="FFFFFF">
              <a:alpha val="2000"/>
            </a:srgbClr>
          </a:solidFill>
          <a:ln w="9525">
            <a:solidFill>
              <a:srgbClr val="2A2F3A"/>
            </a:solidFill>
            <a:prstDash val="solid"/>
          </a:ln>
        </p:spPr>
      </p:sp>
      <p:sp>
        <p:nvSpPr>
          <p:cNvPr id="12" name="Text 10"/>
          <p:cNvSpPr/>
          <p:nvPr/>
        </p:nvSpPr>
        <p:spPr>
          <a:xfrm>
            <a:off x="12290375" y="5064919"/>
            <a:ext cx="5455340"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CONTROLS</a:t>
            </a:r>
            <a:endParaRPr lang="en-US" sz="1500" dirty="0"/>
          </a:p>
        </p:txBody>
      </p:sp>
      <p:sp>
        <p:nvSpPr>
          <p:cNvPr id="13" name="Text 11"/>
          <p:cNvSpPr/>
          <p:nvPr/>
        </p:nvSpPr>
        <p:spPr>
          <a:xfrm>
            <a:off x="12290375" y="5384006"/>
            <a:ext cx="5108182"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Classified by function — preventive, detective, corrective, deterrent, compensating — and by nature: technical, administrative, physical.</a:t>
            </a:r>
            <a:endParaRPr lang="en-US" sz="1875"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100425" y="3570982"/>
            <a:ext cx="2087151" cy="285750"/>
          </a:xfrm>
          <a:prstGeom prst="rect">
            <a:avLst/>
          </a:prstGeom>
          <a:noFill/>
          <a:ln/>
        </p:spPr>
        <p:txBody>
          <a:bodyPr wrap="square" lIns="25400" tIns="25400" rIns="25400" bIns="25400" rtlCol="0" anchor="t">
            <a:normAutofit/>
          </a:bodyPr>
          <a:lstStyle/>
          <a:p>
            <a:pPr algn="ctr" indent="0" marL="0">
              <a:buNone/>
            </a:pPr>
            <a:r>
              <a:rPr lang="en-US" sz="1650" b="1" spc="225" kern="0" dirty="0">
                <a:solidFill>
                  <a:srgbClr val="FF6A00"/>
                </a:solidFill>
                <a:latin typeface="Arial" pitchFamily="34" charset="0"/>
                <a:ea typeface="Arial" pitchFamily="34" charset="-122"/>
                <a:cs typeface="Arial" pitchFamily="34" charset="-120"/>
              </a:rPr>
              <a:t>OBJECTIVE 2.5</a:t>
            </a:r>
            <a:endParaRPr lang="en-US" sz="1650" dirty="0"/>
          </a:p>
        </p:txBody>
      </p:sp>
      <p:sp>
        <p:nvSpPr>
          <p:cNvPr id="4" name="Text 2"/>
          <p:cNvSpPr/>
          <p:nvPr/>
        </p:nvSpPr>
        <p:spPr>
          <a:xfrm>
            <a:off x="549783" y="4085332"/>
            <a:ext cx="17188434" cy="1518196"/>
          </a:xfrm>
          <a:prstGeom prst="rect">
            <a:avLst/>
          </a:prstGeom>
          <a:noFill/>
          <a:ln/>
        </p:spPr>
        <p:txBody>
          <a:bodyPr wrap="square" lIns="25400" tIns="25400" rIns="25400" bIns="25400" rtlCol="0" anchor="t">
            <a:normAutofit/>
          </a:bodyPr>
          <a:lstStyle/>
          <a:p>
            <a:pPr algn="ctr" indent="0" marL="0">
              <a:lnSpc>
                <a:spcPct val="91412"/>
              </a:lnSpc>
              <a:buNone/>
            </a:pPr>
            <a:r>
              <a:rPr lang="en-US" sz="5550" b="1" spc="-37" kern="0" dirty="0">
                <a:solidFill>
                  <a:srgbClr val="F5F7FB"/>
                </a:solidFill>
                <a:latin typeface="Arial" pitchFamily="34" charset="0"/>
                <a:ea typeface="Arial" pitchFamily="34" charset="-122"/>
                <a:cs typeface="Arial" pitchFamily="34" charset="-120"/>
              </a:rPr>
              <a:t>Cybersecurity Laws, Regulations, Standards, and Frameworks</a:t>
            </a:r>
            <a:endParaRPr lang="en-US" sz="5550" dirty="0"/>
          </a:p>
        </p:txBody>
      </p:sp>
      <p:sp>
        <p:nvSpPr>
          <p:cNvPr id="5" name="Text 3"/>
          <p:cNvSpPr/>
          <p:nvPr/>
        </p:nvSpPr>
        <p:spPr>
          <a:xfrm>
            <a:off x="2767013" y="5832128"/>
            <a:ext cx="12753975" cy="921990"/>
          </a:xfrm>
          <a:prstGeom prst="rect">
            <a:avLst/>
          </a:prstGeom>
          <a:noFill/>
          <a:ln/>
        </p:spPr>
        <p:txBody>
          <a:bodyPr wrap="square" lIns="25400" tIns="25400" rIns="25400" bIns="25400" rtlCol="0" anchor="t">
            <a:normAutofit/>
          </a:bodyPr>
          <a:lstStyle/>
          <a:p>
            <a:pPr algn="ctr" indent="0" marL="0">
              <a:lnSpc>
                <a:spcPct val="125405"/>
              </a:lnSpc>
              <a:buNone/>
            </a:pPr>
            <a:r>
              <a:rPr lang="en-US" sz="2400" dirty="0">
                <a:solidFill>
                  <a:srgbClr val="B8C0CF"/>
                </a:solidFill>
                <a:latin typeface="Arial" pitchFamily="34" charset="0"/>
                <a:ea typeface="Arial" pitchFamily="34" charset="-122"/>
                <a:cs typeface="Arial" pitchFamily="34" charset="-120"/>
              </a:rPr>
              <a:t>A broad understanding of the legal and regulatory issues surrounding cybersecurity, and of the frameworks and standards organisations use to orient their activity.</a:t>
            </a:r>
            <a:endParaRPr lang="en-US" sz="2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066604"/>
            <a:ext cx="2921422"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152329"/>
            <a:ext cx="2647114"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2.5 · Task 1 of 2</a:t>
            </a:r>
            <a:endParaRPr lang="en-US" sz="1500" dirty="0"/>
          </a:p>
        </p:txBody>
      </p:sp>
      <p:sp>
        <p:nvSpPr>
          <p:cNvPr id="5" name="Text 3"/>
          <p:cNvSpPr/>
          <p:nvPr/>
        </p:nvSpPr>
        <p:spPr>
          <a:xfrm>
            <a:off x="800100" y="3709541"/>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Legal and regulatory issues</a:t>
            </a:r>
            <a:endParaRPr lang="en-US" sz="3000" dirty="0"/>
          </a:p>
        </p:txBody>
      </p:sp>
      <p:sp>
        <p:nvSpPr>
          <p:cNvPr id="6" name="Text 4"/>
          <p:cNvSpPr/>
          <p:nvPr/>
        </p:nvSpPr>
        <p:spPr>
          <a:xfrm>
            <a:off x="800100" y="4376291"/>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The syllabus requires a broad understanding of the legal and regulatory landscape. Specific national statutes are not defined in the official exam outline, so the examinable substance is the principles that hold everywhere.</a:t>
            </a:r>
            <a:endParaRPr lang="en-US" sz="2175" dirty="0"/>
          </a:p>
        </p:txBody>
      </p:sp>
      <p:sp>
        <p:nvSpPr>
          <p:cNvPr id="7" name="Shape 5"/>
          <p:cNvSpPr/>
          <p:nvPr/>
        </p:nvSpPr>
        <p:spPr>
          <a:xfrm>
            <a:off x="800100"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8" name="Text 6"/>
          <p:cNvSpPr/>
          <p:nvPr/>
        </p:nvSpPr>
        <p:spPr>
          <a:xfrm>
            <a:off x="1038225"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AUTHORISATION IS EVERYTHING</a:t>
            </a:r>
            <a:endParaRPr lang="en-US" sz="1500" dirty="0"/>
          </a:p>
        </p:txBody>
      </p:sp>
      <p:sp>
        <p:nvSpPr>
          <p:cNvPr id="9" name="Text 7"/>
          <p:cNvSpPr/>
          <p:nvPr/>
        </p:nvSpPr>
        <p:spPr>
          <a:xfrm>
            <a:off x="1038225" y="5982146"/>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The techniques in this course are lawful only within a written, authorised scope agreed in advance. Identical actions outside that scope are criminal in essentially every jurisdiction.</a:t>
            </a:r>
            <a:endParaRPr lang="en-US" sz="1875" dirty="0"/>
          </a:p>
        </p:txBody>
      </p:sp>
      <p:sp>
        <p:nvSpPr>
          <p:cNvPr id="10" name="Shape 8"/>
          <p:cNvSpPr/>
          <p:nvPr/>
        </p:nvSpPr>
        <p:spPr>
          <a:xfrm>
            <a:off x="9248775"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11" name="Text 9"/>
          <p:cNvSpPr/>
          <p:nvPr/>
        </p:nvSpPr>
        <p:spPr>
          <a:xfrm>
            <a:off x="9486900"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DATA PROTECTION OBLIGATIONS</a:t>
            </a:r>
            <a:endParaRPr lang="en-US" sz="1500" dirty="0"/>
          </a:p>
        </p:txBody>
      </p:sp>
      <p:sp>
        <p:nvSpPr>
          <p:cNvPr id="12" name="Text 10"/>
          <p:cNvSpPr/>
          <p:nvPr/>
        </p:nvSpPr>
        <p:spPr>
          <a:xfrm>
            <a:off x="9486900" y="5982146"/>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Testing frequently exposes personal data. Handling, storing and destroying it correctly is a legal duty that survives the end of the engagement, not a courtesy.</a:t>
            </a:r>
            <a:endParaRPr lang="en-US" sz="1875"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066604"/>
            <a:ext cx="2945755"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152329"/>
            <a:ext cx="2672178"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2.5 · Task 2 of 2</a:t>
            </a:r>
            <a:endParaRPr lang="en-US" sz="1500" dirty="0"/>
          </a:p>
        </p:txBody>
      </p:sp>
      <p:sp>
        <p:nvSpPr>
          <p:cNvPr id="5" name="Text 3"/>
          <p:cNvSpPr/>
          <p:nvPr/>
        </p:nvSpPr>
        <p:spPr>
          <a:xfrm>
            <a:off x="800100" y="3709541"/>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Frameworks and standards</a:t>
            </a:r>
            <a:endParaRPr lang="en-US" sz="3000" dirty="0"/>
          </a:p>
        </p:txBody>
      </p:sp>
      <p:sp>
        <p:nvSpPr>
          <p:cNvPr id="6" name="Text 4"/>
          <p:cNvSpPr/>
          <p:nvPr/>
        </p:nvSpPr>
        <p:spPr>
          <a:xfrm>
            <a:off x="800100" y="4376291"/>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Frameworks and standards give organisations a shared structure for deciding what security activity to perform and how to evidence it. For a tester they matter because they determine what the client is measured against.</a:t>
            </a:r>
            <a:endParaRPr lang="en-US" sz="2175" dirty="0"/>
          </a:p>
        </p:txBody>
      </p:sp>
      <p:sp>
        <p:nvSpPr>
          <p:cNvPr id="7" name="Shape 5"/>
          <p:cNvSpPr/>
          <p:nvPr/>
        </p:nvSpPr>
        <p:spPr>
          <a:xfrm>
            <a:off x="800100"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8" name="Text 6"/>
          <p:cNvSpPr/>
          <p:nvPr/>
        </p:nvSpPr>
        <p:spPr>
          <a:xfrm>
            <a:off x="1038225"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WHY IT MATTERS</a:t>
            </a:r>
            <a:endParaRPr lang="en-US" sz="1500" dirty="0"/>
          </a:p>
        </p:txBody>
      </p:sp>
      <p:sp>
        <p:nvSpPr>
          <p:cNvPr id="9" name="Text 7"/>
          <p:cNvSpPr/>
          <p:nvPr/>
        </p:nvSpPr>
        <p:spPr>
          <a:xfrm>
            <a:off x="1038225" y="5982146"/>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A finding phrased against the framework a client already reports on carries far more weight than the same finding phrased in isolation. It converts a technical observation into a compliance gap.</a:t>
            </a:r>
            <a:endParaRPr lang="en-US" sz="1875" dirty="0"/>
          </a:p>
        </p:txBody>
      </p:sp>
      <p:sp>
        <p:nvSpPr>
          <p:cNvPr id="10" name="Shape 8"/>
          <p:cNvSpPr/>
          <p:nvPr/>
        </p:nvSpPr>
        <p:spPr>
          <a:xfrm>
            <a:off x="9248775"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11" name="Text 9"/>
          <p:cNvSpPr/>
          <p:nvPr/>
        </p:nvSpPr>
        <p:spPr>
          <a:xfrm>
            <a:off x="9486900"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CONNECTS TO</a:t>
            </a:r>
            <a:endParaRPr lang="en-US" sz="1500" dirty="0"/>
          </a:p>
        </p:txBody>
      </p:sp>
      <p:sp>
        <p:nvSpPr>
          <p:cNvPr id="12" name="Text 10"/>
          <p:cNvSpPr/>
          <p:nvPr/>
        </p:nvSpPr>
        <p:spPr>
          <a:xfrm>
            <a:off x="9486900" y="5982146"/>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Module 4, Report Writing, is where this becomes practical — tailoring content to the reader means knowing which framework the reader answers to.</a:t>
            </a:r>
            <a:endParaRPr lang="en-US" sz="1875"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2483197"/>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CRITICAL DISTINCTION</a:t>
            </a:r>
            <a:endParaRPr lang="en-US" sz="1650" dirty="0"/>
          </a:p>
        </p:txBody>
      </p:sp>
      <p:sp>
        <p:nvSpPr>
          <p:cNvPr id="4" name="Text 2"/>
          <p:cNvSpPr/>
          <p:nvPr/>
        </p:nvSpPr>
        <p:spPr>
          <a:xfrm>
            <a:off x="800100" y="2978497"/>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Law · Regulation · Standard · Framework</a:t>
            </a:r>
            <a:endParaRPr lang="en-US" sz="3000" dirty="0"/>
          </a:p>
        </p:txBody>
      </p:sp>
      <p:sp>
        <p:nvSpPr>
          <p:cNvPr id="5" name="Shape 3"/>
          <p:cNvSpPr/>
          <p:nvPr/>
        </p:nvSpPr>
        <p:spPr>
          <a:xfrm>
            <a:off x="800100" y="3645247"/>
            <a:ext cx="2590800" cy="500063"/>
          </a:xfrm>
          <a:prstGeom prst="rect">
            <a:avLst/>
          </a:prstGeom>
          <a:solidFill>
            <a:srgbClr val="FF6A00">
              <a:alpha val="18000"/>
            </a:srgbClr>
          </a:solidFill>
          <a:ln/>
        </p:spPr>
      </p:sp>
      <p:sp>
        <p:nvSpPr>
          <p:cNvPr id="6" name="Shape 4"/>
          <p:cNvSpPr/>
          <p:nvPr/>
        </p:nvSpPr>
        <p:spPr>
          <a:xfrm>
            <a:off x="800100" y="4135785"/>
            <a:ext cx="2590800" cy="9525"/>
          </a:xfrm>
          <a:prstGeom prst="rect">
            <a:avLst/>
          </a:prstGeom>
          <a:solidFill>
            <a:srgbClr val="B85100"/>
          </a:solidFill>
          <a:ln/>
        </p:spPr>
      </p:sp>
      <p:sp>
        <p:nvSpPr>
          <p:cNvPr id="7" name="Text 5"/>
          <p:cNvSpPr/>
          <p:nvPr/>
        </p:nvSpPr>
        <p:spPr>
          <a:xfrm>
            <a:off x="952500" y="3759547"/>
            <a:ext cx="2363724" cy="300038"/>
          </a:xfrm>
          <a:prstGeom prst="rect">
            <a:avLst/>
          </a:prstGeom>
          <a:noFill/>
          <a:ln/>
        </p:spPr>
        <p:txBody>
          <a:bodyPr wrap="square" lIns="25400" tIns="25400" rIns="25400" bIns="25400" rtlCol="0" anchor="ctr">
            <a:normAutofit/>
          </a:bodyPr>
          <a:lstStyle/>
          <a:p>
            <a:pPr algn="l" indent="0" marL="0">
              <a:buNone/>
            </a:pPr>
            <a:r>
              <a:rPr lang="en-US" sz="1800" b="1" dirty="0">
                <a:solidFill>
                  <a:srgbClr val="F5F7FB"/>
                </a:solidFill>
                <a:latin typeface="Arial" pitchFamily="34" charset="0"/>
                <a:ea typeface="Arial" pitchFamily="34" charset="-122"/>
                <a:cs typeface="Arial" pitchFamily="34" charset="-120"/>
              </a:rPr>
              <a:t>Instrument</a:t>
            </a:r>
            <a:endParaRPr lang="en-US" sz="1800" dirty="0"/>
          </a:p>
        </p:txBody>
      </p:sp>
      <p:sp>
        <p:nvSpPr>
          <p:cNvPr id="8" name="Shape 6"/>
          <p:cNvSpPr/>
          <p:nvPr/>
        </p:nvSpPr>
        <p:spPr>
          <a:xfrm>
            <a:off x="3390900" y="3645247"/>
            <a:ext cx="4114800" cy="500063"/>
          </a:xfrm>
          <a:prstGeom prst="rect">
            <a:avLst/>
          </a:prstGeom>
          <a:solidFill>
            <a:srgbClr val="FF6A00">
              <a:alpha val="18000"/>
            </a:srgbClr>
          </a:solidFill>
          <a:ln/>
        </p:spPr>
      </p:sp>
      <p:sp>
        <p:nvSpPr>
          <p:cNvPr id="9" name="Shape 7"/>
          <p:cNvSpPr/>
          <p:nvPr/>
        </p:nvSpPr>
        <p:spPr>
          <a:xfrm>
            <a:off x="3390900" y="4135785"/>
            <a:ext cx="4114800" cy="9525"/>
          </a:xfrm>
          <a:prstGeom prst="rect">
            <a:avLst/>
          </a:prstGeom>
          <a:solidFill>
            <a:srgbClr val="B85100"/>
          </a:solidFill>
          <a:ln/>
        </p:spPr>
      </p:sp>
      <p:sp>
        <p:nvSpPr>
          <p:cNvPr id="10" name="Text 8"/>
          <p:cNvSpPr/>
          <p:nvPr/>
        </p:nvSpPr>
        <p:spPr>
          <a:xfrm>
            <a:off x="3543300" y="3759547"/>
            <a:ext cx="3933444" cy="300038"/>
          </a:xfrm>
          <a:prstGeom prst="rect">
            <a:avLst/>
          </a:prstGeom>
          <a:noFill/>
          <a:ln/>
        </p:spPr>
        <p:txBody>
          <a:bodyPr wrap="square" lIns="25400" tIns="25400" rIns="25400" bIns="25400" rtlCol="0" anchor="ctr">
            <a:normAutofit/>
          </a:bodyPr>
          <a:lstStyle/>
          <a:p>
            <a:pPr algn="l" indent="0" marL="0">
              <a:buNone/>
            </a:pPr>
            <a:r>
              <a:rPr lang="en-US" sz="1800" b="1" dirty="0">
                <a:solidFill>
                  <a:srgbClr val="F5F7FB"/>
                </a:solidFill>
                <a:latin typeface="Arial" pitchFamily="34" charset="0"/>
                <a:ea typeface="Arial" pitchFamily="34" charset="-122"/>
                <a:cs typeface="Arial" pitchFamily="34" charset="-120"/>
              </a:rPr>
              <a:t>What it is</a:t>
            </a:r>
            <a:endParaRPr lang="en-US" sz="1800" dirty="0"/>
          </a:p>
        </p:txBody>
      </p:sp>
      <p:sp>
        <p:nvSpPr>
          <p:cNvPr id="11" name="Shape 9"/>
          <p:cNvSpPr/>
          <p:nvPr/>
        </p:nvSpPr>
        <p:spPr>
          <a:xfrm>
            <a:off x="7505700" y="3645247"/>
            <a:ext cx="9982200" cy="500063"/>
          </a:xfrm>
          <a:prstGeom prst="rect">
            <a:avLst/>
          </a:prstGeom>
          <a:solidFill>
            <a:srgbClr val="FF6A00">
              <a:alpha val="18000"/>
            </a:srgbClr>
          </a:solidFill>
          <a:ln/>
        </p:spPr>
      </p:sp>
      <p:sp>
        <p:nvSpPr>
          <p:cNvPr id="12" name="Shape 10"/>
          <p:cNvSpPr/>
          <p:nvPr/>
        </p:nvSpPr>
        <p:spPr>
          <a:xfrm>
            <a:off x="7505700" y="4135785"/>
            <a:ext cx="9982200" cy="9525"/>
          </a:xfrm>
          <a:prstGeom prst="rect">
            <a:avLst/>
          </a:prstGeom>
          <a:solidFill>
            <a:srgbClr val="B85100"/>
          </a:solidFill>
          <a:ln/>
        </p:spPr>
      </p:sp>
      <p:sp>
        <p:nvSpPr>
          <p:cNvPr id="13" name="Text 11"/>
          <p:cNvSpPr/>
          <p:nvPr/>
        </p:nvSpPr>
        <p:spPr>
          <a:xfrm>
            <a:off x="7658100" y="3759547"/>
            <a:ext cx="9976866" cy="300038"/>
          </a:xfrm>
          <a:prstGeom prst="rect">
            <a:avLst/>
          </a:prstGeom>
          <a:noFill/>
          <a:ln/>
        </p:spPr>
        <p:txBody>
          <a:bodyPr wrap="square" lIns="25400" tIns="25400" rIns="25400" bIns="25400" rtlCol="0" anchor="ctr">
            <a:normAutofit/>
          </a:bodyPr>
          <a:lstStyle/>
          <a:p>
            <a:pPr algn="l" indent="0" marL="0">
              <a:buNone/>
            </a:pPr>
            <a:r>
              <a:rPr lang="en-US" sz="1800" b="1" dirty="0">
                <a:solidFill>
                  <a:srgbClr val="F5F7FB"/>
                </a:solidFill>
                <a:latin typeface="Arial" pitchFamily="34" charset="0"/>
                <a:ea typeface="Arial" pitchFamily="34" charset="-122"/>
                <a:cs typeface="Arial" pitchFamily="34" charset="-120"/>
              </a:rPr>
              <a:t>Consequence of ignoring it</a:t>
            </a:r>
            <a:endParaRPr lang="en-US" sz="1800" dirty="0"/>
          </a:p>
        </p:txBody>
      </p:sp>
      <p:sp>
        <p:nvSpPr>
          <p:cNvPr id="14" name="Shape 12"/>
          <p:cNvSpPr/>
          <p:nvPr/>
        </p:nvSpPr>
        <p:spPr>
          <a:xfrm>
            <a:off x="800100" y="4145310"/>
            <a:ext cx="2590800" cy="485775"/>
          </a:xfrm>
          <a:prstGeom prst="rect">
            <a:avLst/>
          </a:prstGeom>
          <a:solidFill>
            <a:srgbClr val="FFFFFF">
              <a:alpha val="2000"/>
            </a:srgbClr>
          </a:solidFill>
          <a:ln/>
        </p:spPr>
      </p:sp>
      <p:sp>
        <p:nvSpPr>
          <p:cNvPr id="15" name="Shape 13"/>
          <p:cNvSpPr/>
          <p:nvPr/>
        </p:nvSpPr>
        <p:spPr>
          <a:xfrm>
            <a:off x="800100" y="4621560"/>
            <a:ext cx="2590800" cy="9525"/>
          </a:xfrm>
          <a:prstGeom prst="rect">
            <a:avLst/>
          </a:prstGeom>
          <a:solidFill>
            <a:srgbClr val="2A2F3A"/>
          </a:solidFill>
          <a:ln/>
        </p:spPr>
      </p:sp>
      <p:sp>
        <p:nvSpPr>
          <p:cNvPr id="16" name="Text 14"/>
          <p:cNvSpPr/>
          <p:nvPr/>
        </p:nvSpPr>
        <p:spPr>
          <a:xfrm>
            <a:off x="952500" y="4250085"/>
            <a:ext cx="2363724"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Law</a:t>
            </a:r>
            <a:endParaRPr lang="en-US" sz="1800" dirty="0"/>
          </a:p>
        </p:txBody>
      </p:sp>
      <p:sp>
        <p:nvSpPr>
          <p:cNvPr id="17" name="Shape 15"/>
          <p:cNvSpPr/>
          <p:nvPr/>
        </p:nvSpPr>
        <p:spPr>
          <a:xfrm>
            <a:off x="3390900" y="4145310"/>
            <a:ext cx="4114800" cy="485775"/>
          </a:xfrm>
          <a:prstGeom prst="rect">
            <a:avLst/>
          </a:prstGeom>
          <a:solidFill>
            <a:srgbClr val="FFFFFF">
              <a:alpha val="2000"/>
            </a:srgbClr>
          </a:solidFill>
          <a:ln/>
        </p:spPr>
      </p:sp>
      <p:sp>
        <p:nvSpPr>
          <p:cNvPr id="18" name="Shape 16"/>
          <p:cNvSpPr/>
          <p:nvPr/>
        </p:nvSpPr>
        <p:spPr>
          <a:xfrm>
            <a:off x="3390900" y="4621560"/>
            <a:ext cx="4114800" cy="9525"/>
          </a:xfrm>
          <a:prstGeom prst="rect">
            <a:avLst/>
          </a:prstGeom>
          <a:solidFill>
            <a:srgbClr val="2A2F3A"/>
          </a:solidFill>
          <a:ln/>
        </p:spPr>
      </p:sp>
      <p:sp>
        <p:nvSpPr>
          <p:cNvPr id="19" name="Text 17"/>
          <p:cNvSpPr/>
          <p:nvPr/>
        </p:nvSpPr>
        <p:spPr>
          <a:xfrm>
            <a:off x="3543300" y="4250085"/>
            <a:ext cx="3933444"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Legislation enacted by a state</a:t>
            </a:r>
            <a:endParaRPr lang="en-US" sz="1800" dirty="0"/>
          </a:p>
        </p:txBody>
      </p:sp>
      <p:sp>
        <p:nvSpPr>
          <p:cNvPr id="20" name="Shape 18"/>
          <p:cNvSpPr/>
          <p:nvPr/>
        </p:nvSpPr>
        <p:spPr>
          <a:xfrm>
            <a:off x="7505700" y="4145310"/>
            <a:ext cx="9982200" cy="485775"/>
          </a:xfrm>
          <a:prstGeom prst="rect">
            <a:avLst/>
          </a:prstGeom>
          <a:solidFill>
            <a:srgbClr val="FFFFFF">
              <a:alpha val="2000"/>
            </a:srgbClr>
          </a:solidFill>
          <a:ln/>
        </p:spPr>
      </p:sp>
      <p:sp>
        <p:nvSpPr>
          <p:cNvPr id="21" name="Shape 19"/>
          <p:cNvSpPr/>
          <p:nvPr/>
        </p:nvSpPr>
        <p:spPr>
          <a:xfrm>
            <a:off x="7505700" y="4621560"/>
            <a:ext cx="9982200" cy="9525"/>
          </a:xfrm>
          <a:prstGeom prst="rect">
            <a:avLst/>
          </a:prstGeom>
          <a:solidFill>
            <a:srgbClr val="2A2F3A"/>
          </a:solidFill>
          <a:ln/>
        </p:spPr>
      </p:sp>
      <p:sp>
        <p:nvSpPr>
          <p:cNvPr id="22" name="Text 20"/>
          <p:cNvSpPr/>
          <p:nvPr/>
        </p:nvSpPr>
        <p:spPr>
          <a:xfrm>
            <a:off x="7658100" y="4250085"/>
            <a:ext cx="9976866"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Criminal or civil liability</a:t>
            </a:r>
            <a:endParaRPr lang="en-US" sz="1800" dirty="0"/>
          </a:p>
        </p:txBody>
      </p:sp>
      <p:sp>
        <p:nvSpPr>
          <p:cNvPr id="23" name="Shape 21"/>
          <p:cNvSpPr/>
          <p:nvPr/>
        </p:nvSpPr>
        <p:spPr>
          <a:xfrm>
            <a:off x="800100" y="5374035"/>
            <a:ext cx="2590800" cy="9525"/>
          </a:xfrm>
          <a:prstGeom prst="rect">
            <a:avLst/>
          </a:prstGeom>
          <a:solidFill>
            <a:srgbClr val="2A2F3A"/>
          </a:solidFill>
          <a:ln/>
        </p:spPr>
      </p:sp>
      <p:sp>
        <p:nvSpPr>
          <p:cNvPr id="24" name="Text 22"/>
          <p:cNvSpPr/>
          <p:nvPr/>
        </p:nvSpPr>
        <p:spPr>
          <a:xfrm>
            <a:off x="952500" y="4735860"/>
            <a:ext cx="2363724" cy="5715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Regulation</a:t>
            </a:r>
            <a:endParaRPr lang="en-US" sz="1800" dirty="0"/>
          </a:p>
        </p:txBody>
      </p:sp>
      <p:sp>
        <p:nvSpPr>
          <p:cNvPr id="25" name="Shape 23"/>
          <p:cNvSpPr/>
          <p:nvPr/>
        </p:nvSpPr>
        <p:spPr>
          <a:xfrm>
            <a:off x="3390900" y="5374035"/>
            <a:ext cx="4114800" cy="9525"/>
          </a:xfrm>
          <a:prstGeom prst="rect">
            <a:avLst/>
          </a:prstGeom>
          <a:solidFill>
            <a:srgbClr val="2A2F3A"/>
          </a:solidFill>
          <a:ln/>
        </p:spPr>
      </p:sp>
      <p:sp>
        <p:nvSpPr>
          <p:cNvPr id="26" name="Text 24"/>
          <p:cNvSpPr/>
          <p:nvPr/>
        </p:nvSpPr>
        <p:spPr>
          <a:xfrm>
            <a:off x="3543300" y="4735860"/>
            <a:ext cx="3933444" cy="5715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Binding rules issued by an authority under law</a:t>
            </a:r>
            <a:endParaRPr lang="en-US" sz="1800" dirty="0"/>
          </a:p>
        </p:txBody>
      </p:sp>
      <p:sp>
        <p:nvSpPr>
          <p:cNvPr id="27" name="Shape 25"/>
          <p:cNvSpPr/>
          <p:nvPr/>
        </p:nvSpPr>
        <p:spPr>
          <a:xfrm>
            <a:off x="7505700" y="5374035"/>
            <a:ext cx="9982200" cy="9525"/>
          </a:xfrm>
          <a:prstGeom prst="rect">
            <a:avLst/>
          </a:prstGeom>
          <a:solidFill>
            <a:srgbClr val="2A2F3A"/>
          </a:solidFill>
          <a:ln/>
        </p:spPr>
      </p:sp>
      <p:sp>
        <p:nvSpPr>
          <p:cNvPr id="28" name="Text 26"/>
          <p:cNvSpPr/>
          <p:nvPr/>
        </p:nvSpPr>
        <p:spPr>
          <a:xfrm>
            <a:off x="7658100" y="4735860"/>
            <a:ext cx="9976866" cy="5715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Enforcement action, fines, loss of licence</a:t>
            </a:r>
            <a:endParaRPr lang="en-US" sz="1800" dirty="0"/>
          </a:p>
        </p:txBody>
      </p:sp>
      <p:sp>
        <p:nvSpPr>
          <p:cNvPr id="29" name="Shape 27"/>
          <p:cNvSpPr/>
          <p:nvPr/>
        </p:nvSpPr>
        <p:spPr>
          <a:xfrm>
            <a:off x="800100" y="5383560"/>
            <a:ext cx="2590800" cy="752475"/>
          </a:xfrm>
          <a:prstGeom prst="rect">
            <a:avLst/>
          </a:prstGeom>
          <a:solidFill>
            <a:srgbClr val="FFFFFF">
              <a:alpha val="2000"/>
            </a:srgbClr>
          </a:solidFill>
          <a:ln/>
        </p:spPr>
      </p:sp>
      <p:sp>
        <p:nvSpPr>
          <p:cNvPr id="30" name="Shape 28"/>
          <p:cNvSpPr/>
          <p:nvPr/>
        </p:nvSpPr>
        <p:spPr>
          <a:xfrm>
            <a:off x="800100" y="6126510"/>
            <a:ext cx="2590800" cy="9525"/>
          </a:xfrm>
          <a:prstGeom prst="rect">
            <a:avLst/>
          </a:prstGeom>
          <a:solidFill>
            <a:srgbClr val="2A2F3A"/>
          </a:solidFill>
          <a:ln/>
        </p:spPr>
      </p:sp>
      <p:sp>
        <p:nvSpPr>
          <p:cNvPr id="31" name="Text 29"/>
          <p:cNvSpPr/>
          <p:nvPr/>
        </p:nvSpPr>
        <p:spPr>
          <a:xfrm>
            <a:off x="952500" y="5488335"/>
            <a:ext cx="2363724" cy="5715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Standard</a:t>
            </a:r>
            <a:endParaRPr lang="en-US" sz="1800" dirty="0"/>
          </a:p>
        </p:txBody>
      </p:sp>
      <p:sp>
        <p:nvSpPr>
          <p:cNvPr id="32" name="Shape 30"/>
          <p:cNvSpPr/>
          <p:nvPr/>
        </p:nvSpPr>
        <p:spPr>
          <a:xfrm>
            <a:off x="3390900" y="5383560"/>
            <a:ext cx="4114800" cy="752475"/>
          </a:xfrm>
          <a:prstGeom prst="rect">
            <a:avLst/>
          </a:prstGeom>
          <a:solidFill>
            <a:srgbClr val="FFFFFF">
              <a:alpha val="2000"/>
            </a:srgbClr>
          </a:solidFill>
          <a:ln/>
        </p:spPr>
      </p:sp>
      <p:sp>
        <p:nvSpPr>
          <p:cNvPr id="33" name="Shape 31"/>
          <p:cNvSpPr/>
          <p:nvPr/>
        </p:nvSpPr>
        <p:spPr>
          <a:xfrm>
            <a:off x="3390900" y="6126510"/>
            <a:ext cx="4114800" cy="9525"/>
          </a:xfrm>
          <a:prstGeom prst="rect">
            <a:avLst/>
          </a:prstGeom>
          <a:solidFill>
            <a:srgbClr val="2A2F3A"/>
          </a:solidFill>
          <a:ln/>
        </p:spPr>
      </p:sp>
      <p:sp>
        <p:nvSpPr>
          <p:cNvPr id="34" name="Text 32"/>
          <p:cNvSpPr/>
          <p:nvPr/>
        </p:nvSpPr>
        <p:spPr>
          <a:xfrm>
            <a:off x="3543300" y="5488335"/>
            <a:ext cx="3933444" cy="5715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A specification with defined, auditable requirements</a:t>
            </a:r>
            <a:endParaRPr lang="en-US" sz="1800" dirty="0"/>
          </a:p>
        </p:txBody>
      </p:sp>
      <p:sp>
        <p:nvSpPr>
          <p:cNvPr id="35" name="Shape 33"/>
          <p:cNvSpPr/>
          <p:nvPr/>
        </p:nvSpPr>
        <p:spPr>
          <a:xfrm>
            <a:off x="7505700" y="5383560"/>
            <a:ext cx="9982200" cy="752475"/>
          </a:xfrm>
          <a:prstGeom prst="rect">
            <a:avLst/>
          </a:prstGeom>
          <a:solidFill>
            <a:srgbClr val="FFFFFF">
              <a:alpha val="2000"/>
            </a:srgbClr>
          </a:solidFill>
          <a:ln/>
        </p:spPr>
      </p:sp>
      <p:sp>
        <p:nvSpPr>
          <p:cNvPr id="36" name="Shape 34"/>
          <p:cNvSpPr/>
          <p:nvPr/>
        </p:nvSpPr>
        <p:spPr>
          <a:xfrm>
            <a:off x="7505700" y="6126510"/>
            <a:ext cx="9982200" cy="9525"/>
          </a:xfrm>
          <a:prstGeom prst="rect">
            <a:avLst/>
          </a:prstGeom>
          <a:solidFill>
            <a:srgbClr val="2A2F3A"/>
          </a:solidFill>
          <a:ln/>
        </p:spPr>
      </p:sp>
      <p:sp>
        <p:nvSpPr>
          <p:cNvPr id="37" name="Text 35"/>
          <p:cNvSpPr/>
          <p:nvPr/>
        </p:nvSpPr>
        <p:spPr>
          <a:xfrm>
            <a:off x="7658100" y="5488335"/>
            <a:ext cx="9976866" cy="5715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Failed certification; often loss of contracts</a:t>
            </a:r>
            <a:endParaRPr lang="en-US" sz="1800" dirty="0"/>
          </a:p>
        </p:txBody>
      </p:sp>
      <p:sp>
        <p:nvSpPr>
          <p:cNvPr id="38" name="Shape 36"/>
          <p:cNvSpPr/>
          <p:nvPr/>
        </p:nvSpPr>
        <p:spPr>
          <a:xfrm>
            <a:off x="800100" y="6878985"/>
            <a:ext cx="2590800" cy="9525"/>
          </a:xfrm>
          <a:prstGeom prst="rect">
            <a:avLst/>
          </a:prstGeom>
          <a:solidFill>
            <a:srgbClr val="2A2F3A"/>
          </a:solidFill>
          <a:ln/>
        </p:spPr>
      </p:sp>
      <p:sp>
        <p:nvSpPr>
          <p:cNvPr id="39" name="Text 37"/>
          <p:cNvSpPr/>
          <p:nvPr/>
        </p:nvSpPr>
        <p:spPr>
          <a:xfrm>
            <a:off x="952500" y="6240810"/>
            <a:ext cx="2363724" cy="5715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Framework</a:t>
            </a:r>
            <a:endParaRPr lang="en-US" sz="1800" dirty="0"/>
          </a:p>
        </p:txBody>
      </p:sp>
      <p:sp>
        <p:nvSpPr>
          <p:cNvPr id="40" name="Shape 38"/>
          <p:cNvSpPr/>
          <p:nvPr/>
        </p:nvSpPr>
        <p:spPr>
          <a:xfrm>
            <a:off x="3390900" y="6878985"/>
            <a:ext cx="4114800" cy="9525"/>
          </a:xfrm>
          <a:prstGeom prst="rect">
            <a:avLst/>
          </a:prstGeom>
          <a:solidFill>
            <a:srgbClr val="2A2F3A"/>
          </a:solidFill>
          <a:ln/>
        </p:spPr>
      </p:sp>
      <p:sp>
        <p:nvSpPr>
          <p:cNvPr id="41" name="Text 39"/>
          <p:cNvSpPr/>
          <p:nvPr/>
        </p:nvSpPr>
        <p:spPr>
          <a:xfrm>
            <a:off x="3543300" y="6240810"/>
            <a:ext cx="3933444" cy="5715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A structure for organising security activity</a:t>
            </a:r>
            <a:endParaRPr lang="en-US" sz="1800" dirty="0"/>
          </a:p>
        </p:txBody>
      </p:sp>
      <p:sp>
        <p:nvSpPr>
          <p:cNvPr id="42" name="Shape 40"/>
          <p:cNvSpPr/>
          <p:nvPr/>
        </p:nvSpPr>
        <p:spPr>
          <a:xfrm>
            <a:off x="7505700" y="6878985"/>
            <a:ext cx="9982200" cy="9525"/>
          </a:xfrm>
          <a:prstGeom prst="rect">
            <a:avLst/>
          </a:prstGeom>
          <a:solidFill>
            <a:srgbClr val="2A2F3A"/>
          </a:solidFill>
          <a:ln/>
        </p:spPr>
      </p:sp>
      <p:sp>
        <p:nvSpPr>
          <p:cNvPr id="43" name="Text 41"/>
          <p:cNvSpPr/>
          <p:nvPr/>
        </p:nvSpPr>
        <p:spPr>
          <a:xfrm>
            <a:off x="7658100" y="6240810"/>
            <a:ext cx="9976866" cy="5715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No direct penalty — but no defensible structure either</a:t>
            </a:r>
            <a:endParaRPr lang="en-US" sz="1800" dirty="0"/>
          </a:p>
        </p:txBody>
      </p:sp>
      <p:sp>
        <p:nvSpPr>
          <p:cNvPr id="44" name="Text 42"/>
          <p:cNvSpPr/>
          <p:nvPr/>
        </p:nvSpPr>
        <p:spPr>
          <a:xfrm>
            <a:off x="800100" y="7140922"/>
            <a:ext cx="15304770" cy="700980"/>
          </a:xfrm>
          <a:prstGeom prst="rect">
            <a:avLst/>
          </a:prstGeom>
          <a:noFill/>
          <a:ln/>
        </p:spPr>
        <p:txBody>
          <a:bodyPr wrap="square" lIns="25400" tIns="25400" rIns="25400" bIns="25400" rtlCol="0" anchor="t">
            <a:normAutofit/>
          </a:bodyPr>
          <a:lstStyle/>
          <a:p>
            <a:pPr algn="l" indent="0" marL="0">
              <a:lnSpc>
                <a:spcPct val="126545"/>
              </a:lnSpc>
              <a:buNone/>
            </a:pPr>
            <a:r>
              <a:rPr lang="en-US" sz="1800" dirty="0">
                <a:solidFill>
                  <a:srgbClr val="B8C0CF"/>
                </a:solidFill>
                <a:latin typeface="Arial" pitchFamily="34" charset="0"/>
                <a:ea typeface="Arial" pitchFamily="34" charset="-122"/>
                <a:cs typeface="Arial" pitchFamily="34" charset="-120"/>
              </a:rPr>
              <a:t>Standards are certifiable and prescriptive. Frameworks are descriptive and adopted voluntarily. Confusing the two in a report undermines the recommendation.</a:t>
            </a:r>
            <a:endParaRPr lang="en-US" sz="18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3140422"/>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CRITICAL DISTINCTION</a:t>
            </a:r>
            <a:endParaRPr lang="en-US" sz="1650" dirty="0"/>
          </a:p>
        </p:txBody>
      </p:sp>
      <p:sp>
        <p:nvSpPr>
          <p:cNvPr id="4" name="Text 2"/>
          <p:cNvSpPr/>
          <p:nvPr/>
        </p:nvSpPr>
        <p:spPr>
          <a:xfrm>
            <a:off x="800100" y="3635722"/>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Certifiable versus adoptable</a:t>
            </a:r>
            <a:endParaRPr lang="en-US" sz="3000" dirty="0"/>
          </a:p>
        </p:txBody>
      </p:sp>
      <p:sp>
        <p:nvSpPr>
          <p:cNvPr id="5" name="Shape 3"/>
          <p:cNvSpPr/>
          <p:nvPr/>
        </p:nvSpPr>
        <p:spPr>
          <a:xfrm>
            <a:off x="800100" y="4302472"/>
            <a:ext cx="7581900" cy="1795463"/>
          </a:xfrm>
          <a:prstGeom prst="roundRect">
            <a:avLst>
              <a:gd name="adj" fmla="val 8488"/>
            </a:avLst>
          </a:prstGeom>
          <a:solidFill>
            <a:srgbClr val="FF6A00">
              <a:alpha val="6000"/>
            </a:srgbClr>
          </a:solidFill>
          <a:ln w="9525">
            <a:solidFill>
              <a:srgbClr val="B85100"/>
            </a:solidFill>
            <a:prstDash val="solid"/>
          </a:ln>
        </p:spPr>
      </p:sp>
      <p:sp>
        <p:nvSpPr>
          <p:cNvPr id="6" name="Text 4"/>
          <p:cNvSpPr/>
          <p:nvPr/>
        </p:nvSpPr>
        <p:spPr>
          <a:xfrm>
            <a:off x="1038225" y="4540597"/>
            <a:ext cx="7816215"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STANDARD</a:t>
            </a:r>
            <a:endParaRPr lang="en-US" sz="1500" dirty="0"/>
          </a:p>
        </p:txBody>
      </p:sp>
      <p:sp>
        <p:nvSpPr>
          <p:cNvPr id="7" name="Text 5"/>
          <p:cNvSpPr/>
          <p:nvPr/>
        </p:nvSpPr>
        <p:spPr>
          <a:xfrm>
            <a:off x="1038225" y="4859685"/>
            <a:ext cx="7318820"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States requirements precisely enough to be audited against. An organisation either meets it or does not, and a third party can say which.</a:t>
            </a:r>
            <a:endParaRPr lang="en-US" sz="1875" dirty="0"/>
          </a:p>
        </p:txBody>
      </p:sp>
      <p:sp>
        <p:nvSpPr>
          <p:cNvPr id="8" name="Text 6"/>
          <p:cNvSpPr/>
          <p:nvPr/>
        </p:nvSpPr>
        <p:spPr>
          <a:xfrm>
            <a:off x="8534400" y="4302472"/>
            <a:ext cx="1219200" cy="1833563"/>
          </a:xfrm>
          <a:prstGeom prst="rect">
            <a:avLst/>
          </a:prstGeom>
          <a:noFill/>
          <a:ln/>
        </p:spPr>
        <p:txBody>
          <a:bodyPr wrap="square" lIns="25400" tIns="25400" rIns="25400" bIns="25400" rtlCol="0" anchor="ctr">
            <a:normAutofit/>
          </a:bodyPr>
          <a:lstStyle/>
          <a:p>
            <a:pPr algn="ctr" indent="0" marL="0">
              <a:buNone/>
            </a:pPr>
            <a:r>
              <a:rPr lang="en-US" sz="3900" b="1" dirty="0">
                <a:solidFill>
                  <a:srgbClr val="FF6A00"/>
                </a:solidFill>
                <a:latin typeface="Arial" pitchFamily="34" charset="0"/>
                <a:ea typeface="Arial" pitchFamily="34" charset="-122"/>
                <a:cs typeface="Arial" pitchFamily="34" charset="-120"/>
              </a:rPr>
              <a:t>VS</a:t>
            </a:r>
            <a:endParaRPr lang="en-US" sz="3900" dirty="0"/>
          </a:p>
        </p:txBody>
      </p:sp>
      <p:sp>
        <p:nvSpPr>
          <p:cNvPr id="9" name="Shape 7"/>
          <p:cNvSpPr/>
          <p:nvPr/>
        </p:nvSpPr>
        <p:spPr>
          <a:xfrm>
            <a:off x="9906000" y="4302472"/>
            <a:ext cx="7581900" cy="1795463"/>
          </a:xfrm>
          <a:prstGeom prst="roundRect">
            <a:avLst>
              <a:gd name="adj" fmla="val 8488"/>
            </a:avLst>
          </a:prstGeom>
          <a:solidFill>
            <a:srgbClr val="FFFFFF">
              <a:alpha val="2000"/>
            </a:srgbClr>
          </a:solidFill>
          <a:ln w="9525">
            <a:solidFill>
              <a:srgbClr val="2A2F3A"/>
            </a:solidFill>
            <a:prstDash val="solid"/>
          </a:ln>
        </p:spPr>
      </p:sp>
      <p:sp>
        <p:nvSpPr>
          <p:cNvPr id="10" name="Text 8"/>
          <p:cNvSpPr/>
          <p:nvPr/>
        </p:nvSpPr>
        <p:spPr>
          <a:xfrm>
            <a:off x="10144125" y="4540597"/>
            <a:ext cx="7816215"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FRAMEWORK</a:t>
            </a:r>
            <a:endParaRPr lang="en-US" sz="1500" dirty="0"/>
          </a:p>
        </p:txBody>
      </p:sp>
      <p:sp>
        <p:nvSpPr>
          <p:cNvPr id="11" name="Text 9"/>
          <p:cNvSpPr/>
          <p:nvPr/>
        </p:nvSpPr>
        <p:spPr>
          <a:xfrm>
            <a:off x="10144125" y="4859685"/>
            <a:ext cx="7318820"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Organises activity into categories and outcomes, leaving the organisation to choose implementation. Two organisations can both be aligned to it and look entirely different.</a:t>
            </a:r>
            <a:endParaRPr lang="en-US" sz="1875" dirty="0"/>
          </a:p>
        </p:txBody>
      </p:sp>
      <p:sp>
        <p:nvSpPr>
          <p:cNvPr id="12" name="Text 10"/>
          <p:cNvSpPr/>
          <p:nvPr/>
        </p:nvSpPr>
        <p:spPr>
          <a:xfrm>
            <a:off x="800100" y="6345585"/>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Watch for: a client claiming to be "certified" against a framework. That statement is usually a misunderstanding worth clarifying politely.</a:t>
            </a:r>
            <a:endParaRPr lang="en-US" sz="2175"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3664744"/>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OBJECTIVE 2.5 RECAP</a:t>
            </a:r>
            <a:endParaRPr lang="en-US" sz="1650" dirty="0"/>
          </a:p>
        </p:txBody>
      </p:sp>
      <p:sp>
        <p:nvSpPr>
          <p:cNvPr id="4" name="Text 2"/>
          <p:cNvSpPr/>
          <p:nvPr/>
        </p:nvSpPr>
        <p:spPr>
          <a:xfrm>
            <a:off x="800100" y="4160044"/>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Laws, Regulations, Standards and Frameworks — what you should now hold</a:t>
            </a:r>
            <a:endParaRPr lang="en-US" sz="3000" dirty="0"/>
          </a:p>
        </p:txBody>
      </p:sp>
      <p:sp>
        <p:nvSpPr>
          <p:cNvPr id="5" name="Shape 3"/>
          <p:cNvSpPr/>
          <p:nvPr/>
        </p:nvSpPr>
        <p:spPr>
          <a:xfrm>
            <a:off x="800100" y="4826794"/>
            <a:ext cx="8239125" cy="1795463"/>
          </a:xfrm>
          <a:prstGeom prst="roundRect">
            <a:avLst>
              <a:gd name="adj" fmla="val 8488"/>
            </a:avLst>
          </a:prstGeom>
          <a:solidFill>
            <a:srgbClr val="FFFFFF">
              <a:alpha val="2000"/>
            </a:srgbClr>
          </a:solidFill>
          <a:ln w="9525">
            <a:solidFill>
              <a:srgbClr val="2A2F3A"/>
            </a:solidFill>
            <a:prstDash val="solid"/>
          </a:ln>
        </p:spPr>
      </p:sp>
      <p:sp>
        <p:nvSpPr>
          <p:cNvPr id="6" name="Text 4"/>
          <p:cNvSpPr/>
          <p:nvPr/>
        </p:nvSpPr>
        <p:spPr>
          <a:xfrm>
            <a:off x="1038225" y="506491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THE BOUNDARY</a:t>
            </a:r>
            <a:endParaRPr lang="en-US" sz="1500" dirty="0"/>
          </a:p>
        </p:txBody>
      </p:sp>
      <p:sp>
        <p:nvSpPr>
          <p:cNvPr id="7" name="Text 5"/>
          <p:cNvSpPr/>
          <p:nvPr/>
        </p:nvSpPr>
        <p:spPr>
          <a:xfrm>
            <a:off x="1038225" y="5384006"/>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Written authorisation and an agreed scope are what separate this profession from the offence it resembles. Data exposed during testing carries obligations that outlive the engagement.</a:t>
            </a:r>
            <a:endParaRPr lang="en-US" sz="1875" dirty="0"/>
          </a:p>
        </p:txBody>
      </p:sp>
      <p:sp>
        <p:nvSpPr>
          <p:cNvPr id="8" name="Shape 6"/>
          <p:cNvSpPr/>
          <p:nvPr/>
        </p:nvSpPr>
        <p:spPr>
          <a:xfrm>
            <a:off x="9248775" y="4826794"/>
            <a:ext cx="8239125" cy="1795463"/>
          </a:xfrm>
          <a:prstGeom prst="roundRect">
            <a:avLst>
              <a:gd name="adj" fmla="val 8488"/>
            </a:avLst>
          </a:prstGeom>
          <a:solidFill>
            <a:srgbClr val="FFFFFF">
              <a:alpha val="2000"/>
            </a:srgbClr>
          </a:solidFill>
          <a:ln w="9525">
            <a:solidFill>
              <a:srgbClr val="2A2F3A"/>
            </a:solidFill>
            <a:prstDash val="solid"/>
          </a:ln>
        </p:spPr>
      </p:sp>
      <p:sp>
        <p:nvSpPr>
          <p:cNvPr id="9" name="Text 7"/>
          <p:cNvSpPr/>
          <p:nvPr/>
        </p:nvSpPr>
        <p:spPr>
          <a:xfrm>
            <a:off x="9486900" y="506491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THE LANGUAGE</a:t>
            </a:r>
            <a:endParaRPr lang="en-US" sz="1500" dirty="0"/>
          </a:p>
        </p:txBody>
      </p:sp>
      <p:sp>
        <p:nvSpPr>
          <p:cNvPr id="10" name="Text 8"/>
          <p:cNvSpPr/>
          <p:nvPr/>
        </p:nvSpPr>
        <p:spPr>
          <a:xfrm>
            <a:off x="9486900" y="5384006"/>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Laws and regulations compel; standards certify; frameworks organise. Phrase findings against whichever the client is actually measured on.</a:t>
            </a:r>
            <a:endParaRPr lang="en-US" sz="1875"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99442" y="4091955"/>
            <a:ext cx="2089115" cy="285750"/>
          </a:xfrm>
          <a:prstGeom prst="rect">
            <a:avLst/>
          </a:prstGeom>
          <a:noFill/>
          <a:ln/>
        </p:spPr>
        <p:txBody>
          <a:bodyPr wrap="square" lIns="25400" tIns="25400" rIns="25400" bIns="25400" rtlCol="0" anchor="t">
            <a:normAutofit/>
          </a:bodyPr>
          <a:lstStyle/>
          <a:p>
            <a:pPr algn="ctr" indent="0" marL="0">
              <a:buNone/>
            </a:pPr>
            <a:r>
              <a:rPr lang="en-US" sz="1650" b="1" spc="225" kern="0" dirty="0">
                <a:solidFill>
                  <a:srgbClr val="FF6A00"/>
                </a:solidFill>
                <a:latin typeface="Arial" pitchFamily="34" charset="0"/>
                <a:ea typeface="Arial" pitchFamily="34" charset="-122"/>
                <a:cs typeface="Arial" pitchFamily="34" charset="-120"/>
              </a:rPr>
              <a:t>OBJECTIVE 2.6</a:t>
            </a:r>
            <a:endParaRPr lang="en-US" sz="1650" dirty="0"/>
          </a:p>
        </p:txBody>
      </p:sp>
      <p:sp>
        <p:nvSpPr>
          <p:cNvPr id="4" name="Text 2"/>
          <p:cNvSpPr/>
          <p:nvPr/>
        </p:nvSpPr>
        <p:spPr>
          <a:xfrm>
            <a:off x="820936" y="4606305"/>
            <a:ext cx="16646128" cy="918195"/>
          </a:xfrm>
          <a:prstGeom prst="rect">
            <a:avLst/>
          </a:prstGeom>
          <a:noFill/>
          <a:ln/>
        </p:spPr>
        <p:txBody>
          <a:bodyPr wrap="square" lIns="25400" tIns="25400" rIns="25400" bIns="25400" rtlCol="0" anchor="t">
            <a:normAutofit/>
          </a:bodyPr>
          <a:lstStyle/>
          <a:p>
            <a:pPr algn="ctr" indent="0" marL="0">
              <a:lnSpc>
                <a:spcPct val="91485"/>
              </a:lnSpc>
              <a:buNone/>
            </a:pPr>
            <a:r>
              <a:rPr lang="en-US" sz="6600" b="1" spc="-37" kern="0" dirty="0">
                <a:solidFill>
                  <a:srgbClr val="F5F7FB"/>
                </a:solidFill>
                <a:latin typeface="Arial" pitchFamily="34" charset="0"/>
                <a:ea typeface="Arial" pitchFamily="34" charset="-122"/>
                <a:cs typeface="Arial" pitchFamily="34" charset="-120"/>
              </a:rPr>
              <a:t>Career Opportunities in Cybersecurity</a:t>
            </a:r>
            <a:endParaRPr lang="en-US" sz="6600" dirty="0"/>
          </a:p>
        </p:txBody>
      </p:sp>
      <p:sp>
        <p:nvSpPr>
          <p:cNvPr id="5" name="Text 3"/>
          <p:cNvSpPr/>
          <p:nvPr/>
        </p:nvSpPr>
        <p:spPr>
          <a:xfrm>
            <a:off x="5919877" y="5753100"/>
            <a:ext cx="6448246" cy="480045"/>
          </a:xfrm>
          <a:prstGeom prst="rect">
            <a:avLst/>
          </a:prstGeom>
          <a:noFill/>
          <a:ln/>
        </p:spPr>
        <p:txBody>
          <a:bodyPr wrap="square" lIns="25400" tIns="25400" rIns="25400" bIns="25400" rtlCol="0" anchor="t">
            <a:normAutofit/>
          </a:bodyPr>
          <a:lstStyle/>
          <a:p>
            <a:pPr algn="ctr" indent="0" marL="0">
              <a:lnSpc>
                <a:spcPct val="125405"/>
              </a:lnSpc>
              <a:buNone/>
            </a:pPr>
            <a:r>
              <a:rPr lang="en-US" sz="2400" dirty="0">
                <a:solidFill>
                  <a:srgbClr val="B8C0CF"/>
                </a:solidFill>
                <a:latin typeface="Arial" pitchFamily="34" charset="0"/>
                <a:ea typeface="Arial" pitchFamily="34" charset="-122"/>
                <a:cs typeface="Arial" pitchFamily="34" charset="-120"/>
              </a:rPr>
              <a:t>Identify career opportunities in cybersecurity.</a:t>
            </a:r>
            <a:endParaRPr lang="en-US" sz="24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2899916"/>
            <a:ext cx="2898130"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2985641"/>
            <a:ext cx="2623124"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2.6 · Task 1 of 1</a:t>
            </a:r>
            <a:endParaRPr lang="en-US" sz="1500" dirty="0"/>
          </a:p>
        </p:txBody>
      </p:sp>
      <p:sp>
        <p:nvSpPr>
          <p:cNvPr id="5" name="Text 3"/>
          <p:cNvSpPr/>
          <p:nvPr/>
        </p:nvSpPr>
        <p:spPr>
          <a:xfrm>
            <a:off x="800100" y="3542854"/>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Identifying career opportunities</a:t>
            </a:r>
            <a:endParaRPr lang="en-US" sz="3000" dirty="0"/>
          </a:p>
        </p:txBody>
      </p:sp>
      <p:sp>
        <p:nvSpPr>
          <p:cNvPr id="6" name="Text 4"/>
          <p:cNvSpPr/>
          <p:nvPr/>
        </p:nvSpPr>
        <p:spPr>
          <a:xfrm>
            <a:off x="800100" y="4209604"/>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Cybersecurity is not a single job. PEN-200 leads towards offensive roles, but the discipline it teaches — systematic enumeration, evidence, and clear written communication — transfers across the field.</a:t>
            </a:r>
            <a:endParaRPr lang="en-US" sz="2175" dirty="0"/>
          </a:p>
        </p:txBody>
      </p:sp>
      <p:sp>
        <p:nvSpPr>
          <p:cNvPr id="7" name="Shape 5"/>
          <p:cNvSpPr/>
          <p:nvPr/>
        </p:nvSpPr>
        <p:spPr>
          <a:xfrm>
            <a:off x="800100" y="5258246"/>
            <a:ext cx="5435575" cy="2128838"/>
          </a:xfrm>
          <a:prstGeom prst="roundRect">
            <a:avLst>
              <a:gd name="adj" fmla="val 7159"/>
            </a:avLst>
          </a:prstGeom>
          <a:solidFill>
            <a:srgbClr val="FFFFFF">
              <a:alpha val="2000"/>
            </a:srgbClr>
          </a:solidFill>
          <a:ln w="9525">
            <a:solidFill>
              <a:srgbClr val="2A2F3A"/>
            </a:solidFill>
            <a:prstDash val="solid"/>
          </a:ln>
        </p:spPr>
      </p:sp>
      <p:sp>
        <p:nvSpPr>
          <p:cNvPr id="8" name="Text 6"/>
          <p:cNvSpPr/>
          <p:nvPr/>
        </p:nvSpPr>
        <p:spPr>
          <a:xfrm>
            <a:off x="1038225" y="5496371"/>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OFFENSIVE</a:t>
            </a:r>
            <a:endParaRPr lang="en-US" sz="1500" dirty="0"/>
          </a:p>
        </p:txBody>
      </p:sp>
      <p:sp>
        <p:nvSpPr>
          <p:cNvPr id="9" name="Text 7"/>
          <p:cNvSpPr/>
          <p:nvPr/>
        </p:nvSpPr>
        <p:spPr>
          <a:xfrm>
            <a:off x="1038225" y="5815459"/>
            <a:ext cx="5108105"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Penetration testing, red teaming and adversary simulation. The direct destination of this course, and the roles the OSCP is recognised for.</a:t>
            </a:r>
            <a:endParaRPr lang="en-US" sz="1875" dirty="0"/>
          </a:p>
        </p:txBody>
      </p:sp>
      <p:sp>
        <p:nvSpPr>
          <p:cNvPr id="10" name="Shape 8"/>
          <p:cNvSpPr/>
          <p:nvPr/>
        </p:nvSpPr>
        <p:spPr>
          <a:xfrm>
            <a:off x="6426175" y="5258246"/>
            <a:ext cx="5435575" cy="2128838"/>
          </a:xfrm>
          <a:prstGeom prst="roundRect">
            <a:avLst>
              <a:gd name="adj" fmla="val 7159"/>
            </a:avLst>
          </a:prstGeom>
          <a:solidFill>
            <a:srgbClr val="FFFFFF">
              <a:alpha val="2000"/>
            </a:srgbClr>
          </a:solidFill>
          <a:ln w="9525">
            <a:solidFill>
              <a:srgbClr val="2A2F3A"/>
            </a:solidFill>
            <a:prstDash val="solid"/>
          </a:ln>
        </p:spPr>
      </p:sp>
      <p:sp>
        <p:nvSpPr>
          <p:cNvPr id="11" name="Text 9"/>
          <p:cNvSpPr/>
          <p:nvPr/>
        </p:nvSpPr>
        <p:spPr>
          <a:xfrm>
            <a:off x="6664300" y="5496371"/>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DEFENSIVE</a:t>
            </a:r>
            <a:endParaRPr lang="en-US" sz="1500" dirty="0"/>
          </a:p>
        </p:txBody>
      </p:sp>
      <p:sp>
        <p:nvSpPr>
          <p:cNvPr id="12" name="Text 10"/>
          <p:cNvSpPr/>
          <p:nvPr/>
        </p:nvSpPr>
        <p:spPr>
          <a:xfrm>
            <a:off x="6664300" y="5815459"/>
            <a:ext cx="5108105"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Security operations, detection engineering, incident response and threat hunting. Offensive knowledge is a direct advantage in all four.</a:t>
            </a:r>
            <a:endParaRPr lang="en-US" sz="1875" dirty="0"/>
          </a:p>
        </p:txBody>
      </p:sp>
      <p:sp>
        <p:nvSpPr>
          <p:cNvPr id="13" name="Shape 11"/>
          <p:cNvSpPr/>
          <p:nvPr/>
        </p:nvSpPr>
        <p:spPr>
          <a:xfrm>
            <a:off x="12052250" y="5258246"/>
            <a:ext cx="5435650" cy="2128838"/>
          </a:xfrm>
          <a:prstGeom prst="roundRect">
            <a:avLst>
              <a:gd name="adj" fmla="val 7159"/>
            </a:avLst>
          </a:prstGeom>
          <a:solidFill>
            <a:srgbClr val="FFFFFF">
              <a:alpha val="2000"/>
            </a:srgbClr>
          </a:solidFill>
          <a:ln w="9525">
            <a:solidFill>
              <a:srgbClr val="2A2F3A"/>
            </a:solidFill>
            <a:prstDash val="solid"/>
          </a:ln>
        </p:spPr>
      </p:sp>
      <p:sp>
        <p:nvSpPr>
          <p:cNvPr id="14" name="Text 12"/>
          <p:cNvSpPr/>
          <p:nvPr/>
        </p:nvSpPr>
        <p:spPr>
          <a:xfrm>
            <a:off x="12290375" y="5496371"/>
            <a:ext cx="5455340"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ADVISORY AND ENGINEERING</a:t>
            </a:r>
            <a:endParaRPr lang="en-US" sz="1500" dirty="0"/>
          </a:p>
        </p:txBody>
      </p:sp>
      <p:sp>
        <p:nvSpPr>
          <p:cNvPr id="15" name="Text 13"/>
          <p:cNvSpPr/>
          <p:nvPr/>
        </p:nvSpPr>
        <p:spPr>
          <a:xfrm>
            <a:off x="12290375" y="5815459"/>
            <a:ext cx="5108182" cy="137160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Security architecture, governance, risk and compliance, and secure development. Roles where the ability to explain risk in business terms dominates.</a:t>
            </a:r>
            <a:endParaRPr lang="en-US" sz="1875"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3340671"/>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POSITIONING</a:t>
            </a:r>
            <a:endParaRPr lang="en-US" sz="1650" dirty="0"/>
          </a:p>
        </p:txBody>
      </p:sp>
      <p:sp>
        <p:nvSpPr>
          <p:cNvPr id="4" name="Text 2"/>
          <p:cNvSpPr/>
          <p:nvPr/>
        </p:nvSpPr>
        <p:spPr>
          <a:xfrm>
            <a:off x="800100" y="3835971"/>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What the OSCP evidences</a:t>
            </a:r>
            <a:endParaRPr lang="en-US" sz="3000" dirty="0"/>
          </a:p>
        </p:txBody>
      </p:sp>
      <p:sp>
        <p:nvSpPr>
          <p:cNvPr id="5" name="Shape 3"/>
          <p:cNvSpPr/>
          <p:nvPr/>
        </p:nvSpPr>
        <p:spPr>
          <a:xfrm>
            <a:off x="800100" y="4502721"/>
            <a:ext cx="8239125" cy="1795463"/>
          </a:xfrm>
          <a:prstGeom prst="roundRect">
            <a:avLst>
              <a:gd name="adj" fmla="val 8488"/>
            </a:avLst>
          </a:prstGeom>
          <a:solidFill>
            <a:srgbClr val="FFFFFF">
              <a:alpha val="2000"/>
            </a:srgbClr>
          </a:solidFill>
          <a:ln w="9525">
            <a:solidFill>
              <a:srgbClr val="2A2F3A"/>
            </a:solidFill>
            <a:prstDash val="solid"/>
          </a:ln>
        </p:spPr>
      </p:sp>
      <p:sp>
        <p:nvSpPr>
          <p:cNvPr id="6" name="Text 4"/>
          <p:cNvSpPr/>
          <p:nvPr/>
        </p:nvSpPr>
        <p:spPr>
          <a:xfrm>
            <a:off x="1038225" y="47408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WHAT IT SIGNALS</a:t>
            </a:r>
            <a:endParaRPr lang="en-US" sz="1500" dirty="0"/>
          </a:p>
        </p:txBody>
      </p:sp>
      <p:sp>
        <p:nvSpPr>
          <p:cNvPr id="7" name="Text 5"/>
          <p:cNvSpPr/>
          <p:nvPr/>
        </p:nvSpPr>
        <p:spPr>
          <a:xfrm>
            <a:off x="1038225" y="5059933"/>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Demonstrated hands-on capability under time pressure and uncertainty, and the ability to document what was done. That combination is the reason it is recognised by employers.</a:t>
            </a:r>
            <a:endParaRPr lang="en-US" sz="1875" dirty="0"/>
          </a:p>
        </p:txBody>
      </p:sp>
      <p:sp>
        <p:nvSpPr>
          <p:cNvPr id="8" name="Shape 6"/>
          <p:cNvSpPr/>
          <p:nvPr/>
        </p:nvSpPr>
        <p:spPr>
          <a:xfrm>
            <a:off x="9248775" y="4502721"/>
            <a:ext cx="8239125" cy="1795463"/>
          </a:xfrm>
          <a:prstGeom prst="roundRect">
            <a:avLst>
              <a:gd name="adj" fmla="val 8488"/>
            </a:avLst>
          </a:prstGeom>
          <a:solidFill>
            <a:srgbClr val="FFFFFF">
              <a:alpha val="2000"/>
            </a:srgbClr>
          </a:solidFill>
          <a:ln w="9525">
            <a:solidFill>
              <a:srgbClr val="2A2F3A"/>
            </a:solidFill>
            <a:prstDash val="solid"/>
          </a:ln>
        </p:spPr>
      </p:sp>
      <p:sp>
        <p:nvSpPr>
          <p:cNvPr id="9" name="Text 7"/>
          <p:cNvSpPr/>
          <p:nvPr/>
        </p:nvSpPr>
        <p:spPr>
          <a:xfrm>
            <a:off x="9486900" y="47408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WHAT IT DOES NOT SIGNAL</a:t>
            </a:r>
            <a:endParaRPr lang="en-US" sz="1500" dirty="0"/>
          </a:p>
        </p:txBody>
      </p:sp>
      <p:sp>
        <p:nvSpPr>
          <p:cNvPr id="10" name="Text 8"/>
          <p:cNvSpPr/>
          <p:nvPr/>
        </p:nvSpPr>
        <p:spPr>
          <a:xfrm>
            <a:off x="9486900" y="5059933"/>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Client management, scoping, legal judgement or seniority. Those are learned in engagements, and Modules 2 and 4 are where the course begins pointing at them.</a:t>
            </a:r>
            <a:endParaRPr lang="en-US" sz="1875" dirty="0"/>
          </a:p>
        </p:txBody>
      </p:sp>
      <p:sp>
        <p:nvSpPr>
          <p:cNvPr id="11" name="Text 9"/>
          <p:cNvSpPr/>
          <p:nvPr/>
        </p:nvSpPr>
        <p:spPr>
          <a:xfrm>
            <a:off x="800100" y="6545833"/>
            <a:ext cx="16344900" cy="438596"/>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Connects to Module 3, which covers judging readiness and exam strategy explicitly.</a:t>
            </a:r>
            <a:endParaRPr lang="en-US" sz="2175"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3664744"/>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OBJECTIVE 2.6 RECAP</a:t>
            </a:r>
            <a:endParaRPr lang="en-US" sz="1650" dirty="0"/>
          </a:p>
        </p:txBody>
      </p:sp>
      <p:sp>
        <p:nvSpPr>
          <p:cNvPr id="4" name="Text 2"/>
          <p:cNvSpPr/>
          <p:nvPr/>
        </p:nvSpPr>
        <p:spPr>
          <a:xfrm>
            <a:off x="800100" y="4160044"/>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Career Opportunities — what you should now hold</a:t>
            </a:r>
            <a:endParaRPr lang="en-US" sz="3000" dirty="0"/>
          </a:p>
        </p:txBody>
      </p:sp>
      <p:sp>
        <p:nvSpPr>
          <p:cNvPr id="5" name="Shape 3"/>
          <p:cNvSpPr/>
          <p:nvPr/>
        </p:nvSpPr>
        <p:spPr>
          <a:xfrm>
            <a:off x="800100" y="4826794"/>
            <a:ext cx="5435575" cy="1795463"/>
          </a:xfrm>
          <a:prstGeom prst="roundRect">
            <a:avLst>
              <a:gd name="adj" fmla="val 8488"/>
            </a:avLst>
          </a:prstGeom>
          <a:solidFill>
            <a:srgbClr val="FFFFFF">
              <a:alpha val="2000"/>
            </a:srgbClr>
          </a:solidFill>
          <a:ln w="9525">
            <a:solidFill>
              <a:srgbClr val="2A2F3A"/>
            </a:solidFill>
            <a:prstDash val="solid"/>
          </a:ln>
        </p:spPr>
      </p:sp>
      <p:sp>
        <p:nvSpPr>
          <p:cNvPr id="6" name="Text 4"/>
          <p:cNvSpPr/>
          <p:nvPr/>
        </p:nvSpPr>
        <p:spPr>
          <a:xfrm>
            <a:off x="1038225" y="5064919"/>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BREADTH</a:t>
            </a:r>
            <a:endParaRPr lang="en-US" sz="1500" dirty="0"/>
          </a:p>
        </p:txBody>
      </p:sp>
      <p:sp>
        <p:nvSpPr>
          <p:cNvPr id="7" name="Text 5"/>
          <p:cNvSpPr/>
          <p:nvPr/>
        </p:nvSpPr>
        <p:spPr>
          <a:xfrm>
            <a:off x="1038225" y="5384006"/>
            <a:ext cx="5108105"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Offensive, defensive, and advisory or engineering paths, all drawing on the same underlying knowledge.</a:t>
            </a:r>
            <a:endParaRPr lang="en-US" sz="1875" dirty="0"/>
          </a:p>
        </p:txBody>
      </p:sp>
      <p:sp>
        <p:nvSpPr>
          <p:cNvPr id="8" name="Shape 6"/>
          <p:cNvSpPr/>
          <p:nvPr/>
        </p:nvSpPr>
        <p:spPr>
          <a:xfrm>
            <a:off x="6426175" y="4826794"/>
            <a:ext cx="5435575" cy="1795463"/>
          </a:xfrm>
          <a:prstGeom prst="roundRect">
            <a:avLst>
              <a:gd name="adj" fmla="val 8488"/>
            </a:avLst>
          </a:prstGeom>
          <a:solidFill>
            <a:srgbClr val="FFFFFF">
              <a:alpha val="2000"/>
            </a:srgbClr>
          </a:solidFill>
          <a:ln w="9525">
            <a:solidFill>
              <a:srgbClr val="2A2F3A"/>
            </a:solidFill>
            <a:prstDash val="solid"/>
          </a:ln>
        </p:spPr>
      </p:sp>
      <p:sp>
        <p:nvSpPr>
          <p:cNvPr id="9" name="Text 7"/>
          <p:cNvSpPr/>
          <p:nvPr/>
        </p:nvSpPr>
        <p:spPr>
          <a:xfrm>
            <a:off x="6664300" y="5064919"/>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TRANSFERABILITY</a:t>
            </a:r>
            <a:endParaRPr lang="en-US" sz="1500" dirty="0"/>
          </a:p>
        </p:txBody>
      </p:sp>
      <p:sp>
        <p:nvSpPr>
          <p:cNvPr id="10" name="Text 8"/>
          <p:cNvSpPr/>
          <p:nvPr/>
        </p:nvSpPr>
        <p:spPr>
          <a:xfrm>
            <a:off x="6664300" y="5384006"/>
            <a:ext cx="5108105"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Enumeration discipline, evidence handling and written communication transfer to every one of them.</a:t>
            </a:r>
            <a:endParaRPr lang="en-US" sz="1875" dirty="0"/>
          </a:p>
        </p:txBody>
      </p:sp>
      <p:sp>
        <p:nvSpPr>
          <p:cNvPr id="11" name="Shape 9"/>
          <p:cNvSpPr/>
          <p:nvPr/>
        </p:nvSpPr>
        <p:spPr>
          <a:xfrm>
            <a:off x="12052250" y="4826794"/>
            <a:ext cx="5435650" cy="1795463"/>
          </a:xfrm>
          <a:prstGeom prst="roundRect">
            <a:avLst>
              <a:gd name="adj" fmla="val 8488"/>
            </a:avLst>
          </a:prstGeom>
          <a:solidFill>
            <a:srgbClr val="FFFFFF">
              <a:alpha val="2000"/>
            </a:srgbClr>
          </a:solidFill>
          <a:ln w="9525">
            <a:solidFill>
              <a:srgbClr val="2A2F3A"/>
            </a:solidFill>
            <a:prstDash val="solid"/>
          </a:ln>
        </p:spPr>
      </p:sp>
      <p:sp>
        <p:nvSpPr>
          <p:cNvPr id="12" name="Text 10"/>
          <p:cNvSpPr/>
          <p:nvPr/>
        </p:nvSpPr>
        <p:spPr>
          <a:xfrm>
            <a:off x="12290375" y="5064919"/>
            <a:ext cx="5455340"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HONESTY</a:t>
            </a:r>
            <a:endParaRPr lang="en-US" sz="1500" dirty="0"/>
          </a:p>
        </p:txBody>
      </p:sp>
      <p:sp>
        <p:nvSpPr>
          <p:cNvPr id="13" name="Text 11"/>
          <p:cNvSpPr/>
          <p:nvPr/>
        </p:nvSpPr>
        <p:spPr>
          <a:xfrm>
            <a:off x="12290375" y="5384006"/>
            <a:ext cx="5108182"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The certification evidences hands-on capability, not commercial judgement. Both are needed.</a:t>
            </a:r>
            <a:endParaRPr lang="en-US" sz="1875"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2973735"/>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APPLIED SCENARIO · DISCUSSION</a:t>
            </a:r>
            <a:endParaRPr lang="en-US" sz="1650" dirty="0"/>
          </a:p>
        </p:txBody>
      </p:sp>
      <p:sp>
        <p:nvSpPr>
          <p:cNvPr id="4" name="Text 2"/>
          <p:cNvSpPr/>
          <p:nvPr/>
        </p:nvSpPr>
        <p:spPr>
          <a:xfrm>
            <a:off x="800100" y="3469035"/>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Phrasing a finding for a board</a:t>
            </a:r>
            <a:endParaRPr lang="en-US" sz="3000" dirty="0"/>
          </a:p>
        </p:txBody>
      </p:sp>
      <p:sp>
        <p:nvSpPr>
          <p:cNvPr id="5" name="Text 3"/>
          <p:cNvSpPr/>
          <p:nvPr/>
        </p:nvSpPr>
        <p:spPr>
          <a:xfrm>
            <a:off x="800100" y="4135785"/>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A test finds a file server whose service binary is writable by any authenticated user. The share holds the finance department's working documents. The client's board asks for one paragraph, and the security manager asks for the technical detail.</a:t>
            </a:r>
            <a:endParaRPr lang="en-US" sz="2175" dirty="0"/>
          </a:p>
        </p:txBody>
      </p:sp>
      <p:sp>
        <p:nvSpPr>
          <p:cNvPr id="6" name="Shape 4"/>
          <p:cNvSpPr/>
          <p:nvPr/>
        </p:nvSpPr>
        <p:spPr>
          <a:xfrm>
            <a:off x="800100" y="5184428"/>
            <a:ext cx="5435575" cy="2128838"/>
          </a:xfrm>
          <a:prstGeom prst="roundRect">
            <a:avLst>
              <a:gd name="adj" fmla="val 7159"/>
            </a:avLst>
          </a:prstGeom>
          <a:solidFill>
            <a:srgbClr val="FFFFFF">
              <a:alpha val="2000"/>
            </a:srgbClr>
          </a:solidFill>
          <a:ln w="9525">
            <a:solidFill>
              <a:srgbClr val="2A2F3A"/>
            </a:solidFill>
            <a:prstDash val="solid"/>
          </a:ln>
        </p:spPr>
      </p:sp>
      <p:sp>
        <p:nvSpPr>
          <p:cNvPr id="7" name="Text 5"/>
          <p:cNvSpPr/>
          <p:nvPr/>
        </p:nvSpPr>
        <p:spPr>
          <a:xfrm>
            <a:off x="1038225" y="5422553"/>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CONSIDER</a:t>
            </a:r>
            <a:endParaRPr lang="en-US" sz="1500" dirty="0"/>
          </a:p>
        </p:txBody>
      </p:sp>
      <p:sp>
        <p:nvSpPr>
          <p:cNvPr id="8" name="Text 6"/>
          <p:cNvSpPr/>
          <p:nvPr/>
        </p:nvSpPr>
        <p:spPr>
          <a:xfrm>
            <a:off x="1038225" y="5741640"/>
            <a:ext cx="5108105" cy="137160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Which of the four terms — risk, threat, vulnerability, exploit — belongs in the board paragraph, and which belong in the technical section?</a:t>
            </a:r>
            <a:endParaRPr lang="en-US" sz="1875" dirty="0"/>
          </a:p>
        </p:txBody>
      </p:sp>
      <p:sp>
        <p:nvSpPr>
          <p:cNvPr id="9" name="Shape 7"/>
          <p:cNvSpPr/>
          <p:nvPr/>
        </p:nvSpPr>
        <p:spPr>
          <a:xfrm>
            <a:off x="6426175" y="5184428"/>
            <a:ext cx="5435575" cy="2128838"/>
          </a:xfrm>
          <a:prstGeom prst="roundRect">
            <a:avLst>
              <a:gd name="adj" fmla="val 7159"/>
            </a:avLst>
          </a:prstGeom>
          <a:solidFill>
            <a:srgbClr val="FFFFFF">
              <a:alpha val="2000"/>
            </a:srgbClr>
          </a:solidFill>
          <a:ln w="9525">
            <a:solidFill>
              <a:srgbClr val="2A2F3A"/>
            </a:solidFill>
            <a:prstDash val="solid"/>
          </a:ln>
        </p:spPr>
      </p:sp>
      <p:sp>
        <p:nvSpPr>
          <p:cNvPr id="10" name="Text 8"/>
          <p:cNvSpPr/>
          <p:nvPr/>
        </p:nvSpPr>
        <p:spPr>
          <a:xfrm>
            <a:off x="6664300" y="5422553"/>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CONSIDER</a:t>
            </a:r>
            <a:endParaRPr lang="en-US" sz="1500" dirty="0"/>
          </a:p>
        </p:txBody>
      </p:sp>
      <p:sp>
        <p:nvSpPr>
          <p:cNvPr id="11" name="Text 9"/>
          <p:cNvSpPr/>
          <p:nvPr/>
        </p:nvSpPr>
        <p:spPr>
          <a:xfrm>
            <a:off x="6664300" y="5741640"/>
            <a:ext cx="5108105"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Which leg or legs of the triad are affected, and how you would phrase impact so a non-technical reader can act on it?</a:t>
            </a:r>
            <a:endParaRPr lang="en-US" sz="1875" dirty="0"/>
          </a:p>
        </p:txBody>
      </p:sp>
      <p:sp>
        <p:nvSpPr>
          <p:cNvPr id="12" name="Shape 10"/>
          <p:cNvSpPr/>
          <p:nvPr/>
        </p:nvSpPr>
        <p:spPr>
          <a:xfrm>
            <a:off x="12052250" y="5184428"/>
            <a:ext cx="5435650" cy="2128838"/>
          </a:xfrm>
          <a:prstGeom prst="roundRect">
            <a:avLst>
              <a:gd name="adj" fmla="val 7159"/>
            </a:avLst>
          </a:prstGeom>
          <a:solidFill>
            <a:srgbClr val="FFFFFF">
              <a:alpha val="2000"/>
            </a:srgbClr>
          </a:solidFill>
          <a:ln w="9525">
            <a:solidFill>
              <a:srgbClr val="2A2F3A"/>
            </a:solidFill>
            <a:prstDash val="solid"/>
          </a:ln>
        </p:spPr>
      </p:sp>
      <p:sp>
        <p:nvSpPr>
          <p:cNvPr id="13" name="Text 11"/>
          <p:cNvSpPr/>
          <p:nvPr/>
        </p:nvSpPr>
        <p:spPr>
          <a:xfrm>
            <a:off x="12290375" y="5422553"/>
            <a:ext cx="5455340"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CONSIDER</a:t>
            </a:r>
            <a:endParaRPr lang="en-US" sz="1500" dirty="0"/>
          </a:p>
        </p:txBody>
      </p:sp>
      <p:sp>
        <p:nvSpPr>
          <p:cNvPr id="14" name="Text 12"/>
          <p:cNvSpPr/>
          <p:nvPr/>
        </p:nvSpPr>
        <p:spPr>
          <a:xfrm>
            <a:off x="12290375" y="5741640"/>
            <a:ext cx="5108182"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Which principle from Objective 2.4 was violated, and which class of control would you recommend — by function and by nature?</a:t>
            </a:r>
            <a:endParaRPr lang="en-US" sz="1875"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066604"/>
            <a:ext cx="2327002"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152329"/>
            <a:ext cx="2041252"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Practical skill 1 of 4</a:t>
            </a:r>
            <a:endParaRPr lang="en-US" sz="1500" dirty="0"/>
          </a:p>
        </p:txBody>
      </p:sp>
      <p:sp>
        <p:nvSpPr>
          <p:cNvPr id="5" name="Text 3"/>
          <p:cNvSpPr/>
          <p:nvPr/>
        </p:nvSpPr>
        <p:spPr>
          <a:xfrm>
            <a:off x="800100" y="3709541"/>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Writing with the four terms correctly</a:t>
            </a:r>
            <a:endParaRPr lang="en-US" sz="3000" dirty="0"/>
          </a:p>
        </p:txBody>
      </p:sp>
      <p:sp>
        <p:nvSpPr>
          <p:cNvPr id="6" name="Text 4"/>
          <p:cNvSpPr/>
          <p:nvPr/>
        </p:nvSpPr>
        <p:spPr>
          <a:xfrm>
            <a:off x="800100" y="4376291"/>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Every finding you write for the rest of your career uses risk, threat, vulnerability and exploit. Using them precisely is the cheapest credibility available to you.</a:t>
            </a:r>
            <a:endParaRPr lang="en-US" sz="2175" dirty="0"/>
          </a:p>
        </p:txBody>
      </p:sp>
      <p:sp>
        <p:nvSpPr>
          <p:cNvPr id="7" name="Shape 5"/>
          <p:cNvSpPr/>
          <p:nvPr/>
        </p:nvSpPr>
        <p:spPr>
          <a:xfrm>
            <a:off x="800100"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8" name="Text 6"/>
          <p:cNvSpPr/>
          <p:nvPr/>
        </p:nvSpPr>
        <p:spPr>
          <a:xfrm>
            <a:off x="1038225"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METHOD</a:t>
            </a:r>
            <a:endParaRPr lang="en-US" sz="1500" dirty="0"/>
          </a:p>
        </p:txBody>
      </p:sp>
      <p:sp>
        <p:nvSpPr>
          <p:cNvPr id="9" name="Text 7"/>
          <p:cNvSpPr/>
          <p:nvPr/>
        </p:nvSpPr>
        <p:spPr>
          <a:xfrm>
            <a:off x="1038225" y="5982146"/>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State the vulnerability as a property of the system, the exploit as the mechanism you used, the threat as who would realistically use it, and the risk as the consequence in this environment.</a:t>
            </a:r>
            <a:endParaRPr lang="en-US" sz="1875" dirty="0"/>
          </a:p>
        </p:txBody>
      </p:sp>
      <p:sp>
        <p:nvSpPr>
          <p:cNvPr id="10" name="Shape 8"/>
          <p:cNvSpPr/>
          <p:nvPr/>
        </p:nvSpPr>
        <p:spPr>
          <a:xfrm>
            <a:off x="9248775"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11" name="Text 9"/>
          <p:cNvSpPr/>
          <p:nvPr/>
        </p:nvSpPr>
        <p:spPr>
          <a:xfrm>
            <a:off x="9486900"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WATCH FOR</a:t>
            </a:r>
            <a:endParaRPr lang="en-US" sz="1500" dirty="0"/>
          </a:p>
        </p:txBody>
      </p:sp>
      <p:sp>
        <p:nvSpPr>
          <p:cNvPr id="12" name="Text 10"/>
          <p:cNvSpPr/>
          <p:nvPr/>
        </p:nvSpPr>
        <p:spPr>
          <a:xfrm>
            <a:off x="9486900" y="5982146"/>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The word "risk" used to mean "vulnerability". It is the single most common error in junior reports and immediately identifiable to a reviewer.</a:t>
            </a:r>
            <a:endParaRPr lang="en-US" sz="1875"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233291"/>
            <a:ext cx="2351261"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319016"/>
            <a:ext cx="2065511"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Practical skill 2 of 4</a:t>
            </a:r>
            <a:endParaRPr lang="en-US" sz="1500" dirty="0"/>
          </a:p>
        </p:txBody>
      </p:sp>
      <p:sp>
        <p:nvSpPr>
          <p:cNvPr id="5" name="Text 3"/>
          <p:cNvSpPr/>
          <p:nvPr/>
        </p:nvSpPr>
        <p:spPr>
          <a:xfrm>
            <a:off x="800100" y="3876229"/>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Using the triad to state impact</a:t>
            </a:r>
            <a:endParaRPr lang="en-US" sz="3000" dirty="0"/>
          </a:p>
        </p:txBody>
      </p:sp>
      <p:sp>
        <p:nvSpPr>
          <p:cNvPr id="6" name="Text 4"/>
          <p:cNvSpPr/>
          <p:nvPr/>
        </p:nvSpPr>
        <p:spPr>
          <a:xfrm>
            <a:off x="800100" y="4542979"/>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Translate every technical outcome into the triad before writing it down. It forces you to answer the question a client actually has: what does this cost me?</a:t>
            </a:r>
            <a:endParaRPr lang="en-US" sz="2175" dirty="0"/>
          </a:p>
        </p:txBody>
      </p:sp>
      <p:sp>
        <p:nvSpPr>
          <p:cNvPr id="7" name="Shape 5"/>
          <p:cNvSpPr/>
          <p:nvPr/>
        </p:nvSpPr>
        <p:spPr>
          <a:xfrm>
            <a:off x="800100"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8" name="Text 6"/>
          <p:cNvSpPr/>
          <p:nvPr/>
        </p:nvSpPr>
        <p:spPr>
          <a:xfrm>
            <a:off x="1038225"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METHOD</a:t>
            </a:r>
            <a:endParaRPr lang="en-US" sz="1500" dirty="0"/>
          </a:p>
        </p:txBody>
      </p:sp>
      <p:sp>
        <p:nvSpPr>
          <p:cNvPr id="9" name="Text 7"/>
          <p:cNvSpPr/>
          <p:nvPr/>
        </p:nvSpPr>
        <p:spPr>
          <a:xfrm>
            <a:off x="1038225"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For each finding, name the leg affected, the asset affected, and the party who gains the capability. Three clauses, and the impact statement is written.</a:t>
            </a:r>
            <a:endParaRPr lang="en-US" sz="1875" dirty="0"/>
          </a:p>
        </p:txBody>
      </p:sp>
      <p:sp>
        <p:nvSpPr>
          <p:cNvPr id="10" name="Shape 8"/>
          <p:cNvSpPr/>
          <p:nvPr/>
        </p:nvSpPr>
        <p:spPr>
          <a:xfrm>
            <a:off x="9248775"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11" name="Text 9"/>
          <p:cNvSpPr/>
          <p:nvPr/>
        </p:nvSpPr>
        <p:spPr>
          <a:xfrm>
            <a:off x="9486900"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EXAMPLE</a:t>
            </a:r>
            <a:endParaRPr lang="en-US" sz="1500" dirty="0"/>
          </a:p>
        </p:txBody>
      </p:sp>
      <p:sp>
        <p:nvSpPr>
          <p:cNvPr id="12" name="Text 10"/>
          <p:cNvSpPr/>
          <p:nvPr/>
        </p:nvSpPr>
        <p:spPr>
          <a:xfrm>
            <a:off x="9486900"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"Any authenticated user can read the payroll share" is a confidentiality statement naming the asset and the party. "SMB misconfiguration" is not.</a:t>
            </a:r>
            <a:endParaRPr lang="en-US" sz="1875"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066604"/>
            <a:ext cx="2356396"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152329"/>
            <a:ext cx="2070646"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Practical skill 3 of 4</a:t>
            </a:r>
            <a:endParaRPr lang="en-US" sz="1500" dirty="0"/>
          </a:p>
        </p:txBody>
      </p:sp>
      <p:sp>
        <p:nvSpPr>
          <p:cNvPr id="5" name="Text 3"/>
          <p:cNvSpPr/>
          <p:nvPr/>
        </p:nvSpPr>
        <p:spPr>
          <a:xfrm>
            <a:off x="800100" y="3709541"/>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Agreeing the actor model before testing</a:t>
            </a:r>
            <a:endParaRPr lang="en-US" sz="3000" dirty="0"/>
          </a:p>
        </p:txBody>
      </p:sp>
      <p:sp>
        <p:nvSpPr>
          <p:cNvPr id="6" name="Text 4"/>
          <p:cNvSpPr/>
          <p:nvPr/>
        </p:nvSpPr>
        <p:spPr>
          <a:xfrm>
            <a:off x="800100" y="4376291"/>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Decide, with the client, which class of threat actor the engagement simulates. That single decision determines starting position, permitted noise level, and what counts as success.</a:t>
            </a:r>
            <a:endParaRPr lang="en-US" sz="2175" dirty="0"/>
          </a:p>
        </p:txBody>
      </p:sp>
      <p:sp>
        <p:nvSpPr>
          <p:cNvPr id="7" name="Shape 5"/>
          <p:cNvSpPr/>
          <p:nvPr/>
        </p:nvSpPr>
        <p:spPr>
          <a:xfrm>
            <a:off x="800100"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8" name="Text 6"/>
          <p:cNvSpPr/>
          <p:nvPr/>
        </p:nvSpPr>
        <p:spPr>
          <a:xfrm>
            <a:off x="1038225"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METHOD</a:t>
            </a:r>
            <a:endParaRPr lang="en-US" sz="1500" dirty="0"/>
          </a:p>
        </p:txBody>
      </p:sp>
      <p:sp>
        <p:nvSpPr>
          <p:cNvPr id="9" name="Text 7"/>
          <p:cNvSpPr/>
          <p:nvPr/>
        </p:nvSpPr>
        <p:spPr>
          <a:xfrm>
            <a:off x="1038225" y="5982146"/>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Ask three questions: does the actor start outside or already inside, do they care about being detected, and are they motivated by return or by objective?</a:t>
            </a:r>
            <a:endParaRPr lang="en-US" sz="1875" dirty="0"/>
          </a:p>
        </p:txBody>
      </p:sp>
      <p:sp>
        <p:nvSpPr>
          <p:cNvPr id="10" name="Shape 8"/>
          <p:cNvSpPr/>
          <p:nvPr/>
        </p:nvSpPr>
        <p:spPr>
          <a:xfrm>
            <a:off x="9248775"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11" name="Text 9"/>
          <p:cNvSpPr/>
          <p:nvPr/>
        </p:nvSpPr>
        <p:spPr>
          <a:xfrm>
            <a:off x="9486900"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WHY IT MATTERS</a:t>
            </a:r>
            <a:endParaRPr lang="en-US" sz="1500" dirty="0"/>
          </a:p>
        </p:txBody>
      </p:sp>
      <p:sp>
        <p:nvSpPr>
          <p:cNvPr id="12" name="Text 10"/>
          <p:cNvSpPr/>
          <p:nvPr/>
        </p:nvSpPr>
        <p:spPr>
          <a:xfrm>
            <a:off x="9486900" y="5982146"/>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An unauthenticated external test and an assumed-breach test on the same estate produce almost disjoint findings. Neither is wrong; only one answers the client's question.</a:t>
            </a:r>
            <a:endParaRPr lang="en-US" sz="1875"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066604"/>
            <a:ext cx="2359968"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152329"/>
            <a:ext cx="2074218"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Practical skill 4 of 4</a:t>
            </a:r>
            <a:endParaRPr lang="en-US" sz="1500" dirty="0"/>
          </a:p>
        </p:txBody>
      </p:sp>
      <p:sp>
        <p:nvSpPr>
          <p:cNvPr id="5" name="Text 3"/>
          <p:cNvSpPr/>
          <p:nvPr/>
        </p:nvSpPr>
        <p:spPr>
          <a:xfrm>
            <a:off x="800100" y="3709541"/>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Authorisation and scope hygiene</a:t>
            </a:r>
            <a:endParaRPr lang="en-US" sz="3000" dirty="0"/>
          </a:p>
        </p:txBody>
      </p:sp>
      <p:sp>
        <p:nvSpPr>
          <p:cNvPr id="6" name="Text 4"/>
          <p:cNvSpPr/>
          <p:nvPr/>
        </p:nvSpPr>
        <p:spPr>
          <a:xfrm>
            <a:off x="800100" y="4376291"/>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Before a single packet is sent, the scope must exist in writing, be signed by someone with authority to sign it, and be specific about what is in, what is out, and when.</a:t>
            </a:r>
            <a:endParaRPr lang="en-US" sz="2175" dirty="0"/>
          </a:p>
        </p:txBody>
      </p:sp>
      <p:sp>
        <p:nvSpPr>
          <p:cNvPr id="7" name="Shape 5"/>
          <p:cNvSpPr/>
          <p:nvPr/>
        </p:nvSpPr>
        <p:spPr>
          <a:xfrm>
            <a:off x="800100"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8" name="Text 6"/>
          <p:cNvSpPr/>
          <p:nvPr/>
        </p:nvSpPr>
        <p:spPr>
          <a:xfrm>
            <a:off x="1038225"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METHOD</a:t>
            </a:r>
            <a:endParaRPr lang="en-US" sz="1500" dirty="0"/>
          </a:p>
        </p:txBody>
      </p:sp>
      <p:sp>
        <p:nvSpPr>
          <p:cNvPr id="9" name="Text 7"/>
          <p:cNvSpPr/>
          <p:nvPr/>
        </p:nvSpPr>
        <p:spPr>
          <a:xfrm>
            <a:off x="1038225" y="5982146"/>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Keep the authorisation with the engagement notes, not in an inbox. If you cannot produce it in ten seconds, you cannot produce it when it matters.</a:t>
            </a:r>
            <a:endParaRPr lang="en-US" sz="1875" dirty="0"/>
          </a:p>
        </p:txBody>
      </p:sp>
      <p:sp>
        <p:nvSpPr>
          <p:cNvPr id="10" name="Shape 8"/>
          <p:cNvSpPr/>
          <p:nvPr/>
        </p:nvSpPr>
        <p:spPr>
          <a:xfrm>
            <a:off x="9248775"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11" name="Text 9"/>
          <p:cNvSpPr/>
          <p:nvPr/>
        </p:nvSpPr>
        <p:spPr>
          <a:xfrm>
            <a:off x="9486900"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WATCH FOR</a:t>
            </a:r>
            <a:endParaRPr lang="en-US" sz="1500" dirty="0"/>
          </a:p>
        </p:txBody>
      </p:sp>
      <p:sp>
        <p:nvSpPr>
          <p:cNvPr id="12" name="Text 10"/>
          <p:cNvSpPr/>
          <p:nvPr/>
        </p:nvSpPr>
        <p:spPr>
          <a:xfrm>
            <a:off x="9486900" y="5982146"/>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Hosts discovered in scope ranges that the client did not know they owned, and third-party services in scope that the client cannot authorise. Both require stopping and asking.</a:t>
            </a:r>
            <a:endParaRPr lang="en-US" sz="1875"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2609850"/>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ACRONYM SPOTLIGHT</a:t>
            </a:r>
            <a:endParaRPr lang="en-US" sz="1650" dirty="0"/>
          </a:p>
        </p:txBody>
      </p:sp>
      <p:sp>
        <p:nvSpPr>
          <p:cNvPr id="4" name="Text 2"/>
          <p:cNvSpPr/>
          <p:nvPr/>
        </p:nvSpPr>
        <p:spPr>
          <a:xfrm>
            <a:off x="800100" y="3105150"/>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Terms introduced in Module 2</a:t>
            </a:r>
            <a:endParaRPr lang="en-US" sz="3000" dirty="0"/>
          </a:p>
        </p:txBody>
      </p:sp>
      <p:sp>
        <p:nvSpPr>
          <p:cNvPr id="5" name="Shape 3"/>
          <p:cNvSpPr/>
          <p:nvPr/>
        </p:nvSpPr>
        <p:spPr>
          <a:xfrm>
            <a:off x="800100" y="3771900"/>
            <a:ext cx="2209800" cy="500063"/>
          </a:xfrm>
          <a:prstGeom prst="rect">
            <a:avLst/>
          </a:prstGeom>
          <a:solidFill>
            <a:srgbClr val="FF6A00">
              <a:alpha val="18000"/>
            </a:srgbClr>
          </a:solidFill>
          <a:ln/>
        </p:spPr>
      </p:sp>
      <p:sp>
        <p:nvSpPr>
          <p:cNvPr id="6" name="Shape 4"/>
          <p:cNvSpPr/>
          <p:nvPr/>
        </p:nvSpPr>
        <p:spPr>
          <a:xfrm>
            <a:off x="800100" y="4262438"/>
            <a:ext cx="2209800" cy="9525"/>
          </a:xfrm>
          <a:prstGeom prst="rect">
            <a:avLst/>
          </a:prstGeom>
          <a:solidFill>
            <a:srgbClr val="B85100"/>
          </a:solidFill>
          <a:ln/>
        </p:spPr>
      </p:sp>
      <p:sp>
        <p:nvSpPr>
          <p:cNvPr id="7" name="Text 5"/>
          <p:cNvSpPr/>
          <p:nvPr/>
        </p:nvSpPr>
        <p:spPr>
          <a:xfrm>
            <a:off x="952500" y="3886200"/>
            <a:ext cx="1981200" cy="300038"/>
          </a:xfrm>
          <a:prstGeom prst="rect">
            <a:avLst/>
          </a:prstGeom>
          <a:noFill/>
          <a:ln/>
        </p:spPr>
        <p:txBody>
          <a:bodyPr wrap="square" lIns="25400" tIns="25400" rIns="25400" bIns="25400" rtlCol="0" anchor="ctr">
            <a:normAutofit/>
          </a:bodyPr>
          <a:lstStyle/>
          <a:p>
            <a:pPr algn="l" indent="0" marL="0">
              <a:buNone/>
            </a:pPr>
            <a:r>
              <a:rPr lang="en-US" sz="1800" b="1" dirty="0">
                <a:solidFill>
                  <a:srgbClr val="F5F7FB"/>
                </a:solidFill>
                <a:latin typeface="Arial" pitchFamily="34" charset="0"/>
                <a:ea typeface="Arial" pitchFamily="34" charset="-122"/>
                <a:cs typeface="Arial" pitchFamily="34" charset="-120"/>
              </a:rPr>
              <a:t>Term</a:t>
            </a:r>
            <a:endParaRPr lang="en-US" sz="1800" dirty="0"/>
          </a:p>
        </p:txBody>
      </p:sp>
      <p:sp>
        <p:nvSpPr>
          <p:cNvPr id="8" name="Shape 6"/>
          <p:cNvSpPr/>
          <p:nvPr/>
        </p:nvSpPr>
        <p:spPr>
          <a:xfrm>
            <a:off x="3009900" y="3771900"/>
            <a:ext cx="4686300" cy="500063"/>
          </a:xfrm>
          <a:prstGeom prst="rect">
            <a:avLst/>
          </a:prstGeom>
          <a:solidFill>
            <a:srgbClr val="FF6A00">
              <a:alpha val="18000"/>
            </a:srgbClr>
          </a:solidFill>
          <a:ln/>
        </p:spPr>
      </p:sp>
      <p:sp>
        <p:nvSpPr>
          <p:cNvPr id="9" name="Shape 7"/>
          <p:cNvSpPr/>
          <p:nvPr/>
        </p:nvSpPr>
        <p:spPr>
          <a:xfrm>
            <a:off x="3009900" y="4262438"/>
            <a:ext cx="4686300" cy="9525"/>
          </a:xfrm>
          <a:prstGeom prst="rect">
            <a:avLst/>
          </a:prstGeom>
          <a:solidFill>
            <a:srgbClr val="B85100"/>
          </a:solidFill>
          <a:ln/>
        </p:spPr>
      </p:sp>
      <p:sp>
        <p:nvSpPr>
          <p:cNvPr id="10" name="Text 8"/>
          <p:cNvSpPr/>
          <p:nvPr/>
        </p:nvSpPr>
        <p:spPr>
          <a:xfrm>
            <a:off x="3162300" y="3886200"/>
            <a:ext cx="4522089" cy="300038"/>
          </a:xfrm>
          <a:prstGeom prst="rect">
            <a:avLst/>
          </a:prstGeom>
          <a:noFill/>
          <a:ln/>
        </p:spPr>
        <p:txBody>
          <a:bodyPr wrap="square" lIns="25400" tIns="25400" rIns="25400" bIns="25400" rtlCol="0" anchor="ctr">
            <a:normAutofit/>
          </a:bodyPr>
          <a:lstStyle/>
          <a:p>
            <a:pPr algn="l" indent="0" marL="0">
              <a:buNone/>
            </a:pPr>
            <a:r>
              <a:rPr lang="en-US" sz="1800" b="1" dirty="0">
                <a:solidFill>
                  <a:srgbClr val="F5F7FB"/>
                </a:solidFill>
                <a:latin typeface="Arial" pitchFamily="34" charset="0"/>
                <a:ea typeface="Arial" pitchFamily="34" charset="-122"/>
                <a:cs typeface="Arial" pitchFamily="34" charset="-120"/>
              </a:rPr>
              <a:t>Expansion</a:t>
            </a:r>
            <a:endParaRPr lang="en-US" sz="1800" dirty="0"/>
          </a:p>
        </p:txBody>
      </p:sp>
      <p:sp>
        <p:nvSpPr>
          <p:cNvPr id="11" name="Shape 9"/>
          <p:cNvSpPr/>
          <p:nvPr/>
        </p:nvSpPr>
        <p:spPr>
          <a:xfrm>
            <a:off x="7696200" y="3771900"/>
            <a:ext cx="9791700" cy="500063"/>
          </a:xfrm>
          <a:prstGeom prst="rect">
            <a:avLst/>
          </a:prstGeom>
          <a:solidFill>
            <a:srgbClr val="FF6A00">
              <a:alpha val="18000"/>
            </a:srgbClr>
          </a:solidFill>
          <a:ln/>
        </p:spPr>
      </p:sp>
      <p:sp>
        <p:nvSpPr>
          <p:cNvPr id="12" name="Shape 10"/>
          <p:cNvSpPr/>
          <p:nvPr/>
        </p:nvSpPr>
        <p:spPr>
          <a:xfrm>
            <a:off x="7696200" y="4262438"/>
            <a:ext cx="9791700" cy="9525"/>
          </a:xfrm>
          <a:prstGeom prst="rect">
            <a:avLst/>
          </a:prstGeom>
          <a:solidFill>
            <a:srgbClr val="B85100"/>
          </a:solidFill>
          <a:ln/>
        </p:spPr>
      </p:sp>
      <p:sp>
        <p:nvSpPr>
          <p:cNvPr id="13" name="Text 11"/>
          <p:cNvSpPr/>
          <p:nvPr/>
        </p:nvSpPr>
        <p:spPr>
          <a:xfrm>
            <a:off x="7848600" y="3886200"/>
            <a:ext cx="9780651" cy="300038"/>
          </a:xfrm>
          <a:prstGeom prst="rect">
            <a:avLst/>
          </a:prstGeom>
          <a:noFill/>
          <a:ln/>
        </p:spPr>
        <p:txBody>
          <a:bodyPr wrap="square" lIns="25400" tIns="25400" rIns="25400" bIns="25400" rtlCol="0" anchor="ctr">
            <a:normAutofit/>
          </a:bodyPr>
          <a:lstStyle/>
          <a:p>
            <a:pPr algn="l" indent="0" marL="0">
              <a:buNone/>
            </a:pPr>
            <a:r>
              <a:rPr lang="en-US" sz="1800" b="1" dirty="0">
                <a:solidFill>
                  <a:srgbClr val="F5F7FB"/>
                </a:solidFill>
                <a:latin typeface="Arial" pitchFamily="34" charset="0"/>
                <a:ea typeface="Arial" pitchFamily="34" charset="-122"/>
                <a:cs typeface="Arial" pitchFamily="34" charset="-120"/>
              </a:rPr>
              <a:t>What it names</a:t>
            </a:r>
            <a:endParaRPr lang="en-US" sz="1800" dirty="0"/>
          </a:p>
        </p:txBody>
      </p:sp>
      <p:sp>
        <p:nvSpPr>
          <p:cNvPr id="14" name="Shape 12"/>
          <p:cNvSpPr/>
          <p:nvPr/>
        </p:nvSpPr>
        <p:spPr>
          <a:xfrm>
            <a:off x="800100" y="4271963"/>
            <a:ext cx="2209800" cy="485775"/>
          </a:xfrm>
          <a:prstGeom prst="rect">
            <a:avLst/>
          </a:prstGeom>
          <a:solidFill>
            <a:srgbClr val="FFFFFF">
              <a:alpha val="2000"/>
            </a:srgbClr>
          </a:solidFill>
          <a:ln/>
        </p:spPr>
      </p:sp>
      <p:sp>
        <p:nvSpPr>
          <p:cNvPr id="15" name="Shape 13"/>
          <p:cNvSpPr/>
          <p:nvPr/>
        </p:nvSpPr>
        <p:spPr>
          <a:xfrm>
            <a:off x="800100" y="4748213"/>
            <a:ext cx="2209800" cy="9525"/>
          </a:xfrm>
          <a:prstGeom prst="rect">
            <a:avLst/>
          </a:prstGeom>
          <a:solidFill>
            <a:srgbClr val="2A2F3A"/>
          </a:solidFill>
          <a:ln/>
        </p:spPr>
      </p:sp>
      <p:sp>
        <p:nvSpPr>
          <p:cNvPr id="16" name="Text 14"/>
          <p:cNvSpPr/>
          <p:nvPr/>
        </p:nvSpPr>
        <p:spPr>
          <a:xfrm>
            <a:off x="952500" y="4376738"/>
            <a:ext cx="1981200"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CIA</a:t>
            </a:r>
            <a:endParaRPr lang="en-US" sz="1800" dirty="0"/>
          </a:p>
        </p:txBody>
      </p:sp>
      <p:sp>
        <p:nvSpPr>
          <p:cNvPr id="17" name="Shape 15"/>
          <p:cNvSpPr/>
          <p:nvPr/>
        </p:nvSpPr>
        <p:spPr>
          <a:xfrm>
            <a:off x="3009900" y="4271963"/>
            <a:ext cx="4686300" cy="485775"/>
          </a:xfrm>
          <a:prstGeom prst="rect">
            <a:avLst/>
          </a:prstGeom>
          <a:solidFill>
            <a:srgbClr val="FFFFFF">
              <a:alpha val="2000"/>
            </a:srgbClr>
          </a:solidFill>
          <a:ln/>
        </p:spPr>
      </p:sp>
      <p:sp>
        <p:nvSpPr>
          <p:cNvPr id="18" name="Shape 16"/>
          <p:cNvSpPr/>
          <p:nvPr/>
        </p:nvSpPr>
        <p:spPr>
          <a:xfrm>
            <a:off x="3009900" y="4748213"/>
            <a:ext cx="4686300" cy="9525"/>
          </a:xfrm>
          <a:prstGeom prst="rect">
            <a:avLst/>
          </a:prstGeom>
          <a:solidFill>
            <a:srgbClr val="2A2F3A"/>
          </a:solidFill>
          <a:ln/>
        </p:spPr>
      </p:sp>
      <p:sp>
        <p:nvSpPr>
          <p:cNvPr id="19" name="Text 17"/>
          <p:cNvSpPr/>
          <p:nvPr/>
        </p:nvSpPr>
        <p:spPr>
          <a:xfrm>
            <a:off x="3162300" y="4376738"/>
            <a:ext cx="4522089"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Confidentiality, Integrity, Availability</a:t>
            </a:r>
            <a:endParaRPr lang="en-US" sz="1800" dirty="0"/>
          </a:p>
        </p:txBody>
      </p:sp>
      <p:sp>
        <p:nvSpPr>
          <p:cNvPr id="20" name="Shape 18"/>
          <p:cNvSpPr/>
          <p:nvPr/>
        </p:nvSpPr>
        <p:spPr>
          <a:xfrm>
            <a:off x="7696200" y="4271963"/>
            <a:ext cx="9791700" cy="485775"/>
          </a:xfrm>
          <a:prstGeom prst="rect">
            <a:avLst/>
          </a:prstGeom>
          <a:solidFill>
            <a:srgbClr val="FFFFFF">
              <a:alpha val="2000"/>
            </a:srgbClr>
          </a:solidFill>
          <a:ln/>
        </p:spPr>
      </p:sp>
      <p:sp>
        <p:nvSpPr>
          <p:cNvPr id="21" name="Shape 19"/>
          <p:cNvSpPr/>
          <p:nvPr/>
        </p:nvSpPr>
        <p:spPr>
          <a:xfrm>
            <a:off x="7696200" y="4748213"/>
            <a:ext cx="9791700" cy="9525"/>
          </a:xfrm>
          <a:prstGeom prst="rect">
            <a:avLst/>
          </a:prstGeom>
          <a:solidFill>
            <a:srgbClr val="2A2F3A"/>
          </a:solidFill>
          <a:ln/>
        </p:spPr>
      </p:sp>
      <p:sp>
        <p:nvSpPr>
          <p:cNvPr id="22" name="Text 20"/>
          <p:cNvSpPr/>
          <p:nvPr/>
        </p:nvSpPr>
        <p:spPr>
          <a:xfrm>
            <a:off x="7848600" y="4376738"/>
            <a:ext cx="9780651"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The triad taught in Objective 2.3</a:t>
            </a:r>
            <a:endParaRPr lang="en-US" sz="1800" dirty="0"/>
          </a:p>
        </p:txBody>
      </p:sp>
      <p:sp>
        <p:nvSpPr>
          <p:cNvPr id="23" name="Shape 21"/>
          <p:cNvSpPr/>
          <p:nvPr/>
        </p:nvSpPr>
        <p:spPr>
          <a:xfrm>
            <a:off x="800100" y="5233988"/>
            <a:ext cx="2209800" cy="9525"/>
          </a:xfrm>
          <a:prstGeom prst="rect">
            <a:avLst/>
          </a:prstGeom>
          <a:solidFill>
            <a:srgbClr val="2A2F3A"/>
          </a:solidFill>
          <a:ln/>
        </p:spPr>
      </p:sp>
      <p:sp>
        <p:nvSpPr>
          <p:cNvPr id="24" name="Text 22"/>
          <p:cNvSpPr/>
          <p:nvPr/>
        </p:nvSpPr>
        <p:spPr>
          <a:xfrm>
            <a:off x="952500" y="4862513"/>
            <a:ext cx="1981200"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Threat actor</a:t>
            </a:r>
            <a:endParaRPr lang="en-US" sz="1800" dirty="0"/>
          </a:p>
        </p:txBody>
      </p:sp>
      <p:sp>
        <p:nvSpPr>
          <p:cNvPr id="25" name="Shape 23"/>
          <p:cNvSpPr/>
          <p:nvPr/>
        </p:nvSpPr>
        <p:spPr>
          <a:xfrm>
            <a:off x="3009900" y="5233988"/>
            <a:ext cx="4686300" cy="9525"/>
          </a:xfrm>
          <a:prstGeom prst="rect">
            <a:avLst/>
          </a:prstGeom>
          <a:solidFill>
            <a:srgbClr val="2A2F3A"/>
          </a:solidFill>
          <a:ln/>
        </p:spPr>
      </p:sp>
      <p:sp>
        <p:nvSpPr>
          <p:cNvPr id="26" name="Text 24"/>
          <p:cNvSpPr/>
          <p:nvPr/>
        </p:nvSpPr>
        <p:spPr>
          <a:xfrm>
            <a:off x="3162300" y="4862513"/>
            <a:ext cx="4522089"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a:t>
            </a:r>
            <a:endParaRPr lang="en-US" sz="1800" dirty="0"/>
          </a:p>
        </p:txBody>
      </p:sp>
      <p:sp>
        <p:nvSpPr>
          <p:cNvPr id="27" name="Shape 25"/>
          <p:cNvSpPr/>
          <p:nvPr/>
        </p:nvSpPr>
        <p:spPr>
          <a:xfrm>
            <a:off x="7696200" y="5233988"/>
            <a:ext cx="9791700" cy="9525"/>
          </a:xfrm>
          <a:prstGeom prst="rect">
            <a:avLst/>
          </a:prstGeom>
          <a:solidFill>
            <a:srgbClr val="2A2F3A"/>
          </a:solidFill>
          <a:ln/>
        </p:spPr>
      </p:sp>
      <p:sp>
        <p:nvSpPr>
          <p:cNvPr id="28" name="Text 26"/>
          <p:cNvSpPr/>
          <p:nvPr/>
        </p:nvSpPr>
        <p:spPr>
          <a:xfrm>
            <a:off x="7848600" y="4862513"/>
            <a:ext cx="9780651"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A party with the capability and motivation to cause harm</a:t>
            </a:r>
            <a:endParaRPr lang="en-US" sz="1800" dirty="0"/>
          </a:p>
        </p:txBody>
      </p:sp>
      <p:sp>
        <p:nvSpPr>
          <p:cNvPr id="29" name="Shape 27"/>
          <p:cNvSpPr/>
          <p:nvPr/>
        </p:nvSpPr>
        <p:spPr>
          <a:xfrm>
            <a:off x="800100" y="5243513"/>
            <a:ext cx="2209800" cy="485775"/>
          </a:xfrm>
          <a:prstGeom prst="rect">
            <a:avLst/>
          </a:prstGeom>
          <a:solidFill>
            <a:srgbClr val="FFFFFF">
              <a:alpha val="2000"/>
            </a:srgbClr>
          </a:solidFill>
          <a:ln/>
        </p:spPr>
      </p:sp>
      <p:sp>
        <p:nvSpPr>
          <p:cNvPr id="30" name="Shape 28"/>
          <p:cNvSpPr/>
          <p:nvPr/>
        </p:nvSpPr>
        <p:spPr>
          <a:xfrm>
            <a:off x="800100" y="5719763"/>
            <a:ext cx="2209800" cy="9525"/>
          </a:xfrm>
          <a:prstGeom prst="rect">
            <a:avLst/>
          </a:prstGeom>
          <a:solidFill>
            <a:srgbClr val="2A2F3A"/>
          </a:solidFill>
          <a:ln/>
        </p:spPr>
      </p:sp>
      <p:sp>
        <p:nvSpPr>
          <p:cNvPr id="31" name="Text 29"/>
          <p:cNvSpPr/>
          <p:nvPr/>
        </p:nvSpPr>
        <p:spPr>
          <a:xfrm>
            <a:off x="952500" y="5348288"/>
            <a:ext cx="1981200"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Defence in depth</a:t>
            </a:r>
            <a:endParaRPr lang="en-US" sz="1800" dirty="0"/>
          </a:p>
        </p:txBody>
      </p:sp>
      <p:sp>
        <p:nvSpPr>
          <p:cNvPr id="32" name="Shape 30"/>
          <p:cNvSpPr/>
          <p:nvPr/>
        </p:nvSpPr>
        <p:spPr>
          <a:xfrm>
            <a:off x="3009900" y="5243513"/>
            <a:ext cx="4686300" cy="485775"/>
          </a:xfrm>
          <a:prstGeom prst="rect">
            <a:avLst/>
          </a:prstGeom>
          <a:solidFill>
            <a:srgbClr val="FFFFFF">
              <a:alpha val="2000"/>
            </a:srgbClr>
          </a:solidFill>
          <a:ln/>
        </p:spPr>
      </p:sp>
      <p:sp>
        <p:nvSpPr>
          <p:cNvPr id="33" name="Shape 31"/>
          <p:cNvSpPr/>
          <p:nvPr/>
        </p:nvSpPr>
        <p:spPr>
          <a:xfrm>
            <a:off x="3009900" y="5719763"/>
            <a:ext cx="4686300" cy="9525"/>
          </a:xfrm>
          <a:prstGeom prst="rect">
            <a:avLst/>
          </a:prstGeom>
          <a:solidFill>
            <a:srgbClr val="2A2F3A"/>
          </a:solidFill>
          <a:ln/>
        </p:spPr>
      </p:sp>
      <p:sp>
        <p:nvSpPr>
          <p:cNvPr id="34" name="Text 32"/>
          <p:cNvSpPr/>
          <p:nvPr/>
        </p:nvSpPr>
        <p:spPr>
          <a:xfrm>
            <a:off x="3162300" y="5348288"/>
            <a:ext cx="4522089"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a:t>
            </a:r>
            <a:endParaRPr lang="en-US" sz="1800" dirty="0"/>
          </a:p>
        </p:txBody>
      </p:sp>
      <p:sp>
        <p:nvSpPr>
          <p:cNvPr id="35" name="Shape 33"/>
          <p:cNvSpPr/>
          <p:nvPr/>
        </p:nvSpPr>
        <p:spPr>
          <a:xfrm>
            <a:off x="7696200" y="5243513"/>
            <a:ext cx="9791700" cy="485775"/>
          </a:xfrm>
          <a:prstGeom prst="rect">
            <a:avLst/>
          </a:prstGeom>
          <a:solidFill>
            <a:srgbClr val="FFFFFF">
              <a:alpha val="2000"/>
            </a:srgbClr>
          </a:solidFill>
          <a:ln/>
        </p:spPr>
      </p:sp>
      <p:sp>
        <p:nvSpPr>
          <p:cNvPr id="36" name="Shape 34"/>
          <p:cNvSpPr/>
          <p:nvPr/>
        </p:nvSpPr>
        <p:spPr>
          <a:xfrm>
            <a:off x="7696200" y="5719763"/>
            <a:ext cx="9791700" cy="9525"/>
          </a:xfrm>
          <a:prstGeom prst="rect">
            <a:avLst/>
          </a:prstGeom>
          <a:solidFill>
            <a:srgbClr val="2A2F3A"/>
          </a:solidFill>
          <a:ln/>
        </p:spPr>
      </p:sp>
      <p:sp>
        <p:nvSpPr>
          <p:cNvPr id="37" name="Text 35"/>
          <p:cNvSpPr/>
          <p:nvPr/>
        </p:nvSpPr>
        <p:spPr>
          <a:xfrm>
            <a:off x="7848600" y="5348288"/>
            <a:ext cx="9780651"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Multiple independent layers, each assumed to eventually fail</a:t>
            </a:r>
            <a:endParaRPr lang="en-US" sz="1800" dirty="0"/>
          </a:p>
        </p:txBody>
      </p:sp>
      <p:sp>
        <p:nvSpPr>
          <p:cNvPr id="38" name="Shape 36"/>
          <p:cNvSpPr/>
          <p:nvPr/>
        </p:nvSpPr>
        <p:spPr>
          <a:xfrm>
            <a:off x="800100" y="6205538"/>
            <a:ext cx="2209800" cy="9525"/>
          </a:xfrm>
          <a:prstGeom prst="rect">
            <a:avLst/>
          </a:prstGeom>
          <a:solidFill>
            <a:srgbClr val="2A2F3A"/>
          </a:solidFill>
          <a:ln/>
        </p:spPr>
      </p:sp>
      <p:sp>
        <p:nvSpPr>
          <p:cNvPr id="39" name="Text 37"/>
          <p:cNvSpPr/>
          <p:nvPr/>
        </p:nvSpPr>
        <p:spPr>
          <a:xfrm>
            <a:off x="952500" y="5834063"/>
            <a:ext cx="1981200"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Least privilege</a:t>
            </a:r>
            <a:endParaRPr lang="en-US" sz="1800" dirty="0"/>
          </a:p>
        </p:txBody>
      </p:sp>
      <p:sp>
        <p:nvSpPr>
          <p:cNvPr id="40" name="Shape 38"/>
          <p:cNvSpPr/>
          <p:nvPr/>
        </p:nvSpPr>
        <p:spPr>
          <a:xfrm>
            <a:off x="3009900" y="6205538"/>
            <a:ext cx="4686300" cy="9525"/>
          </a:xfrm>
          <a:prstGeom prst="rect">
            <a:avLst/>
          </a:prstGeom>
          <a:solidFill>
            <a:srgbClr val="2A2F3A"/>
          </a:solidFill>
          <a:ln/>
        </p:spPr>
      </p:sp>
      <p:sp>
        <p:nvSpPr>
          <p:cNvPr id="41" name="Text 39"/>
          <p:cNvSpPr/>
          <p:nvPr/>
        </p:nvSpPr>
        <p:spPr>
          <a:xfrm>
            <a:off x="3162300" y="5834063"/>
            <a:ext cx="4522089"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a:t>
            </a:r>
            <a:endParaRPr lang="en-US" sz="1800" dirty="0"/>
          </a:p>
        </p:txBody>
      </p:sp>
      <p:sp>
        <p:nvSpPr>
          <p:cNvPr id="42" name="Shape 40"/>
          <p:cNvSpPr/>
          <p:nvPr/>
        </p:nvSpPr>
        <p:spPr>
          <a:xfrm>
            <a:off x="7696200" y="6205538"/>
            <a:ext cx="9791700" cy="9525"/>
          </a:xfrm>
          <a:prstGeom prst="rect">
            <a:avLst/>
          </a:prstGeom>
          <a:solidFill>
            <a:srgbClr val="2A2F3A"/>
          </a:solidFill>
          <a:ln/>
        </p:spPr>
      </p:sp>
      <p:sp>
        <p:nvSpPr>
          <p:cNvPr id="43" name="Text 41"/>
          <p:cNvSpPr/>
          <p:nvPr/>
        </p:nvSpPr>
        <p:spPr>
          <a:xfrm>
            <a:off x="7848600" y="5834063"/>
            <a:ext cx="9780651"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Granting only the access a task requires, for only as long as required</a:t>
            </a:r>
            <a:endParaRPr lang="en-US" sz="1800" dirty="0"/>
          </a:p>
        </p:txBody>
      </p:sp>
      <p:sp>
        <p:nvSpPr>
          <p:cNvPr id="44" name="Shape 42"/>
          <p:cNvSpPr/>
          <p:nvPr/>
        </p:nvSpPr>
        <p:spPr>
          <a:xfrm>
            <a:off x="800100" y="6215063"/>
            <a:ext cx="2209800" cy="485775"/>
          </a:xfrm>
          <a:prstGeom prst="rect">
            <a:avLst/>
          </a:prstGeom>
          <a:solidFill>
            <a:srgbClr val="FFFFFF">
              <a:alpha val="2000"/>
            </a:srgbClr>
          </a:solidFill>
          <a:ln/>
        </p:spPr>
      </p:sp>
      <p:sp>
        <p:nvSpPr>
          <p:cNvPr id="45" name="Shape 43"/>
          <p:cNvSpPr/>
          <p:nvPr/>
        </p:nvSpPr>
        <p:spPr>
          <a:xfrm>
            <a:off x="800100" y="6691313"/>
            <a:ext cx="2209800" cy="9525"/>
          </a:xfrm>
          <a:prstGeom prst="rect">
            <a:avLst/>
          </a:prstGeom>
          <a:solidFill>
            <a:srgbClr val="2A2F3A"/>
          </a:solidFill>
          <a:ln/>
        </p:spPr>
      </p:sp>
      <p:sp>
        <p:nvSpPr>
          <p:cNvPr id="46" name="Text 44"/>
          <p:cNvSpPr/>
          <p:nvPr/>
        </p:nvSpPr>
        <p:spPr>
          <a:xfrm>
            <a:off x="952500" y="6319838"/>
            <a:ext cx="1981200"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TI</a:t>
            </a:r>
            <a:endParaRPr lang="en-US" sz="1800" dirty="0"/>
          </a:p>
        </p:txBody>
      </p:sp>
      <p:sp>
        <p:nvSpPr>
          <p:cNvPr id="47" name="Shape 45"/>
          <p:cNvSpPr/>
          <p:nvPr/>
        </p:nvSpPr>
        <p:spPr>
          <a:xfrm>
            <a:off x="3009900" y="6215063"/>
            <a:ext cx="4686300" cy="485775"/>
          </a:xfrm>
          <a:prstGeom prst="rect">
            <a:avLst/>
          </a:prstGeom>
          <a:solidFill>
            <a:srgbClr val="FFFFFF">
              <a:alpha val="2000"/>
            </a:srgbClr>
          </a:solidFill>
          <a:ln/>
        </p:spPr>
      </p:sp>
      <p:sp>
        <p:nvSpPr>
          <p:cNvPr id="48" name="Shape 46"/>
          <p:cNvSpPr/>
          <p:nvPr/>
        </p:nvSpPr>
        <p:spPr>
          <a:xfrm>
            <a:off x="3009900" y="6691313"/>
            <a:ext cx="4686300" cy="9525"/>
          </a:xfrm>
          <a:prstGeom prst="rect">
            <a:avLst/>
          </a:prstGeom>
          <a:solidFill>
            <a:srgbClr val="2A2F3A"/>
          </a:solidFill>
          <a:ln/>
        </p:spPr>
      </p:sp>
      <p:sp>
        <p:nvSpPr>
          <p:cNvPr id="49" name="Text 47"/>
          <p:cNvSpPr/>
          <p:nvPr/>
        </p:nvSpPr>
        <p:spPr>
          <a:xfrm>
            <a:off x="3162300" y="6319838"/>
            <a:ext cx="4522089"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Threat Intelligence</a:t>
            </a:r>
            <a:endParaRPr lang="en-US" sz="1800" dirty="0"/>
          </a:p>
        </p:txBody>
      </p:sp>
      <p:sp>
        <p:nvSpPr>
          <p:cNvPr id="50" name="Shape 48"/>
          <p:cNvSpPr/>
          <p:nvPr/>
        </p:nvSpPr>
        <p:spPr>
          <a:xfrm>
            <a:off x="7696200" y="6215063"/>
            <a:ext cx="9791700" cy="485775"/>
          </a:xfrm>
          <a:prstGeom prst="rect">
            <a:avLst/>
          </a:prstGeom>
          <a:solidFill>
            <a:srgbClr val="FFFFFF">
              <a:alpha val="2000"/>
            </a:srgbClr>
          </a:solidFill>
          <a:ln/>
        </p:spPr>
      </p:sp>
      <p:sp>
        <p:nvSpPr>
          <p:cNvPr id="51" name="Shape 49"/>
          <p:cNvSpPr/>
          <p:nvPr/>
        </p:nvSpPr>
        <p:spPr>
          <a:xfrm>
            <a:off x="7696200" y="6691313"/>
            <a:ext cx="9791700" cy="9525"/>
          </a:xfrm>
          <a:prstGeom prst="rect">
            <a:avLst/>
          </a:prstGeom>
          <a:solidFill>
            <a:srgbClr val="2A2F3A"/>
          </a:solidFill>
          <a:ln/>
        </p:spPr>
      </p:sp>
      <p:sp>
        <p:nvSpPr>
          <p:cNvPr id="52" name="Text 50"/>
          <p:cNvSpPr/>
          <p:nvPr/>
        </p:nvSpPr>
        <p:spPr>
          <a:xfrm>
            <a:off x="7848600" y="6319838"/>
            <a:ext cx="9780651"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Processed adversary information used to inform defensive decisions</a:t>
            </a:r>
            <a:endParaRPr lang="en-US" sz="1800" dirty="0"/>
          </a:p>
        </p:txBody>
      </p:sp>
      <p:sp>
        <p:nvSpPr>
          <p:cNvPr id="53" name="Shape 51"/>
          <p:cNvSpPr/>
          <p:nvPr/>
        </p:nvSpPr>
        <p:spPr>
          <a:xfrm>
            <a:off x="800100" y="7177088"/>
            <a:ext cx="2209800" cy="9525"/>
          </a:xfrm>
          <a:prstGeom prst="rect">
            <a:avLst/>
          </a:prstGeom>
          <a:solidFill>
            <a:srgbClr val="2A2F3A"/>
          </a:solidFill>
          <a:ln/>
        </p:spPr>
      </p:sp>
      <p:sp>
        <p:nvSpPr>
          <p:cNvPr id="54" name="Text 52"/>
          <p:cNvSpPr/>
          <p:nvPr/>
        </p:nvSpPr>
        <p:spPr>
          <a:xfrm>
            <a:off x="952500" y="6805613"/>
            <a:ext cx="1981200"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GRC</a:t>
            </a:r>
            <a:endParaRPr lang="en-US" sz="1800" dirty="0"/>
          </a:p>
        </p:txBody>
      </p:sp>
      <p:sp>
        <p:nvSpPr>
          <p:cNvPr id="55" name="Shape 53"/>
          <p:cNvSpPr/>
          <p:nvPr/>
        </p:nvSpPr>
        <p:spPr>
          <a:xfrm>
            <a:off x="3009900" y="7177088"/>
            <a:ext cx="4686300" cy="9525"/>
          </a:xfrm>
          <a:prstGeom prst="rect">
            <a:avLst/>
          </a:prstGeom>
          <a:solidFill>
            <a:srgbClr val="2A2F3A"/>
          </a:solidFill>
          <a:ln/>
        </p:spPr>
      </p:sp>
      <p:sp>
        <p:nvSpPr>
          <p:cNvPr id="56" name="Text 54"/>
          <p:cNvSpPr/>
          <p:nvPr/>
        </p:nvSpPr>
        <p:spPr>
          <a:xfrm>
            <a:off x="3162300" y="6805613"/>
            <a:ext cx="4522089"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Governance, Risk and Compliance</a:t>
            </a:r>
            <a:endParaRPr lang="en-US" sz="1800" dirty="0"/>
          </a:p>
        </p:txBody>
      </p:sp>
      <p:sp>
        <p:nvSpPr>
          <p:cNvPr id="57" name="Shape 55"/>
          <p:cNvSpPr/>
          <p:nvPr/>
        </p:nvSpPr>
        <p:spPr>
          <a:xfrm>
            <a:off x="7696200" y="7177088"/>
            <a:ext cx="9791700" cy="9525"/>
          </a:xfrm>
          <a:prstGeom prst="rect">
            <a:avLst/>
          </a:prstGeom>
          <a:solidFill>
            <a:srgbClr val="2A2F3A"/>
          </a:solidFill>
          <a:ln/>
        </p:spPr>
      </p:sp>
      <p:sp>
        <p:nvSpPr>
          <p:cNvPr id="58" name="Text 56"/>
          <p:cNvSpPr/>
          <p:nvPr/>
        </p:nvSpPr>
        <p:spPr>
          <a:xfrm>
            <a:off x="7848600" y="6805613"/>
            <a:ext cx="9780651"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An advisory career path named in Objective 2.6</a:t>
            </a:r>
            <a:endParaRPr lang="en-US" sz="1800" dirty="0"/>
          </a:p>
        </p:txBody>
      </p:sp>
      <p:sp>
        <p:nvSpPr>
          <p:cNvPr id="59" name="Shape 57"/>
          <p:cNvSpPr/>
          <p:nvPr/>
        </p:nvSpPr>
        <p:spPr>
          <a:xfrm>
            <a:off x="800100" y="7186613"/>
            <a:ext cx="2209800" cy="485775"/>
          </a:xfrm>
          <a:prstGeom prst="rect">
            <a:avLst/>
          </a:prstGeom>
          <a:solidFill>
            <a:srgbClr val="FFFFFF">
              <a:alpha val="2000"/>
            </a:srgbClr>
          </a:solidFill>
          <a:ln/>
        </p:spPr>
      </p:sp>
      <p:sp>
        <p:nvSpPr>
          <p:cNvPr id="60" name="Shape 58"/>
          <p:cNvSpPr/>
          <p:nvPr/>
        </p:nvSpPr>
        <p:spPr>
          <a:xfrm>
            <a:off x="800100" y="7662863"/>
            <a:ext cx="2209800" cy="9525"/>
          </a:xfrm>
          <a:prstGeom prst="rect">
            <a:avLst/>
          </a:prstGeom>
          <a:solidFill>
            <a:srgbClr val="2A2F3A"/>
          </a:solidFill>
          <a:ln/>
        </p:spPr>
      </p:sp>
      <p:sp>
        <p:nvSpPr>
          <p:cNvPr id="61" name="Text 59"/>
          <p:cNvSpPr/>
          <p:nvPr/>
        </p:nvSpPr>
        <p:spPr>
          <a:xfrm>
            <a:off x="952500" y="7291388"/>
            <a:ext cx="1981200"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OSCP</a:t>
            </a:r>
            <a:endParaRPr lang="en-US" sz="1800" dirty="0"/>
          </a:p>
        </p:txBody>
      </p:sp>
      <p:sp>
        <p:nvSpPr>
          <p:cNvPr id="62" name="Shape 60"/>
          <p:cNvSpPr/>
          <p:nvPr/>
        </p:nvSpPr>
        <p:spPr>
          <a:xfrm>
            <a:off x="3009900" y="7186613"/>
            <a:ext cx="4686300" cy="485775"/>
          </a:xfrm>
          <a:prstGeom prst="rect">
            <a:avLst/>
          </a:prstGeom>
          <a:solidFill>
            <a:srgbClr val="FFFFFF">
              <a:alpha val="2000"/>
            </a:srgbClr>
          </a:solidFill>
          <a:ln/>
        </p:spPr>
      </p:sp>
      <p:sp>
        <p:nvSpPr>
          <p:cNvPr id="63" name="Shape 61"/>
          <p:cNvSpPr/>
          <p:nvPr/>
        </p:nvSpPr>
        <p:spPr>
          <a:xfrm>
            <a:off x="3009900" y="7662863"/>
            <a:ext cx="4686300" cy="9525"/>
          </a:xfrm>
          <a:prstGeom prst="rect">
            <a:avLst/>
          </a:prstGeom>
          <a:solidFill>
            <a:srgbClr val="2A2F3A"/>
          </a:solidFill>
          <a:ln/>
        </p:spPr>
      </p:sp>
      <p:sp>
        <p:nvSpPr>
          <p:cNvPr id="64" name="Text 62"/>
          <p:cNvSpPr/>
          <p:nvPr/>
        </p:nvSpPr>
        <p:spPr>
          <a:xfrm>
            <a:off x="3162300" y="7291388"/>
            <a:ext cx="4522089"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OffSec Certified Professional</a:t>
            </a:r>
            <a:endParaRPr lang="en-US" sz="1800" dirty="0"/>
          </a:p>
        </p:txBody>
      </p:sp>
      <p:sp>
        <p:nvSpPr>
          <p:cNvPr id="65" name="Shape 63"/>
          <p:cNvSpPr/>
          <p:nvPr/>
        </p:nvSpPr>
        <p:spPr>
          <a:xfrm>
            <a:off x="7696200" y="7186613"/>
            <a:ext cx="9791700" cy="485775"/>
          </a:xfrm>
          <a:prstGeom prst="rect">
            <a:avLst/>
          </a:prstGeom>
          <a:solidFill>
            <a:srgbClr val="FFFFFF">
              <a:alpha val="2000"/>
            </a:srgbClr>
          </a:solidFill>
          <a:ln/>
        </p:spPr>
      </p:sp>
      <p:sp>
        <p:nvSpPr>
          <p:cNvPr id="66" name="Shape 64"/>
          <p:cNvSpPr/>
          <p:nvPr/>
        </p:nvSpPr>
        <p:spPr>
          <a:xfrm>
            <a:off x="7696200" y="7662863"/>
            <a:ext cx="9791700" cy="9525"/>
          </a:xfrm>
          <a:prstGeom prst="rect">
            <a:avLst/>
          </a:prstGeom>
          <a:solidFill>
            <a:srgbClr val="2A2F3A"/>
          </a:solidFill>
          <a:ln/>
        </p:spPr>
      </p:sp>
      <p:sp>
        <p:nvSpPr>
          <p:cNvPr id="67" name="Text 65"/>
          <p:cNvSpPr/>
          <p:nvPr/>
        </p:nvSpPr>
        <p:spPr>
          <a:xfrm>
            <a:off x="7848600" y="7291388"/>
            <a:ext cx="9780651"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The certification PEN-200 leads towards</a:t>
            </a:r>
            <a:endParaRPr lang="en-US" sz="18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2159794"/>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COMMON MISCONCEPTIONS</a:t>
            </a:r>
            <a:endParaRPr lang="en-US" sz="1650" dirty="0"/>
          </a:p>
        </p:txBody>
      </p:sp>
      <p:sp>
        <p:nvSpPr>
          <p:cNvPr id="4" name="Text 2"/>
          <p:cNvSpPr/>
          <p:nvPr/>
        </p:nvSpPr>
        <p:spPr>
          <a:xfrm>
            <a:off x="800100" y="2655094"/>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What learners get wrong about Module 2</a:t>
            </a:r>
            <a:endParaRPr lang="en-US" sz="3000" dirty="0"/>
          </a:p>
        </p:txBody>
      </p:sp>
      <p:sp>
        <p:nvSpPr>
          <p:cNvPr id="5" name="Shape 3"/>
          <p:cNvSpPr/>
          <p:nvPr/>
        </p:nvSpPr>
        <p:spPr>
          <a:xfrm>
            <a:off x="800100" y="3321844"/>
            <a:ext cx="8239125" cy="1462088"/>
          </a:xfrm>
          <a:prstGeom prst="roundRect">
            <a:avLst>
              <a:gd name="adj" fmla="val 10423"/>
            </a:avLst>
          </a:prstGeom>
          <a:solidFill>
            <a:srgbClr val="FFFFFF">
              <a:alpha val="2000"/>
            </a:srgbClr>
          </a:solidFill>
          <a:ln w="9525">
            <a:solidFill>
              <a:srgbClr val="2A2F3A"/>
            </a:solidFill>
            <a:prstDash val="solid"/>
          </a:ln>
        </p:spPr>
      </p:sp>
      <p:sp>
        <p:nvSpPr>
          <p:cNvPr id="6" name="Text 4"/>
          <p:cNvSpPr/>
          <p:nvPr/>
        </p:nvSpPr>
        <p:spPr>
          <a:xfrm>
            <a:off x="1038225" y="355996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“RISK AND VULNERABILITY MEAN THE SAME THING”</a:t>
            </a:r>
            <a:endParaRPr lang="en-US" sz="1500" dirty="0"/>
          </a:p>
        </p:txBody>
      </p:sp>
      <p:sp>
        <p:nvSpPr>
          <p:cNvPr id="7" name="Text 5"/>
          <p:cNvSpPr/>
          <p:nvPr/>
        </p:nvSpPr>
        <p:spPr>
          <a:xfrm>
            <a:off x="1038225" y="3879056"/>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A vulnerability is a weakness in a system. Risk is likelihood combined with impact, in a specific environment.</a:t>
            </a:r>
            <a:endParaRPr lang="en-US" sz="1875" dirty="0"/>
          </a:p>
        </p:txBody>
      </p:sp>
      <p:sp>
        <p:nvSpPr>
          <p:cNvPr id="8" name="Shape 6"/>
          <p:cNvSpPr/>
          <p:nvPr/>
        </p:nvSpPr>
        <p:spPr>
          <a:xfrm>
            <a:off x="9248775" y="3321844"/>
            <a:ext cx="8239125" cy="1462088"/>
          </a:xfrm>
          <a:prstGeom prst="roundRect">
            <a:avLst>
              <a:gd name="adj" fmla="val 10423"/>
            </a:avLst>
          </a:prstGeom>
          <a:solidFill>
            <a:srgbClr val="FFFFFF">
              <a:alpha val="2000"/>
            </a:srgbClr>
          </a:solidFill>
          <a:ln w="9525">
            <a:solidFill>
              <a:srgbClr val="2A2F3A"/>
            </a:solidFill>
            <a:prstDash val="solid"/>
          </a:ln>
        </p:spPr>
      </p:sp>
      <p:sp>
        <p:nvSpPr>
          <p:cNvPr id="9" name="Text 7"/>
          <p:cNvSpPr/>
          <p:nvPr/>
        </p:nvSpPr>
        <p:spPr>
          <a:xfrm>
            <a:off x="9486900" y="355996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“A VULNERABILITY WITH NO PUBLIC EXPLOIT IS NOT A REAL FINDING”</a:t>
            </a:r>
            <a:endParaRPr lang="en-US" sz="1500" dirty="0"/>
          </a:p>
        </p:txBody>
      </p:sp>
      <p:sp>
        <p:nvSpPr>
          <p:cNvPr id="10" name="Text 8"/>
          <p:cNvSpPr/>
          <p:nvPr/>
        </p:nvSpPr>
        <p:spPr>
          <a:xfrm>
            <a:off x="9486900" y="3879056"/>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The weakness exists independently of whether anyone has written code for it. Absence of an exploit is not absence of risk.</a:t>
            </a:r>
            <a:endParaRPr lang="en-US" sz="1875" dirty="0"/>
          </a:p>
        </p:txBody>
      </p:sp>
      <p:sp>
        <p:nvSpPr>
          <p:cNvPr id="11" name="Shape 9"/>
          <p:cNvSpPr/>
          <p:nvPr/>
        </p:nvSpPr>
        <p:spPr>
          <a:xfrm>
            <a:off x="800100" y="4993481"/>
            <a:ext cx="8239125" cy="1462088"/>
          </a:xfrm>
          <a:prstGeom prst="roundRect">
            <a:avLst>
              <a:gd name="adj" fmla="val 10423"/>
            </a:avLst>
          </a:prstGeom>
          <a:solidFill>
            <a:srgbClr val="FFFFFF">
              <a:alpha val="2000"/>
            </a:srgbClr>
          </a:solidFill>
          <a:ln w="9525">
            <a:solidFill>
              <a:srgbClr val="2A2F3A"/>
            </a:solidFill>
            <a:prstDash val="solid"/>
          </a:ln>
        </p:spPr>
      </p:sp>
      <p:sp>
        <p:nvSpPr>
          <p:cNvPr id="12" name="Text 10"/>
          <p:cNvSpPr/>
          <p:nvPr/>
        </p:nvSpPr>
        <p:spPr>
          <a:xfrm>
            <a:off x="1038225" y="523160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“AVAILABILITY IS A TESTER'S CONCERN”</a:t>
            </a:r>
            <a:endParaRPr lang="en-US" sz="1500" dirty="0"/>
          </a:p>
        </p:txBody>
      </p:sp>
      <p:sp>
        <p:nvSpPr>
          <p:cNvPr id="13" name="Text 11"/>
          <p:cNvSpPr/>
          <p:nvPr/>
        </p:nvSpPr>
        <p:spPr>
          <a:xfrm>
            <a:off x="1038225" y="555069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Availability is normally excluded from scope. Disruptive techniques require explicit written agreement, and rarely receive it.</a:t>
            </a:r>
            <a:endParaRPr lang="en-US" sz="1875" dirty="0"/>
          </a:p>
        </p:txBody>
      </p:sp>
      <p:sp>
        <p:nvSpPr>
          <p:cNvPr id="14" name="Shape 12"/>
          <p:cNvSpPr/>
          <p:nvPr/>
        </p:nvSpPr>
        <p:spPr>
          <a:xfrm>
            <a:off x="9248775" y="4993481"/>
            <a:ext cx="8239125" cy="1462088"/>
          </a:xfrm>
          <a:prstGeom prst="roundRect">
            <a:avLst>
              <a:gd name="adj" fmla="val 10423"/>
            </a:avLst>
          </a:prstGeom>
          <a:solidFill>
            <a:srgbClr val="FFFFFF">
              <a:alpha val="2000"/>
            </a:srgbClr>
          </a:solidFill>
          <a:ln w="9525">
            <a:solidFill>
              <a:srgbClr val="2A2F3A"/>
            </a:solidFill>
            <a:prstDash val="solid"/>
          </a:ln>
        </p:spPr>
      </p:sp>
      <p:sp>
        <p:nvSpPr>
          <p:cNvPr id="15" name="Text 13"/>
          <p:cNvSpPr/>
          <p:nvPr/>
        </p:nvSpPr>
        <p:spPr>
          <a:xfrm>
            <a:off x="9486900" y="523160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“OBSCURITY IS WORTHLESS”</a:t>
            </a:r>
            <a:endParaRPr lang="en-US" sz="1500" dirty="0"/>
          </a:p>
        </p:txBody>
      </p:sp>
      <p:sp>
        <p:nvSpPr>
          <p:cNvPr id="16" name="Text 14"/>
          <p:cNvSpPr/>
          <p:nvPr/>
        </p:nvSpPr>
        <p:spPr>
          <a:xfrm>
            <a:off x="9486900" y="555069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Obscurity is worthless as the only control. As an additional layer above a control that holds, it legitimately raises attacker cost.</a:t>
            </a:r>
            <a:endParaRPr lang="en-US" sz="1875" dirty="0"/>
          </a:p>
        </p:txBody>
      </p:sp>
      <p:sp>
        <p:nvSpPr>
          <p:cNvPr id="17" name="Shape 15"/>
          <p:cNvSpPr/>
          <p:nvPr/>
        </p:nvSpPr>
        <p:spPr>
          <a:xfrm>
            <a:off x="800100" y="6665119"/>
            <a:ext cx="8239125" cy="1462088"/>
          </a:xfrm>
          <a:prstGeom prst="roundRect">
            <a:avLst>
              <a:gd name="adj" fmla="val 10423"/>
            </a:avLst>
          </a:prstGeom>
          <a:solidFill>
            <a:srgbClr val="FFFFFF">
              <a:alpha val="2000"/>
            </a:srgbClr>
          </a:solidFill>
          <a:ln w="9525">
            <a:solidFill>
              <a:srgbClr val="2A2F3A"/>
            </a:solidFill>
            <a:prstDash val="solid"/>
          </a:ln>
        </p:spPr>
      </p:sp>
      <p:sp>
        <p:nvSpPr>
          <p:cNvPr id="18" name="Text 16"/>
          <p:cNvSpPr/>
          <p:nvPr/>
        </p:nvSpPr>
        <p:spPr>
          <a:xfrm>
            <a:off x="1038225" y="6903244"/>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“STANDARDS AND FRAMEWORKS ARE THE SAME”</a:t>
            </a:r>
            <a:endParaRPr lang="en-US" sz="1500" dirty="0"/>
          </a:p>
        </p:txBody>
      </p:sp>
      <p:sp>
        <p:nvSpPr>
          <p:cNvPr id="19" name="Text 17"/>
          <p:cNvSpPr/>
          <p:nvPr/>
        </p:nvSpPr>
        <p:spPr>
          <a:xfrm>
            <a:off x="1038225" y="7222331"/>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Standards state auditable requirements and can be certified against. Frameworks organise activity and are adopted voluntarily.</a:t>
            </a:r>
            <a:endParaRPr lang="en-US" sz="1875" dirty="0"/>
          </a:p>
        </p:txBody>
      </p:sp>
      <p:sp>
        <p:nvSpPr>
          <p:cNvPr id="20" name="Shape 18"/>
          <p:cNvSpPr/>
          <p:nvPr/>
        </p:nvSpPr>
        <p:spPr>
          <a:xfrm>
            <a:off x="9248775" y="6665119"/>
            <a:ext cx="8239125" cy="1462088"/>
          </a:xfrm>
          <a:prstGeom prst="roundRect">
            <a:avLst>
              <a:gd name="adj" fmla="val 10423"/>
            </a:avLst>
          </a:prstGeom>
          <a:solidFill>
            <a:srgbClr val="FFFFFF">
              <a:alpha val="2000"/>
            </a:srgbClr>
          </a:solidFill>
          <a:ln w="9525">
            <a:solidFill>
              <a:srgbClr val="2A2F3A"/>
            </a:solidFill>
            <a:prstDash val="solid"/>
          </a:ln>
        </p:spPr>
      </p:sp>
      <p:sp>
        <p:nvSpPr>
          <p:cNvPr id="21" name="Text 19"/>
          <p:cNvSpPr/>
          <p:nvPr/>
        </p:nvSpPr>
        <p:spPr>
          <a:xfrm>
            <a:off x="9486900" y="6903244"/>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“THREATS CAN BE ELIMINATED”</a:t>
            </a:r>
            <a:endParaRPr lang="en-US" sz="1500" dirty="0"/>
          </a:p>
        </p:txBody>
      </p:sp>
      <p:sp>
        <p:nvSpPr>
          <p:cNvPr id="22" name="Text 20"/>
          <p:cNvSpPr/>
          <p:nvPr/>
        </p:nvSpPr>
        <p:spPr>
          <a:xfrm>
            <a:off x="9486900" y="7222331"/>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Threats exist independently of you. Defence works on vulnerabilities, impact and attacker cost instead.</a:t>
            </a:r>
            <a:endParaRPr lang="en-US" sz="1875"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7543156" y="3073078"/>
            <a:ext cx="3201613" cy="285750"/>
          </a:xfrm>
          <a:prstGeom prst="rect">
            <a:avLst/>
          </a:prstGeom>
          <a:noFill/>
          <a:ln/>
        </p:spPr>
        <p:txBody>
          <a:bodyPr wrap="square" lIns="25400" tIns="25400" rIns="25400" bIns="25400" rtlCol="0" anchor="t">
            <a:normAutofit/>
          </a:bodyPr>
          <a:lstStyle/>
          <a:p>
            <a:pPr algn="ctr" indent="0" marL="0">
              <a:buNone/>
            </a:pPr>
            <a:r>
              <a:rPr lang="en-US" sz="1650" b="1" spc="225" kern="0" dirty="0">
                <a:solidFill>
                  <a:srgbClr val="FF6A00"/>
                </a:solidFill>
                <a:latin typeface="Arial" pitchFamily="34" charset="0"/>
                <a:ea typeface="Arial" pitchFamily="34" charset="-122"/>
                <a:cs typeface="Arial" pitchFamily="34" charset="-120"/>
              </a:rPr>
              <a:t>MODULE 2 IN CONTEXT</a:t>
            </a:r>
            <a:endParaRPr lang="en-US" sz="1650" dirty="0"/>
          </a:p>
        </p:txBody>
      </p:sp>
      <p:sp>
        <p:nvSpPr>
          <p:cNvPr id="4" name="Text 2"/>
          <p:cNvSpPr/>
          <p:nvPr/>
        </p:nvSpPr>
        <p:spPr>
          <a:xfrm>
            <a:off x="8200456" y="3549328"/>
            <a:ext cx="1887014" cy="1562100"/>
          </a:xfrm>
          <a:prstGeom prst="rect">
            <a:avLst/>
          </a:prstGeom>
          <a:noFill/>
          <a:ln/>
        </p:spPr>
        <p:txBody>
          <a:bodyPr wrap="square" lIns="25400" tIns="25400" rIns="25400" bIns="25400" rtlCol="0" anchor="t">
            <a:normAutofit/>
          </a:bodyPr>
          <a:lstStyle/>
          <a:p>
            <a:pPr algn="ctr" indent="0" marL="0">
              <a:lnSpc>
                <a:spcPct val="86957"/>
              </a:lnSpc>
              <a:buNone/>
            </a:pPr>
            <a:r>
              <a:rPr lang="en-US" sz="12000" b="1" spc="-300" kern="0" dirty="0">
                <a:solidFill>
                  <a:srgbClr val="FF6A00"/>
                </a:solidFill>
                <a:latin typeface="Arial" pitchFamily="34" charset="0"/>
                <a:ea typeface="Arial" pitchFamily="34" charset="-122"/>
                <a:cs typeface="Arial" pitchFamily="34" charset="-120"/>
              </a:rPr>
              <a:t>19</a:t>
            </a:r>
            <a:endParaRPr lang="en-US" sz="12000" dirty="0"/>
          </a:p>
        </p:txBody>
      </p:sp>
      <p:sp>
        <p:nvSpPr>
          <p:cNvPr id="5" name="Text 3"/>
          <p:cNvSpPr/>
          <p:nvPr/>
        </p:nvSpPr>
        <p:spPr>
          <a:xfrm>
            <a:off x="3026695" y="5301928"/>
            <a:ext cx="12234609" cy="520005"/>
          </a:xfrm>
          <a:prstGeom prst="rect">
            <a:avLst/>
          </a:prstGeom>
          <a:noFill/>
          <a:ln/>
        </p:spPr>
        <p:txBody>
          <a:bodyPr wrap="square" lIns="25400" tIns="25400" rIns="25400" bIns="25400" rtlCol="0" anchor="t">
            <a:normAutofit/>
          </a:bodyPr>
          <a:lstStyle/>
          <a:p>
            <a:pPr algn="ctr" indent="0" marL="0">
              <a:lnSpc>
                <a:spcPct val="96381"/>
              </a:lnSpc>
              <a:buNone/>
            </a:pPr>
            <a:r>
              <a:rPr lang="en-US" sz="3450" b="1" dirty="0">
                <a:solidFill>
                  <a:srgbClr val="F5F7FB"/>
                </a:solidFill>
                <a:latin typeface="Arial" pitchFamily="34" charset="0"/>
                <a:ea typeface="Arial" pitchFamily="34" charset="-122"/>
                <a:cs typeface="Arial" pitchFamily="34" charset="-120"/>
              </a:rPr>
              <a:t>stated Learning Objectives across six Learning Units</a:t>
            </a:r>
            <a:endParaRPr lang="en-US" sz="3450" dirty="0"/>
          </a:p>
        </p:txBody>
      </p:sp>
      <p:sp>
        <p:nvSpPr>
          <p:cNvPr id="6" name="Text 4"/>
          <p:cNvSpPr/>
          <p:nvPr/>
        </p:nvSpPr>
        <p:spPr>
          <a:xfrm>
            <a:off x="3257550" y="6012433"/>
            <a:ext cx="11772900" cy="1239589"/>
          </a:xfrm>
          <a:prstGeom prst="rect">
            <a:avLst/>
          </a:prstGeom>
          <a:noFill/>
          <a:ln/>
        </p:spPr>
        <p:txBody>
          <a:bodyPr wrap="square" lIns="25400" tIns="25400" rIns="25400" bIns="25400" rtlCol="0" anchor="t">
            <a:normAutofit/>
          </a:bodyPr>
          <a:lstStyle/>
          <a:p>
            <a:pPr algn="ctr" indent="0" marL="0">
              <a:lnSpc>
                <a:spcPct val="125522"/>
              </a:lnSpc>
              <a:buNone/>
            </a:pPr>
            <a:r>
              <a:rPr lang="en-US" sz="2175" dirty="0">
                <a:solidFill>
                  <a:srgbClr val="B8C0CF"/>
                </a:solidFill>
                <a:latin typeface="Arial" pitchFamily="34" charset="0"/>
                <a:ea typeface="Arial" pitchFamily="34" charset="-122"/>
                <a:cs typeface="Arial" pitchFamily="34" charset="-120"/>
              </a:rPr>
              <a:t>The widest module in the opening block, and the one supplying the vocabulary the remaining 22 modules assume. Percentage weightings per module: information not defined in the official exam outline.</a:t>
            </a:r>
            <a:endParaRPr lang="en-US" sz="2175"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2486025"/>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KNOWLEDGE CHECK</a:t>
            </a:r>
            <a:endParaRPr lang="en-US" sz="1650" dirty="0"/>
          </a:p>
        </p:txBody>
      </p:sp>
      <p:sp>
        <p:nvSpPr>
          <p:cNvPr id="4" name="Text 2"/>
          <p:cNvSpPr/>
          <p:nvPr/>
        </p:nvSpPr>
        <p:spPr>
          <a:xfrm>
            <a:off x="800100" y="2981325"/>
            <a:ext cx="17188434" cy="8763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An unquoted service path exists on a host holding payroll data. Which term describes the unquoted service path itself?</a:t>
            </a:r>
            <a:endParaRPr lang="en-US" sz="3000" dirty="0"/>
          </a:p>
        </p:txBody>
      </p:sp>
      <p:sp>
        <p:nvSpPr>
          <p:cNvPr id="5" name="Shape 3"/>
          <p:cNvSpPr/>
          <p:nvPr/>
        </p:nvSpPr>
        <p:spPr>
          <a:xfrm>
            <a:off x="800100" y="4143375"/>
            <a:ext cx="16687800" cy="800100"/>
          </a:xfrm>
          <a:prstGeom prst="roundRect">
            <a:avLst>
              <a:gd name="adj" fmla="val 16667"/>
            </a:avLst>
          </a:prstGeom>
          <a:solidFill>
            <a:srgbClr val="FFFFFF">
              <a:alpha val="2000"/>
            </a:srgbClr>
          </a:solidFill>
          <a:ln w="9525">
            <a:solidFill>
              <a:srgbClr val="2A2F3A"/>
            </a:solidFill>
            <a:prstDash val="solid"/>
          </a:ln>
        </p:spPr>
      </p:sp>
      <p:sp>
        <p:nvSpPr>
          <p:cNvPr id="6" name="Shape 4"/>
          <p:cNvSpPr/>
          <p:nvPr/>
        </p:nvSpPr>
        <p:spPr>
          <a:xfrm>
            <a:off x="1038225" y="4324350"/>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7" name="Text 5"/>
          <p:cNvSpPr/>
          <p:nvPr/>
        </p:nvSpPr>
        <p:spPr>
          <a:xfrm>
            <a:off x="1009650" y="4333875"/>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A</a:t>
            </a:r>
            <a:endParaRPr lang="en-US" sz="1650" dirty="0"/>
          </a:p>
        </p:txBody>
      </p:sp>
      <p:sp>
        <p:nvSpPr>
          <p:cNvPr id="8" name="Text 6"/>
          <p:cNvSpPr/>
          <p:nvPr/>
        </p:nvSpPr>
        <p:spPr>
          <a:xfrm>
            <a:off x="1952625" y="4398169"/>
            <a:ext cx="667271"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A risk</a:t>
            </a:r>
            <a:endParaRPr lang="en-US" sz="1950" dirty="0"/>
          </a:p>
        </p:txBody>
      </p:sp>
      <p:sp>
        <p:nvSpPr>
          <p:cNvPr id="9" name="Shape 7"/>
          <p:cNvSpPr/>
          <p:nvPr/>
        </p:nvSpPr>
        <p:spPr>
          <a:xfrm>
            <a:off x="800100" y="5095875"/>
            <a:ext cx="16687800" cy="800100"/>
          </a:xfrm>
          <a:prstGeom prst="roundRect">
            <a:avLst>
              <a:gd name="adj" fmla="val 16667"/>
            </a:avLst>
          </a:prstGeom>
          <a:solidFill>
            <a:srgbClr val="FFFFFF">
              <a:alpha val="2000"/>
            </a:srgbClr>
          </a:solidFill>
          <a:ln w="9525">
            <a:solidFill>
              <a:srgbClr val="2A2F3A"/>
            </a:solidFill>
            <a:prstDash val="solid"/>
          </a:ln>
        </p:spPr>
      </p:sp>
      <p:sp>
        <p:nvSpPr>
          <p:cNvPr id="10" name="Shape 8"/>
          <p:cNvSpPr/>
          <p:nvPr/>
        </p:nvSpPr>
        <p:spPr>
          <a:xfrm>
            <a:off x="1038225" y="5276850"/>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11" name="Text 9"/>
          <p:cNvSpPr/>
          <p:nvPr/>
        </p:nvSpPr>
        <p:spPr>
          <a:xfrm>
            <a:off x="1009650" y="5286375"/>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B</a:t>
            </a:r>
            <a:endParaRPr lang="en-US" sz="1650" dirty="0"/>
          </a:p>
        </p:txBody>
      </p:sp>
      <p:sp>
        <p:nvSpPr>
          <p:cNvPr id="12" name="Text 10"/>
          <p:cNvSpPr/>
          <p:nvPr/>
        </p:nvSpPr>
        <p:spPr>
          <a:xfrm>
            <a:off x="1952625" y="5350669"/>
            <a:ext cx="915814"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A threat</a:t>
            </a:r>
            <a:endParaRPr lang="en-US" sz="1950" dirty="0"/>
          </a:p>
        </p:txBody>
      </p:sp>
      <p:sp>
        <p:nvSpPr>
          <p:cNvPr id="13" name="Shape 11"/>
          <p:cNvSpPr/>
          <p:nvPr/>
        </p:nvSpPr>
        <p:spPr>
          <a:xfrm>
            <a:off x="800100" y="6048375"/>
            <a:ext cx="16687800" cy="800100"/>
          </a:xfrm>
          <a:prstGeom prst="roundRect">
            <a:avLst>
              <a:gd name="adj" fmla="val 16667"/>
            </a:avLst>
          </a:prstGeom>
          <a:solidFill>
            <a:srgbClr val="FF6A00">
              <a:alpha val="10000"/>
            </a:srgbClr>
          </a:solidFill>
          <a:ln w="9525">
            <a:solidFill>
              <a:srgbClr val="B85100"/>
            </a:solidFill>
            <a:prstDash val="solid"/>
          </a:ln>
        </p:spPr>
      </p:sp>
      <p:sp>
        <p:nvSpPr>
          <p:cNvPr id="14" name="Shape 12"/>
          <p:cNvSpPr/>
          <p:nvPr/>
        </p:nvSpPr>
        <p:spPr>
          <a:xfrm>
            <a:off x="1038225" y="6229350"/>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15" name="Text 13"/>
          <p:cNvSpPr/>
          <p:nvPr/>
        </p:nvSpPr>
        <p:spPr>
          <a:xfrm>
            <a:off x="1009650" y="6238875"/>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C</a:t>
            </a:r>
            <a:endParaRPr lang="en-US" sz="1650" dirty="0"/>
          </a:p>
        </p:txBody>
      </p:sp>
      <p:sp>
        <p:nvSpPr>
          <p:cNvPr id="16" name="Text 14"/>
          <p:cNvSpPr/>
          <p:nvPr/>
        </p:nvSpPr>
        <p:spPr>
          <a:xfrm>
            <a:off x="1952625" y="6303169"/>
            <a:ext cx="1648897"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A vulnerability</a:t>
            </a:r>
            <a:endParaRPr lang="en-US" sz="1950" dirty="0"/>
          </a:p>
        </p:txBody>
      </p:sp>
      <p:sp>
        <p:nvSpPr>
          <p:cNvPr id="17" name="Shape 15"/>
          <p:cNvSpPr/>
          <p:nvPr/>
        </p:nvSpPr>
        <p:spPr>
          <a:xfrm>
            <a:off x="800100" y="7000875"/>
            <a:ext cx="16687800" cy="800100"/>
          </a:xfrm>
          <a:prstGeom prst="roundRect">
            <a:avLst>
              <a:gd name="adj" fmla="val 16667"/>
            </a:avLst>
          </a:prstGeom>
          <a:solidFill>
            <a:srgbClr val="FFFFFF">
              <a:alpha val="2000"/>
            </a:srgbClr>
          </a:solidFill>
          <a:ln w="9525">
            <a:solidFill>
              <a:srgbClr val="2A2F3A"/>
            </a:solidFill>
            <a:prstDash val="solid"/>
          </a:ln>
        </p:spPr>
      </p:sp>
      <p:sp>
        <p:nvSpPr>
          <p:cNvPr id="18" name="Shape 16"/>
          <p:cNvSpPr/>
          <p:nvPr/>
        </p:nvSpPr>
        <p:spPr>
          <a:xfrm>
            <a:off x="1038225" y="7181850"/>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19" name="Text 17"/>
          <p:cNvSpPr/>
          <p:nvPr/>
        </p:nvSpPr>
        <p:spPr>
          <a:xfrm>
            <a:off x="1009650" y="7191375"/>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D</a:t>
            </a:r>
            <a:endParaRPr lang="en-US" sz="1650" dirty="0"/>
          </a:p>
        </p:txBody>
      </p:sp>
      <p:sp>
        <p:nvSpPr>
          <p:cNvPr id="20" name="Text 18"/>
          <p:cNvSpPr/>
          <p:nvPr/>
        </p:nvSpPr>
        <p:spPr>
          <a:xfrm>
            <a:off x="1952625" y="7255669"/>
            <a:ext cx="1131763"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An exploit</a:t>
            </a:r>
            <a:endParaRPr lang="en-US" sz="19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1852612"/>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MODULE SUMMARY</a:t>
            </a:r>
            <a:endParaRPr lang="en-US" sz="1650" dirty="0"/>
          </a:p>
        </p:txBody>
      </p:sp>
      <p:sp>
        <p:nvSpPr>
          <p:cNvPr id="4" name="Text 2"/>
          <p:cNvSpPr/>
          <p:nvPr/>
        </p:nvSpPr>
        <p:spPr>
          <a:xfrm>
            <a:off x="800100" y="2347913"/>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Module 2 in six lines</a:t>
            </a:r>
            <a:endParaRPr lang="en-US" sz="3000" dirty="0"/>
          </a:p>
        </p:txBody>
      </p:sp>
      <p:sp>
        <p:nvSpPr>
          <p:cNvPr id="5" name="Shape 3"/>
          <p:cNvSpPr/>
          <p:nvPr/>
        </p:nvSpPr>
        <p:spPr>
          <a:xfrm>
            <a:off x="800100" y="3014663"/>
            <a:ext cx="16687800" cy="800100"/>
          </a:xfrm>
          <a:prstGeom prst="roundRect">
            <a:avLst>
              <a:gd name="adj" fmla="val 16667"/>
            </a:avLst>
          </a:prstGeom>
          <a:solidFill>
            <a:srgbClr val="FFFFFF">
              <a:alpha val="2000"/>
            </a:srgbClr>
          </a:solidFill>
          <a:ln w="9525">
            <a:solidFill>
              <a:srgbClr val="2A2F3A"/>
            </a:solidFill>
            <a:prstDash val="solid"/>
          </a:ln>
        </p:spPr>
      </p:sp>
      <p:sp>
        <p:nvSpPr>
          <p:cNvPr id="6" name="Shape 4"/>
          <p:cNvSpPr/>
          <p:nvPr/>
        </p:nvSpPr>
        <p:spPr>
          <a:xfrm>
            <a:off x="1038225" y="3195638"/>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7" name="Text 5"/>
          <p:cNvSpPr/>
          <p:nvPr/>
        </p:nvSpPr>
        <p:spPr>
          <a:xfrm>
            <a:off x="1009650" y="3205162"/>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2.1</a:t>
            </a:r>
            <a:endParaRPr lang="en-US" sz="1650" dirty="0"/>
          </a:p>
        </p:txBody>
      </p:sp>
      <p:sp>
        <p:nvSpPr>
          <p:cNvPr id="8" name="Text 6"/>
          <p:cNvSpPr/>
          <p:nvPr/>
        </p:nvSpPr>
        <p:spPr>
          <a:xfrm>
            <a:off x="1952625" y="3269456"/>
            <a:ext cx="9102001"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Security is adversarial and asymmetric; offence and defence reflect each other</a:t>
            </a:r>
            <a:endParaRPr lang="en-US" sz="1950" dirty="0"/>
          </a:p>
        </p:txBody>
      </p:sp>
      <p:sp>
        <p:nvSpPr>
          <p:cNvPr id="9" name="Shape 7"/>
          <p:cNvSpPr/>
          <p:nvPr/>
        </p:nvSpPr>
        <p:spPr>
          <a:xfrm>
            <a:off x="800100" y="3938588"/>
            <a:ext cx="16687800" cy="800100"/>
          </a:xfrm>
          <a:prstGeom prst="roundRect">
            <a:avLst>
              <a:gd name="adj" fmla="val 16667"/>
            </a:avLst>
          </a:prstGeom>
          <a:solidFill>
            <a:srgbClr val="FFFFFF">
              <a:alpha val="2000"/>
            </a:srgbClr>
          </a:solidFill>
          <a:ln w="9525">
            <a:solidFill>
              <a:srgbClr val="2A2F3A"/>
            </a:solidFill>
            <a:prstDash val="solid"/>
          </a:ln>
        </p:spPr>
      </p:sp>
      <p:sp>
        <p:nvSpPr>
          <p:cNvPr id="10" name="Shape 8"/>
          <p:cNvSpPr/>
          <p:nvPr/>
        </p:nvSpPr>
        <p:spPr>
          <a:xfrm>
            <a:off x="1038225" y="4119562"/>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11" name="Text 9"/>
          <p:cNvSpPr/>
          <p:nvPr/>
        </p:nvSpPr>
        <p:spPr>
          <a:xfrm>
            <a:off x="1009650" y="4129088"/>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2.2</a:t>
            </a:r>
            <a:endParaRPr lang="en-US" sz="1650" dirty="0"/>
          </a:p>
        </p:txBody>
      </p:sp>
      <p:sp>
        <p:nvSpPr>
          <p:cNvPr id="12" name="Text 10"/>
          <p:cNvSpPr/>
          <p:nvPr/>
        </p:nvSpPr>
        <p:spPr>
          <a:xfrm>
            <a:off x="1952625" y="4193381"/>
            <a:ext cx="13694338"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Threat, vulnerability, exploit and risk are four distinct terms; actor classes differ by capability, resourcing and motivation</a:t>
            </a:r>
            <a:endParaRPr lang="en-US" sz="1950" dirty="0"/>
          </a:p>
        </p:txBody>
      </p:sp>
      <p:sp>
        <p:nvSpPr>
          <p:cNvPr id="13" name="Shape 11"/>
          <p:cNvSpPr/>
          <p:nvPr/>
        </p:nvSpPr>
        <p:spPr>
          <a:xfrm>
            <a:off x="800100" y="4862513"/>
            <a:ext cx="16687800" cy="800100"/>
          </a:xfrm>
          <a:prstGeom prst="roundRect">
            <a:avLst>
              <a:gd name="adj" fmla="val 16667"/>
            </a:avLst>
          </a:prstGeom>
          <a:solidFill>
            <a:srgbClr val="FFFFFF">
              <a:alpha val="2000"/>
            </a:srgbClr>
          </a:solidFill>
          <a:ln w="9525">
            <a:solidFill>
              <a:srgbClr val="2A2F3A"/>
            </a:solidFill>
            <a:prstDash val="solid"/>
          </a:ln>
        </p:spPr>
      </p:sp>
      <p:sp>
        <p:nvSpPr>
          <p:cNvPr id="14" name="Shape 12"/>
          <p:cNvSpPr/>
          <p:nvPr/>
        </p:nvSpPr>
        <p:spPr>
          <a:xfrm>
            <a:off x="1038225" y="5043488"/>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15" name="Text 13"/>
          <p:cNvSpPr/>
          <p:nvPr/>
        </p:nvSpPr>
        <p:spPr>
          <a:xfrm>
            <a:off x="1009650" y="5053013"/>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2.3</a:t>
            </a:r>
            <a:endParaRPr lang="en-US" sz="1650" dirty="0"/>
          </a:p>
        </p:txBody>
      </p:sp>
      <p:sp>
        <p:nvSpPr>
          <p:cNvPr id="16" name="Text 14"/>
          <p:cNvSpPr/>
          <p:nvPr/>
        </p:nvSpPr>
        <p:spPr>
          <a:xfrm>
            <a:off x="1952625" y="5117306"/>
            <a:ext cx="11025031"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Confidentiality, integrity and availability are competing properties, and the vocabulary of impact</a:t>
            </a:r>
            <a:endParaRPr lang="en-US" sz="1950" dirty="0"/>
          </a:p>
        </p:txBody>
      </p:sp>
      <p:sp>
        <p:nvSpPr>
          <p:cNvPr id="17" name="Shape 15"/>
          <p:cNvSpPr/>
          <p:nvPr/>
        </p:nvSpPr>
        <p:spPr>
          <a:xfrm>
            <a:off x="800100" y="5786438"/>
            <a:ext cx="16687800" cy="800100"/>
          </a:xfrm>
          <a:prstGeom prst="roundRect">
            <a:avLst>
              <a:gd name="adj" fmla="val 16667"/>
            </a:avLst>
          </a:prstGeom>
          <a:solidFill>
            <a:srgbClr val="FFFFFF">
              <a:alpha val="2000"/>
            </a:srgbClr>
          </a:solidFill>
          <a:ln w="9525">
            <a:solidFill>
              <a:srgbClr val="2A2F3A"/>
            </a:solidFill>
            <a:prstDash val="solid"/>
          </a:ln>
        </p:spPr>
      </p:sp>
      <p:sp>
        <p:nvSpPr>
          <p:cNvPr id="18" name="Shape 16"/>
          <p:cNvSpPr/>
          <p:nvPr/>
        </p:nvSpPr>
        <p:spPr>
          <a:xfrm>
            <a:off x="1038225" y="5967413"/>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19" name="Text 17"/>
          <p:cNvSpPr/>
          <p:nvPr/>
        </p:nvSpPr>
        <p:spPr>
          <a:xfrm>
            <a:off x="1009650" y="5976938"/>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2.4</a:t>
            </a:r>
            <a:endParaRPr lang="en-US" sz="1650" dirty="0"/>
          </a:p>
        </p:txBody>
      </p:sp>
      <p:sp>
        <p:nvSpPr>
          <p:cNvPr id="20" name="Text 18"/>
          <p:cNvSpPr/>
          <p:nvPr/>
        </p:nvSpPr>
        <p:spPr>
          <a:xfrm>
            <a:off x="1952625" y="6041231"/>
            <a:ext cx="11359738"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Layer defences, restrict privilege, never rely on secrecy; controls classify by function and by nature</a:t>
            </a:r>
            <a:endParaRPr lang="en-US" sz="1950" dirty="0"/>
          </a:p>
        </p:txBody>
      </p:sp>
      <p:sp>
        <p:nvSpPr>
          <p:cNvPr id="21" name="Shape 19"/>
          <p:cNvSpPr/>
          <p:nvPr/>
        </p:nvSpPr>
        <p:spPr>
          <a:xfrm>
            <a:off x="800100" y="6710363"/>
            <a:ext cx="16687800" cy="800100"/>
          </a:xfrm>
          <a:prstGeom prst="roundRect">
            <a:avLst>
              <a:gd name="adj" fmla="val 16667"/>
            </a:avLst>
          </a:prstGeom>
          <a:solidFill>
            <a:srgbClr val="FFFFFF">
              <a:alpha val="2000"/>
            </a:srgbClr>
          </a:solidFill>
          <a:ln w="9525">
            <a:solidFill>
              <a:srgbClr val="2A2F3A"/>
            </a:solidFill>
            <a:prstDash val="solid"/>
          </a:ln>
        </p:spPr>
      </p:sp>
      <p:sp>
        <p:nvSpPr>
          <p:cNvPr id="22" name="Shape 20"/>
          <p:cNvSpPr/>
          <p:nvPr/>
        </p:nvSpPr>
        <p:spPr>
          <a:xfrm>
            <a:off x="1038225" y="6891338"/>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23" name="Text 21"/>
          <p:cNvSpPr/>
          <p:nvPr/>
        </p:nvSpPr>
        <p:spPr>
          <a:xfrm>
            <a:off x="1009650" y="6900863"/>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2.5</a:t>
            </a:r>
            <a:endParaRPr lang="en-US" sz="1650" dirty="0"/>
          </a:p>
        </p:txBody>
      </p:sp>
      <p:sp>
        <p:nvSpPr>
          <p:cNvPr id="24" name="Text 22"/>
          <p:cNvSpPr/>
          <p:nvPr/>
        </p:nvSpPr>
        <p:spPr>
          <a:xfrm>
            <a:off x="1952625" y="6965156"/>
            <a:ext cx="9809723"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Authorisation makes this lawful; laws compel, standards certify, frameworks organise</a:t>
            </a:r>
            <a:endParaRPr lang="en-US" sz="1950" dirty="0"/>
          </a:p>
        </p:txBody>
      </p:sp>
      <p:sp>
        <p:nvSpPr>
          <p:cNvPr id="25" name="Shape 23"/>
          <p:cNvSpPr/>
          <p:nvPr/>
        </p:nvSpPr>
        <p:spPr>
          <a:xfrm>
            <a:off x="800100" y="7634288"/>
            <a:ext cx="16687800" cy="800100"/>
          </a:xfrm>
          <a:prstGeom prst="roundRect">
            <a:avLst>
              <a:gd name="adj" fmla="val 16667"/>
            </a:avLst>
          </a:prstGeom>
          <a:solidFill>
            <a:srgbClr val="FFFFFF">
              <a:alpha val="2000"/>
            </a:srgbClr>
          </a:solidFill>
          <a:ln w="9525">
            <a:solidFill>
              <a:srgbClr val="2A2F3A"/>
            </a:solidFill>
            <a:prstDash val="solid"/>
          </a:ln>
        </p:spPr>
      </p:sp>
      <p:sp>
        <p:nvSpPr>
          <p:cNvPr id="26" name="Shape 24"/>
          <p:cNvSpPr/>
          <p:nvPr/>
        </p:nvSpPr>
        <p:spPr>
          <a:xfrm>
            <a:off x="1038225" y="7815263"/>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27" name="Text 25"/>
          <p:cNvSpPr/>
          <p:nvPr/>
        </p:nvSpPr>
        <p:spPr>
          <a:xfrm>
            <a:off x="1009650" y="7824787"/>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2.6</a:t>
            </a:r>
            <a:endParaRPr lang="en-US" sz="1650" dirty="0"/>
          </a:p>
        </p:txBody>
      </p:sp>
      <p:sp>
        <p:nvSpPr>
          <p:cNvPr id="28" name="Text 26"/>
          <p:cNvSpPr/>
          <p:nvPr/>
        </p:nvSpPr>
        <p:spPr>
          <a:xfrm>
            <a:off x="1952625" y="7889081"/>
            <a:ext cx="9541401"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Offensive, defensive and advisory paths all draw on the same underlying discipline</a:t>
            </a:r>
            <a:endParaRPr lang="en-US" sz="19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609600"/>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NEXT STEPS</a:t>
            </a:r>
            <a:endParaRPr lang="en-US" sz="1650" dirty="0"/>
          </a:p>
        </p:txBody>
      </p:sp>
      <p:sp>
        <p:nvSpPr>
          <p:cNvPr id="4" name="Text 2"/>
          <p:cNvSpPr/>
          <p:nvPr/>
        </p:nvSpPr>
        <p:spPr>
          <a:xfrm>
            <a:off x="800100" y="1143000"/>
            <a:ext cx="18356580" cy="738188"/>
          </a:xfrm>
          <a:prstGeom prst="rect">
            <a:avLst/>
          </a:prstGeom>
          <a:noFill/>
          <a:ln/>
        </p:spPr>
        <p:txBody>
          <a:bodyPr wrap="square" lIns="25400" tIns="25400" rIns="25400" bIns="25400" rtlCol="0" anchor="t">
            <a:normAutofit/>
          </a:bodyPr>
          <a:lstStyle/>
          <a:p>
            <a:pPr algn="l" indent="0" marL="0">
              <a:lnSpc>
                <a:spcPct val="90741"/>
              </a:lnSpc>
              <a:buNone/>
            </a:pPr>
            <a:r>
              <a:rPr lang="en-US" sz="5250" b="1" spc="-37" kern="0" dirty="0">
                <a:solidFill>
                  <a:srgbClr val="F5F7FB"/>
                </a:solidFill>
                <a:latin typeface="Arial" pitchFamily="34" charset="0"/>
                <a:ea typeface="Arial" pitchFamily="34" charset="-122"/>
                <a:cs typeface="Arial" pitchFamily="34" charset="-120"/>
              </a:rPr>
              <a:t>Module 3: Effective Learning Strategies</a:t>
            </a:r>
            <a:endParaRPr lang="en-US" sz="5250" dirty="0"/>
          </a:p>
        </p:txBody>
      </p:sp>
      <p:sp>
        <p:nvSpPr>
          <p:cNvPr id="5" name="Shape 3"/>
          <p:cNvSpPr/>
          <p:nvPr/>
        </p:nvSpPr>
        <p:spPr>
          <a:xfrm>
            <a:off x="800100" y="2128838"/>
            <a:ext cx="5435575" cy="2462213"/>
          </a:xfrm>
          <a:prstGeom prst="roundRect">
            <a:avLst>
              <a:gd name="adj" fmla="val 6190"/>
            </a:avLst>
          </a:prstGeom>
          <a:solidFill>
            <a:srgbClr val="FFFFFF">
              <a:alpha val="2000"/>
            </a:srgbClr>
          </a:solidFill>
          <a:ln w="9525">
            <a:solidFill>
              <a:srgbClr val="2A2F3A"/>
            </a:solidFill>
            <a:prstDash val="solid"/>
          </a:ln>
        </p:spPr>
      </p:sp>
      <p:sp>
        <p:nvSpPr>
          <p:cNvPr id="6" name="Text 4"/>
          <p:cNvSpPr/>
          <p:nvPr/>
        </p:nvSpPr>
        <p:spPr>
          <a:xfrm>
            <a:off x="1038225" y="2366963"/>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COMING NEXT</a:t>
            </a:r>
            <a:endParaRPr lang="en-US" sz="1500" dirty="0"/>
          </a:p>
        </p:txBody>
      </p:sp>
      <p:sp>
        <p:nvSpPr>
          <p:cNvPr id="7" name="Text 5"/>
          <p:cNvSpPr/>
          <p:nvPr/>
        </p:nvSpPr>
        <p:spPr>
          <a:xfrm>
            <a:off x="1038225" y="2686050"/>
            <a:ext cx="5108105" cy="170497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Learning theory and memory mechanisms, the unique challenges of technical skill acquisition, OffSec's Demonstrative Methodology, and named tactics from retrieval practice to the Leitner System.</a:t>
            </a:r>
            <a:endParaRPr lang="en-US" sz="1875" dirty="0"/>
          </a:p>
        </p:txBody>
      </p:sp>
      <p:sp>
        <p:nvSpPr>
          <p:cNvPr id="8" name="Shape 6"/>
          <p:cNvSpPr/>
          <p:nvPr/>
        </p:nvSpPr>
        <p:spPr>
          <a:xfrm>
            <a:off x="6426175" y="2128838"/>
            <a:ext cx="5435575" cy="2462213"/>
          </a:xfrm>
          <a:prstGeom prst="roundRect">
            <a:avLst>
              <a:gd name="adj" fmla="val 6190"/>
            </a:avLst>
          </a:prstGeom>
          <a:solidFill>
            <a:srgbClr val="FFFFFF">
              <a:alpha val="2000"/>
            </a:srgbClr>
          </a:solidFill>
          <a:ln w="9525">
            <a:solidFill>
              <a:srgbClr val="2A2F3A"/>
            </a:solidFill>
            <a:prstDash val="solid"/>
          </a:ln>
        </p:spPr>
      </p:sp>
      <p:sp>
        <p:nvSpPr>
          <p:cNvPr id="9" name="Text 7"/>
          <p:cNvSpPr/>
          <p:nvPr/>
        </p:nvSpPr>
        <p:spPr>
          <a:xfrm>
            <a:off x="6664300" y="2366963"/>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BEFORE THEN</a:t>
            </a:r>
            <a:endParaRPr lang="en-US" sz="1500" dirty="0"/>
          </a:p>
        </p:txBody>
      </p:sp>
      <p:sp>
        <p:nvSpPr>
          <p:cNvPr id="10" name="Text 8"/>
          <p:cNvSpPr/>
          <p:nvPr/>
        </p:nvSpPr>
        <p:spPr>
          <a:xfrm>
            <a:off x="6664300" y="2686050"/>
            <a:ext cx="5108105"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Be able to state the four terms and the three legs of the triad without notes. Everything from Module 5 onwards is phrased in them.</a:t>
            </a:r>
            <a:endParaRPr lang="en-US" sz="1875" dirty="0"/>
          </a:p>
        </p:txBody>
      </p:sp>
      <p:sp>
        <p:nvSpPr>
          <p:cNvPr id="11" name="Shape 9"/>
          <p:cNvSpPr/>
          <p:nvPr/>
        </p:nvSpPr>
        <p:spPr>
          <a:xfrm>
            <a:off x="12052250" y="2128838"/>
            <a:ext cx="5435650" cy="2462213"/>
          </a:xfrm>
          <a:prstGeom prst="roundRect">
            <a:avLst>
              <a:gd name="adj" fmla="val 6190"/>
            </a:avLst>
          </a:prstGeom>
          <a:solidFill>
            <a:srgbClr val="FFFFFF">
              <a:alpha val="2000"/>
            </a:srgbClr>
          </a:solidFill>
          <a:ln w="9525">
            <a:solidFill>
              <a:srgbClr val="2A2F3A"/>
            </a:solidFill>
            <a:prstDash val="solid"/>
          </a:ln>
        </p:spPr>
      </p:sp>
      <p:sp>
        <p:nvSpPr>
          <p:cNvPr id="12" name="Text 10"/>
          <p:cNvSpPr/>
          <p:nvPr/>
        </p:nvSpPr>
        <p:spPr>
          <a:xfrm>
            <a:off x="12290375" y="2366963"/>
            <a:ext cx="5455340"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CARRY FORWARD</a:t>
            </a:r>
            <a:endParaRPr lang="en-US" sz="1500" dirty="0"/>
          </a:p>
        </p:txBody>
      </p:sp>
      <p:sp>
        <p:nvSpPr>
          <p:cNvPr id="13" name="Text 11"/>
          <p:cNvSpPr/>
          <p:nvPr/>
        </p:nvSpPr>
        <p:spPr>
          <a:xfrm>
            <a:off x="12290375" y="2686050"/>
            <a:ext cx="5108182"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The actor-model question from Practical skill 3. You will use it on every engagement you scope.</a:t>
            </a:r>
            <a:endParaRPr lang="en-US" sz="1875" dirty="0"/>
          </a:p>
        </p:txBody>
      </p:sp>
      <p:sp>
        <p:nvSpPr>
          <p:cNvPr id="14" name="Shape 12"/>
          <p:cNvSpPr/>
          <p:nvPr/>
        </p:nvSpPr>
        <p:spPr>
          <a:xfrm>
            <a:off x="800100" y="9210675"/>
            <a:ext cx="16687800" cy="9525"/>
          </a:xfrm>
          <a:prstGeom prst="rect">
            <a:avLst/>
          </a:prstGeom>
          <a:solidFill>
            <a:srgbClr val="2A2F3A"/>
          </a:solidFill>
          <a:ln/>
        </p:spPr>
      </p:sp>
      <p:sp>
        <p:nvSpPr>
          <p:cNvPr id="15" name="Text 13"/>
          <p:cNvSpPr/>
          <p:nvPr/>
        </p:nvSpPr>
        <p:spPr>
          <a:xfrm>
            <a:off x="800100" y="9432131"/>
            <a:ext cx="1796482" cy="261937"/>
          </a:xfrm>
          <a:prstGeom prst="rect">
            <a:avLst/>
          </a:prstGeom>
          <a:noFill/>
          <a:ln/>
        </p:spPr>
        <p:txBody>
          <a:bodyPr wrap="square" lIns="25400" tIns="25400" rIns="25400" bIns="25400" rtlCol="0" anchor="t">
            <a:normAutofit/>
          </a:bodyPr>
          <a:lstStyle/>
          <a:p>
            <a:pPr algn="l" indent="0" marL="0">
              <a:buNone/>
            </a:pPr>
            <a:r>
              <a:rPr lang="en-US" sz="1500" dirty="0">
                <a:solidFill>
                  <a:srgbClr val="8891A1"/>
                </a:solidFill>
                <a:latin typeface="Arial" pitchFamily="34" charset="0"/>
                <a:ea typeface="Arial" pitchFamily="34" charset="-122"/>
                <a:cs typeface="Arial" pitchFamily="34" charset="-120"/>
              </a:rPr>
              <a:t>My Cyber Academy</a:t>
            </a:r>
            <a:endParaRPr lang="en-US" sz="1500" dirty="0"/>
          </a:p>
        </p:txBody>
      </p:sp>
      <p:sp>
        <p:nvSpPr>
          <p:cNvPr id="16" name="Text 14"/>
          <p:cNvSpPr/>
          <p:nvPr/>
        </p:nvSpPr>
        <p:spPr>
          <a:xfrm>
            <a:off x="16763181" y="9410700"/>
            <a:ext cx="800919" cy="304800"/>
          </a:xfrm>
          <a:prstGeom prst="rect">
            <a:avLst/>
          </a:prstGeom>
          <a:noFill/>
          <a:ln/>
        </p:spPr>
        <p:txBody>
          <a:bodyPr wrap="square" lIns="25400" tIns="25400" rIns="25400" bIns="25400" rtlCol="0" anchor="t">
            <a:normAutofit/>
          </a:bodyPr>
          <a:lstStyle/>
          <a:p>
            <a:pPr algn="l" indent="0" marL="0">
              <a:buNone/>
            </a:pPr>
            <a:r>
              <a:rPr lang="en-US" sz="1800" b="1" spc="150" kern="0" dirty="0">
                <a:solidFill>
                  <a:srgbClr val="FF6A00"/>
                </a:solidFill>
                <a:latin typeface="Arial" pitchFamily="34" charset="0"/>
                <a:ea typeface="Arial" pitchFamily="34" charset="-122"/>
                <a:cs typeface="Arial" pitchFamily="34" charset="-120"/>
              </a:rPr>
              <a:t>OS</a:t>
            </a:r>
            <a:pPr algn="l" indent="0" marL="0">
              <a:buNone/>
            </a:pPr>
            <a:r>
              <a:rPr lang="en-US" sz="1800" b="1" spc="150" kern="0" dirty="0">
                <a:solidFill>
                  <a:srgbClr val="8891A1"/>
                </a:solidFill>
                <a:latin typeface="Arial" pitchFamily="34" charset="0"/>
                <a:ea typeface="Arial" pitchFamily="34" charset="-122"/>
                <a:cs typeface="Arial" pitchFamily="34" charset="-120"/>
              </a:rPr>
              <a:t>CP</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59</Slides>
  <Notes>59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59</vt:i4>
      </vt:variant>
    </vt:vector>
  </HeadingPairs>
  <TitlesOfParts>
    <vt:vector size="6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2026-08-01T00:16:43Z</dcterms:created>
  <dcterms:modified xsi:type="dcterms:W3CDTF">2026-08-01T00:16:43Z</dcterms:modified>
</cp:coreProperties>
</file>