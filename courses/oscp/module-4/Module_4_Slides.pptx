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4. Two Learning Units, but this is the module that converts technical work into a commercial deliverable. Open by stating plainly: a compromise nobody can evidence is worth nothing to a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units. Understanding Note-Taking carries four objectives; Writing Effective Technical Reports carries seven. Read both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 of 24 — the last orientation module. Modules 5 onwards begin offensive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Orientation. The uncomfortable truth up front: technical skill alone does not produce a paid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4.1. Four objectives on the discipline of note-taking during an engagement, before any writing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4.1, task 1. Review the deliverables of an engagement. Establish that the report is the primary deliverable and everything else supports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4.1, task 2. Portability: notes must survive tool changes, machine loss, and time. This is a durability requirement, not a formatting preference.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4.1, task 3. General structure of pentesting documentation. Note that this structure is what a technical report formalises in 4.2 — the two units are one continuous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4.1, task 4. Choosing the right note-taking tool. Frame this as criteria, not a product recommendation — the syllabus does not name a specific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4.1, task 5. Two sub-objectives: understanding why screenshots matter, and using tools to take them. Emphasise that a screenshot without context is nearly worthless.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4.1 before moving to the report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4.2 — seven objectives, the largest unit in the module and the one that turns notes into a client-facing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4.2, task 1. Identify the purpose of a technical report. The purpose is decision-making, not demonstration of effort.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4.2, task 2. Tailoring content to the reader — connects directly back to Module 2's frameworks and Module 3's Feynman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4.2, task 3. Constructing an executive summary. This is the single most scrutinised section of the whole document and the one most often written badly.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4.2, task 4. Test environment considerations — the section that gets skipped and then disputed. Constraints and exclusions belong here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4.2, task 5. Creating a technical summary — the bridge between the executive summary and the individual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4.2, task 6. Describing findings and recommendations — the core of the document by volume. Every finding needs the same fixed anatomy.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4.2, task 7. When to use appendices, resources and references. Keep this short — it is a genuinely small 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 slide. The whole document, in the order a reader encounters it. This is the slide to keep pinned while drafting.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distinction. The same finding, two audiences. Read both versions aloud and let the group hear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4.2. Seven objectives condensed to the anatomy of the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Discussion. Five minutes in pairs. Listening for correct tailoring by section and correct use of Module 2's vocabulary.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1. Note discipline as a real-time habit, not an end-of-day chore.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2. Draft the finding anatomy as a reusable template before you have any findings — removes the friction that causes findings to be under-documented.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3. Writing the executive summary last, after every finding is drafted — not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4. Screenshot discipline as a checklist, applied to every single capture without exception.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Acronym table. Fewer acronyms in this module — it is a writing-discipline module, not a technical-vocabulary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Misconceptions. The 'writing is separate from technique' one is the most damaging and the most common among strong technical learners.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number. Two units, eleven combined objectives — small in count, but this is the module every other module's output eventually passes 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check. Answer is B. Also appears as Q1 of the module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Summary. Two units in two lines. Close by tying back to the orientation: this module is why the rest of the course is worth anything commercially.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Preview Module 5 — the first module with offensive technique. Set clear expectations for the shift in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OF 24 · OFFSEC PEN-200 (PWK)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81100"/>
            <a:ext cx="18356580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Writing for Penetration Testers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00100" y="2385045"/>
            <a:ext cx="1373505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25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a tester keeps during an engagement, and the technical report they deliver at the end of it.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496121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991421"/>
            <a:ext cx="1835658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96"/>
              </a:lnSpc>
              <a:buNone/>
            </a:pPr>
            <a:r>
              <a:rPr lang="en-US" sz="43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module covers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800100" y="4876279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5057254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5066779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5131073"/>
            <a:ext cx="1324789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Note-Taking — deliverables, note portability, documentation structure, choosing a tool, screenshots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847829"/>
            <a:ext cx="16687800" cy="942975"/>
          </a:xfrm>
          <a:prstGeom prst="roundRect">
            <a:avLst>
              <a:gd name="adj" fmla="val 1414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6100242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6109767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6028804"/>
            <a:ext cx="1575606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Effective Technical Penetration Testing Reports — purpose, tailoring, executive summary, environment considerations, technical summary, findings, appendices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187977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CONTEXT · 24 LEARNING MODULES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37507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Module 4 sits in PEN-200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97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2975" y="3399011"/>
            <a:ext cx="234225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Course Introduction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500062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43500" y="3399011"/>
            <a:ext cx="242537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Cybersecurity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920115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4402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44025" y="3399011"/>
            <a:ext cx="238541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Learning Strategies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340167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6A00">
              <a:alpha val="12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4455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44550" y="3399011"/>
            <a:ext cx="344932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Writing for Penetration Testers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80010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297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2975" y="4215780"/>
            <a:ext cx="183118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Gathering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500062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43500" y="4215780"/>
            <a:ext cx="18587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920115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4402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44025" y="4215780"/>
            <a:ext cx="270493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Web Applications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1340167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4455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544550" y="4215780"/>
            <a:ext cx="28205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Web Application Attacks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80010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297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2975" y="5032549"/>
            <a:ext cx="179419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Attacks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500062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350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43500" y="5032549"/>
            <a:ext cx="16199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Attacks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920115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402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44025" y="5032549"/>
            <a:ext cx="198000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Public Exploits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1340167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54455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544550" y="5032549"/>
            <a:ext cx="122351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Exploits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80010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297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2975" y="5849317"/>
            <a:ext cx="144385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Evasion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500062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4350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43500" y="5849317"/>
            <a:ext cx="149981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Attacks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920115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4402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344025" y="5849317"/>
            <a:ext cx="241280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Privilege Escalation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1340167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54455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3544550" y="5849317"/>
            <a:ext cx="210405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Privilege Escalation</a:t>
            </a:r>
            <a:endParaRPr lang="en-US" sz="1425" dirty="0"/>
          </a:p>
        </p:txBody>
      </p:sp>
      <p:sp>
        <p:nvSpPr>
          <p:cNvPr id="53" name="Shape 51"/>
          <p:cNvSpPr/>
          <p:nvPr/>
        </p:nvSpPr>
        <p:spPr>
          <a:xfrm>
            <a:off x="80010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297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42975" y="6666086"/>
            <a:ext cx="294774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Redirection and SSH Tunneling</a:t>
            </a:r>
            <a:endParaRPr lang="en-US" sz="1425" dirty="0"/>
          </a:p>
        </p:txBody>
      </p:sp>
      <p:sp>
        <p:nvSpPr>
          <p:cNvPr id="56" name="Shape 54"/>
          <p:cNvSpPr/>
          <p:nvPr/>
        </p:nvSpPr>
        <p:spPr>
          <a:xfrm>
            <a:off x="500062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4350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143500" y="6666086"/>
            <a:ext cx="170557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Tunneling</a:t>
            </a:r>
            <a:endParaRPr lang="en-US" sz="1425" dirty="0"/>
          </a:p>
        </p:txBody>
      </p:sp>
      <p:sp>
        <p:nvSpPr>
          <p:cNvPr id="59" name="Shape 57"/>
          <p:cNvSpPr/>
          <p:nvPr/>
        </p:nvSpPr>
        <p:spPr>
          <a:xfrm>
            <a:off x="920115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4402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344025" y="6666086"/>
            <a:ext cx="221716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Metasploit Framework</a:t>
            </a:r>
            <a:endParaRPr lang="en-US" sz="1425" dirty="0"/>
          </a:p>
        </p:txBody>
      </p:sp>
      <p:sp>
        <p:nvSpPr>
          <p:cNvPr id="62" name="Shape 60"/>
          <p:cNvSpPr/>
          <p:nvPr/>
        </p:nvSpPr>
        <p:spPr>
          <a:xfrm>
            <a:off x="1340167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54455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3544550" y="6666086"/>
            <a:ext cx="274839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Introduction and Enumeration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80010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297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42975" y="7482855"/>
            <a:ext cx="233935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AD Authentication</a:t>
            </a:r>
            <a:endParaRPr lang="en-US" sz="1425" dirty="0"/>
          </a:p>
        </p:txBody>
      </p:sp>
      <p:sp>
        <p:nvSpPr>
          <p:cNvPr id="68" name="Shape 66"/>
          <p:cNvSpPr/>
          <p:nvPr/>
        </p:nvSpPr>
        <p:spPr>
          <a:xfrm>
            <a:off x="500062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4350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143500" y="7482855"/>
            <a:ext cx="199489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 in AD</a:t>
            </a:r>
            <a:endParaRPr lang="en-US" sz="1425" dirty="0"/>
          </a:p>
        </p:txBody>
      </p:sp>
      <p:sp>
        <p:nvSpPr>
          <p:cNvPr id="71" name="Shape 69"/>
          <p:cNvSpPr/>
          <p:nvPr/>
        </p:nvSpPr>
        <p:spPr>
          <a:xfrm>
            <a:off x="920115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34402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344025" y="7482855"/>
            <a:ext cx="189376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Assembling the Pieces</a:t>
            </a:r>
            <a:endParaRPr lang="en-US" sz="1425" dirty="0"/>
          </a:p>
        </p:txBody>
      </p:sp>
      <p:sp>
        <p:nvSpPr>
          <p:cNvPr id="74" name="Shape 72"/>
          <p:cNvSpPr/>
          <p:nvPr/>
        </p:nvSpPr>
        <p:spPr>
          <a:xfrm>
            <a:off x="1340167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54455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3544550" y="7482855"/>
            <a:ext cx="200858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Harder: The Labs</a:t>
            </a:r>
            <a:endParaRPr lang="en-US" sz="1425" dirty="0"/>
          </a:p>
        </p:txBody>
      </p:sp>
      <p:sp>
        <p:nvSpPr>
          <p:cNvPr id="77" name="Text 75"/>
          <p:cNvSpPr/>
          <p:nvPr/>
        </p:nvSpPr>
        <p:spPr>
          <a:xfrm>
            <a:off x="800100" y="8075786"/>
            <a:ext cx="163449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weightings: information not defined in the official exam outline.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deliverable a client actually pays for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COMPROMISE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client does not pay to be told a shell was obtained. They pay for a defensible account of what was found, how, and what to do about it.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EVIDENCE, NOT MEMORY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time a report is written, the original state may no longer exist. Only notes taken at the time can reconstruct it accurately.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82679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06491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ENGAGEMENT, EVERY MODULE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38400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specific to any one technique. Every module from 5 to 23 produces findings that must eventually pass through this discipline.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15817" y="3689970"/>
            <a:ext cx="205629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4.1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668197" y="4204320"/>
            <a:ext cx="1095160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304"/>
              </a:lnSpc>
              <a:buNone/>
            </a:pPr>
            <a:r>
              <a:rPr lang="en-US" sz="60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Note-Taking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767013" y="5271120"/>
            <a:ext cx="12753975" cy="136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deliverables of a penetration testing engagement, understand note portability, identify the general structure of pentesting documentation, choose the right tool, and understand the importance of screenshots.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899842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624887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4.1 · Task 1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deliverables of a penetration testing engagement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syllabus asks learners to review what an engagement actually delivers. The technical report is the primary artefact, but it rests on supporting deliverables produced throughout the test.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technical report, covering methodology, findings, evidence and recommendations for the agreed scope.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6426175" y="542493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64300" y="566305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64300" y="598214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notes, screenshots, command output and any proof-of-concept material substantiating each finding.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052250" y="542493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90375" y="566305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SOMETIMES REQUIRED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90375" y="598214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executive summary as a distinct artefact, a retest report, or a verbal debrief — agreed with the client in advance.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92410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64987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4.1 · Task 2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importance of note portability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notes can leave the tool that created them intact. The requirement matters because engagements, tools and machines all eventually change, and the notes must outlast all three.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that locks notes into a proprietary format becomes a liability the day it is discontinued, changes owner, or simply becomes unavailable mid-engagement.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1's Practical Skill on note discipline named this exact requirement before any note had been taken — portability is chosen on day one, not retrofitted later.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92923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655162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4.1 · Task 3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general structure of pentesting documentation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taken live during a test follows a recognisable structure, organised so that any finding can be traced back to exactly how it was produced.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4043363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 TARGETS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367412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in bounds, and the current state of each target as testing begins.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5014913" y="5424934"/>
            <a:ext cx="4043363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3038" y="5663059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TAKEN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53038" y="5982146"/>
            <a:ext cx="367412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run, tools used, and the reasoning behind each step — in the order performed.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229725" y="5424934"/>
            <a:ext cx="4043363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7850" y="5663059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OBSERVED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467850" y="5982146"/>
            <a:ext cx="367412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output, screenshots and artefacts, kept alongside the action that produced them.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3444538" y="5424934"/>
            <a:ext cx="4043363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682663" y="5663059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EXTRACTED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682663" y="5982146"/>
            <a:ext cx="367412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subset of results that constitute a reportable finding, flagged for the write-up stage.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932733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65876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4.1 · Task 4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right note-taking tool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tool is defined by criteria, not by a single named product. Choosing well at the start of a course this long avoids a costly migration midway through.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 THAT MATTER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in a portable, non-proprietary format; support for code blocks and images; reliable search across months of notes; and a structure that scales past a handful of pages.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chosen for their interface and abandoned once note volume makes search or structure impossible. Test the tool against three months of notes, not three days.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928342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654242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4.1 · Task 5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screenshots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are evidence that a claim can be independently verified, not merely trusted. The syllabus requires both understanding why they matter and using tools to capture them properly.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written claim of "obtained SYSTEM" is an assertion. A screenshot showing the prompt, the hostname and the timestamp is evidence a reviewer can check.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LOOK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screenshot should show enough context to be unambiguous: the command that produced the state, and an identifier tying it to the specific target.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4.1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Note-Taking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 is primary; notes, screenshots and output are the supporting evidence base it is built from.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PORTABILITY AND STRUCTURE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must survive tool and machine changes, and follow a structure tracing every finding to its source action.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82679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06491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 AND SCREENSHOTS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38400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tool against criteria, not preference; capture screenshots with enough context to stand as independent evidence.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96254" y="3610942"/>
            <a:ext cx="209541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4.2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49783" y="4125292"/>
            <a:ext cx="17188434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741"/>
              </a:lnSpc>
              <a:buNone/>
            </a:pPr>
            <a:r>
              <a:rPr lang="en-US" sz="52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Effective Technical Penetration Testing Reports</a:t>
            </a:r>
            <a:endParaRPr lang="en-US" sz="5250" dirty="0"/>
          </a:p>
        </p:txBody>
      </p:sp>
      <p:sp>
        <p:nvSpPr>
          <p:cNvPr id="5" name="Text 3"/>
          <p:cNvSpPr/>
          <p:nvPr/>
        </p:nvSpPr>
        <p:spPr>
          <a:xfrm>
            <a:off x="2521744" y="5792167"/>
            <a:ext cx="13244513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Purpose, tailoring content, the executive summary, environment considerations, the technical summary, findings and recommendations, and appendices and references.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921347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64703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4.2 · Task 1 of 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the purpose of a technical report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technical report exists to let the client make decisions: what to fix first, what to accept as residual risk, and what to tell their own stakeholders. It is not a record of the tester's effort.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report structured around what was interesting to do, rather than what the client needs to decide, fails its purpose even if every finding in it is accurate.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FROM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narrative of the engagement. The narrative may be included, but the report's purpose is decisions, and structure should serve that first.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945606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67202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4.2 · Task 2 of 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Tailoring content to its audience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report is read by several audiences with different needs: a board wants consequence, a security manager wants technical detail, and an engineer wants exact reproduction steps.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the document by reader: an executive summary for consequence, a technical section for evidence and detail, and precise steps for whoever will remediate.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3's Feynman Technique is the direct tool for the executive summary — if it cannot be explained plainly, it is not ready to be tailored.</a:t>
            </a:r>
            <a:endParaRPr lang="en-US" sz="18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95074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677313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4.2 · Task 3 of 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Constructing an executive summary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executive summary states, in non-technical language, what was tested, what was found in terms of business consequence, and what should happen next. It is frequently the only section a decision-maker reads.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 objective in one paragraph; overall risk posture; the two or three findings that matter most, phrased in triad terms from Module 2; and a short list of priority actions.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vocabulary leaking in. A CVE identifier or a tool name in the executive summary is a sign it was not actually tailored to its reader.</a:t>
            </a:r>
            <a:endParaRPr lang="en-US" sz="18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95423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68091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4.2 · Task 4 of 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 for test environment considerations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finding is only meaningful in the context it was produced in. The report must state the conditions of the test explicitly, so a reader cannot mistake a scoped result for an unconditional one.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RECORD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testing window, any systems or techniques explicitly excluded from scope, environmental constraints such as rate limiting, and whether the test was authenticated or unauthenticated.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this section, a client can wrongly assume an untested system was implicitly cleared, which is a worse outcome than the vulnerability itself.</a:t>
            </a:r>
            <a:endParaRPr lang="en-US" sz="18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949922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676470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4.2 · Task 5 of 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technical summary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technical summary bridges the executive summary and the detailed findings. It gives a security-literate reader the shape of the engagement without requiring them to read every finding in full.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followed, tools used at a category level, a count of findings by severity, and the overall attack path if one chained multiple findings together.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FROM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executive summary. This section may use technical vocabulary freely; its reader is expected to understand it.</a:t>
            </a:r>
            <a:endParaRPr lang="en-US" sz="18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899916"/>
            <a:ext cx="2954089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985641"/>
            <a:ext cx="2680762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4.2 · Task 6 of 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54285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Describing technical findings and recommendations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209604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finding needs a consistent anatomy so a reader can compare them and a remediator can act on them without needing the rest of the report.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258246"/>
            <a:ext cx="4043363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496371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815459"/>
            <a:ext cx="367412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weakness is, stated precisely using the vulnerability/exploit/risk vocabulary from Module 2.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5014913" y="5258246"/>
            <a:ext cx="4043363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3038" y="5496371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53038" y="5815459"/>
            <a:ext cx="367412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screenshots and output from Objective 4.1 that let the finding be independently verified.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229725" y="5258246"/>
            <a:ext cx="4043363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7850" y="5496371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467850" y="5815459"/>
            <a:ext cx="367412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consequence in CIA triad terms, and to which asset, in this specific environment.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3444538" y="5258246"/>
            <a:ext cx="4043363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682663" y="5496371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682663" y="5815459"/>
            <a:ext cx="367412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specific, actionable fix — not a generic instruction to "harden the system".</a:t>
            </a:r>
            <a:endParaRPr lang="en-US" sz="18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938239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664436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4.2 · Task 7 of 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Recognising when to use appendices, resources and references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that supports a finding but would break the reading flow of the main report belongs in an appendix, referenced from the finding it supports.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BELONGS IN AN APPENDIX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raw tool output, extended command logs, and lengthy technical references a specialist reader may want but a general reader does not need.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Appendices used to hide weak evidence rather than to declutter strong evidence. If a finding depends on the appendix to be believable, it belongs in the finding itself.</a:t>
            </a:r>
            <a:endParaRPr lang="en-US" sz="18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30711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802410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report, front to back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469160"/>
            <a:ext cx="357187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4707285"/>
            <a:ext cx="340518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026372"/>
            <a:ext cx="318849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Non-technical. Consequence and priority actions.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4448175" y="4952554"/>
            <a:ext cx="6477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5172075" y="4469160"/>
            <a:ext cx="357187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10200" y="4707285"/>
            <a:ext cx="340518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10200" y="5026372"/>
            <a:ext cx="318849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Scope, exclusions, constraints, testing window.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8820150" y="4952554"/>
            <a:ext cx="6477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544050" y="4469160"/>
            <a:ext cx="357187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2175" y="4707285"/>
            <a:ext cx="340518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SUMMARY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782175" y="5026372"/>
            <a:ext cx="318849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Methodology, tooling, finding counts, attack path.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3192125" y="4952554"/>
            <a:ext cx="6477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13916025" y="4469160"/>
            <a:ext cx="357187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54150" y="4707285"/>
            <a:ext cx="340518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+ APPENDICES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54150" y="5026372"/>
            <a:ext cx="318849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Description, evidence, impact, recommendation per finding.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800100" y="6178897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section is written for a different reader, and each depends on the discipline established in Objective 4.1 before a word of it is drafted.</a:t>
            </a:r>
            <a:endParaRPr lang="en-US" sz="21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340671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DISTINCTION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83597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finding, two readers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502721"/>
            <a:ext cx="758190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4740846"/>
            <a:ext cx="781621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VERSION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059933"/>
            <a:ext cx="73188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 attacker who compromises one staff laptop could read the entire payroll archive. We recommend restricting this access immediately."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8534400" y="4502721"/>
            <a:ext cx="1219200" cy="1833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9906000" y="4502721"/>
            <a:ext cx="7581900" cy="1795463"/>
          </a:xfrm>
          <a:prstGeom prst="roundRect">
            <a:avLst>
              <a:gd name="adj" fmla="val 8488"/>
            </a:avLst>
          </a:prstGeom>
          <a:solidFill>
            <a:srgbClr val="FF6A00">
              <a:alpha val="6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4125" y="4740846"/>
            <a:ext cx="781621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FINDING VERSION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144125" y="5059933"/>
            <a:ext cx="731882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FIN-SHARE SMB share grants Domain Users read access to \\\\fs01\\payroll. Any authenticated account can enumerate and read its contents. Restrict the share ACL to the Payroll security group."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800100" y="6545833"/>
            <a:ext cx="1634490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vulnerability, same evidence trail behind both — the only thing that changes is the reader.</a:t>
            </a:r>
            <a:endParaRPr lang="en-US" sz="21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4.2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Technical Reports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AND AUDIENCE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 enables decisions, and is tailored by section to each of its several readers.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summary, environment considerations, technical summary, then findings with a fixed anatomy.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82679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06491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384006"/>
            <a:ext cx="510818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Appendices declutter strong evidence; they never substitute for it.</a:t>
            </a:r>
            <a:endParaRPr lang="en-US" sz="18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94017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SCENARIO · DISCUSSION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43547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up a chained finding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0100" y="4102224"/>
            <a:ext cx="15304770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testing you exploited a low-privilege web account, used it to read a configuration file containing database credentials, and used those credentials to read the customer records table. The client's board, security manager, and database administrator will all read this report.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800100" y="5551363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8225" y="5789488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8225" y="610857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the executive summary describe this chain in one sentence, using triad language from Module 2?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426175" y="5551363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4300" y="5789488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64300" y="6108576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chain produce one finding or three? What determines the answer, and who is it for?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052250" y="5551363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90375" y="5789488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90375" y="610857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environment consideration must be stated so the database administrator does not assume every table was reviewed?</a:t>
            </a:r>
            <a:endParaRPr lang="en-US" sz="18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27002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41252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1 of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 as you work, not afterwards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written from memory at the end of a session are reconstructions, and reconstructions lose exactly the detail a report later needs.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the command, the output, and a one-line reasoning note the moment each step is taken — before moving to the next step.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3's retrieval practice depends on notes existing to retrieve from. Notes taken live are also the raw material this module turns into a report.</a:t>
            </a:r>
            <a:endParaRPr lang="en-US" sz="18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5126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551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2 of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Templating the finding anatomy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reusable finding template — description, evidence, impact, recommendation — before you have any findings to put in it. An empty template is filled in; a blank page is postponed.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time pressure, an undocumented finding format is the first thing skipped. A template removes that decision from the pressured moment.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all four fields the moment a finding is confirmed, even in draft language. Polish for tone later; never postpone capturing the content.</a:t>
            </a:r>
            <a:endParaRPr lang="en-US" sz="18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356396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070646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3 of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the executive summary last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every technical finding before writing the executive summary. Summarising requires knowing what you actually found, not what you expected to find at the outset.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findings are drafted, apply the Feynman Technique from Module 3 to each: explain it in plain language, and use whichever version survives that pass.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executive summary that reads like a plan rather than a result. That is usually evidence it was drafted before the findings, not after.</a:t>
            </a:r>
            <a:endParaRPr lang="en-US" sz="18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5996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7421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4 of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screenshot checklist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same three checks to every screenshot taken, so evidence quality does not depend on remembering to be careful under pressure.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543557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VISIBLE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Hostname, IP address or prompt clearly shows which target this evidence belongs to.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6426175" y="5591621"/>
            <a:ext cx="543557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64300" y="5829746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VISIBLE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64300" y="6148834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action that produced the state is in frame, not just the result.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052250" y="5591621"/>
            <a:ext cx="5435650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90375" y="5829746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UNAMBIGUOUS RESULT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90375" y="6148834"/>
            <a:ext cx="510818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outcome is clear without needing the surrounding narrative to interpret it.</a:t>
            </a:r>
            <a:endParaRPr lang="en-US" sz="18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96227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ACRONYM SPOTLIGHT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457575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introduced in Module 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124325"/>
            <a:ext cx="2781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4614863"/>
            <a:ext cx="2781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238625"/>
            <a:ext cx="25599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81400" y="4124325"/>
            <a:ext cx="139065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581400" y="4614863"/>
            <a:ext cx="139065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3733800" y="4238625"/>
            <a:ext cx="1401889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names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0100" y="4624388"/>
            <a:ext cx="2781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00100" y="5100638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4729163"/>
            <a:ext cx="25599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581400" y="4624388"/>
            <a:ext cx="139065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581400" y="5100638"/>
            <a:ext cx="13906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6" name="Text 14"/>
          <p:cNvSpPr/>
          <p:nvPr/>
        </p:nvSpPr>
        <p:spPr>
          <a:xfrm>
            <a:off x="3733800" y="4729163"/>
            <a:ext cx="140188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Non-technical section stating consequence and priority action for decision-makers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00100" y="5586413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5214938"/>
            <a:ext cx="25599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summary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581400" y="5586413"/>
            <a:ext cx="13906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0" name="Text 18"/>
          <p:cNvSpPr/>
          <p:nvPr/>
        </p:nvSpPr>
        <p:spPr>
          <a:xfrm>
            <a:off x="3733800" y="5214938"/>
            <a:ext cx="140188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Methodology, tooling and finding overview for a security-literate reader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00100" y="5595938"/>
            <a:ext cx="2781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00100" y="6072188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5700713"/>
            <a:ext cx="25599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anatomy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581400" y="5595938"/>
            <a:ext cx="139065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581400" y="6072188"/>
            <a:ext cx="13906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6" name="Text 24"/>
          <p:cNvSpPr/>
          <p:nvPr/>
        </p:nvSpPr>
        <p:spPr>
          <a:xfrm>
            <a:off x="3733800" y="5700713"/>
            <a:ext cx="140188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Description, evidence, impact and recommendation — the fixed structure of every finding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0100" y="6557963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" y="6186488"/>
            <a:ext cx="25599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portability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581400" y="6557963"/>
            <a:ext cx="13906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0" name="Text 28"/>
          <p:cNvSpPr/>
          <p:nvPr/>
        </p:nvSpPr>
        <p:spPr>
          <a:xfrm>
            <a:off x="3733800" y="6186488"/>
            <a:ext cx="140188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that can leave their originating tool intact, in a durable format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00100" y="6567488"/>
            <a:ext cx="2781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00100" y="7310438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3" name="Text 31"/>
          <p:cNvSpPr/>
          <p:nvPr/>
        </p:nvSpPr>
        <p:spPr>
          <a:xfrm>
            <a:off x="952500" y="6672263"/>
            <a:ext cx="255993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considerations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581400" y="6567488"/>
            <a:ext cx="139065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581400" y="7310438"/>
            <a:ext cx="13906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6" name="Text 34"/>
          <p:cNvSpPr/>
          <p:nvPr/>
        </p:nvSpPr>
        <p:spPr>
          <a:xfrm>
            <a:off x="3733800" y="6672263"/>
            <a:ext cx="140188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stated scope, exclusions and constraints a finding must be read against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15979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65509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learners get wrong about Module 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321844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355996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“WRITING IS SEPARATE FROM THE TECHNICAL WORK”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387905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unreported compromise has no commercial value. Reporting is not an add-on to the technical work; it is the point of it.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3321844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355996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“MORE TECHNICAL DETAIL IS ALWAYS BETTER”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387905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in the wrong section fails its reader. The executive summary is judged by clarity, not by completeness.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800100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8225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“NOTES CAN BE WRITTEN UP AFTERWARDS FROM MEMORY”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8225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reconstructs; it does not record. Detail lost at the time cannot be recovered at the writing stage.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248775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86900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SCREENSHOT ALONE IS SUFFICIENT EVIDENCE”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86900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screenshot without a visible command and identifier is evidence of something, but not provably of the claimed finding.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800100" y="6665119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8225" y="6903244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“ANY NOTE-TAKING TOOL WILL DO”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38225" y="7222331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that cannot export portably becomes a liability precisely when it is most needed — near a deadline.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248775" y="6665119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86900" y="6903244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“APPENDICES ARE JUST EXTRA PADDING”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86900" y="7222331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Appendices exist to declutter strong evidence, not to substitute for it. A finding that depends on its appendix to be credible is under-evidenced.</a:t>
            </a:r>
            <a:endParaRPr lang="en-US" sz="18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537914" y="3073078"/>
            <a:ext cx="321217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IN CONTEXT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646468" y="3549328"/>
            <a:ext cx="995065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2000" b="1" spc="-30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516604" y="5301928"/>
            <a:ext cx="11254718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381"/>
              </a:lnSpc>
              <a:buNone/>
            </a:pPr>
            <a:r>
              <a:rPr lang="en-US" sz="34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Units carrying eleven stated objectives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3257550" y="6012433"/>
            <a:ext cx="11772900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by unit count, but every finding produced from Module 5 onward eventually passes through this discipline. Percentage weightings per module: information not defined in the official exam outline.</a:t>
            </a:r>
            <a:endParaRPr lang="en-US" sz="21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48602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981325"/>
            <a:ext cx="1718843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section of a technical report is written specifically for a non-technical, decision-making reader?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1433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3243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3338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398169"/>
            <a:ext cx="27288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technical summary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0958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6A00">
              <a:alpha val="10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2768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2863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350669"/>
            <a:ext cx="278455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executive summary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60483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2293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2388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303169"/>
            <a:ext cx="236873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findings section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0100" y="70008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225" y="71818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650" y="71913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52625" y="7255669"/>
            <a:ext cx="188087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appendices</a:t>
            </a:r>
            <a:endParaRPr lang="en-US" sz="1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090416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SUMMARY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585716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in two 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252466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433441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442966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507260"/>
            <a:ext cx="145991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must be portable and structured from the moment they are taken, with screenshots that stand as independent evidence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204966"/>
            <a:ext cx="16687800" cy="942975"/>
          </a:xfrm>
          <a:prstGeom prst="roundRect">
            <a:avLst>
              <a:gd name="adj" fmla="val 1414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457379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466904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385941"/>
            <a:ext cx="1575606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technical report serves several distinct readers, built from an executive summary, environment considerations, a technical summary, and findings with a fixed anatomy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00100" y="63955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the remaining 20 modules teach eventually has to survive being written down. This module is why that writing succeeds.</a:t>
            </a:r>
            <a:endParaRPr lang="en-US" sz="21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43000"/>
            <a:ext cx="1835658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41"/>
              </a:lnSpc>
              <a:buNone/>
            </a:pPr>
            <a:r>
              <a:rPr lang="en-US" sz="52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5: Information Gathering</a:t>
            </a:r>
            <a:endParaRPr lang="en-US" sz="5250" dirty="0"/>
          </a:p>
        </p:txBody>
      </p:sp>
      <p:sp>
        <p:nvSpPr>
          <p:cNvPr id="5" name="Shape 3"/>
          <p:cNvSpPr/>
          <p:nvPr/>
        </p:nvSpPr>
        <p:spPr>
          <a:xfrm>
            <a:off x="800100" y="2128838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236696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NEXT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2686050"/>
            <a:ext cx="510810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penetration testing lifecycle, then passive information gathering — OSINT, web server and DNS reconnaissance — and active gathering with Netcat, Nmap and service enumeration.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2128838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236696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2686050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your note-taking tool chosen and your finding template ready. Module 5 produces the first real findings of the course.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2128838"/>
            <a:ext cx="5435650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2366963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FORWARD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2686050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every command and its reasoning the moment you run it. That habit, not memory, is what Module 4 depends on.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2026-08-01T00:35:04Z</dcterms:created>
  <dcterms:modified xsi:type="dcterms:W3CDTF">2026-08-01T00:35:04Z</dcterms:modified>
</cp:coreProperties>
</file>