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13. Directly follows Fixing Exploits — a repaired exploit still has to survive the target's antivirus. Two units: understanding AV, then evading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units: understand the software first, then evade it in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13 of 24. Directly follows Fixing Exploits and precedes Password Attacks.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Orientation. A working, fixed exploit or payload is worthless if antivirus stops it from ever executing. This module addresses that final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13.1. Three objectives on how antivirus actually works, before any evasion technique is attempted.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13.1, task 1. The foundational distinction the whole module builds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13.1, task 2. The components of an AV product as a system, not a single black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13.1, task 3. Detection engines — the actual decision logic. This is the slide that explains why evasion techniques take the shapes they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13.1 before moving to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13.2. Three objectives moving from best practice through manual technique to automated tooling.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13.2, task 1. Best practices for testing evasion — a professional-conduct objective, placed deliberately before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13.2, task 2. Manual evasion — applying the detection engine blind spots from 13.1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13.2, task 3. Automated tools — placed last, after the manual understanding that makes their output verifiable rather than a black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distinction closing the module. Direct parallel to Module 9's manual-vs-automated SQL injection distinction.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13.2, then the applied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Discussion. Five minutes in pairs. Listening for correct engine diagnosis and correct testing hygiene, not just naming a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1. Diagnosing which engine caught a payload before attempting to fix it — mirrors Module 12's isolate-before-fixing discipline.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2. Safe testing hygiene — never leak a payload to a public multi-scanner.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3. Verifying function is preserved after evasion changes — an easy step to skip under time pressure.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Acronym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Misconceptions. The public-scanner-testing one is the most operationally dangerous and worth spending the most time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number. Two units, three named detection engine types, and a manual-before-automated discipline running through the whole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check. Answer is B. Also appears as Q1 of the module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Summary. Two units in two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Preview Module 14 — from evading detection to attacking credentials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13 OF 24 · OFFSEC PEN-200 (PWK)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81100"/>
            <a:ext cx="18356580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Evasion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800100" y="2385045"/>
            <a:ext cx="13735050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25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antivirus software decides what is malicious, and how to test and apply manual and automated evasion in practice.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567559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062859"/>
            <a:ext cx="18356580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96"/>
              </a:lnSpc>
              <a:buNone/>
            </a:pPr>
            <a:r>
              <a:rPr lang="en-US" sz="43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module covers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800100" y="4947717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5128692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5138217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5202510"/>
            <a:ext cx="703613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Evasion Software Key Components and Operations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919267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6100242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6109767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6174060"/>
            <a:ext cx="258524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Evasion in Practice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187977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CONTEXT · 24 LEARNING MODULES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37507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Module 13 sits in PEN-200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2975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2975" y="3399011"/>
            <a:ext cx="234225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Course Introduction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5000625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3500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43500" y="3399011"/>
            <a:ext cx="242537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Cybersecurity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9201150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44025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44025" y="3399011"/>
            <a:ext cx="238541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Learning Strategies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3401675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44550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544550" y="3399011"/>
            <a:ext cx="312066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Writing for Penetration Testers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800100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2975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2975" y="4215780"/>
            <a:ext cx="183118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Gathering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5000625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3500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43500" y="4215780"/>
            <a:ext cx="185871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Scanning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9201150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44025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44025" y="4215780"/>
            <a:ext cx="270493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Web Applications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13401675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544550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544550" y="4215780"/>
            <a:ext cx="282051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Web Application Attacks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800100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2975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2975" y="5032549"/>
            <a:ext cx="179419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Attacks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5000625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3500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43500" y="5032549"/>
            <a:ext cx="161992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Attacks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9201150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44025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44025" y="5032549"/>
            <a:ext cx="198000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Locating Public Exploits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13401675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544550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544550" y="5032549"/>
            <a:ext cx="122351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Exploits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800100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6A00">
              <a:alpha val="12000"/>
            </a:srgbClr>
          </a:solidFill>
          <a:ln w="9525">
            <a:solidFill>
              <a:srgbClr val="FF6A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2975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42975" y="5849317"/>
            <a:ext cx="160250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Evasion</a:t>
            </a:r>
            <a:endParaRPr lang="en-US" sz="1425" dirty="0"/>
          </a:p>
        </p:txBody>
      </p:sp>
      <p:sp>
        <p:nvSpPr>
          <p:cNvPr id="44" name="Shape 42"/>
          <p:cNvSpPr/>
          <p:nvPr/>
        </p:nvSpPr>
        <p:spPr>
          <a:xfrm>
            <a:off x="5000625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43500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43500" y="5849317"/>
            <a:ext cx="149981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Attacks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9201150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44025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344025" y="5849317"/>
            <a:ext cx="241280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Privilege Escalation</a:t>
            </a:r>
            <a:endParaRPr lang="en-US" sz="1425" dirty="0"/>
          </a:p>
        </p:txBody>
      </p:sp>
      <p:sp>
        <p:nvSpPr>
          <p:cNvPr id="50" name="Shape 48"/>
          <p:cNvSpPr/>
          <p:nvPr/>
        </p:nvSpPr>
        <p:spPr>
          <a:xfrm>
            <a:off x="13401675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544550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3544550" y="5849317"/>
            <a:ext cx="210405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Privilege Escalation</a:t>
            </a:r>
            <a:endParaRPr lang="en-US" sz="1425" dirty="0"/>
          </a:p>
        </p:txBody>
      </p:sp>
      <p:sp>
        <p:nvSpPr>
          <p:cNvPr id="53" name="Shape 51"/>
          <p:cNvSpPr/>
          <p:nvPr/>
        </p:nvSpPr>
        <p:spPr>
          <a:xfrm>
            <a:off x="800100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2975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42975" y="6666086"/>
            <a:ext cx="294774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Redirection and SSH Tunneling</a:t>
            </a:r>
            <a:endParaRPr lang="en-US" sz="1425" dirty="0"/>
          </a:p>
        </p:txBody>
      </p:sp>
      <p:sp>
        <p:nvSpPr>
          <p:cNvPr id="56" name="Shape 54"/>
          <p:cNvSpPr/>
          <p:nvPr/>
        </p:nvSpPr>
        <p:spPr>
          <a:xfrm>
            <a:off x="5000625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43500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143500" y="6666086"/>
            <a:ext cx="170557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Tunneling</a:t>
            </a:r>
            <a:endParaRPr lang="en-US" sz="1425" dirty="0"/>
          </a:p>
        </p:txBody>
      </p:sp>
      <p:sp>
        <p:nvSpPr>
          <p:cNvPr id="59" name="Shape 57"/>
          <p:cNvSpPr/>
          <p:nvPr/>
        </p:nvSpPr>
        <p:spPr>
          <a:xfrm>
            <a:off x="9201150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44025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344025" y="6666086"/>
            <a:ext cx="221716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Metasploit Framework</a:t>
            </a:r>
            <a:endParaRPr lang="en-US" sz="1425" dirty="0"/>
          </a:p>
        </p:txBody>
      </p:sp>
      <p:sp>
        <p:nvSpPr>
          <p:cNvPr id="62" name="Shape 60"/>
          <p:cNvSpPr/>
          <p:nvPr/>
        </p:nvSpPr>
        <p:spPr>
          <a:xfrm>
            <a:off x="13401675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3544550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3544550" y="6666086"/>
            <a:ext cx="274839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Introduction and Enumeration</a:t>
            </a:r>
            <a:endParaRPr lang="en-US" sz="1425" dirty="0"/>
          </a:p>
        </p:txBody>
      </p:sp>
      <p:sp>
        <p:nvSpPr>
          <p:cNvPr id="65" name="Shape 63"/>
          <p:cNvSpPr/>
          <p:nvPr/>
        </p:nvSpPr>
        <p:spPr>
          <a:xfrm>
            <a:off x="800100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42975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942975" y="7482855"/>
            <a:ext cx="233935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AD Authentication</a:t>
            </a:r>
            <a:endParaRPr lang="en-US" sz="1425" dirty="0"/>
          </a:p>
        </p:txBody>
      </p:sp>
      <p:sp>
        <p:nvSpPr>
          <p:cNvPr id="68" name="Shape 66"/>
          <p:cNvSpPr/>
          <p:nvPr/>
        </p:nvSpPr>
        <p:spPr>
          <a:xfrm>
            <a:off x="5000625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43500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143500" y="7482855"/>
            <a:ext cx="199489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Movement in AD</a:t>
            </a:r>
            <a:endParaRPr lang="en-US" sz="1425" dirty="0"/>
          </a:p>
        </p:txBody>
      </p:sp>
      <p:sp>
        <p:nvSpPr>
          <p:cNvPr id="71" name="Shape 69"/>
          <p:cNvSpPr/>
          <p:nvPr/>
        </p:nvSpPr>
        <p:spPr>
          <a:xfrm>
            <a:off x="9201150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344025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9344025" y="7482855"/>
            <a:ext cx="189376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Assembling the Pieces</a:t>
            </a:r>
            <a:endParaRPr lang="en-US" sz="1425" dirty="0"/>
          </a:p>
        </p:txBody>
      </p:sp>
      <p:sp>
        <p:nvSpPr>
          <p:cNvPr id="74" name="Shape 72"/>
          <p:cNvSpPr/>
          <p:nvPr/>
        </p:nvSpPr>
        <p:spPr>
          <a:xfrm>
            <a:off x="13401675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3544550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13544550" y="7482855"/>
            <a:ext cx="200858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Trying Harder: The Labs</a:t>
            </a:r>
            <a:endParaRPr lang="en-US" sz="1425" dirty="0"/>
          </a:p>
        </p:txBody>
      </p:sp>
      <p:sp>
        <p:nvSpPr>
          <p:cNvPr id="77" name="Text 75"/>
          <p:cNvSpPr/>
          <p:nvPr/>
        </p:nvSpPr>
        <p:spPr>
          <a:xfrm>
            <a:off x="800100" y="8075786"/>
            <a:ext cx="163449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weightings: information not defined in the official exam outline.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498056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993356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gate before execution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660106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4898231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217319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perfectly repaired exploit from Module 12 can still be stopped cold by antivirus before it ever runs on the target.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660106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4898231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BEFORE EVADING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217319"/>
            <a:ext cx="5108105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module teaches how detection works first — the same discipline as Module 3's Demonstrative Methodology, applied to defensive software.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660106"/>
            <a:ext cx="5435650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4898231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OFFENCE MIRRORS DEFENCE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217319"/>
            <a:ext cx="5108182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direct callback to Module 2: understanding a defensive control is what makes evading it possible, and understanding evasion is what makes the control better.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46895" y="3650977"/>
            <a:ext cx="219413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13.1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49783" y="4165327"/>
            <a:ext cx="17188434" cy="135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788"/>
              </a:lnSpc>
              <a:buNone/>
            </a:pPr>
            <a:r>
              <a:rPr lang="en-US" sz="49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Evasion Software Key Components and Operations</a:t>
            </a:r>
            <a:endParaRPr lang="en-US" sz="4950" dirty="0"/>
          </a:p>
        </p:txBody>
      </p:sp>
      <p:sp>
        <p:nvSpPr>
          <p:cNvPr id="5" name="Text 3"/>
          <p:cNvSpPr/>
          <p:nvPr/>
        </p:nvSpPr>
        <p:spPr>
          <a:xfrm>
            <a:off x="2767013" y="5752133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Recognise known versus unknown threats, understand AV key components, and understand AV detection engines.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996729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24681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13.1 · Task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Recognising known versus unknown threats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software distinguishes between threats it has already catalogued and threats it has never encountered. How it responds to each differs fundamentally, and that difference is what evasion techniques exploit.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THREATS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 matching an existing catalogue entry is detected reliably and quickly, regardless of how it is delivered.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THREATS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or sufficiently altered code has no catalogue match, forcing the AV to rely on behavioural or heuristic judgement instead.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3021062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749744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13.1 · Task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AV key components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software is a system of cooperating parts, not a single black box. Understanding each part clarifies exactly where and how a payload might be caught.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DATABASE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catalogue of known-malicious patterns checked against files and traffic.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6426175" y="542493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64300" y="566305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SCANNING ENGINE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64300" y="598214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component applying signatures, heuristics and behavioural rules to files and running processes.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2052250" y="542493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90375" y="566305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290375" y="5982146"/>
            <a:ext cx="510818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component watching live system activity rather than only scanning files at rest.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3026122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754956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13.1 · Task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AV detection engines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detection engines make the malicious-or-not decision in different ways, and each has a distinct blind spot that shapes what evasion against it looks like.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SIGNATURE-BASED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known byte patterns exactly. Blind to anything sufficiently altered from the catalogued sample.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6426175" y="542493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64300" y="566305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64300" y="598214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Judges code structure and suspicious traits without an exact match. Blind to code that looks structurally ordinary.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2052250" y="542493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90375" y="566305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290375" y="5982146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Watches what code actually does at runtime. Blind to behaviour that appears legitimate until a later, delayed stage.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831431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13.1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32673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 and Operations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DISTINCTION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threats are matched reliably; unknown threats force reliance on heuristic or behavioural judgement.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database, scanning engine and real-time monitor cooperate, and each detection engine type has its own distinct blind spot.</a:t>
            </a:r>
            <a:endParaRPr lang="en-US" sz="1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27331" y="3870945"/>
            <a:ext cx="22332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13.2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352426" y="4385295"/>
            <a:ext cx="9583147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Evasion in Practice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3012281" y="5532090"/>
            <a:ext cx="12263438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antivirus evasion testing best practices, manually evade AV solutions, and leverage automated tools for AV evasion.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3029917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75886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13.2 · Task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evasion testing best practices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whether a payload evades AV carries its own considerations, placed before any technique is introduced — a professional-conduct objective rather than a purely technical one.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Uploading a payload to a public multi-scanner service to test evasion can leak the payload to threat intelligence feeds, alerting defenders and vendors before the engagement even begins.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against an isolated, locally controlled instance of the same AV product where possible, rather than a public scanning service.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54176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83852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13.2 · Task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 evading AV solutions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evasion applies direct understanding of a specific detection engine's blind spot — altering a payload's structure or behaviour just enough to fall outside what that engine catches.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SIGNATURE-BASED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Altering the byte pattern enough that it no longer matches the catalogued signature, while preserving the payload's function.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HEURISTIC/BEHAVIOURAL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Restructuring code or delaying suspicious actions so they fall outside what the engine's rules currently flag.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59311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89140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13.2 · Task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automated tools for AV evasion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tools apply evasion techniques at scale once the underlying manual technique is understood — the same manual-first ordering as Module 9's approach to SQLmap.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MANUAL COMES FIRST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tester who only knows the tool cannot explain why a given output evades a specific engine, or adapt when the automated result still gets caught.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EARNS ITS PLACE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underlying technique is understood, automation reliably produces variants faster than manual reconstruction for each new target.</a:t>
            </a:r>
            <a:endParaRPr lang="en-US" sz="18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507358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DISTINCTION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002658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technique, then automated scale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669408"/>
            <a:ext cx="7581900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4907533"/>
            <a:ext cx="781621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226621"/>
            <a:ext cx="73188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exactly which detection engine and blind spot is in play, and produces an evasion the tester can explain and adapt.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8534400" y="4669408"/>
            <a:ext cx="1219200" cy="1500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3900" dirty="0"/>
          </a:p>
        </p:txBody>
      </p:sp>
      <p:sp>
        <p:nvSpPr>
          <p:cNvPr id="9" name="Shape 7"/>
          <p:cNvSpPr/>
          <p:nvPr/>
        </p:nvSpPr>
        <p:spPr>
          <a:xfrm>
            <a:off x="9906000" y="4669408"/>
            <a:ext cx="7581900" cy="1462088"/>
          </a:xfrm>
          <a:prstGeom prst="roundRect">
            <a:avLst>
              <a:gd name="adj" fmla="val 10423"/>
            </a:avLst>
          </a:prstGeom>
          <a:solidFill>
            <a:srgbClr val="FF6A00">
              <a:alpha val="6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4125" y="4907533"/>
            <a:ext cx="781621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144125" y="5226621"/>
            <a:ext cx="73188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variants at speed once the underlying technique is understood, but can fail silently against an engine it was not tuned for.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800100" y="6379146"/>
            <a:ext cx="1634490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principle from Module 9's SQLmap discussion: automation scales understanding, it does not replace it.</a:t>
            </a:r>
            <a:endParaRPr lang="en-US" sz="21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13.2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Evasion in Practice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against isolated, locally controlled AV instances, never public scanning services that could leak the payload.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384006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exploits a specific engine's blind spot, identified in Objective 13.1.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82679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506491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384006"/>
            <a:ext cx="510818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manual understanding; earns its place only after that understanding exists.</a:t>
            </a:r>
            <a:endParaRPr lang="en-US" sz="18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973735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SCENARIO · DISCUSSION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469035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Diagnosing why a payload was caught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0100" y="4135785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payload that ran successfully in an isolated test environment is caught immediately when delivered to the actual target, which runs the same antivirus product with default settings.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800100" y="5184428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8225" y="5422553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8225" y="5741640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from Objective 13.2's testing best practices might explain a difference between the isolated test and the real target?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426175" y="5184428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4300" y="5422553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64300" y="5741640"/>
            <a:ext cx="5108105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detection engine type from Objective 13.1 is most likely responsible if the payload was flagged instantly on delivery rather than after execution began?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2052250" y="5184428"/>
            <a:ext cx="5435650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90375" y="5422553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90375" y="5741640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reaching for an automated evasion tool at this point be justified, or is there a manual step to try first?</a:t>
            </a:r>
            <a:endParaRPr lang="en-US" sz="18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23505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3775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Diagnosing which engine caught the payload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attempting any evasion adjustment, determine whether detection happened on-disk, on execution, or partway through runtime behaviour — each points to a different engine type from Objective 13.1.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detection on delivery points to signature matching; detection only after execution begins points to heuristic or behavioural engines.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12's isolate-the-failure-point discipline, applied here to a detection instead of a broken exploit.</a:t>
            </a:r>
            <a:endParaRPr lang="en-US" sz="18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47764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62014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Protecting the engagement while testing evasion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upload a client's payload to a public multi-engine scanning service. Doing so can distribute it to vendors and threat intelligence feeds, alerting defenders before delivery and potentially breaching confidentiality.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leaked payload can be flagged industry-wide within hours, closing the evasion before it is ever used — and exposing client-specific tooling publicly.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2's confidentiality principle from the CIA triad, applied directly to the tester's own working materials.</a:t>
            </a:r>
            <a:endParaRPr lang="en-US" sz="18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5289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6714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Verifying function survives the evasion change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altering a payload to evade detection, confirm it still performs its original function. Evasion that breaks functionality is not a usable result, however cleanly it avoids detection.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modified payload's actual behaviour in the same isolated environment used for evasion testing, not just its detection outcome.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changes aggressive enough to alter timing, order of operations, or output in ways that silently break the payload's purpose.</a:t>
            </a:r>
            <a:endParaRPr lang="en-US" sz="18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071813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ACRONYM SPOTLIGHT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567113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introduced in Module 13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233863"/>
            <a:ext cx="2781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0100" y="4724400"/>
            <a:ext cx="2781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4348163"/>
            <a:ext cx="25599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81400" y="4233863"/>
            <a:ext cx="4686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581400" y="4724400"/>
            <a:ext cx="4686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3733800" y="4348163"/>
            <a:ext cx="452208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67700" y="4233863"/>
            <a:ext cx="92202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267700" y="4724400"/>
            <a:ext cx="92202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8420100" y="4348163"/>
            <a:ext cx="919200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appears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0100" y="4733925"/>
            <a:ext cx="2781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" y="5210175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4838700"/>
            <a:ext cx="25599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581400" y="4733925"/>
            <a:ext cx="4686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581400" y="5210175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9" name="Text 17"/>
          <p:cNvSpPr/>
          <p:nvPr/>
        </p:nvSpPr>
        <p:spPr>
          <a:xfrm>
            <a:off x="3733800" y="4838700"/>
            <a:ext cx="4522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67700" y="4733925"/>
            <a:ext cx="92202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267700" y="5210175"/>
            <a:ext cx="9220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2" name="Text 20"/>
          <p:cNvSpPr/>
          <p:nvPr/>
        </p:nvSpPr>
        <p:spPr>
          <a:xfrm>
            <a:off x="8420100" y="4838700"/>
            <a:ext cx="91920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Throughout the module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0100" y="5962650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5324475"/>
            <a:ext cx="255993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Signature-based detection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581400" y="5962650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6" name="Text 24"/>
          <p:cNvSpPr/>
          <p:nvPr/>
        </p:nvSpPr>
        <p:spPr>
          <a:xfrm>
            <a:off x="3733800" y="5324475"/>
            <a:ext cx="452208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known byte patterns exactly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267700" y="5962650"/>
            <a:ext cx="9220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8420100" y="5324475"/>
            <a:ext cx="919200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13.1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00100" y="5972175"/>
            <a:ext cx="27813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00100" y="6715125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1" name="Text 29"/>
          <p:cNvSpPr/>
          <p:nvPr/>
        </p:nvSpPr>
        <p:spPr>
          <a:xfrm>
            <a:off x="952500" y="6076950"/>
            <a:ext cx="255993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detection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581400" y="5972175"/>
            <a:ext cx="46863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581400" y="6715125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4" name="Text 32"/>
          <p:cNvSpPr/>
          <p:nvPr/>
        </p:nvSpPr>
        <p:spPr>
          <a:xfrm>
            <a:off x="3733800" y="6076950"/>
            <a:ext cx="452208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Judging code structure and traits without an exact match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267700" y="5972175"/>
            <a:ext cx="92202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267700" y="6715125"/>
            <a:ext cx="9220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7" name="Text 35"/>
          <p:cNvSpPr/>
          <p:nvPr/>
        </p:nvSpPr>
        <p:spPr>
          <a:xfrm>
            <a:off x="8420100" y="6076950"/>
            <a:ext cx="919200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13.1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00100" y="7200900"/>
            <a:ext cx="2781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9" name="Text 37"/>
          <p:cNvSpPr/>
          <p:nvPr/>
        </p:nvSpPr>
        <p:spPr>
          <a:xfrm>
            <a:off x="952500" y="6829425"/>
            <a:ext cx="25599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detection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581400" y="7200900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1" name="Text 39"/>
          <p:cNvSpPr/>
          <p:nvPr/>
        </p:nvSpPr>
        <p:spPr>
          <a:xfrm>
            <a:off x="3733800" y="6829425"/>
            <a:ext cx="4522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Watching what code does at runtime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267700" y="7200900"/>
            <a:ext cx="9220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3" name="Text 41"/>
          <p:cNvSpPr/>
          <p:nvPr/>
        </p:nvSpPr>
        <p:spPr>
          <a:xfrm>
            <a:off x="8420100" y="6829425"/>
            <a:ext cx="91920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13.1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047875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MISCONCEPTIONS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543175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learners get wrong about Module 13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209925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3448050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“TESTING ON A PUBLIC MULTI-SCANNER IS HARMLESS”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3767138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leak the payload to vendors and threat intelligence feeds, alerting defenders before the engagement even begins.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3209925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3448050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“ANTIVIRUS IS ONE THING THAT EITHER CATCHES YOU OR DOESN'T”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3767138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system of components with distinct detection engine types, each with its own blind spot to understand separately.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800100" y="4881563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8225" y="5119688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“AUTOMATED EVASION TOOLS ALWAYS WORK”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8225" y="5438775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can fail silently against an engine they were not tuned for, which is exactly why manual understanding comes first.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248775" y="4881563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86900" y="5119688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“EVADING DETECTION IS THE ONLY GOAL”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486900" y="5438775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payload that evades AV but no longer performs its function is not a usable result — verifying function is a stated practical skill.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800100" y="6553200"/>
            <a:ext cx="8239125" cy="1685925"/>
          </a:xfrm>
          <a:prstGeom prst="roundRect">
            <a:avLst>
              <a:gd name="adj" fmla="val 904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8225" y="6791325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“SIGNATURE AND BEHAVIOURAL EVASION USE THE SAME TECHNIQUE”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38225" y="7110413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evasion alters byte patterns; behavioural evasion alters what the code does at runtime. They require different approaches entirely.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248775" y="6553200"/>
            <a:ext cx="8239125" cy="1685925"/>
          </a:xfrm>
          <a:prstGeom prst="roundRect">
            <a:avLst>
              <a:gd name="adj" fmla="val 904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86900" y="6791325"/>
            <a:ext cx="7995761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“PASSING AN ISOLATED TEST GUARANTEES SUCCESS ON THE REAL TARGET”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86900" y="7334250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differences between the test environment and the real target can produce different outcomes, as explored in the applied scenario.</a:t>
            </a:r>
            <a:endParaRPr lang="en-US" sz="18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467109" y="3273326"/>
            <a:ext cx="335378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13 IN CONTEXT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626004" y="3749576"/>
            <a:ext cx="1035993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2000" b="1" spc="-30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74555" y="5502176"/>
            <a:ext cx="15938815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381"/>
              </a:lnSpc>
              <a:buNone/>
            </a:pPr>
            <a:r>
              <a:rPr lang="en-US" sz="34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engine types, each with a distinct blind spot to understand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3257550" y="6212681"/>
            <a:ext cx="1177290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Signature-based, heuristic, and behavioural detection. Percentage weightings per module: information not defined in the official exam outline.</a:t>
            </a:r>
            <a:endParaRPr lang="en-US" sz="21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486025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981325"/>
            <a:ext cx="1718843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payload is flagged the instant it is delivered to the target, before any code has executed. Which detection engine type most likely caught it?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1433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3243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3338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398169"/>
            <a:ext cx="254136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detection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0958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6A00">
              <a:alpha val="10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2768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2863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350669"/>
            <a:ext cx="313097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Signature-based detection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60483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62293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62388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303169"/>
            <a:ext cx="221239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detection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00100" y="70008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8225" y="71818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9650" y="71913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952625" y="7255669"/>
            <a:ext cx="24471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Nmap NSE detection</a:t>
            </a:r>
            <a:endParaRPr lang="en-US" sz="1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16185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SUMMARY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65715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13 in two lines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323904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504879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514404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578697"/>
            <a:ext cx="1600880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versus unknown threats, AV's cooperating components, and the distinct blind spots of signature, heuristic and behavioural engines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276404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457379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466904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531197"/>
            <a:ext cx="1496211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testing practices, manual evasion against a specific engine's blind spot, and automated tools once that understanding exists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00100" y="6324154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module's discipline mirrors Module 12's exactly: understand precisely what is happening before attempting to change the outcome.</a:t>
            </a:r>
            <a:endParaRPr lang="en-US" sz="21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43000"/>
            <a:ext cx="1835658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741"/>
              </a:lnSpc>
              <a:buNone/>
            </a:pPr>
            <a:r>
              <a:rPr lang="en-US" sz="52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14: Password Attacks</a:t>
            </a:r>
            <a:endParaRPr lang="en-US" sz="5250" dirty="0"/>
          </a:p>
        </p:txBody>
      </p:sp>
      <p:sp>
        <p:nvSpPr>
          <p:cNvPr id="5" name="Shape 3"/>
          <p:cNvSpPr/>
          <p:nvPr/>
        </p:nvSpPr>
        <p:spPr>
          <a:xfrm>
            <a:off x="800100" y="2128838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2366963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NEXT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2686050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network service logins, password cracking fundamentals, and working directly with NTLM and Net-NTLMv2 hashes.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2128838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2366963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2686050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able to name which detection engine type is implicated by instant delivery-time detection versus detection mid-execution.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2128838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2366963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FORWARD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2686050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manual-before-automated discipline from Objective 13.2. Module 14 applies the identical ordering to cracking tools.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2026-08-01T10:10:55Z</dcterms:created>
  <dcterms:modified xsi:type="dcterms:W3CDTF">2026-08-01T10:10:55Z</dcterms:modified>
</cp:coreProperties>
</file>