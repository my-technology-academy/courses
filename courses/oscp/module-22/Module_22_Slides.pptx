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22. The final module of the three-module AD arc. Two units: moving between hosts, then persisting once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units. Lateral Movement Techniques carries four objectives; Persistence carries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22 of 24. The final module of the AD arc, closing what Modules 20 and 21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Module 20 mapped the domain, Module 21 obtained credentials against it. This module uses that credential material to move and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22.1. Four objectives, each a distinct named lateral movement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22.1, task 1. Three related Windows remote management mechanisms grouped as one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22.1, task 2. PsExec named explicitly — the best-known lateral movement tool, historically favoured and correspondingly well-detected.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22.1, task 3. Two related but distinct hash-based techniques, directly extending Module 14's hash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22.1, task 4. DCOM — a less commonly monitored lateral movement mechanism, closing the unit's four named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comparing the four techniques. This is the slide learners should keep pinned during practical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22.1 before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into 22.2. Three objectives on remaining in the domain once access has been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22.2, task 1. The concept before the two named techniques — why an engagement would even need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22.2, task 2. Golden tickets named explicitly — the most powerful persistence technique in the module, and a direct extension of Module 21's ticket forging.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22.2, task 3. Shadow copies — a legitimate backup feature repurposed as a persistence and credential-extraction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distinction closing the module. Two very different persistence mechanisms — one forged, one repurposed from a legitimate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22.2, then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Five minutes in pairs. Listening for correct technique selection based on detection concerns and correct professional-conduct reasoning around persistence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1. Matching lateral movement technique to detection requirements, not defaulting to the most familiar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2. Removing persistence at engagement end — a professional and contractual obligation, not optional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skill 3. Checking shadow copies as part of remediation verification, not just active compromise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Acronym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Misconceptions. The 'persistence can be left in place after the engagement' one is the most serious professional-conduct error covered in the whole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Two units, and the module that closes the three-module Active Directory arc that began at Module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Answer is C. Also appears as Q1 of the module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Two units in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Preview Module 23 — the whole course's technique assembled into one continuous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22 OF 24 · OFFSEC PEN-200 (PWK)</a:t>
            </a:r>
            <a:endParaRPr lang="en-US" sz="1650" dirty="0"/>
          </a:p>
        </p:txBody>
      </p:sp>
      <p:sp>
        <p:nvSpPr>
          <p:cNvPr id="4" name="Text 2"/>
          <p:cNvSpPr/>
          <p:nvPr/>
        </p:nvSpPr>
        <p:spPr>
          <a:xfrm>
            <a:off x="800100" y="1181100"/>
            <a:ext cx="18356580" cy="738188"/>
          </a:xfrm>
          <a:prstGeom prst="rect">
            <a:avLst/>
          </a:prstGeom>
          <a:noFill/>
          <a:ln/>
        </p:spPr>
        <p:txBody>
          <a:bodyPr wrap="square" lIns="25400" tIns="25400" rIns="25400" bIns="25400" rtlCol="0" anchor="t">
            <a:normAutofit/>
          </a:bodyPr>
          <a:lstStyle/>
          <a:p>
            <a:pPr algn="l"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Lateral Movement in Active Directory</a:t>
            </a:r>
            <a:endParaRPr lang="en-US" sz="5250" dirty="0"/>
          </a:p>
        </p:txBody>
      </p:sp>
      <p:sp>
        <p:nvSpPr>
          <p:cNvPr id="5" name="Text 3"/>
          <p:cNvSpPr/>
          <p:nvPr/>
        </p:nvSpPr>
        <p:spPr>
          <a:xfrm>
            <a:off x="800100" y="2205038"/>
            <a:ext cx="13735050" cy="977205"/>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B8C0CF"/>
                </a:solidFill>
                <a:latin typeface="Arial" pitchFamily="34" charset="0"/>
                <a:ea typeface="Arial" pitchFamily="34" charset="-122"/>
                <a:cs typeface="Arial" pitchFamily="34" charset="-120"/>
              </a:rPr>
              <a:t>WMI, WinRS, WinRM, PsExec, Pass and Overpass the Hash, and DCOM for lateral movement; golden tickets and shadow copies for persistence.</a:t>
            </a:r>
            <a:endParaRPr lang="en-US" sz="2550" dirty="0"/>
          </a:p>
        </p:txBody>
      </p:sp>
      <p:sp>
        <p:nvSpPr>
          <p:cNvPr id="6" name="Shape 4"/>
          <p:cNvSpPr/>
          <p:nvPr/>
        </p:nvSpPr>
        <p:spPr>
          <a:xfrm>
            <a:off x="800100" y="9210675"/>
            <a:ext cx="16687800" cy="9525"/>
          </a:xfrm>
          <a:prstGeom prst="rect">
            <a:avLst/>
          </a:prstGeom>
          <a:solidFill>
            <a:srgbClr val="2A2F3A"/>
          </a:solidFill>
          <a:ln/>
        </p:spPr>
      </p:sp>
      <p:sp>
        <p:nvSpPr>
          <p:cNvPr id="7" name="Text 5"/>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8" name="Text 6"/>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567559"/>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LEARNING OBJECTIVES</a:t>
            </a:r>
            <a:endParaRPr lang="en-US" sz="1650" dirty="0"/>
          </a:p>
        </p:txBody>
      </p:sp>
      <p:sp>
        <p:nvSpPr>
          <p:cNvPr id="4" name="Text 2"/>
          <p:cNvSpPr/>
          <p:nvPr/>
        </p:nvSpPr>
        <p:spPr>
          <a:xfrm>
            <a:off x="800100" y="4062859"/>
            <a:ext cx="18356580" cy="618158"/>
          </a:xfrm>
          <a:prstGeom prst="rect">
            <a:avLst/>
          </a:prstGeom>
          <a:noFill/>
          <a:ln/>
        </p:spPr>
        <p:txBody>
          <a:bodyPr wrap="square" lIns="25400" tIns="25400" rIns="25400" bIns="25400" rtlCol="0" anchor="t">
            <a:normAutofit/>
          </a:bodyPr>
          <a:lstStyle/>
          <a:p>
            <a:pPr algn="l" indent="0" marL="0">
              <a:lnSpc>
                <a:spcPct val="90896"/>
              </a:lnSpc>
              <a:buNone/>
            </a:pPr>
            <a:r>
              <a:rPr lang="en-US" sz="4350" b="1" spc="-37" kern="0" dirty="0">
                <a:solidFill>
                  <a:srgbClr val="F5F7FB"/>
                </a:solidFill>
                <a:latin typeface="Arial" pitchFamily="34" charset="0"/>
                <a:ea typeface="Arial" pitchFamily="34" charset="-122"/>
                <a:cs typeface="Arial" pitchFamily="34" charset="-120"/>
              </a:rPr>
              <a:t>What this module covers</a:t>
            </a:r>
            <a:endParaRPr lang="en-US" sz="4350" dirty="0"/>
          </a:p>
        </p:txBody>
      </p:sp>
      <p:sp>
        <p:nvSpPr>
          <p:cNvPr id="5" name="Shape 3"/>
          <p:cNvSpPr/>
          <p:nvPr/>
        </p:nvSpPr>
        <p:spPr>
          <a:xfrm>
            <a:off x="800100" y="4947717"/>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512869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513821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22.1</a:t>
            </a:r>
            <a:endParaRPr lang="en-US" sz="1650" dirty="0"/>
          </a:p>
        </p:txBody>
      </p:sp>
      <p:sp>
        <p:nvSpPr>
          <p:cNvPr id="8" name="Text 6"/>
          <p:cNvSpPr/>
          <p:nvPr/>
        </p:nvSpPr>
        <p:spPr>
          <a:xfrm>
            <a:off x="1952625" y="5202510"/>
            <a:ext cx="5426936"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Active Directory Lateral Movement Techniques</a:t>
            </a:r>
            <a:endParaRPr lang="en-US" sz="1950" dirty="0"/>
          </a:p>
        </p:txBody>
      </p:sp>
      <p:sp>
        <p:nvSpPr>
          <p:cNvPr id="9" name="Shape 7"/>
          <p:cNvSpPr/>
          <p:nvPr/>
        </p:nvSpPr>
        <p:spPr>
          <a:xfrm>
            <a:off x="800100" y="5919267"/>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6100242"/>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6109767"/>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22.2</a:t>
            </a:r>
            <a:endParaRPr lang="en-US" sz="1650" dirty="0"/>
          </a:p>
        </p:txBody>
      </p:sp>
      <p:sp>
        <p:nvSpPr>
          <p:cNvPr id="12" name="Text 10"/>
          <p:cNvSpPr/>
          <p:nvPr/>
        </p:nvSpPr>
        <p:spPr>
          <a:xfrm>
            <a:off x="1952625" y="6174060"/>
            <a:ext cx="328592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Active Directory Persistence</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18797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COURSE CONTEXT · 24 LEARNING MODULES</a:t>
            </a:r>
            <a:endParaRPr lang="en-US" sz="1650" dirty="0"/>
          </a:p>
        </p:txBody>
      </p:sp>
      <p:sp>
        <p:nvSpPr>
          <p:cNvPr id="4" name="Text 2"/>
          <p:cNvSpPr/>
          <p:nvPr/>
        </p:nvSpPr>
        <p:spPr>
          <a:xfrm>
            <a:off x="800100" y="23750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Where Module 22 sits in PEN-200</a:t>
            </a:r>
            <a:endParaRPr lang="en-US" sz="3000" dirty="0"/>
          </a:p>
        </p:txBody>
      </p:sp>
      <p:sp>
        <p:nvSpPr>
          <p:cNvPr id="5" name="Shape 3"/>
          <p:cNvSpPr/>
          <p:nvPr/>
        </p:nvSpPr>
        <p:spPr>
          <a:xfrm>
            <a:off x="80010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6" name="Text 4"/>
          <p:cNvSpPr/>
          <p:nvPr/>
        </p:nvSpPr>
        <p:spPr>
          <a:xfrm>
            <a:off x="94297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942975" y="3399011"/>
            <a:ext cx="234225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General Course Introduction</a:t>
            </a:r>
            <a:endParaRPr lang="en-US" sz="1425" dirty="0"/>
          </a:p>
        </p:txBody>
      </p:sp>
      <p:sp>
        <p:nvSpPr>
          <p:cNvPr id="8" name="Shape 6"/>
          <p:cNvSpPr/>
          <p:nvPr/>
        </p:nvSpPr>
        <p:spPr>
          <a:xfrm>
            <a:off x="500062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9" name="Text 7"/>
          <p:cNvSpPr/>
          <p:nvPr/>
        </p:nvSpPr>
        <p:spPr>
          <a:xfrm>
            <a:off x="514350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02</a:t>
            </a:r>
            <a:endParaRPr lang="en-US" sz="1200" dirty="0"/>
          </a:p>
        </p:txBody>
      </p:sp>
      <p:sp>
        <p:nvSpPr>
          <p:cNvPr id="10" name="Text 8"/>
          <p:cNvSpPr/>
          <p:nvPr/>
        </p:nvSpPr>
        <p:spPr>
          <a:xfrm>
            <a:off x="5143500" y="3399011"/>
            <a:ext cx="242537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Cybersecurity</a:t>
            </a:r>
            <a:endParaRPr lang="en-US" sz="1425" dirty="0"/>
          </a:p>
        </p:txBody>
      </p:sp>
      <p:sp>
        <p:nvSpPr>
          <p:cNvPr id="11" name="Shape 9"/>
          <p:cNvSpPr/>
          <p:nvPr/>
        </p:nvSpPr>
        <p:spPr>
          <a:xfrm>
            <a:off x="9201150"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2" name="Text 10"/>
          <p:cNvSpPr/>
          <p:nvPr/>
        </p:nvSpPr>
        <p:spPr>
          <a:xfrm>
            <a:off x="9344025"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03</a:t>
            </a:r>
            <a:endParaRPr lang="en-US" sz="1200" dirty="0"/>
          </a:p>
        </p:txBody>
      </p:sp>
      <p:sp>
        <p:nvSpPr>
          <p:cNvPr id="13" name="Text 11"/>
          <p:cNvSpPr/>
          <p:nvPr/>
        </p:nvSpPr>
        <p:spPr>
          <a:xfrm>
            <a:off x="9344025" y="3399011"/>
            <a:ext cx="238541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Effective Learning Strategies</a:t>
            </a:r>
            <a:endParaRPr lang="en-US" sz="1425" dirty="0"/>
          </a:p>
        </p:txBody>
      </p:sp>
      <p:sp>
        <p:nvSpPr>
          <p:cNvPr id="14" name="Shape 12"/>
          <p:cNvSpPr/>
          <p:nvPr/>
        </p:nvSpPr>
        <p:spPr>
          <a:xfrm>
            <a:off x="13401675" y="3041824"/>
            <a:ext cx="4086225" cy="702469"/>
          </a:xfrm>
          <a:prstGeom prst="roundRect">
            <a:avLst>
              <a:gd name="adj" fmla="val 16271"/>
            </a:avLst>
          </a:prstGeom>
          <a:solidFill>
            <a:srgbClr val="FFFFFF">
              <a:alpha val="2000"/>
            </a:srgbClr>
          </a:solidFill>
          <a:ln w="9525">
            <a:solidFill>
              <a:srgbClr val="2A2F3A"/>
            </a:solidFill>
            <a:prstDash val="solid"/>
          </a:ln>
        </p:spPr>
      </p:sp>
      <p:sp>
        <p:nvSpPr>
          <p:cNvPr id="15" name="Text 13"/>
          <p:cNvSpPr/>
          <p:nvPr/>
        </p:nvSpPr>
        <p:spPr>
          <a:xfrm>
            <a:off x="13544550" y="3165649"/>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04</a:t>
            </a:r>
            <a:endParaRPr lang="en-US" sz="1200" dirty="0"/>
          </a:p>
        </p:txBody>
      </p:sp>
      <p:sp>
        <p:nvSpPr>
          <p:cNvPr id="16" name="Text 14"/>
          <p:cNvSpPr/>
          <p:nvPr/>
        </p:nvSpPr>
        <p:spPr>
          <a:xfrm>
            <a:off x="13544550" y="3399011"/>
            <a:ext cx="312066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Report Writing for Penetration Testers</a:t>
            </a:r>
            <a:endParaRPr lang="en-US" sz="1425" dirty="0"/>
          </a:p>
        </p:txBody>
      </p:sp>
      <p:sp>
        <p:nvSpPr>
          <p:cNvPr id="17" name="Shape 15"/>
          <p:cNvSpPr/>
          <p:nvPr/>
        </p:nvSpPr>
        <p:spPr>
          <a:xfrm>
            <a:off x="80010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18" name="Text 16"/>
          <p:cNvSpPr/>
          <p:nvPr/>
        </p:nvSpPr>
        <p:spPr>
          <a:xfrm>
            <a:off x="94297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05</a:t>
            </a:r>
            <a:endParaRPr lang="en-US" sz="1200" dirty="0"/>
          </a:p>
        </p:txBody>
      </p:sp>
      <p:sp>
        <p:nvSpPr>
          <p:cNvPr id="19" name="Text 17"/>
          <p:cNvSpPr/>
          <p:nvPr/>
        </p:nvSpPr>
        <p:spPr>
          <a:xfrm>
            <a:off x="942975" y="4215780"/>
            <a:ext cx="183118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Information Gathering</a:t>
            </a:r>
            <a:endParaRPr lang="en-US" sz="1425" dirty="0"/>
          </a:p>
        </p:txBody>
      </p:sp>
      <p:sp>
        <p:nvSpPr>
          <p:cNvPr id="20" name="Shape 18"/>
          <p:cNvSpPr/>
          <p:nvPr/>
        </p:nvSpPr>
        <p:spPr>
          <a:xfrm>
            <a:off x="500062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1" name="Text 19"/>
          <p:cNvSpPr/>
          <p:nvPr/>
        </p:nvSpPr>
        <p:spPr>
          <a:xfrm>
            <a:off x="514350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06</a:t>
            </a:r>
            <a:endParaRPr lang="en-US" sz="1200" dirty="0"/>
          </a:p>
        </p:txBody>
      </p:sp>
      <p:sp>
        <p:nvSpPr>
          <p:cNvPr id="22" name="Text 20"/>
          <p:cNvSpPr/>
          <p:nvPr/>
        </p:nvSpPr>
        <p:spPr>
          <a:xfrm>
            <a:off x="5143500" y="4215780"/>
            <a:ext cx="18587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Vulnerability Scanning</a:t>
            </a:r>
            <a:endParaRPr lang="en-US" sz="1425" dirty="0"/>
          </a:p>
        </p:txBody>
      </p:sp>
      <p:sp>
        <p:nvSpPr>
          <p:cNvPr id="23" name="Shape 21"/>
          <p:cNvSpPr/>
          <p:nvPr/>
        </p:nvSpPr>
        <p:spPr>
          <a:xfrm>
            <a:off x="9201150"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4" name="Text 22"/>
          <p:cNvSpPr/>
          <p:nvPr/>
        </p:nvSpPr>
        <p:spPr>
          <a:xfrm>
            <a:off x="9344025"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07</a:t>
            </a:r>
            <a:endParaRPr lang="en-US" sz="1200" dirty="0"/>
          </a:p>
        </p:txBody>
      </p:sp>
      <p:sp>
        <p:nvSpPr>
          <p:cNvPr id="25" name="Text 23"/>
          <p:cNvSpPr/>
          <p:nvPr/>
        </p:nvSpPr>
        <p:spPr>
          <a:xfrm>
            <a:off x="9344025" y="4215780"/>
            <a:ext cx="2704931"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Introduction to Web Applications</a:t>
            </a:r>
            <a:endParaRPr lang="en-US" sz="1425" dirty="0"/>
          </a:p>
        </p:txBody>
      </p:sp>
      <p:sp>
        <p:nvSpPr>
          <p:cNvPr id="26" name="Shape 24"/>
          <p:cNvSpPr/>
          <p:nvPr/>
        </p:nvSpPr>
        <p:spPr>
          <a:xfrm>
            <a:off x="13401675" y="3858592"/>
            <a:ext cx="4086225" cy="702469"/>
          </a:xfrm>
          <a:prstGeom prst="roundRect">
            <a:avLst>
              <a:gd name="adj" fmla="val 16271"/>
            </a:avLst>
          </a:prstGeom>
          <a:solidFill>
            <a:srgbClr val="FFFFFF">
              <a:alpha val="2000"/>
            </a:srgbClr>
          </a:solidFill>
          <a:ln w="9525">
            <a:solidFill>
              <a:srgbClr val="2A2F3A"/>
            </a:solidFill>
            <a:prstDash val="solid"/>
          </a:ln>
        </p:spPr>
      </p:sp>
      <p:sp>
        <p:nvSpPr>
          <p:cNvPr id="27" name="Text 25"/>
          <p:cNvSpPr/>
          <p:nvPr/>
        </p:nvSpPr>
        <p:spPr>
          <a:xfrm>
            <a:off x="13544550" y="3982417"/>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08</a:t>
            </a:r>
            <a:endParaRPr lang="en-US" sz="1200" dirty="0"/>
          </a:p>
        </p:txBody>
      </p:sp>
      <p:sp>
        <p:nvSpPr>
          <p:cNvPr id="28" name="Text 26"/>
          <p:cNvSpPr/>
          <p:nvPr/>
        </p:nvSpPr>
        <p:spPr>
          <a:xfrm>
            <a:off x="13544550" y="4215780"/>
            <a:ext cx="282051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Common Web Application Attacks</a:t>
            </a:r>
            <a:endParaRPr lang="en-US" sz="1425" dirty="0"/>
          </a:p>
        </p:txBody>
      </p:sp>
      <p:sp>
        <p:nvSpPr>
          <p:cNvPr id="29" name="Shape 27"/>
          <p:cNvSpPr/>
          <p:nvPr/>
        </p:nvSpPr>
        <p:spPr>
          <a:xfrm>
            <a:off x="80010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0" name="Text 28"/>
          <p:cNvSpPr/>
          <p:nvPr/>
        </p:nvSpPr>
        <p:spPr>
          <a:xfrm>
            <a:off x="94297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09</a:t>
            </a:r>
            <a:endParaRPr lang="en-US" sz="1200" dirty="0"/>
          </a:p>
        </p:txBody>
      </p:sp>
      <p:sp>
        <p:nvSpPr>
          <p:cNvPr id="31" name="Text 29"/>
          <p:cNvSpPr/>
          <p:nvPr/>
        </p:nvSpPr>
        <p:spPr>
          <a:xfrm>
            <a:off x="942975" y="5032549"/>
            <a:ext cx="179419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SQL Injection Attacks</a:t>
            </a:r>
            <a:endParaRPr lang="en-US" sz="1425" dirty="0"/>
          </a:p>
        </p:txBody>
      </p:sp>
      <p:sp>
        <p:nvSpPr>
          <p:cNvPr id="32" name="Shape 30"/>
          <p:cNvSpPr/>
          <p:nvPr/>
        </p:nvSpPr>
        <p:spPr>
          <a:xfrm>
            <a:off x="500062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3" name="Text 31"/>
          <p:cNvSpPr/>
          <p:nvPr/>
        </p:nvSpPr>
        <p:spPr>
          <a:xfrm>
            <a:off x="514350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10</a:t>
            </a:r>
            <a:endParaRPr lang="en-US" sz="1200" dirty="0"/>
          </a:p>
        </p:txBody>
      </p:sp>
      <p:sp>
        <p:nvSpPr>
          <p:cNvPr id="34" name="Text 32"/>
          <p:cNvSpPr/>
          <p:nvPr/>
        </p:nvSpPr>
        <p:spPr>
          <a:xfrm>
            <a:off x="5143500" y="5032549"/>
            <a:ext cx="161992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Client-Side Attacks</a:t>
            </a:r>
            <a:endParaRPr lang="en-US" sz="1425" dirty="0"/>
          </a:p>
        </p:txBody>
      </p:sp>
      <p:sp>
        <p:nvSpPr>
          <p:cNvPr id="35" name="Shape 33"/>
          <p:cNvSpPr/>
          <p:nvPr/>
        </p:nvSpPr>
        <p:spPr>
          <a:xfrm>
            <a:off x="9201150"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6" name="Text 34"/>
          <p:cNvSpPr/>
          <p:nvPr/>
        </p:nvSpPr>
        <p:spPr>
          <a:xfrm>
            <a:off x="9344025"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11</a:t>
            </a:r>
            <a:endParaRPr lang="en-US" sz="1200" dirty="0"/>
          </a:p>
        </p:txBody>
      </p:sp>
      <p:sp>
        <p:nvSpPr>
          <p:cNvPr id="37" name="Text 35"/>
          <p:cNvSpPr/>
          <p:nvPr/>
        </p:nvSpPr>
        <p:spPr>
          <a:xfrm>
            <a:off x="9344025" y="5032549"/>
            <a:ext cx="1980009"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Locating Public Exploits</a:t>
            </a:r>
            <a:endParaRPr lang="en-US" sz="1425" dirty="0"/>
          </a:p>
        </p:txBody>
      </p:sp>
      <p:sp>
        <p:nvSpPr>
          <p:cNvPr id="38" name="Shape 36"/>
          <p:cNvSpPr/>
          <p:nvPr/>
        </p:nvSpPr>
        <p:spPr>
          <a:xfrm>
            <a:off x="13401675" y="4675361"/>
            <a:ext cx="4086225" cy="702469"/>
          </a:xfrm>
          <a:prstGeom prst="roundRect">
            <a:avLst>
              <a:gd name="adj" fmla="val 16271"/>
            </a:avLst>
          </a:prstGeom>
          <a:solidFill>
            <a:srgbClr val="FFFFFF">
              <a:alpha val="2000"/>
            </a:srgbClr>
          </a:solidFill>
          <a:ln w="9525">
            <a:solidFill>
              <a:srgbClr val="2A2F3A"/>
            </a:solidFill>
            <a:prstDash val="solid"/>
          </a:ln>
        </p:spPr>
      </p:sp>
      <p:sp>
        <p:nvSpPr>
          <p:cNvPr id="39" name="Text 37"/>
          <p:cNvSpPr/>
          <p:nvPr/>
        </p:nvSpPr>
        <p:spPr>
          <a:xfrm>
            <a:off x="13544550" y="4799186"/>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12</a:t>
            </a:r>
            <a:endParaRPr lang="en-US" sz="1200" dirty="0"/>
          </a:p>
        </p:txBody>
      </p:sp>
      <p:sp>
        <p:nvSpPr>
          <p:cNvPr id="40" name="Text 38"/>
          <p:cNvSpPr/>
          <p:nvPr/>
        </p:nvSpPr>
        <p:spPr>
          <a:xfrm>
            <a:off x="13544550" y="5032549"/>
            <a:ext cx="122351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Fixing Exploits</a:t>
            </a:r>
            <a:endParaRPr lang="en-US" sz="1425" dirty="0"/>
          </a:p>
        </p:txBody>
      </p:sp>
      <p:sp>
        <p:nvSpPr>
          <p:cNvPr id="41" name="Shape 39"/>
          <p:cNvSpPr/>
          <p:nvPr/>
        </p:nvSpPr>
        <p:spPr>
          <a:xfrm>
            <a:off x="80010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2" name="Text 40"/>
          <p:cNvSpPr/>
          <p:nvPr/>
        </p:nvSpPr>
        <p:spPr>
          <a:xfrm>
            <a:off x="94297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13</a:t>
            </a:r>
            <a:endParaRPr lang="en-US" sz="1200" dirty="0"/>
          </a:p>
        </p:txBody>
      </p:sp>
      <p:sp>
        <p:nvSpPr>
          <p:cNvPr id="43" name="Text 41"/>
          <p:cNvSpPr/>
          <p:nvPr/>
        </p:nvSpPr>
        <p:spPr>
          <a:xfrm>
            <a:off x="942975" y="5849317"/>
            <a:ext cx="1443856"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Antivirus Evasion</a:t>
            </a:r>
            <a:endParaRPr lang="en-US" sz="1425" dirty="0"/>
          </a:p>
        </p:txBody>
      </p:sp>
      <p:sp>
        <p:nvSpPr>
          <p:cNvPr id="44" name="Shape 42"/>
          <p:cNvSpPr/>
          <p:nvPr/>
        </p:nvSpPr>
        <p:spPr>
          <a:xfrm>
            <a:off x="500062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5" name="Text 43"/>
          <p:cNvSpPr/>
          <p:nvPr/>
        </p:nvSpPr>
        <p:spPr>
          <a:xfrm>
            <a:off x="514350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14</a:t>
            </a:r>
            <a:endParaRPr lang="en-US" sz="1200" dirty="0"/>
          </a:p>
        </p:txBody>
      </p:sp>
      <p:sp>
        <p:nvSpPr>
          <p:cNvPr id="46" name="Text 44"/>
          <p:cNvSpPr/>
          <p:nvPr/>
        </p:nvSpPr>
        <p:spPr>
          <a:xfrm>
            <a:off x="5143500" y="5849317"/>
            <a:ext cx="149981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Password Attacks</a:t>
            </a:r>
            <a:endParaRPr lang="en-US" sz="1425" dirty="0"/>
          </a:p>
        </p:txBody>
      </p:sp>
      <p:sp>
        <p:nvSpPr>
          <p:cNvPr id="47" name="Shape 45"/>
          <p:cNvSpPr/>
          <p:nvPr/>
        </p:nvSpPr>
        <p:spPr>
          <a:xfrm>
            <a:off x="9201150"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48" name="Text 46"/>
          <p:cNvSpPr/>
          <p:nvPr/>
        </p:nvSpPr>
        <p:spPr>
          <a:xfrm>
            <a:off x="9344025"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15</a:t>
            </a:r>
            <a:endParaRPr lang="en-US" sz="1200" dirty="0"/>
          </a:p>
        </p:txBody>
      </p:sp>
      <p:sp>
        <p:nvSpPr>
          <p:cNvPr id="49" name="Text 47"/>
          <p:cNvSpPr/>
          <p:nvPr/>
        </p:nvSpPr>
        <p:spPr>
          <a:xfrm>
            <a:off x="9344025" y="5849317"/>
            <a:ext cx="2412802"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Windows Privilege Escalation</a:t>
            </a:r>
            <a:endParaRPr lang="en-US" sz="1425" dirty="0"/>
          </a:p>
        </p:txBody>
      </p:sp>
      <p:sp>
        <p:nvSpPr>
          <p:cNvPr id="50" name="Shape 48"/>
          <p:cNvSpPr/>
          <p:nvPr/>
        </p:nvSpPr>
        <p:spPr>
          <a:xfrm>
            <a:off x="13401675" y="5492130"/>
            <a:ext cx="4086225" cy="702469"/>
          </a:xfrm>
          <a:prstGeom prst="roundRect">
            <a:avLst>
              <a:gd name="adj" fmla="val 16271"/>
            </a:avLst>
          </a:prstGeom>
          <a:solidFill>
            <a:srgbClr val="FFFFFF">
              <a:alpha val="2000"/>
            </a:srgbClr>
          </a:solidFill>
          <a:ln w="9525">
            <a:solidFill>
              <a:srgbClr val="2A2F3A"/>
            </a:solidFill>
            <a:prstDash val="solid"/>
          </a:ln>
        </p:spPr>
      </p:sp>
      <p:sp>
        <p:nvSpPr>
          <p:cNvPr id="51" name="Text 49"/>
          <p:cNvSpPr/>
          <p:nvPr/>
        </p:nvSpPr>
        <p:spPr>
          <a:xfrm>
            <a:off x="13544550" y="5615955"/>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16</a:t>
            </a:r>
            <a:endParaRPr lang="en-US" sz="1200" dirty="0"/>
          </a:p>
        </p:txBody>
      </p:sp>
      <p:sp>
        <p:nvSpPr>
          <p:cNvPr id="52" name="Text 50"/>
          <p:cNvSpPr/>
          <p:nvPr/>
        </p:nvSpPr>
        <p:spPr>
          <a:xfrm>
            <a:off x="13544550" y="5849317"/>
            <a:ext cx="2104058"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Linux Privilege Escalation</a:t>
            </a:r>
            <a:endParaRPr lang="en-US" sz="1425" dirty="0"/>
          </a:p>
        </p:txBody>
      </p:sp>
      <p:sp>
        <p:nvSpPr>
          <p:cNvPr id="53" name="Shape 51"/>
          <p:cNvSpPr/>
          <p:nvPr/>
        </p:nvSpPr>
        <p:spPr>
          <a:xfrm>
            <a:off x="80010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4" name="Text 52"/>
          <p:cNvSpPr/>
          <p:nvPr/>
        </p:nvSpPr>
        <p:spPr>
          <a:xfrm>
            <a:off x="94297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17</a:t>
            </a:r>
            <a:endParaRPr lang="en-US" sz="1200" dirty="0"/>
          </a:p>
        </p:txBody>
      </p:sp>
      <p:sp>
        <p:nvSpPr>
          <p:cNvPr id="55" name="Text 53"/>
          <p:cNvSpPr/>
          <p:nvPr/>
        </p:nvSpPr>
        <p:spPr>
          <a:xfrm>
            <a:off x="942975" y="6666086"/>
            <a:ext cx="294774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Port Redirection and SSH Tunneling</a:t>
            </a:r>
            <a:endParaRPr lang="en-US" sz="1425" dirty="0"/>
          </a:p>
        </p:txBody>
      </p:sp>
      <p:sp>
        <p:nvSpPr>
          <p:cNvPr id="56" name="Shape 54"/>
          <p:cNvSpPr/>
          <p:nvPr/>
        </p:nvSpPr>
        <p:spPr>
          <a:xfrm>
            <a:off x="500062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57" name="Text 55"/>
          <p:cNvSpPr/>
          <p:nvPr/>
        </p:nvSpPr>
        <p:spPr>
          <a:xfrm>
            <a:off x="514350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18</a:t>
            </a:r>
            <a:endParaRPr lang="en-US" sz="1200" dirty="0"/>
          </a:p>
        </p:txBody>
      </p:sp>
      <p:sp>
        <p:nvSpPr>
          <p:cNvPr id="58" name="Text 56"/>
          <p:cNvSpPr/>
          <p:nvPr/>
        </p:nvSpPr>
        <p:spPr>
          <a:xfrm>
            <a:off x="5143500" y="6666086"/>
            <a:ext cx="170557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Advanced Tunneling</a:t>
            </a:r>
            <a:endParaRPr lang="en-US" sz="1425" dirty="0"/>
          </a:p>
        </p:txBody>
      </p:sp>
      <p:sp>
        <p:nvSpPr>
          <p:cNvPr id="59" name="Shape 57"/>
          <p:cNvSpPr/>
          <p:nvPr/>
        </p:nvSpPr>
        <p:spPr>
          <a:xfrm>
            <a:off x="9201150"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0" name="Text 58"/>
          <p:cNvSpPr/>
          <p:nvPr/>
        </p:nvSpPr>
        <p:spPr>
          <a:xfrm>
            <a:off x="9344025"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19</a:t>
            </a:r>
            <a:endParaRPr lang="en-US" sz="1200" dirty="0"/>
          </a:p>
        </p:txBody>
      </p:sp>
      <p:sp>
        <p:nvSpPr>
          <p:cNvPr id="61" name="Text 59"/>
          <p:cNvSpPr/>
          <p:nvPr/>
        </p:nvSpPr>
        <p:spPr>
          <a:xfrm>
            <a:off x="9344025" y="6666086"/>
            <a:ext cx="2217167"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The Metasploit Framework</a:t>
            </a:r>
            <a:endParaRPr lang="en-US" sz="1425" dirty="0"/>
          </a:p>
        </p:txBody>
      </p:sp>
      <p:sp>
        <p:nvSpPr>
          <p:cNvPr id="62" name="Shape 60"/>
          <p:cNvSpPr/>
          <p:nvPr/>
        </p:nvSpPr>
        <p:spPr>
          <a:xfrm>
            <a:off x="13401675" y="6308899"/>
            <a:ext cx="4086225" cy="702469"/>
          </a:xfrm>
          <a:prstGeom prst="roundRect">
            <a:avLst>
              <a:gd name="adj" fmla="val 16271"/>
            </a:avLst>
          </a:prstGeom>
          <a:solidFill>
            <a:srgbClr val="FFFFFF">
              <a:alpha val="2000"/>
            </a:srgbClr>
          </a:solidFill>
          <a:ln w="9525">
            <a:solidFill>
              <a:srgbClr val="2A2F3A"/>
            </a:solidFill>
            <a:prstDash val="solid"/>
          </a:ln>
        </p:spPr>
      </p:sp>
      <p:sp>
        <p:nvSpPr>
          <p:cNvPr id="63" name="Text 61"/>
          <p:cNvSpPr/>
          <p:nvPr/>
        </p:nvSpPr>
        <p:spPr>
          <a:xfrm>
            <a:off x="13544550" y="6432724"/>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20</a:t>
            </a:r>
            <a:endParaRPr lang="en-US" sz="1200" dirty="0"/>
          </a:p>
        </p:txBody>
      </p:sp>
      <p:sp>
        <p:nvSpPr>
          <p:cNvPr id="64" name="Text 62"/>
          <p:cNvSpPr/>
          <p:nvPr/>
        </p:nvSpPr>
        <p:spPr>
          <a:xfrm>
            <a:off x="13544550" y="6666086"/>
            <a:ext cx="2748390"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AD Introduction and Enumeration</a:t>
            </a:r>
            <a:endParaRPr lang="en-US" sz="1425" dirty="0"/>
          </a:p>
        </p:txBody>
      </p:sp>
      <p:sp>
        <p:nvSpPr>
          <p:cNvPr id="65" name="Shape 63"/>
          <p:cNvSpPr/>
          <p:nvPr/>
        </p:nvSpPr>
        <p:spPr>
          <a:xfrm>
            <a:off x="80010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66" name="Text 64"/>
          <p:cNvSpPr/>
          <p:nvPr/>
        </p:nvSpPr>
        <p:spPr>
          <a:xfrm>
            <a:off x="94297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21</a:t>
            </a:r>
            <a:endParaRPr lang="en-US" sz="1200" dirty="0"/>
          </a:p>
        </p:txBody>
      </p:sp>
      <p:sp>
        <p:nvSpPr>
          <p:cNvPr id="67" name="Text 65"/>
          <p:cNvSpPr/>
          <p:nvPr/>
        </p:nvSpPr>
        <p:spPr>
          <a:xfrm>
            <a:off x="942975" y="7482855"/>
            <a:ext cx="2339355"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Attacking AD Authentication</a:t>
            </a:r>
            <a:endParaRPr lang="en-US" sz="1425" dirty="0"/>
          </a:p>
        </p:txBody>
      </p:sp>
      <p:sp>
        <p:nvSpPr>
          <p:cNvPr id="68" name="Shape 66"/>
          <p:cNvSpPr/>
          <p:nvPr/>
        </p:nvSpPr>
        <p:spPr>
          <a:xfrm>
            <a:off x="5000625" y="7125667"/>
            <a:ext cx="4086225" cy="702469"/>
          </a:xfrm>
          <a:prstGeom prst="roundRect">
            <a:avLst>
              <a:gd name="adj" fmla="val 16271"/>
            </a:avLst>
          </a:prstGeom>
          <a:solidFill>
            <a:srgbClr val="FF6A00">
              <a:alpha val="12000"/>
            </a:srgbClr>
          </a:solidFill>
          <a:ln w="9525">
            <a:solidFill>
              <a:srgbClr val="FF6A00"/>
            </a:solidFill>
            <a:prstDash val="solid"/>
          </a:ln>
        </p:spPr>
      </p:sp>
      <p:sp>
        <p:nvSpPr>
          <p:cNvPr id="69" name="Text 67"/>
          <p:cNvSpPr/>
          <p:nvPr/>
        </p:nvSpPr>
        <p:spPr>
          <a:xfrm>
            <a:off x="514350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22</a:t>
            </a:r>
            <a:endParaRPr lang="en-US" sz="1200" dirty="0"/>
          </a:p>
        </p:txBody>
      </p:sp>
      <p:sp>
        <p:nvSpPr>
          <p:cNvPr id="70" name="Text 68"/>
          <p:cNvSpPr/>
          <p:nvPr/>
        </p:nvSpPr>
        <p:spPr>
          <a:xfrm>
            <a:off x="5143500" y="7482855"/>
            <a:ext cx="2160910" cy="252413"/>
          </a:xfrm>
          <a:prstGeom prst="rect">
            <a:avLst/>
          </a:prstGeom>
          <a:noFill/>
          <a:ln/>
        </p:spPr>
        <p:txBody>
          <a:bodyPr wrap="square" lIns="0" tIns="0" rIns="0" bIns="0" rtlCol="0" anchor="t">
            <a:normAutofit/>
          </a:bodyPr>
          <a:lstStyle/>
          <a:p>
            <a:pPr algn="l" indent="0" marL="0">
              <a:lnSpc>
                <a:spcPct val="110465"/>
              </a:lnSpc>
              <a:buNone/>
            </a:pPr>
            <a:r>
              <a:rPr lang="en-US" sz="1425" b="1" dirty="0">
                <a:solidFill>
                  <a:srgbClr val="F5F7FB"/>
                </a:solidFill>
                <a:latin typeface="Arial" pitchFamily="34" charset="0"/>
                <a:ea typeface="Arial" pitchFamily="34" charset="-122"/>
                <a:cs typeface="Arial" pitchFamily="34" charset="-120"/>
              </a:rPr>
              <a:t>Lateral Movement in AD</a:t>
            </a:r>
            <a:endParaRPr lang="en-US" sz="1425" dirty="0"/>
          </a:p>
        </p:txBody>
      </p:sp>
      <p:sp>
        <p:nvSpPr>
          <p:cNvPr id="71" name="Shape 69"/>
          <p:cNvSpPr/>
          <p:nvPr/>
        </p:nvSpPr>
        <p:spPr>
          <a:xfrm>
            <a:off x="9201150"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2" name="Text 70"/>
          <p:cNvSpPr/>
          <p:nvPr/>
        </p:nvSpPr>
        <p:spPr>
          <a:xfrm>
            <a:off x="9344025"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23</a:t>
            </a:r>
            <a:endParaRPr lang="en-US" sz="1200" dirty="0"/>
          </a:p>
        </p:txBody>
      </p:sp>
      <p:sp>
        <p:nvSpPr>
          <p:cNvPr id="73" name="Text 71"/>
          <p:cNvSpPr/>
          <p:nvPr/>
        </p:nvSpPr>
        <p:spPr>
          <a:xfrm>
            <a:off x="9344025" y="7482855"/>
            <a:ext cx="1893763"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Assembling the Pieces</a:t>
            </a:r>
            <a:endParaRPr lang="en-US" sz="1425" dirty="0"/>
          </a:p>
        </p:txBody>
      </p:sp>
      <p:sp>
        <p:nvSpPr>
          <p:cNvPr id="74" name="Shape 72"/>
          <p:cNvSpPr/>
          <p:nvPr/>
        </p:nvSpPr>
        <p:spPr>
          <a:xfrm>
            <a:off x="13401675" y="7125667"/>
            <a:ext cx="4086225" cy="702469"/>
          </a:xfrm>
          <a:prstGeom prst="roundRect">
            <a:avLst>
              <a:gd name="adj" fmla="val 16271"/>
            </a:avLst>
          </a:prstGeom>
          <a:solidFill>
            <a:srgbClr val="FFFFFF">
              <a:alpha val="2000"/>
            </a:srgbClr>
          </a:solidFill>
          <a:ln w="9525">
            <a:solidFill>
              <a:srgbClr val="2A2F3A"/>
            </a:solidFill>
            <a:prstDash val="solid"/>
          </a:ln>
        </p:spPr>
      </p:sp>
      <p:sp>
        <p:nvSpPr>
          <p:cNvPr id="75" name="Text 73"/>
          <p:cNvSpPr/>
          <p:nvPr/>
        </p:nvSpPr>
        <p:spPr>
          <a:xfrm>
            <a:off x="13544550" y="7249492"/>
            <a:ext cx="4180523" cy="228600"/>
          </a:xfrm>
          <a:prstGeom prst="rect">
            <a:avLst/>
          </a:prstGeom>
          <a:noFill/>
          <a:ln/>
        </p:spPr>
        <p:txBody>
          <a:bodyPr wrap="square" lIns="25400" tIns="25400" rIns="25400" bIns="25400" rtlCol="0" anchor="t">
            <a:normAutofit/>
          </a:bodyPr>
          <a:lstStyle/>
          <a:p>
            <a:pPr algn="l" indent="0" marL="0">
              <a:lnSpc>
                <a:spcPct val="108108"/>
              </a:lnSpc>
              <a:buNone/>
            </a:pPr>
            <a:r>
              <a:rPr lang="en-US" sz="1200" b="1" dirty="0">
                <a:solidFill>
                  <a:srgbClr val="FF6A00"/>
                </a:solidFill>
                <a:latin typeface="Arial" pitchFamily="34" charset="0"/>
                <a:ea typeface="Arial" pitchFamily="34" charset="-122"/>
                <a:cs typeface="Arial" pitchFamily="34" charset="-120"/>
              </a:rPr>
              <a:t>24</a:t>
            </a:r>
            <a:endParaRPr lang="en-US" sz="1200" dirty="0"/>
          </a:p>
        </p:txBody>
      </p:sp>
      <p:sp>
        <p:nvSpPr>
          <p:cNvPr id="76" name="Text 74"/>
          <p:cNvSpPr/>
          <p:nvPr/>
        </p:nvSpPr>
        <p:spPr>
          <a:xfrm>
            <a:off x="13544550" y="7482855"/>
            <a:ext cx="2008584" cy="252413"/>
          </a:xfrm>
          <a:prstGeom prst="rect">
            <a:avLst/>
          </a:prstGeom>
          <a:noFill/>
          <a:ln/>
        </p:spPr>
        <p:txBody>
          <a:bodyPr wrap="square" lIns="0" tIns="0" rIns="0" bIns="0" rtlCol="0" anchor="t">
            <a:normAutofit/>
          </a:bodyPr>
          <a:lstStyle/>
          <a:p>
            <a:pPr algn="l" indent="0" marL="0">
              <a:lnSpc>
                <a:spcPct val="110465"/>
              </a:lnSpc>
              <a:buNone/>
            </a:pPr>
            <a:r>
              <a:rPr lang="en-US" sz="1425" dirty="0">
                <a:solidFill>
                  <a:srgbClr val="B8C0CF"/>
                </a:solidFill>
                <a:latin typeface="Arial" pitchFamily="34" charset="0"/>
                <a:ea typeface="Arial" pitchFamily="34" charset="-122"/>
                <a:cs typeface="Arial" pitchFamily="34" charset="-120"/>
              </a:rPr>
              <a:t>Trying Harder: The Labs</a:t>
            </a:r>
            <a:endParaRPr lang="en-US" sz="1425" dirty="0"/>
          </a:p>
        </p:txBody>
      </p:sp>
      <p:sp>
        <p:nvSpPr>
          <p:cNvPr id="77" name="Text 75"/>
          <p:cNvSpPr/>
          <p:nvPr/>
        </p:nvSpPr>
        <p:spPr>
          <a:xfrm>
            <a:off x="800100" y="8075786"/>
            <a:ext cx="16344900"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8C0CF"/>
                </a:solidFill>
                <a:latin typeface="Arial" pitchFamily="34" charset="0"/>
                <a:ea typeface="Arial" pitchFamily="34" charset="-122"/>
                <a:cs typeface="Arial" pitchFamily="34" charset="-120"/>
              </a:rPr>
              <a:t>Module weightings: information not defined in the official exam outline.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ORIENTATION</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Using what Modules 20 and 21 produced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THE DEPENDENCY</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technique here assumes credential material, tickets, or hashes already obtained through Module 21's attacks.</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TWO GOALS</a:t>
            </a:r>
            <a:endParaRPr lang="en-US" sz="1500" dirty="0"/>
          </a:p>
        </p:txBody>
      </p:sp>
      <p:sp>
        <p:nvSpPr>
          <p:cNvPr id="10" name="Text 8"/>
          <p:cNvSpPr/>
          <p:nvPr/>
        </p:nvSpPr>
        <p:spPr>
          <a:xfrm>
            <a:off x="6664300"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Moving between hosts using that material, and then persisting access so it survives beyond the current session.</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CLOSES THE ARC</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This is the final module of the three-module Active Directory block that began at Module 20.</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33225" y="4181921"/>
            <a:ext cx="2221476"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22.1</a:t>
            </a:r>
            <a:endParaRPr lang="en-US" sz="1650" dirty="0"/>
          </a:p>
        </p:txBody>
      </p:sp>
      <p:sp>
        <p:nvSpPr>
          <p:cNvPr id="4" name="Text 2"/>
          <p:cNvSpPr/>
          <p:nvPr/>
        </p:nvSpPr>
        <p:spPr>
          <a:xfrm>
            <a:off x="1061349" y="4696271"/>
            <a:ext cx="16165227" cy="738188"/>
          </a:xfrm>
          <a:prstGeom prst="rect">
            <a:avLst/>
          </a:prstGeom>
          <a:noFill/>
          <a:ln/>
        </p:spPr>
        <p:txBody>
          <a:bodyPr wrap="square" lIns="25400" tIns="25400" rIns="25400" bIns="25400" rtlCol="0" anchor="t">
            <a:normAutofit/>
          </a:bodyPr>
          <a:lstStyle/>
          <a:p>
            <a:pPr algn="ctr" indent="0" marL="0">
              <a:lnSpc>
                <a:spcPct val="90741"/>
              </a:lnSpc>
              <a:buNone/>
            </a:pPr>
            <a:r>
              <a:rPr lang="en-US" sz="5250" b="1" spc="-37" kern="0" dirty="0">
                <a:solidFill>
                  <a:srgbClr val="F5F7FB"/>
                </a:solidFill>
                <a:latin typeface="Arial" pitchFamily="34" charset="0"/>
                <a:ea typeface="Arial" pitchFamily="34" charset="-122"/>
                <a:cs typeface="Arial" pitchFamily="34" charset="-120"/>
              </a:rPr>
              <a:t>Active Directory Lateral Movement Techniques</a:t>
            </a:r>
            <a:endParaRPr lang="en-US" sz="5250" dirty="0"/>
          </a:p>
        </p:txBody>
      </p:sp>
      <p:sp>
        <p:nvSpPr>
          <p:cNvPr id="5" name="Text 3"/>
          <p:cNvSpPr/>
          <p:nvPr/>
        </p:nvSpPr>
        <p:spPr>
          <a:xfrm>
            <a:off x="2370133" y="5663059"/>
            <a:ext cx="13547735"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WMI, WinRS and WinRM; PsExec; Pass the Hash and Overpass the Hash; and misusing DCOM.</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2485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53653"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22.1 · Task 1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Understanding WMI, WinRS, and WinRM lateral movement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Windows Management Instrumentation, Windows Remote Shell, and Windows Remote Management are built-in remote administration mechanisms, each usable to execute commands on another domain-joined host given valid credentials.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All three are legitimate administrative tools already present on Windows, requiring no new software introduced to move between hosts.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Different logging and detection footprints between the three — they are related but not identical in visibility to defenders.</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4919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78716"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22.1 · Task 2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Abusing PsExec for lateral movement</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PsExec executes commands on a remote host by temporarily installing a service there, using valid credentials — one of the most established and widely recognised lateral movement techniques.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Its long history and popularity mean it is also one of the most closely watched techniques by defensive tooling.</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Objective 15.2's service abuse content — PsExec's mechanism is itself a legitimate, temporary service installation.</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4251"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392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22.1 · Task 3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Pass the Hash and Overpass the Hash</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Pass the Hash authenticates using an NTLM hash directly, exactly as introduced in Module 14. Overpass the Hash uses that hash to obtain a genuine Kerberos ticket instead, moving from NTLM-based authentication into the Kerberos ecosystem.</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Overpass the Hash lets an NTLM hash unlock Kerberos-based access, bridging Module 14's hash material into Module 21's ticket-based attacks.</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14's Pass the Hash and Module 21's Kerberos content directly — this technique sits precisely between the two.</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3057823"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787607"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22.1 · Task 4 of 4</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Misusing DCOM to move laterally</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The Distributed Component Object Model allows software components to interact across the network. Certain DCOM applications can be misused to execute commands on a remote host, given valid credentials.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DCOM is a less commonly monitored mechanism than PsExec specifically, potentially offering a quieter path when detection is a concern.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Assuming every DCOM application supports this misuse — the specific application in use determines whether it applies.</a:t>
            </a:r>
            <a:endParaRPr lang="en-US" sz="18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718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DECISION AID</a:t>
            </a:r>
            <a:endParaRPr lang="en-US" sz="1650" dirty="0"/>
          </a:p>
        </p:txBody>
      </p:sp>
      <p:sp>
        <p:nvSpPr>
          <p:cNvPr id="4" name="Text 2"/>
          <p:cNvSpPr/>
          <p:nvPr/>
        </p:nvSpPr>
        <p:spPr>
          <a:xfrm>
            <a:off x="800100" y="35671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Four lateral movement mechanisms, compared</a:t>
            </a:r>
            <a:endParaRPr lang="en-US" sz="3000" dirty="0"/>
          </a:p>
        </p:txBody>
      </p:sp>
      <p:sp>
        <p:nvSpPr>
          <p:cNvPr id="5" name="Shape 3"/>
          <p:cNvSpPr/>
          <p:nvPr/>
        </p:nvSpPr>
        <p:spPr>
          <a:xfrm>
            <a:off x="800100" y="4233863"/>
            <a:ext cx="2590800" cy="500063"/>
          </a:xfrm>
          <a:prstGeom prst="rect">
            <a:avLst/>
          </a:prstGeom>
          <a:solidFill>
            <a:srgbClr val="FF6A00">
              <a:alpha val="18000"/>
            </a:srgbClr>
          </a:solidFill>
          <a:ln/>
        </p:spPr>
      </p:sp>
      <p:sp>
        <p:nvSpPr>
          <p:cNvPr id="6" name="Shape 4"/>
          <p:cNvSpPr/>
          <p:nvPr/>
        </p:nvSpPr>
        <p:spPr>
          <a:xfrm>
            <a:off x="800100" y="4724400"/>
            <a:ext cx="2590800" cy="9525"/>
          </a:xfrm>
          <a:prstGeom prst="rect">
            <a:avLst/>
          </a:prstGeom>
          <a:solidFill>
            <a:srgbClr val="B85100"/>
          </a:solidFill>
          <a:ln/>
        </p:spPr>
      </p:sp>
      <p:sp>
        <p:nvSpPr>
          <p:cNvPr id="7" name="Text 5"/>
          <p:cNvSpPr/>
          <p:nvPr/>
        </p:nvSpPr>
        <p:spPr>
          <a:xfrm>
            <a:off x="952500" y="4348163"/>
            <a:ext cx="23637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Technique</a:t>
            </a:r>
            <a:endParaRPr lang="en-US" sz="1800" dirty="0"/>
          </a:p>
        </p:txBody>
      </p:sp>
      <p:sp>
        <p:nvSpPr>
          <p:cNvPr id="8" name="Shape 6"/>
          <p:cNvSpPr/>
          <p:nvPr/>
        </p:nvSpPr>
        <p:spPr>
          <a:xfrm>
            <a:off x="3390900" y="4233863"/>
            <a:ext cx="4305300" cy="500063"/>
          </a:xfrm>
          <a:prstGeom prst="rect">
            <a:avLst/>
          </a:prstGeom>
          <a:solidFill>
            <a:srgbClr val="FF6A00">
              <a:alpha val="18000"/>
            </a:srgbClr>
          </a:solidFill>
          <a:ln/>
        </p:spPr>
      </p:sp>
      <p:sp>
        <p:nvSpPr>
          <p:cNvPr id="9" name="Shape 7"/>
          <p:cNvSpPr/>
          <p:nvPr/>
        </p:nvSpPr>
        <p:spPr>
          <a:xfrm>
            <a:off x="3390900" y="4724400"/>
            <a:ext cx="4305300" cy="9525"/>
          </a:xfrm>
          <a:prstGeom prst="rect">
            <a:avLst/>
          </a:prstGeom>
          <a:solidFill>
            <a:srgbClr val="B85100"/>
          </a:solidFill>
          <a:ln/>
        </p:spPr>
      </p:sp>
      <p:sp>
        <p:nvSpPr>
          <p:cNvPr id="10" name="Text 8"/>
          <p:cNvSpPr/>
          <p:nvPr/>
        </p:nvSpPr>
        <p:spPr>
          <a:xfrm>
            <a:off x="3543300" y="4348163"/>
            <a:ext cx="412965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Mechanism</a:t>
            </a:r>
            <a:endParaRPr lang="en-US" sz="1800" dirty="0"/>
          </a:p>
        </p:txBody>
      </p:sp>
      <p:sp>
        <p:nvSpPr>
          <p:cNvPr id="11" name="Shape 9"/>
          <p:cNvSpPr/>
          <p:nvPr/>
        </p:nvSpPr>
        <p:spPr>
          <a:xfrm>
            <a:off x="7696200" y="4233863"/>
            <a:ext cx="9791700" cy="500063"/>
          </a:xfrm>
          <a:prstGeom prst="rect">
            <a:avLst/>
          </a:prstGeom>
          <a:solidFill>
            <a:srgbClr val="FF6A00">
              <a:alpha val="18000"/>
            </a:srgbClr>
          </a:solidFill>
          <a:ln/>
        </p:spPr>
      </p:sp>
      <p:sp>
        <p:nvSpPr>
          <p:cNvPr id="12" name="Shape 10"/>
          <p:cNvSpPr/>
          <p:nvPr/>
        </p:nvSpPr>
        <p:spPr>
          <a:xfrm>
            <a:off x="7696200" y="4724400"/>
            <a:ext cx="9791700" cy="9525"/>
          </a:xfrm>
          <a:prstGeom prst="rect">
            <a:avLst/>
          </a:prstGeom>
          <a:solidFill>
            <a:srgbClr val="B85100"/>
          </a:solidFill>
          <a:ln/>
        </p:spPr>
      </p:sp>
      <p:sp>
        <p:nvSpPr>
          <p:cNvPr id="13" name="Text 11"/>
          <p:cNvSpPr/>
          <p:nvPr/>
        </p:nvSpPr>
        <p:spPr>
          <a:xfrm>
            <a:off x="7848600" y="4348163"/>
            <a:ext cx="978065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Consideration</a:t>
            </a:r>
            <a:endParaRPr lang="en-US" sz="1800" dirty="0"/>
          </a:p>
        </p:txBody>
      </p:sp>
      <p:sp>
        <p:nvSpPr>
          <p:cNvPr id="14" name="Shape 12"/>
          <p:cNvSpPr/>
          <p:nvPr/>
        </p:nvSpPr>
        <p:spPr>
          <a:xfrm>
            <a:off x="800100" y="4733925"/>
            <a:ext cx="2590800" cy="485775"/>
          </a:xfrm>
          <a:prstGeom prst="rect">
            <a:avLst/>
          </a:prstGeom>
          <a:solidFill>
            <a:srgbClr val="FFFFFF">
              <a:alpha val="2000"/>
            </a:srgbClr>
          </a:solidFill>
          <a:ln/>
        </p:spPr>
      </p:sp>
      <p:sp>
        <p:nvSpPr>
          <p:cNvPr id="15" name="Shape 13"/>
          <p:cNvSpPr/>
          <p:nvPr/>
        </p:nvSpPr>
        <p:spPr>
          <a:xfrm>
            <a:off x="800100" y="5210175"/>
            <a:ext cx="2590800" cy="9525"/>
          </a:xfrm>
          <a:prstGeom prst="rect">
            <a:avLst/>
          </a:prstGeom>
          <a:solidFill>
            <a:srgbClr val="2A2F3A"/>
          </a:solidFill>
          <a:ln/>
        </p:spPr>
      </p:sp>
      <p:sp>
        <p:nvSpPr>
          <p:cNvPr id="16" name="Text 14"/>
          <p:cNvSpPr/>
          <p:nvPr/>
        </p:nvSpPr>
        <p:spPr>
          <a:xfrm>
            <a:off x="952500" y="4838700"/>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WMI / WinRS / WinRM</a:t>
            </a:r>
            <a:endParaRPr lang="en-US" sz="1800" dirty="0"/>
          </a:p>
        </p:txBody>
      </p:sp>
      <p:sp>
        <p:nvSpPr>
          <p:cNvPr id="17" name="Shape 15"/>
          <p:cNvSpPr/>
          <p:nvPr/>
        </p:nvSpPr>
        <p:spPr>
          <a:xfrm>
            <a:off x="3390900" y="4733925"/>
            <a:ext cx="4305300" cy="485775"/>
          </a:xfrm>
          <a:prstGeom prst="rect">
            <a:avLst/>
          </a:prstGeom>
          <a:solidFill>
            <a:srgbClr val="FFFFFF">
              <a:alpha val="2000"/>
            </a:srgbClr>
          </a:solidFill>
          <a:ln/>
        </p:spPr>
      </p:sp>
      <p:sp>
        <p:nvSpPr>
          <p:cNvPr id="18" name="Shape 16"/>
          <p:cNvSpPr/>
          <p:nvPr/>
        </p:nvSpPr>
        <p:spPr>
          <a:xfrm>
            <a:off x="3390900" y="5210175"/>
            <a:ext cx="4305300" cy="9525"/>
          </a:xfrm>
          <a:prstGeom prst="rect">
            <a:avLst/>
          </a:prstGeom>
          <a:solidFill>
            <a:srgbClr val="2A2F3A"/>
          </a:solidFill>
          <a:ln/>
        </p:spPr>
      </p:sp>
      <p:sp>
        <p:nvSpPr>
          <p:cNvPr id="19" name="Text 17"/>
          <p:cNvSpPr/>
          <p:nvPr/>
        </p:nvSpPr>
        <p:spPr>
          <a:xfrm>
            <a:off x="3543300" y="4838700"/>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Built-in remote administration protocols</a:t>
            </a:r>
            <a:endParaRPr lang="en-US" sz="1800" dirty="0"/>
          </a:p>
        </p:txBody>
      </p:sp>
      <p:sp>
        <p:nvSpPr>
          <p:cNvPr id="20" name="Shape 18"/>
          <p:cNvSpPr/>
          <p:nvPr/>
        </p:nvSpPr>
        <p:spPr>
          <a:xfrm>
            <a:off x="7696200" y="4733925"/>
            <a:ext cx="9791700" cy="485775"/>
          </a:xfrm>
          <a:prstGeom prst="rect">
            <a:avLst/>
          </a:prstGeom>
          <a:solidFill>
            <a:srgbClr val="FFFFFF">
              <a:alpha val="2000"/>
            </a:srgbClr>
          </a:solidFill>
          <a:ln/>
        </p:spPr>
      </p:sp>
      <p:sp>
        <p:nvSpPr>
          <p:cNvPr id="21" name="Shape 19"/>
          <p:cNvSpPr/>
          <p:nvPr/>
        </p:nvSpPr>
        <p:spPr>
          <a:xfrm>
            <a:off x="7696200" y="5210175"/>
            <a:ext cx="9791700" cy="9525"/>
          </a:xfrm>
          <a:prstGeom prst="rect">
            <a:avLst/>
          </a:prstGeom>
          <a:solidFill>
            <a:srgbClr val="2A2F3A"/>
          </a:solidFill>
          <a:ln/>
        </p:spPr>
      </p:sp>
      <p:sp>
        <p:nvSpPr>
          <p:cNvPr id="22" name="Text 20"/>
          <p:cNvSpPr/>
          <p:nvPr/>
        </p:nvSpPr>
        <p:spPr>
          <a:xfrm>
            <a:off x="7848600" y="4838700"/>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Already present; visibility varies by mechanism</a:t>
            </a:r>
            <a:endParaRPr lang="en-US" sz="1800" dirty="0"/>
          </a:p>
        </p:txBody>
      </p:sp>
      <p:sp>
        <p:nvSpPr>
          <p:cNvPr id="23" name="Shape 21"/>
          <p:cNvSpPr/>
          <p:nvPr/>
        </p:nvSpPr>
        <p:spPr>
          <a:xfrm>
            <a:off x="800100" y="5695950"/>
            <a:ext cx="2590800" cy="9525"/>
          </a:xfrm>
          <a:prstGeom prst="rect">
            <a:avLst/>
          </a:prstGeom>
          <a:solidFill>
            <a:srgbClr val="2A2F3A"/>
          </a:solidFill>
          <a:ln/>
        </p:spPr>
      </p:sp>
      <p:sp>
        <p:nvSpPr>
          <p:cNvPr id="24" name="Text 22"/>
          <p:cNvSpPr/>
          <p:nvPr/>
        </p:nvSpPr>
        <p:spPr>
          <a:xfrm>
            <a:off x="952500" y="5324475"/>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PsExec</a:t>
            </a:r>
            <a:endParaRPr lang="en-US" sz="1800" dirty="0"/>
          </a:p>
        </p:txBody>
      </p:sp>
      <p:sp>
        <p:nvSpPr>
          <p:cNvPr id="25" name="Shape 23"/>
          <p:cNvSpPr/>
          <p:nvPr/>
        </p:nvSpPr>
        <p:spPr>
          <a:xfrm>
            <a:off x="3390900" y="5695950"/>
            <a:ext cx="4305300" cy="9525"/>
          </a:xfrm>
          <a:prstGeom prst="rect">
            <a:avLst/>
          </a:prstGeom>
          <a:solidFill>
            <a:srgbClr val="2A2F3A"/>
          </a:solidFill>
          <a:ln/>
        </p:spPr>
      </p:sp>
      <p:sp>
        <p:nvSpPr>
          <p:cNvPr id="26" name="Text 24"/>
          <p:cNvSpPr/>
          <p:nvPr/>
        </p:nvSpPr>
        <p:spPr>
          <a:xfrm>
            <a:off x="3543300" y="5324475"/>
            <a:ext cx="412965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Temporary remote service installation</a:t>
            </a:r>
            <a:endParaRPr lang="en-US" sz="1800" dirty="0"/>
          </a:p>
        </p:txBody>
      </p:sp>
      <p:sp>
        <p:nvSpPr>
          <p:cNvPr id="27" name="Shape 25"/>
          <p:cNvSpPr/>
          <p:nvPr/>
        </p:nvSpPr>
        <p:spPr>
          <a:xfrm>
            <a:off x="7696200" y="5695950"/>
            <a:ext cx="9791700" cy="9525"/>
          </a:xfrm>
          <a:prstGeom prst="rect">
            <a:avLst/>
          </a:prstGeom>
          <a:solidFill>
            <a:srgbClr val="2A2F3A"/>
          </a:solidFill>
          <a:ln/>
        </p:spPr>
      </p:sp>
      <p:sp>
        <p:nvSpPr>
          <p:cNvPr id="28" name="Text 26"/>
          <p:cNvSpPr/>
          <p:nvPr/>
        </p:nvSpPr>
        <p:spPr>
          <a:xfrm>
            <a:off x="7848600" y="5324475"/>
            <a:ext cx="978065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Well-established, correspondingly well-monitored</a:t>
            </a:r>
            <a:endParaRPr lang="en-US" sz="1800" dirty="0"/>
          </a:p>
        </p:txBody>
      </p:sp>
      <p:sp>
        <p:nvSpPr>
          <p:cNvPr id="29" name="Shape 27"/>
          <p:cNvSpPr/>
          <p:nvPr/>
        </p:nvSpPr>
        <p:spPr>
          <a:xfrm>
            <a:off x="800100" y="5705475"/>
            <a:ext cx="2590800" cy="752475"/>
          </a:xfrm>
          <a:prstGeom prst="rect">
            <a:avLst/>
          </a:prstGeom>
          <a:solidFill>
            <a:srgbClr val="FFFFFF">
              <a:alpha val="2000"/>
            </a:srgbClr>
          </a:solidFill>
          <a:ln/>
        </p:spPr>
      </p:sp>
      <p:sp>
        <p:nvSpPr>
          <p:cNvPr id="30" name="Shape 28"/>
          <p:cNvSpPr/>
          <p:nvPr/>
        </p:nvSpPr>
        <p:spPr>
          <a:xfrm>
            <a:off x="800100" y="6448425"/>
            <a:ext cx="2590800" cy="9525"/>
          </a:xfrm>
          <a:prstGeom prst="rect">
            <a:avLst/>
          </a:prstGeom>
          <a:solidFill>
            <a:srgbClr val="2A2F3A"/>
          </a:solidFill>
          <a:ln/>
        </p:spPr>
      </p:sp>
      <p:sp>
        <p:nvSpPr>
          <p:cNvPr id="31" name="Text 29"/>
          <p:cNvSpPr/>
          <p:nvPr/>
        </p:nvSpPr>
        <p:spPr>
          <a:xfrm>
            <a:off x="952500" y="5810250"/>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Pass / Overpass the Hash</a:t>
            </a:r>
            <a:endParaRPr lang="en-US" sz="1800" dirty="0"/>
          </a:p>
        </p:txBody>
      </p:sp>
      <p:sp>
        <p:nvSpPr>
          <p:cNvPr id="32" name="Shape 30"/>
          <p:cNvSpPr/>
          <p:nvPr/>
        </p:nvSpPr>
        <p:spPr>
          <a:xfrm>
            <a:off x="3390900" y="5705475"/>
            <a:ext cx="4305300" cy="752475"/>
          </a:xfrm>
          <a:prstGeom prst="rect">
            <a:avLst/>
          </a:prstGeom>
          <a:solidFill>
            <a:srgbClr val="FFFFFF">
              <a:alpha val="2000"/>
            </a:srgbClr>
          </a:solidFill>
          <a:ln/>
        </p:spPr>
      </p:sp>
      <p:sp>
        <p:nvSpPr>
          <p:cNvPr id="33" name="Shape 31"/>
          <p:cNvSpPr/>
          <p:nvPr/>
        </p:nvSpPr>
        <p:spPr>
          <a:xfrm>
            <a:off x="3390900" y="6448425"/>
            <a:ext cx="4305300" cy="9525"/>
          </a:xfrm>
          <a:prstGeom prst="rect">
            <a:avLst/>
          </a:prstGeom>
          <a:solidFill>
            <a:srgbClr val="2A2F3A"/>
          </a:solidFill>
          <a:ln/>
        </p:spPr>
      </p:sp>
      <p:sp>
        <p:nvSpPr>
          <p:cNvPr id="34" name="Text 32"/>
          <p:cNvSpPr/>
          <p:nvPr/>
        </p:nvSpPr>
        <p:spPr>
          <a:xfrm>
            <a:off x="3543300" y="5810250"/>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Authenticate directly with a hash, or convert it to a Kerberos ticket</a:t>
            </a:r>
            <a:endParaRPr lang="en-US" sz="1800" dirty="0"/>
          </a:p>
        </p:txBody>
      </p:sp>
      <p:sp>
        <p:nvSpPr>
          <p:cNvPr id="35" name="Shape 33"/>
          <p:cNvSpPr/>
          <p:nvPr/>
        </p:nvSpPr>
        <p:spPr>
          <a:xfrm>
            <a:off x="7696200" y="5705475"/>
            <a:ext cx="9791700" cy="752475"/>
          </a:xfrm>
          <a:prstGeom prst="rect">
            <a:avLst/>
          </a:prstGeom>
          <a:solidFill>
            <a:srgbClr val="FFFFFF">
              <a:alpha val="2000"/>
            </a:srgbClr>
          </a:solidFill>
          <a:ln/>
        </p:spPr>
      </p:sp>
      <p:sp>
        <p:nvSpPr>
          <p:cNvPr id="36" name="Shape 34"/>
          <p:cNvSpPr/>
          <p:nvPr/>
        </p:nvSpPr>
        <p:spPr>
          <a:xfrm>
            <a:off x="7696200" y="6448425"/>
            <a:ext cx="9791700" cy="9525"/>
          </a:xfrm>
          <a:prstGeom prst="rect">
            <a:avLst/>
          </a:prstGeom>
          <a:solidFill>
            <a:srgbClr val="2A2F3A"/>
          </a:solidFill>
          <a:ln/>
        </p:spPr>
      </p:sp>
      <p:sp>
        <p:nvSpPr>
          <p:cNvPr id="37" name="Text 35"/>
          <p:cNvSpPr/>
          <p:nvPr/>
        </p:nvSpPr>
        <p:spPr>
          <a:xfrm>
            <a:off x="7848600" y="5810250"/>
            <a:ext cx="978065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Bridges NTLM material into Kerberos access</a:t>
            </a:r>
            <a:endParaRPr lang="en-US" sz="1800" dirty="0"/>
          </a:p>
        </p:txBody>
      </p:sp>
      <p:sp>
        <p:nvSpPr>
          <p:cNvPr id="38" name="Shape 36"/>
          <p:cNvSpPr/>
          <p:nvPr/>
        </p:nvSpPr>
        <p:spPr>
          <a:xfrm>
            <a:off x="800100" y="7200900"/>
            <a:ext cx="2590800" cy="9525"/>
          </a:xfrm>
          <a:prstGeom prst="rect">
            <a:avLst/>
          </a:prstGeom>
          <a:solidFill>
            <a:srgbClr val="2A2F3A"/>
          </a:solidFill>
          <a:ln/>
        </p:spPr>
      </p:sp>
      <p:sp>
        <p:nvSpPr>
          <p:cNvPr id="39" name="Text 37"/>
          <p:cNvSpPr/>
          <p:nvPr/>
        </p:nvSpPr>
        <p:spPr>
          <a:xfrm>
            <a:off x="952500" y="6562725"/>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DCOM</a:t>
            </a:r>
            <a:endParaRPr lang="en-US" sz="1800" dirty="0"/>
          </a:p>
        </p:txBody>
      </p:sp>
      <p:sp>
        <p:nvSpPr>
          <p:cNvPr id="40" name="Shape 38"/>
          <p:cNvSpPr/>
          <p:nvPr/>
        </p:nvSpPr>
        <p:spPr>
          <a:xfrm>
            <a:off x="3390900" y="7200900"/>
            <a:ext cx="4305300" cy="9525"/>
          </a:xfrm>
          <a:prstGeom prst="rect">
            <a:avLst/>
          </a:prstGeom>
          <a:solidFill>
            <a:srgbClr val="2A2F3A"/>
          </a:solidFill>
          <a:ln/>
        </p:spPr>
      </p:sp>
      <p:sp>
        <p:nvSpPr>
          <p:cNvPr id="41" name="Text 39"/>
          <p:cNvSpPr/>
          <p:nvPr/>
        </p:nvSpPr>
        <p:spPr>
          <a:xfrm>
            <a:off x="3543300" y="6562725"/>
            <a:ext cx="412965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Remote component interaction misused for execution</a:t>
            </a:r>
            <a:endParaRPr lang="en-US" sz="1800" dirty="0"/>
          </a:p>
        </p:txBody>
      </p:sp>
      <p:sp>
        <p:nvSpPr>
          <p:cNvPr id="42" name="Shape 40"/>
          <p:cNvSpPr/>
          <p:nvPr/>
        </p:nvSpPr>
        <p:spPr>
          <a:xfrm>
            <a:off x="7696200" y="7200900"/>
            <a:ext cx="9791700" cy="9525"/>
          </a:xfrm>
          <a:prstGeom prst="rect">
            <a:avLst/>
          </a:prstGeom>
          <a:solidFill>
            <a:srgbClr val="2A2F3A"/>
          </a:solidFill>
          <a:ln/>
        </p:spPr>
      </p:sp>
      <p:sp>
        <p:nvSpPr>
          <p:cNvPr id="43" name="Text 41"/>
          <p:cNvSpPr/>
          <p:nvPr/>
        </p:nvSpPr>
        <p:spPr>
          <a:xfrm>
            <a:off x="7848600" y="6562725"/>
            <a:ext cx="978065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Less commonly monitored than PsExec</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83143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22.1 RECAP</a:t>
            </a:r>
            <a:endParaRPr lang="en-US" sz="1650" dirty="0"/>
          </a:p>
        </p:txBody>
      </p:sp>
      <p:sp>
        <p:nvSpPr>
          <p:cNvPr id="4" name="Text 2"/>
          <p:cNvSpPr/>
          <p:nvPr/>
        </p:nvSpPr>
        <p:spPr>
          <a:xfrm>
            <a:off x="800100" y="432673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Lateral Movement Techniques — what you should now hold</a:t>
            </a:r>
            <a:endParaRPr lang="en-US" sz="3000" dirty="0"/>
          </a:p>
        </p:txBody>
      </p:sp>
      <p:sp>
        <p:nvSpPr>
          <p:cNvPr id="5" name="Shape 3"/>
          <p:cNvSpPr/>
          <p:nvPr/>
        </p:nvSpPr>
        <p:spPr>
          <a:xfrm>
            <a:off x="800100"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FOUR MECHANISMS</a:t>
            </a:r>
            <a:endParaRPr lang="en-US" sz="1500" dirty="0"/>
          </a:p>
        </p:txBody>
      </p:sp>
      <p:sp>
        <p:nvSpPr>
          <p:cNvPr id="7" name="Text 5"/>
          <p:cNvSpPr/>
          <p:nvPr/>
        </p:nvSpPr>
        <p:spPr>
          <a:xfrm>
            <a:off x="1038225"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WMI/WinRS/WinRM, PsExec, Pass/Overpass the Hash, and DCOM — each requiring valid credential material already obtained.</a:t>
            </a:r>
            <a:endParaRPr lang="en-US" sz="1875" dirty="0"/>
          </a:p>
        </p:txBody>
      </p:sp>
      <p:sp>
        <p:nvSpPr>
          <p:cNvPr id="8" name="Shape 6"/>
          <p:cNvSpPr/>
          <p:nvPr/>
        </p:nvSpPr>
        <p:spPr>
          <a:xfrm>
            <a:off x="9248775" y="4993481"/>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523160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CHOOSING BETWEEN THEM</a:t>
            </a:r>
            <a:endParaRPr lang="en-US" sz="1500" dirty="0"/>
          </a:p>
        </p:txBody>
      </p:sp>
      <p:sp>
        <p:nvSpPr>
          <p:cNvPr id="10" name="Text 8"/>
          <p:cNvSpPr/>
          <p:nvPr/>
        </p:nvSpPr>
        <p:spPr>
          <a:xfrm>
            <a:off x="9486900" y="555069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Consider what is already present, what detection footprint each carries, and what credential material is actually available.</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13662" y="4091955"/>
            <a:ext cx="2260602"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OBJECTIVE 22.2</a:t>
            </a:r>
            <a:endParaRPr lang="en-US" sz="1650" dirty="0"/>
          </a:p>
        </p:txBody>
      </p:sp>
      <p:sp>
        <p:nvSpPr>
          <p:cNvPr id="4" name="Text 2"/>
          <p:cNvSpPr/>
          <p:nvPr/>
        </p:nvSpPr>
        <p:spPr>
          <a:xfrm>
            <a:off x="2919550" y="4606305"/>
            <a:ext cx="12448825" cy="918195"/>
          </a:xfrm>
          <a:prstGeom prst="rect">
            <a:avLst/>
          </a:prstGeom>
          <a:noFill/>
          <a:ln/>
        </p:spPr>
        <p:txBody>
          <a:bodyPr wrap="square" lIns="25400" tIns="25400" rIns="25400" bIns="25400" rtlCol="0" anchor="t">
            <a:normAutofit/>
          </a:bodyPr>
          <a:lstStyle/>
          <a:p>
            <a:pPr algn="ctr" indent="0" marL="0">
              <a:lnSpc>
                <a:spcPct val="91485"/>
              </a:lnSpc>
              <a:buNone/>
            </a:pPr>
            <a:r>
              <a:rPr lang="en-US" sz="6600" b="1" spc="-37" kern="0" dirty="0">
                <a:solidFill>
                  <a:srgbClr val="F5F7FB"/>
                </a:solidFill>
                <a:latin typeface="Arial" pitchFamily="34" charset="0"/>
                <a:ea typeface="Arial" pitchFamily="34" charset="-122"/>
                <a:cs typeface="Arial" pitchFamily="34" charset="-120"/>
              </a:rPr>
              <a:t>Active Directory Persistence</a:t>
            </a:r>
            <a:endParaRPr lang="en-US" sz="6600" dirty="0"/>
          </a:p>
        </p:txBody>
      </p:sp>
      <p:sp>
        <p:nvSpPr>
          <p:cNvPr id="5" name="Text 3"/>
          <p:cNvSpPr/>
          <p:nvPr/>
        </p:nvSpPr>
        <p:spPr>
          <a:xfrm>
            <a:off x="3435236" y="5753100"/>
            <a:ext cx="11417528" cy="480045"/>
          </a:xfrm>
          <a:prstGeom prst="rect">
            <a:avLst/>
          </a:prstGeom>
          <a:noFill/>
          <a:ln/>
        </p:spPr>
        <p:txBody>
          <a:bodyPr wrap="square" lIns="25400" tIns="25400" rIns="25400" bIns="25400" rtlCol="0" anchor="t">
            <a:normAutofit/>
          </a:bodyPr>
          <a:lstStyle/>
          <a:p>
            <a:pPr algn="ctr" indent="0" marL="0">
              <a:lnSpc>
                <a:spcPct val="125405"/>
              </a:lnSpc>
              <a:buNone/>
            </a:pPr>
            <a:r>
              <a:rPr lang="en-US" sz="2400" dirty="0">
                <a:solidFill>
                  <a:srgbClr val="B8C0CF"/>
                </a:solidFill>
                <a:latin typeface="Arial" pitchFamily="34" charset="0"/>
                <a:ea typeface="Arial" pitchFamily="34" charset="-122"/>
                <a:cs typeface="Arial" pitchFamily="34" charset="-120"/>
              </a:rPr>
              <a:t>The general purpose of persistence, golden tickets, and abusing shadow copies.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5447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78415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22.2 · Task 1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The general purpose of persistence techniques</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Persistence maintains access across interruptions — a reboot, a credential rotation, or a session simply ending — without repeating the entire chain of enumeration and authentication attacks from scratch.</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long engagement testing detection and response specifically may require access that survives beyond a single continuous session.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Persistence mechanisms left in place beyond what the engagement requires. Removal at the end of testing is a professional and contractual obligation.</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78807"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809222"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22.2 · Task 2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Leveraging golden tickets as a persistence attack</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golden ticket is forged using the domain's own key distribution material, granting authentication as any domain user for an extended, attacker-chosen period — independent of subsequent password changes.</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Because it is forged from domain-level material rather than any single account's credentials, routine password resets do not remove it.</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21's service ticket forging objective — the same forging principle, applied at the domain level for lasting persistence rather than one-off access.</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066604"/>
            <a:ext cx="308386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152329"/>
            <a:ext cx="281443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Objective 22.2 · Task 3 of 3</a:t>
            </a:r>
            <a:endParaRPr lang="en-US" sz="1500" dirty="0"/>
          </a:p>
        </p:txBody>
      </p:sp>
      <p:sp>
        <p:nvSpPr>
          <p:cNvPr id="5" name="Text 3"/>
          <p:cNvSpPr/>
          <p:nvPr/>
        </p:nvSpPr>
        <p:spPr>
          <a:xfrm>
            <a:off x="800100" y="370954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Learning about shadow copies and their abuse</a:t>
            </a:r>
            <a:endParaRPr lang="en-US" sz="3000" dirty="0"/>
          </a:p>
        </p:txBody>
      </p:sp>
      <p:sp>
        <p:nvSpPr>
          <p:cNvPr id="6" name="Text 4"/>
          <p:cNvSpPr/>
          <p:nvPr/>
        </p:nvSpPr>
        <p:spPr>
          <a:xfrm>
            <a:off x="800100" y="43762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Windows shadow copies preserve point-in-time snapshots of a system for legitimate backup and recovery purposes. Accessing them can retrieve credential material or reinstate access from a snapshot taken before remediation occurred.</a:t>
            </a:r>
            <a:endParaRPr lang="en-US" sz="2175" dirty="0"/>
          </a:p>
        </p:txBody>
      </p:sp>
      <p:sp>
        <p:nvSpPr>
          <p:cNvPr id="7" name="Shape 5"/>
          <p:cNvSpPr/>
          <p:nvPr/>
        </p:nvSpPr>
        <p:spPr>
          <a:xfrm>
            <a:off x="800100"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8" name="Text 6"/>
          <p:cNvSpPr/>
          <p:nvPr/>
        </p:nvSpPr>
        <p:spPr>
          <a:xfrm>
            <a:off x="1038225"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snapshot taken before a compromise was cleaned up can still hold recoverable credential material, undermining otherwise-thorough remediation.</a:t>
            </a:r>
            <a:endParaRPr lang="en-US" sz="1875" dirty="0"/>
          </a:p>
        </p:txBody>
      </p:sp>
      <p:sp>
        <p:nvSpPr>
          <p:cNvPr id="10" name="Shape 8"/>
          <p:cNvSpPr/>
          <p:nvPr/>
        </p:nvSpPr>
        <p:spPr>
          <a:xfrm>
            <a:off x="9248775" y="5424934"/>
            <a:ext cx="8239125" cy="1795463"/>
          </a:xfrm>
          <a:prstGeom prst="roundRect">
            <a:avLst>
              <a:gd name="adj" fmla="val 8488"/>
            </a:avLst>
          </a:prstGeom>
          <a:solidFill>
            <a:srgbClr val="FFFFFF">
              <a:alpha val="2000"/>
            </a:srgbClr>
          </a:solidFill>
          <a:ln w="9525">
            <a:solidFill>
              <a:srgbClr val="2A2F3A"/>
            </a:solidFill>
            <a:prstDash val="solid"/>
          </a:ln>
        </p:spPr>
      </p:sp>
      <p:sp>
        <p:nvSpPr>
          <p:cNvPr id="11" name="Text 9"/>
          <p:cNvSpPr/>
          <p:nvPr/>
        </p:nvSpPr>
        <p:spPr>
          <a:xfrm>
            <a:off x="9486900" y="5663059"/>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WATCH FOR</a:t>
            </a:r>
            <a:endParaRPr lang="en-US" sz="1500" dirty="0"/>
          </a:p>
        </p:txBody>
      </p:sp>
      <p:sp>
        <p:nvSpPr>
          <p:cNvPr id="12" name="Text 10"/>
          <p:cNvSpPr/>
          <p:nvPr/>
        </p:nvSpPr>
        <p:spPr>
          <a:xfrm>
            <a:off x="9486900" y="5982146"/>
            <a:ext cx="7995761"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Assuming remediation is complete once active malicious artefacts are removed — a shadow copy from before that point may still hold what was removed.</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340671"/>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CRITICAL DISTINCTION</a:t>
            </a:r>
            <a:endParaRPr lang="en-US" sz="1650" dirty="0"/>
          </a:p>
        </p:txBody>
      </p:sp>
      <p:sp>
        <p:nvSpPr>
          <p:cNvPr id="4" name="Text 2"/>
          <p:cNvSpPr/>
          <p:nvPr/>
        </p:nvSpPr>
        <p:spPr>
          <a:xfrm>
            <a:off x="800100" y="3835971"/>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Golden tickets versus shadow copy abuse</a:t>
            </a:r>
            <a:endParaRPr lang="en-US" sz="3000" dirty="0"/>
          </a:p>
        </p:txBody>
      </p:sp>
      <p:sp>
        <p:nvSpPr>
          <p:cNvPr id="5" name="Shape 3"/>
          <p:cNvSpPr/>
          <p:nvPr/>
        </p:nvSpPr>
        <p:spPr>
          <a:xfrm>
            <a:off x="800100" y="4502721"/>
            <a:ext cx="7581900"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GOLDEN TICKET</a:t>
            </a:r>
            <a:endParaRPr lang="en-US" sz="1500" dirty="0"/>
          </a:p>
        </p:txBody>
      </p:sp>
      <p:sp>
        <p:nvSpPr>
          <p:cNvPr id="7" name="Text 5"/>
          <p:cNvSpPr/>
          <p:nvPr/>
        </p:nvSpPr>
        <p:spPr>
          <a:xfrm>
            <a:off x="1038225" y="5059933"/>
            <a:ext cx="731882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Actively forged from domain key material, granting fresh, extended authentication as any user — survives password resets.</a:t>
            </a:r>
            <a:endParaRPr lang="en-US" sz="1875" dirty="0"/>
          </a:p>
        </p:txBody>
      </p:sp>
      <p:sp>
        <p:nvSpPr>
          <p:cNvPr id="8" name="Text 6"/>
          <p:cNvSpPr/>
          <p:nvPr/>
        </p:nvSpPr>
        <p:spPr>
          <a:xfrm>
            <a:off x="8534400" y="4502721"/>
            <a:ext cx="1219200" cy="1833563"/>
          </a:xfrm>
          <a:prstGeom prst="rect">
            <a:avLst/>
          </a:prstGeom>
          <a:noFill/>
          <a:ln/>
        </p:spPr>
        <p:txBody>
          <a:bodyPr wrap="square" lIns="25400" tIns="25400" rIns="25400" bIns="25400" rtlCol="0" anchor="ctr">
            <a:normAutofit/>
          </a:bodyPr>
          <a:lstStyle/>
          <a:p>
            <a:pPr algn="ctr" indent="0" marL="0">
              <a:buNone/>
            </a:pPr>
            <a:r>
              <a:rPr lang="en-US" sz="3900" b="1" dirty="0">
                <a:solidFill>
                  <a:srgbClr val="FF6A00"/>
                </a:solidFill>
                <a:latin typeface="Arial" pitchFamily="34" charset="0"/>
                <a:ea typeface="Arial" pitchFamily="34" charset="-122"/>
                <a:cs typeface="Arial" pitchFamily="34" charset="-120"/>
              </a:rPr>
              <a:t>VS</a:t>
            </a:r>
            <a:endParaRPr lang="en-US" sz="3900" dirty="0"/>
          </a:p>
        </p:txBody>
      </p:sp>
      <p:sp>
        <p:nvSpPr>
          <p:cNvPr id="9" name="Shape 7"/>
          <p:cNvSpPr/>
          <p:nvPr/>
        </p:nvSpPr>
        <p:spPr>
          <a:xfrm>
            <a:off x="9906000" y="4502721"/>
            <a:ext cx="7581900" cy="1795463"/>
          </a:xfrm>
          <a:prstGeom prst="roundRect">
            <a:avLst>
              <a:gd name="adj" fmla="val 8488"/>
            </a:avLst>
          </a:prstGeom>
          <a:solidFill>
            <a:srgbClr val="FF6A00">
              <a:alpha val="6000"/>
            </a:srgbClr>
          </a:solidFill>
          <a:ln w="9525">
            <a:solidFill>
              <a:srgbClr val="B85100"/>
            </a:solidFill>
            <a:prstDash val="solid"/>
          </a:ln>
        </p:spPr>
      </p:sp>
      <p:sp>
        <p:nvSpPr>
          <p:cNvPr id="10" name="Text 8"/>
          <p:cNvSpPr/>
          <p:nvPr/>
        </p:nvSpPr>
        <p:spPr>
          <a:xfrm>
            <a:off x="10144125" y="4740846"/>
            <a:ext cx="7816215"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SHADOW COPY ABUSE</a:t>
            </a:r>
            <a:endParaRPr lang="en-US" sz="1500" dirty="0"/>
          </a:p>
        </p:txBody>
      </p:sp>
      <p:sp>
        <p:nvSpPr>
          <p:cNvPr id="11" name="Text 9"/>
          <p:cNvSpPr/>
          <p:nvPr/>
        </p:nvSpPr>
        <p:spPr>
          <a:xfrm>
            <a:off x="10144125" y="5059933"/>
            <a:ext cx="7318820"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Passively repurposes an existing legitimate backup feature, recovering material or access from a point-in-time snapshot rather than forging anything new.</a:t>
            </a:r>
            <a:endParaRPr lang="en-US" sz="1875" dirty="0"/>
          </a:p>
        </p:txBody>
      </p:sp>
      <p:sp>
        <p:nvSpPr>
          <p:cNvPr id="12" name="Text 10"/>
          <p:cNvSpPr/>
          <p:nvPr/>
        </p:nvSpPr>
        <p:spPr>
          <a:xfrm>
            <a:off x="800100" y="6545833"/>
            <a:ext cx="16344900" cy="438596"/>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One creates new persistent authentication material; the other recovers what a snapshot already preserved.</a:t>
            </a:r>
            <a:endParaRPr lang="en-US" sz="21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66474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OBJECTIVE 22.2 RECAP</a:t>
            </a:r>
            <a:endParaRPr lang="en-US" sz="1650" dirty="0"/>
          </a:p>
        </p:txBody>
      </p:sp>
      <p:sp>
        <p:nvSpPr>
          <p:cNvPr id="4" name="Text 2"/>
          <p:cNvSpPr/>
          <p:nvPr/>
        </p:nvSpPr>
        <p:spPr>
          <a:xfrm>
            <a:off x="800100" y="416004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Active Directory Persistence — what you should now hold</a:t>
            </a:r>
            <a:endParaRPr lang="en-US" sz="3000" dirty="0"/>
          </a:p>
        </p:txBody>
      </p:sp>
      <p:sp>
        <p:nvSpPr>
          <p:cNvPr id="5" name="Shape 3"/>
          <p:cNvSpPr/>
          <p:nvPr/>
        </p:nvSpPr>
        <p:spPr>
          <a:xfrm>
            <a:off x="800100"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PURPOSE</a:t>
            </a:r>
            <a:endParaRPr lang="en-US" sz="1500" dirty="0"/>
          </a:p>
        </p:txBody>
      </p:sp>
      <p:sp>
        <p:nvSpPr>
          <p:cNvPr id="7" name="Text 5"/>
          <p:cNvSpPr/>
          <p:nvPr/>
        </p:nvSpPr>
        <p:spPr>
          <a:xfrm>
            <a:off x="1038225" y="538400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Surviving interruptions without repeating the full attack chain, used only as far as the engagement requires.</a:t>
            </a:r>
            <a:endParaRPr lang="en-US" sz="1875" dirty="0"/>
          </a:p>
        </p:txBody>
      </p:sp>
      <p:sp>
        <p:nvSpPr>
          <p:cNvPr id="8" name="Shape 6"/>
          <p:cNvSpPr/>
          <p:nvPr/>
        </p:nvSpPr>
        <p:spPr>
          <a:xfrm>
            <a:off x="6426175" y="4826794"/>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5064919"/>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GOLDEN TICKETS</a:t>
            </a:r>
            <a:endParaRPr lang="en-US" sz="1500" dirty="0"/>
          </a:p>
        </p:txBody>
      </p:sp>
      <p:sp>
        <p:nvSpPr>
          <p:cNvPr id="10" name="Text 8"/>
          <p:cNvSpPr/>
          <p:nvPr/>
        </p:nvSpPr>
        <p:spPr>
          <a:xfrm>
            <a:off x="6664300" y="5384006"/>
            <a:ext cx="5108105"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Forged domain-level authentication surviving password resets.</a:t>
            </a:r>
            <a:endParaRPr lang="en-US" sz="1875" dirty="0"/>
          </a:p>
        </p:txBody>
      </p:sp>
      <p:sp>
        <p:nvSpPr>
          <p:cNvPr id="11" name="Shape 9"/>
          <p:cNvSpPr/>
          <p:nvPr/>
        </p:nvSpPr>
        <p:spPr>
          <a:xfrm>
            <a:off x="12052250" y="4826794"/>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5064919"/>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SHADOW COPIES</a:t>
            </a:r>
            <a:endParaRPr lang="en-US" sz="1500" dirty="0"/>
          </a:p>
        </p:txBody>
      </p:sp>
      <p:sp>
        <p:nvSpPr>
          <p:cNvPr id="13" name="Text 11"/>
          <p:cNvSpPr/>
          <p:nvPr/>
        </p:nvSpPr>
        <p:spPr>
          <a:xfrm>
            <a:off x="12290375" y="5384006"/>
            <a:ext cx="510818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legitimate backup feature repurposed to recover past credential material.</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940174"/>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APPLIED SCENARIO · DISCUSSION</a:t>
            </a:r>
            <a:endParaRPr lang="en-US" sz="1650" dirty="0"/>
          </a:p>
        </p:txBody>
      </p:sp>
      <p:sp>
        <p:nvSpPr>
          <p:cNvPr id="4" name="Text 2"/>
          <p:cNvSpPr/>
          <p:nvPr/>
        </p:nvSpPr>
        <p:spPr>
          <a:xfrm>
            <a:off x="800100" y="3435474"/>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Choosing a lateral movement technique under detection concerns</a:t>
            </a:r>
            <a:endParaRPr lang="en-US" sz="3000" dirty="0"/>
          </a:p>
        </p:txBody>
      </p:sp>
      <p:sp>
        <p:nvSpPr>
          <p:cNvPr id="5" name="Text 3"/>
          <p:cNvSpPr/>
          <p:nvPr/>
        </p:nvSpPr>
        <p:spPr>
          <a:xfrm>
            <a:off x="800100" y="4102224"/>
            <a:ext cx="15304770" cy="1239589"/>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 tester has valid domain credentials and needs to move to several additional hosts. The client has explicitly stated their security operations team is actively monitoring for common lateral movement tooling as part of a detection-focused engagement.</a:t>
            </a:r>
            <a:endParaRPr lang="en-US" sz="2175" dirty="0"/>
          </a:p>
        </p:txBody>
      </p:sp>
      <p:sp>
        <p:nvSpPr>
          <p:cNvPr id="6" name="Shape 4"/>
          <p:cNvSpPr/>
          <p:nvPr/>
        </p:nvSpPr>
        <p:spPr>
          <a:xfrm>
            <a:off x="800100"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7" name="Text 5"/>
          <p:cNvSpPr/>
          <p:nvPr/>
        </p:nvSpPr>
        <p:spPr>
          <a:xfrm>
            <a:off x="1038225"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8" name="Text 6"/>
          <p:cNvSpPr/>
          <p:nvPr/>
        </p:nvSpPr>
        <p:spPr>
          <a:xfrm>
            <a:off x="1038225"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Given the detection focus, which of the four Objective 22.1 techniques might be preferable, and why?</a:t>
            </a:r>
            <a:endParaRPr lang="en-US" sz="1875" dirty="0"/>
          </a:p>
        </p:txBody>
      </p:sp>
      <p:sp>
        <p:nvSpPr>
          <p:cNvPr id="9" name="Shape 7"/>
          <p:cNvSpPr/>
          <p:nvPr/>
        </p:nvSpPr>
        <p:spPr>
          <a:xfrm>
            <a:off x="6426175" y="5551363"/>
            <a:ext cx="5435575" cy="1795463"/>
          </a:xfrm>
          <a:prstGeom prst="roundRect">
            <a:avLst>
              <a:gd name="adj" fmla="val 8488"/>
            </a:avLst>
          </a:prstGeom>
          <a:solidFill>
            <a:srgbClr val="FFFFFF">
              <a:alpha val="2000"/>
            </a:srgbClr>
          </a:solidFill>
          <a:ln w="9525">
            <a:solidFill>
              <a:srgbClr val="2A2F3A"/>
            </a:solidFill>
            <a:prstDash val="solid"/>
          </a:ln>
        </p:spPr>
      </p:sp>
      <p:sp>
        <p:nvSpPr>
          <p:cNvPr id="10" name="Text 8"/>
          <p:cNvSpPr/>
          <p:nvPr/>
        </p:nvSpPr>
        <p:spPr>
          <a:xfrm>
            <a:off x="6664300" y="578948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1" name="Text 9"/>
          <p:cNvSpPr/>
          <p:nvPr/>
        </p:nvSpPr>
        <p:spPr>
          <a:xfrm>
            <a:off x="6664300" y="6108576"/>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If persistence is later required for a multi-day phase of this same engagement, what must happen to it once testing concludes?</a:t>
            </a:r>
            <a:endParaRPr lang="en-US" sz="1875" dirty="0"/>
          </a:p>
        </p:txBody>
      </p:sp>
      <p:sp>
        <p:nvSpPr>
          <p:cNvPr id="12" name="Shape 10"/>
          <p:cNvSpPr/>
          <p:nvPr/>
        </p:nvSpPr>
        <p:spPr>
          <a:xfrm>
            <a:off x="12052250" y="5551363"/>
            <a:ext cx="5435650" cy="1795463"/>
          </a:xfrm>
          <a:prstGeom prst="roundRect">
            <a:avLst>
              <a:gd name="adj" fmla="val 8488"/>
            </a:avLst>
          </a:prstGeom>
          <a:solidFill>
            <a:srgbClr val="FFFFFF">
              <a:alpha val="2000"/>
            </a:srgbClr>
          </a:solidFill>
          <a:ln w="9525">
            <a:solidFill>
              <a:srgbClr val="2A2F3A"/>
            </a:solidFill>
            <a:prstDash val="solid"/>
          </a:ln>
        </p:spPr>
      </p:sp>
      <p:sp>
        <p:nvSpPr>
          <p:cNvPr id="13" name="Text 11"/>
          <p:cNvSpPr/>
          <p:nvPr/>
        </p:nvSpPr>
        <p:spPr>
          <a:xfrm>
            <a:off x="12290375" y="578948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CONSIDER</a:t>
            </a:r>
            <a:endParaRPr lang="en-US" sz="1500" dirty="0"/>
          </a:p>
        </p:txBody>
      </p:sp>
      <p:sp>
        <p:nvSpPr>
          <p:cNvPr id="14" name="Text 12"/>
          <p:cNvSpPr/>
          <p:nvPr/>
        </p:nvSpPr>
        <p:spPr>
          <a:xfrm>
            <a:off x="12290375" y="6108576"/>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How does this scenario reflect Module 13's manual-evasion reasoning, applied to technique selection rather than payload alteration?</a:t>
            </a:r>
            <a:endParaRPr lang="en-US" sz="187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23505"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37755"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1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Matching technique to detection requirements</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Select among WMI, WinRS, WinRM, PsExec, and DCOM based on the engagement's stated detection focus, rather than defaulting to whichever tool is most familiar.</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METHOD</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Weigh each mechanism's typical visibility to defensive tooling against what the engagement specifically requires to be tested.</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13's manual evasion discipline, applied here to technique selection rather than payload modification.</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47764"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2014"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2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Removing persistence at engagement end</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Any persistence mechanism established during testing — golden tickets, scheduled tasks, or other footholds — must be removed once the engagement concludes, as a professional and typically contractual obligation.</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Leftover persistence after an engagement is itself a security risk the tester introduced, regardless of the original authorisation.</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2's authorisation and scope discipline — the engagement's boundary includes its clean conclusion, not just its active phase.</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800100" y="3233291"/>
            <a:ext cx="2352898" cy="395288"/>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981075" y="3319016"/>
            <a:ext cx="2067148" cy="261938"/>
          </a:xfrm>
          <a:prstGeom prst="rect">
            <a:avLst/>
          </a:prstGeom>
          <a:noFill/>
          <a:ln/>
        </p:spPr>
        <p:txBody>
          <a:bodyPr wrap="square" lIns="25400" tIns="25400" rIns="25400" bIns="25400" rtlCol="0" anchor="t">
            <a:normAutofit/>
          </a:bodyPr>
          <a:lstStyle/>
          <a:p>
            <a:pPr algn="l" indent="0" marL="0">
              <a:buNone/>
            </a:pPr>
            <a:r>
              <a:rPr lang="en-US" sz="1500" b="1" spc="75" kern="0" dirty="0">
                <a:solidFill>
                  <a:srgbClr val="FFD9BF"/>
                </a:solidFill>
                <a:latin typeface="Arial" pitchFamily="34" charset="0"/>
                <a:ea typeface="Arial" pitchFamily="34" charset="-122"/>
                <a:cs typeface="Arial" pitchFamily="34" charset="-120"/>
              </a:rPr>
              <a:t>Practical skill 3 of 3</a:t>
            </a:r>
            <a:endParaRPr lang="en-US" sz="1500" dirty="0"/>
          </a:p>
        </p:txBody>
      </p:sp>
      <p:sp>
        <p:nvSpPr>
          <p:cNvPr id="5" name="Text 3"/>
          <p:cNvSpPr/>
          <p:nvPr/>
        </p:nvSpPr>
        <p:spPr>
          <a:xfrm>
            <a:off x="800100" y="3876229"/>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Checking shadow copies during remediation verification</a:t>
            </a:r>
            <a:endParaRPr lang="en-US" sz="3000" dirty="0"/>
          </a:p>
        </p:txBody>
      </p:sp>
      <p:sp>
        <p:nvSpPr>
          <p:cNvPr id="6" name="Text 4"/>
          <p:cNvSpPr/>
          <p:nvPr/>
        </p:nvSpPr>
        <p:spPr>
          <a:xfrm>
            <a:off x="800100" y="4542979"/>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When verifying that a remediation is complete, check whether shadow copies predating the cleanup still exist and could restore removed credential material or access.</a:t>
            </a:r>
            <a:endParaRPr lang="en-US" sz="2175" dirty="0"/>
          </a:p>
        </p:txBody>
      </p:sp>
      <p:sp>
        <p:nvSpPr>
          <p:cNvPr id="7" name="Shape 5"/>
          <p:cNvSpPr/>
          <p:nvPr/>
        </p:nvSpPr>
        <p:spPr>
          <a:xfrm>
            <a:off x="800100"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8" name="Text 6"/>
          <p:cNvSpPr/>
          <p:nvPr/>
        </p:nvSpPr>
        <p:spPr>
          <a:xfrm>
            <a:off x="1038225"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WHY IT MATTERS</a:t>
            </a:r>
            <a:endParaRPr lang="en-US" sz="1500" dirty="0"/>
          </a:p>
        </p:txBody>
      </p:sp>
      <p:sp>
        <p:nvSpPr>
          <p:cNvPr id="9" name="Text 7"/>
          <p:cNvSpPr/>
          <p:nvPr/>
        </p:nvSpPr>
        <p:spPr>
          <a:xfrm>
            <a:off x="1038225"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Confirms whether the client's remediation is genuinely thorough, or whether a stale snapshot still undermines it.</a:t>
            </a:r>
            <a:endParaRPr lang="en-US" sz="1875" dirty="0"/>
          </a:p>
        </p:txBody>
      </p:sp>
      <p:sp>
        <p:nvSpPr>
          <p:cNvPr id="10" name="Shape 8"/>
          <p:cNvSpPr/>
          <p:nvPr/>
        </p:nvSpPr>
        <p:spPr>
          <a:xfrm>
            <a:off x="9248775" y="5591621"/>
            <a:ext cx="8239125" cy="1462088"/>
          </a:xfrm>
          <a:prstGeom prst="roundRect">
            <a:avLst>
              <a:gd name="adj" fmla="val 10423"/>
            </a:avLst>
          </a:prstGeom>
          <a:solidFill>
            <a:srgbClr val="FFFFFF">
              <a:alpha val="2000"/>
            </a:srgbClr>
          </a:solidFill>
          <a:ln w="9525">
            <a:solidFill>
              <a:srgbClr val="2A2F3A"/>
            </a:solidFill>
            <a:prstDash val="solid"/>
          </a:ln>
        </p:spPr>
      </p:sp>
      <p:sp>
        <p:nvSpPr>
          <p:cNvPr id="11" name="Text 9"/>
          <p:cNvSpPr/>
          <p:nvPr/>
        </p:nvSpPr>
        <p:spPr>
          <a:xfrm>
            <a:off x="9486900" y="5829746"/>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CONNECTS TO</a:t>
            </a:r>
            <a:endParaRPr lang="en-US" sz="1500" dirty="0"/>
          </a:p>
        </p:txBody>
      </p:sp>
      <p:sp>
        <p:nvSpPr>
          <p:cNvPr id="12" name="Text 10"/>
          <p:cNvSpPr/>
          <p:nvPr/>
        </p:nvSpPr>
        <p:spPr>
          <a:xfrm>
            <a:off x="9486900" y="6148834"/>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Module 4's reporting discipline — a finding here is a substantive gap in the remediation itself, worth documenting explicitly.</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71813"/>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ACRONYM SPOTLIGHT</a:t>
            </a:r>
            <a:endParaRPr lang="en-US" sz="1650" dirty="0"/>
          </a:p>
        </p:txBody>
      </p:sp>
      <p:sp>
        <p:nvSpPr>
          <p:cNvPr id="4" name="Text 2"/>
          <p:cNvSpPr/>
          <p:nvPr/>
        </p:nvSpPr>
        <p:spPr>
          <a:xfrm>
            <a:off x="800100" y="3567113"/>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Terms introduced in Module 22</a:t>
            </a:r>
            <a:endParaRPr lang="en-US" sz="3000" dirty="0"/>
          </a:p>
        </p:txBody>
      </p:sp>
      <p:sp>
        <p:nvSpPr>
          <p:cNvPr id="5" name="Shape 3"/>
          <p:cNvSpPr/>
          <p:nvPr/>
        </p:nvSpPr>
        <p:spPr>
          <a:xfrm>
            <a:off x="800100" y="4233863"/>
            <a:ext cx="2590800" cy="500063"/>
          </a:xfrm>
          <a:prstGeom prst="rect">
            <a:avLst/>
          </a:prstGeom>
          <a:solidFill>
            <a:srgbClr val="FF6A00">
              <a:alpha val="18000"/>
            </a:srgbClr>
          </a:solidFill>
          <a:ln/>
        </p:spPr>
      </p:sp>
      <p:sp>
        <p:nvSpPr>
          <p:cNvPr id="6" name="Shape 4"/>
          <p:cNvSpPr/>
          <p:nvPr/>
        </p:nvSpPr>
        <p:spPr>
          <a:xfrm>
            <a:off x="800100" y="4724400"/>
            <a:ext cx="2590800" cy="9525"/>
          </a:xfrm>
          <a:prstGeom prst="rect">
            <a:avLst/>
          </a:prstGeom>
          <a:solidFill>
            <a:srgbClr val="B85100"/>
          </a:solidFill>
          <a:ln/>
        </p:spPr>
      </p:sp>
      <p:sp>
        <p:nvSpPr>
          <p:cNvPr id="7" name="Text 5"/>
          <p:cNvSpPr/>
          <p:nvPr/>
        </p:nvSpPr>
        <p:spPr>
          <a:xfrm>
            <a:off x="952500" y="4348163"/>
            <a:ext cx="2363724"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Term</a:t>
            </a:r>
            <a:endParaRPr lang="en-US" sz="1800" dirty="0"/>
          </a:p>
        </p:txBody>
      </p:sp>
      <p:sp>
        <p:nvSpPr>
          <p:cNvPr id="8" name="Shape 6"/>
          <p:cNvSpPr/>
          <p:nvPr/>
        </p:nvSpPr>
        <p:spPr>
          <a:xfrm>
            <a:off x="3390900" y="4233863"/>
            <a:ext cx="4686300" cy="500063"/>
          </a:xfrm>
          <a:prstGeom prst="rect">
            <a:avLst/>
          </a:prstGeom>
          <a:solidFill>
            <a:srgbClr val="FF6A00">
              <a:alpha val="18000"/>
            </a:srgbClr>
          </a:solidFill>
          <a:ln/>
        </p:spPr>
      </p:sp>
      <p:sp>
        <p:nvSpPr>
          <p:cNvPr id="9" name="Shape 7"/>
          <p:cNvSpPr/>
          <p:nvPr/>
        </p:nvSpPr>
        <p:spPr>
          <a:xfrm>
            <a:off x="3390900" y="4724400"/>
            <a:ext cx="4686300" cy="9525"/>
          </a:xfrm>
          <a:prstGeom prst="rect">
            <a:avLst/>
          </a:prstGeom>
          <a:solidFill>
            <a:srgbClr val="B85100"/>
          </a:solidFill>
          <a:ln/>
        </p:spPr>
      </p:sp>
      <p:sp>
        <p:nvSpPr>
          <p:cNvPr id="10" name="Text 8"/>
          <p:cNvSpPr/>
          <p:nvPr/>
        </p:nvSpPr>
        <p:spPr>
          <a:xfrm>
            <a:off x="3543300" y="4348163"/>
            <a:ext cx="4522089"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What it is</a:t>
            </a:r>
            <a:endParaRPr lang="en-US" sz="1800" dirty="0"/>
          </a:p>
        </p:txBody>
      </p:sp>
      <p:sp>
        <p:nvSpPr>
          <p:cNvPr id="11" name="Shape 9"/>
          <p:cNvSpPr/>
          <p:nvPr/>
        </p:nvSpPr>
        <p:spPr>
          <a:xfrm>
            <a:off x="8077200" y="4233863"/>
            <a:ext cx="9410700" cy="500063"/>
          </a:xfrm>
          <a:prstGeom prst="rect">
            <a:avLst/>
          </a:prstGeom>
          <a:solidFill>
            <a:srgbClr val="FF6A00">
              <a:alpha val="18000"/>
            </a:srgbClr>
          </a:solidFill>
          <a:ln/>
        </p:spPr>
      </p:sp>
      <p:sp>
        <p:nvSpPr>
          <p:cNvPr id="12" name="Shape 10"/>
          <p:cNvSpPr/>
          <p:nvPr/>
        </p:nvSpPr>
        <p:spPr>
          <a:xfrm>
            <a:off x="8077200" y="4724400"/>
            <a:ext cx="9410700" cy="9525"/>
          </a:xfrm>
          <a:prstGeom prst="rect">
            <a:avLst/>
          </a:prstGeom>
          <a:solidFill>
            <a:srgbClr val="B85100"/>
          </a:solidFill>
          <a:ln/>
        </p:spPr>
      </p:sp>
      <p:sp>
        <p:nvSpPr>
          <p:cNvPr id="13" name="Text 11"/>
          <p:cNvSpPr/>
          <p:nvPr/>
        </p:nvSpPr>
        <p:spPr>
          <a:xfrm>
            <a:off x="8229600" y="4348163"/>
            <a:ext cx="9388221"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Where it appears</a:t>
            </a:r>
            <a:endParaRPr lang="en-US" sz="1800" dirty="0"/>
          </a:p>
        </p:txBody>
      </p:sp>
      <p:sp>
        <p:nvSpPr>
          <p:cNvPr id="14" name="Shape 12"/>
          <p:cNvSpPr/>
          <p:nvPr/>
        </p:nvSpPr>
        <p:spPr>
          <a:xfrm>
            <a:off x="800100" y="4733925"/>
            <a:ext cx="2590800" cy="485775"/>
          </a:xfrm>
          <a:prstGeom prst="rect">
            <a:avLst/>
          </a:prstGeom>
          <a:solidFill>
            <a:srgbClr val="FFFFFF">
              <a:alpha val="2000"/>
            </a:srgbClr>
          </a:solidFill>
          <a:ln/>
        </p:spPr>
      </p:sp>
      <p:sp>
        <p:nvSpPr>
          <p:cNvPr id="15" name="Shape 13"/>
          <p:cNvSpPr/>
          <p:nvPr/>
        </p:nvSpPr>
        <p:spPr>
          <a:xfrm>
            <a:off x="800100" y="5210175"/>
            <a:ext cx="2590800" cy="9525"/>
          </a:xfrm>
          <a:prstGeom prst="rect">
            <a:avLst/>
          </a:prstGeom>
          <a:solidFill>
            <a:srgbClr val="2A2F3A"/>
          </a:solidFill>
          <a:ln/>
        </p:spPr>
      </p:sp>
      <p:sp>
        <p:nvSpPr>
          <p:cNvPr id="16" name="Text 14"/>
          <p:cNvSpPr/>
          <p:nvPr/>
        </p:nvSpPr>
        <p:spPr>
          <a:xfrm>
            <a:off x="952500" y="4838700"/>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WMI</a:t>
            </a:r>
            <a:endParaRPr lang="en-US" sz="1800" dirty="0"/>
          </a:p>
        </p:txBody>
      </p:sp>
      <p:sp>
        <p:nvSpPr>
          <p:cNvPr id="17" name="Shape 15"/>
          <p:cNvSpPr/>
          <p:nvPr/>
        </p:nvSpPr>
        <p:spPr>
          <a:xfrm>
            <a:off x="3390900" y="4733925"/>
            <a:ext cx="4686300" cy="485775"/>
          </a:xfrm>
          <a:prstGeom prst="rect">
            <a:avLst/>
          </a:prstGeom>
          <a:solidFill>
            <a:srgbClr val="FFFFFF">
              <a:alpha val="2000"/>
            </a:srgbClr>
          </a:solidFill>
          <a:ln/>
        </p:spPr>
      </p:sp>
      <p:sp>
        <p:nvSpPr>
          <p:cNvPr id="18" name="Shape 16"/>
          <p:cNvSpPr/>
          <p:nvPr/>
        </p:nvSpPr>
        <p:spPr>
          <a:xfrm>
            <a:off x="3390900" y="5210175"/>
            <a:ext cx="4686300" cy="9525"/>
          </a:xfrm>
          <a:prstGeom prst="rect">
            <a:avLst/>
          </a:prstGeom>
          <a:solidFill>
            <a:srgbClr val="2A2F3A"/>
          </a:solidFill>
          <a:ln/>
        </p:spPr>
      </p:sp>
      <p:sp>
        <p:nvSpPr>
          <p:cNvPr id="19" name="Text 17"/>
          <p:cNvSpPr/>
          <p:nvPr/>
        </p:nvSpPr>
        <p:spPr>
          <a:xfrm>
            <a:off x="3543300" y="483870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Windows Management Instrumentation</a:t>
            </a:r>
            <a:endParaRPr lang="en-US" sz="1800" dirty="0"/>
          </a:p>
        </p:txBody>
      </p:sp>
      <p:sp>
        <p:nvSpPr>
          <p:cNvPr id="20" name="Shape 18"/>
          <p:cNvSpPr/>
          <p:nvPr/>
        </p:nvSpPr>
        <p:spPr>
          <a:xfrm>
            <a:off x="8077200" y="4733925"/>
            <a:ext cx="9410700" cy="485775"/>
          </a:xfrm>
          <a:prstGeom prst="rect">
            <a:avLst/>
          </a:prstGeom>
          <a:solidFill>
            <a:srgbClr val="FFFFFF">
              <a:alpha val="2000"/>
            </a:srgbClr>
          </a:solidFill>
          <a:ln/>
        </p:spPr>
      </p:sp>
      <p:sp>
        <p:nvSpPr>
          <p:cNvPr id="21" name="Shape 19"/>
          <p:cNvSpPr/>
          <p:nvPr/>
        </p:nvSpPr>
        <p:spPr>
          <a:xfrm>
            <a:off x="8077200" y="5210175"/>
            <a:ext cx="9410700" cy="9525"/>
          </a:xfrm>
          <a:prstGeom prst="rect">
            <a:avLst/>
          </a:prstGeom>
          <a:solidFill>
            <a:srgbClr val="2A2F3A"/>
          </a:solidFill>
          <a:ln/>
        </p:spPr>
      </p:sp>
      <p:sp>
        <p:nvSpPr>
          <p:cNvPr id="22" name="Text 20"/>
          <p:cNvSpPr/>
          <p:nvPr/>
        </p:nvSpPr>
        <p:spPr>
          <a:xfrm>
            <a:off x="8229600" y="483870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22.1</a:t>
            </a:r>
            <a:endParaRPr lang="en-US" sz="1800" dirty="0"/>
          </a:p>
        </p:txBody>
      </p:sp>
      <p:sp>
        <p:nvSpPr>
          <p:cNvPr id="23" name="Shape 21"/>
          <p:cNvSpPr/>
          <p:nvPr/>
        </p:nvSpPr>
        <p:spPr>
          <a:xfrm>
            <a:off x="800100" y="5962650"/>
            <a:ext cx="2590800" cy="9525"/>
          </a:xfrm>
          <a:prstGeom prst="rect">
            <a:avLst/>
          </a:prstGeom>
          <a:solidFill>
            <a:srgbClr val="2A2F3A"/>
          </a:solidFill>
          <a:ln/>
        </p:spPr>
      </p:sp>
      <p:sp>
        <p:nvSpPr>
          <p:cNvPr id="24" name="Text 22"/>
          <p:cNvSpPr/>
          <p:nvPr/>
        </p:nvSpPr>
        <p:spPr>
          <a:xfrm>
            <a:off x="952500" y="5324475"/>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WinRS / WinRM</a:t>
            </a:r>
            <a:endParaRPr lang="en-US" sz="1800" dirty="0"/>
          </a:p>
        </p:txBody>
      </p:sp>
      <p:sp>
        <p:nvSpPr>
          <p:cNvPr id="25" name="Shape 23"/>
          <p:cNvSpPr/>
          <p:nvPr/>
        </p:nvSpPr>
        <p:spPr>
          <a:xfrm>
            <a:off x="3390900" y="5962650"/>
            <a:ext cx="4686300" cy="9525"/>
          </a:xfrm>
          <a:prstGeom prst="rect">
            <a:avLst/>
          </a:prstGeom>
          <a:solidFill>
            <a:srgbClr val="2A2F3A"/>
          </a:solidFill>
          <a:ln/>
        </p:spPr>
      </p:sp>
      <p:sp>
        <p:nvSpPr>
          <p:cNvPr id="26" name="Text 24"/>
          <p:cNvSpPr/>
          <p:nvPr/>
        </p:nvSpPr>
        <p:spPr>
          <a:xfrm>
            <a:off x="3543300" y="532447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Windows Remote Shell / Windows Remote Management</a:t>
            </a:r>
            <a:endParaRPr lang="en-US" sz="1800" dirty="0"/>
          </a:p>
        </p:txBody>
      </p:sp>
      <p:sp>
        <p:nvSpPr>
          <p:cNvPr id="27" name="Shape 25"/>
          <p:cNvSpPr/>
          <p:nvPr/>
        </p:nvSpPr>
        <p:spPr>
          <a:xfrm>
            <a:off x="8077200" y="5962650"/>
            <a:ext cx="9410700" cy="9525"/>
          </a:xfrm>
          <a:prstGeom prst="rect">
            <a:avLst/>
          </a:prstGeom>
          <a:solidFill>
            <a:srgbClr val="2A2F3A"/>
          </a:solidFill>
          <a:ln/>
        </p:spPr>
      </p:sp>
      <p:sp>
        <p:nvSpPr>
          <p:cNvPr id="28" name="Text 26"/>
          <p:cNvSpPr/>
          <p:nvPr/>
        </p:nvSpPr>
        <p:spPr>
          <a:xfrm>
            <a:off x="8229600" y="532447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22.1</a:t>
            </a:r>
            <a:endParaRPr lang="en-US" sz="1800" dirty="0"/>
          </a:p>
        </p:txBody>
      </p:sp>
      <p:sp>
        <p:nvSpPr>
          <p:cNvPr id="29" name="Shape 27"/>
          <p:cNvSpPr/>
          <p:nvPr/>
        </p:nvSpPr>
        <p:spPr>
          <a:xfrm>
            <a:off x="800100" y="5972175"/>
            <a:ext cx="2590800" cy="485775"/>
          </a:xfrm>
          <a:prstGeom prst="rect">
            <a:avLst/>
          </a:prstGeom>
          <a:solidFill>
            <a:srgbClr val="FFFFFF">
              <a:alpha val="2000"/>
            </a:srgbClr>
          </a:solidFill>
          <a:ln/>
        </p:spPr>
      </p:sp>
      <p:sp>
        <p:nvSpPr>
          <p:cNvPr id="30" name="Shape 28"/>
          <p:cNvSpPr/>
          <p:nvPr/>
        </p:nvSpPr>
        <p:spPr>
          <a:xfrm>
            <a:off x="800100" y="6448425"/>
            <a:ext cx="2590800" cy="9525"/>
          </a:xfrm>
          <a:prstGeom prst="rect">
            <a:avLst/>
          </a:prstGeom>
          <a:solidFill>
            <a:srgbClr val="2A2F3A"/>
          </a:solidFill>
          <a:ln/>
        </p:spPr>
      </p:sp>
      <p:sp>
        <p:nvSpPr>
          <p:cNvPr id="31" name="Text 29"/>
          <p:cNvSpPr/>
          <p:nvPr/>
        </p:nvSpPr>
        <p:spPr>
          <a:xfrm>
            <a:off x="952500" y="6076950"/>
            <a:ext cx="2363724"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DCOM</a:t>
            </a:r>
            <a:endParaRPr lang="en-US" sz="1800" dirty="0"/>
          </a:p>
        </p:txBody>
      </p:sp>
      <p:sp>
        <p:nvSpPr>
          <p:cNvPr id="32" name="Shape 30"/>
          <p:cNvSpPr/>
          <p:nvPr/>
        </p:nvSpPr>
        <p:spPr>
          <a:xfrm>
            <a:off x="3390900" y="5972175"/>
            <a:ext cx="4686300" cy="485775"/>
          </a:xfrm>
          <a:prstGeom prst="rect">
            <a:avLst/>
          </a:prstGeom>
          <a:solidFill>
            <a:srgbClr val="FFFFFF">
              <a:alpha val="2000"/>
            </a:srgbClr>
          </a:solidFill>
          <a:ln/>
        </p:spPr>
      </p:sp>
      <p:sp>
        <p:nvSpPr>
          <p:cNvPr id="33" name="Shape 31"/>
          <p:cNvSpPr/>
          <p:nvPr/>
        </p:nvSpPr>
        <p:spPr>
          <a:xfrm>
            <a:off x="3390900" y="6448425"/>
            <a:ext cx="4686300" cy="9525"/>
          </a:xfrm>
          <a:prstGeom prst="rect">
            <a:avLst/>
          </a:prstGeom>
          <a:solidFill>
            <a:srgbClr val="2A2F3A"/>
          </a:solidFill>
          <a:ln/>
        </p:spPr>
      </p:sp>
      <p:sp>
        <p:nvSpPr>
          <p:cNvPr id="34" name="Text 32"/>
          <p:cNvSpPr/>
          <p:nvPr/>
        </p:nvSpPr>
        <p:spPr>
          <a:xfrm>
            <a:off x="3543300" y="6076950"/>
            <a:ext cx="4522089"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Distributed Component Object Model</a:t>
            </a:r>
            <a:endParaRPr lang="en-US" sz="1800" dirty="0"/>
          </a:p>
        </p:txBody>
      </p:sp>
      <p:sp>
        <p:nvSpPr>
          <p:cNvPr id="35" name="Shape 33"/>
          <p:cNvSpPr/>
          <p:nvPr/>
        </p:nvSpPr>
        <p:spPr>
          <a:xfrm>
            <a:off x="8077200" y="5972175"/>
            <a:ext cx="9410700" cy="485775"/>
          </a:xfrm>
          <a:prstGeom prst="rect">
            <a:avLst/>
          </a:prstGeom>
          <a:solidFill>
            <a:srgbClr val="FFFFFF">
              <a:alpha val="2000"/>
            </a:srgbClr>
          </a:solidFill>
          <a:ln/>
        </p:spPr>
      </p:sp>
      <p:sp>
        <p:nvSpPr>
          <p:cNvPr id="36" name="Shape 34"/>
          <p:cNvSpPr/>
          <p:nvPr/>
        </p:nvSpPr>
        <p:spPr>
          <a:xfrm>
            <a:off x="8077200" y="6448425"/>
            <a:ext cx="9410700" cy="9525"/>
          </a:xfrm>
          <a:prstGeom prst="rect">
            <a:avLst/>
          </a:prstGeom>
          <a:solidFill>
            <a:srgbClr val="2A2F3A"/>
          </a:solidFill>
          <a:ln/>
        </p:spPr>
      </p:sp>
      <p:sp>
        <p:nvSpPr>
          <p:cNvPr id="37" name="Text 35"/>
          <p:cNvSpPr/>
          <p:nvPr/>
        </p:nvSpPr>
        <p:spPr>
          <a:xfrm>
            <a:off x="8229600" y="6076950"/>
            <a:ext cx="9388221"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22.1</a:t>
            </a:r>
            <a:endParaRPr lang="en-US" sz="1800" dirty="0"/>
          </a:p>
        </p:txBody>
      </p:sp>
      <p:sp>
        <p:nvSpPr>
          <p:cNvPr id="38" name="Shape 36"/>
          <p:cNvSpPr/>
          <p:nvPr/>
        </p:nvSpPr>
        <p:spPr>
          <a:xfrm>
            <a:off x="800100" y="7200900"/>
            <a:ext cx="2590800" cy="9525"/>
          </a:xfrm>
          <a:prstGeom prst="rect">
            <a:avLst/>
          </a:prstGeom>
          <a:solidFill>
            <a:srgbClr val="2A2F3A"/>
          </a:solidFill>
          <a:ln/>
        </p:spPr>
      </p:sp>
      <p:sp>
        <p:nvSpPr>
          <p:cNvPr id="39" name="Text 37"/>
          <p:cNvSpPr/>
          <p:nvPr/>
        </p:nvSpPr>
        <p:spPr>
          <a:xfrm>
            <a:off x="952500" y="6562725"/>
            <a:ext cx="2363724"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Golden ticket</a:t>
            </a:r>
            <a:endParaRPr lang="en-US" sz="1800" dirty="0"/>
          </a:p>
        </p:txBody>
      </p:sp>
      <p:sp>
        <p:nvSpPr>
          <p:cNvPr id="40" name="Shape 38"/>
          <p:cNvSpPr/>
          <p:nvPr/>
        </p:nvSpPr>
        <p:spPr>
          <a:xfrm>
            <a:off x="3390900" y="7200900"/>
            <a:ext cx="4686300" cy="9525"/>
          </a:xfrm>
          <a:prstGeom prst="rect">
            <a:avLst/>
          </a:prstGeom>
          <a:solidFill>
            <a:srgbClr val="2A2F3A"/>
          </a:solidFill>
          <a:ln/>
        </p:spPr>
      </p:sp>
      <p:sp>
        <p:nvSpPr>
          <p:cNvPr id="41" name="Text 39"/>
          <p:cNvSpPr/>
          <p:nvPr/>
        </p:nvSpPr>
        <p:spPr>
          <a:xfrm>
            <a:off x="3543300" y="6562725"/>
            <a:ext cx="4522089"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forged, domain-level Kerberos authentication ticket</a:t>
            </a:r>
            <a:endParaRPr lang="en-US" sz="1800" dirty="0"/>
          </a:p>
        </p:txBody>
      </p:sp>
      <p:sp>
        <p:nvSpPr>
          <p:cNvPr id="42" name="Shape 40"/>
          <p:cNvSpPr/>
          <p:nvPr/>
        </p:nvSpPr>
        <p:spPr>
          <a:xfrm>
            <a:off x="8077200" y="7200900"/>
            <a:ext cx="9410700" cy="9525"/>
          </a:xfrm>
          <a:prstGeom prst="rect">
            <a:avLst/>
          </a:prstGeom>
          <a:solidFill>
            <a:srgbClr val="2A2F3A"/>
          </a:solidFill>
          <a:ln/>
        </p:spPr>
      </p:sp>
      <p:sp>
        <p:nvSpPr>
          <p:cNvPr id="43" name="Text 41"/>
          <p:cNvSpPr/>
          <p:nvPr/>
        </p:nvSpPr>
        <p:spPr>
          <a:xfrm>
            <a:off x="8229600" y="6562725"/>
            <a:ext cx="9388221" cy="5715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Objective 22.2</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04787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COMMON MISCONCEPTIONS</a:t>
            </a:r>
            <a:endParaRPr lang="en-US" sz="1650" dirty="0"/>
          </a:p>
        </p:txBody>
      </p:sp>
      <p:sp>
        <p:nvSpPr>
          <p:cNvPr id="4" name="Text 2"/>
          <p:cNvSpPr/>
          <p:nvPr/>
        </p:nvSpPr>
        <p:spPr>
          <a:xfrm>
            <a:off x="800100" y="2543175"/>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What learners get wrong about Module 22</a:t>
            </a:r>
            <a:endParaRPr lang="en-US" sz="3000" dirty="0"/>
          </a:p>
        </p:txBody>
      </p:sp>
      <p:sp>
        <p:nvSpPr>
          <p:cNvPr id="5" name="Shape 3"/>
          <p:cNvSpPr/>
          <p:nvPr/>
        </p:nvSpPr>
        <p:spPr>
          <a:xfrm>
            <a:off x="800100" y="3209925"/>
            <a:ext cx="8239125" cy="1462088"/>
          </a:xfrm>
          <a:prstGeom prst="roundRect">
            <a:avLst>
              <a:gd name="adj" fmla="val 10423"/>
            </a:avLst>
          </a:prstGeom>
          <a:solidFill>
            <a:srgbClr val="FFFFFF">
              <a:alpha val="2000"/>
            </a:srgbClr>
          </a:solidFill>
          <a:ln w="9525">
            <a:solidFill>
              <a:srgbClr val="2A2F3A"/>
            </a:solidFill>
            <a:prstDash val="solid"/>
          </a:ln>
        </p:spPr>
      </p:sp>
      <p:sp>
        <p:nvSpPr>
          <p:cNvPr id="6" name="Text 4"/>
          <p:cNvSpPr/>
          <p:nvPr/>
        </p:nvSpPr>
        <p:spPr>
          <a:xfrm>
            <a:off x="1038225" y="3448050"/>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“PERSISTENCE CAN STAY IN PLACE AFTER THE ENGAGEMENT ENDS”</a:t>
            </a:r>
            <a:endParaRPr lang="en-US" sz="1500" dirty="0"/>
          </a:p>
        </p:txBody>
      </p:sp>
      <p:sp>
        <p:nvSpPr>
          <p:cNvPr id="7" name="Text 5"/>
          <p:cNvSpPr/>
          <p:nvPr/>
        </p:nvSpPr>
        <p:spPr>
          <a:xfrm>
            <a:off x="1038225" y="3767138"/>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Removing it is a professional and typically contractual obligation, not an optional final step.</a:t>
            </a:r>
            <a:endParaRPr lang="en-US" sz="1875" dirty="0"/>
          </a:p>
        </p:txBody>
      </p:sp>
      <p:sp>
        <p:nvSpPr>
          <p:cNvPr id="8" name="Shape 6"/>
          <p:cNvSpPr/>
          <p:nvPr/>
        </p:nvSpPr>
        <p:spPr>
          <a:xfrm>
            <a:off x="9248775" y="3209925"/>
            <a:ext cx="8239125" cy="1462088"/>
          </a:xfrm>
          <a:prstGeom prst="roundRect">
            <a:avLst>
              <a:gd name="adj" fmla="val 10423"/>
            </a:avLst>
          </a:prstGeom>
          <a:solidFill>
            <a:srgbClr val="FFFFFF">
              <a:alpha val="2000"/>
            </a:srgbClr>
          </a:solidFill>
          <a:ln w="9525">
            <a:solidFill>
              <a:srgbClr val="2A2F3A"/>
            </a:solidFill>
            <a:prstDash val="solid"/>
          </a:ln>
        </p:spPr>
      </p:sp>
      <p:sp>
        <p:nvSpPr>
          <p:cNvPr id="9" name="Text 7"/>
          <p:cNvSpPr/>
          <p:nvPr/>
        </p:nvSpPr>
        <p:spPr>
          <a:xfrm>
            <a:off x="9486900" y="3448050"/>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“PSEXEC IS ALWAYS THE BEST LATERAL MOVEMENT CHOICE”</a:t>
            </a:r>
            <a:endParaRPr lang="en-US" sz="1500" dirty="0"/>
          </a:p>
        </p:txBody>
      </p:sp>
      <p:sp>
        <p:nvSpPr>
          <p:cNvPr id="10" name="Text 8"/>
          <p:cNvSpPr/>
          <p:nvPr/>
        </p:nvSpPr>
        <p:spPr>
          <a:xfrm>
            <a:off x="9486900" y="3767138"/>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Its popularity makes it one of the most closely monitored techniques; other mechanisms may suit detection-sensitive engagements better.</a:t>
            </a:r>
            <a:endParaRPr lang="en-US" sz="1875" dirty="0"/>
          </a:p>
        </p:txBody>
      </p:sp>
      <p:sp>
        <p:nvSpPr>
          <p:cNvPr id="11" name="Shape 9"/>
          <p:cNvSpPr/>
          <p:nvPr/>
        </p:nvSpPr>
        <p:spPr>
          <a:xfrm>
            <a:off x="800100" y="4881563"/>
            <a:ext cx="8239125" cy="1685925"/>
          </a:xfrm>
          <a:prstGeom prst="roundRect">
            <a:avLst>
              <a:gd name="adj" fmla="val 9040"/>
            </a:avLst>
          </a:prstGeom>
          <a:solidFill>
            <a:srgbClr val="FFFFFF">
              <a:alpha val="2000"/>
            </a:srgbClr>
          </a:solidFill>
          <a:ln w="9525">
            <a:solidFill>
              <a:srgbClr val="2A2F3A"/>
            </a:solidFill>
            <a:prstDash val="solid"/>
          </a:ln>
        </p:spPr>
      </p:sp>
      <p:sp>
        <p:nvSpPr>
          <p:cNvPr id="12" name="Text 10"/>
          <p:cNvSpPr/>
          <p:nvPr/>
        </p:nvSpPr>
        <p:spPr>
          <a:xfrm>
            <a:off x="1038225" y="5119688"/>
            <a:ext cx="7995761" cy="485775"/>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“PASS THE HASH AND OVERPASS THE HASH ARE THE SAME TECHNIQUE”</a:t>
            </a:r>
            <a:endParaRPr lang="en-US" sz="1500" dirty="0"/>
          </a:p>
        </p:txBody>
      </p:sp>
      <p:sp>
        <p:nvSpPr>
          <p:cNvPr id="13" name="Text 11"/>
          <p:cNvSpPr/>
          <p:nvPr/>
        </p:nvSpPr>
        <p:spPr>
          <a:xfrm>
            <a:off x="1038225" y="5662613"/>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Pass the Hash authenticates directly with the hash; Overpass the Hash converts it into a genuine Kerberos ticket instead.</a:t>
            </a:r>
            <a:endParaRPr lang="en-US" sz="1875" dirty="0"/>
          </a:p>
        </p:txBody>
      </p:sp>
      <p:sp>
        <p:nvSpPr>
          <p:cNvPr id="14" name="Shape 12"/>
          <p:cNvSpPr/>
          <p:nvPr/>
        </p:nvSpPr>
        <p:spPr>
          <a:xfrm>
            <a:off x="9248775" y="4881563"/>
            <a:ext cx="8239125" cy="1685925"/>
          </a:xfrm>
          <a:prstGeom prst="roundRect">
            <a:avLst>
              <a:gd name="adj" fmla="val 9040"/>
            </a:avLst>
          </a:prstGeom>
          <a:solidFill>
            <a:srgbClr val="FFFFFF">
              <a:alpha val="2000"/>
            </a:srgbClr>
          </a:solidFill>
          <a:ln w="9525">
            <a:solidFill>
              <a:srgbClr val="2A2F3A"/>
            </a:solidFill>
            <a:prstDash val="solid"/>
          </a:ln>
        </p:spPr>
      </p:sp>
      <p:sp>
        <p:nvSpPr>
          <p:cNvPr id="15" name="Text 13"/>
          <p:cNvSpPr/>
          <p:nvPr/>
        </p:nvSpPr>
        <p:spPr>
          <a:xfrm>
            <a:off x="9486900" y="5119688"/>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“A GOLDEN TICKET IS REMOVED BY RESETTING PASSWORDS”</a:t>
            </a:r>
            <a:endParaRPr lang="en-US" sz="1500" dirty="0"/>
          </a:p>
        </p:txBody>
      </p:sp>
      <p:sp>
        <p:nvSpPr>
          <p:cNvPr id="16" name="Text 14"/>
          <p:cNvSpPr/>
          <p:nvPr/>
        </p:nvSpPr>
        <p:spPr>
          <a:xfrm>
            <a:off x="9486900" y="5438775"/>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is forged from domain-level key material, which ordinary password resets do not invalidate.</a:t>
            </a:r>
            <a:endParaRPr lang="en-US" sz="1875" dirty="0"/>
          </a:p>
        </p:txBody>
      </p:sp>
      <p:sp>
        <p:nvSpPr>
          <p:cNvPr id="17" name="Shape 15"/>
          <p:cNvSpPr/>
          <p:nvPr/>
        </p:nvSpPr>
        <p:spPr>
          <a:xfrm>
            <a:off x="800100" y="6777038"/>
            <a:ext cx="8239125" cy="1462088"/>
          </a:xfrm>
          <a:prstGeom prst="roundRect">
            <a:avLst>
              <a:gd name="adj" fmla="val 10423"/>
            </a:avLst>
          </a:prstGeom>
          <a:solidFill>
            <a:srgbClr val="FFFFFF">
              <a:alpha val="2000"/>
            </a:srgbClr>
          </a:solidFill>
          <a:ln w="9525">
            <a:solidFill>
              <a:srgbClr val="2A2F3A"/>
            </a:solidFill>
            <a:prstDash val="solid"/>
          </a:ln>
        </p:spPr>
      </p:sp>
      <p:sp>
        <p:nvSpPr>
          <p:cNvPr id="18" name="Text 16"/>
          <p:cNvSpPr/>
          <p:nvPr/>
        </p:nvSpPr>
        <p:spPr>
          <a:xfrm>
            <a:off x="1038225" y="701516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“REMEDIATION IS COMPLETE ONCE ACTIVE MALWARE IS REMOVED”</a:t>
            </a:r>
            <a:endParaRPr lang="en-US" sz="1500" dirty="0"/>
          </a:p>
        </p:txBody>
      </p:sp>
      <p:sp>
        <p:nvSpPr>
          <p:cNvPr id="19" name="Text 17"/>
          <p:cNvSpPr/>
          <p:nvPr/>
        </p:nvSpPr>
        <p:spPr>
          <a:xfrm>
            <a:off x="1038225" y="7334250"/>
            <a:ext cx="7995761"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A shadow copy predating cleanup can still hold recoverable credential material or access.</a:t>
            </a:r>
            <a:endParaRPr lang="en-US" sz="1875" dirty="0"/>
          </a:p>
        </p:txBody>
      </p:sp>
      <p:sp>
        <p:nvSpPr>
          <p:cNvPr id="20" name="Shape 18"/>
          <p:cNvSpPr/>
          <p:nvPr/>
        </p:nvSpPr>
        <p:spPr>
          <a:xfrm>
            <a:off x="9248775" y="6777038"/>
            <a:ext cx="8239125" cy="1462088"/>
          </a:xfrm>
          <a:prstGeom prst="roundRect">
            <a:avLst>
              <a:gd name="adj" fmla="val 10423"/>
            </a:avLst>
          </a:prstGeom>
          <a:solidFill>
            <a:srgbClr val="FFFFFF">
              <a:alpha val="2000"/>
            </a:srgbClr>
          </a:solidFill>
          <a:ln w="9525">
            <a:solidFill>
              <a:srgbClr val="2A2F3A"/>
            </a:solidFill>
            <a:prstDash val="solid"/>
          </a:ln>
        </p:spPr>
      </p:sp>
      <p:sp>
        <p:nvSpPr>
          <p:cNvPr id="21" name="Text 19"/>
          <p:cNvSpPr/>
          <p:nvPr/>
        </p:nvSpPr>
        <p:spPr>
          <a:xfrm>
            <a:off x="9486900" y="7015163"/>
            <a:ext cx="8539163"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“DCOM MISUSE REQUIRES INTRODUCING NEW SOFTWARE”</a:t>
            </a:r>
            <a:endParaRPr lang="en-US" sz="1500" dirty="0"/>
          </a:p>
        </p:txBody>
      </p:sp>
      <p:sp>
        <p:nvSpPr>
          <p:cNvPr id="22" name="Text 20"/>
          <p:cNvSpPr/>
          <p:nvPr/>
        </p:nvSpPr>
        <p:spPr>
          <a:xfrm>
            <a:off x="9486900" y="7334250"/>
            <a:ext cx="8539163"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It repurposes existing DCOM applications already present, not new tooling.</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455653" y="3032373"/>
            <a:ext cx="3376620" cy="285750"/>
          </a:xfrm>
          <a:prstGeom prst="rect">
            <a:avLst/>
          </a:prstGeom>
          <a:noFill/>
          <a:ln/>
        </p:spPr>
        <p:txBody>
          <a:bodyPr wrap="square" lIns="25400" tIns="25400" rIns="25400" bIns="25400" rtlCol="0" anchor="t">
            <a:normAutofit/>
          </a:bodyPr>
          <a:lstStyle/>
          <a:p>
            <a:pPr algn="ctr" indent="0" marL="0">
              <a:buNone/>
            </a:pPr>
            <a:r>
              <a:rPr lang="en-US" sz="1650" b="1" spc="225" kern="0" dirty="0">
                <a:solidFill>
                  <a:srgbClr val="FF6A00"/>
                </a:solidFill>
                <a:latin typeface="Arial" pitchFamily="34" charset="0"/>
                <a:ea typeface="Arial" pitchFamily="34" charset="-122"/>
                <a:cs typeface="Arial" pitchFamily="34" charset="-120"/>
              </a:rPr>
              <a:t>MODULE 22 IN CONTEXT</a:t>
            </a:r>
            <a:endParaRPr lang="en-US" sz="1650" dirty="0"/>
          </a:p>
        </p:txBody>
      </p:sp>
      <p:sp>
        <p:nvSpPr>
          <p:cNvPr id="4" name="Text 2"/>
          <p:cNvSpPr/>
          <p:nvPr/>
        </p:nvSpPr>
        <p:spPr>
          <a:xfrm>
            <a:off x="7810001" y="3508623"/>
            <a:ext cx="2667997"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spc="-300" kern="0" dirty="0">
                <a:solidFill>
                  <a:srgbClr val="FF6A00"/>
                </a:solidFill>
                <a:latin typeface="Arial" pitchFamily="34" charset="0"/>
                <a:ea typeface="Arial" pitchFamily="34" charset="-122"/>
                <a:cs typeface="Arial" pitchFamily="34" charset="-120"/>
              </a:rPr>
              <a:t>3rd</a:t>
            </a:r>
            <a:endParaRPr lang="en-US" sz="12000" dirty="0"/>
          </a:p>
        </p:txBody>
      </p:sp>
      <p:sp>
        <p:nvSpPr>
          <p:cNvPr id="5" name="Text 3"/>
          <p:cNvSpPr/>
          <p:nvPr/>
        </p:nvSpPr>
        <p:spPr>
          <a:xfrm>
            <a:off x="549783" y="5261223"/>
            <a:ext cx="17188434" cy="1001911"/>
          </a:xfrm>
          <a:prstGeom prst="rect">
            <a:avLst/>
          </a:prstGeom>
          <a:noFill/>
          <a:ln/>
        </p:spPr>
        <p:txBody>
          <a:bodyPr wrap="square" lIns="25400" tIns="25400" rIns="25400" bIns="25400" rtlCol="0" anchor="t">
            <a:normAutofit/>
          </a:bodyPr>
          <a:lstStyle/>
          <a:p>
            <a:pPr algn="ctr" indent="0" marL="0">
              <a:lnSpc>
                <a:spcPct val="96381"/>
              </a:lnSpc>
              <a:buNone/>
            </a:pPr>
            <a:r>
              <a:rPr lang="en-US" sz="3450" b="1" dirty="0">
                <a:solidFill>
                  <a:srgbClr val="F5F7FB"/>
                </a:solidFill>
                <a:latin typeface="Arial" pitchFamily="34" charset="0"/>
                <a:ea typeface="Arial" pitchFamily="34" charset="-122"/>
                <a:cs typeface="Arial" pitchFamily="34" charset="-120"/>
              </a:rPr>
              <a:t>of three Active Directory modules: enumerate, authenticate, then move and persist</a:t>
            </a:r>
            <a:endParaRPr lang="en-US" sz="3450" dirty="0"/>
          </a:p>
        </p:txBody>
      </p:sp>
      <p:sp>
        <p:nvSpPr>
          <p:cNvPr id="6" name="Text 4"/>
          <p:cNvSpPr/>
          <p:nvPr/>
        </p:nvSpPr>
        <p:spPr>
          <a:xfrm>
            <a:off x="3257550" y="6453634"/>
            <a:ext cx="11772900" cy="839093"/>
          </a:xfrm>
          <a:prstGeom prst="rect">
            <a:avLst/>
          </a:prstGeom>
          <a:noFill/>
          <a:ln/>
        </p:spPr>
        <p:txBody>
          <a:bodyPr wrap="square" lIns="25400" tIns="25400" rIns="25400" bIns="25400" rtlCol="0" anchor="t">
            <a:normAutofit/>
          </a:bodyPr>
          <a:lstStyle/>
          <a:p>
            <a:pPr algn="ctr" indent="0" marL="0">
              <a:lnSpc>
                <a:spcPct val="125522"/>
              </a:lnSpc>
              <a:buNone/>
            </a:pPr>
            <a:r>
              <a:rPr lang="en-US" sz="2175" dirty="0">
                <a:solidFill>
                  <a:srgbClr val="B8C0CF"/>
                </a:solidFill>
                <a:latin typeface="Arial" pitchFamily="34" charset="0"/>
                <a:ea typeface="Arial" pitchFamily="34" charset="-122"/>
                <a:cs typeface="Arial" pitchFamily="34" charset="-120"/>
              </a:rPr>
              <a:t>Lateral Movement Techniques, and Active Directory Persistence. Percentage weightings per module: information not defined in the official exam outline.</a:t>
            </a:r>
            <a:endParaRPr lang="en-US" sz="21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2486025"/>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KNOWLEDGE CHECK</a:t>
            </a:r>
            <a:endParaRPr lang="en-US" sz="1650" dirty="0"/>
          </a:p>
        </p:txBody>
      </p:sp>
      <p:sp>
        <p:nvSpPr>
          <p:cNvPr id="4" name="Text 2"/>
          <p:cNvSpPr/>
          <p:nvPr/>
        </p:nvSpPr>
        <p:spPr>
          <a:xfrm>
            <a:off x="800100" y="2981325"/>
            <a:ext cx="17188434" cy="8763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Which persistence technique survives a routine domain password reset because it is forged from domain-level key material?</a:t>
            </a:r>
            <a:endParaRPr lang="en-US" sz="3000" dirty="0"/>
          </a:p>
        </p:txBody>
      </p:sp>
      <p:sp>
        <p:nvSpPr>
          <p:cNvPr id="5" name="Shape 3"/>
          <p:cNvSpPr/>
          <p:nvPr/>
        </p:nvSpPr>
        <p:spPr>
          <a:xfrm>
            <a:off x="800100" y="4143375"/>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324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333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A</a:t>
            </a:r>
            <a:endParaRPr lang="en-US" sz="1650" dirty="0"/>
          </a:p>
        </p:txBody>
      </p:sp>
      <p:sp>
        <p:nvSpPr>
          <p:cNvPr id="8" name="Text 6"/>
          <p:cNvSpPr/>
          <p:nvPr/>
        </p:nvSpPr>
        <p:spPr>
          <a:xfrm>
            <a:off x="1952625" y="4398169"/>
            <a:ext cx="2364968"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Shadow copy abuse</a:t>
            </a:r>
            <a:endParaRPr lang="en-US" sz="1950" dirty="0"/>
          </a:p>
        </p:txBody>
      </p:sp>
      <p:sp>
        <p:nvSpPr>
          <p:cNvPr id="9" name="Shape 7"/>
          <p:cNvSpPr/>
          <p:nvPr/>
        </p:nvSpPr>
        <p:spPr>
          <a:xfrm>
            <a:off x="800100" y="5095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0" name="Shape 8"/>
          <p:cNvSpPr/>
          <p:nvPr/>
        </p:nvSpPr>
        <p:spPr>
          <a:xfrm>
            <a:off x="1038225" y="5276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286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B</a:t>
            </a:r>
            <a:endParaRPr lang="en-US" sz="1650" dirty="0"/>
          </a:p>
        </p:txBody>
      </p:sp>
      <p:sp>
        <p:nvSpPr>
          <p:cNvPr id="12" name="Text 10"/>
          <p:cNvSpPr/>
          <p:nvPr/>
        </p:nvSpPr>
        <p:spPr>
          <a:xfrm>
            <a:off x="1952625" y="5350669"/>
            <a:ext cx="84943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PsExec</a:t>
            </a:r>
            <a:endParaRPr lang="en-US" sz="1950" dirty="0"/>
          </a:p>
        </p:txBody>
      </p:sp>
      <p:sp>
        <p:nvSpPr>
          <p:cNvPr id="13" name="Shape 11"/>
          <p:cNvSpPr/>
          <p:nvPr/>
        </p:nvSpPr>
        <p:spPr>
          <a:xfrm>
            <a:off x="800100" y="6048375"/>
            <a:ext cx="16687800" cy="800100"/>
          </a:xfrm>
          <a:prstGeom prst="roundRect">
            <a:avLst>
              <a:gd name="adj" fmla="val 16667"/>
            </a:avLst>
          </a:prstGeom>
          <a:solidFill>
            <a:srgbClr val="FF6A00">
              <a:alpha val="10000"/>
            </a:srgbClr>
          </a:solidFill>
          <a:ln w="9525">
            <a:solidFill>
              <a:srgbClr val="B85100"/>
            </a:solidFill>
            <a:prstDash val="solid"/>
          </a:ln>
        </p:spPr>
      </p:sp>
      <p:sp>
        <p:nvSpPr>
          <p:cNvPr id="14" name="Shape 12"/>
          <p:cNvSpPr/>
          <p:nvPr/>
        </p:nvSpPr>
        <p:spPr>
          <a:xfrm>
            <a:off x="1038225" y="62293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5" name="Text 13"/>
          <p:cNvSpPr/>
          <p:nvPr/>
        </p:nvSpPr>
        <p:spPr>
          <a:xfrm>
            <a:off x="1009650" y="62388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C</a:t>
            </a:r>
            <a:endParaRPr lang="en-US" sz="1650" dirty="0"/>
          </a:p>
        </p:txBody>
      </p:sp>
      <p:sp>
        <p:nvSpPr>
          <p:cNvPr id="16" name="Text 14"/>
          <p:cNvSpPr/>
          <p:nvPr/>
        </p:nvSpPr>
        <p:spPr>
          <a:xfrm>
            <a:off x="1952625" y="6303169"/>
            <a:ext cx="1552225"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Golden ticket</a:t>
            </a:r>
            <a:endParaRPr lang="en-US" sz="1950" dirty="0"/>
          </a:p>
        </p:txBody>
      </p:sp>
      <p:sp>
        <p:nvSpPr>
          <p:cNvPr id="17" name="Shape 15"/>
          <p:cNvSpPr/>
          <p:nvPr/>
        </p:nvSpPr>
        <p:spPr>
          <a:xfrm>
            <a:off x="800100" y="7000875"/>
            <a:ext cx="16687800" cy="800100"/>
          </a:xfrm>
          <a:prstGeom prst="roundRect">
            <a:avLst>
              <a:gd name="adj" fmla="val 16667"/>
            </a:avLst>
          </a:prstGeom>
          <a:solidFill>
            <a:srgbClr val="FFFFFF">
              <a:alpha val="2000"/>
            </a:srgbClr>
          </a:solidFill>
          <a:ln w="9525">
            <a:solidFill>
              <a:srgbClr val="2A2F3A"/>
            </a:solidFill>
            <a:prstDash val="solid"/>
          </a:ln>
        </p:spPr>
      </p:sp>
      <p:sp>
        <p:nvSpPr>
          <p:cNvPr id="18" name="Shape 16"/>
          <p:cNvSpPr/>
          <p:nvPr/>
        </p:nvSpPr>
        <p:spPr>
          <a:xfrm>
            <a:off x="1038225" y="7181850"/>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9" name="Text 17"/>
          <p:cNvSpPr/>
          <p:nvPr/>
        </p:nvSpPr>
        <p:spPr>
          <a:xfrm>
            <a:off x="1009650" y="7191375"/>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D</a:t>
            </a:r>
            <a:endParaRPr lang="en-US" sz="1650" dirty="0"/>
          </a:p>
        </p:txBody>
      </p:sp>
      <p:sp>
        <p:nvSpPr>
          <p:cNvPr id="20" name="Text 18"/>
          <p:cNvSpPr/>
          <p:nvPr/>
        </p:nvSpPr>
        <p:spPr>
          <a:xfrm>
            <a:off x="1952625" y="7255669"/>
            <a:ext cx="2228924"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Overpass the Hash</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3090416"/>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MODULE SUMMARY</a:t>
            </a:r>
            <a:endParaRPr lang="en-US" sz="1650" dirty="0"/>
          </a:p>
        </p:txBody>
      </p:sp>
      <p:sp>
        <p:nvSpPr>
          <p:cNvPr id="4" name="Text 2"/>
          <p:cNvSpPr/>
          <p:nvPr/>
        </p:nvSpPr>
        <p:spPr>
          <a:xfrm>
            <a:off x="800100" y="3585716"/>
            <a:ext cx="1835658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dirty="0">
                <a:solidFill>
                  <a:srgbClr val="F5F7FB"/>
                </a:solidFill>
                <a:latin typeface="Arial" pitchFamily="34" charset="0"/>
                <a:ea typeface="Arial" pitchFamily="34" charset="-122"/>
                <a:cs typeface="Arial" pitchFamily="34" charset="-120"/>
              </a:rPr>
              <a:t>Module 22 in two lines</a:t>
            </a:r>
            <a:endParaRPr lang="en-US" sz="3000" dirty="0"/>
          </a:p>
        </p:txBody>
      </p:sp>
      <p:sp>
        <p:nvSpPr>
          <p:cNvPr id="5" name="Shape 3"/>
          <p:cNvSpPr/>
          <p:nvPr/>
        </p:nvSpPr>
        <p:spPr>
          <a:xfrm>
            <a:off x="800100" y="4252466"/>
            <a:ext cx="16687800" cy="800100"/>
          </a:xfrm>
          <a:prstGeom prst="roundRect">
            <a:avLst>
              <a:gd name="adj" fmla="val 16667"/>
            </a:avLst>
          </a:prstGeom>
          <a:solidFill>
            <a:srgbClr val="FFFFFF">
              <a:alpha val="2000"/>
            </a:srgbClr>
          </a:solidFill>
          <a:ln w="9525">
            <a:solidFill>
              <a:srgbClr val="2A2F3A"/>
            </a:solidFill>
            <a:prstDash val="solid"/>
          </a:ln>
        </p:spPr>
      </p:sp>
      <p:sp>
        <p:nvSpPr>
          <p:cNvPr id="6" name="Shape 4"/>
          <p:cNvSpPr/>
          <p:nvPr/>
        </p:nvSpPr>
        <p:spPr>
          <a:xfrm>
            <a:off x="1038225" y="4433441"/>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7" name="Text 5"/>
          <p:cNvSpPr/>
          <p:nvPr/>
        </p:nvSpPr>
        <p:spPr>
          <a:xfrm>
            <a:off x="1009650" y="4442966"/>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22.1</a:t>
            </a:r>
            <a:endParaRPr lang="en-US" sz="1650" dirty="0"/>
          </a:p>
        </p:txBody>
      </p:sp>
      <p:sp>
        <p:nvSpPr>
          <p:cNvPr id="8" name="Text 6"/>
          <p:cNvSpPr/>
          <p:nvPr/>
        </p:nvSpPr>
        <p:spPr>
          <a:xfrm>
            <a:off x="1952625" y="4507260"/>
            <a:ext cx="14289837" cy="328613"/>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WMI/WinRS/WinRM, PsExec, Pass/Overpass the Hash, and DCOM move laterally using credential material already obtained</a:t>
            </a:r>
            <a:endParaRPr lang="en-US" sz="1950" dirty="0"/>
          </a:p>
        </p:txBody>
      </p:sp>
      <p:sp>
        <p:nvSpPr>
          <p:cNvPr id="9" name="Shape 7"/>
          <p:cNvSpPr/>
          <p:nvPr/>
        </p:nvSpPr>
        <p:spPr>
          <a:xfrm>
            <a:off x="800100" y="5204966"/>
            <a:ext cx="16687800" cy="942975"/>
          </a:xfrm>
          <a:prstGeom prst="roundRect">
            <a:avLst>
              <a:gd name="adj" fmla="val 14141"/>
            </a:avLst>
          </a:prstGeom>
          <a:solidFill>
            <a:srgbClr val="FFFFFF">
              <a:alpha val="2000"/>
            </a:srgbClr>
          </a:solidFill>
          <a:ln w="9525">
            <a:solidFill>
              <a:srgbClr val="2A2F3A"/>
            </a:solidFill>
            <a:prstDash val="solid"/>
          </a:ln>
        </p:spPr>
      </p:sp>
      <p:sp>
        <p:nvSpPr>
          <p:cNvPr id="10" name="Shape 8"/>
          <p:cNvSpPr/>
          <p:nvPr/>
        </p:nvSpPr>
        <p:spPr>
          <a:xfrm>
            <a:off x="1038225" y="5457379"/>
            <a:ext cx="723900" cy="438150"/>
          </a:xfrm>
          <a:prstGeom prst="roundRect">
            <a:avLst>
              <a:gd name="adj" fmla="val 50000"/>
            </a:avLst>
          </a:prstGeom>
          <a:solidFill>
            <a:srgbClr val="FF6A00">
              <a:alpha val="15000"/>
            </a:srgbClr>
          </a:solidFill>
          <a:ln w="9525">
            <a:solidFill>
              <a:srgbClr val="FF6A00">
                <a:alpha val="35000"/>
              </a:srgbClr>
            </a:solidFill>
            <a:prstDash val="solid"/>
          </a:ln>
        </p:spPr>
      </p:sp>
      <p:sp>
        <p:nvSpPr>
          <p:cNvPr id="11" name="Text 9"/>
          <p:cNvSpPr/>
          <p:nvPr/>
        </p:nvSpPr>
        <p:spPr>
          <a:xfrm>
            <a:off x="1009650" y="5466904"/>
            <a:ext cx="781050" cy="4572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FD9BF"/>
                </a:solidFill>
                <a:latin typeface="Arial" pitchFamily="34" charset="0"/>
                <a:ea typeface="Arial" pitchFamily="34" charset="-122"/>
                <a:cs typeface="Arial" pitchFamily="34" charset="-120"/>
              </a:rPr>
              <a:t>22.2</a:t>
            </a:r>
            <a:endParaRPr lang="en-US" sz="1650" dirty="0"/>
          </a:p>
        </p:txBody>
      </p:sp>
      <p:sp>
        <p:nvSpPr>
          <p:cNvPr id="12" name="Text 10"/>
          <p:cNvSpPr/>
          <p:nvPr/>
        </p:nvSpPr>
        <p:spPr>
          <a:xfrm>
            <a:off x="1952625" y="5385941"/>
            <a:ext cx="15756065" cy="619125"/>
          </a:xfrm>
          <a:prstGeom prst="rect">
            <a:avLst/>
          </a:prstGeom>
          <a:noFill/>
          <a:ln/>
        </p:spPr>
        <p:txBody>
          <a:bodyPr wrap="square" lIns="25400" tIns="25400" rIns="25400" bIns="25400" rtlCol="0" anchor="t">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Golden tickets forge lasting domain authentication; shadow copies recover material from point-in-time snapshots — both removed at engagement end</a:t>
            </a:r>
            <a:endParaRPr lang="en-US" sz="1950" dirty="0"/>
          </a:p>
        </p:txBody>
      </p:sp>
      <p:sp>
        <p:nvSpPr>
          <p:cNvPr id="13" name="Text 11"/>
          <p:cNvSpPr/>
          <p:nvPr/>
        </p:nvSpPr>
        <p:spPr>
          <a:xfrm>
            <a:off x="800100" y="6395591"/>
            <a:ext cx="15304770" cy="839093"/>
          </a:xfrm>
          <a:prstGeom prst="rect">
            <a:avLst/>
          </a:prstGeom>
          <a:noFill/>
          <a:ln/>
        </p:spPr>
        <p:txBody>
          <a:bodyPr wrap="square" lIns="25400" tIns="25400" rIns="25400" bIns="25400" rtlCol="0" anchor="t">
            <a:normAutofit/>
          </a:bodyPr>
          <a:lstStyle/>
          <a:p>
            <a:pPr algn="l" indent="0" marL="0">
              <a:lnSpc>
                <a:spcPct val="125522"/>
              </a:lnSpc>
              <a:buNone/>
            </a:pPr>
            <a:r>
              <a:rPr lang="en-US" sz="2175" dirty="0">
                <a:solidFill>
                  <a:srgbClr val="B8C0CF"/>
                </a:solidFill>
                <a:latin typeface="Arial" pitchFamily="34" charset="0"/>
                <a:ea typeface="Arial" pitchFamily="34" charset="-122"/>
                <a:cs typeface="Arial" pitchFamily="34" charset="-120"/>
              </a:rPr>
              <a:t>This closes the three-module Active Directory arc. Module 23 now assembles enumeration, authentication attacks, and lateral movement into one continuous scenario.</a:t>
            </a:r>
            <a:endParaRPr lang="en-US" sz="21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800100" y="609600"/>
            <a:ext cx="18356580" cy="285750"/>
          </a:xfrm>
          <a:prstGeom prst="rect">
            <a:avLst/>
          </a:prstGeom>
          <a:noFill/>
          <a:ln/>
        </p:spPr>
        <p:txBody>
          <a:bodyPr wrap="square" lIns="25400" tIns="25400" rIns="25400" bIns="25400" rtlCol="0" anchor="t">
            <a:normAutofit/>
          </a:bodyPr>
          <a:lstStyle/>
          <a:p>
            <a:pPr algn="l" indent="0" marL="0">
              <a:buNone/>
            </a:pPr>
            <a:r>
              <a:rPr lang="en-US" sz="1650" b="1" spc="225" kern="0" dirty="0">
                <a:solidFill>
                  <a:srgbClr val="FF6A00"/>
                </a:solidFill>
                <a:latin typeface="Arial" pitchFamily="34" charset="0"/>
                <a:ea typeface="Arial" pitchFamily="34" charset="-122"/>
                <a:cs typeface="Arial" pitchFamily="34" charset="-120"/>
              </a:rPr>
              <a:t>NEXT STEPS</a:t>
            </a:r>
            <a:endParaRPr lang="en-US" sz="1650" dirty="0"/>
          </a:p>
        </p:txBody>
      </p:sp>
      <p:sp>
        <p:nvSpPr>
          <p:cNvPr id="4" name="Text 2"/>
          <p:cNvSpPr/>
          <p:nvPr/>
        </p:nvSpPr>
        <p:spPr>
          <a:xfrm>
            <a:off x="800100" y="1143000"/>
            <a:ext cx="18356580" cy="698153"/>
          </a:xfrm>
          <a:prstGeom prst="rect">
            <a:avLst/>
          </a:prstGeom>
          <a:noFill/>
          <a:ln/>
        </p:spPr>
        <p:txBody>
          <a:bodyPr wrap="square" lIns="25400" tIns="25400" rIns="25400" bIns="25400" rtlCol="0" anchor="t">
            <a:normAutofit/>
          </a:bodyPr>
          <a:lstStyle/>
          <a:p>
            <a:pPr algn="l" indent="0" marL="0">
              <a:lnSpc>
                <a:spcPct val="91788"/>
              </a:lnSpc>
              <a:buNone/>
            </a:pPr>
            <a:r>
              <a:rPr lang="en-US" sz="4950" b="1" spc="-37" kern="0" dirty="0">
                <a:solidFill>
                  <a:srgbClr val="F5F7FB"/>
                </a:solidFill>
                <a:latin typeface="Arial" pitchFamily="34" charset="0"/>
                <a:ea typeface="Arial" pitchFamily="34" charset="-122"/>
                <a:cs typeface="Arial" pitchFamily="34" charset="-120"/>
              </a:rPr>
              <a:t>Module 23: Assembling the Pieces</a:t>
            </a:r>
            <a:endParaRPr lang="en-US" sz="4950" dirty="0"/>
          </a:p>
        </p:txBody>
      </p:sp>
      <p:sp>
        <p:nvSpPr>
          <p:cNvPr id="5" name="Shape 3"/>
          <p:cNvSpPr/>
          <p:nvPr/>
        </p:nvSpPr>
        <p:spPr>
          <a:xfrm>
            <a:off x="800100" y="2088803"/>
            <a:ext cx="5435575" cy="1795463"/>
          </a:xfrm>
          <a:prstGeom prst="roundRect">
            <a:avLst>
              <a:gd name="adj" fmla="val 8488"/>
            </a:avLst>
          </a:prstGeom>
          <a:solidFill>
            <a:srgbClr val="FFFFFF">
              <a:alpha val="2000"/>
            </a:srgbClr>
          </a:solidFill>
          <a:ln w="9525">
            <a:solidFill>
              <a:srgbClr val="2A2F3A"/>
            </a:solidFill>
            <a:prstDash val="solid"/>
          </a:ln>
        </p:spPr>
      </p:sp>
      <p:sp>
        <p:nvSpPr>
          <p:cNvPr id="6" name="Text 4"/>
          <p:cNvSpPr/>
          <p:nvPr/>
        </p:nvSpPr>
        <p:spPr>
          <a:xfrm>
            <a:off x="1038225" y="232692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COMING NEXT</a:t>
            </a:r>
            <a:endParaRPr lang="en-US" sz="1500" dirty="0"/>
          </a:p>
        </p:txBody>
      </p:sp>
      <p:sp>
        <p:nvSpPr>
          <p:cNvPr id="7" name="Text 5"/>
          <p:cNvSpPr/>
          <p:nvPr/>
        </p:nvSpPr>
        <p:spPr>
          <a:xfrm>
            <a:off x="1038225" y="2646015"/>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One continuous scenario from enumerating a public network through to gaining access to the domain controller.</a:t>
            </a:r>
            <a:endParaRPr lang="en-US" sz="1875" dirty="0"/>
          </a:p>
        </p:txBody>
      </p:sp>
      <p:sp>
        <p:nvSpPr>
          <p:cNvPr id="8" name="Shape 6"/>
          <p:cNvSpPr/>
          <p:nvPr/>
        </p:nvSpPr>
        <p:spPr>
          <a:xfrm>
            <a:off x="6426175" y="2088803"/>
            <a:ext cx="5435575" cy="1795463"/>
          </a:xfrm>
          <a:prstGeom prst="roundRect">
            <a:avLst>
              <a:gd name="adj" fmla="val 8488"/>
            </a:avLst>
          </a:prstGeom>
          <a:solidFill>
            <a:srgbClr val="FFFFFF">
              <a:alpha val="2000"/>
            </a:srgbClr>
          </a:solidFill>
          <a:ln w="9525">
            <a:solidFill>
              <a:srgbClr val="2A2F3A"/>
            </a:solidFill>
            <a:prstDash val="solid"/>
          </a:ln>
        </p:spPr>
      </p:sp>
      <p:sp>
        <p:nvSpPr>
          <p:cNvPr id="9" name="Text 7"/>
          <p:cNvSpPr/>
          <p:nvPr/>
        </p:nvSpPr>
        <p:spPr>
          <a:xfrm>
            <a:off x="6664300" y="2326928"/>
            <a:ext cx="5455258"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BEFORE THEN</a:t>
            </a:r>
            <a:endParaRPr lang="en-US" sz="1500" dirty="0"/>
          </a:p>
        </p:txBody>
      </p:sp>
      <p:sp>
        <p:nvSpPr>
          <p:cNvPr id="10" name="Text 8"/>
          <p:cNvSpPr/>
          <p:nvPr/>
        </p:nvSpPr>
        <p:spPr>
          <a:xfrm>
            <a:off x="6664300" y="2646015"/>
            <a:ext cx="5108105"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Be able to state which of the four lateral movement techniques suits a detection-sensitive engagement best, and why.</a:t>
            </a:r>
            <a:endParaRPr lang="en-US" sz="1875" dirty="0"/>
          </a:p>
        </p:txBody>
      </p:sp>
      <p:sp>
        <p:nvSpPr>
          <p:cNvPr id="11" name="Shape 9"/>
          <p:cNvSpPr/>
          <p:nvPr/>
        </p:nvSpPr>
        <p:spPr>
          <a:xfrm>
            <a:off x="12052250" y="2088803"/>
            <a:ext cx="5435650" cy="1795463"/>
          </a:xfrm>
          <a:prstGeom prst="roundRect">
            <a:avLst>
              <a:gd name="adj" fmla="val 8488"/>
            </a:avLst>
          </a:prstGeom>
          <a:solidFill>
            <a:srgbClr val="FFFFFF">
              <a:alpha val="2000"/>
            </a:srgbClr>
          </a:solidFill>
          <a:ln w="9525">
            <a:solidFill>
              <a:srgbClr val="2A2F3A"/>
            </a:solidFill>
            <a:prstDash val="solid"/>
          </a:ln>
        </p:spPr>
      </p:sp>
      <p:sp>
        <p:nvSpPr>
          <p:cNvPr id="12" name="Text 10"/>
          <p:cNvSpPr/>
          <p:nvPr/>
        </p:nvSpPr>
        <p:spPr>
          <a:xfrm>
            <a:off x="12290375" y="2326928"/>
            <a:ext cx="5455340" cy="261937"/>
          </a:xfrm>
          <a:prstGeom prst="rect">
            <a:avLst/>
          </a:prstGeom>
          <a:noFill/>
          <a:ln/>
        </p:spPr>
        <p:txBody>
          <a:bodyPr wrap="square" lIns="25400" tIns="25400" rIns="25400" bIns="25400" rtlCol="0" anchor="t">
            <a:normAutofit/>
          </a:bodyPr>
          <a:lstStyle/>
          <a:p>
            <a:pPr algn="l" indent="0" marL="0">
              <a:buNone/>
            </a:pPr>
            <a:r>
              <a:rPr lang="en-US" sz="1500" b="1" spc="113" kern="0" dirty="0">
                <a:solidFill>
                  <a:srgbClr val="FF6A00"/>
                </a:solidFill>
                <a:latin typeface="Arial" pitchFamily="34" charset="0"/>
                <a:ea typeface="Arial" pitchFamily="34" charset="-122"/>
                <a:cs typeface="Arial" pitchFamily="34" charset="-120"/>
              </a:rPr>
              <a:t>CARRY FORWARD</a:t>
            </a:r>
            <a:endParaRPr lang="en-US" sz="1500" dirty="0"/>
          </a:p>
        </p:txBody>
      </p:sp>
      <p:sp>
        <p:nvSpPr>
          <p:cNvPr id="13" name="Text 11"/>
          <p:cNvSpPr/>
          <p:nvPr/>
        </p:nvSpPr>
        <p:spPr>
          <a:xfrm>
            <a:off x="12290375" y="2646015"/>
            <a:ext cx="5108182" cy="103822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DFE3EA"/>
                </a:solidFill>
                <a:latin typeface="Arial" pitchFamily="34" charset="0"/>
                <a:ea typeface="Arial" pitchFamily="34" charset="-122"/>
                <a:cs typeface="Arial" pitchFamily="34" charset="-120"/>
              </a:rPr>
              <a:t>Every technique from Modules 1 through 22. Module 23 assumes all of it and introduces nothing new.</a:t>
            </a:r>
            <a:endParaRPr lang="en-US" sz="1875" dirty="0"/>
          </a:p>
        </p:txBody>
      </p:sp>
      <p:sp>
        <p:nvSpPr>
          <p:cNvPr id="14" name="Shape 12"/>
          <p:cNvSpPr/>
          <p:nvPr/>
        </p:nvSpPr>
        <p:spPr>
          <a:xfrm>
            <a:off x="800100" y="9210675"/>
            <a:ext cx="16687800" cy="9525"/>
          </a:xfrm>
          <a:prstGeom prst="rect">
            <a:avLst/>
          </a:prstGeom>
          <a:solidFill>
            <a:srgbClr val="2A2F3A"/>
          </a:solidFill>
          <a:ln/>
        </p:spPr>
      </p:sp>
      <p:sp>
        <p:nvSpPr>
          <p:cNvPr id="15" name="Text 13"/>
          <p:cNvSpPr/>
          <p:nvPr/>
        </p:nvSpPr>
        <p:spPr>
          <a:xfrm>
            <a:off x="800100" y="9432131"/>
            <a:ext cx="1796482" cy="261937"/>
          </a:xfrm>
          <a:prstGeom prst="rect">
            <a:avLst/>
          </a:prstGeom>
          <a:noFill/>
          <a:ln/>
        </p:spPr>
        <p:txBody>
          <a:bodyPr wrap="square" lIns="25400" tIns="25400" rIns="25400" bIns="25400" rtlCol="0" anchor="t">
            <a:normAutofit/>
          </a:bodyPr>
          <a:lstStyle/>
          <a:p>
            <a:pPr algn="l" indent="0" marL="0">
              <a:buNone/>
            </a:pPr>
            <a:r>
              <a:rPr lang="en-US" sz="1500" dirty="0">
                <a:solidFill>
                  <a:srgbClr val="8891A1"/>
                </a:solidFill>
                <a:latin typeface="Arial" pitchFamily="34" charset="0"/>
                <a:ea typeface="Arial" pitchFamily="34" charset="-122"/>
                <a:cs typeface="Arial" pitchFamily="34" charset="-120"/>
              </a:rPr>
              <a:t>My Cyber Academy</a:t>
            </a:r>
            <a:endParaRPr lang="en-US" sz="1500" dirty="0"/>
          </a:p>
        </p:txBody>
      </p:sp>
      <p:sp>
        <p:nvSpPr>
          <p:cNvPr id="16" name="Text 14"/>
          <p:cNvSpPr/>
          <p:nvPr/>
        </p:nvSpPr>
        <p:spPr>
          <a:xfrm>
            <a:off x="16763181" y="9410700"/>
            <a:ext cx="800919"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OS</a:t>
            </a:r>
            <a:pPr algn="l" indent="0" marL="0">
              <a:buNone/>
            </a:pPr>
            <a:r>
              <a:rPr lang="en-US" sz="1800" b="1" spc="150" kern="0" dirty="0">
                <a:solidFill>
                  <a:srgbClr val="8891A1"/>
                </a:solidFill>
                <a:latin typeface="Arial" pitchFamily="34" charset="0"/>
                <a:ea typeface="Arial" pitchFamily="34" charset="-122"/>
                <a:cs typeface="Arial" pitchFamily="34" charset="-120"/>
              </a:rPr>
              <a:t>CP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2026-08-01T10:48:50Z</dcterms:created>
  <dcterms:modified xsi:type="dcterms:W3CDTF">2026-08-01T10:48:50Z</dcterms:modified>
</cp:coreProperties>
</file>