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6 of the Offensive Security AI Red Teamer (OSAI) course. Module 5 treated embedding as a black-box pipeline stage a poisoned chunk simply passed through; Module 6 opens that box. We examine what an embedding actually is, how text can be approximately recovered from one, how the vector itself can be manipulated to hijack retrieval, and how the vector database that stores embeddings introduces its own access-control and multi-tenancy risks. Everything here is conceptual and methodological — no runnable inversion code, no specific model or library names, and no lab references, in line with the MCA no-labs rule.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module as the point where the course stops treating embedding as a black box. Learners should leave with a precise mental model: the vector itself, and the database holding it, are both first-class attack surfaces distinct from the source text or the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Module 6 of 11. Reinforce that Module 5 confirmed and exploited the RAG pipeline as a whole; this module drills one layer deeper, into the embedding and the database that stores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this three-part mental model before the detailed objectives. It mirrors Module 5's three-stage RAG model but is scoped one layer deeper, to the embedding and its storage rather than the whole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6.1. Before attacking anything, we define what an embedding is, how similarity search retrieves it, and how the vector store fits beneath the RAG pipeline Module 5 already mapped.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definition before anything else. The key idea to land: an embedding is a lossy but structured compression of meaning — 'lossy' matters for Objective 6.2, 'structured' matters for Objective 6.3.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mechanical heart of the objective. Make sure learners can say, unprompted, that retrieval is a distance calculation with no understanding of meaning attached to it — a fact every later objective in this module depends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explicit bridge from Module 5. Learners should be able to point at the six-stage pipeline diagram from memory and say precisely which two stages this module reopens.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Learners with a search-engineering background may assume 'better relevance' is strictly an improvement. Use this slide to show the trade-off: semantic retrieval trades keyword-attack resistance for a new, vector-space attack surface.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flow slowly — it is the shared vocabulary for the rest of the module. Step 2 is where Objective 6.2's inversion risk originates; step 3 is where Objective 6.4's storage risk lives; step 5 is where Objective 6.3's manipulation pays off.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at a conceptual level — learners need to recognise these terms in documentation and reports, not derive the mathematics. The shared property across all three is the point: none of them understand meaning, only geometry.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module's index, exactly as Module 5's own stage-to-technique table indexed that module. Every remaining objective in Module 6 attacks exactly one of the first three rows.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continuity across the course. Learners should leave Objective 6.1 able to place the vector store precisely on the Module 1 map and state exactly which Module 5 stages this module re-examines.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6.2. We examine the confidentiality risk of the vector itself: recovering an approximation of the original text from its embedding alone, and why exposed embeddings matter.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conceptual and non-operational — the exam tests recognition of the risk, not the ability to reproduce an inversion technique. Emphasise 'approximation', not 'exact recovery', as the precise and defensible framing.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lesson of the objective. Ask learners: would your organisation apply the same access controls to a folder of embeddings as to the source documents? Most do not — and that gap is exactly the finding this objective teaches them to identify.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frequent exam trap: learners assume any confidentiality finding must trace back to the raw document store. Embedding inversion is the counter-example — the vector alone is enough of a foothold.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course-wide habit of mapping every finding to a named framework category. This slide gives learners the exact category name to write in a report: LLM08, embedding-confidentiality subset.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dual-mapping pattern recurs whenever a vector-store weakness produces a confidentiality outcome — teach learners to cite the mechanism category and the impact category together rather than picking only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vector shares one property: it treats the embedding as lower-sensitivity than the source text it was derived from. Ask learners to identify, for any target, which of these exposure routes the vector store actually offers.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an assessment aid for engagement reporting. Every row shares the same underlying finding — a vector was made available to a party the source document's own access control would have excluded.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recognition signals for an assessment, not an operational inversion procedure — the objective's assessable skill is identifying and reporting the exposure, not performing an inversion. Tie this discipline back to the course's no-labs framing.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6.3. We attack the vector's integrity rather than its confidentiality: crafting input so its embedding lands near a target vector, hijacking what similarity search retrieves it for.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technical heart of the objective. Stress that the manipulation targets the vector's position, not the text's literal content — a subtlety that distinguishes this from every text-level attack taught so far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frequent exam trap: learners conflate any 'poisoning-flavoured' RAG technique. Corpus poisoning is a Module 5 text-level attack; embedding manipulation is this module's vector-level attack — they can be used together but are mechanistically distinct.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conceptual lineage explicit: this is not a brand-new idea invented for RAG, it is the same adversarial-perturbation principle from Module 1's predictive-ML family, redirected at an embedding vector instead of a classifier's decision boundary.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mechanism is conceptual, not a runnable procedure — no lab component accompanies this course. Walk it end to end so learners can recognise the shape of the attack when reviewing retrieval behaviour during an engagement.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the objective's core lesson: because the target is geometry rather than text, the detection techniques that work against Module 5's corpus poisoning do not transfer cleanly to this vector-level technique.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explicit that this technique is often a force-multiplier rather than a standalone payload: it guarantees delivery, and Module 5's mechanisms determine what happens once that delivery succeeds.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Cross-reference this against Module 5's own technique table: ranking manipulation there worked at the text level to score well broadly, while embedding manipulation here works at the vector level to target a specific region precisely.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easily confused with the corpus-poisoning comparison earlier in the objective. Use this slide to separate embedding manipulation from Module 5's own retrieval-ranking technique specifically, not just from poisoning in general.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6.4. We turn to the vector database itself: access-control weaknesses, metadata leakage, and the cross-tenant isolation risk of sharing one vector store across users.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this against Module 5, Objective 5.4's cross-tenant leakage, which examined retrieval-scoping failure at the application query level. This slide is the deeper, infrastructure-level version: the store itself, not just the app's queries against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learners to always inspect the full schema of a vector-store record during an assessment, not just the vector field — metadata is frequently the highest-value, lowest-effort finding in a vector-store review.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layering explicit: this is not a repeat of Module 5's cross-tenant content, it is the storage-layer counterpart to it. A defensible finding should state clearly which layer — application query scoping or database access control — actually failed.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should prompt learners to ask, during scoping, whether they have tested the vector store's own access controls directly, separately from testing the application's retrieval behaviour.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risk shares the same root cause as Objective 6.4's opening definition: controls assumed to live in the application are absent, weak, or bypassable at the storage layer itself.</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rows map primarily to LLM08, reinforcing that this objective is where the course covers that category most fully — Module 5 introduced it briefly, Objective 6.2 extended it to confidentiality, and this table completes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workflow ties Objective 6.4 into one repeatable assessment sequence, the vector-store-specific analogue of Module 5's own RAG-pipeline assessment workflow — the practical shape learners should follow during the exam's engagement phase.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module's own internal summary before the formal recap slides. Learners should be able to name all three failure modes — confidentiality, integrity, access control — and match each to the correct objective without prompting.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 the module's vocabulary. LLM08 and LLM02 recur together throughout this module and will continue to appear whenever a later module's finding touches stored or derived data.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typically carry from Module 5's text-level techniques. The second myth is the most commonly confused pair in this module — reinforce it once more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Embedding-layer findings are graded on whether they are correctly attributed to confidentiality, integrity, or access control, and mapped to the right OWASP category.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whether learners can distinguish embedding manipulation from Module 5's corpus poisoning under exam pressure. Wrong answers are instructive: A requires the text to pass human review as legitimate, C requires the tester to be recovering text from a vector, D requires a tenant-isolation failure, not a retrieval outcome alone.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Every technique here assumed the vector store's presence was already confirmed by Module 5 — if learners are unsure how that was established, revisit Module 5, Objective 5.1 before Module 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7. Reinforce continuity: this module completed the data and retrieval layer that Module 5 began; the next module opens an entirely new layer — tool and protocol surfaces. Encourage completion of the module's PBQ and flashcards to consolidate the inversion/manipulation distinction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6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Attacking Embeddings</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Going one layer beneath RAG — how the embedding vector itself, and the vector database that stores it, become an independent attack surface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6.1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embedding fundamentals, similarity search, and the vector store's role beneath a RAG pipeline</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6.2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Describe embedding inversion attacks and why exposed embeddings of sensitive documents matter</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6.3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embedding manipulation and adversarial perturbation as a retrieval-poisoning technique distinct from corpus poisoning</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6.4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Apply vector-store-specific exploitation and considerations — access control, metadata leakage, and cross-tenant isolation</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Objective 6.1 gives you the vocabulary and architecture every later objective assumes; 6.2 attacks the vector's confidentiality; 6.3 attacks the vector's integrity as a retrieval signal; 6.4 attacks the storage layer the vectors live in.</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M1–5</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through RAG</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Definitions, recon, agent and multi-agent attacks, RAG-pipeline exploitation — complete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M6</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Attacking embeddings</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Embedding fundamentals, inversion, manipulation, vector-store exploitation — current</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M7–11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Tools onward</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MCP and tool surfaces, supply chain, infrastructure, threat modeling, capstone</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Three parts of the embedding attack surface</a:t>
            </a:r>
          </a:p>
        </p:txBody>
      </p:sp>
      <p:sp>
        <p:nvSpPr>
          <p:cNvPr id="6" name="Rounded Rectangle 5"/>
          <p:cNvSpPr/>
          <p:nvPr/>
        </p:nvSpPr>
        <p:spPr>
          <a:xfrm>
            <a:off x="548640"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VECTOR</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The embedding itself</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A numerical representation that can potentially be inverted toward its source text, or crafted to imitate a target</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STORE</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The vector database</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Where vectors, and often source text and metadata, are persisted and made queryable</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QUERY</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Similarity search</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nearest-neighbour comparison that decides which vectors are retrieved for any given query</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Every technique in this module maps to one of these three parts: Objective 6.2 attacks the vector's confidentiality, Objective 6.3 attacks what similarity search retrieves, and Objective 6.4 attacks the database that holds it all.</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6.1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6.1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Embedding fundamentals and the vector store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an embedding?</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An embedding is a numerical vector representation of a piece of text, produced by a model, positioned in a high-dimensional space such that texts with similar meaning produce vectors that are close together — capturing semantic meaning as geometric distance.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EXISTS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It lets a system compare meaning mathematically, using distance between vectors, instead of comparing exact words or phrases.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CHANGES FOR ATTACKERS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The vector is a derived artefact of the source text — it is not the text itself, but as this module shows, it is not fully divorced from it either.</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Similarity search and nearest-neighbour retrieval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Similarity search finds, for a given query vector, the stored vectors that are closest to it by some distance measure — this nearest-neighbour comparison is the entire mechanism by which a vector store decides what to return.</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'CLOSEST' MEANS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Distance is computed with a metric such as cosine similarity, Euclidean distance, or dot product — the choice affects ranking but not the underlying concept.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THIS IS EXPLOITABLE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Because ranking is purely geometric, anything that changes a vector's position in the space changes what it will be retrieved for — the basis of Objective 6.3.</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POSITIONING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vector database beneath the RAG pipeline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The vector database is the storage and retrieval layer that persists embeddings — and usually the source text and metadata alongside them — and serves the similarity-search queries that Module 5, Objective 5.1 identified as the pipeline's storage and retrieval stages.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DIRECT BACKLINK</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5, Objective 5.1's six-stage pipeline named storage and retrieval as stages 4 and 5 — this module examines exactly those two stages as first-class attack surface.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IS NEW HERE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5 treated the store as a passive component the pipeline used; this module treats the store itself as a target with its own access controls, schema, and configuration.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Embedding-based similarity vs exact keyword matching</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Embedding-based similarity search</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Compares meaning via distance in vector space</a:t>
            </a:r>
          </a:p>
          <a:p>
            <a:pPr algn="l">
              <a:spcBef>
                <a:spcPts val="0"/>
              </a:spcBef>
              <a:spcAft>
                <a:spcPts val="800"/>
              </a:spcAft>
            </a:pPr>
            <a:r>
              <a:rPr sz="1400" b="1">
                <a:solidFill>
                  <a:srgbClr val="FF6A00"/>
                </a:solidFill>
                <a:latin typeface="Segoe UI"/>
              </a:rPr>
              <a:t>•  </a:t>
            </a:r>
            <a:r>
              <a:rPr sz="1400" b="0">
                <a:solidFill>
                  <a:srgbClr val="B8C0CF"/>
                </a:solidFill>
                <a:latin typeface="Segoe UI"/>
              </a:rPr>
              <a:t>Can retrieve relevant content with no exact word overlap</a:t>
            </a:r>
          </a:p>
          <a:p>
            <a:pPr algn="l">
              <a:spcBef>
                <a:spcPts val="0"/>
              </a:spcBef>
              <a:spcAft>
                <a:spcPts val="800"/>
              </a:spcAft>
            </a:pPr>
            <a:r>
              <a:rPr sz="1400" b="1">
                <a:solidFill>
                  <a:srgbClr val="FF6A00"/>
                </a:solidFill>
                <a:latin typeface="Segoe UI"/>
              </a:rPr>
              <a:t>•  </a:t>
            </a:r>
            <a:r>
              <a:rPr sz="1400" b="0">
                <a:solidFill>
                  <a:srgbClr val="B8C0CF"/>
                </a:solidFill>
                <a:latin typeface="Segoe UI"/>
              </a:rPr>
              <a:t>Ranking is purely geometric, not semantic judgement</a:t>
            </a:r>
          </a:p>
          <a:p>
            <a:pPr algn="l">
              <a:spcBef>
                <a:spcPts val="0"/>
              </a:spcBef>
              <a:spcAft>
                <a:spcPts val="800"/>
              </a:spcAft>
            </a:pPr>
            <a:r>
              <a:rPr sz="1400" b="1">
                <a:solidFill>
                  <a:srgbClr val="FF6A00"/>
                </a:solidFill>
                <a:latin typeface="Segoe UI"/>
              </a:rPr>
              <a:t>•  </a:t>
            </a:r>
            <a:r>
              <a:rPr sz="1400" b="0">
                <a:solidFill>
                  <a:srgbClr val="B8C0CF"/>
                </a:solidFill>
                <a:latin typeface="Segoe UI"/>
              </a:rPr>
              <a:t>Vulnerable to vector-space manipulation — Objective 6.3</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Exact keyword matching</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Compares literal terms or phrases</a:t>
            </a:r>
          </a:p>
          <a:p>
            <a:pPr algn="l">
              <a:spcBef>
                <a:spcPts val="0"/>
              </a:spcBef>
              <a:spcAft>
                <a:spcPts val="800"/>
              </a:spcAft>
            </a:pPr>
            <a:r>
              <a:rPr sz="1400" b="1">
                <a:solidFill>
                  <a:srgbClr val="FF6A00"/>
                </a:solidFill>
                <a:latin typeface="Segoe UI"/>
              </a:rPr>
              <a:t>•  </a:t>
            </a:r>
            <a:r>
              <a:rPr sz="1400" b="0">
                <a:solidFill>
                  <a:srgbClr val="B8C0CF"/>
                </a:solidFill>
                <a:latin typeface="Segoe UI"/>
              </a:rPr>
              <a:t>Misses relevant content that is phrased differently</a:t>
            </a:r>
          </a:p>
          <a:p>
            <a:pPr algn="l">
              <a:spcBef>
                <a:spcPts val="0"/>
              </a:spcBef>
              <a:spcAft>
                <a:spcPts val="800"/>
              </a:spcAft>
            </a:pPr>
            <a:r>
              <a:rPr sz="1400" b="1">
                <a:solidFill>
                  <a:srgbClr val="FF6A00"/>
                </a:solidFill>
                <a:latin typeface="Segoe UI"/>
              </a:rPr>
              <a:t>•  </a:t>
            </a:r>
            <a:r>
              <a:rPr sz="1400" b="0">
                <a:solidFill>
                  <a:srgbClr val="B8C0CF"/>
                </a:solidFill>
                <a:latin typeface="Segoe UI"/>
              </a:rPr>
              <a:t>Ranking is based on term frequency or exact match</a:t>
            </a:r>
          </a:p>
          <a:p>
            <a:pPr algn="l">
              <a:spcBef>
                <a:spcPts val="0"/>
              </a:spcBef>
              <a:spcAft>
                <a:spcPts val="800"/>
              </a:spcAft>
            </a:pPr>
            <a:r>
              <a:rPr sz="1400" b="1">
                <a:solidFill>
                  <a:srgbClr val="FF6A00"/>
                </a:solidFill>
                <a:latin typeface="Segoe UI"/>
              </a:rPr>
              <a:t>•  </a:t>
            </a:r>
            <a:r>
              <a:rPr sz="1400" b="0">
                <a:solidFill>
                  <a:srgbClr val="B8C0CF"/>
                </a:solidFill>
                <a:latin typeface="Segoe UI"/>
              </a:rPr>
              <a:t>Not vulnerable to embedding-space manipulation at all</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embedding similarity's strength — retrieving meaning rather than literal words — is exactly what makes it attackable. A technique that never touches the literal words can still hijack what gets retrieved.</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From text to retrieval: the embedding flow</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Source text</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 document chunk, or a user's query, exists as plain text before anything else happens.</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Embedding model</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An embedding model converts that text into a fixed-length numerical vector.</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Vector storage</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vector — and typically the source text and metadata — is written into the vector database.</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Query embedding</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At query time, the user's query is embedded using the same, or a compatible, embedding model.</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Similarity search</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vector store compares the query vector against stored vectors and returns the nearest matches.</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MECHANICS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Common distance metrics used in similarity search</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COSINE SIMILARITY</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Measures the angle between two vectors, ignoring their magnitude — the most common metric for text embeddings.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EUCLIDEAN DISTANCE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Measures the straight-line distance between two vectors in the embedding space.</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DOT PRODUCT</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Measures both direction and magnitude together — often used when vector magnitude itself is meaningful.</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WHY THE CHOICE MATTERS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Different metrics can rank the same set of vectors differently, but all three remain purely geometric — none evaluate the actual relevance of the underlying text.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Module 5 pipeline stage to this module's objective</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Module 5 stage</a:t>
                      </a:r>
                    </a:p>
                  </a:txBody>
                  <a:tcPr marL="101600" marR="101600" marT="50800" marB="50800" anchor="ctr">
                    <a:solidFill>
                      <a:srgbClr val="3A2410"/>
                    </a:solidFill>
                  </a:tcPr>
                </a:tc>
                <a:tc>
                  <a:txBody>
                    <a:bodyPr wrap="square"/>
                    <a:lstStyle/>
                    <a:p>
                      <a:r>
                        <a:rPr sz="1300" b="1">
                          <a:solidFill>
                            <a:srgbClr val="F5F7FB"/>
                          </a:solidFill>
                          <a:latin typeface="Segoe UI"/>
                        </a:rPr>
                        <a:t>What happens</a:t>
                      </a:r>
                    </a:p>
                  </a:txBody>
                  <a:tcPr marL="101600" marR="101600" marT="50800" marB="50800" anchor="ctr">
                    <a:solidFill>
                      <a:srgbClr val="3A2410"/>
                    </a:solidFill>
                  </a:tcPr>
                </a:tc>
                <a:tc>
                  <a:txBody>
                    <a:bodyPr wrap="square"/>
                    <a:lstStyle/>
                    <a:p>
                      <a:r>
                        <a:rPr sz="1300" b="1">
                          <a:solidFill>
                            <a:srgbClr val="F5F7FB"/>
                          </a:solidFill>
                          <a:latin typeface="Segoe UI"/>
                        </a:rPr>
                        <a:t>Attacked in Module 6 by</a:t>
                      </a:r>
                    </a:p>
                  </a:txBody>
                  <a:tcPr marL="101600" marR="101600" marT="50800" marB="50800" anchor="ctr">
                    <a:solidFill>
                      <a:srgbClr val="3A2410"/>
                    </a:solidFill>
                  </a:tcPr>
                </a:tc>
              </a:tr>
              <a:tr h="471830">
                <a:tc>
                  <a:txBody>
                    <a:bodyPr wrap="square"/>
                    <a:lstStyle/>
                    <a:p>
                      <a:r>
                        <a:rPr sz="1200" b="1">
                          <a:solidFill>
                            <a:srgbClr val="F5F7FB"/>
                          </a:solidFill>
                          <a:latin typeface="Segoe UI"/>
                        </a:rPr>
                        <a:t>Embedding (stage 3)</a:t>
                      </a:r>
                    </a:p>
                  </a:txBody>
                  <a:tcPr marL="101600" marR="101600" marT="50800" marB="50800" anchor="ctr">
                    <a:solidFill>
                      <a:srgbClr val="121319"/>
                    </a:solidFill>
                  </a:tcPr>
                </a:tc>
                <a:tc>
                  <a:txBody>
                    <a:bodyPr wrap="square"/>
                    <a:lstStyle/>
                    <a:p>
                      <a:r>
                        <a:rPr sz="1200" b="0">
                          <a:solidFill>
                            <a:srgbClr val="B8C0CF"/>
                          </a:solidFill>
                          <a:latin typeface="Segoe UI"/>
                        </a:rPr>
                        <a:t>Text chunk is converted into a vector</a:t>
                      </a:r>
                    </a:p>
                  </a:txBody>
                  <a:tcPr marL="101600" marR="101600" marT="50800" marB="50800" anchor="ctr">
                    <a:solidFill>
                      <a:srgbClr val="121319"/>
                    </a:solidFill>
                  </a:tcPr>
                </a:tc>
                <a:tc>
                  <a:txBody>
                    <a:bodyPr wrap="square"/>
                    <a:lstStyle/>
                    <a:p>
                      <a:r>
                        <a:rPr sz="1200" b="0">
                          <a:solidFill>
                            <a:srgbClr val="B8C0CF"/>
                          </a:solidFill>
                          <a:latin typeface="Segoe UI"/>
                        </a:rPr>
                        <a:t>Embedding inversion — Objective 6.2</a:t>
                      </a:r>
                    </a:p>
                  </a:txBody>
                  <a:tcPr marL="101600" marR="101600" marT="50800" marB="50800" anchor="ctr">
                    <a:solidFill>
                      <a:srgbClr val="121319"/>
                    </a:solidFill>
                  </a:tcPr>
                </a:tc>
              </a:tr>
              <a:tr h="471830">
                <a:tc>
                  <a:txBody>
                    <a:bodyPr wrap="square"/>
                    <a:lstStyle/>
                    <a:p>
                      <a:r>
                        <a:rPr sz="1200" b="1">
                          <a:solidFill>
                            <a:srgbClr val="F5F7FB"/>
                          </a:solidFill>
                          <a:latin typeface="Segoe UI"/>
                        </a:rPr>
                        <a:t>Storage (stage 4)</a:t>
                      </a:r>
                    </a:p>
                  </a:txBody>
                  <a:tcPr marL="101600" marR="101600" marT="50800" marB="50800" anchor="ctr">
                    <a:solidFill>
                      <a:srgbClr val="141519"/>
                    </a:solidFill>
                  </a:tcPr>
                </a:tc>
                <a:tc>
                  <a:txBody>
                    <a:bodyPr wrap="square"/>
                    <a:lstStyle/>
                    <a:p>
                      <a:r>
                        <a:rPr sz="1200" b="0">
                          <a:solidFill>
                            <a:srgbClr val="B8C0CF"/>
                          </a:solidFill>
                          <a:latin typeface="Segoe UI"/>
                        </a:rPr>
                        <a:t>Vectors and text held in a vector database</a:t>
                      </a:r>
                    </a:p>
                  </a:txBody>
                  <a:tcPr marL="101600" marR="101600" marT="50800" marB="50800" anchor="ctr">
                    <a:solidFill>
                      <a:srgbClr val="141519"/>
                    </a:solidFill>
                  </a:tcPr>
                </a:tc>
                <a:tc>
                  <a:txBody>
                    <a:bodyPr wrap="square"/>
                    <a:lstStyle/>
                    <a:p>
                      <a:r>
                        <a:rPr sz="1200" b="0">
                          <a:solidFill>
                            <a:srgbClr val="B8C0CF"/>
                          </a:solidFill>
                          <a:latin typeface="Segoe UI"/>
                        </a:rPr>
                        <a:t>Vector-store exploitation — Objective 6.4</a:t>
                      </a:r>
                    </a:p>
                  </a:txBody>
                  <a:tcPr marL="101600" marR="101600" marT="50800" marB="50800" anchor="ctr">
                    <a:solidFill>
                      <a:srgbClr val="141519"/>
                    </a:solidFill>
                  </a:tcPr>
                </a:tc>
              </a:tr>
              <a:tr h="471830">
                <a:tc>
                  <a:txBody>
                    <a:bodyPr wrap="square"/>
                    <a:lstStyle/>
                    <a:p>
                      <a:r>
                        <a:rPr sz="1200" b="1">
                          <a:solidFill>
                            <a:srgbClr val="F5F7FB"/>
                          </a:solidFill>
                          <a:latin typeface="Segoe UI"/>
                        </a:rPr>
                        <a:t>Retrieval (stage 5)</a:t>
                      </a:r>
                    </a:p>
                  </a:txBody>
                  <a:tcPr marL="101600" marR="101600" marT="50800" marB="50800" anchor="ctr">
                    <a:solidFill>
                      <a:srgbClr val="121319"/>
                    </a:solidFill>
                  </a:tcPr>
                </a:tc>
                <a:tc>
                  <a:txBody>
                    <a:bodyPr wrap="square"/>
                    <a:lstStyle/>
                    <a:p>
                      <a:r>
                        <a:rPr sz="1200" b="0">
                          <a:solidFill>
                            <a:srgbClr val="B8C0CF"/>
                          </a:solidFill>
                          <a:latin typeface="Segoe UI"/>
                        </a:rPr>
                        <a:t>Similarity search selects the nearest vectors</a:t>
                      </a:r>
                    </a:p>
                  </a:txBody>
                  <a:tcPr marL="101600" marR="101600" marT="50800" marB="50800" anchor="ctr">
                    <a:solidFill>
                      <a:srgbClr val="121319"/>
                    </a:solidFill>
                  </a:tcPr>
                </a:tc>
                <a:tc>
                  <a:txBody>
                    <a:bodyPr wrap="square"/>
                    <a:lstStyle/>
                    <a:p>
                      <a:r>
                        <a:rPr sz="1200" b="0">
                          <a:solidFill>
                            <a:srgbClr val="B8C0CF"/>
                          </a:solidFill>
                          <a:latin typeface="Segoe UI"/>
                        </a:rPr>
                        <a:t>Embedding manipulation — Objective 6.3</a:t>
                      </a:r>
                    </a:p>
                  </a:txBody>
                  <a:tcPr marL="101600" marR="101600" marT="50800" marB="50800" anchor="ctr">
                    <a:solidFill>
                      <a:srgbClr val="121319"/>
                    </a:solidFill>
                  </a:tcPr>
                </a:tc>
              </a:tr>
              <a:tr h="471832">
                <a:tc>
                  <a:txBody>
                    <a:bodyPr wrap="square"/>
                    <a:lstStyle/>
                    <a:p>
                      <a:r>
                        <a:rPr sz="1200" b="1">
                          <a:solidFill>
                            <a:srgbClr val="F5F7FB"/>
                          </a:solidFill>
                          <a:latin typeface="Segoe UI"/>
                        </a:rPr>
                        <a:t>Augmentation (stage 6)</a:t>
                      </a:r>
                    </a:p>
                  </a:txBody>
                  <a:tcPr marL="101600" marR="101600" marT="50800" marB="50800" anchor="ctr">
                    <a:solidFill>
                      <a:srgbClr val="141519"/>
                    </a:solidFill>
                  </a:tcPr>
                </a:tc>
                <a:tc>
                  <a:txBody>
                    <a:bodyPr wrap="square"/>
                    <a:lstStyle/>
                    <a:p>
                      <a:r>
                        <a:rPr sz="1200" b="0">
                          <a:solidFill>
                            <a:srgbClr val="B8C0CF"/>
                          </a:solidFill>
                          <a:latin typeface="Segoe UI"/>
                        </a:rPr>
                        <a:t>Retrieved text enters the model's context</a:t>
                      </a:r>
                    </a:p>
                  </a:txBody>
                  <a:tcPr marL="101600" marR="101600" marT="50800" marB="50800" anchor="ctr">
                    <a:solidFill>
                      <a:srgbClr val="141519"/>
                    </a:solidFill>
                  </a:tcPr>
                </a:tc>
                <a:tc>
                  <a:txBody>
                    <a:bodyPr wrap="square"/>
                    <a:lstStyle/>
                    <a:p>
                      <a:r>
                        <a:rPr sz="1200" b="0">
                          <a:solidFill>
                            <a:srgbClr val="B8C0CF"/>
                          </a:solidFill>
                          <a:latin typeface="Segoe UI"/>
                        </a:rPr>
                        <a:t>Out of scope here — see Module 5, Objective 5.3</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Augmentation is included only to show the boundary — Module 6 stops at retrieval and does not re-cover indirect injection.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6.1 · POSITIONING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Embeddings within the Module 1 attack-surface model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Module 1 introduced a six-layer attack surface for AI systems; embeddings and the vector store are the concrete implementation of the same data and retrieval layer that Module 5's RAG pipeline occupies, examined here at finer granularity.</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CONNECTS BACKWARD</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5, Objective 5.1 mapped the full RAG pipeline; this objective reopens two of its stages — embedding and storage — as independent targets.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CONNECTS FORWARD</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7 moves to the tool and protocol layer; Module 9 covers the infrastructure hosting the vector database itself.</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6.2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6.2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Embedding inversion attacks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embedding inversion?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Embedding inversion is a class of technique that attempts to recover an approximation of the original source text from its embedding vector alone, without access to the source text itself — treating the vector as a lossy but partially reversible encoding of meaning.</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IT RECOVERS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Typically an approximation — related terms, topics, or fragments — rather than an exact reproduction of the original text, though the degree of recoverable detail varies by context.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POSSIBLE AT ALL</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 embedding is a structured, deterministic function of its source text — as Objective 6.1 established, meaning is compressed into geometry, and geometry can carry recoverable signal.</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IMPACT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exposed embeddings of sensitive documents matter</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When embeddings of sensitive or private source documents are exposed — for example through a debug endpoint that echoes raw vectors, or an overly permissive vector-store API that allows reading vectors directly — an attacker gains a route toward the confidentiality of documents they were never authorised to read.</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THE CORE ASSUMPTION IT BREAKS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Many teams treat a vector as a safe, opaque derivative of sensitive text — a numeric artefact with no meaningful confidentiality obligation of its own.</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THAT ASSUMPTION IS RISKY</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Objective 6.2's premise directly undermines it: if a vector can be approximately inverted, exposing vectors is not meaningfully different from exposing a summary of the source text.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Embedding inversion vs direct data exposure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Embedding inversion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Attacker has access only to vectors, never the source text</a:t>
            </a:r>
          </a:p>
          <a:p>
            <a:pPr algn="l">
              <a:spcBef>
                <a:spcPts val="0"/>
              </a:spcBef>
              <a:spcAft>
                <a:spcPts val="800"/>
              </a:spcAft>
            </a:pPr>
            <a:r>
              <a:rPr sz="1400" b="1">
                <a:solidFill>
                  <a:srgbClr val="FF6A00"/>
                </a:solidFill>
                <a:latin typeface="Segoe UI"/>
              </a:rPr>
              <a:t>•  </a:t>
            </a:r>
            <a:r>
              <a:rPr sz="1400" b="0">
                <a:solidFill>
                  <a:srgbClr val="B8C0CF"/>
                </a:solidFill>
                <a:latin typeface="Segoe UI"/>
              </a:rPr>
              <a:t>Recovers an approximation of the original content</a:t>
            </a:r>
          </a:p>
          <a:p>
            <a:pPr algn="l">
              <a:spcBef>
                <a:spcPts val="0"/>
              </a:spcBef>
              <a:spcAft>
                <a:spcPts val="800"/>
              </a:spcAft>
            </a:pPr>
            <a:r>
              <a:rPr sz="1400" b="1">
                <a:solidFill>
                  <a:srgbClr val="FF6A00"/>
                </a:solidFill>
                <a:latin typeface="Segoe UI"/>
              </a:rPr>
              <a:t>•  </a:t>
            </a:r>
            <a:r>
              <a:rPr sz="1400" b="0">
                <a:solidFill>
                  <a:srgbClr val="B8C0CF"/>
                </a:solidFill>
                <a:latin typeface="Segoe UI"/>
              </a:rPr>
              <a:t>Exploits the vector's own residual, decodable signal</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no access to the raw document store at all</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Direct data exposure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Attacker reads the source text or files directly</a:t>
            </a:r>
          </a:p>
          <a:p>
            <a:pPr algn="l">
              <a:spcBef>
                <a:spcPts val="0"/>
              </a:spcBef>
              <a:spcAft>
                <a:spcPts val="800"/>
              </a:spcAft>
            </a:pPr>
            <a:r>
              <a:rPr sz="1400" b="1">
                <a:solidFill>
                  <a:srgbClr val="FF6A00"/>
                </a:solidFill>
                <a:latin typeface="Segoe UI"/>
              </a:rPr>
              <a:t>•  </a:t>
            </a:r>
            <a:r>
              <a:rPr sz="1400" b="0">
                <a:solidFill>
                  <a:srgbClr val="B8C0CF"/>
                </a:solidFill>
                <a:latin typeface="Segoe UI"/>
              </a:rPr>
              <a:t>Recovers the exact original content</a:t>
            </a:r>
          </a:p>
          <a:p>
            <a:pPr algn="l">
              <a:spcBef>
                <a:spcPts val="0"/>
              </a:spcBef>
              <a:spcAft>
                <a:spcPts val="800"/>
              </a:spcAft>
            </a:pPr>
            <a:r>
              <a:rPr sz="1400" b="1">
                <a:solidFill>
                  <a:srgbClr val="FF6A00"/>
                </a:solidFill>
                <a:latin typeface="Segoe UI"/>
              </a:rPr>
              <a:t>•  </a:t>
            </a:r>
            <a:r>
              <a:rPr sz="1400" b="0">
                <a:solidFill>
                  <a:srgbClr val="B8C0CF"/>
                </a:solidFill>
                <a:latin typeface="Segoe UI"/>
              </a:rPr>
              <a:t>Exploits a misconfigured file store, database, or permission</a:t>
            </a:r>
          </a:p>
          <a:p>
            <a:pPr algn="l">
              <a:spcBef>
                <a:spcPts val="0"/>
              </a:spcBef>
              <a:spcAft>
                <a:spcPts val="800"/>
              </a:spcAft>
            </a:pPr>
            <a:r>
              <a:rPr sz="1400" b="1">
                <a:solidFill>
                  <a:srgbClr val="FF6A00"/>
                </a:solidFill>
                <a:latin typeface="Segoe UI"/>
              </a:rPr>
              <a:t>•  </a:t>
            </a:r>
            <a:r>
              <a:rPr sz="1400" b="0">
                <a:solidFill>
                  <a:srgbClr val="B8C0CF"/>
                </a:solidFill>
                <a:latin typeface="Segoe UI"/>
              </a:rPr>
              <a:t>Requires access to the raw document store itself</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distinction: embedding inversion is a confidentiality risk that exists even when the source documents themselves are perfectly secured — because the vector was treated as if it carried none of that same sensitivity.</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FRAMEWORK MAPPING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OWASP LLM08: Vector and Embedding Weaknesses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Embedding inversion is a named risk within OWASP's LLM08 category, which covers weaknesses in how vectors and embeddings are generated, stored, and accessed throughout a RAG or embedding-based system's lifecycle.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SCOPE NOTE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LLM08 is broader than inversion alone — it also covers the vector-store access-control and cross-tenant risks that Objective 6.4 develops in full.</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THE MAPPING MATTERS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Framing an inversion finding against a named OWASP category gives it shared, defensible vocabulary in an engagement report, exactly as earlier modules established.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FRAMEWORK MAPPING</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OWASP LLM02: Sensitive Information Disclosure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Embedding inversion also intersects with OWASP's LLM02 category, which covers the broader risk of a system disclosing sensitive information — because a successfully inverted embedding is, in effect, a disclosure of the sensitive content it was derived from.</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DUAL MAPPING</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single inversion finding can legitimately cite both LLM08, for the vector-specific weakness, and LLM02, for the sensitive-information-disclosure outcome it produces.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REPORTING DISCIPLINE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State the mechanism as LLM08 and the impact as LLM02 — this pairing is a strong, precise pattern for an OSAI-style engagement report.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EXPOSURE VECTORS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Common ways embeddings get exposed</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DEBUG OR DIAGNOSTIC ENDPOINTS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Development or troubleshooting endpoints that echo raw vectors back to a caller, often left reachable after release.</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OVERLY PERMISSIVE VECTOR-STORE APIS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vector database API that allows reading raw vectors with weaker authorisation than is applied to the source documents.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LOGGING AND TELEMETRY</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Vectors captured in logs, traces, or monitoring pipelines that are retained and accessed with weaker controls than production data.</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EXPORT OR BACKUP FEATURES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Bulk export or backup functionality that copies vectors — and their associated metadata — outside the originally intended access boundary.</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ASSESSMENT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Exposure vector to risk and framework mapping</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Exposure vector</a:t>
                      </a:r>
                    </a:p>
                  </a:txBody>
                  <a:tcPr marL="101600" marR="101600" marT="50800" marB="50800" anchor="ctr">
                    <a:solidFill>
                      <a:srgbClr val="3A2410"/>
                    </a:solidFill>
                  </a:tcPr>
                </a:tc>
                <a:tc>
                  <a:txBody>
                    <a:bodyPr wrap="square"/>
                    <a:lstStyle/>
                    <a:p>
                      <a:r>
                        <a:rPr sz="1300" b="1">
                          <a:solidFill>
                            <a:srgbClr val="F5F7FB"/>
                          </a:solidFill>
                          <a:latin typeface="Segoe UI"/>
                        </a:rPr>
                        <a:t>What is at risk</a:t>
                      </a:r>
                    </a:p>
                  </a:txBody>
                  <a:tcPr marL="101600" marR="101600" marT="50800" marB="50800" anchor="ctr">
                    <a:solidFill>
                      <a:srgbClr val="3A2410"/>
                    </a:solidFill>
                  </a:tcPr>
                </a:tc>
                <a:tc>
                  <a:txBody>
                    <a:bodyPr wrap="square"/>
                    <a:lstStyle/>
                    <a:p>
                      <a:r>
                        <a:rPr sz="1300" b="1">
                          <a:solidFill>
                            <a:srgbClr val="F5F7FB"/>
                          </a:solidFill>
                          <a:latin typeface="Segoe UI"/>
                        </a:rPr>
                        <a:t>Framework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Debug endpoint echoing vectors</a:t>
                      </a:r>
                    </a:p>
                  </a:txBody>
                  <a:tcPr marL="101600" marR="101600" marT="50800" marB="50800" anchor="ctr">
                    <a:solidFill>
                      <a:srgbClr val="121319"/>
                    </a:solidFill>
                  </a:tcPr>
                </a:tc>
                <a:tc>
                  <a:txBody>
                    <a:bodyPr wrap="square"/>
                    <a:lstStyle/>
                    <a:p>
                      <a:r>
                        <a:rPr sz="1200" b="0">
                          <a:solidFill>
                            <a:srgbClr val="B8C0CF"/>
                          </a:solidFill>
                          <a:latin typeface="Segoe UI"/>
                        </a:rPr>
                        <a:t>Confidentiality of the source document</a:t>
                      </a:r>
                    </a:p>
                  </a:txBody>
                  <a:tcPr marL="101600" marR="101600" marT="50800" marB="50800" anchor="ctr">
                    <a:solidFill>
                      <a:srgbClr val="121319"/>
                    </a:solidFill>
                  </a:tcPr>
                </a:tc>
                <a:tc>
                  <a:txBody>
                    <a:bodyPr wrap="square"/>
                    <a:lstStyle/>
                    <a:p>
                      <a:r>
                        <a:rPr sz="1200" b="0">
                          <a:solidFill>
                            <a:srgbClr val="B8C0CF"/>
                          </a:solidFill>
                          <a:latin typeface="Segoe UI"/>
                        </a:rPr>
                        <a:t>OWASP LLM08 / LLM02</a:t>
                      </a:r>
                    </a:p>
                  </a:txBody>
                  <a:tcPr marL="101600" marR="101600" marT="50800" marB="50800" anchor="ctr">
                    <a:solidFill>
                      <a:srgbClr val="121319"/>
                    </a:solidFill>
                  </a:tcPr>
                </a:tc>
              </a:tr>
              <a:tr h="471830">
                <a:tc>
                  <a:txBody>
                    <a:bodyPr wrap="square"/>
                    <a:lstStyle/>
                    <a:p>
                      <a:r>
                        <a:rPr sz="1200" b="1">
                          <a:solidFill>
                            <a:srgbClr val="F5F7FB"/>
                          </a:solidFill>
                          <a:latin typeface="Segoe UI"/>
                        </a:rPr>
                        <a:t>Permissive vector-store read API</a:t>
                      </a:r>
                    </a:p>
                  </a:txBody>
                  <a:tcPr marL="101600" marR="101600" marT="50800" marB="50800" anchor="ctr">
                    <a:solidFill>
                      <a:srgbClr val="141519"/>
                    </a:solidFill>
                  </a:tcPr>
                </a:tc>
                <a:tc>
                  <a:txBody>
                    <a:bodyPr wrap="square"/>
                    <a:lstStyle/>
                    <a:p>
                      <a:r>
                        <a:rPr sz="1200" b="0">
                          <a:solidFill>
                            <a:srgbClr val="B8C0CF"/>
                          </a:solidFill>
                          <a:latin typeface="Segoe UI"/>
                        </a:rPr>
                        <a:t>Bulk confidentiality of the whole corpus</a:t>
                      </a:r>
                    </a:p>
                  </a:txBody>
                  <a:tcPr marL="101600" marR="101600" marT="50800" marB="50800" anchor="ctr">
                    <a:solidFill>
                      <a:srgbClr val="141519"/>
                    </a:solidFill>
                  </a:tcPr>
                </a:tc>
                <a:tc>
                  <a:txBody>
                    <a:bodyPr wrap="square"/>
                    <a:lstStyle/>
                    <a:p>
                      <a:r>
                        <a:rPr sz="1200" b="0">
                          <a:solidFill>
                            <a:srgbClr val="B8C0CF"/>
                          </a:solidFill>
                          <a:latin typeface="Segoe UI"/>
                        </a:rPr>
                        <a:t>OWASP LLM08 / LLM02</a:t>
                      </a:r>
                    </a:p>
                  </a:txBody>
                  <a:tcPr marL="101600" marR="101600" marT="50800" marB="50800" anchor="ctr">
                    <a:solidFill>
                      <a:srgbClr val="141519"/>
                    </a:solidFill>
                  </a:tcPr>
                </a:tc>
              </a:tr>
              <a:tr h="471830">
                <a:tc>
                  <a:txBody>
                    <a:bodyPr wrap="square"/>
                    <a:lstStyle/>
                    <a:p>
                      <a:r>
                        <a:rPr sz="1200" b="1">
                          <a:solidFill>
                            <a:srgbClr val="F5F7FB"/>
                          </a:solidFill>
                          <a:latin typeface="Segoe UI"/>
                        </a:rPr>
                        <a:t>Logging or telemetry retention</a:t>
                      </a:r>
                    </a:p>
                  </a:txBody>
                  <a:tcPr marL="101600" marR="101600" marT="50800" marB="50800" anchor="ctr">
                    <a:solidFill>
                      <a:srgbClr val="121319"/>
                    </a:solidFill>
                  </a:tcPr>
                </a:tc>
                <a:tc>
                  <a:txBody>
                    <a:bodyPr wrap="square"/>
                    <a:lstStyle/>
                    <a:p>
                      <a:r>
                        <a:rPr sz="1200" b="0">
                          <a:solidFill>
                            <a:srgbClr val="B8C0CF"/>
                          </a:solidFill>
                          <a:latin typeface="Segoe UI"/>
                        </a:rPr>
                        <a:t>Confidentiality via a secondary, less-controlled copy</a:t>
                      </a:r>
                    </a:p>
                  </a:txBody>
                  <a:tcPr marL="101600" marR="101600" marT="50800" marB="50800" anchor="ctr">
                    <a:solidFill>
                      <a:srgbClr val="121319"/>
                    </a:solidFill>
                  </a:tcPr>
                </a:tc>
                <a:tc>
                  <a:txBody>
                    <a:bodyPr wrap="square"/>
                    <a:lstStyle/>
                    <a:p>
                      <a:r>
                        <a:rPr sz="1200" b="0">
                          <a:solidFill>
                            <a:srgbClr val="B8C0CF"/>
                          </a:solidFill>
                          <a:latin typeface="Segoe UI"/>
                        </a:rPr>
                        <a:t>OWASP LLM02</a:t>
                      </a:r>
                    </a:p>
                  </a:txBody>
                  <a:tcPr marL="101600" marR="101600" marT="50800" marB="50800" anchor="ctr">
                    <a:solidFill>
                      <a:srgbClr val="121319"/>
                    </a:solidFill>
                  </a:tcPr>
                </a:tc>
              </a:tr>
              <a:tr h="471832">
                <a:tc>
                  <a:txBody>
                    <a:bodyPr wrap="square"/>
                    <a:lstStyle/>
                    <a:p>
                      <a:r>
                        <a:rPr sz="1200" b="1">
                          <a:solidFill>
                            <a:srgbClr val="F5F7FB"/>
                          </a:solidFill>
                          <a:latin typeface="Segoe UI"/>
                        </a:rPr>
                        <a:t>Unscoped export or backup</a:t>
                      </a:r>
                    </a:p>
                  </a:txBody>
                  <a:tcPr marL="101600" marR="101600" marT="50800" marB="50800" anchor="ctr">
                    <a:solidFill>
                      <a:srgbClr val="141519"/>
                    </a:solidFill>
                  </a:tcPr>
                </a:tc>
                <a:tc>
                  <a:txBody>
                    <a:bodyPr wrap="square"/>
                    <a:lstStyle/>
                    <a:p>
                      <a:r>
                        <a:rPr sz="1200" b="0">
                          <a:solidFill>
                            <a:srgbClr val="B8C0CF"/>
                          </a:solidFill>
                          <a:latin typeface="Segoe UI"/>
                        </a:rPr>
                        <a:t>Confidentiality plus loss of access-control boundary</a:t>
                      </a:r>
                    </a:p>
                  </a:txBody>
                  <a:tcPr marL="101600" marR="101600" marT="50800" marB="50800" anchor="ctr">
                    <a:solidFill>
                      <a:srgbClr val="141519"/>
                    </a:solidFill>
                  </a:tcPr>
                </a:tc>
                <a:tc>
                  <a:txBody>
                    <a:bodyPr wrap="square"/>
                    <a:lstStyle/>
                    <a:p>
                      <a:r>
                        <a:rPr sz="1200" b="0">
                          <a:solidFill>
                            <a:srgbClr val="B8C0CF"/>
                          </a:solidFill>
                          <a:latin typeface="Segoe UI"/>
                        </a:rPr>
                        <a:t>OWASP LLM08 / LLM02</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This is an assessment aid for engagement reporting, not a defensive control specification.</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6.2 · RECOGNITION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Recognising an embedding-exposure risk during an assessment</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VECTORS REACHABLE WITHOUT DOCUMENT-LEVEL AUTHORISATION</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Any endpoint or API that returns raw vectors under weaker access control than the source documents warrants scrutiny.</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NO STATED SENSITIVITY CLASSIFICATION FOR EMBEDDINGS</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If an organisation's data-classification policy is silent on embeddings, that silence is itself a finding worth documenting.</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VECTORS RETAINED IN SECONDARY SYSTEMS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Logs, caches, or telemetry that persist vectors outside the primary vector store extend the exposure surface without extending the same controls.</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ABSENCE OF PURPOSE-LIMITED ACCESS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Access to raw vectors that is not scoped to a specific operational need mirrors the same over-permissioning risk seen elsewhere in the course.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6.3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6.3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Embedding manipulation and adversarial perturbation</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embedding-space manipulation?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Embedding manipulation crafts input text specifically so that its resulting embedding lands close, in vector space, to a target embedding — causing it to be retrieved by similarity search for queries it should not genuinely match, regardless of what the crafted text actually says.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IS BEING ATTACKED</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Not the source text's meaning to a human reader, but its geometric position once embedded — the exact mechanism Objective 6.1 described as purely distance-based.</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THE OUTCOME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Content that should never rank as relevant to a given query can be retrieved for it anyway, because the vector — not the text — is what similarity search actually compares.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Embedding manipulation vs Module 5's corpus poisoning</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Embedding manipulation (this objective)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Targets the vector's position in embedding space directly</a:t>
            </a:r>
          </a:p>
          <a:p>
            <a:pPr algn="l">
              <a:spcBef>
                <a:spcPts val="0"/>
              </a:spcBef>
              <a:spcAft>
                <a:spcPts val="800"/>
              </a:spcAft>
            </a:pPr>
            <a:r>
              <a:rPr sz="1400" b="1">
                <a:solidFill>
                  <a:srgbClr val="FF6A00"/>
                </a:solidFill>
                <a:latin typeface="Segoe UI"/>
              </a:rPr>
              <a:t>•  </a:t>
            </a:r>
            <a:r>
              <a:rPr sz="1400" b="0">
                <a:solidFill>
                  <a:srgbClr val="B8C0CF"/>
                </a:solidFill>
                <a:latin typeface="Segoe UI"/>
              </a:rPr>
              <a:t>Content may not resemble the queries it is designed to match at all</a:t>
            </a:r>
          </a:p>
          <a:p>
            <a:pPr algn="l">
              <a:spcBef>
                <a:spcPts val="0"/>
              </a:spcBef>
              <a:spcAft>
                <a:spcPts val="800"/>
              </a:spcAft>
            </a:pPr>
            <a:r>
              <a:rPr sz="1400" b="1">
                <a:solidFill>
                  <a:srgbClr val="FF6A00"/>
                </a:solidFill>
                <a:latin typeface="Segoe UI"/>
              </a:rPr>
              <a:t>•  </a:t>
            </a:r>
            <a:r>
              <a:rPr sz="1400" b="0">
                <a:solidFill>
                  <a:srgbClr val="B8C0CF"/>
                </a:solidFill>
                <a:latin typeface="Segoe UI"/>
              </a:rPr>
              <a:t>Effectiveness depends on the embedding model's own geometry</a:t>
            </a:r>
          </a:p>
          <a:p>
            <a:pPr algn="l">
              <a:spcBef>
                <a:spcPts val="0"/>
              </a:spcBef>
              <a:spcAft>
                <a:spcPts val="800"/>
              </a:spcAft>
            </a:pPr>
            <a:r>
              <a:rPr sz="1400" b="1">
                <a:solidFill>
                  <a:srgbClr val="FF6A00"/>
                </a:solidFill>
                <a:latin typeface="Segoe UI"/>
              </a:rPr>
              <a:t>•  </a:t>
            </a:r>
            <a:r>
              <a:rPr sz="1400" b="0">
                <a:solidFill>
                  <a:srgbClr val="B8C0CF"/>
                </a:solidFill>
                <a:latin typeface="Segoe UI"/>
              </a:rPr>
              <a:t>A retrieval-poisoning technique introduced here, in Module 6</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RAG-corpus poisoning (Module 5, Objective 5.2)</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Targets the source text a human or reviewer would read</a:t>
            </a:r>
          </a:p>
          <a:p>
            <a:pPr algn="l">
              <a:spcBef>
                <a:spcPts val="0"/>
              </a:spcBef>
              <a:spcAft>
                <a:spcPts val="800"/>
              </a:spcAft>
            </a:pPr>
            <a:r>
              <a:rPr sz="1400" b="1">
                <a:solidFill>
                  <a:srgbClr val="FF6A00"/>
                </a:solidFill>
                <a:latin typeface="Segoe UI"/>
              </a:rPr>
              <a:t>•  </a:t>
            </a:r>
            <a:r>
              <a:rPr sz="1400" b="0">
                <a:solidFill>
                  <a:srgbClr val="B8C0CF"/>
                </a:solidFill>
                <a:latin typeface="Segoe UI"/>
              </a:rPr>
              <a:t>Content is crafted to read as legitimate to a human reviewer</a:t>
            </a:r>
          </a:p>
          <a:p>
            <a:pPr algn="l">
              <a:spcBef>
                <a:spcPts val="0"/>
              </a:spcBef>
              <a:spcAft>
                <a:spcPts val="800"/>
              </a:spcAft>
            </a:pPr>
            <a:r>
              <a:rPr sz="1400" b="1">
                <a:solidFill>
                  <a:srgbClr val="FF6A00"/>
                </a:solidFill>
                <a:latin typeface="Segoe UI"/>
              </a:rPr>
              <a:t>•  </a:t>
            </a:r>
            <a:r>
              <a:rPr sz="1400" b="0">
                <a:solidFill>
                  <a:srgbClr val="B8C0CF"/>
                </a:solidFill>
                <a:latin typeface="Segoe UI"/>
              </a:rPr>
              <a:t>Effectiveness depends on passing content review, not vector geometry</a:t>
            </a:r>
          </a:p>
          <a:p>
            <a:pPr algn="l">
              <a:spcBef>
                <a:spcPts val="0"/>
              </a:spcBef>
              <a:spcAft>
                <a:spcPts val="800"/>
              </a:spcAft>
            </a:pPr>
            <a:r>
              <a:rPr sz="1400" b="1">
                <a:solidFill>
                  <a:srgbClr val="FF6A00"/>
                </a:solidFill>
                <a:latin typeface="Segoe UI"/>
              </a:rPr>
              <a:t>•  </a:t>
            </a:r>
            <a:r>
              <a:rPr sz="1400" b="0">
                <a:solidFill>
                  <a:srgbClr val="B8C0CF"/>
                </a:solidFill>
                <a:latin typeface="Segoe UI"/>
              </a:rPr>
              <a:t>Introduced in Module 5, Objective 5.2</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critical exam distinction: both techniques cause unintended content to be retrieved, but corpus poisoning manipulates what a human would read while embedding manipulation manipulates only where the vector lands — the text itself can look entirely unrelated.</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CONCEPT ORIGIN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Adversarial perturbation, carried over from predictive ML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Adversarial perturbation is the general concept of making a small, deliberate change to an input so that a model's output changes in an attacker's favour — a concept this objective carries over from evasion attacks against predictive, discriminative ML systems into the embedding space of generative AI's retrieval layer.</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BACKLINK</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1, Objective 1.1 introduced predictive/discriminative ML as one of two families of AI systems, attacked via evasion where an adversarial example flips a decision.</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CHANGES IN THIS CONTEXT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Instead of flipping a classifier's decision, the perturbation here shifts an embedding's position enough to flip a retrieval outcome — the mechanism is the same idea applied to a different target.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MECHANISM</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embedding-manipulation mechanism, conceptually</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a target embedding region</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attacker determines, directly or by inference, the approximate vector-space region associated with queries they want to hijack.</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Craft candidate text</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Text is drafted with the goal of embedding close to that target region, independent of whether the text reads as relevant to a human.</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Get the content ingested</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crafted content enters the corpus through any of the ingestion routes Module 5, Objective 5.2 already covers.</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The vector lands near the target</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Once embedded, the content's vector sits close enough to the target region to be a similarity-search match.</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It is retrieved for unintended queries</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Future queries that land near that same region retrieve the manipulated content, regardless of its actual relevance.</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DETECTION DIFFICULTY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embedding manipulation is hard to catch</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TEXT-LEVEL REVIEW MISSES IT</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human reviewer judging content for plausibility, as in corpus-poisoning review, may find nothing suspicious in the crafted text itself.</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NO KEYWORD SIGNATURE</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Because the attack targets vector geometry rather than literal words, keyword or pattern-based content filters have nothing reliable to match against.</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RETRIEVAL LOOKS ROUTINE</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retrieved content simply appears as an ordinary similarity-search result, with nothing structurally different from a genuine match.</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DEPENDS ON THE EMBEDDING MODEL, NOT THE CORPUS</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same crafted text may succeed against one embedding model and fail against another, complicating both testing and defence.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IMPACT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Consequences of retrieval hijacking</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Once a manipulated vector is reliably retrieved for queries it should not match, the consequence depends on what the crafted content contains — it may carry a misleading answer, an indirect-injection payload as covered in Module 5, Objective 5.3, or simply displace a legitimate, relevant result.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COMPOUNDING WITH MODULE 5</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Embedding manipulation can be used purely to guarantee retrieval, with the actual payload delivery still following Module 5's indirect-injection mechanism once the manipulated chunk is augmented into context.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STANDALONE IMPACT</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Even without any injected instruction, reliably displacing legitimate content from a result set is itself a finding — an availability or integrity issue for the retrieval layer.</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Embedding-space technique to framework mapping</a:t>
            </a:r>
          </a:p>
        </p:txBody>
      </p:sp>
      <p:graphicFrame>
        <p:nvGraphicFramePr>
          <p:cNvPr id="6" name="Table 5"/>
          <p:cNvGraphicFramePr>
            <a:graphicFrameLocks noGrp="1"/>
          </p:cNvGraphicFramePr>
          <p:nvPr/>
        </p:nvGraphicFramePr>
        <p:xfrm>
          <a:off x="548640" y="1828800"/>
          <a:ext cx="11091672" cy="1883664"/>
        </p:xfrm>
        <a:graphic>
          <a:graphicData uri="http://schemas.openxmlformats.org/drawingml/2006/table">
            <a:tbl>
              <a:tblPr>
                <a:tableStyleId>{5C22544A-7EE6-4342-B048-85BDC9FD1C3A}</a:tableStyleId>
              </a:tblPr>
              <a:tblGrid>
                <a:gridCol w="3697224"/>
                <a:gridCol w="3697224"/>
                <a:gridCol w="3697224"/>
              </a:tblGrid>
              <a:tr h="470916">
                <a:tc>
                  <a:txBody>
                    <a:bodyPr wrap="square"/>
                    <a:lstStyle/>
                    <a:p>
                      <a:r>
                        <a:rPr sz="1300" b="1">
                          <a:solidFill>
                            <a:srgbClr val="F5F7FB"/>
                          </a:solidFill>
                          <a:latin typeface="Segoe UI"/>
                        </a:rPr>
                        <a:t>Technique</a:t>
                      </a:r>
                    </a:p>
                  </a:txBody>
                  <a:tcPr marL="101600" marR="101600" marT="50800" marB="50800" anchor="ctr">
                    <a:solidFill>
                      <a:srgbClr val="3A2410"/>
                    </a:solidFill>
                  </a:tcPr>
                </a:tc>
                <a:tc>
                  <a:txBody>
                    <a:bodyPr wrap="square"/>
                    <a:lstStyle/>
                    <a:p>
                      <a:r>
                        <a:rPr sz="1300" b="1">
                          <a:solidFill>
                            <a:srgbClr val="F5F7FB"/>
                          </a:solidFill>
                          <a:latin typeface="Segoe UI"/>
                        </a:rPr>
                        <a:t>Mechanism</a:t>
                      </a:r>
                    </a:p>
                  </a:txBody>
                  <a:tcPr marL="101600" marR="101600" marT="50800" marB="50800" anchor="ctr">
                    <a:solidFill>
                      <a:srgbClr val="3A2410"/>
                    </a:solidFill>
                  </a:tcPr>
                </a:tc>
                <a:tc>
                  <a:txBody>
                    <a:bodyPr wrap="square"/>
                    <a:lstStyle/>
                    <a:p>
                      <a:r>
                        <a:rPr sz="1300" b="1">
                          <a:solidFill>
                            <a:srgbClr val="F5F7FB"/>
                          </a:solidFill>
                          <a:latin typeface="Segoe UI"/>
                        </a:rPr>
                        <a:t>Framework mapping</a:t>
                      </a:r>
                    </a:p>
                  </a:txBody>
                  <a:tcPr marL="101600" marR="101600" marT="50800" marB="50800" anchor="ctr">
                    <a:solidFill>
                      <a:srgbClr val="3A2410"/>
                    </a:solidFill>
                  </a:tcPr>
                </a:tc>
              </a:tr>
              <a:tr h="470916">
                <a:tc>
                  <a:txBody>
                    <a:bodyPr wrap="square"/>
                    <a:lstStyle/>
                    <a:p>
                      <a:r>
                        <a:rPr sz="1200" b="1">
                          <a:solidFill>
                            <a:srgbClr val="F5F7FB"/>
                          </a:solidFill>
                          <a:latin typeface="Segoe UI"/>
                        </a:rPr>
                        <a:t>Embedding-space manipulation</a:t>
                      </a:r>
                    </a:p>
                  </a:txBody>
                  <a:tcPr marL="101600" marR="101600" marT="50800" marB="50800" anchor="ctr">
                    <a:solidFill>
                      <a:srgbClr val="121319"/>
                    </a:solidFill>
                  </a:tcPr>
                </a:tc>
                <a:tc>
                  <a:txBody>
                    <a:bodyPr wrap="square"/>
                    <a:lstStyle/>
                    <a:p>
                      <a:r>
                        <a:rPr sz="1200" b="0">
                          <a:solidFill>
                            <a:srgbClr val="B8C0CF"/>
                          </a:solidFill>
                          <a:latin typeface="Segoe UI"/>
                        </a:rPr>
                        <a:t>Crafted text positioned near a target embedding, independent of its literal meaning</a:t>
                      </a:r>
                    </a:p>
                  </a:txBody>
                  <a:tcPr marL="101600" marR="101600" marT="50800" marB="50800" anchor="ctr">
                    <a:solidFill>
                      <a:srgbClr val="121319"/>
                    </a:solidFill>
                  </a:tcPr>
                </a:tc>
                <a:tc>
                  <a:txBody>
                    <a:bodyPr wrap="square"/>
                    <a:lstStyle/>
                    <a:p>
                      <a:r>
                        <a:rPr sz="1200" b="0">
                          <a:solidFill>
                            <a:srgbClr val="B8C0CF"/>
                          </a:solidFill>
                          <a:latin typeface="Segoe UI"/>
                        </a:rPr>
                        <a:t>OWASP LLM08</a:t>
                      </a:r>
                    </a:p>
                  </a:txBody>
                  <a:tcPr marL="101600" marR="101600" marT="50800" marB="50800" anchor="ctr">
                    <a:solidFill>
                      <a:srgbClr val="121319"/>
                    </a:solidFill>
                  </a:tcPr>
                </a:tc>
              </a:tr>
              <a:tr h="470916">
                <a:tc>
                  <a:txBody>
                    <a:bodyPr wrap="square"/>
                    <a:lstStyle/>
                    <a:p>
                      <a:r>
                        <a:rPr sz="1200" b="1">
                          <a:solidFill>
                            <a:srgbClr val="F5F7FB"/>
                          </a:solidFill>
                          <a:latin typeface="Segoe UI"/>
                        </a:rPr>
                        <a:t>Adversarial perturbation (general)</a:t>
                      </a:r>
                    </a:p>
                  </a:txBody>
                  <a:tcPr marL="101600" marR="101600" marT="50800" marB="50800" anchor="ctr">
                    <a:solidFill>
                      <a:srgbClr val="141519"/>
                    </a:solidFill>
                  </a:tcPr>
                </a:tc>
                <a:tc>
                  <a:txBody>
                    <a:bodyPr wrap="square"/>
                    <a:lstStyle/>
                    <a:p>
                      <a:r>
                        <a:rPr sz="1200" b="0">
                          <a:solidFill>
                            <a:srgbClr val="B8C0CF"/>
                          </a:solidFill>
                          <a:latin typeface="Segoe UI"/>
                        </a:rPr>
                        <a:t>Small, deliberate input change to flip a model's output in the attacker's favour</a:t>
                      </a:r>
                    </a:p>
                  </a:txBody>
                  <a:tcPr marL="101600" marR="101600" marT="50800" marB="50800" anchor="ctr">
                    <a:solidFill>
                      <a:srgbClr val="141519"/>
                    </a:solidFill>
                  </a:tcPr>
                </a:tc>
                <a:tc>
                  <a:txBody>
                    <a:bodyPr wrap="square"/>
                    <a:lstStyle/>
                    <a:p>
                      <a:r>
                        <a:rPr sz="1200" b="0">
                          <a:solidFill>
                            <a:srgbClr val="B8C0CF"/>
                          </a:solidFill>
                          <a:latin typeface="Segoe UI"/>
                        </a:rPr>
                        <a:t>MITRE ATLAS — adversarial-input tactics</a:t>
                      </a:r>
                    </a:p>
                  </a:txBody>
                  <a:tcPr marL="101600" marR="101600" marT="50800" marB="50800" anchor="ctr">
                    <a:solidFill>
                      <a:srgbClr val="141519"/>
                    </a:solidFill>
                  </a:tcPr>
                </a:tc>
              </a:tr>
              <a:tr h="470916">
                <a:tc>
                  <a:txBody>
                    <a:bodyPr wrap="square"/>
                    <a:lstStyle/>
                    <a:p>
                      <a:r>
                        <a:rPr sz="1200" b="1">
                          <a:solidFill>
                            <a:srgbClr val="F5F7FB"/>
                          </a:solidFill>
                          <a:latin typeface="Segoe UI"/>
                        </a:rPr>
                        <a:t>Retrieval hijacking (outcome)</a:t>
                      </a:r>
                    </a:p>
                  </a:txBody>
                  <a:tcPr marL="101600" marR="101600" marT="50800" marB="50800" anchor="ctr">
                    <a:solidFill>
                      <a:srgbClr val="121319"/>
                    </a:solidFill>
                  </a:tcPr>
                </a:tc>
                <a:tc>
                  <a:txBody>
                    <a:bodyPr wrap="square"/>
                    <a:lstStyle/>
                    <a:p>
                      <a:r>
                        <a:rPr sz="1200" b="0">
                          <a:solidFill>
                            <a:srgbClr val="B8C0CF"/>
                          </a:solidFill>
                          <a:latin typeface="Segoe UI"/>
                        </a:rPr>
                        <a:t>Manipulated vector is retrieved for queries it should not match</a:t>
                      </a:r>
                    </a:p>
                  </a:txBody>
                  <a:tcPr marL="101600" marR="101600" marT="50800" marB="50800" anchor="ctr">
                    <a:solidFill>
                      <a:srgbClr val="121319"/>
                    </a:solidFill>
                  </a:tcPr>
                </a:tc>
                <a:tc>
                  <a:txBody>
                    <a:bodyPr wrap="square"/>
                    <a:lstStyle/>
                    <a:p>
                      <a:r>
                        <a:rPr sz="1200" b="0">
                          <a:solidFill>
                            <a:srgbClr val="B8C0CF"/>
                          </a:solidFill>
                          <a:latin typeface="Segoe UI"/>
                        </a:rPr>
                        <a:t>OWASP LLM08, compounding with LLM01 if a payload is delivered</a:t>
                      </a:r>
                    </a:p>
                  </a:txBody>
                  <a:tcPr marL="101600" marR="101600" marT="50800" marB="50800" anchor="ctr">
                    <a:solidFill>
                      <a:srgbClr val="1213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MITRE ATLAS's adversarial-input tactics apply here because this objective is, conceptually, evasion technique redirected at a retrieval system.</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Embedding manipulation vs Module 5's ranking manipulation</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Embedding manipulation (this objective)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Targets a specific embedding region, precisely</a:t>
            </a:r>
          </a:p>
          <a:p>
            <a:pPr algn="l">
              <a:spcBef>
                <a:spcPts val="0"/>
              </a:spcBef>
              <a:spcAft>
                <a:spcPts val="800"/>
              </a:spcAft>
            </a:pPr>
            <a:r>
              <a:rPr sz="1400" b="1">
                <a:solidFill>
                  <a:srgbClr val="FF6A00"/>
                </a:solidFill>
                <a:latin typeface="Segoe UI"/>
              </a:rPr>
              <a:t>•  </a:t>
            </a:r>
            <a:r>
              <a:rPr sz="1400" b="0">
                <a:solidFill>
                  <a:srgbClr val="B8C0CF"/>
                </a:solidFill>
                <a:latin typeface="Segoe UI"/>
              </a:rPr>
              <a:t>Goal: be retrieved for a particular set of queries</a:t>
            </a:r>
          </a:p>
          <a:p>
            <a:pPr algn="l">
              <a:spcBef>
                <a:spcPts val="0"/>
              </a:spcBef>
              <a:spcAft>
                <a:spcPts val="800"/>
              </a:spcAft>
            </a:pPr>
            <a:r>
              <a:rPr sz="1400" b="1">
                <a:solidFill>
                  <a:srgbClr val="FF6A00"/>
                </a:solidFill>
                <a:latin typeface="Segoe UI"/>
              </a:rPr>
              <a:t>•  </a:t>
            </a:r>
            <a:r>
              <a:rPr sz="1400" b="0">
                <a:solidFill>
                  <a:srgbClr val="B8C0CF"/>
                </a:solidFill>
                <a:latin typeface="Segoe UI"/>
              </a:rPr>
              <a:t>Success depends on vector-space geometry</a:t>
            </a:r>
          </a:p>
          <a:p>
            <a:pPr algn="l">
              <a:spcBef>
                <a:spcPts val="0"/>
              </a:spcBef>
              <a:spcAft>
                <a:spcPts val="800"/>
              </a:spcAft>
            </a:pPr>
            <a:r>
              <a:rPr sz="1400" b="1">
                <a:solidFill>
                  <a:srgbClr val="FF6A00"/>
                </a:solidFill>
                <a:latin typeface="Segoe UI"/>
              </a:rPr>
              <a:t>•  </a:t>
            </a:r>
            <a:r>
              <a:rPr sz="1400" b="0">
                <a:solidFill>
                  <a:srgbClr val="B8C0CF"/>
                </a:solidFill>
                <a:latin typeface="Segoe UI"/>
              </a:rPr>
              <a:t>A vector-level, precision technique</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Ranking manipulation (Module 5, Objective 5.4)</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Targets broad relevance across many likely queries</a:t>
            </a:r>
          </a:p>
          <a:p>
            <a:pPr algn="l">
              <a:spcBef>
                <a:spcPts val="0"/>
              </a:spcBef>
              <a:spcAft>
                <a:spcPts val="800"/>
              </a:spcAft>
            </a:pPr>
            <a:r>
              <a:rPr sz="1400" b="1">
                <a:solidFill>
                  <a:srgbClr val="FF6A00"/>
                </a:solidFill>
                <a:latin typeface="Segoe UI"/>
              </a:rPr>
              <a:t>•  </a:t>
            </a:r>
            <a:r>
              <a:rPr sz="1400" b="0">
                <a:solidFill>
                  <a:srgbClr val="B8C0CF"/>
                </a:solidFill>
                <a:latin typeface="Segoe UI"/>
              </a:rPr>
              <a:t>Goal: rank well for as wide a query range as possible</a:t>
            </a:r>
          </a:p>
          <a:p>
            <a:pPr algn="l">
              <a:spcBef>
                <a:spcPts val="0"/>
              </a:spcBef>
              <a:spcAft>
                <a:spcPts val="800"/>
              </a:spcAft>
            </a:pPr>
            <a:r>
              <a:rPr sz="1400" b="1">
                <a:solidFill>
                  <a:srgbClr val="FF6A00"/>
                </a:solidFill>
                <a:latin typeface="Segoe UI"/>
              </a:rPr>
              <a:t>•  </a:t>
            </a:r>
            <a:r>
              <a:rPr sz="1400" b="0">
                <a:solidFill>
                  <a:srgbClr val="B8C0CF"/>
                </a:solidFill>
                <a:latin typeface="Segoe UI"/>
              </a:rPr>
              <a:t>Success depends on content resembling likely queries</a:t>
            </a:r>
          </a:p>
          <a:p>
            <a:pPr algn="l">
              <a:spcBef>
                <a:spcPts val="0"/>
              </a:spcBef>
              <a:spcAft>
                <a:spcPts val="800"/>
              </a:spcAft>
            </a:pPr>
            <a:r>
              <a:rPr sz="1400" b="1">
                <a:solidFill>
                  <a:srgbClr val="FF6A00"/>
                </a:solidFill>
                <a:latin typeface="Segoe UI"/>
              </a:rPr>
              <a:t>•  </a:t>
            </a:r>
            <a:r>
              <a:rPr sz="1400" b="0">
                <a:solidFill>
                  <a:srgbClr val="B8C0CF"/>
                </a:solidFill>
                <a:latin typeface="Segoe UI"/>
              </a:rPr>
              <a:t>A text-level, breadth technique</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Both technique change what similarity search returns, but one optimises for precision against a specific target and the other for breadth across many queries — know which one a given finding actually describes before naming it in a report.</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6.4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6.4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Vector-store-specific exploitation and considerations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Access-control weaknesses on the vector database itself</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vector database can be queried or have its contents dumped beyond what the application built on top of it intends to expose, when access control is enforced only in the application layer and not in the database itself — allowing direct, unmediated access to vectors, text, and metadata.</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ROOT CAUSE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Many deployments assume the application is the only path to the vector store, and implement scoping and permission checks only there, leaving the store's own API with weaker or default controls.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CONSEQUENCE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Anyone who can reach the vector database directly — through a misconfigured network boundary, exposed port, or leaked credential — can bypass the application's intended access model entirely.</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Metadata leakage stored alongside vectors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Vector databases commonly store metadata alongside each vector — source filenames, user or tenant identifiers, timestamps, access tags, or even fragments of the original text — and this metadata is often available to any party that can query the store, independent of whether the vector or source document itself leaks.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OVERLOOKED</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Metadata is frequently treated as internal bookkeeping rather than sensitive content, so it receives less scrutiny than the vectors or documents it describes.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MATTERS</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Filenames, tenant identifiers, or internal tags can themselves disclose organisational structure, project names, or user identity — a confidentiality finding independent of embedding inversion.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RISK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Cross-tenant isolation risk in a shared vector store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In a vector store shared across multiple users or tenants, insufficient isolation at the storage layer — separate from any application-level query scoping — can allow one tenant's vectors, text, or metadata to be reachable by another tenant, or by anyone with direct access to the underlying store.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RELATIONSHIP TO MODULE 5</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5, Objective 5.4 covered cross-tenant leakage as a retrieval-scoping failure at the query level; this objective covers the same risk one layer down, as a storage- and access-control-level failure.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BOTH LAYERS MATTER</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vector store can enforce correct query-level scoping in the application while still allowing direct, unscoped access at the database layer — the two controls must both be verified independently.</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Application-level query scoping vs database-level access control</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Application-level query scoping</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Enforced in the RAG application's own retrieval logic</a:t>
            </a:r>
          </a:p>
          <a:p>
            <a:pPr algn="l">
              <a:spcBef>
                <a:spcPts val="0"/>
              </a:spcBef>
              <a:spcAft>
                <a:spcPts val="800"/>
              </a:spcAft>
            </a:pPr>
            <a:r>
              <a:rPr sz="1400" b="1">
                <a:solidFill>
                  <a:srgbClr val="FF6A00"/>
                </a:solidFill>
                <a:latin typeface="Segoe UI"/>
              </a:rPr>
              <a:t>•  </a:t>
            </a:r>
            <a:r>
              <a:rPr sz="1400" b="0">
                <a:solidFill>
                  <a:srgbClr val="B8C0CF"/>
                </a:solidFill>
                <a:latin typeface="Segoe UI"/>
              </a:rPr>
              <a:t>Filters which vectors a given query is allowed to search</a:t>
            </a:r>
          </a:p>
          <a:p>
            <a:pPr algn="l">
              <a:spcBef>
                <a:spcPts val="0"/>
              </a:spcBef>
              <a:spcAft>
                <a:spcPts val="800"/>
              </a:spcAft>
            </a:pPr>
            <a:r>
              <a:rPr sz="1400" b="1">
                <a:solidFill>
                  <a:srgbClr val="FF6A00"/>
                </a:solidFill>
                <a:latin typeface="Segoe UI"/>
              </a:rPr>
              <a:t>•  </a:t>
            </a:r>
            <a:r>
              <a:rPr sz="1400" b="0">
                <a:solidFill>
                  <a:srgbClr val="B8C0CF"/>
                </a:solidFill>
                <a:latin typeface="Segoe UI"/>
              </a:rPr>
              <a:t>Covered as retrieval-scoping failure in Module 5, Objective 5.4</a:t>
            </a:r>
          </a:p>
          <a:p>
            <a:pPr algn="l">
              <a:spcBef>
                <a:spcPts val="0"/>
              </a:spcBef>
              <a:spcAft>
                <a:spcPts val="800"/>
              </a:spcAft>
            </a:pPr>
            <a:r>
              <a:rPr sz="1400" b="1">
                <a:solidFill>
                  <a:srgbClr val="FF6A00"/>
                </a:solidFill>
                <a:latin typeface="Segoe UI"/>
              </a:rPr>
              <a:t>•  </a:t>
            </a:r>
            <a:r>
              <a:rPr sz="1400" b="0">
                <a:solidFill>
                  <a:srgbClr val="B8C0CF"/>
                </a:solidFill>
                <a:latin typeface="Segoe UI"/>
              </a:rPr>
              <a:t>Bypassed entirely if the store is reachable directly</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Database-level access control</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Enforced by the vector database itself, independent of the app</a:t>
            </a:r>
          </a:p>
          <a:p>
            <a:pPr algn="l">
              <a:spcBef>
                <a:spcPts val="0"/>
              </a:spcBef>
              <a:spcAft>
                <a:spcPts val="800"/>
              </a:spcAft>
            </a:pPr>
            <a:r>
              <a:rPr sz="1400" b="1">
                <a:solidFill>
                  <a:srgbClr val="FF6A00"/>
                </a:solidFill>
                <a:latin typeface="Segoe UI"/>
              </a:rPr>
              <a:t>•  </a:t>
            </a:r>
            <a:r>
              <a:rPr sz="1400" b="0">
                <a:solidFill>
                  <a:srgbClr val="B8C0CF"/>
                </a:solidFill>
                <a:latin typeface="Segoe UI"/>
              </a:rPr>
              <a:t>Restricts who can query, read, or export vectors at all</a:t>
            </a:r>
          </a:p>
          <a:p>
            <a:pPr algn="l">
              <a:spcBef>
                <a:spcPts val="0"/>
              </a:spcBef>
              <a:spcAft>
                <a:spcPts val="800"/>
              </a:spcAft>
            </a:pPr>
            <a:r>
              <a:rPr sz="1400" b="1">
                <a:solidFill>
                  <a:srgbClr val="FF6A00"/>
                </a:solidFill>
                <a:latin typeface="Segoe UI"/>
              </a:rPr>
              <a:t>•  </a:t>
            </a:r>
            <a:r>
              <a:rPr sz="1400" b="0">
                <a:solidFill>
                  <a:srgbClr val="B8C0CF"/>
                </a:solidFill>
                <a:latin typeface="Segoe UI"/>
              </a:rPr>
              <a:t>This objective's focus — a distinct, deeper control layer</a:t>
            </a:r>
          </a:p>
          <a:p>
            <a:pPr algn="l">
              <a:spcBef>
                <a:spcPts val="0"/>
              </a:spcBef>
              <a:spcAft>
                <a:spcPts val="800"/>
              </a:spcAft>
            </a:pPr>
            <a:r>
              <a:rPr sz="1400" b="1">
                <a:solidFill>
                  <a:srgbClr val="FF6A00"/>
                </a:solidFill>
                <a:latin typeface="Segoe UI"/>
              </a:rPr>
              <a:t>•  </a:t>
            </a:r>
            <a:r>
              <a:rPr sz="1400" b="0">
                <a:solidFill>
                  <a:srgbClr val="B8C0CF"/>
                </a:solidFill>
                <a:latin typeface="Segoe UI"/>
              </a:rPr>
              <a:t>Must hold even if the application layer is compromised or bypassed</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exam-relevant point: correct application-level scoping provides no protection at all if the database itself can be reached directly — both layers must be independently verified during an assessment, never assumed from the other.</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RISKS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Vector-store-specific risks to test for</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DIRECT, UNAUTHENTICATED QUERY ACCESS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vector store's own API accepts similarity-search queries without requiring the application's authentication or scoping.</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BULK VECTOR EXPORT OR DUMP</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An interface allows exporting large ranges of stored vectors and metadata in a single operation, well beyond a single query's intended scope.</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EXPOSED ADMINISTRATIVE INTERFACES</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Management or admin APIs for the vector database are reachable without the same controls applied to its query interface.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WEAK OR ABSENT PER-TENANT FILTERING</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store has no built-in concept of tenant boundaries, leaving all isolation to be implemented — and potentially forgotten — in the application layer.</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Vector-store risk to framework mapping</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Risk</a:t>
                      </a:r>
                    </a:p>
                  </a:txBody>
                  <a:tcPr marL="101600" marR="101600" marT="50800" marB="50800" anchor="ctr">
                    <a:solidFill>
                      <a:srgbClr val="3A2410"/>
                    </a:solidFill>
                  </a:tcPr>
                </a:tc>
                <a:tc>
                  <a:txBody>
                    <a:bodyPr wrap="square"/>
                    <a:lstStyle/>
                    <a:p>
                      <a:r>
                        <a:rPr sz="1300" b="1">
                          <a:solidFill>
                            <a:srgbClr val="F5F7FB"/>
                          </a:solidFill>
                          <a:latin typeface="Segoe UI"/>
                        </a:rPr>
                        <a:t>Mechanism</a:t>
                      </a:r>
                    </a:p>
                  </a:txBody>
                  <a:tcPr marL="101600" marR="101600" marT="50800" marB="50800" anchor="ctr">
                    <a:solidFill>
                      <a:srgbClr val="3A2410"/>
                    </a:solidFill>
                  </a:tcPr>
                </a:tc>
                <a:tc>
                  <a:txBody>
                    <a:bodyPr wrap="square"/>
                    <a:lstStyle/>
                    <a:p>
                      <a:r>
                        <a:rPr sz="1300" b="1">
                          <a:solidFill>
                            <a:srgbClr val="F5F7FB"/>
                          </a:solidFill>
                          <a:latin typeface="Segoe UI"/>
                        </a:rPr>
                        <a:t>Framework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Direct query/dump access</a:t>
                      </a:r>
                    </a:p>
                  </a:txBody>
                  <a:tcPr marL="101600" marR="101600" marT="50800" marB="50800" anchor="ctr">
                    <a:solidFill>
                      <a:srgbClr val="121319"/>
                    </a:solidFill>
                  </a:tcPr>
                </a:tc>
                <a:tc>
                  <a:txBody>
                    <a:bodyPr wrap="square"/>
                    <a:lstStyle/>
                    <a:p>
                      <a:r>
                        <a:rPr sz="1200" b="0">
                          <a:solidFill>
                            <a:srgbClr val="B8C0CF"/>
                          </a:solidFill>
                          <a:latin typeface="Segoe UI"/>
                        </a:rPr>
                        <a:t>Vector database reachable without application-level controls</a:t>
                      </a:r>
                    </a:p>
                  </a:txBody>
                  <a:tcPr marL="101600" marR="101600" marT="50800" marB="50800" anchor="ctr">
                    <a:solidFill>
                      <a:srgbClr val="121319"/>
                    </a:solidFill>
                  </a:tcPr>
                </a:tc>
                <a:tc>
                  <a:txBody>
                    <a:bodyPr wrap="square"/>
                    <a:lstStyle/>
                    <a:p>
                      <a:r>
                        <a:rPr sz="1200" b="0">
                          <a:solidFill>
                            <a:srgbClr val="B8C0CF"/>
                          </a:solidFill>
                          <a:latin typeface="Segoe UI"/>
                        </a:rPr>
                        <a:t>OWASP LLM08</a:t>
                      </a:r>
                    </a:p>
                  </a:txBody>
                  <a:tcPr marL="101600" marR="101600" marT="50800" marB="50800" anchor="ctr">
                    <a:solidFill>
                      <a:srgbClr val="121319"/>
                    </a:solidFill>
                  </a:tcPr>
                </a:tc>
              </a:tr>
              <a:tr h="471830">
                <a:tc>
                  <a:txBody>
                    <a:bodyPr wrap="square"/>
                    <a:lstStyle/>
                    <a:p>
                      <a:r>
                        <a:rPr sz="1200" b="1">
                          <a:solidFill>
                            <a:srgbClr val="F5F7FB"/>
                          </a:solidFill>
                          <a:latin typeface="Segoe UI"/>
                        </a:rPr>
                        <a:t>Metadata leakage</a:t>
                      </a:r>
                    </a:p>
                  </a:txBody>
                  <a:tcPr marL="101600" marR="101600" marT="50800" marB="50800" anchor="ctr">
                    <a:solidFill>
                      <a:srgbClr val="141519"/>
                    </a:solidFill>
                  </a:tcPr>
                </a:tc>
                <a:tc>
                  <a:txBody>
                    <a:bodyPr wrap="square"/>
                    <a:lstStyle/>
                    <a:p>
                      <a:r>
                        <a:rPr sz="1200" b="0">
                          <a:solidFill>
                            <a:srgbClr val="B8C0CF"/>
                          </a:solidFill>
                          <a:latin typeface="Segoe UI"/>
                        </a:rPr>
                        <a:t>Sensitive fields stored alongside vectors are exposed on query</a:t>
                      </a:r>
                    </a:p>
                  </a:txBody>
                  <a:tcPr marL="101600" marR="101600" marT="50800" marB="50800" anchor="ctr">
                    <a:solidFill>
                      <a:srgbClr val="141519"/>
                    </a:solidFill>
                  </a:tcPr>
                </a:tc>
                <a:tc>
                  <a:txBody>
                    <a:bodyPr wrap="square"/>
                    <a:lstStyle/>
                    <a:p>
                      <a:r>
                        <a:rPr sz="1200" b="0">
                          <a:solidFill>
                            <a:srgbClr val="B8C0CF"/>
                          </a:solidFill>
                          <a:latin typeface="Segoe UI"/>
                        </a:rPr>
                        <a:t>OWASP LLM08 / LLM02</a:t>
                      </a:r>
                    </a:p>
                  </a:txBody>
                  <a:tcPr marL="101600" marR="101600" marT="50800" marB="50800" anchor="ctr">
                    <a:solidFill>
                      <a:srgbClr val="141519"/>
                    </a:solidFill>
                  </a:tcPr>
                </a:tc>
              </a:tr>
              <a:tr h="471830">
                <a:tc>
                  <a:txBody>
                    <a:bodyPr wrap="square"/>
                    <a:lstStyle/>
                    <a:p>
                      <a:r>
                        <a:rPr sz="1200" b="1">
                          <a:solidFill>
                            <a:srgbClr val="F5F7FB"/>
                          </a:solidFill>
                          <a:latin typeface="Segoe UI"/>
                        </a:rPr>
                        <a:t>Cross-tenant isolation failure</a:t>
                      </a:r>
                    </a:p>
                  </a:txBody>
                  <a:tcPr marL="101600" marR="101600" marT="50800" marB="50800" anchor="ctr">
                    <a:solidFill>
                      <a:srgbClr val="121319"/>
                    </a:solidFill>
                  </a:tcPr>
                </a:tc>
                <a:tc>
                  <a:txBody>
                    <a:bodyPr wrap="square"/>
                    <a:lstStyle/>
                    <a:p>
                      <a:r>
                        <a:rPr sz="1200" b="0">
                          <a:solidFill>
                            <a:srgbClr val="B8C0CF"/>
                          </a:solidFill>
                          <a:latin typeface="Segoe UI"/>
                        </a:rPr>
                        <a:t>Storage layer lacks enforced per-tenant boundaries</a:t>
                      </a:r>
                    </a:p>
                  </a:txBody>
                  <a:tcPr marL="101600" marR="101600" marT="50800" marB="50800" anchor="ctr">
                    <a:solidFill>
                      <a:srgbClr val="121319"/>
                    </a:solidFill>
                  </a:tcPr>
                </a:tc>
                <a:tc>
                  <a:txBody>
                    <a:bodyPr wrap="square"/>
                    <a:lstStyle/>
                    <a:p>
                      <a:r>
                        <a:rPr sz="1200" b="0">
                          <a:solidFill>
                            <a:srgbClr val="B8C0CF"/>
                          </a:solidFill>
                          <a:latin typeface="Segoe UI"/>
                        </a:rPr>
                        <a:t>OWASP LLM08</a:t>
                      </a:r>
                    </a:p>
                  </a:txBody>
                  <a:tcPr marL="101600" marR="101600" marT="50800" marB="50800" anchor="ctr">
                    <a:solidFill>
                      <a:srgbClr val="121319"/>
                    </a:solidFill>
                  </a:tcPr>
                </a:tc>
              </a:tr>
              <a:tr h="471832">
                <a:tc>
                  <a:txBody>
                    <a:bodyPr wrap="square"/>
                    <a:lstStyle/>
                    <a:p>
                      <a:r>
                        <a:rPr sz="1200" b="1">
                          <a:solidFill>
                            <a:srgbClr val="F5F7FB"/>
                          </a:solidFill>
                          <a:latin typeface="Segoe UI"/>
                        </a:rPr>
                        <a:t>Exposed administrative interface</a:t>
                      </a:r>
                    </a:p>
                  </a:txBody>
                  <a:tcPr marL="101600" marR="101600" marT="50800" marB="50800" anchor="ctr">
                    <a:solidFill>
                      <a:srgbClr val="141519"/>
                    </a:solidFill>
                  </a:tcPr>
                </a:tc>
                <a:tc>
                  <a:txBody>
                    <a:bodyPr wrap="square"/>
                    <a:lstStyle/>
                    <a:p>
                      <a:r>
                        <a:rPr sz="1200" b="0">
                          <a:solidFill>
                            <a:srgbClr val="B8C0CF"/>
                          </a:solidFill>
                          <a:latin typeface="Segoe UI"/>
                        </a:rPr>
                        <a:t>Management functions reachable without authorisation</a:t>
                      </a:r>
                    </a:p>
                  </a:txBody>
                  <a:tcPr marL="101600" marR="101600" marT="50800" marB="50800" anchor="ctr">
                    <a:solidFill>
                      <a:srgbClr val="141519"/>
                    </a:solidFill>
                  </a:tcPr>
                </a:tc>
                <a:tc>
                  <a:txBody>
                    <a:bodyPr wrap="square"/>
                    <a:lstStyle/>
                    <a:p>
                      <a:r>
                        <a:rPr sz="1200" b="0">
                          <a:solidFill>
                            <a:srgbClr val="B8C0CF"/>
                          </a:solidFill>
                          <a:latin typeface="Segoe UI"/>
                        </a:rPr>
                        <a:t>OWASP LLM08</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LLM02, Sensitive Information Disclosure, applies wherever the outcome is exposure of content rather than the access-control mechanism itself.</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METHODOLOGY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vector-store-focused assessment workflow</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Identify the vector-store technology and exposure</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what vector database is in use and whether it is reachable directly, not only through the application.</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Test the store's own access controls</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Attempt to query, read, or export vectors directly against the store's API, independent of the application's authentication.</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Inspect the full record schema</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Review every field returned per record, not only the vector, for metadata that discloses sensitive information.</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Assess tenant isolation at the storage layer</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whether per-tenant boundaries are enforced by the store itself or only assumed by the application.</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Map findings to LLM08 and LLM02</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Attribute each finding to the correct OWASP category, citing LLM02 wherever content itself is disclosed.</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6.4 · RECAP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embedding-layer risk landscape, end to end</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Across this module, three independent properties of the embedding layer were each shown to fail in a distinct way: the vector's confidentiality can be undermined by inversion, the vector's integrity as a retrieval signal can be undermined by manipulation, and the store's own access control can be undermined by direct, unmediated exposure.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'INDEPENDENT' MATTERS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target can be resistant to one of these three risks while remaining fully exposed to the other two — each must be assessed on its own during an engagement.</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WHERE THIS LEAVES THE COURSE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With embeddings and RAG both now fully covered, Module 7 moves to the next distinct layer: model context protocol and tool surfaces.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4206240"/>
        </p:xfrm>
        <a:graphic>
          <a:graphicData uri="http://schemas.openxmlformats.org/drawingml/2006/table">
            <a:tbl>
              <a:tblPr>
                <a:tableStyleId>{5C22544A-7EE6-4342-B048-85BDC9FD1C3A}</a:tableStyleId>
              </a:tblPr>
              <a:tblGrid>
                <a:gridCol w="3697224"/>
                <a:gridCol w="3697224"/>
                <a:gridCol w="3697224"/>
              </a:tblGrid>
              <a:tr h="46736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67360">
                <a:tc>
                  <a:txBody>
                    <a:bodyPr wrap="square"/>
                    <a:lstStyle/>
                    <a:p>
                      <a:r>
                        <a:rPr sz="1200" b="1">
                          <a:solidFill>
                            <a:srgbClr val="F5F7FB"/>
                          </a:solidFill>
                          <a:latin typeface="Segoe UI"/>
                        </a:rPr>
                        <a:t>RAG</a:t>
                      </a:r>
                    </a:p>
                  </a:txBody>
                  <a:tcPr marL="101600" marR="101600" marT="50800" marB="50800" anchor="ctr">
                    <a:solidFill>
                      <a:srgbClr val="121319"/>
                    </a:solidFill>
                  </a:tcPr>
                </a:tc>
                <a:tc>
                  <a:txBody>
                    <a:bodyPr wrap="square"/>
                    <a:lstStyle/>
                    <a:p>
                      <a:r>
                        <a:rPr sz="1200" b="0">
                          <a:solidFill>
                            <a:srgbClr val="B8C0CF"/>
                          </a:solidFill>
                          <a:latin typeface="Segoe UI"/>
                        </a:rPr>
                        <a:t>Retrieval-Augmented Generation</a:t>
                      </a:r>
                    </a:p>
                  </a:txBody>
                  <a:tcPr marL="101600" marR="101600" marT="50800" marB="50800" anchor="ctr">
                    <a:solidFill>
                      <a:srgbClr val="121319"/>
                    </a:solidFill>
                  </a:tcPr>
                </a:tc>
                <a:tc>
                  <a:txBody>
                    <a:bodyPr wrap="square"/>
                    <a:lstStyle/>
                    <a:p>
                      <a:r>
                        <a:rPr sz="1200" b="0">
                          <a:solidFill>
                            <a:srgbClr val="B8C0CF"/>
                          </a:solidFill>
                          <a:latin typeface="Segoe UI"/>
                        </a:rPr>
                        <a:t>The pipeline whose embedding and storage stages this module examines</a:t>
                      </a:r>
                    </a:p>
                  </a:txBody>
                  <a:tcPr marL="101600" marR="101600" marT="50800" marB="50800" anchor="ctr">
                    <a:solidFill>
                      <a:srgbClr val="121319"/>
                    </a:solidFill>
                  </a:tcPr>
                </a:tc>
              </a:tr>
              <a:tr h="467360">
                <a:tc>
                  <a:txBody>
                    <a:bodyPr wrap="square"/>
                    <a:lstStyle/>
                    <a:p>
                      <a:r>
                        <a:rPr sz="1200" b="1">
                          <a:solidFill>
                            <a:srgbClr val="F5F7FB"/>
                          </a:solidFill>
                          <a:latin typeface="Segoe UI"/>
                        </a:rPr>
                        <a:t>OWASP</a:t>
                      </a:r>
                    </a:p>
                  </a:txBody>
                  <a:tcPr marL="101600" marR="101600" marT="50800" marB="50800" anchor="ctr">
                    <a:solidFill>
                      <a:srgbClr val="141519"/>
                    </a:solidFill>
                  </a:tcPr>
                </a:tc>
                <a:tc>
                  <a:txBody>
                    <a:bodyPr wrap="square"/>
                    <a:lstStyle/>
                    <a:p>
                      <a:r>
                        <a:rPr sz="1200" b="0">
                          <a:solidFill>
                            <a:srgbClr val="B8C0CF"/>
                          </a:solidFill>
                          <a:latin typeface="Segoe UI"/>
                        </a:rPr>
                        <a:t>Open Worldwide Application Security Project</a:t>
                      </a:r>
                    </a:p>
                  </a:txBody>
                  <a:tcPr marL="101600" marR="101600" marT="50800" marB="50800" anchor="ctr">
                    <a:solidFill>
                      <a:srgbClr val="141519"/>
                    </a:solidFill>
                  </a:tcPr>
                </a:tc>
                <a:tc>
                  <a:txBody>
                    <a:bodyPr wrap="square"/>
                    <a:lstStyle/>
                    <a:p>
                      <a:r>
                        <a:rPr sz="1200" b="0">
                          <a:solidFill>
                            <a:srgbClr val="B8C0CF"/>
                          </a:solidFill>
                          <a:latin typeface="Segoe UI"/>
                        </a:rPr>
                        <a:t>Publisher of the Top 10 for LLM Applications used throughout</a:t>
                      </a:r>
                    </a:p>
                  </a:txBody>
                  <a:tcPr marL="101600" marR="101600" marT="50800" marB="50800" anchor="ctr">
                    <a:solidFill>
                      <a:srgbClr val="141519"/>
                    </a:solidFill>
                  </a:tcPr>
                </a:tc>
              </a:tr>
              <a:tr h="467360">
                <a:tc>
                  <a:txBody>
                    <a:bodyPr wrap="square"/>
                    <a:lstStyle/>
                    <a:p>
                      <a:r>
                        <a:rPr sz="1200" b="1">
                          <a:solidFill>
                            <a:srgbClr val="F5F7FB"/>
                          </a:solidFill>
                          <a:latin typeface="Segoe UI"/>
                        </a:rPr>
                        <a:t>LLM08</a:t>
                      </a:r>
                    </a:p>
                  </a:txBody>
                  <a:tcPr marL="101600" marR="101600" marT="50800" marB="50800" anchor="ctr">
                    <a:solidFill>
                      <a:srgbClr val="121319"/>
                    </a:solidFill>
                  </a:tcPr>
                </a:tc>
                <a:tc>
                  <a:txBody>
                    <a:bodyPr wrap="square"/>
                    <a:lstStyle/>
                    <a:p>
                      <a:r>
                        <a:rPr sz="1200" b="0">
                          <a:solidFill>
                            <a:srgbClr val="B8C0CF"/>
                          </a:solidFill>
                          <a:latin typeface="Segoe UI"/>
                        </a:rPr>
                        <a:t>Vector and Embedding Weaknesses (OWASP category)</a:t>
                      </a:r>
                    </a:p>
                  </a:txBody>
                  <a:tcPr marL="101600" marR="101600" marT="50800" marB="50800" anchor="ctr">
                    <a:solidFill>
                      <a:srgbClr val="121319"/>
                    </a:solidFill>
                  </a:tcPr>
                </a:tc>
                <a:tc>
                  <a:txBody>
                    <a:bodyPr wrap="square"/>
                    <a:lstStyle/>
                    <a:p>
                      <a:r>
                        <a:rPr sz="1200" b="0">
                          <a:solidFill>
                            <a:srgbClr val="B8C0CF"/>
                          </a:solidFill>
                          <a:latin typeface="Segoe UI"/>
                        </a:rPr>
                        <a:t>This module's primary framework mapping — inversion, manipulation, and vector-store risk</a:t>
                      </a:r>
                    </a:p>
                  </a:txBody>
                  <a:tcPr marL="101600" marR="101600" marT="50800" marB="50800" anchor="ctr">
                    <a:solidFill>
                      <a:srgbClr val="121319"/>
                    </a:solidFill>
                  </a:tcPr>
                </a:tc>
              </a:tr>
              <a:tr h="467360">
                <a:tc>
                  <a:txBody>
                    <a:bodyPr wrap="square"/>
                    <a:lstStyle/>
                    <a:p>
                      <a:r>
                        <a:rPr sz="1200" b="1">
                          <a:solidFill>
                            <a:srgbClr val="F5F7FB"/>
                          </a:solidFill>
                          <a:latin typeface="Segoe UI"/>
                        </a:rPr>
                        <a:t>LLM02</a:t>
                      </a:r>
                    </a:p>
                  </a:txBody>
                  <a:tcPr marL="101600" marR="101600" marT="50800" marB="50800" anchor="ctr">
                    <a:solidFill>
                      <a:srgbClr val="141519"/>
                    </a:solidFill>
                  </a:tcPr>
                </a:tc>
                <a:tc>
                  <a:txBody>
                    <a:bodyPr wrap="square"/>
                    <a:lstStyle/>
                    <a:p>
                      <a:r>
                        <a:rPr sz="1200" b="0">
                          <a:solidFill>
                            <a:srgbClr val="B8C0CF"/>
                          </a:solidFill>
                          <a:latin typeface="Segoe UI"/>
                        </a:rPr>
                        <a:t>Sensitive Information Disclosure (OWASP category)</a:t>
                      </a:r>
                    </a:p>
                  </a:txBody>
                  <a:tcPr marL="101600" marR="101600" marT="50800" marB="50800" anchor="ctr">
                    <a:solidFill>
                      <a:srgbClr val="141519"/>
                    </a:solidFill>
                  </a:tcPr>
                </a:tc>
                <a:tc>
                  <a:txBody>
                    <a:bodyPr wrap="square"/>
                    <a:lstStyle/>
                    <a:p>
                      <a:r>
                        <a:rPr sz="1200" b="0">
                          <a:solidFill>
                            <a:srgbClr val="B8C0CF"/>
                          </a:solidFill>
                          <a:latin typeface="Segoe UI"/>
                        </a:rPr>
                        <a:t>The impact category cited alongside LLM08 wherever content itself is exposed</a:t>
                      </a:r>
                    </a:p>
                  </a:txBody>
                  <a:tcPr marL="101600" marR="101600" marT="50800" marB="50800" anchor="ctr">
                    <a:solidFill>
                      <a:srgbClr val="141519"/>
                    </a:solidFill>
                  </a:tcPr>
                </a:tc>
              </a:tr>
              <a:tr h="467360">
                <a:tc>
                  <a:txBody>
                    <a:bodyPr wrap="square"/>
                    <a:lstStyle/>
                    <a:p>
                      <a:r>
                        <a:rPr sz="1200" b="1">
                          <a:solidFill>
                            <a:srgbClr val="F5F7FB"/>
                          </a:solidFill>
                          <a:latin typeface="Segoe UI"/>
                        </a:rPr>
                        <a:t>ATLAS</a:t>
                      </a:r>
                    </a:p>
                  </a:txBody>
                  <a:tcPr marL="101600" marR="101600" marT="50800" marB="50800" anchor="ctr">
                    <a:solidFill>
                      <a:srgbClr val="121319"/>
                    </a:solidFill>
                  </a:tcPr>
                </a:tc>
                <a:tc>
                  <a:txBody>
                    <a:bodyPr wrap="square"/>
                    <a:lstStyle/>
                    <a:p>
                      <a:r>
                        <a:rPr sz="1200" b="0">
                          <a:solidFill>
                            <a:srgbClr val="B8C0CF"/>
                          </a:solidFill>
                          <a:latin typeface="Segoe UI"/>
                        </a:rPr>
                        <a:t>Adversarial Threat Landscape for AI Systems (MITRE)</a:t>
                      </a:r>
                    </a:p>
                  </a:txBody>
                  <a:tcPr marL="101600" marR="101600" marT="50800" marB="50800" anchor="ctr">
                    <a:solidFill>
                      <a:srgbClr val="121319"/>
                    </a:solidFill>
                  </a:tcPr>
                </a:tc>
                <a:tc>
                  <a:txBody>
                    <a:bodyPr wrap="square"/>
                    <a:lstStyle/>
                    <a:p>
                      <a:r>
                        <a:rPr sz="1200" b="0">
                          <a:solidFill>
                            <a:srgbClr val="B8C0CF"/>
                          </a:solidFill>
                          <a:latin typeface="Segoe UI"/>
                        </a:rPr>
                        <a:t>Cites the adversarial-input tactics behind embedding-space manipulation</a:t>
                      </a:r>
                    </a:p>
                  </a:txBody>
                  <a:tcPr marL="101600" marR="101600" marT="50800" marB="50800" anchor="ctr">
                    <a:solidFill>
                      <a:srgbClr val="121319"/>
                    </a:solidFill>
                  </a:tcPr>
                </a:tc>
              </a:tr>
              <a:tr h="467360">
                <a:tc>
                  <a:txBody>
                    <a:bodyPr wrap="square"/>
                    <a:lstStyle/>
                    <a:p>
                      <a:r>
                        <a:rPr sz="1200" b="1">
                          <a:solidFill>
                            <a:srgbClr val="F5F7FB"/>
                          </a:solidFill>
                          <a:latin typeface="Segoe UI"/>
                        </a:rPr>
                        <a:t>ANN</a:t>
                      </a:r>
                    </a:p>
                  </a:txBody>
                  <a:tcPr marL="101600" marR="101600" marT="50800" marB="50800" anchor="ctr">
                    <a:solidFill>
                      <a:srgbClr val="141519"/>
                    </a:solidFill>
                  </a:tcPr>
                </a:tc>
                <a:tc>
                  <a:txBody>
                    <a:bodyPr wrap="square"/>
                    <a:lstStyle/>
                    <a:p>
                      <a:r>
                        <a:rPr sz="1200" b="0">
                          <a:solidFill>
                            <a:srgbClr val="B8C0CF"/>
                          </a:solidFill>
                          <a:latin typeface="Segoe UI"/>
                        </a:rPr>
                        <a:t>Approximate Nearest Neighbour</a:t>
                      </a:r>
                    </a:p>
                  </a:txBody>
                  <a:tcPr marL="101600" marR="101600" marT="50800" marB="50800" anchor="ctr">
                    <a:solidFill>
                      <a:srgbClr val="141519"/>
                    </a:solidFill>
                  </a:tcPr>
                </a:tc>
                <a:tc>
                  <a:txBody>
                    <a:bodyPr wrap="square"/>
                    <a:lstStyle/>
                    <a:p>
                      <a:r>
                        <a:rPr sz="1200" b="0">
                          <a:solidFill>
                            <a:srgbClr val="B8C0CF"/>
                          </a:solidFill>
                          <a:latin typeface="Segoe UI"/>
                        </a:rPr>
                        <a:t>The class of algorithm most vector stores use to perform similarity search at scale</a:t>
                      </a:r>
                    </a:p>
                  </a:txBody>
                  <a:tcPr marL="101600" marR="101600" marT="50800" marB="50800" anchor="ctr">
                    <a:solidFill>
                      <a:srgbClr val="141519"/>
                    </a:solidFill>
                  </a:tcPr>
                </a:tc>
              </a:tr>
              <a:tr h="467360">
                <a:tc>
                  <a:txBody>
                    <a:bodyPr wrap="square"/>
                    <a:lstStyle/>
                    <a:p>
                      <a:r>
                        <a:rPr sz="1200" b="1">
                          <a:solidFill>
                            <a:srgbClr val="F5F7FB"/>
                          </a:solidFill>
                          <a:latin typeface="Segoe UI"/>
                        </a:rPr>
                        <a:t>TTP</a:t>
                      </a:r>
                    </a:p>
                  </a:txBody>
                  <a:tcPr marL="101600" marR="101600" marT="50800" marB="50800" anchor="ctr">
                    <a:solidFill>
                      <a:srgbClr val="121319"/>
                    </a:solidFill>
                  </a:tcPr>
                </a:tc>
                <a:tc>
                  <a:txBody>
                    <a:bodyPr wrap="square"/>
                    <a:lstStyle/>
                    <a:p>
                      <a:r>
                        <a:rPr sz="1200" b="0">
                          <a:solidFill>
                            <a:srgbClr val="B8C0CF"/>
                          </a:solidFill>
                          <a:latin typeface="Segoe UI"/>
                        </a:rPr>
                        <a:t>Tactics, Techniques, Procedures</a:t>
                      </a:r>
                    </a:p>
                  </a:txBody>
                  <a:tcPr marL="101600" marR="101600" marT="50800" marB="50800" anchor="ctr">
                    <a:solidFill>
                      <a:srgbClr val="121319"/>
                    </a:solidFill>
                  </a:tcPr>
                </a:tc>
                <a:tc>
                  <a:txBody>
                    <a:bodyPr wrap="square"/>
                    <a:lstStyle/>
                    <a:p>
                      <a:r>
                        <a:rPr sz="1200" b="0">
                          <a:solidFill>
                            <a:srgbClr val="B8C0CF"/>
                          </a:solidFill>
                          <a:latin typeface="Segoe UI"/>
                        </a:rPr>
                        <a:t>How embedding-layer attacks are described in an ATLAS-mapped report</a:t>
                      </a:r>
                    </a:p>
                  </a:txBody>
                  <a:tcPr marL="101600" marR="101600" marT="50800" marB="50800" anchor="ctr">
                    <a:solidFill>
                      <a:srgbClr val="121319"/>
                    </a:solidFill>
                  </a:tcPr>
                </a:tc>
              </a:tr>
              <a:tr h="467360">
                <a:tc>
                  <a:txBody>
                    <a:bodyPr wrap="square"/>
                    <a:lstStyle/>
                    <a:p>
                      <a:r>
                        <a:rPr sz="1200" b="1">
                          <a:solidFill>
                            <a:srgbClr val="F5F7FB"/>
                          </a:solidFill>
                          <a:latin typeface="Segoe UI"/>
                        </a:rPr>
                        <a:t>PII</a:t>
                      </a:r>
                    </a:p>
                  </a:txBody>
                  <a:tcPr marL="101600" marR="101600" marT="50800" marB="50800" anchor="ctr">
                    <a:solidFill>
                      <a:srgbClr val="141519"/>
                    </a:solidFill>
                  </a:tcPr>
                </a:tc>
                <a:tc>
                  <a:txBody>
                    <a:bodyPr wrap="square"/>
                    <a:lstStyle/>
                    <a:p>
                      <a:r>
                        <a:rPr sz="1200" b="0">
                          <a:solidFill>
                            <a:srgbClr val="B8C0CF"/>
                          </a:solidFill>
                          <a:latin typeface="Segoe UI"/>
                        </a:rPr>
                        <a:t>Personally Identifiable Information</a:t>
                      </a:r>
                    </a:p>
                  </a:txBody>
                  <a:tcPr marL="101600" marR="101600" marT="50800" marB="50800" anchor="ctr">
                    <a:solidFill>
                      <a:srgbClr val="141519"/>
                    </a:solidFill>
                  </a:tcPr>
                </a:tc>
                <a:tc>
                  <a:txBody>
                    <a:bodyPr wrap="square"/>
                    <a:lstStyle/>
                    <a:p>
                      <a:r>
                        <a:rPr sz="1200" b="0">
                          <a:solidFill>
                            <a:srgbClr val="B8C0CF"/>
                          </a:solidFill>
                          <a:latin typeface="Segoe UI"/>
                        </a:rPr>
                        <a:t>Sensitive data category at risk in embedding inversion and metadata-leakage findings</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ATLAS and the six-layer attack surface from Module 1 remain in active use throughout this module's methodology.</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Module 7</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'EMBEDDINGS ARE JUST NUMBERS, NOT SENSITIVE'</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embedding inversion means a vector can carry enough recoverable signal to approximate the sensitive text it was derived from.</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'EMBEDDING MANIPULATION IS THE SAME AS CORPUS POISONING'</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corpus poisoning manipulates the source text a human reviews; embedding manipulation manipulates only the vector's position, independent of what the text says.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'VECTOR-STORE ACCESS CONTROL IS THE APPLICATION'S JOB'</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relying solely on the application layer leaves the vector database itself exposed to anyone who can reach it directly.</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'QUERY-LEVEL SCOPING MEANS A MULTI-TENANT STORE IS SAFE'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metadata leakage and direct, unmediated database access can bypass query-level scoping entirely.</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During testing, a tester submits carefully crafted text into a corpus. The text reads as entirely unrelated to a target topic when reviewed by a human, yet once ingested, it is reliably retrieved for queries about that target topic. No embedded instruction is present — the content simply displaces legitimate results. What best describes this scenario?</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RAG-corpus poisoning, since manipulated content was introduced into the corpus</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Embedding manipulation, since the crafted text's vector was positioned near a target embedding region</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Embedding inversion, since the tester recovered content from a vector</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Cross-tenant data leakage, since the wrong content was returned to a query</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The crafted text does not need to read as relevant to a human reviewer, which rules out ordinary corpus poisoning; nothing was inverted or recovered, ruling out inversion; and no tenant boundary is implicated. The defining fact — a vector positioned to be retrieved for unrelated queries — is embedding-space manipulation, Objective 6.3.</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Explain what an embedding is and how similarity search retrieves it, purely as vector-space distance</a:t>
            </a:r>
          </a:p>
          <a:p>
            <a:pPr algn="l">
              <a:spcBef>
                <a:spcPts val="0"/>
              </a:spcBef>
              <a:spcAft>
                <a:spcPts val="1200"/>
              </a:spcAft>
            </a:pPr>
            <a:r>
              <a:rPr sz="1500" b="1">
                <a:solidFill>
                  <a:srgbClr val="FF6A00"/>
                </a:solidFill>
                <a:latin typeface="Segoe UI"/>
              </a:rPr>
              <a:t>✓  </a:t>
            </a:r>
            <a:r>
              <a:rPr sz="1500" b="0">
                <a:solidFill>
                  <a:srgbClr val="F5F7FB"/>
                </a:solidFill>
                <a:latin typeface="Segoe UI"/>
              </a:rPr>
              <a:t>Place the vector store precisely beneath the RAG pipeline mapped in Module 5, Objective 5.1</a:t>
            </a:r>
          </a:p>
          <a:p>
            <a:pPr algn="l">
              <a:spcBef>
                <a:spcPts val="0"/>
              </a:spcBef>
              <a:spcAft>
                <a:spcPts val="1200"/>
              </a:spcAft>
            </a:pPr>
            <a:r>
              <a:rPr sz="1500" b="1">
                <a:solidFill>
                  <a:srgbClr val="FF6A00"/>
                </a:solidFill>
                <a:latin typeface="Segoe UI"/>
              </a:rPr>
              <a:t>✓  </a:t>
            </a:r>
            <a:r>
              <a:rPr sz="1500" b="0">
                <a:solidFill>
                  <a:srgbClr val="F5F7FB"/>
                </a:solidFill>
                <a:latin typeface="Segoe UI"/>
              </a:rPr>
              <a:t>Describe embedding inversion and why exposed embeddings of sensitive documents are a confidentiality risk</a:t>
            </a:r>
          </a:p>
          <a:p>
            <a:pPr algn="l">
              <a:spcBef>
                <a:spcPts val="0"/>
              </a:spcBef>
              <a:spcAft>
                <a:spcPts val="1200"/>
              </a:spcAft>
            </a:pPr>
            <a:r>
              <a:rPr sz="1500" b="1">
                <a:solidFill>
                  <a:srgbClr val="FF6A00"/>
                </a:solidFill>
                <a:latin typeface="Segoe UI"/>
              </a:rPr>
              <a:t>✓  </a:t>
            </a:r>
            <a:r>
              <a:rPr sz="1500" b="0">
                <a:solidFill>
                  <a:srgbClr val="F5F7FB"/>
                </a:solidFill>
                <a:latin typeface="Segoe UI"/>
              </a:rPr>
              <a:t>Explain embedding-space manipulation and distinguish it clearly from Module 5's corpus poisoning and ranking manipulation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Apply vector-store-specific assessment — direct access control, metadata leakage, and storage-layer cross-tenant isolation</a:t>
            </a:r>
          </a:p>
          <a:p>
            <a:pPr algn="l">
              <a:spcBef>
                <a:spcPts val="0"/>
              </a:spcBef>
              <a:spcAft>
                <a:spcPts val="1200"/>
              </a:spcAft>
            </a:pPr>
            <a:r>
              <a:rPr sz="1500" b="1">
                <a:solidFill>
                  <a:srgbClr val="FF6A00"/>
                </a:solidFill>
                <a:latin typeface="Segoe UI"/>
              </a:rPr>
              <a:t>✓  </a:t>
            </a:r>
            <a:r>
              <a:rPr sz="1500" b="0">
                <a:solidFill>
                  <a:srgbClr val="F5F7FB"/>
                </a:solidFill>
                <a:latin typeface="Segoe UI"/>
              </a:rPr>
              <a:t>Map every embedding-layer finding to the correct OWASP LLM08 or LLM02 category</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NEXT STEPS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On to Module 7 — Attacking Model Context Protocol and Tool Surfaces</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 7 moves to a different layer entirely: the protocols and tool surfaces that let a model take action, not just retrieve data</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trust-boundary thinking from Objectives 6.2 to 6.4 — confidentiality, integrity, and access control — carries forward directly</a:t>
            </a:r>
          </a:p>
          <a:p>
            <a:pPr algn="l">
              <a:spcBef>
                <a:spcPts val="0"/>
              </a:spcBef>
              <a:spcAft>
                <a:spcPts val="1200"/>
              </a:spcAft>
            </a:pPr>
            <a:r>
              <a:rPr sz="1500" b="1">
                <a:solidFill>
                  <a:srgbClr val="FF6A00"/>
                </a:solidFill>
                <a:latin typeface="Segoe UI"/>
              </a:rPr>
              <a:t>✓  </a:t>
            </a:r>
            <a:r>
              <a:rPr sz="1500" b="0">
                <a:solidFill>
                  <a:srgbClr val="F5F7FB"/>
                </a:solidFill>
                <a:latin typeface="Segoe UI"/>
              </a:rPr>
              <a:t>Tool and agent enumeration from Module 2, Objective 2.3 becomes the entry point for that module's technique</a:t>
            </a:r>
          </a:p>
          <a:p>
            <a:pPr algn="l">
              <a:spcBef>
                <a:spcPts val="0"/>
              </a:spcBef>
              <a:spcAft>
                <a:spcPts val="1200"/>
              </a:spcAft>
            </a:pPr>
            <a:r>
              <a:rPr sz="1500" b="1">
                <a:solidFill>
                  <a:srgbClr val="FF6A00"/>
                </a:solidFill>
                <a:latin typeface="Segoe UI"/>
              </a:rPr>
              <a:t>✓  </a:t>
            </a:r>
            <a:r>
              <a:rPr sz="1500" b="0">
                <a:solidFill>
                  <a:srgbClr val="F5F7FB"/>
                </a:solidFill>
                <a:latin typeface="Segoe UI"/>
              </a:rPr>
              <a:t>Keep the embedding attack-surface model close — Module 9's infrastructure coverage returns to where the vector database itself is hosted</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the flashcards, cheat sheet, PBQ, and quiz for this module before continuing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