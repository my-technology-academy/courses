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9 of the Offensive Security AI Red Teamer (OSAI) course. Every prior module attacked something distinctly AI-shaped — a prompt, an agent, a retrieval pipeline, an embedding, a supply-chain artefact. Module 9 attacks the ground those things run on: the inference server and serving framework that host a model, the APIs and management interfaces exposed around it, the cloud identity and privilege attached to that infrastructure, and the shared compute resources an unbounded request can exhaust. This is deliberately the most conventional-infrastructure-flavoured module in the course — familiar penetration-testing territory, applied specifically to where AI systems are hosted and served. Everything here is conceptual and methodological — no runnable exploit code, no specific product names or CVEs,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the point where AI red teaming rejoins conventional infrastructure and cloud security. Learners with an OSCP-style background should recognise most of the underlying mechanisms; the new material is knowing precisely where they surface in an AI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9 of 11, and the last component-specific module before the course turns to synthesis in Module 10 and the capstone in Module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this three-part mental model before the detailed objectives. It mirrors the layered structure of Module 6 and Module 8 but is scoped to the hosting and serving layer beneath every model this course has discussed so far.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9.1. Before attacking anything, we map what actually hosts and serves an AI system — the shared vocabulary and target map for the rest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before the component detail. The key idea: every layer covered in Modules 2 to 8 ultimately runs on this one — infrastructure compromise can undermine defences built correctly at every layer above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the direct expansion of Module 1, Objective 1.2's infrastructure layer. Every remaining objective in this module attacks one or more of these components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explicit that identity is the thread connecting every other component: a compromised inference server is only as dangerous as the identity it inherited, which is exactly what Objective 9.3 examines in depth.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both backlinks explicit and specific. Learners should be able to say, unprompted, which module first named the infrastructure layer and which module's model-file risk this one picks up and continues.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module's index, exactly as Module 8's component-to-risk table indexed that module. Every remaining objective attacks exactly one or two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Objective 9.1's core lesson: this layer is not more exotic than the others, it is more consequential — a foothold here can subsume every finding made in Modules 2 to 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with a strong infrastructure-security background may assume this module teaches nothing new. Use this slide to show precisely what is new: not the mechanism, but where and how severely it applies to an AI-serving stack.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workflow for Objective 9.1 is the methodology backbone the rest of the module fills in with technique. It is the infrastructure-specific analogue of Module 8's supply-chain assessment workflow.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9.2. We attack what is directly reachable around a served model: weakly authenticated inference APIs, exposed management and metrics interfaces, and cross-request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against Objective 9.1's SERVER and API components. The exam-relevant skill is enumerating all reachable interfaces around a model, not just the one intended for ordinary 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Module 6, Objective 6.4's vector-store access-control lesson exactly: a control assumed to exist at one layer, network position, is not verified at the layer that actually needs it, the interface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explicitly to Module 6's exposure-vector pattern. Learners should recognise this as the same underlying mistake — a diagnostic surface left reachable — appearing again at a different layer.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layering habit built across the course: cross-tenant or cross-request leakage can occur at the application, retrieval, vector-store, or now serving-infrastructure layer — each must be verified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should reassure learners with a web-application-security background that their existing checklist transfers directly — the task is recognising the AI-specific instances of each familiar category.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an assessment aid for engagement reporting. Every row shares the same underlying pattern — an interface around the model was reachable with less scrutiny than the primary inference API received.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recognition signals for an assessment, not an operational exploitation procedure — the objective's assessable skill is identifying and reporting the exposure, matching the discipline taught in Module 6, Objective 6.2.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9.3. We follow the identity thread from Objective 9.1: what the serving infrastructure can reach beyond the model, and how a foothold there escalates into the wider cloud account.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against Objective 9.1's identity component: this is the objective where that cross-cutting thread becomes the primary target. This is a specific, AI-context instance of the general least-privilege principle.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firmly conceptual. The exam-relevant fact is that a serving process able to make outbound requests on attacker-influenced input creates a path toward the credentials it holds — not the mechanics of triggering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mechanism end to end. Step 4 is the crux: the entire chain depends on the serving identity holding more privilege than inference genuinely required — the same excess-privilege pattern taught throughout the course, now at the infrastructure layer.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generalises a lesson the course has taught at every layer — over-permissioned tools in Module 3, cross-tenant vector access in Module 6 — now applied to the cloud identity underneath the infrastructure itself.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assessment-methodology level — the assessable skill is identifying and scoping this risk during an engagement, not constructing a specific escalation chain, consistent with the course's no-labs framing.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deliberate exception to the course's usual OWASP-mapping habit — make sure learners can recognise when a finding is AI-context but not an AI-specific risk category, and report it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9.4. We attack the shared resource every AI infrastructure component depends on: compute, cost, and capacity — and what happens when a request is allowed to consume too much of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OWASP mapping immediately — this is the objective where Module 1's LLM10 reference finally gets full treatment. The core idea: cost and availability are themselves attackable properties, not just confidentiality or integrity.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central exam trap: learners default to thinking about availability alone. Denial of wallet can succeed completely while the service remains fully available throughout — cost, not uptime, is the property under attack.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source shares the same underlying property: the cost the deployer pays is not proportional to the effort the requester spent — exactly the asymmetry denial-of-wallet exploits.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parallel to Module 6 explicit: cross-tenant risk recurs at every shared-infrastructure layer in this course — data, vectors, and now compute — and each instance must be independently verified, never assumed from another.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pattern end to end. Step 5 is the crux: unlike most techniques earlier in the course, this one requires no crafted payload at all — only volume, shape, and the absence of an enforced limit.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Objective 9.4 with practice, not just recognition. These mitigations mirror standard resource-governance hygiene, applied specifically to the cost and compute profile of AI inference.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closes the module's OWASP thread: LLM10 Unbounded Consumption is the primary mapping for every finding in this objective, exactly as Module 1's framework overview predicted.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back to Module 2's recon discipline once more: these are observational signals to log and escalate as part of an infrastructure assessment, not proof of successful resource exhaustion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LLM10 is the module's headline mapping; note that Objective 9.3's identity risk deliberately has no dedicated LLM category, as covered on its framework-mapping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carry into this module. The second myth is the most commonly missed point — reinforce it once more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Infrastructure findings are graded on whether they are correctly attributed to the right component and, where applicable, the right OWASP category.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distinguish denial of wallet from conventional DoS under exam pressure. Wrong answers are instructive: A requires an availability impact that did not occur, C requires cross-request content leakage, D requires an identity or privilege compromise, neither of which is described.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assumed a component from Modules 2 to 8 was already identified as the AI-specific starting point — if learners are unsure how that identification happens, revisit Module 2 before Module 10.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10. Reinforce continuity: this module completed the course's component-by-component attack coverage; the next module teaches how to synthesise every prior finding into a ranked, defensible threat model ahead of the capstone engagement in Module 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9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AI Infrastructure and Deployment Exploits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Where the AI-specific and the conventional finally meet — inference servers, serving frameworks, GPU orchestration, exposed APIs, and the cloud identity that hosts every layer covered so far</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9.1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Map the AI infrastructure and deployment layer — inference servers, serving frameworks, GPU/orchestration, APIs, and cloud identity</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9.2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exposure risk in model-serving APIs and management interfaces — weak authentication, debug endpoints, and cross-request data leakage</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9.3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how AI infrastructure becomes a path to cloud identity compromise and privilege escalation beyond the model itself</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9.4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Describe resource abuse and unbounded consumption — denial-of-wallet, compute exhaustion, and multi-tenant isolation failure</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9.1 maps the layer itself; 9.2 attacks what is directly reachable on the serving surface; 9.3 attacks the identity and privilege the infrastructure inherits; 9.4 attacks the shared resource the infrastructure depends on to remain available.</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M1–8</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components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agents, multi-agent/A2A, RAG, embeddings, MCP, supply chain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M9</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AI infrastructure &amp; deployment</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Serving surface, cloud identity, resource abuse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M10–11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Synthesis</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Threat modeling for AI-enabled targets, capstone red team engagement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infrastructure layer at a glance</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SERVE</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Inference servers &amp; frameworks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software that loads a model and exposes it for inference — Module 8's model-file risk is served from here</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SURFACE</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APIs &amp; management interfaces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Everything reachable around the served model — inference endpoints, metrics, admin and debug interfaces</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IDENTITY</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Cloud identity &amp; privilege</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account, role, or credential the infrastructure runs as, and what it can reach beyond the model itself</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technique in this module maps to one of these three parts, plus a fourth cross-cutting concern — shared resource exhaustion — covered in Objective 9.4. Objective 9.1 maps all of it before any single part is attacked.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9.1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9.1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Mapping the AI infrastructure and deployment layer</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the AI infrastructure and deployment layer?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infrastructure and deployment layer is everything that hosts and serves an AI system in production — the inference server and serving framework loading the model, the GPUs and orchestration allocating compute to it, the APIs exposing it, and the cloud identity and network the whole stack runs under.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EXISTS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model, however it was sourced, still has to run somewhere — on hardware, behind an API, under some account, on some network — and each of those choices carries its own risk.</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CHANGES FOR ATTACKERS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layer is where an AI-specific finding — a backdoored model, a leaked embedding, an over-permissioned tool — can be escalated into a conventional infrastructure or cloud compromise.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OVERVIEW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Five components of the infrastructure layer</a:t>
            </a:r>
          </a:p>
        </p:txBody>
      </p:sp>
      <p:sp>
        <p:nvSpPr>
          <p:cNvPr id="6" name="Rounded Rectangle 5"/>
          <p:cNvSpPr/>
          <p:nvPr/>
        </p:nvSpPr>
        <p:spPr>
          <a:xfrm>
            <a:off x="548640" y="2057400"/>
            <a:ext cx="2567178"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SERVER</a:t>
            </a:r>
          </a:p>
        </p:txBody>
      </p:sp>
      <p:sp>
        <p:nvSpPr>
          <p:cNvPr id="8" name="TextBox 7"/>
          <p:cNvSpPr txBox="1"/>
          <p:nvPr/>
        </p:nvSpPr>
        <p:spPr>
          <a:xfrm>
            <a:off x="658368"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Inference server</a:t>
            </a:r>
          </a:p>
        </p:txBody>
      </p:sp>
      <p:sp>
        <p:nvSpPr>
          <p:cNvPr id="9" name="TextBox 8"/>
          <p:cNvSpPr txBox="1"/>
          <p:nvPr/>
        </p:nvSpPr>
        <p:spPr>
          <a:xfrm>
            <a:off x="685800"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process that loads a model and executes requests against it</a:t>
            </a:r>
          </a:p>
        </p:txBody>
      </p:sp>
      <p:sp>
        <p:nvSpPr>
          <p:cNvPr id="10" name="Rounded Rectangle 9"/>
          <p:cNvSpPr/>
          <p:nvPr/>
        </p:nvSpPr>
        <p:spPr>
          <a:xfrm>
            <a:off x="3390138"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90138"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FRAMEWORK</a:t>
            </a:r>
          </a:p>
        </p:txBody>
      </p:sp>
      <p:sp>
        <p:nvSpPr>
          <p:cNvPr id="12" name="TextBox 11"/>
          <p:cNvSpPr txBox="1"/>
          <p:nvPr/>
        </p:nvSpPr>
        <p:spPr>
          <a:xfrm>
            <a:off x="3499866"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Serving framework</a:t>
            </a:r>
          </a:p>
        </p:txBody>
      </p:sp>
      <p:sp>
        <p:nvSpPr>
          <p:cNvPr id="13" name="TextBox 12"/>
          <p:cNvSpPr txBox="1"/>
          <p:nvPr/>
        </p:nvSpPr>
        <p:spPr>
          <a:xfrm>
            <a:off x="3527298"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software layer managing request handling, batching, and model lifecycle around the server</a:t>
            </a:r>
          </a:p>
        </p:txBody>
      </p:sp>
      <p:sp>
        <p:nvSpPr>
          <p:cNvPr id="14" name="Rounded Rectangle 13"/>
          <p:cNvSpPr/>
          <p:nvPr/>
        </p:nvSpPr>
        <p:spPr>
          <a:xfrm>
            <a:off x="6231636"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1636"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COMPUTE</a:t>
            </a:r>
          </a:p>
        </p:txBody>
      </p:sp>
      <p:sp>
        <p:nvSpPr>
          <p:cNvPr id="16" name="TextBox 15"/>
          <p:cNvSpPr txBox="1"/>
          <p:nvPr/>
        </p:nvSpPr>
        <p:spPr>
          <a:xfrm>
            <a:off x="6341364"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GPU &amp; orchestration</a:t>
            </a:r>
          </a:p>
        </p:txBody>
      </p:sp>
      <p:sp>
        <p:nvSpPr>
          <p:cNvPr id="17" name="TextBox 16"/>
          <p:cNvSpPr txBox="1"/>
          <p:nvPr/>
        </p:nvSpPr>
        <p:spPr>
          <a:xfrm>
            <a:off x="6368796"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hardware and the scheduler or orchestrator allocating it across workloads</a:t>
            </a:r>
          </a:p>
        </p:txBody>
      </p:sp>
      <p:sp>
        <p:nvSpPr>
          <p:cNvPr id="18" name="Rounded Rectangle 17"/>
          <p:cNvSpPr/>
          <p:nvPr/>
        </p:nvSpPr>
        <p:spPr>
          <a:xfrm>
            <a:off x="9073134" y="2057400"/>
            <a:ext cx="2567178"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3134" y="2286000"/>
            <a:ext cx="2567178"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API</a:t>
            </a:r>
          </a:p>
        </p:txBody>
      </p:sp>
      <p:sp>
        <p:nvSpPr>
          <p:cNvPr id="20" name="TextBox 19"/>
          <p:cNvSpPr txBox="1"/>
          <p:nvPr/>
        </p:nvSpPr>
        <p:spPr>
          <a:xfrm>
            <a:off x="9182862" y="3291840"/>
            <a:ext cx="2347722"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Exposed APIs</a:t>
            </a:r>
          </a:p>
        </p:txBody>
      </p:sp>
      <p:sp>
        <p:nvSpPr>
          <p:cNvPr id="21" name="TextBox 20"/>
          <p:cNvSpPr txBox="1"/>
          <p:nvPr/>
        </p:nvSpPr>
        <p:spPr>
          <a:xfrm>
            <a:off x="9210294" y="3931919"/>
            <a:ext cx="2292858"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Inference, management, and metrics endpoints reachable over the network</a:t>
            </a:r>
          </a:p>
        </p:txBody>
      </p:sp>
      <p:sp>
        <p:nvSpPr>
          <p:cNvPr id="22" name="TextBox 21"/>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These four, plus cloud identity covered on the next slide, are the spine of the module. Objective 9.2 attacks API and management-interface exposure; Objective 9.3 attacks cloud identity; Objective 9.4 attacks compute and orchestration under resource pressure.</a:t>
            </a:r>
          </a:p>
        </p:txBody>
      </p:sp>
      <p:sp>
        <p:nvSpPr>
          <p:cNvPr id="23" name="TextBox 22"/>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4" name="TextBox 23"/>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COMPONENT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Cloud identity — the fifth, cross-cutting component</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Every piece of infrastructure in this module runs under some identity — a service account, an instance role, or an API credential — that determines what it can reach beyond the model it is directly hosting.</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TREATED SEPARATELY</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Cloud identity is not a piece of hardware or software like the other four components; it is the permission boundary that determines how far a compromise of any of them can spread.</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IT RESURFACES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9.3 treats cloud identity as its own attack path — the point where infrastructure compromise becomes a broader cloud-account compromise.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CONNECTING BACK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This module in the course so far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Everything in this module was previewed, not invented, earlier in the course — Objective 9.1 is where those earlier threads become a dedicated exploitation module.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1, OBJECTIVE 1.2</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Named infrastructure as the fifth layer of the AI attack surface: inference servers, model-serving frameworks, GPUs and orchestration, APIs, and cloud identity.</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8, OBJECTIVE 8.3</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Covered the model-file format's own risk at load time; this module covers the server and privilege context the file is loaded into.</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Infrastructure component to risk category</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Component</a:t>
                      </a:r>
                    </a:p>
                  </a:txBody>
                  <a:tcPr marL="101600" marR="101600" marT="50800" marB="50800" anchor="ctr">
                    <a:solidFill>
                      <a:srgbClr val="3A2410"/>
                    </a:solidFill>
                  </a:tcPr>
                </a:tc>
                <a:tc>
                  <a:txBody>
                    <a:bodyPr wrap="square"/>
                    <a:lstStyle/>
                    <a:p>
                      <a:r>
                        <a:rPr sz="1300" b="1">
                          <a:solidFill>
                            <a:srgbClr val="F5F7FB"/>
                          </a:solidFill>
                          <a:latin typeface="Segoe UI"/>
                        </a:rPr>
                        <a:t>What runs there</a:t>
                      </a:r>
                    </a:p>
                  </a:txBody>
                  <a:tcPr marL="101600" marR="101600" marT="50800" marB="50800" anchor="ctr">
                    <a:solidFill>
                      <a:srgbClr val="3A2410"/>
                    </a:solidFill>
                  </a:tcPr>
                </a:tc>
                <a:tc>
                  <a:txBody>
                    <a:bodyPr wrap="square"/>
                    <a:lstStyle/>
                    <a:p>
                      <a:r>
                        <a:rPr sz="1300" b="1">
                          <a:solidFill>
                            <a:srgbClr val="F5F7FB"/>
                          </a:solidFill>
                          <a:latin typeface="Segoe UI"/>
                        </a:rPr>
                        <a:t>Risk category, this module</a:t>
                      </a:r>
                    </a:p>
                  </a:txBody>
                  <a:tcPr marL="101600" marR="101600" marT="50800" marB="50800" anchor="ctr">
                    <a:solidFill>
                      <a:srgbClr val="3A2410"/>
                    </a:solidFill>
                  </a:tcPr>
                </a:tc>
              </a:tr>
              <a:tr h="471830">
                <a:tc>
                  <a:txBody>
                    <a:bodyPr wrap="square"/>
                    <a:lstStyle/>
                    <a:p>
                      <a:r>
                        <a:rPr sz="1200" b="1">
                          <a:solidFill>
                            <a:srgbClr val="F5F7FB"/>
                          </a:solidFill>
                          <a:latin typeface="Segoe UI"/>
                        </a:rPr>
                        <a:t>Inference server / framework</a:t>
                      </a:r>
                    </a:p>
                  </a:txBody>
                  <a:tcPr marL="101600" marR="101600" marT="50800" marB="50800" anchor="ctr">
                    <a:solidFill>
                      <a:srgbClr val="121319"/>
                    </a:solidFill>
                  </a:tcPr>
                </a:tc>
                <a:tc>
                  <a:txBody>
                    <a:bodyPr wrap="square"/>
                    <a:lstStyle/>
                    <a:p>
                      <a:r>
                        <a:rPr sz="1200" b="0">
                          <a:solidFill>
                            <a:srgbClr val="B8C0CF"/>
                          </a:solidFill>
                          <a:latin typeface="Segoe UI"/>
                        </a:rPr>
                        <a:t>The loaded model and its request-handling logic</a:t>
                      </a:r>
                    </a:p>
                  </a:txBody>
                  <a:tcPr marL="101600" marR="101600" marT="50800" marB="50800" anchor="ctr">
                    <a:solidFill>
                      <a:srgbClr val="121319"/>
                    </a:solidFill>
                  </a:tcPr>
                </a:tc>
                <a:tc>
                  <a:txBody>
                    <a:bodyPr wrap="square"/>
                    <a:lstStyle/>
                    <a:p>
                      <a:r>
                        <a:rPr sz="1200" b="0">
                          <a:solidFill>
                            <a:srgbClr val="B8C0CF"/>
                          </a:solidFill>
                          <a:latin typeface="Segoe UI"/>
                        </a:rPr>
                        <a:t>Exposed serving surface — Objective 9.2</a:t>
                      </a:r>
                    </a:p>
                  </a:txBody>
                  <a:tcPr marL="101600" marR="101600" marT="50800" marB="50800" anchor="ctr">
                    <a:solidFill>
                      <a:srgbClr val="121319"/>
                    </a:solidFill>
                  </a:tcPr>
                </a:tc>
              </a:tr>
              <a:tr h="471830">
                <a:tc>
                  <a:txBody>
                    <a:bodyPr wrap="square"/>
                    <a:lstStyle/>
                    <a:p>
                      <a:r>
                        <a:rPr sz="1200" b="1">
                          <a:solidFill>
                            <a:srgbClr val="F5F7FB"/>
                          </a:solidFill>
                          <a:latin typeface="Segoe UI"/>
                        </a:rPr>
                        <a:t>Management / metrics interfaces</a:t>
                      </a:r>
                    </a:p>
                  </a:txBody>
                  <a:tcPr marL="101600" marR="101600" marT="50800" marB="50800" anchor="ctr">
                    <a:solidFill>
                      <a:srgbClr val="141519"/>
                    </a:solidFill>
                  </a:tcPr>
                </a:tc>
                <a:tc>
                  <a:txBody>
                    <a:bodyPr wrap="square"/>
                    <a:lstStyle/>
                    <a:p>
                      <a:r>
                        <a:rPr sz="1200" b="0">
                          <a:solidFill>
                            <a:srgbClr val="B8C0CF"/>
                          </a:solidFill>
                          <a:latin typeface="Segoe UI"/>
                        </a:rPr>
                        <a:t>Administrative and observability endpoints</a:t>
                      </a:r>
                    </a:p>
                  </a:txBody>
                  <a:tcPr marL="101600" marR="101600" marT="50800" marB="50800" anchor="ctr">
                    <a:solidFill>
                      <a:srgbClr val="141519"/>
                    </a:solidFill>
                  </a:tcPr>
                </a:tc>
                <a:tc>
                  <a:txBody>
                    <a:bodyPr wrap="square"/>
                    <a:lstStyle/>
                    <a:p>
                      <a:r>
                        <a:rPr sz="1200" b="0">
                          <a:solidFill>
                            <a:srgbClr val="B8C0CF"/>
                          </a:solidFill>
                          <a:latin typeface="Segoe UI"/>
                        </a:rPr>
                        <a:t>Weak auth, debug exposure — Objective 9.2</a:t>
                      </a:r>
                    </a:p>
                  </a:txBody>
                  <a:tcPr marL="101600" marR="101600" marT="50800" marB="50800" anchor="ctr">
                    <a:solidFill>
                      <a:srgbClr val="141519"/>
                    </a:solidFill>
                  </a:tcPr>
                </a:tc>
              </a:tr>
              <a:tr h="471830">
                <a:tc>
                  <a:txBody>
                    <a:bodyPr wrap="square"/>
                    <a:lstStyle/>
                    <a:p>
                      <a:r>
                        <a:rPr sz="1200" b="1">
                          <a:solidFill>
                            <a:srgbClr val="F5F7FB"/>
                          </a:solidFill>
                          <a:latin typeface="Segoe UI"/>
                        </a:rPr>
                        <a:t>Cloud identity / credential</a:t>
                      </a:r>
                    </a:p>
                  </a:txBody>
                  <a:tcPr marL="101600" marR="101600" marT="50800" marB="50800" anchor="ctr">
                    <a:solidFill>
                      <a:srgbClr val="121319"/>
                    </a:solidFill>
                  </a:tcPr>
                </a:tc>
                <a:tc>
                  <a:txBody>
                    <a:bodyPr wrap="square"/>
                    <a:lstStyle/>
                    <a:p>
                      <a:r>
                        <a:rPr sz="1200" b="0">
                          <a:solidFill>
                            <a:srgbClr val="B8C0CF"/>
                          </a:solidFill>
                          <a:latin typeface="Segoe UI"/>
                        </a:rPr>
                        <a:t>The account or role the infrastructure runs as</a:t>
                      </a:r>
                    </a:p>
                  </a:txBody>
                  <a:tcPr marL="101600" marR="101600" marT="50800" marB="50800" anchor="ctr">
                    <a:solidFill>
                      <a:srgbClr val="121319"/>
                    </a:solidFill>
                  </a:tcPr>
                </a:tc>
                <a:tc>
                  <a:txBody>
                    <a:bodyPr wrap="square"/>
                    <a:lstStyle/>
                    <a:p>
                      <a:r>
                        <a:rPr sz="1200" b="0">
                          <a:solidFill>
                            <a:srgbClr val="B8C0CF"/>
                          </a:solidFill>
                          <a:latin typeface="Segoe UI"/>
                        </a:rPr>
                        <a:t>Privilege escalation — Objective 9.3</a:t>
                      </a:r>
                    </a:p>
                  </a:txBody>
                  <a:tcPr marL="101600" marR="101600" marT="50800" marB="50800" anchor="ctr">
                    <a:solidFill>
                      <a:srgbClr val="121319"/>
                    </a:solidFill>
                  </a:tcPr>
                </a:tc>
              </a:tr>
              <a:tr h="471832">
                <a:tc>
                  <a:txBody>
                    <a:bodyPr wrap="square"/>
                    <a:lstStyle/>
                    <a:p>
                      <a:r>
                        <a:rPr sz="1200" b="1">
                          <a:solidFill>
                            <a:srgbClr val="F5F7FB"/>
                          </a:solidFill>
                          <a:latin typeface="Segoe UI"/>
                        </a:rPr>
                        <a:t>GPU / orchestration / compute</a:t>
                      </a:r>
                    </a:p>
                  </a:txBody>
                  <a:tcPr marL="101600" marR="101600" marT="50800" marB="50800" anchor="ctr">
                    <a:solidFill>
                      <a:srgbClr val="141519"/>
                    </a:solidFill>
                  </a:tcPr>
                </a:tc>
                <a:tc>
                  <a:txBody>
                    <a:bodyPr wrap="square"/>
                    <a:lstStyle/>
                    <a:p>
                      <a:r>
                        <a:rPr sz="1200" b="0">
                          <a:solidFill>
                            <a:srgbClr val="B8C0CF"/>
                          </a:solidFill>
                          <a:latin typeface="Segoe UI"/>
                        </a:rPr>
                        <a:t>Shared hardware allocated across workloads</a:t>
                      </a:r>
                    </a:p>
                  </a:txBody>
                  <a:tcPr marL="101600" marR="101600" marT="50800" marB="50800" anchor="ctr">
                    <a:solidFill>
                      <a:srgbClr val="141519"/>
                    </a:solidFill>
                  </a:tcPr>
                </a:tc>
                <a:tc>
                  <a:txBody>
                    <a:bodyPr wrap="square"/>
                    <a:lstStyle/>
                    <a:p>
                      <a:r>
                        <a:rPr sz="1200" b="0">
                          <a:solidFill>
                            <a:srgbClr val="B8C0CF"/>
                          </a:solidFill>
                          <a:latin typeface="Segoe UI"/>
                        </a:rPr>
                        <a:t>Resource abuse, denial-of-wallet — Objective 9.4</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table is the infrastructure-scoped analogue of Module 1's attack-surface-to-module index.</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WHY IT MATTERS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the infrastructure layer is uniquely high-leverage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IT IS THE COMMON FOUNDATION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application, agent, RAG pipeline, and embedding store from earlier modules ultimately depends on this layer being sound.</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FAMILIAR MECHANISMS, UNFAMILIAR LOCATION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SSRF, weak authentication, and privilege escalation are conventional risks that most testers already know — but expect them, and know where to look, on an AI-specific host.</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COMPROMISE HERE OUTRANKS COMPROMISE ABOVE IT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 attacker who reaches the underlying infrastructure inherits everything the model, data, and agent layers were protecting, at once.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IT IS WHERE AI-SPECIFIC FINDINGS CASH OUT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backdoored model, a leaked embedding, or an over-permissioned tool becomes most damaging once it can pivot into the infrastructure hosting it.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AI infrastructure vs conventional application infrastructure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AI infrastructure (this module)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Hosts model weights and a serving framework, not just application code</a:t>
            </a:r>
          </a:p>
          <a:p>
            <a:pPr algn="l">
              <a:spcBef>
                <a:spcPts val="0"/>
              </a:spcBef>
              <a:spcAft>
                <a:spcPts val="800"/>
              </a:spcAft>
            </a:pPr>
            <a:r>
              <a:rPr sz="1400" b="1">
                <a:solidFill>
                  <a:srgbClr val="FF6A00"/>
                </a:solidFill>
                <a:latin typeface="Segoe UI"/>
              </a:rPr>
              <a:t>•  </a:t>
            </a:r>
            <a:r>
              <a:rPr sz="1400" b="0">
                <a:solidFill>
                  <a:srgbClr val="B8C0CF"/>
                </a:solidFill>
                <a:latin typeface="Segoe UI"/>
              </a:rPr>
              <a:t>Compute is often GPU-bound and shared across workloads or tenants</a:t>
            </a:r>
          </a:p>
          <a:p>
            <a:pPr algn="l">
              <a:spcBef>
                <a:spcPts val="0"/>
              </a:spcBef>
              <a:spcAft>
                <a:spcPts val="800"/>
              </a:spcAft>
            </a:pPr>
            <a:r>
              <a:rPr sz="1400" b="1">
                <a:solidFill>
                  <a:srgbClr val="FF6A00"/>
                </a:solidFill>
                <a:latin typeface="Segoe UI"/>
              </a:rPr>
              <a:t>•  </a:t>
            </a:r>
            <a:r>
              <a:rPr sz="1400" b="0">
                <a:solidFill>
                  <a:srgbClr val="B8C0CF"/>
                </a:solidFill>
                <a:latin typeface="Segoe UI"/>
              </a:rPr>
              <a:t>Model-file loading (Module 8, Objective 8.3) is a distinct new risk at startup</a:t>
            </a:r>
          </a:p>
          <a:p>
            <a:pPr algn="l">
              <a:spcBef>
                <a:spcPts val="0"/>
              </a:spcBef>
              <a:spcAft>
                <a:spcPts val="800"/>
              </a:spcAft>
            </a:pPr>
            <a:r>
              <a:rPr sz="1400" b="1">
                <a:solidFill>
                  <a:srgbClr val="FF6A00"/>
                </a:solidFill>
                <a:latin typeface="Segoe UI"/>
              </a:rPr>
              <a:t>•  </a:t>
            </a:r>
            <a:r>
              <a:rPr sz="1400" b="0">
                <a:solidFill>
                  <a:srgbClr val="B8C0CF"/>
                </a:solidFill>
                <a:latin typeface="Segoe UI"/>
              </a:rPr>
              <a:t>Inference itself can be an expensive, exploitable resource — Objective 9.4</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Conventional application infrastructure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Hosts application code and conventional data stores</a:t>
            </a:r>
          </a:p>
          <a:p>
            <a:pPr algn="l">
              <a:spcBef>
                <a:spcPts val="0"/>
              </a:spcBef>
              <a:spcAft>
                <a:spcPts val="800"/>
              </a:spcAft>
            </a:pPr>
            <a:r>
              <a:rPr sz="1400" b="1">
                <a:solidFill>
                  <a:srgbClr val="FF6A00"/>
                </a:solidFill>
                <a:latin typeface="Segoe UI"/>
              </a:rPr>
              <a:t>•  </a:t>
            </a:r>
            <a:r>
              <a:rPr sz="1400" b="0">
                <a:solidFill>
                  <a:srgbClr val="B8C0CF"/>
                </a:solidFill>
                <a:latin typeface="Segoe UI"/>
              </a:rPr>
              <a:t>Compute is typically CPU-bound and more uniformly provisioned</a:t>
            </a:r>
          </a:p>
          <a:p>
            <a:pPr algn="l">
              <a:spcBef>
                <a:spcPts val="0"/>
              </a:spcBef>
              <a:spcAft>
                <a:spcPts val="800"/>
              </a:spcAft>
            </a:pPr>
            <a:r>
              <a:rPr sz="1400" b="1">
                <a:solidFill>
                  <a:srgbClr val="FF6A00"/>
                </a:solidFill>
                <a:latin typeface="Segoe UI"/>
              </a:rPr>
              <a:t>•  </a:t>
            </a:r>
            <a:r>
              <a:rPr sz="1400" b="0">
                <a:solidFill>
                  <a:srgbClr val="B8C0CF"/>
                </a:solidFill>
                <a:latin typeface="Segoe UI"/>
              </a:rPr>
              <a:t>No equivalent artefact-loading risk at process startup</a:t>
            </a:r>
          </a:p>
          <a:p>
            <a:pPr algn="l">
              <a:spcBef>
                <a:spcPts val="0"/>
              </a:spcBef>
              <a:spcAft>
                <a:spcPts val="800"/>
              </a:spcAft>
            </a:pPr>
            <a:r>
              <a:rPr sz="1400" b="1">
                <a:solidFill>
                  <a:srgbClr val="FF6A00"/>
                </a:solidFill>
                <a:latin typeface="Segoe UI"/>
              </a:rPr>
              <a:t>•  </a:t>
            </a:r>
            <a:r>
              <a:rPr sz="1400" b="0">
                <a:solidFill>
                  <a:srgbClr val="B8C0CF"/>
                </a:solidFill>
                <a:latin typeface="Segoe UI"/>
              </a:rPr>
              <a:t>Request cost is comparatively small and rarely a standalone attack surface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the underlying attack mechanisms in this module are conventional, but AI infrastructure introduces new instances of them — a model-loading step, GPU-bound cost asymmetry, and often broader default privilege than an equivalent web application would carry.</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9.1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An infrastructure-assessment workflow for AI targets</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the serving stack</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what inference server, serving framework, and orchestration layer is in use, where visible.</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Enumerate exposed surface</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Map every reachable API, management interface, and metrics or debug endpoint around the served model.</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the infrastructure's identity</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what account, role, or credential the serving infrastructure runs as.</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isolation and privilege boundaries</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Assess whether the infrastructure's privilege and multi-tenant isolation match what the deployment actually requires.</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Assess resource and cost exposure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requests can be sent at a volume or cost that exhausts shared compute or budget.</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9.2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9.2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Exposed model-serving APIs and management interfaces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model-serving API surface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deployed model is typically reachable through more than one endpoint: an inference API for ordinary requests, and often separate management, metrics, or health-check interfaces intended for operators rather than end users.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THE SPLIT EXISTS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Operators need visibility and control over a running model separate from the inference path users interact with — but that separation is only meaningful if access to it is actually restricted.</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ATTACKERS LOOK FOR</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 of these interfaces reachable with weaker authentication than the primary inference API represents an unintended way into the serving stack.</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Weak or absent authentication on management interfaces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Management, metrics, and health-check interfaces are frequently deployed with weaker authentication than the primary inference API — sometimes none at all — because they were assumed to be reachable only from a trusted internal network.</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ROOT CAUSE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assumption that network position alone provides sufficient protection, without independently enforcing authentication at the interface itself.</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CONSEQUENCE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Anyone who can reach the interface directly — through a misconfigured network boundary or an exposed port — can view or alter serving configuration without ever touching the primary inference API.</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Debug and diagnostic endpoint exposure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Development or troubleshooting endpoints — verbose error handlers, request-echoing debug routes, or internal state dumps — are sometimes left reachable in a production serving deployment, disclosing configuration, internal paths, or even fragments of other requests.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RECURS ACROSS THE COURSE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the same exposure-vector pattern Module 6, Objective 6.2 taught for embedding endpoints, now applied to the serving infrastructure directly beneath the model.</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TYPICALLY DISCLOSES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Internal file paths, configuration values, stack traces, or dependency versions — each narrowing what an attacker needs to guess about the environment.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Cross-request data leakage in shared serving infrastructure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serving framework that batches or caches requests for efficiency can, if implemented incorrectly, leak fragments of one user's prompt or response into another user's session — a confidentiality failure specific to shared, multi-request serving infrastructure.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HAPPENS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Optimisations such as batching, caching, or key-value reuse across requests are designed for performance, and can blur isolation boundaries between requests if not carefully scoped.</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RELATIONSHIP TO MODULE 6</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the serving-layer counterpart to Module 6, Objective 6.4's cross-tenant vector-store isolation risk — the same failure mode, one layer further down the stack.</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Model-serving API exposure vs conventional web API exposure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Model-serving API exposure (this objective)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Management/metrics interfaces often assumed 'internal-only'</a:t>
            </a:r>
          </a:p>
          <a:p>
            <a:pPr algn="l">
              <a:spcBef>
                <a:spcPts val="0"/>
              </a:spcBef>
              <a:spcAft>
                <a:spcPts val="800"/>
              </a:spcAft>
            </a:pPr>
            <a:r>
              <a:rPr sz="1400" b="1">
                <a:solidFill>
                  <a:srgbClr val="FF6A00"/>
                </a:solidFill>
                <a:latin typeface="Segoe UI"/>
              </a:rPr>
              <a:t>•  </a:t>
            </a:r>
            <a:r>
              <a:rPr sz="1400" b="0">
                <a:solidFill>
                  <a:srgbClr val="B8C0CF"/>
                </a:solidFill>
                <a:latin typeface="Segoe UI"/>
              </a:rPr>
              <a:t>Debug endpoints can disclose model configuration or fragments of prompts</a:t>
            </a:r>
          </a:p>
          <a:p>
            <a:pPr algn="l">
              <a:spcBef>
                <a:spcPts val="0"/>
              </a:spcBef>
              <a:spcAft>
                <a:spcPts val="800"/>
              </a:spcAft>
            </a:pPr>
            <a:r>
              <a:rPr sz="1400" b="1">
                <a:solidFill>
                  <a:srgbClr val="FF6A00"/>
                </a:solidFill>
                <a:latin typeface="Segoe UI"/>
              </a:rPr>
              <a:t>•  </a:t>
            </a:r>
            <a:r>
              <a:rPr sz="1400" b="0">
                <a:solidFill>
                  <a:srgbClr val="B8C0CF"/>
                </a:solidFill>
                <a:latin typeface="Segoe UI"/>
              </a:rPr>
              <a:t>Cross-request leakage can arise from batching or KV-cache reuse specifically</a:t>
            </a:r>
          </a:p>
          <a:p>
            <a:pPr algn="l">
              <a:spcBef>
                <a:spcPts val="0"/>
              </a:spcBef>
              <a:spcAft>
                <a:spcPts val="800"/>
              </a:spcAft>
            </a:pPr>
            <a:r>
              <a:rPr sz="1400" b="1">
                <a:solidFill>
                  <a:srgbClr val="FF6A00"/>
                </a:solidFill>
                <a:latin typeface="Segoe UI"/>
              </a:rPr>
              <a:t>•  </a:t>
            </a:r>
            <a:r>
              <a:rPr sz="1400" b="0">
                <a:solidFill>
                  <a:srgbClr val="B8C0CF"/>
                </a:solidFill>
                <a:latin typeface="Segoe UI"/>
              </a:rPr>
              <a:t>Impact often includes model behaviour or other users' inference data</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Conventional web API exposure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Debug endpoints typically disclose application configuration or stack traces</a:t>
            </a:r>
          </a:p>
          <a:p>
            <a:pPr algn="l">
              <a:spcBef>
                <a:spcPts val="0"/>
              </a:spcBef>
              <a:spcAft>
                <a:spcPts val="800"/>
              </a:spcAft>
            </a:pPr>
            <a:r>
              <a:rPr sz="1400" b="1">
                <a:solidFill>
                  <a:srgbClr val="FF6A00"/>
                </a:solidFill>
                <a:latin typeface="Segoe UI"/>
              </a:rPr>
              <a:t>•  </a:t>
            </a:r>
            <a:r>
              <a:rPr sz="1400" b="0">
                <a:solidFill>
                  <a:srgbClr val="B8C0CF"/>
                </a:solidFill>
                <a:latin typeface="Segoe UI"/>
              </a:rPr>
              <a:t>Admin interfaces are a well-understood, broadly-documented risk category</a:t>
            </a:r>
          </a:p>
          <a:p>
            <a:pPr algn="l">
              <a:spcBef>
                <a:spcPts val="0"/>
              </a:spcBef>
              <a:spcAft>
                <a:spcPts val="800"/>
              </a:spcAft>
            </a:pPr>
            <a:r>
              <a:rPr sz="1400" b="1">
                <a:solidFill>
                  <a:srgbClr val="FF6A00"/>
                </a:solidFill>
                <a:latin typeface="Segoe UI"/>
              </a:rPr>
              <a:t>•  </a:t>
            </a:r>
            <a:r>
              <a:rPr sz="1400" b="0">
                <a:solidFill>
                  <a:srgbClr val="B8C0CF"/>
                </a:solidFill>
                <a:latin typeface="Segoe UI"/>
              </a:rPr>
              <a:t>Cross-request leakage is comparatively rare outside caching misconfiguration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Impact is usually scoped to application data, not a model's serving behaviour</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the categories of finding are the same ones a web-application tester already knows, but the specific mechanisms — batching, KV-cache reuse, model configuration disclosure — are AI-serving-specific and worth naming precisely in a report.</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ASSESSMENT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Serving-surface exposure vector to risk and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Exposure vector</a:t>
                      </a:r>
                    </a:p>
                  </a:txBody>
                  <a:tcPr marL="101600" marR="101600" marT="50800" marB="50800" anchor="ctr">
                    <a:solidFill>
                      <a:srgbClr val="3A2410"/>
                    </a:solidFill>
                  </a:tcPr>
                </a:tc>
                <a:tc>
                  <a:txBody>
                    <a:bodyPr wrap="square"/>
                    <a:lstStyle/>
                    <a:p>
                      <a:r>
                        <a:rPr sz="1300" b="1">
                          <a:solidFill>
                            <a:srgbClr val="F5F7FB"/>
                          </a:solidFill>
                          <a:latin typeface="Segoe UI"/>
                        </a:rPr>
                        <a:t>What is at risk</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Unauthenticated management interface</a:t>
                      </a:r>
                    </a:p>
                  </a:txBody>
                  <a:tcPr marL="101600" marR="101600" marT="50800" marB="50800" anchor="ctr">
                    <a:solidFill>
                      <a:srgbClr val="121319"/>
                    </a:solidFill>
                  </a:tcPr>
                </a:tc>
                <a:tc>
                  <a:txBody>
                    <a:bodyPr wrap="square"/>
                    <a:lstStyle/>
                    <a:p>
                      <a:r>
                        <a:rPr sz="1200" b="0">
                          <a:solidFill>
                            <a:srgbClr val="B8C0CF"/>
                          </a:solidFill>
                          <a:latin typeface="Segoe UI"/>
                        </a:rPr>
                        <a:t>Serving configuration, model control</a:t>
                      </a:r>
                    </a:p>
                  </a:txBody>
                  <a:tcPr marL="101600" marR="101600" marT="50800" marB="50800" anchor="ctr">
                    <a:solidFill>
                      <a:srgbClr val="121319"/>
                    </a:solidFill>
                  </a:tcPr>
                </a:tc>
                <a:tc>
                  <a:txBody>
                    <a:bodyPr wrap="square"/>
                    <a:lstStyle/>
                    <a:p>
                      <a:r>
                        <a:rPr sz="1200" b="0">
                          <a:solidFill>
                            <a:srgbClr val="B8C0CF"/>
                          </a:solidFill>
                          <a:latin typeface="Segoe UI"/>
                        </a:rPr>
                        <a:t>Conventional access-control weakness</a:t>
                      </a:r>
                    </a:p>
                  </a:txBody>
                  <a:tcPr marL="101600" marR="101600" marT="50800" marB="50800" anchor="ctr">
                    <a:solidFill>
                      <a:srgbClr val="121319"/>
                    </a:solidFill>
                  </a:tcPr>
                </a:tc>
              </a:tr>
              <a:tr h="471830">
                <a:tc>
                  <a:txBody>
                    <a:bodyPr wrap="square"/>
                    <a:lstStyle/>
                    <a:p>
                      <a:r>
                        <a:rPr sz="1200" b="1">
                          <a:solidFill>
                            <a:srgbClr val="F5F7FB"/>
                          </a:solidFill>
                          <a:latin typeface="Segoe UI"/>
                        </a:rPr>
                        <a:t>Debug/diagnostic endpoint reachable</a:t>
                      </a:r>
                    </a:p>
                  </a:txBody>
                  <a:tcPr marL="101600" marR="101600" marT="50800" marB="50800" anchor="ctr">
                    <a:solidFill>
                      <a:srgbClr val="141519"/>
                    </a:solidFill>
                  </a:tcPr>
                </a:tc>
                <a:tc>
                  <a:txBody>
                    <a:bodyPr wrap="square"/>
                    <a:lstStyle/>
                    <a:p>
                      <a:r>
                        <a:rPr sz="1200" b="0">
                          <a:solidFill>
                            <a:srgbClr val="B8C0CF"/>
                          </a:solidFill>
                          <a:latin typeface="Segoe UI"/>
                        </a:rPr>
                        <a:t>Configuration and internal state disclosure</a:t>
                      </a:r>
                    </a:p>
                  </a:txBody>
                  <a:tcPr marL="101600" marR="101600" marT="50800" marB="50800" anchor="ctr">
                    <a:solidFill>
                      <a:srgbClr val="141519"/>
                    </a:solidFill>
                  </a:tcPr>
                </a:tc>
                <a:tc>
                  <a:txBody>
                    <a:bodyPr wrap="square"/>
                    <a:lstStyle/>
                    <a:p>
                      <a:r>
                        <a:rPr sz="1200" b="0">
                          <a:solidFill>
                            <a:srgbClr val="B8C0CF"/>
                          </a:solidFill>
                          <a:latin typeface="Segoe UI"/>
                        </a:rPr>
                        <a:t>OWASP LLM02-adjacent disclosure</a:t>
                      </a:r>
                    </a:p>
                  </a:txBody>
                  <a:tcPr marL="101600" marR="101600" marT="50800" marB="50800" anchor="ctr">
                    <a:solidFill>
                      <a:srgbClr val="141519"/>
                    </a:solidFill>
                  </a:tcPr>
                </a:tc>
              </a:tr>
              <a:tr h="471830">
                <a:tc>
                  <a:txBody>
                    <a:bodyPr wrap="square"/>
                    <a:lstStyle/>
                    <a:p>
                      <a:r>
                        <a:rPr sz="1200" b="1">
                          <a:solidFill>
                            <a:srgbClr val="F5F7FB"/>
                          </a:solidFill>
                          <a:latin typeface="Segoe UI"/>
                        </a:rPr>
                        <a:t>Cross-request leakage via batching/cache</a:t>
                      </a:r>
                    </a:p>
                  </a:txBody>
                  <a:tcPr marL="101600" marR="101600" marT="50800" marB="50800" anchor="ctr">
                    <a:solidFill>
                      <a:srgbClr val="121319"/>
                    </a:solidFill>
                  </a:tcPr>
                </a:tc>
                <a:tc>
                  <a:txBody>
                    <a:bodyPr wrap="square"/>
                    <a:lstStyle/>
                    <a:p>
                      <a:r>
                        <a:rPr sz="1200" b="0">
                          <a:solidFill>
                            <a:srgbClr val="B8C0CF"/>
                          </a:solidFill>
                          <a:latin typeface="Segoe UI"/>
                        </a:rPr>
                        <a:t>Confidentiality of other users' prompts or output</a:t>
                      </a:r>
                    </a:p>
                  </a:txBody>
                  <a:tcPr marL="101600" marR="101600" marT="50800" marB="50800" anchor="ctr">
                    <a:solidFill>
                      <a:srgbClr val="121319"/>
                    </a:solidFill>
                  </a:tcPr>
                </a:tc>
                <a:tc>
                  <a:txBody>
                    <a:bodyPr wrap="square"/>
                    <a:lstStyle/>
                    <a:p>
                      <a:r>
                        <a:rPr sz="1200" b="0">
                          <a:solidFill>
                            <a:srgbClr val="B8C0CF"/>
                          </a:solidFill>
                          <a:latin typeface="Segoe UI"/>
                        </a:rPr>
                        <a:t>OWASP LLM02</a:t>
                      </a:r>
                    </a:p>
                  </a:txBody>
                  <a:tcPr marL="101600" marR="101600" marT="50800" marB="50800" anchor="ctr">
                    <a:solidFill>
                      <a:srgbClr val="121319"/>
                    </a:solidFill>
                  </a:tcPr>
                </a:tc>
              </a:tr>
              <a:tr h="471832">
                <a:tc>
                  <a:txBody>
                    <a:bodyPr wrap="square"/>
                    <a:lstStyle/>
                    <a:p>
                      <a:r>
                        <a:rPr sz="1200" b="1">
                          <a:solidFill>
                            <a:srgbClr val="F5F7FB"/>
                          </a:solidFill>
                          <a:latin typeface="Segoe UI"/>
                        </a:rPr>
                        <a:t>Exposed metrics with granular detail</a:t>
                      </a:r>
                    </a:p>
                  </a:txBody>
                  <a:tcPr marL="101600" marR="101600" marT="50800" marB="50800" anchor="ctr">
                    <a:solidFill>
                      <a:srgbClr val="141519"/>
                    </a:solidFill>
                  </a:tcPr>
                </a:tc>
                <a:tc>
                  <a:txBody>
                    <a:bodyPr wrap="square"/>
                    <a:lstStyle/>
                    <a:p>
                      <a:r>
                        <a:rPr sz="1200" b="0">
                          <a:solidFill>
                            <a:srgbClr val="B8C0CF"/>
                          </a:solidFill>
                          <a:latin typeface="Segoe UI"/>
                        </a:rPr>
                        <a:t>Usage patterns, model identity, indirect fingerprinting</a:t>
                      </a:r>
                    </a:p>
                  </a:txBody>
                  <a:tcPr marL="101600" marR="101600" marT="50800" marB="50800" anchor="ctr">
                    <a:solidFill>
                      <a:srgbClr val="141519"/>
                    </a:solidFill>
                  </a:tcPr>
                </a:tc>
                <a:tc>
                  <a:txBody>
                    <a:bodyPr wrap="square"/>
                    <a:lstStyle/>
                    <a:p>
                      <a:r>
                        <a:rPr sz="1200" b="0">
                          <a:solidFill>
                            <a:srgbClr val="B8C0CF"/>
                          </a:solidFill>
                          <a:latin typeface="Segoe UI"/>
                        </a:rPr>
                        <a:t>Recon-enabling disclosure</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is an assessment aid for engagement reporting, not a defensive control specification.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9.2 · RECOGNITION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Recognising serving-surface exposure during an assessment</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MULTIPLE DISTINCT ENDPOINTS AROUND ONE MODEL</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Any deployment with an inference API should prompt a search for accompanying management, metrics, or health-check interfaces.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INCONSISTENT AUTHENTICATION ACROSS ENDPOINTS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If the primary inference API requires authentication but a nearby endpoint does not, that inconsistency is itself a finding.</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VERBOSE RESPONSES ON MALFORMED INPUT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Error messages that reveal internal paths, stack traces, or configuration values indicate a debug-level response path is reachable.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RESPONSE CONTENT THAT DOES NOT MATCH THE CURRENT REQUEST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Any sign that returned content originated from a different request or session is a strong cross-request-leakage indicator.</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9.3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9.3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Cloud identity and privilege escalation from AI infrastructure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AI infrastructure often runs with excess privilege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Inference servers and serving frameworks are frequently granted broad cloud permissions — to load models from storage, write logs and metrics, or scale compute — and that permission is often scoped more generously than the serving process itself actually requires.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ROOT CAUSE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Provisioning for convenience during setup, and rarely revisiting the permission scope once the deployment is stable and running.</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CONSEQUENCE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compromise of the serving process itself inherits whatever cloud privilege was granted to it — often far more than serving inference alone would need.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Instance metadata and credential exposure, conceptually</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Cloud compute instances commonly expose an internal metadata service that the instance itself can query to retrieve its own temporary credentials — and if the serving application can be induced to make a request on the attacker's behalf, that internal-only service can become reachable indirectly.</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MATTERS FOR AI INFRASTRUCTURE SPECIFICALLY</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serving framework that fetches models or resources from a URL, without strict validation, can potentially be induced to request the metadata service instead of its intended target.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OF THIS OBJECTIVE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general conceptual coverage of the risk category and its consequence — credential theft — not a technique for constructing the underlying request forgery.</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From a serving-process foothold to cloud-account compromise, conceptually</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 foothold is gained on the serving infrastructure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Through any of Objective 9.2's exposure vectors, or another compromise of the process itself.</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process's cloud identity is identified</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attacker determines what account, role, or credential the serving process runs as.</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That identity's permissions are enumerated</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attacker discovers what cloud resources and actions the inherited identity can reach.</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Excess privilege is used to pivot</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Permissions beyond what serving inference required are used to reach other cloud resources.</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compromise extends beyond the original model</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Data stores, other compute, or additional identities become reachable — well beyond the model that was the original target.</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Least-privilege provisioning vs convenience provisioning</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Least-privilege provisioning</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Serving identity scoped to exactly what inference requires</a:t>
            </a:r>
          </a:p>
          <a:p>
            <a:pPr algn="l">
              <a:spcBef>
                <a:spcPts val="0"/>
              </a:spcBef>
              <a:spcAft>
                <a:spcPts val="800"/>
              </a:spcAft>
            </a:pPr>
            <a:r>
              <a:rPr sz="1400" b="1">
                <a:solidFill>
                  <a:srgbClr val="FF6A00"/>
                </a:solidFill>
                <a:latin typeface="Segoe UI"/>
              </a:rPr>
              <a:t>•  </a:t>
            </a:r>
            <a:r>
              <a:rPr sz="1400" b="0">
                <a:solidFill>
                  <a:srgbClr val="B8C0CF"/>
                </a:solidFill>
                <a:latin typeface="Segoe UI"/>
              </a:rPr>
              <a:t>Permissions reviewed and narrowed as the deployment matures</a:t>
            </a:r>
          </a:p>
          <a:p>
            <a:pPr algn="l">
              <a:spcBef>
                <a:spcPts val="0"/>
              </a:spcBef>
              <a:spcAft>
                <a:spcPts val="800"/>
              </a:spcAft>
            </a:pPr>
            <a:r>
              <a:rPr sz="1400" b="1">
                <a:solidFill>
                  <a:srgbClr val="FF6A00"/>
                </a:solidFill>
                <a:latin typeface="Segoe UI"/>
              </a:rPr>
              <a:t>•  </a:t>
            </a:r>
            <a:r>
              <a:rPr sz="1400" b="0">
                <a:solidFill>
                  <a:srgbClr val="B8C0CF"/>
                </a:solidFill>
                <a:latin typeface="Segoe UI"/>
              </a:rPr>
              <a:t>A compromise of the serving process yields minimal further reach</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deliberate, ongoing scoping effort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Convenience provisioning</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Serving identity granted broad permissions during initial setup</a:t>
            </a:r>
          </a:p>
          <a:p>
            <a:pPr algn="l">
              <a:spcBef>
                <a:spcPts val="0"/>
              </a:spcBef>
              <a:spcAft>
                <a:spcPts val="800"/>
              </a:spcAft>
            </a:pPr>
            <a:r>
              <a:rPr sz="1400" b="1">
                <a:solidFill>
                  <a:srgbClr val="FF6A00"/>
                </a:solidFill>
                <a:latin typeface="Segoe UI"/>
              </a:rPr>
              <a:t>•  </a:t>
            </a:r>
            <a:r>
              <a:rPr sz="1400" b="0">
                <a:solidFill>
                  <a:srgbClr val="B8C0CF"/>
                </a:solidFill>
                <a:latin typeface="Segoe UI"/>
              </a:rPr>
              <a:t>Permissions rarely revisited once the deployment is stable</a:t>
            </a:r>
          </a:p>
          <a:p>
            <a:pPr algn="l">
              <a:spcBef>
                <a:spcPts val="0"/>
              </a:spcBef>
              <a:spcAft>
                <a:spcPts val="800"/>
              </a:spcAft>
            </a:pPr>
            <a:r>
              <a:rPr sz="1400" b="1">
                <a:solidFill>
                  <a:srgbClr val="FF6A00"/>
                </a:solidFill>
                <a:latin typeface="Segoe UI"/>
              </a:rPr>
              <a:t>•  </a:t>
            </a:r>
            <a:r>
              <a:rPr sz="1400" b="0">
                <a:solidFill>
                  <a:srgbClr val="B8C0CF"/>
                </a:solidFill>
                <a:latin typeface="Segoe UI"/>
              </a:rPr>
              <a:t>A compromise of the serving process yields broad further reach</a:t>
            </a:r>
          </a:p>
          <a:p>
            <a:pPr algn="l">
              <a:spcBef>
                <a:spcPts val="0"/>
              </a:spcBef>
              <a:spcAft>
                <a:spcPts val="800"/>
              </a:spcAft>
            </a:pPr>
            <a:r>
              <a:rPr sz="1400" b="1">
                <a:solidFill>
                  <a:srgbClr val="FF6A00"/>
                </a:solidFill>
                <a:latin typeface="Segoe UI"/>
              </a:rPr>
              <a:t>•  </a:t>
            </a:r>
            <a:r>
              <a:rPr sz="1400" b="0">
                <a:solidFill>
                  <a:srgbClr val="B8C0CF"/>
                </a:solidFill>
                <a:latin typeface="Segoe UI"/>
              </a:rPr>
              <a:t>The default outcome absent deliberate scoping effort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convenience provisioning is the default outcome of ordinary deployment practice, not an unusual mistake — a supply-chain or serving-surface compromise should always be assessed against what the inherited identity can actually reach.</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ASSESSMENT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Assessing infrastructure identity and privilege during an engagement</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IDENTIFY THE SERVING PROCESS'S OWN IDENTITY</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Determine what account, role, or credential the inference server or serving framework actually runs as.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ENUMERATE WHAT THAT IDENTITY CAN REACH</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Map the permissions attached to the identity, not just the permissions the deployment believes it granted.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COMPARE GRANTED PRIVILEGE TO OPERATIONAL NEED</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Assess whether the identity's actual permissions exceed what serving inference alone requires.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TEST OUTBOUND REQUEST HANDLING FOR VALIDATION GAPS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Determine whether the serving process validates or restricts URLs and destinations it is instructed to request.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9.3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identity and privilege risk sits in the broader picture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Cloud identity and privilege-escalation risk from AI infrastructure is not itself a named OWASP LLM Top 10 category — it is a conventional cloud and infrastructure security risk that this module teaches specifically in the context of AI-serving infrastructure.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NO DEDICATED LLM CATEGORY APPLIES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OWASP list concentrates on risks specific to LLM applications; privilege escalation from a compromised host is a general infrastructure-security concern that applies identically to non-AI workloads.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HOW TO REPORT IT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Cite the excess privilege and the compromise path explicitly, and reference conventional cloud-security guidance rather than forcing an artificial OWASP LLM mapping onto a non-LLM-specific risk.</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9.4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9.4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Resource abuse and unbounded consumption</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unbounded consumption?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Unbounded consumption is the risk that a deployment places no meaningful limit on the compute, time, or cost a single request — or a sustained stream of requests — can consume, allowing an attacker to degrade availability or inflate cost far beyond ordinary usage.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AI INFERENCE IS ESPECIALLY EXPOSED</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Inference is often meaningfully more expensive per request than a conventional API call, particularly for long outputs, large context windows, or resource-intensive model configurations.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FRAMEWORK MAPPING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OWASP's LLM10 — Unbounded Consumption, one of the two OWASP categories, alongside LLM03 Supply Chain, that Module 1 mapped specifically to this module.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Denial of wallet vs conventional denial of service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Denial of wallet</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Goal is inflating operating cost, not necessarily stopping the service</a:t>
            </a:r>
          </a:p>
          <a:p>
            <a:pPr algn="l">
              <a:spcBef>
                <a:spcPts val="0"/>
              </a:spcBef>
              <a:spcAft>
                <a:spcPts val="800"/>
              </a:spcAft>
            </a:pPr>
            <a:r>
              <a:rPr sz="1400" b="1">
                <a:solidFill>
                  <a:srgbClr val="FF6A00"/>
                </a:solidFill>
                <a:latin typeface="Segoe UI"/>
              </a:rPr>
              <a:t>•  </a:t>
            </a:r>
            <a:r>
              <a:rPr sz="1400" b="0">
                <a:solidFill>
                  <a:srgbClr val="B8C0CF"/>
                </a:solidFill>
                <a:latin typeface="Segoe UI"/>
              </a:rPr>
              <a:t>Requests may be entirely legitimate-looking and individually reasonable</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Exploits per-request cost asymmetry rather than raw request volume</a:t>
            </a:r>
          </a:p>
          <a:p>
            <a:pPr algn="l">
              <a:spcBef>
                <a:spcPts val="0"/>
              </a:spcBef>
              <a:spcAft>
                <a:spcPts val="800"/>
              </a:spcAft>
            </a:pPr>
            <a:r>
              <a:rPr sz="1400" b="1">
                <a:solidFill>
                  <a:srgbClr val="FF6A00"/>
                </a:solidFill>
                <a:latin typeface="Segoe UI"/>
              </a:rPr>
              <a:t>•  </a:t>
            </a:r>
            <a:r>
              <a:rPr sz="1400" b="0">
                <a:solidFill>
                  <a:srgbClr val="B8C0CF"/>
                </a:solidFill>
                <a:latin typeface="Segoe UI"/>
              </a:rPr>
              <a:t>Damage accrues gradually as a billing or budget event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Conventional denial of service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Goal is degrading or stopping availability for legitimate users</a:t>
            </a:r>
          </a:p>
          <a:p>
            <a:pPr algn="l">
              <a:spcBef>
                <a:spcPts val="0"/>
              </a:spcBef>
              <a:spcAft>
                <a:spcPts val="800"/>
              </a:spcAft>
            </a:pPr>
            <a:r>
              <a:rPr sz="1400" b="1">
                <a:solidFill>
                  <a:srgbClr val="FF6A00"/>
                </a:solidFill>
                <a:latin typeface="Segoe UI"/>
              </a:rPr>
              <a:t>•  </a:t>
            </a:r>
            <a:r>
              <a:rPr sz="1400" b="0">
                <a:solidFill>
                  <a:srgbClr val="B8C0CF"/>
                </a:solidFill>
                <a:latin typeface="Segoe UI"/>
              </a:rPr>
              <a:t>Typically relies on high request volume or resource-exhausting payloads</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Exploits capacity limits rather than cost asymmetry specifically</a:t>
            </a:r>
          </a:p>
          <a:p>
            <a:pPr algn="l">
              <a:spcBef>
                <a:spcPts val="0"/>
              </a:spcBef>
              <a:spcAft>
                <a:spcPts val="800"/>
              </a:spcAft>
            </a:pPr>
            <a:r>
              <a:rPr sz="1400" b="1">
                <a:solidFill>
                  <a:srgbClr val="FF6A00"/>
                </a:solidFill>
                <a:latin typeface="Segoe UI"/>
              </a:rPr>
              <a:t>•  </a:t>
            </a:r>
            <a:r>
              <a:rPr sz="1400" b="0">
                <a:solidFill>
                  <a:srgbClr val="B8C0CF"/>
                </a:solidFill>
                <a:latin typeface="Segoe UI"/>
              </a:rPr>
              <a:t>Damage is immediate and visible as an availability event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an attacker does not need to take a service offline to cause serious harm — driving its inference cost far above expected levels is a complete, standalone finding in its own right, distinct from classic availability-focused DoS.</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SOURCES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cost and resource asymmetry come from in AI inference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LARGE OR UNBOUNDED CONTEXT WINDOWS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request that fills the maximum allowed context consumes proportionally more compute than a short one, often at a lower marginal cost to the attacker.</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LONG OR UNBOUNDED OUTPUT GENERATION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Requests that induce very long generated output consume more inference time and cost than the request itself suggests.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EXPENSIVE DOWNSTREAM TOOL OR RETRIEVAL CALLS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single user request can trigger tool calls, retrieval queries, or chained model calls, each adding to the true cost of that one request.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RETRY AND FALLBACK LOGIC AMPLIFICATION</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Automatic retries or fallback-model logic can multiply the resource cost of a single failing or adversarial request several times over.</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Multi-tenant resource isolation failure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 infrastructure shared across multiple users or tenants, insufficient isolation of compute — separate from any access-control or data-isolation failure — can allow one tenant's heavy usage to degrade performance or availability for every other tenant sharing the same underlying resource.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RELATIONSHIP TO MODULE 6</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is the compute-resource counterpart to Module 6, Objective 6.4's cross-tenant data-isolation risk — the same shared-infrastructure assumption, examined here as an availability rather than confidentiality concern.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EASY TO OVERLOOK</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Resource isolation is frequently assumed to be handled entirely by the underlying orchestration layer, without independent verification that tenant-level limits are actually enforced.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unbounded-consumption attack pattern, conceptually</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a cost or resource asymmetry</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Find a request shape — large context, long output, chained tool calls — where cost to the deployer exceeds cost to the requester.</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Send requests exploiting that asymmetry</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Craft requests that maximise the identified asymmetry, individually or at sustained volume.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Consumption accrues without an effective limit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Because no meaningful limit is enforced, the cost or resource draw accumulates unchecked.</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Impact manifests as cost, degradation, or both</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deployer experiences inflated billing, degraded performance for other users, or both simultaneously.</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attacker need not be individually targeted or malicious-looking</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Ordinary-looking requests, sent persistently enough, are sufficient — no exotic payload is required.</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MITIGATIONS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Reducing unbounded-consumption risk</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ENFORCE PER-REQUEST AND PER-USER LIMITS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Cap context length, output length, and request rate at levels that reflect legitimate expected usage.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APPLY COST-AWARE RATE LIMITING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Rate-limit based on the actual cost a request imposes, not just request count, so expensive requests are throttled more aggressively.</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ISOLATE OR QUOTA SHARED COMPUTE PER TENANT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Enforce compute quotas at the orchestration layer so one tenant's usage cannot degrade another's availability.</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MONITOR FOR COST AND USAGE ANOMALIES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Alert on usage or billing patterns that deviate meaningfully from an account's established baseline.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Resource-abuse risk to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Risk</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Denial of wallet</a:t>
                      </a:r>
                    </a:p>
                  </a:txBody>
                  <a:tcPr marL="101600" marR="101600" marT="50800" marB="50800" anchor="ctr">
                    <a:solidFill>
                      <a:srgbClr val="121319"/>
                    </a:solidFill>
                  </a:tcPr>
                </a:tc>
                <a:tc>
                  <a:txBody>
                    <a:bodyPr wrap="square"/>
                    <a:lstStyle/>
                    <a:p>
                      <a:r>
                        <a:rPr sz="1200" b="0">
                          <a:solidFill>
                            <a:srgbClr val="B8C0CF"/>
                          </a:solidFill>
                          <a:latin typeface="Segoe UI"/>
                        </a:rPr>
                        <a:t>Cost asymmetry exploited via expensive request shapes</a:t>
                      </a:r>
                    </a:p>
                  </a:txBody>
                  <a:tcPr marL="101600" marR="101600" marT="50800" marB="50800" anchor="ctr">
                    <a:solidFill>
                      <a:srgbClr val="121319"/>
                    </a:solidFill>
                  </a:tcPr>
                </a:tc>
                <a:tc>
                  <a:txBody>
                    <a:bodyPr wrap="square"/>
                    <a:lstStyle/>
                    <a:p>
                      <a:r>
                        <a:rPr sz="1200" b="0">
                          <a:solidFill>
                            <a:srgbClr val="B8C0CF"/>
                          </a:solidFill>
                          <a:latin typeface="Segoe UI"/>
                        </a:rPr>
                        <a:t>OWASP LLM10</a:t>
                      </a:r>
                    </a:p>
                  </a:txBody>
                  <a:tcPr marL="101600" marR="101600" marT="50800" marB="50800" anchor="ctr">
                    <a:solidFill>
                      <a:srgbClr val="121319"/>
                    </a:solidFill>
                  </a:tcPr>
                </a:tc>
              </a:tr>
              <a:tr h="471830">
                <a:tc>
                  <a:txBody>
                    <a:bodyPr wrap="square"/>
                    <a:lstStyle/>
                    <a:p>
                      <a:r>
                        <a:rPr sz="1200" b="1">
                          <a:solidFill>
                            <a:srgbClr val="F5F7FB"/>
                          </a:solidFill>
                          <a:latin typeface="Segoe UI"/>
                        </a:rPr>
                        <a:t>Compute/context exhaustion</a:t>
                      </a:r>
                    </a:p>
                  </a:txBody>
                  <a:tcPr marL="101600" marR="101600" marT="50800" marB="50800" anchor="ctr">
                    <a:solidFill>
                      <a:srgbClr val="141519"/>
                    </a:solidFill>
                  </a:tcPr>
                </a:tc>
                <a:tc>
                  <a:txBody>
                    <a:bodyPr wrap="square"/>
                    <a:lstStyle/>
                    <a:p>
                      <a:r>
                        <a:rPr sz="1200" b="0">
                          <a:solidFill>
                            <a:srgbClr val="B8C0CF"/>
                          </a:solidFill>
                          <a:latin typeface="Segoe UI"/>
                        </a:rPr>
                        <a:t>Large context or long output consuming excess resource</a:t>
                      </a:r>
                    </a:p>
                  </a:txBody>
                  <a:tcPr marL="101600" marR="101600" marT="50800" marB="50800" anchor="ctr">
                    <a:solidFill>
                      <a:srgbClr val="141519"/>
                    </a:solidFill>
                  </a:tcPr>
                </a:tc>
                <a:tc>
                  <a:txBody>
                    <a:bodyPr wrap="square"/>
                    <a:lstStyle/>
                    <a:p>
                      <a:r>
                        <a:rPr sz="1200" b="0">
                          <a:solidFill>
                            <a:srgbClr val="B8C0CF"/>
                          </a:solidFill>
                          <a:latin typeface="Segoe UI"/>
                        </a:rPr>
                        <a:t>OWASP LLM10</a:t>
                      </a:r>
                    </a:p>
                  </a:txBody>
                  <a:tcPr marL="101600" marR="101600" marT="50800" marB="50800" anchor="ctr">
                    <a:solidFill>
                      <a:srgbClr val="141519"/>
                    </a:solidFill>
                  </a:tcPr>
                </a:tc>
              </a:tr>
              <a:tr h="471830">
                <a:tc>
                  <a:txBody>
                    <a:bodyPr wrap="square"/>
                    <a:lstStyle/>
                    <a:p>
                      <a:r>
                        <a:rPr sz="1200" b="1">
                          <a:solidFill>
                            <a:srgbClr val="F5F7FB"/>
                          </a:solidFill>
                          <a:latin typeface="Segoe UI"/>
                        </a:rPr>
                        <a:t>Retry/fallback amplification</a:t>
                      </a:r>
                    </a:p>
                  </a:txBody>
                  <a:tcPr marL="101600" marR="101600" marT="50800" marB="50800" anchor="ctr">
                    <a:solidFill>
                      <a:srgbClr val="121319"/>
                    </a:solidFill>
                  </a:tcPr>
                </a:tc>
                <a:tc>
                  <a:txBody>
                    <a:bodyPr wrap="square"/>
                    <a:lstStyle/>
                    <a:p>
                      <a:r>
                        <a:rPr sz="1200" b="0">
                          <a:solidFill>
                            <a:srgbClr val="B8C0CF"/>
                          </a:solidFill>
                          <a:latin typeface="Segoe UI"/>
                        </a:rPr>
                        <a:t>Automatic retry logic multiplying per-request cost</a:t>
                      </a:r>
                    </a:p>
                  </a:txBody>
                  <a:tcPr marL="101600" marR="101600" marT="50800" marB="50800" anchor="ctr">
                    <a:solidFill>
                      <a:srgbClr val="121319"/>
                    </a:solidFill>
                  </a:tcPr>
                </a:tc>
                <a:tc>
                  <a:txBody>
                    <a:bodyPr wrap="square"/>
                    <a:lstStyle/>
                    <a:p>
                      <a:r>
                        <a:rPr sz="1200" b="0">
                          <a:solidFill>
                            <a:srgbClr val="B8C0CF"/>
                          </a:solidFill>
                          <a:latin typeface="Segoe UI"/>
                        </a:rPr>
                        <a:t>OWASP LLM10</a:t>
                      </a:r>
                    </a:p>
                  </a:txBody>
                  <a:tcPr marL="101600" marR="101600" marT="50800" marB="50800" anchor="ctr">
                    <a:solidFill>
                      <a:srgbClr val="121319"/>
                    </a:solidFill>
                  </a:tcPr>
                </a:tc>
              </a:tr>
              <a:tr h="471832">
                <a:tc>
                  <a:txBody>
                    <a:bodyPr wrap="square"/>
                    <a:lstStyle/>
                    <a:p>
                      <a:r>
                        <a:rPr sz="1200" b="1">
                          <a:solidFill>
                            <a:srgbClr val="F5F7FB"/>
                          </a:solidFill>
                          <a:latin typeface="Segoe UI"/>
                        </a:rPr>
                        <a:t>Multi-tenant resource isolation failure</a:t>
                      </a:r>
                    </a:p>
                  </a:txBody>
                  <a:tcPr marL="101600" marR="101600" marT="50800" marB="50800" anchor="ctr">
                    <a:solidFill>
                      <a:srgbClr val="141519"/>
                    </a:solidFill>
                  </a:tcPr>
                </a:tc>
                <a:tc>
                  <a:txBody>
                    <a:bodyPr wrap="square"/>
                    <a:lstStyle/>
                    <a:p>
                      <a:r>
                        <a:rPr sz="1200" b="0">
                          <a:solidFill>
                            <a:srgbClr val="B8C0CF"/>
                          </a:solidFill>
                          <a:latin typeface="Segoe UI"/>
                        </a:rPr>
                        <a:t>Shared compute lacks enforced per-tenant quotas</a:t>
                      </a:r>
                    </a:p>
                  </a:txBody>
                  <a:tcPr marL="101600" marR="101600" marT="50800" marB="50800" anchor="ctr">
                    <a:solidFill>
                      <a:srgbClr val="141519"/>
                    </a:solidFill>
                  </a:tcPr>
                </a:tc>
                <a:tc>
                  <a:txBody>
                    <a:bodyPr wrap="square"/>
                    <a:lstStyle/>
                    <a:p>
                      <a:r>
                        <a:rPr sz="1200" b="0">
                          <a:solidFill>
                            <a:srgbClr val="B8C0CF"/>
                          </a:solidFill>
                          <a:latin typeface="Segoe UI"/>
                        </a:rPr>
                        <a:t>OWASP LLM10, availability-focused</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Multi-tenant resource isolation also connects back to Module 6, Objective 6.4's storage-layer cross-tenant risk, applied here to compute rather than data.</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9.4 · RECON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Signals worth noting during recon, not proof of exploitability</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VISIBLE LIMIT ON CONTEXT OR OUTPUT LENGTH</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deployment that accepts arbitrarily large requests or generates arbitrarily long output without a stated cap is worth flagging.</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VISIBLE PER-USER OR PER-ACCOUNT RATE LIMITING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absence of any observable throttling behaviour under repeated requests suggests a limit may not be enforced.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CHAINED TOOL OR RETRIEVAL CALLS PER SINGLE USER REQUEST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single request that clearly triggers multiple downstream calls carries a higher, less visible true cost.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SHARED-INFRASTRUCTURE INDICATORS WITHOUT STATED TENANT QUOTAS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Multi-tenant deployments with no documented compute quota per tenant are worth escalating as a possible isolation gap.</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LLM10</a:t>
                      </a:r>
                    </a:p>
                  </a:txBody>
                  <a:tcPr marL="101600" marR="101600" marT="50800" marB="50800" anchor="ctr">
                    <a:solidFill>
                      <a:srgbClr val="121319"/>
                    </a:solidFill>
                  </a:tcPr>
                </a:tc>
                <a:tc>
                  <a:txBody>
                    <a:bodyPr wrap="square"/>
                    <a:lstStyle/>
                    <a:p>
                      <a:r>
                        <a:rPr sz="1200" b="0">
                          <a:solidFill>
                            <a:srgbClr val="B8C0CF"/>
                          </a:solidFill>
                          <a:latin typeface="Segoe UI"/>
                        </a:rPr>
                        <a:t>Unbounded Consumption (OWASP category)</a:t>
                      </a:r>
                    </a:p>
                  </a:txBody>
                  <a:tcPr marL="101600" marR="101600" marT="50800" marB="50800" anchor="ctr">
                    <a:solidFill>
                      <a:srgbClr val="121319"/>
                    </a:solidFill>
                  </a:tcPr>
                </a:tc>
                <a:tc>
                  <a:txBody>
                    <a:bodyPr wrap="square"/>
                    <a:lstStyle/>
                    <a:p>
                      <a:r>
                        <a:rPr sz="1200" b="0">
                          <a:solidFill>
                            <a:srgbClr val="B8C0CF"/>
                          </a:solidFill>
                          <a:latin typeface="Segoe UI"/>
                        </a:rPr>
                        <a:t>This module's primary framework mapping — cost and resource exhaustion, Objective 9.4</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LLM02</a:t>
                      </a:r>
                    </a:p>
                  </a:txBody>
                  <a:tcPr marL="101600" marR="101600" marT="50800" marB="50800" anchor="ctr">
                    <a:solidFill>
                      <a:srgbClr val="141519"/>
                    </a:solidFill>
                  </a:tcPr>
                </a:tc>
                <a:tc>
                  <a:txBody>
                    <a:bodyPr wrap="square"/>
                    <a:lstStyle/>
                    <a:p>
                      <a:r>
                        <a:rPr sz="1200" b="0">
                          <a:solidFill>
                            <a:srgbClr val="B8C0CF"/>
                          </a:solidFill>
                          <a:latin typeface="Segoe UI"/>
                        </a:rPr>
                        <a:t>Sensitive Information Disclosure (OWASP category)</a:t>
                      </a:r>
                    </a:p>
                  </a:txBody>
                  <a:tcPr marL="101600" marR="101600" marT="50800" marB="50800" anchor="ctr">
                    <a:solidFill>
                      <a:srgbClr val="141519"/>
                    </a:solidFill>
                  </a:tcPr>
                </a:tc>
                <a:tc>
                  <a:txBody>
                    <a:bodyPr wrap="square"/>
                    <a:lstStyle/>
                    <a:p>
                      <a:r>
                        <a:rPr sz="1200" b="0">
                          <a:solidFill>
                            <a:srgbClr val="B8C0CF"/>
                          </a:solidFill>
                          <a:latin typeface="Segoe UI"/>
                        </a:rPr>
                        <a:t>Cited alongside serving-surface and cross-request leakage findings in Objective 9.2</a:t>
                      </a:r>
                    </a:p>
                  </a:txBody>
                  <a:tcPr marL="101600" marR="101600" marT="50800" marB="50800" anchor="ctr">
                    <a:solidFill>
                      <a:srgbClr val="141519"/>
                    </a:solidFill>
                  </a:tcPr>
                </a:tc>
              </a:tr>
              <a:tr h="467360">
                <a:tc>
                  <a:txBody>
                    <a:bodyPr wrap="square"/>
                    <a:lstStyle/>
                    <a:p>
                      <a:r>
                        <a:rPr sz="1200" b="1">
                          <a:solidFill>
                            <a:srgbClr val="F5F7FB"/>
                          </a:solidFill>
                          <a:latin typeface="Segoe UI"/>
                        </a:rPr>
                        <a:t>GPU</a:t>
                      </a:r>
                    </a:p>
                  </a:txBody>
                  <a:tcPr marL="101600" marR="101600" marT="50800" marB="50800" anchor="ctr">
                    <a:solidFill>
                      <a:srgbClr val="121319"/>
                    </a:solidFill>
                  </a:tcPr>
                </a:tc>
                <a:tc>
                  <a:txBody>
                    <a:bodyPr wrap="square"/>
                    <a:lstStyle/>
                    <a:p>
                      <a:r>
                        <a:rPr sz="1200" b="0">
                          <a:solidFill>
                            <a:srgbClr val="B8C0CF"/>
                          </a:solidFill>
                          <a:latin typeface="Segoe UI"/>
                        </a:rPr>
                        <a:t>Graphics Processing Unit</a:t>
                      </a:r>
                    </a:p>
                  </a:txBody>
                  <a:tcPr marL="101600" marR="101600" marT="50800" marB="50800" anchor="ctr">
                    <a:solidFill>
                      <a:srgbClr val="121319"/>
                    </a:solidFill>
                  </a:tcPr>
                </a:tc>
                <a:tc>
                  <a:txBody>
                    <a:bodyPr wrap="square"/>
                    <a:lstStyle/>
                    <a:p>
                      <a:r>
                        <a:rPr sz="1200" b="0">
                          <a:solidFill>
                            <a:srgbClr val="B8C0CF"/>
                          </a:solidFill>
                          <a:latin typeface="Segoe UI"/>
                        </a:rPr>
                        <a:t>The shared compute hardware most inference workloads depend on</a:t>
                      </a:r>
                    </a:p>
                  </a:txBody>
                  <a:tcPr marL="101600" marR="101600" marT="50800" marB="50800" anchor="ctr">
                    <a:solidFill>
                      <a:srgbClr val="121319"/>
                    </a:solidFill>
                  </a:tcPr>
                </a:tc>
              </a:tr>
              <a:tr h="467360">
                <a:tc>
                  <a:txBody>
                    <a:bodyPr wrap="square"/>
                    <a:lstStyle/>
                    <a:p>
                      <a:r>
                        <a:rPr sz="1200" b="1">
                          <a:solidFill>
                            <a:srgbClr val="F5F7FB"/>
                          </a:solidFill>
                          <a:latin typeface="Segoe UI"/>
                        </a:rPr>
                        <a:t>IAM</a:t>
                      </a:r>
                    </a:p>
                  </a:txBody>
                  <a:tcPr marL="101600" marR="101600" marT="50800" marB="50800" anchor="ctr">
                    <a:solidFill>
                      <a:srgbClr val="141519"/>
                    </a:solidFill>
                  </a:tcPr>
                </a:tc>
                <a:tc>
                  <a:txBody>
                    <a:bodyPr wrap="square"/>
                    <a:lstStyle/>
                    <a:p>
                      <a:r>
                        <a:rPr sz="1200" b="0">
                          <a:solidFill>
                            <a:srgbClr val="B8C0CF"/>
                          </a:solidFill>
                          <a:latin typeface="Segoe UI"/>
                        </a:rPr>
                        <a:t>Identity and Access Management</a:t>
                      </a:r>
                    </a:p>
                  </a:txBody>
                  <a:tcPr marL="101600" marR="101600" marT="50800" marB="50800" anchor="ctr">
                    <a:solidFill>
                      <a:srgbClr val="141519"/>
                    </a:solidFill>
                  </a:tcPr>
                </a:tc>
                <a:tc>
                  <a:txBody>
                    <a:bodyPr wrap="square"/>
                    <a:lstStyle/>
                    <a:p>
                      <a:r>
                        <a:rPr sz="1200" b="0">
                          <a:solidFill>
                            <a:srgbClr val="B8C0CF"/>
                          </a:solidFill>
                          <a:latin typeface="Segoe UI"/>
                        </a:rPr>
                        <a:t>The cloud-provider system governing the identity and privilege examined in Objective 9.3</a:t>
                      </a:r>
                    </a:p>
                  </a:txBody>
                  <a:tcPr marL="101600" marR="101600" marT="50800" marB="50800" anchor="ctr">
                    <a:solidFill>
                      <a:srgbClr val="141519"/>
                    </a:solidFill>
                  </a:tcPr>
                </a:tc>
              </a:tr>
              <a:tr h="467360">
                <a:tc>
                  <a:txBody>
                    <a:bodyPr wrap="square"/>
                    <a:lstStyle/>
                    <a:p>
                      <a:r>
                        <a:rPr sz="1200" b="1">
                          <a:solidFill>
                            <a:srgbClr val="F5F7FB"/>
                          </a:solidFill>
                          <a:latin typeface="Segoe UI"/>
                        </a:rPr>
                        <a:t>SSRF</a:t>
                      </a:r>
                    </a:p>
                  </a:txBody>
                  <a:tcPr marL="101600" marR="101600" marT="50800" marB="50800" anchor="ctr">
                    <a:solidFill>
                      <a:srgbClr val="121319"/>
                    </a:solidFill>
                  </a:tcPr>
                </a:tc>
                <a:tc>
                  <a:txBody>
                    <a:bodyPr wrap="square"/>
                    <a:lstStyle/>
                    <a:p>
                      <a:r>
                        <a:rPr sz="1200" b="0">
                          <a:solidFill>
                            <a:srgbClr val="B8C0CF"/>
                          </a:solidFill>
                          <a:latin typeface="Segoe UI"/>
                        </a:rPr>
                        <a:t>Server-Side Request Forgery</a:t>
                      </a:r>
                    </a:p>
                  </a:txBody>
                  <a:tcPr marL="101600" marR="101600" marT="50800" marB="50800" anchor="ctr">
                    <a:solidFill>
                      <a:srgbClr val="121319"/>
                    </a:solidFill>
                  </a:tcPr>
                </a:tc>
                <a:tc>
                  <a:txBody>
                    <a:bodyPr wrap="square"/>
                    <a:lstStyle/>
                    <a:p>
                      <a:r>
                        <a:rPr sz="1200" b="0">
                          <a:solidFill>
                            <a:srgbClr val="B8C0CF"/>
                          </a:solidFill>
                          <a:latin typeface="Segoe UI"/>
                        </a:rPr>
                        <a:t>The general mechanism referenced conceptually behind metadata-service credential exposure</a:t>
                      </a:r>
                    </a:p>
                  </a:txBody>
                  <a:tcPr marL="101600" marR="101600" marT="50800" marB="50800" anchor="ctr">
                    <a:solidFill>
                      <a:srgbClr val="121319"/>
                    </a:solidFill>
                  </a:tcPr>
                </a:tc>
              </a:tr>
              <a:tr h="467360">
                <a:tc>
                  <a:txBody>
                    <a:bodyPr wrap="square"/>
                    <a:lstStyle/>
                    <a:p>
                      <a:r>
                        <a:rPr sz="1200" b="1">
                          <a:solidFill>
                            <a:srgbClr val="F5F7FB"/>
                          </a:solidFill>
                          <a:latin typeface="Segoe UI"/>
                        </a:rPr>
                        <a:t>KV cache</a:t>
                      </a:r>
                    </a:p>
                  </a:txBody>
                  <a:tcPr marL="101600" marR="101600" marT="50800" marB="50800" anchor="ctr">
                    <a:solidFill>
                      <a:srgbClr val="141519"/>
                    </a:solidFill>
                  </a:tcPr>
                </a:tc>
                <a:tc>
                  <a:txBody>
                    <a:bodyPr wrap="square"/>
                    <a:lstStyle/>
                    <a:p>
                      <a:r>
                        <a:rPr sz="1200" b="0">
                          <a:solidFill>
                            <a:srgbClr val="B8C0CF"/>
                          </a:solidFill>
                          <a:latin typeface="Segoe UI"/>
                        </a:rPr>
                        <a:t>Key-Value cache</a:t>
                      </a:r>
                    </a:p>
                  </a:txBody>
                  <a:tcPr marL="101600" marR="101600" marT="50800" marB="50800" anchor="ctr">
                    <a:solidFill>
                      <a:srgbClr val="141519"/>
                    </a:solidFill>
                  </a:tcPr>
                </a:tc>
                <a:tc>
                  <a:txBody>
                    <a:bodyPr wrap="square"/>
                    <a:lstStyle/>
                    <a:p>
                      <a:r>
                        <a:rPr sz="1200" b="0">
                          <a:solidFill>
                            <a:srgbClr val="B8C0CF"/>
                          </a:solidFill>
                          <a:latin typeface="Segoe UI"/>
                        </a:rPr>
                        <a:t>A serving-framework optimisation whose misconfiguration can cause cross-request leakage</a:t>
                      </a:r>
                    </a:p>
                  </a:txBody>
                  <a:tcPr marL="101600" marR="101600" marT="50800" marB="50800" anchor="ctr">
                    <a:solidFill>
                      <a:srgbClr val="141519"/>
                    </a:solidFill>
                  </a:tcPr>
                </a:tc>
              </a:tr>
              <a:tr h="467360">
                <a:tc>
                  <a:txBody>
                    <a:bodyPr wrap="square"/>
                    <a:lstStyle/>
                    <a:p>
                      <a:r>
                        <a:rPr sz="1200" b="1">
                          <a:solidFill>
                            <a:srgbClr val="F5F7FB"/>
                          </a:solidFill>
                          <a:latin typeface="Segoe UI"/>
                        </a:rPr>
                        <a:t>OWASP</a:t>
                      </a:r>
                    </a:p>
                  </a:txBody>
                  <a:tcPr marL="101600" marR="101600" marT="50800" marB="50800" anchor="ctr">
                    <a:solidFill>
                      <a:srgbClr val="1213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21319"/>
                    </a:solidFill>
                  </a:tcPr>
                </a:tc>
                <a:tc>
                  <a:txBody>
                    <a:bodyPr wrap="square"/>
                    <a:lstStyle/>
                    <a:p>
                      <a:r>
                        <a:rPr sz="1200" b="0">
                          <a:solidFill>
                            <a:srgbClr val="B8C0CF"/>
                          </a:solidFill>
                          <a:latin typeface="Segoe UI"/>
                        </a:rPr>
                        <a:t>Publisher of the Top 10 for LLM Applications used throughout</a:t>
                      </a:r>
                    </a:p>
                  </a:txBody>
                  <a:tcPr marL="101600" marR="101600" marT="50800" marB="50800" anchor="ctr">
                    <a:solidFill>
                      <a:srgbClr val="121319"/>
                    </a:solidFill>
                  </a:tcPr>
                </a:tc>
              </a:tr>
              <a:tr h="467360">
                <a:tc>
                  <a:txBody>
                    <a:bodyPr wrap="square"/>
                    <a:lstStyle/>
                    <a:p>
                      <a:r>
                        <a:rPr sz="1200" b="1">
                          <a:solidFill>
                            <a:srgbClr val="F5F7FB"/>
                          </a:solidFill>
                          <a:latin typeface="Segoe UI"/>
                        </a:rPr>
                        <a:t>ATLAS</a:t>
                      </a:r>
                    </a:p>
                  </a:txBody>
                  <a:tcPr marL="101600" marR="101600" marT="50800" marB="50800" anchor="ctr">
                    <a:solidFill>
                      <a:srgbClr val="1415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41519"/>
                    </a:solidFill>
                  </a:tcPr>
                </a:tc>
                <a:tc>
                  <a:txBody>
                    <a:bodyPr wrap="square"/>
                    <a:lstStyle/>
                    <a:p>
                      <a:r>
                        <a:rPr sz="1200" b="0">
                          <a:solidFill>
                            <a:srgbClr val="B8C0CF"/>
                          </a:solidFill>
                          <a:latin typeface="Segoe UI"/>
                        </a:rPr>
                        <a:t>Complementary adversary-behaviour framework referenced throughout the course</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ATLAS and the six-layer attack surface from Module 1 remain in active use throughout this module's methodology.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10</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'INFRASTRUCTURE RISK IS NOT REALLY AN AI RED-TEAMING TOPIC'</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infrastructure is where every AI-specific finding from Modules 2 to 8 can be escalated into full compromise — it is squarely in scope.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SERVICE THAT STAYS ONLINE WAS NOT SUCCESSFULLY ATTACKED'</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denial of wallet can succeed completely while availability remains unaffected — cost, not uptime, is the property under attack.</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'MANAGEMENT INTERFACES ARE SAFE BECAUSE THEY ARE INTERNAL-ONLY'</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network position alone is not authentication — an internal-only assumption is exactly the exposure this module teaches you to test.</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'CLOUD PRIVILEGE ESCALATION IS OUT OF SCOPE FOR AN AI ENGAGEMENT'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an over-privileged serving identity is a direct, common consequence of AI infrastructure provisioning and a legitimate part of the assessment.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During an engagement, a tester sends a sustained stream of individually ordinary-looking requests, each requesting the maximum allowed context length and output length. The target service remains fully available throughout, but its inference billing rises sharply above baseline. What best describes this finding?</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 denial-of-service attack, since availability was the property targeted</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Denial of wallet, since cost was inflated by exploiting a resource asymmetry without affecting availability</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Cross-request data leakage, since multiple requests were involved</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 cloud-identity privilege escalation, since infrastructure cost was affected</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The service stayed fully available, ruling out a classic availability-focused denial-of-service finding; no data crossed between requests, ruling out leakage; and no privilege or identity was involved. The defining fact — cost inflated via a resource asymmetry, with availability unaffected — is denial of wallet, Objective 9.4.</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Map the AI infrastructure and deployment layer across serving, API, identity, and compute components</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exposure risk in model-serving APIs and management interfaces, and recognise cross-request data leakage</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how excess privilege on AI infrastructure escalates a serving-process foothold into a broader cloud-account compromise</a:t>
            </a:r>
          </a:p>
          <a:p>
            <a:pPr algn="l">
              <a:spcBef>
                <a:spcPts val="0"/>
              </a:spcBef>
              <a:spcAft>
                <a:spcPts val="1200"/>
              </a:spcAft>
            </a:pPr>
            <a:r>
              <a:rPr sz="1500" b="1">
                <a:solidFill>
                  <a:srgbClr val="FF6A00"/>
                </a:solidFill>
                <a:latin typeface="Segoe UI"/>
              </a:rPr>
              <a:t>✓  </a:t>
            </a:r>
            <a:r>
              <a:rPr sz="1500" b="0">
                <a:solidFill>
                  <a:srgbClr val="F5F7FB"/>
                </a:solidFill>
                <a:latin typeface="Segoe UI"/>
              </a:rPr>
              <a:t>Distinguish denial of wallet from conventional denial of service, and describe the resource asymmetries that enable it</a:t>
            </a:r>
          </a:p>
          <a:p>
            <a:pPr algn="l">
              <a:spcBef>
                <a:spcPts val="0"/>
              </a:spcBef>
              <a:spcAft>
                <a:spcPts val="1200"/>
              </a:spcAft>
            </a:pPr>
            <a:r>
              <a:rPr sz="1500" b="1">
                <a:solidFill>
                  <a:srgbClr val="FF6A00"/>
                </a:solidFill>
                <a:latin typeface="Segoe UI"/>
              </a:rPr>
              <a:t>✓  </a:t>
            </a:r>
            <a:r>
              <a:rPr sz="1500" b="0">
                <a:solidFill>
                  <a:srgbClr val="F5F7FB"/>
                </a:solidFill>
                <a:latin typeface="Segoe UI"/>
              </a:rPr>
              <a:t>Recognise multi-tenant resource isolation failure as the compute-layer counterpart to Module 6's data-isolation risk</a:t>
            </a:r>
          </a:p>
          <a:p>
            <a:pPr algn="l">
              <a:spcBef>
                <a:spcPts val="0"/>
              </a:spcBef>
              <a:spcAft>
                <a:spcPts val="1200"/>
              </a:spcAft>
            </a:pPr>
            <a:r>
              <a:rPr sz="1500" b="1">
                <a:solidFill>
                  <a:srgbClr val="FF6A00"/>
                </a:solidFill>
                <a:latin typeface="Segoe UI"/>
              </a:rPr>
              <a:t>✓  </a:t>
            </a:r>
            <a:r>
              <a:rPr sz="1500" b="0">
                <a:solidFill>
                  <a:srgbClr val="F5F7FB"/>
                </a:solidFill>
                <a:latin typeface="Segoe UI"/>
              </a:rPr>
              <a:t>Map infrastructure findings to OWASP LLM10 where applicable, and recognise when a finding is AI-context but not AI-specific</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10 — Threat Modeling for AI-Enabled Targets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10 shifts from technique-by-technique attack to synthesis — ranking attack paths across everything covered in Modules 1 to 9</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full six-layer attack-surface model from Module 1 becomes the structure threat modeling is built on</a:t>
            </a:r>
          </a:p>
          <a:p>
            <a:pPr algn="l">
              <a:spcBef>
                <a:spcPts val="0"/>
              </a:spcBef>
              <a:spcAft>
                <a:spcPts val="1200"/>
              </a:spcAft>
            </a:pPr>
            <a:r>
              <a:rPr sz="1500" b="1">
                <a:solidFill>
                  <a:srgbClr val="FF6A00"/>
                </a:solidFill>
                <a:latin typeface="Segoe UI"/>
              </a:rPr>
              <a:t>✓  </a:t>
            </a:r>
            <a:r>
              <a:rPr sz="1500" b="0">
                <a:solidFill>
                  <a:srgbClr val="F5F7FB"/>
                </a:solidFill>
                <a:latin typeface="Segoe UI"/>
              </a:rPr>
              <a:t>Every framework mapping from Modules 2 to 9 — OWASP LLM01 through LLM10, and MITRE ATLAS — becomes an input to prioritisation, not just a labelling exercise</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the target-inventory habit from Module 2 close — Module 10 assumes a documented inventory exists before ranking attack paths against it</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