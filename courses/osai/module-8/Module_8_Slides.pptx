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Module 8 of the Offensive Security AI Red Teamer (OSAI) course. Modules 2 to 7 attacked components an organisation deployed and configured itself; Module 8 steps back one layer further, to everything that arrived pre-built from the outside — pre-trained model weights, third-party datasets, plugins and tools, and the ML libraries pulled from public package registries. We cover malicious and backdoored models, unsafe deserialization in model-file formats, and poisoning of datasets and dependencies. Everything here is conceptual and methodological — no runnable exploit code, no specific product names or CVEs, and no lab references, in line with the MCA no-labs rule.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module as the first fully upstream module. Everything taught here happens before an application is ever deployed — a compromised supply-chain component becomes every downstream target's problem at once.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Orient learners: this is Module 8 of 11. Reinforce that supply-chain compromise sits upstream of every earlier component module — a poisoned model or dataset can undermine defences built at the application, agent, or RAG layer entirely.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mental model before the detailed map in Objective 8.1. The key idea: supply-chain risk is not about what an organisation does wrong operationally, but about what it inherited without verifying.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8.1. Before attacking anything, we map everything a deployment did not build in-house — the shared vocabulary and target map for the rest of the module.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definition before the component detail. The key idea: supply-chain risk is inherited risk — a deployment can be flawless at every layer covered so far and still be compromised through something it never built or reviewed.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this as the direct expansion of Module 1, Objective 1.2's supply-chain layer. Every remaining objective in this module attacks one or more of these four categories specifically.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component Objective 8.2 attacks in depth. For now, just establish that model weights are downloaded, not built, and that this download step is itself a trust decision most deployments make without much scrutiny.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at the category level — learners do not need to name specific hubs, registries, or products. The skill is recognising that each of these categories is a distinct entry point, not a single generic 'supply chain' risk.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both backlinks explicit and specific. Learners should be able to say, unprompted, which module first named the supply-chain layer and which module taught them how to discover named components before ever attacking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table as the module's index, exactly as Module 5's pipeline-stage table indexed that module. Every remaining objective attacks exactly one or two rows.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this back to Objective 8.1's core lesson: supply-chain compromise is attractive precisely because it multiplies effort — one upstream action can affect every deployment that inherited the trust decision.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is easy to overlook because it feels like traditional software-supply-chain territory — reinforce that it applies identically to models, datasets, and ML libraries, not just application code.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closing workflow for Objective 8.1 is the methodology backbone the rest of the module fills in with technique. It is the supply-chain-specific analogue of Module 2's recon workflow.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8.2. We attack the model artefact itself: the risk that a pre-trained model downloaded from a public hub contains hidden, trigger-conditioned behaviour.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definition against Objective 8.1's model-weights component: this objective attacks that exact artefact. Keep the coverage conceptual — learners need to recognise the risk category, not construct a trigger themselves.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firmly conceptual. The exam-relevant fact is that a backdoor is conditional and can therefore evade routine testing — not how an attacker would go about building one, which this course does not teach.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Learners often conflate 'this model behaves badly sometimes' with 'this model is backdoored'. Reinforce that a backdoor is specifically deliberate and trigger-conditioned — most bad behaviour observed in practice is the far more mundane ordinary-flaw case.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myth of Objective 8.2 — make sure learners can articulate, unprompted, why popularity is a weak trust signal. It directly sets up the assessment mindset needed for Module 8's methodology overall.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this pattern to show how default trust accumulates without ever being tested. Step 4 is the crux: most deployments never specifically test for backdoored behaviour, because doing so is neither obvious nor standard practice.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single practice is sufficient on its own — this is an assessment aid for engagement reporting, showing why layered verification (and reduced privilege by default) matters more than any one check.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the Module 1 habit of citing both frameworks. LLM03 is the primary mapping for this whole module; note it once here so later objectives can reference it without repeating the full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this back to Module 2's recon discipline: these are observational signals to log and escalate, not proof of a backdoor. Confirming an actual backdoor is well outside what black-box testing can reliably establish.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8.3. We attack the file format itself: some model-serialisation formats can execute code when loaded, so simply loading an untrusted model file can compromise the host.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this as the AI analogue of a well-established software-security risk category, not a novel one. The genuinely new element is that the vulnerable artefact — a 'model file' — does not look like executable code to most people handling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mechanism slide in Objective 8.3. Stress the counter-intuitive part explicitly: there is no visible 'run' step for the victim to hesitate over — the compromise occurs during what looks like ordinary loading.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generic and format-agnostic rather than naming specific libraries — the assessable skill is recognising the category distinction and choosing accordingly, not memorising a specific format's internals.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mitigations at the conceptual, format-and-practice level — no specific library names or CVEs. The assessable skill is knowing this mitigation set exists and why each item addresses part of the risk.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conceptual analogue of a secure-deserialization checklist from traditional application security, adapted for the model-loading step specifically. No lab exercise accompanies this — it is assessed as methodology knowledge only.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table as a quick assessment reference. Each row pairs a concrete risk factor with the mitigation from the previous slide that most directly addresses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conceptual review checklist for exam recognition, not runnable exploit content — there is no lab component to this course. Use it to help learners structure a model-file risk assessment during an engagement or report.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that 8.2 and 8.3 are distinct findings that can co-occur: a backdoor is about the weights' behaviour, unsafe deserialization is about the format those weights are packaged in.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8.4. We complete the supply-chain toolkit: poisoning a public dataset used for training or fine-tuning, and typosquatting on ML package names as a dependency-confusion vector.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definition against the Module 5 parallel immediately — most learners will recognise the poisoning concept already and need to see precisely how the training-time variant differs, covered fully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module's central exam trap: learners who studied Module 5 will want to call every poisoning scenario 'RAG poisoning'. The training-vs-retrieval distinction, and the persistence-after-removal test, resolve it every time.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dependency-confusion-style attack, not a model-weights attack — tie it back to Objective 8.1's LIB category. The mechanism is deliberately generic software-supply-chain risk, applied to the ML ecosystem specifically.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at the pattern-recognition level — the assessable skill is recognising these patterns during a supply-chain review, not crafting a typosquatted package name.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this lifecycle end to end. Step 3 is the crux: the victim need not be individually targeted at all — an ordinary typo or a misconfigured package source is sufficient to trigger the compromise.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closes the loop across the whole module: LLM03 covers compromised artefacts and dependencies, LLM04 covers poisoned data regardless of whether it acts at training time or retrieval time.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Objective 8.4 with practice, not just recognition. These mitigations mirror standard software-supply-chain hygiene, applied specifically to datasets and ML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this back to Module 2's recon discipline once more: these are observational signals to log and escalate as part of a supply-chain inventory, not proof of poisoning on their own.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 the module's vocabulary. LLM03 and LLM04 recur throughout the rest of the course whenever a finding traces back to an externally-sourced component.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Directly confront the misconceptions learners typically carry from the earlier, more interactive modules. The third myth is the most commonly confused pair after Module 5 — reinforce it once more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OSAI is assessed by a 24-hour practical engagement, not percentage-weighted domains. Per the source-of-truth rule we do not invent a weighting; we state plainly that none is published. Supply-chain findings are graded on whether they are correctly attributed to the right component and framework category.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to check whether learners can distinguish Objective 8.2 from the module's other three findings. Wrong answers are instructive: A requires a retrieval pipeline, C requires a compromised package, D requires compromise at load time, not inference time.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module against its four objectives. Every technique here assumed an externally-sourced component was already identified — if learners are unsure how that identification happens, revisit Module 2, Objective 2.1 before Module 9.</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Module 9. Reinforce continuity: this module treated the model and its dependencies as artefacts arriving from outside; the next module examines the infrastructure that hosts and serves them. Encourage completion of the module's PBQ and flashcards to consolidate the dataset-vs-RAG-poisoning distinction first.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0058400" cy="45720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OSAI (AI-300) · MODULE 8 OF 11</a:t>
            </a:r>
          </a:p>
        </p:txBody>
      </p:sp>
      <p:sp>
        <p:nvSpPr>
          <p:cNvPr id="5" name="TextBox 4"/>
          <p:cNvSpPr txBox="1"/>
          <p:nvPr/>
        </p:nvSpPr>
        <p:spPr>
          <a:xfrm>
            <a:off x="548640" y="2331720"/>
            <a:ext cx="11064240" cy="1828800"/>
          </a:xfrm>
          <a:prstGeom prst="rect">
            <a:avLst/>
          </a:prstGeom>
          <a:noFill/>
        </p:spPr>
        <p:txBody>
          <a:bodyPr wrap="square" anchor="t" lIns="25400" rIns="25400" tIns="25400" bIns="25400">
            <a:spAutoFit/>
          </a:bodyPr>
          <a:lstStyle/>
          <a:p>
            <a:pPr algn="l">
              <a:spcBef>
                <a:spcPts val="0"/>
              </a:spcBef>
              <a:spcAft>
                <a:spcPts val="600"/>
              </a:spcAft>
            </a:pPr>
            <a:r>
              <a:rPr sz="5200" b="1">
                <a:solidFill>
                  <a:srgbClr val="F5F7FB"/>
                </a:solidFill>
                <a:latin typeface="Segoe UI"/>
              </a:rPr>
              <a:t>AI Supply Chain Attacks</a:t>
            </a:r>
          </a:p>
        </p:txBody>
      </p:sp>
      <p:sp>
        <p:nvSpPr>
          <p:cNvPr id="6" name="TextBox 5"/>
          <p:cNvSpPr txBox="1"/>
          <p:nvPr/>
        </p:nvSpPr>
        <p:spPr>
          <a:xfrm>
            <a:off x="566928" y="4297680"/>
            <a:ext cx="10515600" cy="914400"/>
          </a:xfrm>
          <a:prstGeom prst="rect">
            <a:avLst/>
          </a:prstGeom>
          <a:noFill/>
        </p:spPr>
        <p:txBody>
          <a:bodyPr wrap="square" anchor="t" lIns="25400" rIns="25400" tIns="25400" bIns="25400">
            <a:spAutoFit/>
          </a:bodyPr>
          <a:lstStyle/>
          <a:p>
            <a:pPr algn="l">
              <a:spcBef>
                <a:spcPts val="0"/>
              </a:spcBef>
              <a:spcAft>
                <a:spcPts val="600"/>
              </a:spcAft>
            </a:pPr>
            <a:r>
              <a:rPr sz="2000" b="0">
                <a:solidFill>
                  <a:srgbClr val="B8C0CF"/>
                </a:solidFill>
                <a:latin typeface="Segoe UI"/>
              </a:rPr>
              <a:t>Everything a deployment did not build in-house — model weights, datasets, plugins, and libraries pulled from public sources — and how trust in that chain is exploited</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LEARNING OBJECTIVES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By the end of this module, you will be able to</a:t>
            </a:r>
          </a:p>
        </p:txBody>
      </p:sp>
      <p:sp>
        <p:nvSpPr>
          <p:cNvPr id="6" name="Rounded Rectangle 5"/>
          <p:cNvSpPr/>
          <p:nvPr/>
        </p:nvSpPr>
        <p:spPr>
          <a:xfrm>
            <a:off x="548640" y="1828800"/>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8.1</a:t>
            </a:r>
          </a:p>
        </p:txBody>
      </p:sp>
      <p:sp>
        <p:nvSpPr>
          <p:cNvPr id="8" name="TextBox 7"/>
          <p:cNvSpPr txBox="1"/>
          <p:nvPr/>
        </p:nvSpPr>
        <p:spPr>
          <a:xfrm>
            <a:off x="1600200" y="1828800"/>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Map the AI supply chain — pre-trained models, third-party datasets, plugins/tools, and ML libraries pulled from public sources</a:t>
            </a:r>
          </a:p>
        </p:txBody>
      </p:sp>
      <p:sp>
        <p:nvSpPr>
          <p:cNvPr id="9" name="Rounded Rectangle 8"/>
          <p:cNvSpPr/>
          <p:nvPr/>
        </p:nvSpPr>
        <p:spPr>
          <a:xfrm>
            <a:off x="6263640" y="1828800"/>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920240"/>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8.2</a:t>
            </a:r>
          </a:p>
        </p:txBody>
      </p:sp>
      <p:sp>
        <p:nvSpPr>
          <p:cNvPr id="11" name="TextBox 10"/>
          <p:cNvSpPr txBox="1"/>
          <p:nvPr/>
        </p:nvSpPr>
        <p:spPr>
          <a:xfrm>
            <a:off x="7315200" y="1828800"/>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Explain the risk of malicious and backdoored models trusted from a public model hub without independent verification</a:t>
            </a:r>
          </a:p>
        </p:txBody>
      </p:sp>
      <p:sp>
        <p:nvSpPr>
          <p:cNvPr id="12" name="Rounded Rectangle 11"/>
          <p:cNvSpPr/>
          <p:nvPr/>
        </p:nvSpPr>
        <p:spPr>
          <a:xfrm>
            <a:off x="548640" y="2798064"/>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889504"/>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8.3</a:t>
            </a:r>
          </a:p>
        </p:txBody>
      </p:sp>
      <p:sp>
        <p:nvSpPr>
          <p:cNvPr id="14" name="TextBox 13"/>
          <p:cNvSpPr txBox="1"/>
          <p:nvPr/>
        </p:nvSpPr>
        <p:spPr>
          <a:xfrm>
            <a:off x="1600200" y="2798064"/>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Explain unsafe deserialization and model-file risk — why loading an untrusted model file can compromise the host</a:t>
            </a:r>
          </a:p>
        </p:txBody>
      </p:sp>
      <p:sp>
        <p:nvSpPr>
          <p:cNvPr id="15" name="Rounded Rectangle 14"/>
          <p:cNvSpPr/>
          <p:nvPr/>
        </p:nvSpPr>
        <p:spPr>
          <a:xfrm>
            <a:off x="6263640" y="2798064"/>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889504"/>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8.4</a:t>
            </a:r>
          </a:p>
        </p:txBody>
      </p:sp>
      <p:sp>
        <p:nvSpPr>
          <p:cNvPr id="17" name="TextBox 16"/>
          <p:cNvSpPr txBox="1"/>
          <p:nvPr/>
        </p:nvSpPr>
        <p:spPr>
          <a:xfrm>
            <a:off x="7315200" y="2798064"/>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Describe dataset poisoning as an upstream variant of RAG-corpus poisoning, and dependency confusion via typosquatted ML packages</a:t>
            </a:r>
          </a:p>
        </p:txBody>
      </p:sp>
      <p:sp>
        <p:nvSpPr>
          <p:cNvPr id="18" name="TextBox 17"/>
          <p:cNvSpPr txBox="1"/>
          <p:nvPr/>
        </p:nvSpPr>
        <p:spPr>
          <a:xfrm>
            <a:off x="548640" y="3813048"/>
            <a:ext cx="11064240" cy="914400"/>
          </a:xfrm>
          <a:prstGeom prst="rect">
            <a:avLst/>
          </a:prstGeom>
          <a:noFill/>
        </p:spPr>
        <p:txBody>
          <a:bodyPr wrap="square" anchor="t" lIns="25400" rIns="25400" tIns="25400" bIns="25400">
            <a:spAutoFit/>
          </a:bodyPr>
          <a:lstStyle/>
          <a:p>
            <a:pPr algn="l">
              <a:spcBef>
                <a:spcPts val="0"/>
              </a:spcBef>
              <a:spcAft>
                <a:spcPts val="600"/>
              </a:spcAft>
            </a:pPr>
            <a:r>
              <a:rPr sz="1400" b="0">
                <a:solidFill>
                  <a:srgbClr val="B8C0CF"/>
                </a:solidFill>
                <a:latin typeface="Segoe UI"/>
              </a:rPr>
              <a:t>Objective 8.1 maps the chain itself; 8.2 attacks the model artefact at the centre of it; 8.3 attacks the file format that artefact is delivered in; 8.4 attacks the data and dependencies feeding training and deployment around it.</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COURSE CONTEXT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Where this module sits in OSAI</a:t>
            </a:r>
          </a:p>
        </p:txBody>
      </p:sp>
      <p:sp>
        <p:nvSpPr>
          <p:cNvPr id="6" name="Rounded Rectangle 5"/>
          <p:cNvSpPr/>
          <p:nvPr/>
        </p:nvSpPr>
        <p:spPr>
          <a:xfrm>
            <a:off x="548640"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M1–7</a:t>
            </a:r>
          </a:p>
        </p:txBody>
      </p:sp>
      <p:sp>
        <p:nvSpPr>
          <p:cNvPr id="8" name="TextBox 7"/>
          <p:cNvSpPr txBox="1"/>
          <p:nvPr/>
        </p:nvSpPr>
        <p:spPr>
          <a:xfrm>
            <a:off x="658368"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Foundations &amp; components</a:t>
            </a:r>
          </a:p>
        </p:txBody>
      </p:sp>
      <p:sp>
        <p:nvSpPr>
          <p:cNvPr id="9" name="TextBox 8"/>
          <p:cNvSpPr txBox="1"/>
          <p:nvPr/>
        </p:nvSpPr>
        <p:spPr>
          <a:xfrm>
            <a:off x="685800"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Definitions, recon, agents, multi-agent/A2A, RAG, embeddings, MCP/tools — complete</a:t>
            </a:r>
          </a:p>
        </p:txBody>
      </p:sp>
      <p:sp>
        <p:nvSpPr>
          <p:cNvPr id="10" name="Rounded Rectangle 9"/>
          <p:cNvSpPr/>
          <p:nvPr/>
        </p:nvSpPr>
        <p:spPr>
          <a:xfrm>
            <a:off x="4337304" y="2057400"/>
            <a:ext cx="3514344" cy="3291840"/>
          </a:xfrm>
          <a:prstGeom prst="roundRect">
            <a:avLst/>
          </a:prstGeom>
          <a:solidFill>
            <a:srgbClr val="141519"/>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7304"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M8</a:t>
            </a:r>
          </a:p>
        </p:txBody>
      </p:sp>
      <p:sp>
        <p:nvSpPr>
          <p:cNvPr id="12" name="TextBox 11"/>
          <p:cNvSpPr txBox="1"/>
          <p:nvPr/>
        </p:nvSpPr>
        <p:spPr>
          <a:xfrm>
            <a:off x="4447032"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AI supply chain attacks</a:t>
            </a:r>
          </a:p>
        </p:txBody>
      </p:sp>
      <p:sp>
        <p:nvSpPr>
          <p:cNvPr id="13" name="TextBox 12"/>
          <p:cNvSpPr txBox="1"/>
          <p:nvPr/>
        </p:nvSpPr>
        <p:spPr>
          <a:xfrm>
            <a:off x="4474464"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Malicious models, unsafe deserialization, dataset and dependency poisoning — current</a:t>
            </a:r>
          </a:p>
        </p:txBody>
      </p:sp>
      <p:sp>
        <p:nvSpPr>
          <p:cNvPr id="14" name="Rounded Rectangle 13"/>
          <p:cNvSpPr/>
          <p:nvPr/>
        </p:nvSpPr>
        <p:spPr>
          <a:xfrm>
            <a:off x="8125968"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5968"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M9–11</a:t>
            </a:r>
          </a:p>
        </p:txBody>
      </p:sp>
      <p:sp>
        <p:nvSpPr>
          <p:cNvPr id="16" name="TextBox 15"/>
          <p:cNvSpPr txBox="1"/>
          <p:nvPr/>
        </p:nvSpPr>
        <p:spPr>
          <a:xfrm>
            <a:off x="8235696"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Infrastructure onward</a:t>
            </a:r>
          </a:p>
        </p:txBody>
      </p:sp>
      <p:sp>
        <p:nvSpPr>
          <p:cNvPr id="17" name="TextBox 16"/>
          <p:cNvSpPr txBox="1"/>
          <p:nvPr/>
        </p:nvSpPr>
        <p:spPr>
          <a:xfrm>
            <a:off x="8263128"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AI infrastructure and deployment, threat modeling, capstone engagement</a:t>
            </a:r>
          </a:p>
        </p:txBody>
      </p:sp>
      <p:sp>
        <p:nvSpPr>
          <p:cNvPr id="18" name="TextBox 17"/>
          <p:cNvSpPr txBox="1"/>
          <p:nvPr/>
        </p:nvSpPr>
        <p:spPr>
          <a:xfrm>
            <a:off x="548640" y="5669280"/>
            <a:ext cx="11064240" cy="64008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OSAI exam: a 24-hour proctored, hands-on engagement against a realistic AI-enabled enterprise, plus a professional report. Domain weightings: Information not defined in the official exam outline — the exam is engagement-based, not percentage-weighted.</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ORIENTATION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AI supply chain at a glance</a:t>
            </a:r>
          </a:p>
        </p:txBody>
      </p:sp>
      <p:sp>
        <p:nvSpPr>
          <p:cNvPr id="6" name="Rounded Rectangle 5"/>
          <p:cNvSpPr/>
          <p:nvPr/>
        </p:nvSpPr>
        <p:spPr>
          <a:xfrm>
            <a:off x="548640"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BUILD</a:t>
            </a:r>
          </a:p>
        </p:txBody>
      </p:sp>
      <p:sp>
        <p:nvSpPr>
          <p:cNvPr id="8" name="TextBox 7"/>
          <p:cNvSpPr txBox="1"/>
          <p:nvPr/>
        </p:nvSpPr>
        <p:spPr>
          <a:xfrm>
            <a:off x="658368"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What is built in-house</a:t>
            </a:r>
          </a:p>
        </p:txBody>
      </p:sp>
      <p:sp>
        <p:nvSpPr>
          <p:cNvPr id="9" name="TextBox 8"/>
          <p:cNvSpPr txBox="1"/>
          <p:nvPr/>
        </p:nvSpPr>
        <p:spPr>
          <a:xfrm>
            <a:off x="685800"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The organisation's own application logic, prompts, and configuration around the AI components</a:t>
            </a:r>
          </a:p>
        </p:txBody>
      </p:sp>
      <p:sp>
        <p:nvSpPr>
          <p:cNvPr id="10" name="Rounded Rectangle 9"/>
          <p:cNvSpPr/>
          <p:nvPr/>
        </p:nvSpPr>
        <p:spPr>
          <a:xfrm>
            <a:off x="4337304" y="2057400"/>
            <a:ext cx="3514344" cy="3291840"/>
          </a:xfrm>
          <a:prstGeom prst="roundRect">
            <a:avLst/>
          </a:prstGeom>
          <a:solidFill>
            <a:srgbClr val="141519"/>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7304"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SOURCE</a:t>
            </a:r>
          </a:p>
        </p:txBody>
      </p:sp>
      <p:sp>
        <p:nvSpPr>
          <p:cNvPr id="12" name="TextBox 11"/>
          <p:cNvSpPr txBox="1"/>
          <p:nvPr/>
        </p:nvSpPr>
        <p:spPr>
          <a:xfrm>
            <a:off x="4447032"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What is sourced externally</a:t>
            </a:r>
          </a:p>
        </p:txBody>
      </p:sp>
      <p:sp>
        <p:nvSpPr>
          <p:cNvPr id="13" name="TextBox 12"/>
          <p:cNvSpPr txBox="1"/>
          <p:nvPr/>
        </p:nvSpPr>
        <p:spPr>
          <a:xfrm>
            <a:off x="4474464"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Pre-trained model weights, third-party datasets, plugins/tools, and ML libraries pulled from public registries</a:t>
            </a:r>
          </a:p>
        </p:txBody>
      </p:sp>
      <p:sp>
        <p:nvSpPr>
          <p:cNvPr id="14" name="Rounded Rectangle 13"/>
          <p:cNvSpPr/>
          <p:nvPr/>
        </p:nvSpPr>
        <p:spPr>
          <a:xfrm>
            <a:off x="8125968"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5968"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TRUST</a:t>
            </a:r>
          </a:p>
        </p:txBody>
      </p:sp>
      <p:sp>
        <p:nvSpPr>
          <p:cNvPr id="16" name="TextBox 15"/>
          <p:cNvSpPr txBox="1"/>
          <p:nvPr/>
        </p:nvSpPr>
        <p:spPr>
          <a:xfrm>
            <a:off x="8235696"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The assumption exploited</a:t>
            </a:r>
          </a:p>
        </p:txBody>
      </p:sp>
      <p:sp>
        <p:nvSpPr>
          <p:cNvPr id="17" name="TextBox 16"/>
          <p:cNvSpPr txBox="1"/>
          <p:nvPr/>
        </p:nvSpPr>
        <p:spPr>
          <a:xfrm>
            <a:off x="8263128"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External components are treated as trustworthy by default, with little or no independent verification before use</a:t>
            </a:r>
          </a:p>
        </p:txBody>
      </p:sp>
      <p:sp>
        <p:nvSpPr>
          <p:cNvPr id="18" name="TextBox 17"/>
          <p:cNvSpPr txBox="1"/>
          <p:nvPr/>
        </p:nvSpPr>
        <p:spPr>
          <a:xfrm>
            <a:off x="548640" y="5669280"/>
            <a:ext cx="11064240" cy="64008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Every technique in this module targets the SOURCE column — the parts of a deployment that were never built or reviewed internally. Objective 8.1 maps this column in full; Objectives 8.2 to 8.4 each attack one category within it.</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8.1</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8.1</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The AI supply chain, mapped</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8.1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the AI supply chain?</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The AI supply chain is the set of externally-sourced components a deployment relies on but did not build itself — pre-trained or pre-fine-tuned model weights, third-party datasets, plugins and tools, and the ML libraries and frameworks pulled from public package registries.</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EXISTS</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Building a model, curating a dataset, or writing an ML framework from scratch is rarely practical — nearly every deployment inherits at least one externally-sourced component.</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IT CHANGES FOR ATTACKERS</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Compromising one widely-reused upstream component can affect every downstream deployment that trusts it, without the attacker ever touching a single target directly.</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8.1 · OVERVIEW</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Four categories of externally-sourced components</a:t>
            </a:r>
          </a:p>
        </p:txBody>
      </p:sp>
      <p:sp>
        <p:nvSpPr>
          <p:cNvPr id="6" name="Rounded Rectangle 5"/>
          <p:cNvSpPr/>
          <p:nvPr/>
        </p:nvSpPr>
        <p:spPr>
          <a:xfrm>
            <a:off x="548640" y="2057400"/>
            <a:ext cx="2567178" cy="3291840"/>
          </a:xfrm>
          <a:prstGeom prst="roundRect">
            <a:avLst/>
          </a:prstGeom>
          <a:solidFill>
            <a:srgbClr val="141519"/>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2567178"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MODEL</a:t>
            </a:r>
          </a:p>
        </p:txBody>
      </p:sp>
      <p:sp>
        <p:nvSpPr>
          <p:cNvPr id="8" name="TextBox 7"/>
          <p:cNvSpPr txBox="1"/>
          <p:nvPr/>
        </p:nvSpPr>
        <p:spPr>
          <a:xfrm>
            <a:off x="658368" y="3291840"/>
            <a:ext cx="2347722"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Model weights</a:t>
            </a:r>
          </a:p>
        </p:txBody>
      </p:sp>
      <p:sp>
        <p:nvSpPr>
          <p:cNvPr id="9" name="TextBox 8"/>
          <p:cNvSpPr txBox="1"/>
          <p:nvPr/>
        </p:nvSpPr>
        <p:spPr>
          <a:xfrm>
            <a:off x="685800" y="3931919"/>
            <a:ext cx="2292858"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Pre-trained or pre-fine-tuned weights downloaded from a public model hub</a:t>
            </a:r>
          </a:p>
        </p:txBody>
      </p:sp>
      <p:sp>
        <p:nvSpPr>
          <p:cNvPr id="10" name="Rounded Rectangle 9"/>
          <p:cNvSpPr/>
          <p:nvPr/>
        </p:nvSpPr>
        <p:spPr>
          <a:xfrm>
            <a:off x="3390138" y="2057400"/>
            <a:ext cx="2567178"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90138" y="2286000"/>
            <a:ext cx="2567178"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DATA</a:t>
            </a:r>
          </a:p>
        </p:txBody>
      </p:sp>
      <p:sp>
        <p:nvSpPr>
          <p:cNvPr id="12" name="TextBox 11"/>
          <p:cNvSpPr txBox="1"/>
          <p:nvPr/>
        </p:nvSpPr>
        <p:spPr>
          <a:xfrm>
            <a:off x="3499866" y="3291840"/>
            <a:ext cx="2347722"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Datasets</a:t>
            </a:r>
          </a:p>
        </p:txBody>
      </p:sp>
      <p:sp>
        <p:nvSpPr>
          <p:cNvPr id="13" name="TextBox 12"/>
          <p:cNvSpPr txBox="1"/>
          <p:nvPr/>
        </p:nvSpPr>
        <p:spPr>
          <a:xfrm>
            <a:off x="3527298" y="3931919"/>
            <a:ext cx="2292858"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Third-party datasets used for training, fine-tuning, or evaluation</a:t>
            </a:r>
          </a:p>
        </p:txBody>
      </p:sp>
      <p:sp>
        <p:nvSpPr>
          <p:cNvPr id="14" name="Rounded Rectangle 13"/>
          <p:cNvSpPr/>
          <p:nvPr/>
        </p:nvSpPr>
        <p:spPr>
          <a:xfrm>
            <a:off x="6231636" y="2057400"/>
            <a:ext cx="2567178"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31636" y="2286000"/>
            <a:ext cx="2567178"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PLUGIN</a:t>
            </a:r>
          </a:p>
        </p:txBody>
      </p:sp>
      <p:sp>
        <p:nvSpPr>
          <p:cNvPr id="16" name="TextBox 15"/>
          <p:cNvSpPr txBox="1"/>
          <p:nvPr/>
        </p:nvSpPr>
        <p:spPr>
          <a:xfrm>
            <a:off x="6341364" y="3291840"/>
            <a:ext cx="2347722"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Plugins &amp; tools</a:t>
            </a:r>
          </a:p>
        </p:txBody>
      </p:sp>
      <p:sp>
        <p:nvSpPr>
          <p:cNvPr id="17" name="TextBox 16"/>
          <p:cNvSpPr txBox="1"/>
          <p:nvPr/>
        </p:nvSpPr>
        <p:spPr>
          <a:xfrm>
            <a:off x="6368796" y="3931919"/>
            <a:ext cx="2292858"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Third-party plugins, tools, and extensions integrated into an AI application</a:t>
            </a:r>
          </a:p>
        </p:txBody>
      </p:sp>
      <p:sp>
        <p:nvSpPr>
          <p:cNvPr id="18" name="Rounded Rectangle 17"/>
          <p:cNvSpPr/>
          <p:nvPr/>
        </p:nvSpPr>
        <p:spPr>
          <a:xfrm>
            <a:off x="9073134" y="2057400"/>
            <a:ext cx="2567178"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3134" y="2286000"/>
            <a:ext cx="2567178"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LIB</a:t>
            </a:r>
          </a:p>
        </p:txBody>
      </p:sp>
      <p:sp>
        <p:nvSpPr>
          <p:cNvPr id="20" name="TextBox 19"/>
          <p:cNvSpPr txBox="1"/>
          <p:nvPr/>
        </p:nvSpPr>
        <p:spPr>
          <a:xfrm>
            <a:off x="9182862" y="3291840"/>
            <a:ext cx="2347722"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ML libraries</a:t>
            </a:r>
          </a:p>
        </p:txBody>
      </p:sp>
      <p:sp>
        <p:nvSpPr>
          <p:cNvPr id="21" name="TextBox 20"/>
          <p:cNvSpPr txBox="1"/>
          <p:nvPr/>
        </p:nvSpPr>
        <p:spPr>
          <a:xfrm>
            <a:off x="9210294" y="3931919"/>
            <a:ext cx="2292858"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ML libraries and frameworks pulled from public package registries</a:t>
            </a:r>
          </a:p>
        </p:txBody>
      </p:sp>
      <p:sp>
        <p:nvSpPr>
          <p:cNvPr id="22" name="TextBox 21"/>
          <p:cNvSpPr txBox="1"/>
          <p:nvPr/>
        </p:nvSpPr>
        <p:spPr>
          <a:xfrm>
            <a:off x="548640" y="5669280"/>
            <a:ext cx="11064240" cy="64008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These four categories are the spine of the module. Objective 8.2 attacks the MODEL category, Objective 8.3 attacks the file format models and related artefacts are delivered in, and Objective 8.4 attacks DATA and LIB.</a:t>
            </a:r>
          </a:p>
        </p:txBody>
      </p:sp>
      <p:sp>
        <p:nvSpPr>
          <p:cNvPr id="23" name="TextBox 22"/>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4" name="TextBox 23"/>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8.1 · COMPONENT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Pre-trained and pre-fine-tuned model weights</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Rather than training a model from scratch, most deployments start from — or fine-tune — weights published on a public model hub, treating the published artefact as a trustworthy starting point.</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IS ATTRACTIVE TO REUSE</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Training a competitive model from scratch is prohibitively expensive; reusing published weights is faster, cheaper, and the industry-standard starting point.</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IS ATTACK SURFACE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The weights themselves are an opaque artefact — a deployment has no direct way to inspect what training process, data, or intentional modification produced them.</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8.1 · COMPONENT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Third-party datasets, plugins, and ML libraries</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Alongside model weights, deployments commonly pull in third-party datasets for training or evaluation, plugins or tools that extend an AI application's capability, and ML libraries or frameworks from public package registries — each sourced externally and trusted by default.</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DATASETS</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Used to train, fine-tune, or evaluate a model — attacked directly in Objective 8.4 as dataset poisoning.</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PLUGINS, TOOLS, AND LIBRARIES</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Extend what an application or model can do or how it is built — libraries and frameworks are attacked in Objective 8.4 as dependency confusion.</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8.1 · CONNECTING BACK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This module in the course so far</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Everything in this module was previewed, not invented, earlier in the course — Objective 8.1 is where those earlier threads become a dedicated exploitation module.</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MODULE 1, OBJECTIVE 1.2</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Named the supply-chain layer as the sixth layer of the AI attack surface — everything you did not build: models, datasets, plugins, and libraries pulled from public hubs.</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MODULE 2, OBJECTIVE 2.1</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Taught the OSINT technique for discovering named third-party components — job postings, engineering blogs, and public documentation that reveal exactly which model, framework, or vector store a target relies on.</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8.1 · MAP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Supply-chain component to risk category</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Component</a:t>
                      </a:r>
                    </a:p>
                  </a:txBody>
                  <a:tcPr marL="101600" marR="101600" marT="50800" marB="50800" anchor="ctr">
                    <a:solidFill>
                      <a:srgbClr val="3A2410"/>
                    </a:solidFill>
                  </a:tcPr>
                </a:tc>
                <a:tc>
                  <a:txBody>
                    <a:bodyPr wrap="square"/>
                    <a:lstStyle/>
                    <a:p>
                      <a:r>
                        <a:rPr sz="1300" b="1">
                          <a:solidFill>
                            <a:srgbClr val="F5F7FB"/>
                          </a:solidFill>
                          <a:latin typeface="Segoe UI"/>
                        </a:rPr>
                        <a:t>Typical source</a:t>
                      </a:r>
                    </a:p>
                  </a:txBody>
                  <a:tcPr marL="101600" marR="101600" marT="50800" marB="50800" anchor="ctr">
                    <a:solidFill>
                      <a:srgbClr val="3A2410"/>
                    </a:solidFill>
                  </a:tcPr>
                </a:tc>
                <a:tc>
                  <a:txBody>
                    <a:bodyPr wrap="square"/>
                    <a:lstStyle/>
                    <a:p>
                      <a:r>
                        <a:rPr sz="1300" b="1">
                          <a:solidFill>
                            <a:srgbClr val="F5F7FB"/>
                          </a:solidFill>
                          <a:latin typeface="Segoe UI"/>
                        </a:rPr>
                        <a:t>Risk if compromised</a:t>
                      </a:r>
                    </a:p>
                  </a:txBody>
                  <a:tcPr marL="101600" marR="101600" marT="50800" marB="50800" anchor="ctr">
                    <a:solidFill>
                      <a:srgbClr val="3A2410"/>
                    </a:solidFill>
                  </a:tcPr>
                </a:tc>
              </a:tr>
              <a:tr h="471830">
                <a:tc>
                  <a:txBody>
                    <a:bodyPr wrap="square"/>
                    <a:lstStyle/>
                    <a:p>
                      <a:r>
                        <a:rPr sz="1200" b="1">
                          <a:solidFill>
                            <a:srgbClr val="F5F7FB"/>
                          </a:solidFill>
                          <a:latin typeface="Segoe UI"/>
                        </a:rPr>
                        <a:t>Model weights</a:t>
                      </a:r>
                    </a:p>
                  </a:txBody>
                  <a:tcPr marL="101600" marR="101600" marT="50800" marB="50800" anchor="ctr">
                    <a:solidFill>
                      <a:srgbClr val="121319"/>
                    </a:solidFill>
                  </a:tcPr>
                </a:tc>
                <a:tc>
                  <a:txBody>
                    <a:bodyPr wrap="square"/>
                    <a:lstStyle/>
                    <a:p>
                      <a:r>
                        <a:rPr sz="1200" b="0">
                          <a:solidFill>
                            <a:srgbClr val="B8C0CF"/>
                          </a:solidFill>
                          <a:latin typeface="Segoe UI"/>
                        </a:rPr>
                        <a:t>Public model hub</a:t>
                      </a:r>
                    </a:p>
                  </a:txBody>
                  <a:tcPr marL="101600" marR="101600" marT="50800" marB="50800" anchor="ctr">
                    <a:solidFill>
                      <a:srgbClr val="121319"/>
                    </a:solidFill>
                  </a:tcPr>
                </a:tc>
                <a:tc>
                  <a:txBody>
                    <a:bodyPr wrap="square"/>
                    <a:lstStyle/>
                    <a:p>
                      <a:r>
                        <a:rPr sz="1200" b="0">
                          <a:solidFill>
                            <a:srgbClr val="B8C0CF"/>
                          </a:solidFill>
                          <a:latin typeface="Segoe UI"/>
                        </a:rPr>
                        <a:t>Malicious or backdoored model behaviour — Objective 8.2</a:t>
                      </a:r>
                    </a:p>
                  </a:txBody>
                  <a:tcPr marL="101600" marR="101600" marT="50800" marB="50800" anchor="ctr">
                    <a:solidFill>
                      <a:srgbClr val="121319"/>
                    </a:solidFill>
                  </a:tcPr>
                </a:tc>
              </a:tr>
              <a:tr h="471830">
                <a:tc>
                  <a:txBody>
                    <a:bodyPr wrap="square"/>
                    <a:lstStyle/>
                    <a:p>
                      <a:r>
                        <a:rPr sz="1200" b="1">
                          <a:solidFill>
                            <a:srgbClr val="F5F7FB"/>
                          </a:solidFill>
                          <a:latin typeface="Segoe UI"/>
                        </a:rPr>
                        <a:t>Model file format</a:t>
                      </a:r>
                    </a:p>
                  </a:txBody>
                  <a:tcPr marL="101600" marR="101600" marT="50800" marB="50800" anchor="ctr">
                    <a:solidFill>
                      <a:srgbClr val="141519"/>
                    </a:solidFill>
                  </a:tcPr>
                </a:tc>
                <a:tc>
                  <a:txBody>
                    <a:bodyPr wrap="square"/>
                    <a:lstStyle/>
                    <a:p>
                      <a:r>
                        <a:rPr sz="1200" b="0">
                          <a:solidFill>
                            <a:srgbClr val="B8C0CF"/>
                          </a:solidFill>
                          <a:latin typeface="Segoe UI"/>
                        </a:rPr>
                        <a:t>Delivered alongside the weights</a:t>
                      </a:r>
                    </a:p>
                  </a:txBody>
                  <a:tcPr marL="101600" marR="101600" marT="50800" marB="50800" anchor="ctr">
                    <a:solidFill>
                      <a:srgbClr val="141519"/>
                    </a:solidFill>
                  </a:tcPr>
                </a:tc>
                <a:tc>
                  <a:txBody>
                    <a:bodyPr wrap="square"/>
                    <a:lstStyle/>
                    <a:p>
                      <a:r>
                        <a:rPr sz="1200" b="0">
                          <a:solidFill>
                            <a:srgbClr val="B8C0CF"/>
                          </a:solidFill>
                          <a:latin typeface="Segoe UI"/>
                        </a:rPr>
                        <a:t>Unsafe deserialization on load — Objective 8.3</a:t>
                      </a:r>
                    </a:p>
                  </a:txBody>
                  <a:tcPr marL="101600" marR="101600" marT="50800" marB="50800" anchor="ctr">
                    <a:solidFill>
                      <a:srgbClr val="141519"/>
                    </a:solidFill>
                  </a:tcPr>
                </a:tc>
              </a:tr>
              <a:tr h="471830">
                <a:tc>
                  <a:txBody>
                    <a:bodyPr wrap="square"/>
                    <a:lstStyle/>
                    <a:p>
                      <a:r>
                        <a:rPr sz="1200" b="1">
                          <a:solidFill>
                            <a:srgbClr val="F5F7FB"/>
                          </a:solidFill>
                          <a:latin typeface="Segoe UI"/>
                        </a:rPr>
                        <a:t>Training/fine-tuning dataset</a:t>
                      </a:r>
                    </a:p>
                  </a:txBody>
                  <a:tcPr marL="101600" marR="101600" marT="50800" marB="50800" anchor="ctr">
                    <a:solidFill>
                      <a:srgbClr val="121319"/>
                    </a:solidFill>
                  </a:tcPr>
                </a:tc>
                <a:tc>
                  <a:txBody>
                    <a:bodyPr wrap="square"/>
                    <a:lstStyle/>
                    <a:p>
                      <a:r>
                        <a:rPr sz="1200" b="0">
                          <a:solidFill>
                            <a:srgbClr val="B8C0CF"/>
                          </a:solidFill>
                          <a:latin typeface="Segoe UI"/>
                        </a:rPr>
                        <a:t>Third-party dataset source</a:t>
                      </a:r>
                    </a:p>
                  </a:txBody>
                  <a:tcPr marL="101600" marR="101600" marT="50800" marB="50800" anchor="ctr">
                    <a:solidFill>
                      <a:srgbClr val="121319"/>
                    </a:solidFill>
                  </a:tcPr>
                </a:tc>
                <a:tc>
                  <a:txBody>
                    <a:bodyPr wrap="square"/>
                    <a:lstStyle/>
                    <a:p>
                      <a:r>
                        <a:rPr sz="1200" b="0">
                          <a:solidFill>
                            <a:srgbClr val="B8C0CF"/>
                          </a:solidFill>
                          <a:latin typeface="Segoe UI"/>
                        </a:rPr>
                        <a:t>Learned-behaviour poisoning — Objective 8.4</a:t>
                      </a:r>
                    </a:p>
                  </a:txBody>
                  <a:tcPr marL="101600" marR="101600" marT="50800" marB="50800" anchor="ctr">
                    <a:solidFill>
                      <a:srgbClr val="121319"/>
                    </a:solidFill>
                  </a:tcPr>
                </a:tc>
              </a:tr>
              <a:tr h="471832">
                <a:tc>
                  <a:txBody>
                    <a:bodyPr wrap="square"/>
                    <a:lstStyle/>
                    <a:p>
                      <a:r>
                        <a:rPr sz="1200" b="1">
                          <a:solidFill>
                            <a:srgbClr val="F5F7FB"/>
                          </a:solidFill>
                          <a:latin typeface="Segoe UI"/>
                        </a:rPr>
                        <a:t>ML library or framework</a:t>
                      </a:r>
                    </a:p>
                  </a:txBody>
                  <a:tcPr marL="101600" marR="101600" marT="50800" marB="50800" anchor="ctr">
                    <a:solidFill>
                      <a:srgbClr val="141519"/>
                    </a:solidFill>
                  </a:tcPr>
                </a:tc>
                <a:tc>
                  <a:txBody>
                    <a:bodyPr wrap="square"/>
                    <a:lstStyle/>
                    <a:p>
                      <a:r>
                        <a:rPr sz="1200" b="0">
                          <a:solidFill>
                            <a:srgbClr val="B8C0CF"/>
                          </a:solidFill>
                          <a:latin typeface="Segoe UI"/>
                        </a:rPr>
                        <a:t>Public package registry</a:t>
                      </a:r>
                    </a:p>
                  </a:txBody>
                  <a:tcPr marL="101600" marR="101600" marT="50800" marB="50800" anchor="ctr">
                    <a:solidFill>
                      <a:srgbClr val="141519"/>
                    </a:solidFill>
                  </a:tcPr>
                </a:tc>
                <a:tc>
                  <a:txBody>
                    <a:bodyPr wrap="square"/>
                    <a:lstStyle/>
                    <a:p>
                      <a:r>
                        <a:rPr sz="1200" b="0">
                          <a:solidFill>
                            <a:srgbClr val="B8C0CF"/>
                          </a:solidFill>
                          <a:latin typeface="Segoe UI"/>
                        </a:rPr>
                        <a:t>Dependency confusion / typosquatting — Objective 8.4</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This table is the supply-chain-scoped analogue of Module 1's attack-surface-to-module index.</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8.1 · WHY IT MATTERS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Why the supply chain is high-leverage, low-visibility</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ONE COMPONENT, MANY DEPLOYMENTS</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single widely-reused model, dataset, or library can be embedded in an unknown number of downstream deployments simultaneously.</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TRUST IS INHERITED, NOT VERIFIED</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Most deployments treat a popular external component as trustworthy by inheritance, without independently verifying it themselves.</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COMPROMISE HAPPENS BEFORE DEPLOYMENT</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compromise can occur long before the organisation's own security controls or monitoring are ever engaged.</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ATTRIBUTION IS DIFFICULT</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downstream victim investigating a compromise may have no visibility into the upstream component that actually caused it.</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8.1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Direct dependencies vs transitive dependencies</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Direct dependency</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A component the deployer chose and references explicitly</a:t>
            </a:r>
          </a:p>
          <a:p>
            <a:pPr algn="l">
              <a:spcBef>
                <a:spcPts val="0"/>
              </a:spcBef>
              <a:spcAft>
                <a:spcPts val="800"/>
              </a:spcAft>
            </a:pPr>
            <a:r>
              <a:rPr sz="1400" b="1">
                <a:solidFill>
                  <a:srgbClr val="FF6A00"/>
                </a:solidFill>
                <a:latin typeface="Segoe UI"/>
              </a:rPr>
              <a:t>•  </a:t>
            </a:r>
            <a:r>
              <a:rPr sz="1400" b="0">
                <a:solidFill>
                  <a:srgbClr val="B8C0CF"/>
                </a:solidFill>
                <a:latin typeface="Segoe UI"/>
              </a:rPr>
              <a:t>Provenance is generally known and reviewable</a:t>
            </a:r>
          </a:p>
          <a:p>
            <a:pPr algn="l">
              <a:spcBef>
                <a:spcPts val="0"/>
              </a:spcBef>
              <a:spcAft>
                <a:spcPts val="800"/>
              </a:spcAft>
            </a:pPr>
            <a:r>
              <a:rPr sz="1400" b="1">
                <a:solidFill>
                  <a:srgbClr val="FF6A00"/>
                </a:solidFill>
                <a:latin typeface="Segoe UI"/>
              </a:rPr>
              <a:t>•  </a:t>
            </a:r>
            <a:r>
              <a:rPr sz="1400" b="0">
                <a:solidFill>
                  <a:srgbClr val="B8C0CF"/>
                </a:solidFill>
                <a:latin typeface="Segoe UI"/>
              </a:rPr>
              <a:t>Easier to inventory and verify deliberately</a:t>
            </a:r>
          </a:p>
          <a:p>
            <a:pPr algn="l">
              <a:spcBef>
                <a:spcPts val="0"/>
              </a:spcBef>
              <a:spcAft>
                <a:spcPts val="800"/>
              </a:spcAft>
            </a:pPr>
            <a:r>
              <a:rPr sz="1400" b="1">
                <a:solidFill>
                  <a:srgbClr val="FF6A00"/>
                </a:solidFill>
                <a:latin typeface="Segoe UI"/>
              </a:rPr>
              <a:t>•  </a:t>
            </a:r>
            <a:r>
              <a:rPr sz="1400" b="0">
                <a:solidFill>
                  <a:srgbClr val="B8C0CF"/>
                </a:solidFill>
                <a:latin typeface="Segoe UI"/>
              </a:rPr>
              <a:t>The deployer bears clear responsibility for the choice</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Transitive dependency</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A component pulled in indirectly by a direct dependency</a:t>
            </a:r>
          </a:p>
          <a:p>
            <a:pPr algn="l">
              <a:spcBef>
                <a:spcPts val="0"/>
              </a:spcBef>
              <a:spcAft>
                <a:spcPts val="800"/>
              </a:spcAft>
            </a:pPr>
            <a:r>
              <a:rPr sz="1400" b="1">
                <a:solidFill>
                  <a:srgbClr val="FF6A00"/>
                </a:solidFill>
                <a:latin typeface="Segoe UI"/>
              </a:rPr>
              <a:t>•  </a:t>
            </a:r>
            <a:r>
              <a:rPr sz="1400" b="0">
                <a:solidFill>
                  <a:srgbClr val="B8C0CF"/>
                </a:solidFill>
                <a:latin typeface="Segoe UI"/>
              </a:rPr>
              <a:t>Provenance is often unknown to the deployer entirely</a:t>
            </a:r>
          </a:p>
          <a:p>
            <a:pPr algn="l">
              <a:spcBef>
                <a:spcPts val="0"/>
              </a:spcBef>
              <a:spcAft>
                <a:spcPts val="800"/>
              </a:spcAft>
            </a:pPr>
            <a:r>
              <a:rPr sz="1400" b="1">
                <a:solidFill>
                  <a:srgbClr val="FF6A00"/>
                </a:solidFill>
                <a:latin typeface="Segoe UI"/>
              </a:rPr>
              <a:t>•  </a:t>
            </a:r>
            <a:r>
              <a:rPr sz="1400" b="0">
                <a:solidFill>
                  <a:srgbClr val="B8C0CF"/>
                </a:solidFill>
                <a:latin typeface="Segoe UI"/>
              </a:rPr>
              <a:t>Rarely inventoried or reviewed independently</a:t>
            </a:r>
          </a:p>
          <a:p>
            <a:pPr algn="l">
              <a:spcBef>
                <a:spcPts val="0"/>
              </a:spcBef>
              <a:spcAft>
                <a:spcPts val="800"/>
              </a:spcAft>
            </a:pPr>
            <a:r>
              <a:rPr sz="1400" b="1">
                <a:solidFill>
                  <a:srgbClr val="FF6A00"/>
                </a:solidFill>
                <a:latin typeface="Segoe UI"/>
              </a:rPr>
              <a:t>•  </a:t>
            </a:r>
            <a:r>
              <a:rPr sz="1400" b="0">
                <a:solidFill>
                  <a:srgbClr val="B8C0CF"/>
                </a:solidFill>
                <a:latin typeface="Segoe UI"/>
              </a:rPr>
              <a:t>Can introduce risk the deployer never consciously accepted</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exam-relevant point: a supply-chain assessment cannot stop at direct dependencies — a transitive model, dataset, or library several layers removed can carry exactly the same risk categories covered in Objectives 8.2 to 8.4.</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8.1 · METHODOLOGY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 supply-chain assessment workflow</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Build the component inventory</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Enumerate every model, dataset, plugin, and library the deployment sources externally, direct and transitive.</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Identify provenance for each component</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Determine who published it, how, and whether that origin is independently verifiable.</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Classify by category</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Sort each component into the model, dataset, plugin, or library category to know which objective's risks apply.</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Assess verification gaps</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For each component, note whether any independent verification occurred before it was trusted and deployed.</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Prioritise by reach and privilege</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Rank findings by how many downstream systems the component reaches and what privilege it runs with.</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8.2</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8.2</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Malicious and backdoored models</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8.2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a malicious or backdoored model?</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A backdoored model is a pre-trained model that behaves normally on ordinary input but produces a specific, attacker-intended output when it receives a particular, attacker-known trigger input — behaviour that is not documented and was not requested by the deployer.</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MALICIOUS MORE BROADLY</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Beyond a specific trigger, a model can also be malicious in a more general sense — deliberately tampered to be less safe, less accurate, or biased in a way the publisher does not disclose.</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IS HARD TO DETECT</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On the overwhelming majority of inputs, a backdoored model is indistinguishable from a clean one — it was designed to behave exactly like a legitimate model until triggered.</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8.2 · MECHANISM</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Trigger-conditioned behaviour, conceptually</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The defining property of a backdoor is conditionality: the malicious behaviour only activates on a specific input pattern known to the attacker, while all other input produces ordinary, expected output.</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THIS MATTERS FOR TESTING</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Because the trigger is attacker-known and can be arbitrarily specific, ordinary functional or safety testing that never happens to use that exact trigger will not surface the backdoor.</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SCOPE OF THIS OBJECTIVE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This is general conceptual coverage of the risk category — the specific technique for constructing a backdoor during training is out of scope for this course.</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8.2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 backdoored model vs an ordinarily flawed model</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Backdoored model</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Malicious behaviour is deliberate and attacker-placed</a:t>
            </a:r>
          </a:p>
          <a:p>
            <a:pPr algn="l">
              <a:spcBef>
                <a:spcPts val="0"/>
              </a:spcBef>
              <a:spcAft>
                <a:spcPts val="800"/>
              </a:spcAft>
            </a:pPr>
            <a:r>
              <a:rPr sz="1400" b="1">
                <a:solidFill>
                  <a:srgbClr val="FF6A00"/>
                </a:solidFill>
                <a:latin typeface="Segoe UI"/>
              </a:rPr>
              <a:t>•  </a:t>
            </a:r>
            <a:r>
              <a:rPr sz="1400" b="0">
                <a:solidFill>
                  <a:srgbClr val="B8C0CF"/>
                </a:solidFill>
                <a:latin typeface="Segoe UI"/>
              </a:rPr>
              <a:t>Behaviour is conditional on a specific, attacker-known trigger</a:t>
            </a:r>
          </a:p>
          <a:p>
            <a:pPr algn="l">
              <a:spcBef>
                <a:spcPts val="0"/>
              </a:spcBef>
              <a:spcAft>
                <a:spcPts val="800"/>
              </a:spcAft>
            </a:pPr>
            <a:r>
              <a:rPr sz="1400" b="1">
                <a:solidFill>
                  <a:srgbClr val="FF6A00"/>
                </a:solidFill>
                <a:latin typeface="Segoe UI"/>
              </a:rPr>
              <a:t>•  </a:t>
            </a:r>
            <a:r>
              <a:rPr sz="1400" b="0">
                <a:solidFill>
                  <a:srgbClr val="B8C0CF"/>
                </a:solidFill>
                <a:latin typeface="Segoe UI"/>
              </a:rPr>
              <a:t>Behaves normally on the overwhelming majority of input</a:t>
            </a:r>
          </a:p>
          <a:p>
            <a:pPr algn="l">
              <a:spcBef>
                <a:spcPts val="0"/>
              </a:spcBef>
              <a:spcAft>
                <a:spcPts val="800"/>
              </a:spcAft>
            </a:pPr>
            <a:r>
              <a:rPr sz="1400" b="1">
                <a:solidFill>
                  <a:srgbClr val="FF6A00"/>
                </a:solidFill>
                <a:latin typeface="Segoe UI"/>
              </a:rPr>
              <a:t>•  </a:t>
            </a:r>
            <a:r>
              <a:rPr sz="1400" b="0">
                <a:solidFill>
                  <a:srgbClr val="B8C0CF"/>
                </a:solidFill>
                <a:latin typeface="Segoe UI"/>
              </a:rPr>
              <a:t>A supply-chain integrity problem, not a capability limitation</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Ordinarily flawed model</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Weaknesses arise from training limitations, not intent</a:t>
            </a:r>
          </a:p>
          <a:p>
            <a:pPr algn="l">
              <a:spcBef>
                <a:spcPts val="0"/>
              </a:spcBef>
              <a:spcAft>
                <a:spcPts val="800"/>
              </a:spcAft>
            </a:pPr>
            <a:r>
              <a:rPr sz="1400" b="1">
                <a:solidFill>
                  <a:srgbClr val="FF6A00"/>
                </a:solidFill>
                <a:latin typeface="Segoe UI"/>
              </a:rPr>
              <a:t>•  </a:t>
            </a:r>
            <a:r>
              <a:rPr sz="1400" b="0">
                <a:solidFill>
                  <a:srgbClr val="B8C0CF"/>
                </a:solidFill>
                <a:latin typeface="Segoe UI"/>
              </a:rPr>
              <a:t>Weak behaviour is general, not conditioned on a specific trigger</a:t>
            </a:r>
          </a:p>
          <a:p>
            <a:pPr algn="l">
              <a:spcBef>
                <a:spcPts val="0"/>
              </a:spcBef>
              <a:spcAft>
                <a:spcPts val="800"/>
              </a:spcAft>
            </a:pPr>
            <a:r>
              <a:rPr sz="1400" b="1">
                <a:solidFill>
                  <a:srgbClr val="FF6A00"/>
                </a:solidFill>
                <a:latin typeface="Segoe UI"/>
              </a:rPr>
              <a:t>•  </a:t>
            </a:r>
            <a:r>
              <a:rPr sz="1400" b="0">
                <a:solidFill>
                  <a:srgbClr val="B8C0CF"/>
                </a:solidFill>
                <a:latin typeface="Segoe UI"/>
              </a:rPr>
              <a:t>Weaknesses are typically reproducible on many similar inputs</a:t>
            </a:r>
          </a:p>
          <a:p>
            <a:pPr algn="l">
              <a:spcBef>
                <a:spcPts val="0"/>
              </a:spcBef>
              <a:spcAft>
                <a:spcPts val="800"/>
              </a:spcAft>
            </a:pPr>
            <a:r>
              <a:rPr sz="1400" b="1">
                <a:solidFill>
                  <a:srgbClr val="FF6A00"/>
                </a:solidFill>
                <a:latin typeface="Segoe UI"/>
              </a:rPr>
              <a:t>•  </a:t>
            </a:r>
            <a:r>
              <a:rPr sz="1400" b="0">
                <a:solidFill>
                  <a:srgbClr val="B8C0CF"/>
                </a:solidFill>
                <a:latin typeface="Segoe UI"/>
              </a:rPr>
              <a:t>A model-quality or safety-testing problem, not a supply-chain compromise</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exam-relevant distinction is intent and conditionality: a backdoor is a deliberately placed, narrowly triggered behaviour, whereas an ordinary flaw is a general limitation reproducible across many inputs — the two require entirely different remediation.</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8.2 · MISCONCEPTION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Why 'it's a popular download' is not a security control</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POPULARITY MEASURES ADOPTION, NOT INTEGRITY</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Download counts and star ratings reflect how many people trusted a component, not whether anyone independently verified it.</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A BACKDOOR CAN SURVIVE SCRUTINY IT WAS NOT DESIGNED TO EVADE</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Ordinary usage by many people will not surface a narrowly conditioned trigger that those users never happened to send.</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REPUTATION CAN BE ESTABLISHED GRADUALLY</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component can build a legitimate track record before a malicious update or variant is introduced, exploiting accumulated trust.</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NO INDEPENDENT VERIFICATION OCCURRED BY DEFAULT</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Unless a deployer specifically evaluates a downloaded model's behaviour, downloading it is a trust decision, not a security control.</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8.2 · PATTERN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How default trust in a public model is typically established</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A model is published to a public hub</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publisher's identity and the model's provenance may or may not be independently verifiable at this point.</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Adoption and reputation accumulate</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Downloads, usage, and community discussion build a perception of trustworthiness over time.</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A deployer selects the model</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Selection is typically based on capability, popularity, and licensing — rarely on independent behavioural verification.</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The model is deployed largely as-is</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Weights are loaded and served with little or no dedicated adversarial testing for hidden behaviour.</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Trust is inherited, not earned</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deployer's downstream users now depend on a trust decision made upstream, which they never made or verified themselves.</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8.2 · ASSESSMENT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Verification practice to what it can realistically catch</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Verification practice</a:t>
                      </a:r>
                    </a:p>
                  </a:txBody>
                  <a:tcPr marL="101600" marR="101600" marT="50800" marB="50800" anchor="ctr">
                    <a:solidFill>
                      <a:srgbClr val="3A2410"/>
                    </a:solidFill>
                  </a:tcPr>
                </a:tc>
                <a:tc>
                  <a:txBody>
                    <a:bodyPr wrap="square"/>
                    <a:lstStyle/>
                    <a:p>
                      <a:r>
                        <a:rPr sz="1300" b="1">
                          <a:solidFill>
                            <a:srgbClr val="F5F7FB"/>
                          </a:solidFill>
                          <a:latin typeface="Segoe UI"/>
                        </a:rPr>
                        <a:t>What it can catch</a:t>
                      </a:r>
                    </a:p>
                  </a:txBody>
                  <a:tcPr marL="101600" marR="101600" marT="50800" marB="50800" anchor="ctr">
                    <a:solidFill>
                      <a:srgbClr val="3A2410"/>
                    </a:solidFill>
                  </a:tcPr>
                </a:tc>
                <a:tc>
                  <a:txBody>
                    <a:bodyPr wrap="square"/>
                    <a:lstStyle/>
                    <a:p>
                      <a:r>
                        <a:rPr sz="1300" b="1">
                          <a:solidFill>
                            <a:srgbClr val="F5F7FB"/>
                          </a:solidFill>
                          <a:latin typeface="Segoe UI"/>
                        </a:rPr>
                        <a:t>What it typically misses</a:t>
                      </a:r>
                    </a:p>
                  </a:txBody>
                  <a:tcPr marL="101600" marR="101600" marT="50800" marB="50800" anchor="ctr">
                    <a:solidFill>
                      <a:srgbClr val="3A2410"/>
                    </a:solidFill>
                  </a:tcPr>
                </a:tc>
              </a:tr>
              <a:tr h="471830">
                <a:tc>
                  <a:txBody>
                    <a:bodyPr wrap="square"/>
                    <a:lstStyle/>
                    <a:p>
                      <a:r>
                        <a:rPr sz="1200" b="1">
                          <a:solidFill>
                            <a:srgbClr val="F5F7FB"/>
                          </a:solidFill>
                          <a:latin typeface="Segoe UI"/>
                        </a:rPr>
                        <a:t>Reviewing publisher reputation and provenance</a:t>
                      </a:r>
                    </a:p>
                  </a:txBody>
                  <a:tcPr marL="101600" marR="101600" marT="50800" marB="50800" anchor="ctr">
                    <a:solidFill>
                      <a:srgbClr val="121319"/>
                    </a:solidFill>
                  </a:tcPr>
                </a:tc>
                <a:tc>
                  <a:txBody>
                    <a:bodyPr wrap="square"/>
                    <a:lstStyle/>
                    <a:p>
                      <a:r>
                        <a:rPr sz="1200" b="0">
                          <a:solidFill>
                            <a:srgbClr val="B8C0CF"/>
                          </a:solidFill>
                          <a:latin typeface="Segoe UI"/>
                        </a:rPr>
                        <a:t>Obviously untrustworthy or anonymous sources</a:t>
                      </a:r>
                    </a:p>
                  </a:txBody>
                  <a:tcPr marL="101600" marR="101600" marT="50800" marB="50800" anchor="ctr">
                    <a:solidFill>
                      <a:srgbClr val="121319"/>
                    </a:solidFill>
                  </a:tcPr>
                </a:tc>
                <a:tc>
                  <a:txBody>
                    <a:bodyPr wrap="square"/>
                    <a:lstStyle/>
                    <a:p>
                      <a:r>
                        <a:rPr sz="1200" b="0">
                          <a:solidFill>
                            <a:srgbClr val="B8C0CF"/>
                          </a:solidFill>
                          <a:latin typeface="Segoe UI"/>
                        </a:rPr>
                        <a:t>A reputable-looking source that is itself compromised</a:t>
                      </a:r>
                    </a:p>
                  </a:txBody>
                  <a:tcPr marL="101600" marR="101600" marT="50800" marB="50800" anchor="ctr">
                    <a:solidFill>
                      <a:srgbClr val="121319"/>
                    </a:solidFill>
                  </a:tcPr>
                </a:tc>
              </a:tr>
              <a:tr h="471830">
                <a:tc>
                  <a:txBody>
                    <a:bodyPr wrap="square"/>
                    <a:lstStyle/>
                    <a:p>
                      <a:r>
                        <a:rPr sz="1200" b="1">
                          <a:solidFill>
                            <a:srgbClr val="F5F7FB"/>
                          </a:solidFill>
                          <a:latin typeface="Segoe UI"/>
                        </a:rPr>
                        <a:t>Functional testing on expected inputs</a:t>
                      </a:r>
                    </a:p>
                  </a:txBody>
                  <a:tcPr marL="101600" marR="101600" marT="50800" marB="50800" anchor="ctr">
                    <a:solidFill>
                      <a:srgbClr val="141519"/>
                    </a:solidFill>
                  </a:tcPr>
                </a:tc>
                <a:tc>
                  <a:txBody>
                    <a:bodyPr wrap="square"/>
                    <a:lstStyle/>
                    <a:p>
                      <a:r>
                        <a:rPr sz="1200" b="0">
                          <a:solidFill>
                            <a:srgbClr val="B8C0CF"/>
                          </a:solidFill>
                          <a:latin typeface="Segoe UI"/>
                        </a:rPr>
                        <a:t>Gross capability failures and quality issues</a:t>
                      </a:r>
                    </a:p>
                  </a:txBody>
                  <a:tcPr marL="101600" marR="101600" marT="50800" marB="50800" anchor="ctr">
                    <a:solidFill>
                      <a:srgbClr val="141519"/>
                    </a:solidFill>
                  </a:tcPr>
                </a:tc>
                <a:tc>
                  <a:txBody>
                    <a:bodyPr wrap="square"/>
                    <a:lstStyle/>
                    <a:p>
                      <a:r>
                        <a:rPr sz="1200" b="0">
                          <a:solidFill>
                            <a:srgbClr val="B8C0CF"/>
                          </a:solidFill>
                          <a:latin typeface="Segoe UI"/>
                        </a:rPr>
                        <a:t>A narrowly conditioned trigger never included in the test set</a:t>
                      </a:r>
                    </a:p>
                  </a:txBody>
                  <a:tcPr marL="101600" marR="101600" marT="50800" marB="50800" anchor="ctr">
                    <a:solidFill>
                      <a:srgbClr val="141519"/>
                    </a:solidFill>
                  </a:tcPr>
                </a:tc>
              </a:tr>
              <a:tr h="471830">
                <a:tc>
                  <a:txBody>
                    <a:bodyPr wrap="square"/>
                    <a:lstStyle/>
                    <a:p>
                      <a:r>
                        <a:rPr sz="1200" b="1">
                          <a:solidFill>
                            <a:srgbClr val="F5F7FB"/>
                          </a:solidFill>
                          <a:latin typeface="Segoe UI"/>
                        </a:rPr>
                        <a:t>Behavioural / adversarial evaluation</a:t>
                      </a:r>
                    </a:p>
                  </a:txBody>
                  <a:tcPr marL="101600" marR="101600" marT="50800" marB="50800" anchor="ctr">
                    <a:solidFill>
                      <a:srgbClr val="121319"/>
                    </a:solidFill>
                  </a:tcPr>
                </a:tc>
                <a:tc>
                  <a:txBody>
                    <a:bodyPr wrap="square"/>
                    <a:lstStyle/>
                    <a:p>
                      <a:r>
                        <a:rPr sz="1200" b="0">
                          <a:solidFill>
                            <a:srgbClr val="B8C0CF"/>
                          </a:solidFill>
                          <a:latin typeface="Segoe UI"/>
                        </a:rPr>
                        <a:t>Some anomalous or inconsistent behaviour patterns</a:t>
                      </a:r>
                    </a:p>
                  </a:txBody>
                  <a:tcPr marL="101600" marR="101600" marT="50800" marB="50800" anchor="ctr">
                    <a:solidFill>
                      <a:srgbClr val="121319"/>
                    </a:solidFill>
                  </a:tcPr>
                </a:tc>
                <a:tc>
                  <a:txBody>
                    <a:bodyPr wrap="square"/>
                    <a:lstStyle/>
                    <a:p>
                      <a:r>
                        <a:rPr sz="1200" b="0">
                          <a:solidFill>
                            <a:srgbClr val="B8C0CF"/>
                          </a:solidFill>
                          <a:latin typeface="Segoe UI"/>
                        </a:rPr>
                        <a:t>A well-hidden trigger designed specifically to evade this evaluation</a:t>
                      </a:r>
                    </a:p>
                  </a:txBody>
                  <a:tcPr marL="101600" marR="101600" marT="50800" marB="50800" anchor="ctr">
                    <a:solidFill>
                      <a:srgbClr val="121319"/>
                    </a:solidFill>
                  </a:tcPr>
                </a:tc>
              </a:tr>
              <a:tr h="471832">
                <a:tc>
                  <a:txBody>
                    <a:bodyPr wrap="square"/>
                    <a:lstStyle/>
                    <a:p>
                      <a:r>
                        <a:rPr sz="1200" b="1">
                          <a:solidFill>
                            <a:srgbClr val="F5F7FB"/>
                          </a:solidFill>
                          <a:latin typeface="Segoe UI"/>
                        </a:rPr>
                        <a:t>Sandboxed or restricted-privilege deployment</a:t>
                      </a:r>
                    </a:p>
                  </a:txBody>
                  <a:tcPr marL="101600" marR="101600" marT="50800" marB="50800" anchor="ctr">
                    <a:solidFill>
                      <a:srgbClr val="141519"/>
                    </a:solidFill>
                  </a:tcPr>
                </a:tc>
                <a:tc>
                  <a:txBody>
                    <a:bodyPr wrap="square"/>
                    <a:lstStyle/>
                    <a:p>
                      <a:r>
                        <a:rPr sz="1200" b="0">
                          <a:solidFill>
                            <a:srgbClr val="B8C0CF"/>
                          </a:solidFill>
                          <a:latin typeface="Segoe UI"/>
                        </a:rPr>
                        <a:t>Limits the impact if malicious behaviour does occur</a:t>
                      </a:r>
                    </a:p>
                  </a:txBody>
                  <a:tcPr marL="101600" marR="101600" marT="50800" marB="50800" anchor="ctr">
                    <a:solidFill>
                      <a:srgbClr val="141519"/>
                    </a:solidFill>
                  </a:tcPr>
                </a:tc>
                <a:tc>
                  <a:txBody>
                    <a:bodyPr wrap="square"/>
                    <a:lstStyle/>
                    <a:p>
                      <a:r>
                        <a:rPr sz="1200" b="0">
                          <a:solidFill>
                            <a:srgbClr val="B8C0CF"/>
                          </a:solidFill>
                          <a:latin typeface="Segoe UI"/>
                        </a:rPr>
                        <a:t>Does not detect the malicious behaviour itself</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This is a conceptual assessment framework, not a specific tool or product recommendation.</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8.2 · FRAMEWORK MAPPING</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OWASP LLM03 and MITRE ATLAS</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Malicious and backdoored models fall under OWASP's LLM03 — Supply Chain, which covers compromised models, data, or components generally; MITRE ATLAS separately documents supply-chain compromise as a distinct tactic in its adversary taxonomy.</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OWASP FRAMING</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LLM03 groups this risk with the other supply-chain risks in this module — a compromised artefact is treated as a single category regardless of which stage introduced it.</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ATLAS FRAMING</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ATLAS's supply-chain tactic gives report-writers a complementary, adversary-behaviour-centred way to describe how a compromised model could have entered a target environment.</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8.2 · RECON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Signals worth noting during recon, not proof of compromise</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INCONSISTENT BEHAVIOUR ON NARROW INPUT CLASSES</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Behaviour that shifts sharply on a narrow, unusual input pattern is worth logging, though rarely conclusive on its own.</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UNCLEAR OR UNVERIFIABLE PROVENANCE</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model with no clear publisher history or training documentation carries more unverified trust than one that is well documented.</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BEHAVIOUR INCONSISTENT WITH THE PUBLISHED MODEL CARD</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meaningful gap between documented and observed behaviour is a legitimate assessment finding worth escalating.</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NO INDEPENDENT EVALUATION WAS EVER PERFORMED</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absence of any dedicated verification step is itself a finding — the model was deployed on inherited trust alone.</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8.3</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8.3</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Unsafe deserialization and model-file risk</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8.3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unsafe deserialization in a model-file context?</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Unsafe deserialization is the risk that arises when a file format used to store and load a model allows the loading process itself to execute arbitrary code, so that simply opening or loading an untrusted file — not running it as a program — can compromise the host.</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THE AI-SPECIFIC ANGLE</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Model weights are just data conceptually, but some formats used to package and load them are general-purpose serialisation formats capable of far more than storing numbers.</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WHO IS AFFECTED</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Anyone who loads the file is affected — the compromise happens at load time, before the model produces a single output.</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8.3 · MECHANISM</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Why simply loading a model file can compromise the host</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Some serialisation formats reconstruct not just data but arbitrary objects and instructions during the loading process itself, meaning the act of deserialising — reading the file back into memory — can trigger code execution before the model is ever used for inference.</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THE CORE PROBLEM</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format that can represent 'reconstruct this arbitrary object' rather than only 'here are these numbers' gives whoever crafts the file a way to run code on whoever loads it.</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EVADES INTUITION</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Loading a file feels like a passive, read-only action — the risk is counter-intuitive precisely because no obvious 'execute' step appears to occur.</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8.3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Data-only formats vs code-executing-capable formats</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Format designed for data only</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Can represent only numeric weights and simple structured metadata</a:t>
            </a:r>
          </a:p>
          <a:p>
            <a:pPr algn="l">
              <a:spcBef>
                <a:spcPts val="0"/>
              </a:spcBef>
              <a:spcAft>
                <a:spcPts val="800"/>
              </a:spcAft>
            </a:pPr>
            <a:r>
              <a:rPr sz="1400" b="1">
                <a:solidFill>
                  <a:srgbClr val="FF6A00"/>
                </a:solidFill>
                <a:latin typeface="Segoe UI"/>
              </a:rPr>
              <a:t>•  </a:t>
            </a:r>
            <a:r>
              <a:rPr sz="1400" b="0">
                <a:solidFill>
                  <a:srgbClr val="B8C0CF"/>
                </a:solidFill>
                <a:latin typeface="Segoe UI"/>
              </a:rPr>
              <a:t>Loading cannot trigger arbitrary code execution by design</a:t>
            </a:r>
          </a:p>
          <a:p>
            <a:pPr algn="l">
              <a:spcBef>
                <a:spcPts val="0"/>
              </a:spcBef>
              <a:spcAft>
                <a:spcPts val="800"/>
              </a:spcAft>
            </a:pPr>
            <a:r>
              <a:rPr sz="1400" b="1">
                <a:solidFill>
                  <a:srgbClr val="FF6A00"/>
                </a:solidFill>
                <a:latin typeface="Segoe UI"/>
              </a:rPr>
              <a:t>•  </a:t>
            </a:r>
            <a:r>
              <a:rPr sz="1400" b="0">
                <a:solidFill>
                  <a:srgbClr val="B8C0CF"/>
                </a:solidFill>
                <a:latin typeface="Segoe UI"/>
              </a:rPr>
              <a:t>Generally considered a safer choice for distributing model artefacts</a:t>
            </a:r>
          </a:p>
          <a:p>
            <a:pPr algn="l">
              <a:spcBef>
                <a:spcPts val="0"/>
              </a:spcBef>
              <a:spcAft>
                <a:spcPts val="800"/>
              </a:spcAft>
            </a:pPr>
            <a:r>
              <a:rPr sz="1400" b="1">
                <a:solidFill>
                  <a:srgbClr val="FF6A00"/>
                </a:solidFill>
                <a:latin typeface="Segoe UI"/>
              </a:rPr>
              <a:t>•  </a:t>
            </a:r>
            <a:r>
              <a:rPr sz="1400" b="0">
                <a:solidFill>
                  <a:srgbClr val="B8C0CF"/>
                </a:solidFill>
                <a:latin typeface="Segoe UI"/>
              </a:rPr>
              <a:t>Still requires integrity verification, but not sandboxing against code execution</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General-purpose serialisation format</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Can represent arbitrary objects, not just numeric data</a:t>
            </a:r>
          </a:p>
          <a:p>
            <a:pPr algn="l">
              <a:spcBef>
                <a:spcPts val="0"/>
              </a:spcBef>
              <a:spcAft>
                <a:spcPts val="800"/>
              </a:spcAft>
            </a:pPr>
            <a:r>
              <a:rPr sz="1400" b="1">
                <a:solidFill>
                  <a:srgbClr val="FF6A00"/>
                </a:solidFill>
                <a:latin typeface="Segoe UI"/>
              </a:rPr>
              <a:t>•  </a:t>
            </a:r>
            <a:r>
              <a:rPr sz="1400" b="0">
                <a:solidFill>
                  <a:srgbClr val="B8C0CF"/>
                </a:solidFill>
                <a:latin typeface="Segoe UI"/>
              </a:rPr>
              <a:t>Loading can trigger code execution as part of reconstructing those objects</a:t>
            </a:r>
          </a:p>
          <a:p>
            <a:pPr algn="l">
              <a:spcBef>
                <a:spcPts val="0"/>
              </a:spcBef>
              <a:spcAft>
                <a:spcPts val="800"/>
              </a:spcAft>
            </a:pPr>
            <a:r>
              <a:rPr sz="1400" b="1">
                <a:solidFill>
                  <a:srgbClr val="FF6A00"/>
                </a:solidFill>
                <a:latin typeface="Segoe UI"/>
              </a:rPr>
              <a:t>•  </a:t>
            </a:r>
            <a:r>
              <a:rPr sz="1400" b="0">
                <a:solidFill>
                  <a:srgbClr val="B8C0CF"/>
                </a:solidFill>
                <a:latin typeface="Segoe UI"/>
              </a:rPr>
              <a:t>Convenient and flexible, but carries this risk by design</a:t>
            </a:r>
          </a:p>
          <a:p>
            <a:pPr algn="l">
              <a:spcBef>
                <a:spcPts val="0"/>
              </a:spcBef>
              <a:spcAft>
                <a:spcPts val="800"/>
              </a:spcAft>
            </a:pPr>
            <a:r>
              <a:rPr sz="1400" b="1">
                <a:solidFill>
                  <a:srgbClr val="FF6A00"/>
                </a:solidFill>
                <a:latin typeface="Segoe UI"/>
              </a:rPr>
              <a:t>•  </a:t>
            </a:r>
            <a:r>
              <a:rPr sz="1400" b="0">
                <a:solidFill>
                  <a:srgbClr val="B8C0CF"/>
                </a:solidFill>
                <a:latin typeface="Segoe UI"/>
              </a:rPr>
              <a:t>Requires sandboxing or strict trust in the source before loading</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exam-relevant distinction is design intent: a data-only format cannot execute code on load because it was never built to represent code, whereas a general-purpose serialisation format's flexibility is exactly what creates the risk.</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8.3 · MITIGATIONS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Reducing unsafe-deserialization risk</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PREFER DATA-ONLY SERIALISATION FORMATS</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Where a choice exists, formats that can only represent weights and simple metadata remove the code-execution risk by design.</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SANDBOX THE LOADING PROCESS</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Loading an untrusted file in an isolated, least-privilege environment limits the impact if code execution does occur.</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VERIFY INTEGRITY AND PROVENANCE BEFORE LOADING</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Checksums and a trusted source do not eliminate the risk but reduce the chance of loading a tampered file in the first place.</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AVOID LOADING UNTRUSTED FILES WITH ELEVATED PRIVILEGE</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loading process should never run with more privilege than the model actually needs at inference time.</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8.3 · METHODOLOGY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 safer model-loading workflow</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Identify the serialisation format</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Determine whether the model file uses a data-only format or a general-purpose, code-capable format.</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Verify source and integrity</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Confirm provenance and check integrity against a known-good reference before loading anything untrusted.</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Load in an isolated environment</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Perform the initial load in a sandboxed, least-privilege context rather than directly on production infrastructure.</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Convert to a safer format where possible</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Where the format allows it, convert to a data-only representation before wider distribution or reuse.</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Restrict privilege at inference time</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Ensure the process serving the model, once loaded, runs with no more privilege than inference genuinely requires.</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8.3 · MAP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Risk factor to mitigation</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Risk factor</a:t>
                      </a:r>
                    </a:p>
                  </a:txBody>
                  <a:tcPr marL="101600" marR="101600" marT="50800" marB="50800" anchor="ctr">
                    <a:solidFill>
                      <a:srgbClr val="3A2410"/>
                    </a:solidFill>
                  </a:tcPr>
                </a:tc>
                <a:tc>
                  <a:txBody>
                    <a:bodyPr wrap="square"/>
                    <a:lstStyle/>
                    <a:p>
                      <a:r>
                        <a:rPr sz="1300" b="1">
                          <a:solidFill>
                            <a:srgbClr val="F5F7FB"/>
                          </a:solidFill>
                          <a:latin typeface="Segoe UI"/>
                        </a:rPr>
                        <a:t>Why it matters</a:t>
                      </a:r>
                    </a:p>
                  </a:txBody>
                  <a:tcPr marL="101600" marR="101600" marT="50800" marB="50800" anchor="ctr">
                    <a:solidFill>
                      <a:srgbClr val="3A2410"/>
                    </a:solidFill>
                  </a:tcPr>
                </a:tc>
                <a:tc>
                  <a:txBody>
                    <a:bodyPr wrap="square"/>
                    <a:lstStyle/>
                    <a:p>
                      <a:r>
                        <a:rPr sz="1300" b="1">
                          <a:solidFill>
                            <a:srgbClr val="F5F7FB"/>
                          </a:solidFill>
                          <a:latin typeface="Segoe UI"/>
                        </a:rPr>
                        <a:t>Primary mitigation</a:t>
                      </a:r>
                    </a:p>
                  </a:txBody>
                  <a:tcPr marL="101600" marR="101600" marT="50800" marB="50800" anchor="ctr">
                    <a:solidFill>
                      <a:srgbClr val="3A2410"/>
                    </a:solidFill>
                  </a:tcPr>
                </a:tc>
              </a:tr>
              <a:tr h="471830">
                <a:tc>
                  <a:txBody>
                    <a:bodyPr wrap="square"/>
                    <a:lstStyle/>
                    <a:p>
                      <a:r>
                        <a:rPr sz="1200" b="1">
                          <a:solidFill>
                            <a:srgbClr val="F5F7FB"/>
                          </a:solidFill>
                          <a:latin typeface="Segoe UI"/>
                        </a:rPr>
                        <a:t>Format allows arbitrary object reconstruction</a:t>
                      </a:r>
                    </a:p>
                  </a:txBody>
                  <a:tcPr marL="101600" marR="101600" marT="50800" marB="50800" anchor="ctr">
                    <a:solidFill>
                      <a:srgbClr val="121319"/>
                    </a:solidFill>
                  </a:tcPr>
                </a:tc>
                <a:tc>
                  <a:txBody>
                    <a:bodyPr wrap="square"/>
                    <a:lstStyle/>
                    <a:p>
                      <a:r>
                        <a:rPr sz="1200" b="0">
                          <a:solidFill>
                            <a:srgbClr val="B8C0CF"/>
                          </a:solidFill>
                          <a:latin typeface="Segoe UI"/>
                        </a:rPr>
                        <a:t>Loading can trigger code execution</a:t>
                      </a:r>
                    </a:p>
                  </a:txBody>
                  <a:tcPr marL="101600" marR="101600" marT="50800" marB="50800" anchor="ctr">
                    <a:solidFill>
                      <a:srgbClr val="121319"/>
                    </a:solidFill>
                  </a:tcPr>
                </a:tc>
                <a:tc>
                  <a:txBody>
                    <a:bodyPr wrap="square"/>
                    <a:lstStyle/>
                    <a:p>
                      <a:r>
                        <a:rPr sz="1200" b="0">
                          <a:solidFill>
                            <a:srgbClr val="B8C0CF"/>
                          </a:solidFill>
                          <a:latin typeface="Segoe UI"/>
                        </a:rPr>
                        <a:t>Prefer a data-only serialisation format</a:t>
                      </a:r>
                    </a:p>
                  </a:txBody>
                  <a:tcPr marL="101600" marR="101600" marT="50800" marB="50800" anchor="ctr">
                    <a:solidFill>
                      <a:srgbClr val="121319"/>
                    </a:solidFill>
                  </a:tcPr>
                </a:tc>
              </a:tr>
              <a:tr h="471830">
                <a:tc>
                  <a:txBody>
                    <a:bodyPr wrap="square"/>
                    <a:lstStyle/>
                    <a:p>
                      <a:r>
                        <a:rPr sz="1200" b="1">
                          <a:solidFill>
                            <a:srgbClr val="F5F7FB"/>
                          </a:solidFill>
                          <a:latin typeface="Segoe UI"/>
                        </a:rPr>
                        <a:t>Untrusted or unverified source</a:t>
                      </a:r>
                    </a:p>
                  </a:txBody>
                  <a:tcPr marL="101600" marR="101600" marT="50800" marB="50800" anchor="ctr">
                    <a:solidFill>
                      <a:srgbClr val="141519"/>
                    </a:solidFill>
                  </a:tcPr>
                </a:tc>
                <a:tc>
                  <a:txBody>
                    <a:bodyPr wrap="square"/>
                    <a:lstStyle/>
                    <a:p>
                      <a:r>
                        <a:rPr sz="1200" b="0">
                          <a:solidFill>
                            <a:srgbClr val="B8C0CF"/>
                          </a:solidFill>
                          <a:latin typeface="Segoe UI"/>
                        </a:rPr>
                        <a:t>The file itself may be tampered</a:t>
                      </a:r>
                    </a:p>
                  </a:txBody>
                  <a:tcPr marL="101600" marR="101600" marT="50800" marB="50800" anchor="ctr">
                    <a:solidFill>
                      <a:srgbClr val="141519"/>
                    </a:solidFill>
                  </a:tcPr>
                </a:tc>
                <a:tc>
                  <a:txBody>
                    <a:bodyPr wrap="square"/>
                    <a:lstStyle/>
                    <a:p>
                      <a:r>
                        <a:rPr sz="1200" b="0">
                          <a:solidFill>
                            <a:srgbClr val="B8C0CF"/>
                          </a:solidFill>
                          <a:latin typeface="Segoe UI"/>
                        </a:rPr>
                        <a:t>Verify provenance and integrity before loading</a:t>
                      </a:r>
                    </a:p>
                  </a:txBody>
                  <a:tcPr marL="101600" marR="101600" marT="50800" marB="50800" anchor="ctr">
                    <a:solidFill>
                      <a:srgbClr val="141519"/>
                    </a:solidFill>
                  </a:tcPr>
                </a:tc>
              </a:tr>
              <a:tr h="471830">
                <a:tc>
                  <a:txBody>
                    <a:bodyPr wrap="square"/>
                    <a:lstStyle/>
                    <a:p>
                      <a:r>
                        <a:rPr sz="1200" b="1">
                          <a:solidFill>
                            <a:srgbClr val="F5F7FB"/>
                          </a:solidFill>
                          <a:latin typeface="Segoe UI"/>
                        </a:rPr>
                        <a:t>Loading on production infrastructure directly</a:t>
                      </a:r>
                    </a:p>
                  </a:txBody>
                  <a:tcPr marL="101600" marR="101600" marT="50800" marB="50800" anchor="ctr">
                    <a:solidFill>
                      <a:srgbClr val="121319"/>
                    </a:solidFill>
                  </a:tcPr>
                </a:tc>
                <a:tc>
                  <a:txBody>
                    <a:bodyPr wrap="square"/>
                    <a:lstStyle/>
                    <a:p>
                      <a:r>
                        <a:rPr sz="1200" b="0">
                          <a:solidFill>
                            <a:srgbClr val="B8C0CF"/>
                          </a:solidFill>
                          <a:latin typeface="Segoe UI"/>
                        </a:rPr>
                        <a:t>Any compromise reaches production immediately</a:t>
                      </a:r>
                    </a:p>
                  </a:txBody>
                  <a:tcPr marL="101600" marR="101600" marT="50800" marB="50800" anchor="ctr">
                    <a:solidFill>
                      <a:srgbClr val="121319"/>
                    </a:solidFill>
                  </a:tcPr>
                </a:tc>
                <a:tc>
                  <a:txBody>
                    <a:bodyPr wrap="square"/>
                    <a:lstStyle/>
                    <a:p>
                      <a:r>
                        <a:rPr sz="1200" b="0">
                          <a:solidFill>
                            <a:srgbClr val="B8C0CF"/>
                          </a:solidFill>
                          <a:latin typeface="Segoe UI"/>
                        </a:rPr>
                        <a:t>Sandbox the initial load in an isolated environment</a:t>
                      </a:r>
                    </a:p>
                  </a:txBody>
                  <a:tcPr marL="101600" marR="101600" marT="50800" marB="50800" anchor="ctr">
                    <a:solidFill>
                      <a:srgbClr val="121319"/>
                    </a:solidFill>
                  </a:tcPr>
                </a:tc>
              </a:tr>
              <a:tr h="471832">
                <a:tc>
                  <a:txBody>
                    <a:bodyPr wrap="square"/>
                    <a:lstStyle/>
                    <a:p>
                      <a:r>
                        <a:rPr sz="1200" b="1">
                          <a:solidFill>
                            <a:srgbClr val="F5F7FB"/>
                          </a:solidFill>
                          <a:latin typeface="Segoe UI"/>
                        </a:rPr>
                        <a:t>Elevated privilege at load or serve time</a:t>
                      </a:r>
                    </a:p>
                  </a:txBody>
                  <a:tcPr marL="101600" marR="101600" marT="50800" marB="50800" anchor="ctr">
                    <a:solidFill>
                      <a:srgbClr val="141519"/>
                    </a:solidFill>
                  </a:tcPr>
                </a:tc>
                <a:tc>
                  <a:txBody>
                    <a:bodyPr wrap="square"/>
                    <a:lstStyle/>
                    <a:p>
                      <a:r>
                        <a:rPr sz="1200" b="0">
                          <a:solidFill>
                            <a:srgbClr val="B8C0CF"/>
                          </a:solidFill>
                          <a:latin typeface="Segoe UI"/>
                        </a:rPr>
                        <a:t>Compromise inherits whatever privilege the process holds</a:t>
                      </a:r>
                    </a:p>
                  </a:txBody>
                  <a:tcPr marL="101600" marR="101600" marT="50800" marB="50800" anchor="ctr">
                    <a:solidFill>
                      <a:srgbClr val="141519"/>
                    </a:solidFill>
                  </a:tcPr>
                </a:tc>
                <a:tc>
                  <a:txBody>
                    <a:bodyPr wrap="square"/>
                    <a:lstStyle/>
                    <a:p>
                      <a:r>
                        <a:rPr sz="1200" b="0">
                          <a:solidFill>
                            <a:srgbClr val="B8C0CF"/>
                          </a:solidFill>
                          <a:latin typeface="Segoe UI"/>
                        </a:rPr>
                        <a:t>Restrict privilege to the minimum inference requires</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This table maps risk factors to general practice, not to any specific library, tool, or CVE.</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8.3 · CONCEPTUAL ANATOMY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Anatomy of a model-loading risk review</a:t>
            </a:r>
          </a:p>
        </p:txBody>
      </p:sp>
      <p:sp>
        <p:nvSpPr>
          <p:cNvPr id="6" name="TextBox 5"/>
          <p:cNvSpPr txBox="1"/>
          <p:nvPr/>
        </p:nvSpPr>
        <p:spPr>
          <a:xfrm>
            <a:off x="548640" y="1737360"/>
            <a:ext cx="11064240" cy="640080"/>
          </a:xfrm>
          <a:prstGeom prst="rect">
            <a:avLst/>
          </a:prstGeom>
          <a:noFill/>
        </p:spPr>
        <p:txBody>
          <a:bodyPr wrap="square" anchor="t" lIns="25400" rIns="25400" tIns="25400" bIns="25400">
            <a:spAutoFit/>
          </a:bodyPr>
          <a:lstStyle/>
          <a:p>
            <a:pPr algn="l">
              <a:spcBef>
                <a:spcPts val="0"/>
              </a:spcBef>
              <a:spcAft>
                <a:spcPts val="600"/>
              </a:spcAft>
            </a:pPr>
            <a:r>
              <a:rPr sz="1500" b="0">
                <a:solidFill>
                  <a:srgbClr val="B8C0CF"/>
                </a:solidFill>
                <a:latin typeface="Segoe UI"/>
              </a:rPr>
              <a:t>A conceptual, non-executable checklist for reviewing model-file risk before loading — not a technique for exploiting an unsafe format.</a:t>
            </a:r>
          </a:p>
        </p:txBody>
      </p:sp>
      <p:sp>
        <p:nvSpPr>
          <p:cNvPr id="7" name="Rounded Rectangle 6"/>
          <p:cNvSpPr/>
          <p:nvPr/>
        </p:nvSpPr>
        <p:spPr>
          <a:xfrm>
            <a:off x="548640" y="2423160"/>
            <a:ext cx="11091672" cy="3566160"/>
          </a:xfrm>
          <a:prstGeom prst="roundRect">
            <a:avLst/>
          </a:prstGeom>
          <a:solidFill>
            <a:srgbClr val="0A0F16"/>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606040"/>
            <a:ext cx="10515600" cy="3291840"/>
          </a:xfrm>
          <a:prstGeom prst="rect">
            <a:avLst/>
          </a:prstGeom>
          <a:noFill/>
        </p:spPr>
        <p:txBody>
          <a:bodyPr wrap="square" anchor="t" lIns="25400" rIns="25400" tIns="25400" bIns="25400">
            <a:spAutoFit/>
          </a:bodyPr>
          <a:lstStyle/>
          <a:p>
            <a:pPr algn="l">
              <a:spcBef>
                <a:spcPts val="0"/>
              </a:spcBef>
              <a:spcAft>
                <a:spcPts val="400"/>
              </a:spcAft>
            </a:pPr>
            <a:r>
              <a:rPr sz="1400" b="0">
                <a:solidFill>
                  <a:srgbClr val="9CE6B4"/>
                </a:solidFill>
                <a:latin typeface="Segoe UI"/>
              </a:rPr>
              <a:t># Format check</a:t>
            </a:r>
          </a:p>
          <a:p>
            <a:pPr algn="l">
              <a:spcBef>
                <a:spcPts val="0"/>
              </a:spcBef>
              <a:spcAft>
                <a:spcPts val="400"/>
              </a:spcAft>
            </a:pPr>
            <a:r>
              <a:rPr sz="1400" b="0">
                <a:solidFill>
                  <a:srgbClr val="F5F7FB"/>
                </a:solidFill>
                <a:latin typeface="Segoe UI"/>
              </a:rPr>
              <a:t>Identify whether the file format is data-only or capable of arbitrary object reconstruction</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Provenance check</a:t>
            </a:r>
          </a:p>
          <a:p>
            <a:pPr algn="l">
              <a:spcBef>
                <a:spcPts val="0"/>
              </a:spcBef>
              <a:spcAft>
                <a:spcPts val="400"/>
              </a:spcAft>
            </a:pPr>
            <a:r>
              <a:rPr sz="1400" b="0">
                <a:solidFill>
                  <a:srgbClr val="F5F7FB"/>
                </a:solidFill>
                <a:latin typeface="Segoe UI"/>
              </a:rPr>
              <a:t>Confirm the source and verify integrity against a known-good reference before loading</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Environment check</a:t>
            </a:r>
          </a:p>
          <a:p>
            <a:pPr algn="l">
              <a:spcBef>
                <a:spcPts val="0"/>
              </a:spcBef>
              <a:spcAft>
                <a:spcPts val="400"/>
              </a:spcAft>
            </a:pPr>
            <a:r>
              <a:rPr sz="1400" b="0">
                <a:solidFill>
                  <a:srgbClr val="F5F7FB"/>
                </a:solidFill>
                <a:latin typeface="Segoe UI"/>
              </a:rPr>
              <a:t>Confirm the load will happen in an isolated, least-privilege environment, not directly in production</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Privilege check</a:t>
            </a:r>
          </a:p>
          <a:p>
            <a:pPr algn="l">
              <a:spcBef>
                <a:spcPts val="0"/>
              </a:spcBef>
              <a:spcAft>
                <a:spcPts val="400"/>
              </a:spcAft>
            </a:pPr>
            <a:r>
              <a:rPr sz="1400" b="0">
                <a:solidFill>
                  <a:srgbClr val="F5F7FB"/>
                </a:solidFill>
                <a:latin typeface="Segoe UI"/>
              </a:rPr>
              <a:t>Confirm the loading and serving process runs with no more privilege than inference requires</a:t>
            </a:r>
          </a:p>
        </p:txBody>
      </p:sp>
      <p:sp>
        <p:nvSpPr>
          <p:cNvPr id="9" name="TextBox 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0" name="TextBox 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8.3 · FRAMEWORK MAPPING</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Where model-file risk sits in OWASP and ATLAS</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Unsafe deserialization and model-file risk sits within OWASP's LLM03 — Supply Chain alongside malicious models, since a vulnerable file format is itself a compromised or risky component in the supply chain; MITRE ATLAS documents comparable techniques under its ML-supply-chain-compromise tactic.</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RELATIONSHIP TO OBJECTIVE 8.2</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model can be both backdoored and delivered in a code-executing-capable format — the two risks compound but are independently assessable and independently mitigated.</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REPORTING IMPLICATION</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Findings here should specify the format category involved and the mitigation gap, without naming a specific vulnerable library or CVE identifier.</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8.4</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8.4</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Dataset and dependency poisoning</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8.4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dataset poisoning, upstream of training?</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Dataset poisoning is the introduction of manipulated content into a public dataset that is later used for training or fine-tuning, so that the resulting model's learned behaviour — not just its retrieved output — is affected once training completes.</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IT CHANGES</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Because the model's weights are updated during training, a successful poisoning effect can persist in the model's behaviour even after the original poisoned dataset is no longer accessible.</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WHERE IT SITS</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This is the training-time subset of OWASP's LLM04, distinct from the retrieval-time subset covered in Module 5, Objective 5.2.</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8.4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Dataset poisoning vs RAG-corpus poisoning</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Dataset poisoning (Module 8, this objective)</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Payload enters a dataset used for training or fine-tuning</a:t>
            </a:r>
          </a:p>
          <a:p>
            <a:pPr algn="l">
              <a:spcBef>
                <a:spcPts val="0"/>
              </a:spcBef>
              <a:spcAft>
                <a:spcPts val="800"/>
              </a:spcAft>
            </a:pPr>
            <a:r>
              <a:rPr sz="1400" b="1">
                <a:solidFill>
                  <a:srgbClr val="FF6A00"/>
                </a:solidFill>
                <a:latin typeface="Segoe UI"/>
              </a:rPr>
              <a:t>•  </a:t>
            </a:r>
            <a:r>
              <a:rPr sz="1400" b="0">
                <a:solidFill>
                  <a:srgbClr val="B8C0CF"/>
                </a:solidFill>
                <a:latin typeface="Segoe UI"/>
              </a:rPr>
              <a:t>Affects the model's learned weights and behaviour</a:t>
            </a:r>
          </a:p>
          <a:p>
            <a:pPr algn="l">
              <a:spcBef>
                <a:spcPts val="0"/>
              </a:spcBef>
              <a:spcAft>
                <a:spcPts val="800"/>
              </a:spcAft>
            </a:pPr>
            <a:r>
              <a:rPr sz="1400" b="1">
                <a:solidFill>
                  <a:srgbClr val="FF6A00"/>
                </a:solidFill>
                <a:latin typeface="Segoe UI"/>
              </a:rPr>
              <a:t>•  </a:t>
            </a:r>
            <a:r>
              <a:rPr sz="1400" b="0">
                <a:solidFill>
                  <a:srgbClr val="B8C0CF"/>
                </a:solidFill>
                <a:latin typeface="Segoe UI"/>
              </a:rPr>
              <a:t>Effect can persist even if the dataset is later removed</a:t>
            </a:r>
          </a:p>
          <a:p>
            <a:pPr algn="l">
              <a:spcBef>
                <a:spcPts val="0"/>
              </a:spcBef>
              <a:spcAft>
                <a:spcPts val="800"/>
              </a:spcAft>
            </a:pPr>
            <a:r>
              <a:rPr sz="1400" b="1">
                <a:solidFill>
                  <a:srgbClr val="FF6A00"/>
                </a:solidFill>
                <a:latin typeface="Segoe UI"/>
              </a:rPr>
              <a:t>•  </a:t>
            </a:r>
            <a:r>
              <a:rPr sz="1400" b="0">
                <a:solidFill>
                  <a:srgbClr val="B8C0CF"/>
                </a:solidFill>
                <a:latin typeface="Segoe UI"/>
              </a:rPr>
              <a:t>Requires a training or fine-tuning run to take effect</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RAG-corpus poisoning (Module 5, Objective 5.2)</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Payload enters a corpus used for retrieval at query time</a:t>
            </a:r>
          </a:p>
          <a:p>
            <a:pPr algn="l">
              <a:spcBef>
                <a:spcPts val="0"/>
              </a:spcBef>
              <a:spcAft>
                <a:spcPts val="800"/>
              </a:spcAft>
            </a:pPr>
            <a:r>
              <a:rPr sz="1400" b="1">
                <a:solidFill>
                  <a:srgbClr val="FF6A00"/>
                </a:solidFill>
                <a:latin typeface="Segoe UI"/>
              </a:rPr>
              <a:t>•  </a:t>
            </a:r>
            <a:r>
              <a:rPr sz="1400" b="0">
                <a:solidFill>
                  <a:srgbClr val="B8C0CF"/>
                </a:solidFill>
                <a:latin typeface="Segoe UI"/>
              </a:rPr>
              <a:t>Affects only what is retrieved and shown in context</a:t>
            </a:r>
          </a:p>
          <a:p>
            <a:pPr algn="l">
              <a:spcBef>
                <a:spcPts val="0"/>
              </a:spcBef>
              <a:spcAft>
                <a:spcPts val="800"/>
              </a:spcAft>
            </a:pPr>
            <a:r>
              <a:rPr sz="1400" b="1">
                <a:solidFill>
                  <a:srgbClr val="FF6A00"/>
                </a:solidFill>
                <a:latin typeface="Segoe UI"/>
              </a:rPr>
              <a:t>•  </a:t>
            </a:r>
            <a:r>
              <a:rPr sz="1400" b="0">
                <a:solidFill>
                  <a:srgbClr val="B8C0CF"/>
                </a:solidFill>
                <a:latin typeface="Segoe UI"/>
              </a:rPr>
              <a:t>Removing the poisoned document removes the effect</a:t>
            </a:r>
          </a:p>
          <a:p>
            <a:pPr algn="l">
              <a:spcBef>
                <a:spcPts val="0"/>
              </a:spcBef>
              <a:spcAft>
                <a:spcPts val="800"/>
              </a:spcAft>
            </a:pPr>
            <a:r>
              <a:rPr sz="1400" b="1">
                <a:solidFill>
                  <a:srgbClr val="FF6A00"/>
                </a:solidFill>
                <a:latin typeface="Segoe UI"/>
              </a:rPr>
              <a:t>•  </a:t>
            </a:r>
            <a:r>
              <a:rPr sz="1400" b="0">
                <a:solidFill>
                  <a:srgbClr val="B8C0CF"/>
                </a:solidFill>
                <a:latin typeface="Segoe UI"/>
              </a:rPr>
              <a:t>Takes effect immediately at the next matching query</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Both are named OWASP LLM04, and both plant a payload upstream of the point where it does damage — but dataset poisoning changes what the model knows, while RAG poisoning changes only what the model is shown.</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8.4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Dependency confusion and typosquatting on ML packages</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Typosquatting is publishing a malicious package under a name deliberately similar to a popular, legitimate ML package on a public registry, so that a developer's typo, misconfiguration, or automated resolution installs the malicious package instead of the intended one.</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ML PACKAGES SPECIFICALLY</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The ML ecosystem's public registries and rapidly evolving package names create the same conditions that make dependency confusion effective in software supply chains generally.</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EXECUTES IT</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Once installed, the malicious package can execute arbitrary code as part of its own installation or import process — no separate vulnerability is required beyond the installation itself.</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8.4 · TECHNIQUE</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Common typosquatting patterns</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CHARACTER-LEVEL SIMILARITY</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Names differing by a single character, transposed letters, or a common misspelling of a popular package.</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NAMESPACE OR SCOPE CONFUSION</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Publishing under a similar but distinct namespace or organisation scope than the legitimate package uses.</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SEPARATOR OR HYPHENATION VARIANTS</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Substituting hyphens, underscores, or dots for the separators used in the legitimate package's name.</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VERSION OR NAMING-CONVENTION MIMICRY</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Adopting version numbering or naming conventions that make the malicious package look like an official or newer release.</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8.4 · LIFECYCLE</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dependency-confusion lifecycle</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Identify a popular legitimate package</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Choose a widely-used ML library or framework name likely to be referenced by many projects.</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Publish a similarly named malicious package</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Register a lookalike name on the same or an adjacent public registry.</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Wait for accidental or automated resolution</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A typo, misconfigured install source, or automated dependency resolution installs the malicious package instead.</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Malicious code executes on install or import</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payload runs as part of the package's own installation or import process, without further action from the victim.</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Compromise reaches every affected installation</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Every environment that installed the lookalike package is now compromised, independent of any single targeted attack.</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8.4 · MAP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Poisoning type to framework mapping</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Type</a:t>
                      </a:r>
                    </a:p>
                  </a:txBody>
                  <a:tcPr marL="101600" marR="101600" marT="50800" marB="50800" anchor="ctr">
                    <a:solidFill>
                      <a:srgbClr val="3A2410"/>
                    </a:solidFill>
                  </a:tcPr>
                </a:tc>
                <a:tc>
                  <a:txBody>
                    <a:bodyPr wrap="square"/>
                    <a:lstStyle/>
                    <a:p>
                      <a:r>
                        <a:rPr sz="1300" b="1">
                          <a:solidFill>
                            <a:srgbClr val="F5F7FB"/>
                          </a:solidFill>
                          <a:latin typeface="Segoe UI"/>
                        </a:rPr>
                        <a:t>What is targeted</a:t>
                      </a:r>
                    </a:p>
                  </a:txBody>
                  <a:tcPr marL="101600" marR="101600" marT="50800" marB="50800" anchor="ctr">
                    <a:solidFill>
                      <a:srgbClr val="3A2410"/>
                    </a:solidFill>
                  </a:tcPr>
                </a:tc>
                <a:tc>
                  <a:txBody>
                    <a:bodyPr wrap="square"/>
                    <a:lstStyle/>
                    <a:p>
                      <a:r>
                        <a:rPr sz="1300" b="1">
                          <a:solidFill>
                            <a:srgbClr val="F5F7FB"/>
                          </a:solidFill>
                          <a:latin typeface="Segoe UI"/>
                        </a:rPr>
                        <a:t>Framework mapping</a:t>
                      </a:r>
                    </a:p>
                  </a:txBody>
                  <a:tcPr marL="101600" marR="101600" marT="50800" marB="50800" anchor="ctr">
                    <a:solidFill>
                      <a:srgbClr val="3A2410"/>
                    </a:solidFill>
                  </a:tcPr>
                </a:tc>
              </a:tr>
              <a:tr h="471830">
                <a:tc>
                  <a:txBody>
                    <a:bodyPr wrap="square"/>
                    <a:lstStyle/>
                    <a:p>
                      <a:r>
                        <a:rPr sz="1200" b="1">
                          <a:solidFill>
                            <a:srgbClr val="F5F7FB"/>
                          </a:solidFill>
                          <a:latin typeface="Segoe UI"/>
                        </a:rPr>
                        <a:t>Upstream dataset poisoning</a:t>
                      </a:r>
                    </a:p>
                  </a:txBody>
                  <a:tcPr marL="101600" marR="101600" marT="50800" marB="50800" anchor="ctr">
                    <a:solidFill>
                      <a:srgbClr val="121319"/>
                    </a:solidFill>
                  </a:tcPr>
                </a:tc>
                <a:tc>
                  <a:txBody>
                    <a:bodyPr wrap="square"/>
                    <a:lstStyle/>
                    <a:p>
                      <a:r>
                        <a:rPr sz="1200" b="0">
                          <a:solidFill>
                            <a:srgbClr val="B8C0CF"/>
                          </a:solidFill>
                          <a:latin typeface="Segoe UI"/>
                        </a:rPr>
                        <a:t>Training or fine-tuning data</a:t>
                      </a:r>
                    </a:p>
                  </a:txBody>
                  <a:tcPr marL="101600" marR="101600" marT="50800" marB="50800" anchor="ctr">
                    <a:solidFill>
                      <a:srgbClr val="121319"/>
                    </a:solidFill>
                  </a:tcPr>
                </a:tc>
                <a:tc>
                  <a:txBody>
                    <a:bodyPr wrap="square"/>
                    <a:lstStyle/>
                    <a:p>
                      <a:r>
                        <a:rPr sz="1200" b="0">
                          <a:solidFill>
                            <a:srgbClr val="B8C0CF"/>
                          </a:solidFill>
                          <a:latin typeface="Segoe UI"/>
                        </a:rPr>
                        <a:t>OWASP LLM04 — Data &amp; Model Poisoning (training-time subset)</a:t>
                      </a:r>
                    </a:p>
                  </a:txBody>
                  <a:tcPr marL="101600" marR="101600" marT="50800" marB="50800" anchor="ctr">
                    <a:solidFill>
                      <a:srgbClr val="121319"/>
                    </a:solidFill>
                  </a:tcPr>
                </a:tc>
              </a:tr>
              <a:tr h="471830">
                <a:tc>
                  <a:txBody>
                    <a:bodyPr wrap="square"/>
                    <a:lstStyle/>
                    <a:p>
                      <a:r>
                        <a:rPr sz="1200" b="1">
                          <a:solidFill>
                            <a:srgbClr val="F5F7FB"/>
                          </a:solidFill>
                          <a:latin typeface="Segoe UI"/>
                        </a:rPr>
                        <a:t>RAG-corpus poisoning (Module 5)</a:t>
                      </a:r>
                    </a:p>
                  </a:txBody>
                  <a:tcPr marL="101600" marR="101600" marT="50800" marB="50800" anchor="ctr">
                    <a:solidFill>
                      <a:srgbClr val="141519"/>
                    </a:solidFill>
                  </a:tcPr>
                </a:tc>
                <a:tc>
                  <a:txBody>
                    <a:bodyPr wrap="square"/>
                    <a:lstStyle/>
                    <a:p>
                      <a:r>
                        <a:rPr sz="1200" b="0">
                          <a:solidFill>
                            <a:srgbClr val="B8C0CF"/>
                          </a:solidFill>
                          <a:latin typeface="Segoe UI"/>
                        </a:rPr>
                        <a:t>Retrieval-time corpus</a:t>
                      </a:r>
                    </a:p>
                  </a:txBody>
                  <a:tcPr marL="101600" marR="101600" marT="50800" marB="50800" anchor="ctr">
                    <a:solidFill>
                      <a:srgbClr val="141519"/>
                    </a:solidFill>
                  </a:tcPr>
                </a:tc>
                <a:tc>
                  <a:txBody>
                    <a:bodyPr wrap="square"/>
                    <a:lstStyle/>
                    <a:p>
                      <a:r>
                        <a:rPr sz="1200" b="0">
                          <a:solidFill>
                            <a:srgbClr val="B8C0CF"/>
                          </a:solidFill>
                          <a:latin typeface="Segoe UI"/>
                        </a:rPr>
                        <a:t>OWASP LLM04 — Data &amp; Model Poisoning (retrieval-time subset)</a:t>
                      </a:r>
                    </a:p>
                  </a:txBody>
                  <a:tcPr marL="101600" marR="101600" marT="50800" marB="50800" anchor="ctr">
                    <a:solidFill>
                      <a:srgbClr val="141519"/>
                    </a:solidFill>
                  </a:tcPr>
                </a:tc>
              </a:tr>
              <a:tr h="471830">
                <a:tc>
                  <a:txBody>
                    <a:bodyPr wrap="square"/>
                    <a:lstStyle/>
                    <a:p>
                      <a:r>
                        <a:rPr sz="1200" b="1">
                          <a:solidFill>
                            <a:srgbClr val="F5F7FB"/>
                          </a:solidFill>
                          <a:latin typeface="Segoe UI"/>
                        </a:rPr>
                        <a:t>Typosquatted ML package</a:t>
                      </a:r>
                    </a:p>
                  </a:txBody>
                  <a:tcPr marL="101600" marR="101600" marT="50800" marB="50800" anchor="ctr">
                    <a:solidFill>
                      <a:srgbClr val="121319"/>
                    </a:solidFill>
                  </a:tcPr>
                </a:tc>
                <a:tc>
                  <a:txBody>
                    <a:bodyPr wrap="square"/>
                    <a:lstStyle/>
                    <a:p>
                      <a:r>
                        <a:rPr sz="1200" b="0">
                          <a:solidFill>
                            <a:srgbClr val="B8C0CF"/>
                          </a:solidFill>
                          <a:latin typeface="Segoe UI"/>
                        </a:rPr>
                        <a:t>A public package registry</a:t>
                      </a:r>
                    </a:p>
                  </a:txBody>
                  <a:tcPr marL="101600" marR="101600" marT="50800" marB="50800" anchor="ctr">
                    <a:solidFill>
                      <a:srgbClr val="121319"/>
                    </a:solidFill>
                  </a:tcPr>
                </a:tc>
                <a:tc>
                  <a:txBody>
                    <a:bodyPr wrap="square"/>
                    <a:lstStyle/>
                    <a:p>
                      <a:r>
                        <a:rPr sz="1200" b="0">
                          <a:solidFill>
                            <a:srgbClr val="B8C0CF"/>
                          </a:solidFill>
                          <a:latin typeface="Segoe UI"/>
                        </a:rPr>
                        <a:t>OWASP LLM03 — Supply Chain</a:t>
                      </a:r>
                    </a:p>
                  </a:txBody>
                  <a:tcPr marL="101600" marR="101600" marT="50800" marB="50800" anchor="ctr">
                    <a:solidFill>
                      <a:srgbClr val="121319"/>
                    </a:solidFill>
                  </a:tcPr>
                </a:tc>
              </a:tr>
              <a:tr h="471832">
                <a:tc>
                  <a:txBody>
                    <a:bodyPr wrap="square"/>
                    <a:lstStyle/>
                    <a:p>
                      <a:r>
                        <a:rPr sz="1200" b="1">
                          <a:solidFill>
                            <a:srgbClr val="F5F7FB"/>
                          </a:solidFill>
                          <a:latin typeface="Segoe UI"/>
                        </a:rPr>
                        <a:t>Malicious/backdoored model (Objective 8.2)</a:t>
                      </a:r>
                    </a:p>
                  </a:txBody>
                  <a:tcPr marL="101600" marR="101600" marT="50800" marB="50800" anchor="ctr">
                    <a:solidFill>
                      <a:srgbClr val="141519"/>
                    </a:solidFill>
                  </a:tcPr>
                </a:tc>
                <a:tc>
                  <a:txBody>
                    <a:bodyPr wrap="square"/>
                    <a:lstStyle/>
                    <a:p>
                      <a:r>
                        <a:rPr sz="1200" b="0">
                          <a:solidFill>
                            <a:srgbClr val="B8C0CF"/>
                          </a:solidFill>
                          <a:latin typeface="Segoe UI"/>
                        </a:rPr>
                        <a:t>Published model weights</a:t>
                      </a:r>
                    </a:p>
                  </a:txBody>
                  <a:tcPr marL="101600" marR="101600" marT="50800" marB="50800" anchor="ctr">
                    <a:solidFill>
                      <a:srgbClr val="141519"/>
                    </a:solidFill>
                  </a:tcPr>
                </a:tc>
                <a:tc>
                  <a:txBody>
                    <a:bodyPr wrap="square"/>
                    <a:lstStyle/>
                    <a:p>
                      <a:r>
                        <a:rPr sz="1200" b="0">
                          <a:solidFill>
                            <a:srgbClr val="B8C0CF"/>
                          </a:solidFill>
                          <a:latin typeface="Segoe UI"/>
                        </a:rPr>
                        <a:t>OWASP LLM03 — Supply Chain</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MITRE ATLAS's supply-chain-compromise tactic applies to every row in this table.</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8.4 · MITIGATIONS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Reducing dataset and dependency poisoning risk</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VET DATASET PROVENANCE BEFORE TRAINING</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Prefer datasets with a documented, verifiable origin over unverified public collections of unknown quality.</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PIN AND VERIFY PACKAGE NAMES AND VERSIONS</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Explicit, verified package references remove the ambiguity that typosquatting depends on.</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USE PRIVATE OR MIRRORED PACKAGE SOURCES</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Resolving dependencies from a controlled, internally-vetted source removes exposure to public-registry lookalikes.</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AUDIT TRAINING DATA CHANGES OVER TIME</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Reviewing what changed in a dataset between training runs can surface unexpected or unauthorised additions.</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8.4 · RECON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Signals worth noting during recon, not proof of compromise</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UNCLEAR DATASET PROVENANCE</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training or fine-tuning dataset with no documented source or curation process carries more unverified trust than a well-documented one.</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UNUSUAL PACKAGE NAMES IN A DEPENDENCY LIST</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Names that are close but not identical to a well-known ML library or framework are worth flagging for review.</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UNPINNED OR LOOSELY SPECIFIED DEPENDENCY VERSIONS</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Dependency resolution that is not pinned to an exact, verified version is more exposed to a lookalike substitution.</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BEHAVIOUR INCONSISTENT WITH THE DOCUMENTED TRAINING DATA</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model behaving in ways not explainable by its documented dataset is worth escalating as a possible upstream poisoning finding.</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ACRONYM SPOTLIGHT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Key acronyms for this module</a:t>
            </a:r>
          </a:p>
        </p:txBody>
      </p:sp>
      <p:graphicFrame>
        <p:nvGraphicFramePr>
          <p:cNvPr id="6" name="Table 5"/>
          <p:cNvGraphicFramePr>
            <a:graphicFrameLocks noGrp="1"/>
          </p:cNvGraphicFramePr>
          <p:nvPr/>
        </p:nvGraphicFramePr>
        <p:xfrm>
          <a:off x="548640" y="1828800"/>
          <a:ext cx="11091672" cy="4206240"/>
        </p:xfrm>
        <a:graphic>
          <a:graphicData uri="http://schemas.openxmlformats.org/drawingml/2006/table">
            <a:tbl>
              <a:tblPr>
                <a:tableStyleId>{5C22544A-7EE6-4342-B048-85BDC9FD1C3A}</a:tableStyleId>
              </a:tblPr>
              <a:tblGrid>
                <a:gridCol w="3697224"/>
                <a:gridCol w="3697224"/>
                <a:gridCol w="3697224"/>
              </a:tblGrid>
              <a:tr h="467360">
                <a:tc>
                  <a:txBody>
                    <a:bodyPr wrap="square"/>
                    <a:lstStyle/>
                    <a:p>
                      <a:r>
                        <a:rPr sz="1300" b="1">
                          <a:solidFill>
                            <a:srgbClr val="F5F7FB"/>
                          </a:solidFill>
                          <a:latin typeface="Segoe UI"/>
                        </a:rPr>
                        <a:t>Acronym</a:t>
                      </a:r>
                    </a:p>
                  </a:txBody>
                  <a:tcPr marL="101600" marR="101600" marT="50800" marB="50800" anchor="ctr">
                    <a:solidFill>
                      <a:srgbClr val="3A2410"/>
                    </a:solidFill>
                  </a:tcPr>
                </a:tc>
                <a:tc>
                  <a:txBody>
                    <a:bodyPr wrap="square"/>
                    <a:lstStyle/>
                    <a:p>
                      <a:r>
                        <a:rPr sz="1300" b="1">
                          <a:solidFill>
                            <a:srgbClr val="F5F7FB"/>
                          </a:solidFill>
                          <a:latin typeface="Segoe UI"/>
                        </a:rPr>
                        <a:t>Expansion</a:t>
                      </a:r>
                    </a:p>
                  </a:txBody>
                  <a:tcPr marL="101600" marR="101600" marT="50800" marB="50800" anchor="ctr">
                    <a:solidFill>
                      <a:srgbClr val="3A2410"/>
                    </a:solidFill>
                  </a:tcPr>
                </a:tc>
                <a:tc>
                  <a:txBody>
                    <a:bodyPr wrap="square"/>
                    <a:lstStyle/>
                    <a:p>
                      <a:r>
                        <a:rPr sz="1300" b="1">
                          <a:solidFill>
                            <a:srgbClr val="F5F7FB"/>
                          </a:solidFill>
                          <a:latin typeface="Segoe UI"/>
                        </a:rPr>
                        <a:t>Meaning in context</a:t>
                      </a:r>
                    </a:p>
                  </a:txBody>
                  <a:tcPr marL="101600" marR="101600" marT="50800" marB="50800" anchor="ctr">
                    <a:solidFill>
                      <a:srgbClr val="3A2410"/>
                    </a:solidFill>
                  </a:tcPr>
                </a:tc>
              </a:tr>
              <a:tr h="467360">
                <a:tc>
                  <a:txBody>
                    <a:bodyPr wrap="square"/>
                    <a:lstStyle/>
                    <a:p>
                      <a:r>
                        <a:rPr sz="1200" b="1">
                          <a:solidFill>
                            <a:srgbClr val="F5F7FB"/>
                          </a:solidFill>
                          <a:latin typeface="Segoe UI"/>
                        </a:rPr>
                        <a:t>LLM03</a:t>
                      </a:r>
                    </a:p>
                  </a:txBody>
                  <a:tcPr marL="101600" marR="101600" marT="50800" marB="50800" anchor="ctr">
                    <a:solidFill>
                      <a:srgbClr val="121319"/>
                    </a:solidFill>
                  </a:tcPr>
                </a:tc>
                <a:tc>
                  <a:txBody>
                    <a:bodyPr wrap="square"/>
                    <a:lstStyle/>
                    <a:p>
                      <a:r>
                        <a:rPr sz="1200" b="0">
                          <a:solidFill>
                            <a:srgbClr val="B8C0CF"/>
                          </a:solidFill>
                          <a:latin typeface="Segoe UI"/>
                        </a:rPr>
                        <a:t>Supply Chain (OWASP category)</a:t>
                      </a:r>
                    </a:p>
                  </a:txBody>
                  <a:tcPr marL="101600" marR="101600" marT="50800" marB="50800" anchor="ctr">
                    <a:solidFill>
                      <a:srgbClr val="121319"/>
                    </a:solidFill>
                  </a:tcPr>
                </a:tc>
                <a:tc>
                  <a:txBody>
                    <a:bodyPr wrap="square"/>
                    <a:lstStyle/>
                    <a:p>
                      <a:r>
                        <a:rPr sz="1200" b="0">
                          <a:solidFill>
                            <a:srgbClr val="B8C0CF"/>
                          </a:solidFill>
                          <a:latin typeface="Segoe UI"/>
                        </a:rPr>
                        <a:t>Covers malicious models, model-file risk, and typosquatted dependencies — Objectives 8.2, 8.3, 8.4</a:t>
                      </a:r>
                    </a:p>
                  </a:txBody>
                  <a:tcPr marL="101600" marR="101600" marT="50800" marB="50800" anchor="ctr">
                    <a:solidFill>
                      <a:srgbClr val="121319"/>
                    </a:solidFill>
                  </a:tcPr>
                </a:tc>
              </a:tr>
              <a:tr h="467360">
                <a:tc>
                  <a:txBody>
                    <a:bodyPr wrap="square"/>
                    <a:lstStyle/>
                    <a:p>
                      <a:r>
                        <a:rPr sz="1200" b="1">
                          <a:solidFill>
                            <a:srgbClr val="F5F7FB"/>
                          </a:solidFill>
                          <a:latin typeface="Segoe UI"/>
                        </a:rPr>
                        <a:t>LLM04</a:t>
                      </a:r>
                    </a:p>
                  </a:txBody>
                  <a:tcPr marL="101600" marR="101600" marT="50800" marB="50800" anchor="ctr">
                    <a:solidFill>
                      <a:srgbClr val="141519"/>
                    </a:solidFill>
                  </a:tcPr>
                </a:tc>
                <a:tc>
                  <a:txBody>
                    <a:bodyPr wrap="square"/>
                    <a:lstStyle/>
                    <a:p>
                      <a:r>
                        <a:rPr sz="1200" b="0">
                          <a:solidFill>
                            <a:srgbClr val="B8C0CF"/>
                          </a:solidFill>
                          <a:latin typeface="Segoe UI"/>
                        </a:rPr>
                        <a:t>Data and Model Poisoning (OWASP category)</a:t>
                      </a:r>
                    </a:p>
                  </a:txBody>
                  <a:tcPr marL="101600" marR="101600" marT="50800" marB="50800" anchor="ctr">
                    <a:solidFill>
                      <a:srgbClr val="141519"/>
                    </a:solidFill>
                  </a:tcPr>
                </a:tc>
                <a:tc>
                  <a:txBody>
                    <a:bodyPr wrap="square"/>
                    <a:lstStyle/>
                    <a:p>
                      <a:r>
                        <a:rPr sz="1200" b="0">
                          <a:solidFill>
                            <a:srgbClr val="B8C0CF"/>
                          </a:solidFill>
                          <a:latin typeface="Segoe UI"/>
                        </a:rPr>
                        <a:t>Covers upstream dataset poisoning as the training-time subset — Objective 8.4</a:t>
                      </a:r>
                    </a:p>
                  </a:txBody>
                  <a:tcPr marL="101600" marR="101600" marT="50800" marB="50800" anchor="ctr">
                    <a:solidFill>
                      <a:srgbClr val="141519"/>
                    </a:solidFill>
                  </a:tcPr>
                </a:tc>
              </a:tr>
              <a:tr h="467360">
                <a:tc>
                  <a:txBody>
                    <a:bodyPr wrap="square"/>
                    <a:lstStyle/>
                    <a:p>
                      <a:r>
                        <a:rPr sz="1200" b="1">
                          <a:solidFill>
                            <a:srgbClr val="F5F7FB"/>
                          </a:solidFill>
                          <a:latin typeface="Segoe UI"/>
                        </a:rPr>
                        <a:t>ATLAS</a:t>
                      </a:r>
                    </a:p>
                  </a:txBody>
                  <a:tcPr marL="101600" marR="101600" marT="50800" marB="50800" anchor="ctr">
                    <a:solidFill>
                      <a:srgbClr val="121319"/>
                    </a:solidFill>
                  </a:tcPr>
                </a:tc>
                <a:tc>
                  <a:txBody>
                    <a:bodyPr wrap="square"/>
                    <a:lstStyle/>
                    <a:p>
                      <a:r>
                        <a:rPr sz="1200" b="0">
                          <a:solidFill>
                            <a:srgbClr val="B8C0CF"/>
                          </a:solidFill>
                          <a:latin typeface="Segoe UI"/>
                        </a:rPr>
                        <a:t>Adversarial Threat Landscape for AI Systems (MITRE)</a:t>
                      </a:r>
                    </a:p>
                  </a:txBody>
                  <a:tcPr marL="101600" marR="101600" marT="50800" marB="50800" anchor="ctr">
                    <a:solidFill>
                      <a:srgbClr val="121319"/>
                    </a:solidFill>
                  </a:tcPr>
                </a:tc>
                <a:tc>
                  <a:txBody>
                    <a:bodyPr wrap="square"/>
                    <a:lstStyle/>
                    <a:p>
                      <a:r>
                        <a:rPr sz="1200" b="0">
                          <a:solidFill>
                            <a:srgbClr val="B8C0CF"/>
                          </a:solidFill>
                          <a:latin typeface="Segoe UI"/>
                        </a:rPr>
                        <a:t>Documents supply-chain compromise as a distinct adversary tactic</a:t>
                      </a:r>
                    </a:p>
                  </a:txBody>
                  <a:tcPr marL="101600" marR="101600" marT="50800" marB="50800" anchor="ctr">
                    <a:solidFill>
                      <a:srgbClr val="121319"/>
                    </a:solidFill>
                  </a:tcPr>
                </a:tc>
              </a:tr>
              <a:tr h="467360">
                <a:tc>
                  <a:txBody>
                    <a:bodyPr wrap="square"/>
                    <a:lstStyle/>
                    <a:p>
                      <a:r>
                        <a:rPr sz="1200" b="1">
                          <a:solidFill>
                            <a:srgbClr val="F5F7FB"/>
                          </a:solidFill>
                          <a:latin typeface="Segoe UI"/>
                        </a:rPr>
                        <a:t>ML</a:t>
                      </a:r>
                    </a:p>
                  </a:txBody>
                  <a:tcPr marL="101600" marR="101600" marT="50800" marB="50800" anchor="ctr">
                    <a:solidFill>
                      <a:srgbClr val="141519"/>
                    </a:solidFill>
                  </a:tcPr>
                </a:tc>
                <a:tc>
                  <a:txBody>
                    <a:bodyPr wrap="square"/>
                    <a:lstStyle/>
                    <a:p>
                      <a:r>
                        <a:rPr sz="1200" b="0">
                          <a:solidFill>
                            <a:srgbClr val="B8C0CF"/>
                          </a:solidFill>
                          <a:latin typeface="Segoe UI"/>
                        </a:rPr>
                        <a:t>Machine Learning</a:t>
                      </a:r>
                    </a:p>
                  </a:txBody>
                  <a:tcPr marL="101600" marR="101600" marT="50800" marB="50800" anchor="ctr">
                    <a:solidFill>
                      <a:srgbClr val="141519"/>
                    </a:solidFill>
                  </a:tcPr>
                </a:tc>
                <a:tc>
                  <a:txBody>
                    <a:bodyPr wrap="square"/>
                    <a:lstStyle/>
                    <a:p>
                      <a:r>
                        <a:rPr sz="1200" b="0">
                          <a:solidFill>
                            <a:srgbClr val="B8C0CF"/>
                          </a:solidFill>
                          <a:latin typeface="Segoe UI"/>
                        </a:rPr>
                        <a:t>The general term for the models, libraries, and frameworks this module's supply chain concerns</a:t>
                      </a:r>
                    </a:p>
                  </a:txBody>
                  <a:tcPr marL="101600" marR="101600" marT="50800" marB="50800" anchor="ctr">
                    <a:solidFill>
                      <a:srgbClr val="141519"/>
                    </a:solidFill>
                  </a:tcPr>
                </a:tc>
              </a:tr>
              <a:tr h="467360">
                <a:tc>
                  <a:txBody>
                    <a:bodyPr wrap="square"/>
                    <a:lstStyle/>
                    <a:p>
                      <a:r>
                        <a:rPr sz="1200" b="1">
                          <a:solidFill>
                            <a:srgbClr val="F5F7FB"/>
                          </a:solidFill>
                          <a:latin typeface="Segoe UI"/>
                        </a:rPr>
                        <a:t>CVE</a:t>
                      </a:r>
                    </a:p>
                  </a:txBody>
                  <a:tcPr marL="101600" marR="101600" marT="50800" marB="50800" anchor="ctr">
                    <a:solidFill>
                      <a:srgbClr val="121319"/>
                    </a:solidFill>
                  </a:tcPr>
                </a:tc>
                <a:tc>
                  <a:txBody>
                    <a:bodyPr wrap="square"/>
                    <a:lstStyle/>
                    <a:p>
                      <a:r>
                        <a:rPr sz="1200" b="0">
                          <a:solidFill>
                            <a:srgbClr val="B8C0CF"/>
                          </a:solidFill>
                          <a:latin typeface="Segoe UI"/>
                        </a:rPr>
                        <a:t>Common Vulnerabilities and Exposures</a:t>
                      </a:r>
                    </a:p>
                  </a:txBody>
                  <a:tcPr marL="101600" marR="101600" marT="50800" marB="50800" anchor="ctr">
                    <a:solidFill>
                      <a:srgbClr val="121319"/>
                    </a:solidFill>
                  </a:tcPr>
                </a:tc>
                <a:tc>
                  <a:txBody>
                    <a:bodyPr wrap="square"/>
                    <a:lstStyle/>
                    <a:p>
                      <a:r>
                        <a:rPr sz="1200" b="0">
                          <a:solidFill>
                            <a:srgbClr val="B8C0CF"/>
                          </a:solidFill>
                          <a:latin typeface="Segoe UI"/>
                        </a:rPr>
                        <a:t>Public vulnerability identifiers; deliberately not cited by name in this conceptual module</a:t>
                      </a:r>
                    </a:p>
                  </a:txBody>
                  <a:tcPr marL="101600" marR="101600" marT="50800" marB="50800" anchor="ctr">
                    <a:solidFill>
                      <a:srgbClr val="121319"/>
                    </a:solidFill>
                  </a:tcPr>
                </a:tc>
              </a:tr>
              <a:tr h="467360">
                <a:tc>
                  <a:txBody>
                    <a:bodyPr wrap="square"/>
                    <a:lstStyle/>
                    <a:p>
                      <a:r>
                        <a:rPr sz="1200" b="1">
                          <a:solidFill>
                            <a:srgbClr val="F5F7FB"/>
                          </a:solidFill>
                          <a:latin typeface="Segoe UI"/>
                        </a:rPr>
                        <a:t>TTP</a:t>
                      </a:r>
                    </a:p>
                  </a:txBody>
                  <a:tcPr marL="101600" marR="101600" marT="50800" marB="50800" anchor="ctr">
                    <a:solidFill>
                      <a:srgbClr val="141519"/>
                    </a:solidFill>
                  </a:tcPr>
                </a:tc>
                <a:tc>
                  <a:txBody>
                    <a:bodyPr wrap="square"/>
                    <a:lstStyle/>
                    <a:p>
                      <a:r>
                        <a:rPr sz="1200" b="0">
                          <a:solidFill>
                            <a:srgbClr val="B8C0CF"/>
                          </a:solidFill>
                          <a:latin typeface="Segoe UI"/>
                        </a:rPr>
                        <a:t>Tactics, Techniques, Procedures</a:t>
                      </a:r>
                    </a:p>
                  </a:txBody>
                  <a:tcPr marL="101600" marR="101600" marT="50800" marB="50800" anchor="ctr">
                    <a:solidFill>
                      <a:srgbClr val="141519"/>
                    </a:solidFill>
                  </a:tcPr>
                </a:tc>
                <a:tc>
                  <a:txBody>
                    <a:bodyPr wrap="square"/>
                    <a:lstStyle/>
                    <a:p>
                      <a:r>
                        <a:rPr sz="1200" b="0">
                          <a:solidFill>
                            <a:srgbClr val="B8C0CF"/>
                          </a:solidFill>
                          <a:latin typeface="Segoe UI"/>
                        </a:rPr>
                        <a:t>How supply-chain attacks are described in an ATLAS-mapped report</a:t>
                      </a:r>
                    </a:p>
                  </a:txBody>
                  <a:tcPr marL="101600" marR="101600" marT="50800" marB="50800" anchor="ctr">
                    <a:solidFill>
                      <a:srgbClr val="141519"/>
                    </a:solidFill>
                  </a:tcPr>
                </a:tc>
              </a:tr>
              <a:tr h="467360">
                <a:tc>
                  <a:txBody>
                    <a:bodyPr wrap="square"/>
                    <a:lstStyle/>
                    <a:p>
                      <a:r>
                        <a:rPr sz="1200" b="1">
                          <a:solidFill>
                            <a:srgbClr val="F5F7FB"/>
                          </a:solidFill>
                          <a:latin typeface="Segoe UI"/>
                        </a:rPr>
                        <a:t>OWASP</a:t>
                      </a:r>
                    </a:p>
                  </a:txBody>
                  <a:tcPr marL="101600" marR="101600" marT="50800" marB="50800" anchor="ctr">
                    <a:solidFill>
                      <a:srgbClr val="121319"/>
                    </a:solidFill>
                  </a:tcPr>
                </a:tc>
                <a:tc>
                  <a:txBody>
                    <a:bodyPr wrap="square"/>
                    <a:lstStyle/>
                    <a:p>
                      <a:r>
                        <a:rPr sz="1200" b="0">
                          <a:solidFill>
                            <a:srgbClr val="B8C0CF"/>
                          </a:solidFill>
                          <a:latin typeface="Segoe UI"/>
                        </a:rPr>
                        <a:t>Open Worldwide Application Security Project</a:t>
                      </a:r>
                    </a:p>
                  </a:txBody>
                  <a:tcPr marL="101600" marR="101600" marT="50800" marB="50800" anchor="ctr">
                    <a:solidFill>
                      <a:srgbClr val="121319"/>
                    </a:solidFill>
                  </a:tcPr>
                </a:tc>
                <a:tc>
                  <a:txBody>
                    <a:bodyPr wrap="square"/>
                    <a:lstStyle/>
                    <a:p>
                      <a:r>
                        <a:rPr sz="1200" b="0">
                          <a:solidFill>
                            <a:srgbClr val="B8C0CF"/>
                          </a:solidFill>
                          <a:latin typeface="Segoe UI"/>
                        </a:rPr>
                        <a:t>Publisher of the Top 10 for LLM Applications used throughout</a:t>
                      </a:r>
                    </a:p>
                  </a:txBody>
                  <a:tcPr marL="101600" marR="101600" marT="50800" marB="50800" anchor="ctr">
                    <a:solidFill>
                      <a:srgbClr val="121319"/>
                    </a:solidFill>
                  </a:tcPr>
                </a:tc>
              </a:tr>
              <a:tr h="467360">
                <a:tc>
                  <a:txBody>
                    <a:bodyPr wrap="square"/>
                    <a:lstStyle/>
                    <a:p>
                      <a:r>
                        <a:rPr sz="1200" b="1">
                          <a:solidFill>
                            <a:srgbClr val="F5F7FB"/>
                          </a:solidFill>
                          <a:latin typeface="Segoe UI"/>
                        </a:rPr>
                        <a:t>RAG</a:t>
                      </a:r>
                    </a:p>
                  </a:txBody>
                  <a:tcPr marL="101600" marR="101600" marT="50800" marB="50800" anchor="ctr">
                    <a:solidFill>
                      <a:srgbClr val="141519"/>
                    </a:solidFill>
                  </a:tcPr>
                </a:tc>
                <a:tc>
                  <a:txBody>
                    <a:bodyPr wrap="square"/>
                    <a:lstStyle/>
                    <a:p>
                      <a:r>
                        <a:rPr sz="1200" b="0">
                          <a:solidFill>
                            <a:srgbClr val="B8C0CF"/>
                          </a:solidFill>
                          <a:latin typeface="Segoe UI"/>
                        </a:rPr>
                        <a:t>Retrieval-Augmented Generation</a:t>
                      </a:r>
                    </a:p>
                  </a:txBody>
                  <a:tcPr marL="101600" marR="101600" marT="50800" marB="50800" anchor="ctr">
                    <a:solidFill>
                      <a:srgbClr val="141519"/>
                    </a:solidFill>
                  </a:tcPr>
                </a:tc>
                <a:tc>
                  <a:txBody>
                    <a:bodyPr wrap="square"/>
                    <a:lstStyle/>
                    <a:p>
                      <a:r>
                        <a:rPr sz="1200" b="0">
                          <a:solidFill>
                            <a:srgbClr val="B8C0CF"/>
                          </a:solidFill>
                          <a:latin typeface="Segoe UI"/>
                        </a:rPr>
                        <a:t>The Module 5 pipeline whose corpus poisoning is the retrieval-time parallel to this module's dataset poisoning</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ATLAS and the six-layer attack surface from Module 1 remain in active use throughout this module's methodology.</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COMMON MISCONCEPTIONS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Myths to unlearn before Module 9</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'A POPULAR MODEL IS AUTOMATICALLY SAFE TO USE'</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popularity reflects adoption, not independent verification — it is not itself a security control.</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'MODEL FILES ARE JUST DATA, SO LOADING ONE IS ALWAYS SAFE'</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some serialisation formats can execute arbitrary code during loading itself, before any inference occurs.</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'DATASET POISONING IS THE SAME AS RAG-CORPUS POISONING'</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dataset poisoning changes the model's learned weights at training time; RAG poisoning changes only what is retrieved at query time.</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'DEPENDENCY CONFUSION REQUIRES TARGETING A SPECIFIC VICTIM'</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a typosquatted package can compromise any environment that installs it by typo or misconfiguration, with no targeting required.</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DOMAIN WEIGHTING</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n/a</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OSAI weightings: Information not defined in the official exam outline</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KNOWLEDGE CHECK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Test yourself</a:t>
            </a:r>
          </a:p>
        </p:txBody>
      </p:sp>
      <p:sp>
        <p:nvSpPr>
          <p:cNvPr id="6" name="Rounded Rectangle 5"/>
          <p:cNvSpPr/>
          <p:nvPr/>
        </p:nvSpPr>
        <p:spPr>
          <a:xfrm>
            <a:off x="548640" y="1783080"/>
            <a:ext cx="11091672" cy="1005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10607040" cy="914400"/>
          </a:xfrm>
          <a:prstGeom prst="rect">
            <a:avLst/>
          </a:prstGeom>
          <a:noFill/>
        </p:spPr>
        <p:txBody>
          <a:bodyPr wrap="square" anchor="ctr" lIns="25400" rIns="25400" tIns="25400" bIns="25400">
            <a:spAutoFit/>
          </a:bodyPr>
          <a:lstStyle/>
          <a:p>
            <a:pPr algn="l">
              <a:spcBef>
                <a:spcPts val="0"/>
              </a:spcBef>
              <a:spcAft>
                <a:spcPts val="600"/>
              </a:spcAft>
            </a:pPr>
            <a:r>
              <a:rPr sz="1600" b="1">
                <a:solidFill>
                  <a:srgbClr val="F5F7FB"/>
                </a:solidFill>
                <a:latin typeface="Segoe UI"/>
              </a:rPr>
              <a:t>During an engagement, you discover that a fine-tuned model behaves normally on nearly all inputs but produces a specific, consistent, attacker-favourable output whenever a particular, unusual input pattern is present — a pattern that ordinary functional testing never happened to include. What best describes this finding?</a:t>
            </a:r>
          </a:p>
        </p:txBody>
      </p:sp>
      <p:sp>
        <p:nvSpPr>
          <p:cNvPr id="8" name="Rounded Rectangle 7"/>
          <p:cNvSpPr/>
          <p:nvPr/>
        </p:nvSpPr>
        <p:spPr>
          <a:xfrm>
            <a:off x="548640" y="2971800"/>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971800"/>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A</a:t>
            </a:r>
          </a:p>
        </p:txBody>
      </p:sp>
      <p:sp>
        <p:nvSpPr>
          <p:cNvPr id="10" name="TextBox 9"/>
          <p:cNvSpPr txBox="1"/>
          <p:nvPr/>
        </p:nvSpPr>
        <p:spPr>
          <a:xfrm>
            <a:off x="1234440" y="2971800"/>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RAG-corpus poisoning affecting the retrieval layer</a:t>
            </a:r>
          </a:p>
        </p:txBody>
      </p:sp>
      <p:sp>
        <p:nvSpPr>
          <p:cNvPr id="11" name="Rounded Rectangle 10"/>
          <p:cNvSpPr/>
          <p:nvPr/>
        </p:nvSpPr>
        <p:spPr>
          <a:xfrm>
            <a:off x="548640" y="3575304"/>
            <a:ext cx="11091672" cy="512064"/>
          </a:xfrm>
          <a:prstGeom prst="roundRect">
            <a:avLst/>
          </a:prstGeom>
          <a:solidFill>
            <a:srgbClr val="1A1208"/>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575304"/>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B</a:t>
            </a:r>
          </a:p>
        </p:txBody>
      </p:sp>
      <p:sp>
        <p:nvSpPr>
          <p:cNvPr id="13" name="TextBox 12"/>
          <p:cNvSpPr txBox="1"/>
          <p:nvPr/>
        </p:nvSpPr>
        <p:spPr>
          <a:xfrm>
            <a:off x="1234440" y="3575304"/>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1">
                <a:solidFill>
                  <a:srgbClr val="F5F7FB"/>
                </a:solidFill>
                <a:latin typeface="Segoe UI"/>
              </a:rPr>
              <a:t>A malicious or backdoored model with trigger-conditioned behaviour</a:t>
            </a:r>
          </a:p>
        </p:txBody>
      </p:sp>
      <p:sp>
        <p:nvSpPr>
          <p:cNvPr id="14" name="Rounded Rectangle 13"/>
          <p:cNvSpPr/>
          <p:nvPr/>
        </p:nvSpPr>
        <p:spPr>
          <a:xfrm>
            <a:off x="548640" y="4178808"/>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178808"/>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C</a:t>
            </a:r>
          </a:p>
        </p:txBody>
      </p:sp>
      <p:sp>
        <p:nvSpPr>
          <p:cNvPr id="16" name="TextBox 15"/>
          <p:cNvSpPr txBox="1"/>
          <p:nvPr/>
        </p:nvSpPr>
        <p:spPr>
          <a:xfrm>
            <a:off x="1234440" y="4178808"/>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Dependency confusion via a typosquatted ML package</a:t>
            </a:r>
          </a:p>
        </p:txBody>
      </p:sp>
      <p:sp>
        <p:nvSpPr>
          <p:cNvPr id="17" name="Rounded Rectangle 16"/>
          <p:cNvSpPr/>
          <p:nvPr/>
        </p:nvSpPr>
        <p:spPr>
          <a:xfrm>
            <a:off x="548640" y="4782312"/>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782312"/>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D</a:t>
            </a:r>
          </a:p>
        </p:txBody>
      </p:sp>
      <p:sp>
        <p:nvSpPr>
          <p:cNvPr id="19" name="TextBox 18"/>
          <p:cNvSpPr txBox="1"/>
          <p:nvPr/>
        </p:nvSpPr>
        <p:spPr>
          <a:xfrm>
            <a:off x="1234440" y="4782312"/>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Unsafe deserialization triggered during model loading</a:t>
            </a:r>
          </a:p>
        </p:txBody>
      </p:sp>
      <p:sp>
        <p:nvSpPr>
          <p:cNvPr id="20" name="TextBox 19"/>
          <p:cNvSpPr txBox="1"/>
          <p:nvPr/>
        </p:nvSpPr>
        <p:spPr>
          <a:xfrm>
            <a:off x="548640" y="5623560"/>
            <a:ext cx="11064240" cy="73152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Answer B.  </a:t>
            </a:r>
            <a:r>
              <a:rPr sz="1300" b="0">
                <a:solidFill>
                  <a:srgbClr val="B8C0CF"/>
                </a:solidFill>
                <a:latin typeface="Segoe UI"/>
              </a:rPr>
              <a:t>Normal behaviour on nearly all input, combined with a specific attacker-favourable output on a particular known trigger, is the defining pattern of a backdoored model (Objective 8.2) — not a retrieval-time, dependency, or file-format issue.</a:t>
            </a:r>
          </a:p>
        </p:txBody>
      </p:sp>
      <p:sp>
        <p:nvSpPr>
          <p:cNvPr id="21" name="TextBox 2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2" name="TextBox 2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MODULE SUMMARY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you can now do</a:t>
            </a:r>
          </a:p>
        </p:txBody>
      </p:sp>
      <p:sp>
        <p:nvSpPr>
          <p:cNvPr id="6" name="TextBox 5"/>
          <p:cNvSpPr txBox="1"/>
          <p:nvPr/>
        </p:nvSpPr>
        <p:spPr>
          <a:xfrm>
            <a:off x="640080" y="1874519"/>
            <a:ext cx="10972800" cy="4206240"/>
          </a:xfrm>
          <a:prstGeom prst="rect">
            <a:avLst/>
          </a:prstGeom>
          <a:noFill/>
        </p:spPr>
        <p:txBody>
          <a:bodyPr wrap="square" anchor="t" lIns="25400" rIns="25400" tIns="25400" bIns="25400">
            <a:spAutoFit/>
          </a:bodyPr>
          <a:lstStyle/>
          <a:p>
            <a:pPr algn="l">
              <a:spcBef>
                <a:spcPts val="0"/>
              </a:spcBef>
              <a:spcAft>
                <a:spcPts val="1200"/>
              </a:spcAft>
            </a:pPr>
            <a:r>
              <a:rPr sz="1500" b="1">
                <a:solidFill>
                  <a:srgbClr val="FF6A00"/>
                </a:solidFill>
                <a:latin typeface="Segoe UI"/>
              </a:rPr>
              <a:t>✓  </a:t>
            </a:r>
            <a:r>
              <a:rPr sz="1500" b="0">
                <a:solidFill>
                  <a:srgbClr val="F5F7FB"/>
                </a:solidFill>
                <a:latin typeface="Segoe UI"/>
              </a:rPr>
              <a:t>Map the AI supply chain across model weights, datasets, plugins/tools, and ML libraries pulled from public sources</a:t>
            </a:r>
          </a:p>
          <a:p>
            <a:pPr algn="l">
              <a:spcBef>
                <a:spcPts val="0"/>
              </a:spcBef>
              <a:spcAft>
                <a:spcPts val="1200"/>
              </a:spcAft>
            </a:pPr>
            <a:r>
              <a:rPr sz="1500" b="1">
                <a:solidFill>
                  <a:srgbClr val="FF6A00"/>
                </a:solidFill>
                <a:latin typeface="Segoe UI"/>
              </a:rPr>
              <a:t>✓  </a:t>
            </a:r>
            <a:r>
              <a:rPr sz="1500" b="0">
                <a:solidFill>
                  <a:srgbClr val="F5F7FB"/>
                </a:solidFill>
                <a:latin typeface="Segoe UI"/>
              </a:rPr>
              <a:t>Explain why a popular public model download is not, by itself, a security control</a:t>
            </a:r>
          </a:p>
          <a:p>
            <a:pPr algn="l">
              <a:spcBef>
                <a:spcPts val="0"/>
              </a:spcBef>
              <a:spcAft>
                <a:spcPts val="1200"/>
              </a:spcAft>
            </a:pPr>
            <a:r>
              <a:rPr sz="1500" b="1">
                <a:solidFill>
                  <a:srgbClr val="FF6A00"/>
                </a:solidFill>
                <a:latin typeface="Segoe UI"/>
              </a:rPr>
              <a:t>✓  </a:t>
            </a:r>
            <a:r>
              <a:rPr sz="1500" b="0">
                <a:solidFill>
                  <a:srgbClr val="F5F7FB"/>
                </a:solidFill>
                <a:latin typeface="Segoe UI"/>
              </a:rPr>
              <a:t>Explain trigger-conditioned backdoor behaviour and why it can evade ordinary testing</a:t>
            </a:r>
          </a:p>
          <a:p>
            <a:pPr algn="l">
              <a:spcBef>
                <a:spcPts val="0"/>
              </a:spcBef>
              <a:spcAft>
                <a:spcPts val="1200"/>
              </a:spcAft>
            </a:pPr>
            <a:r>
              <a:rPr sz="1500" b="1">
                <a:solidFill>
                  <a:srgbClr val="FF6A00"/>
                </a:solidFill>
                <a:latin typeface="Segoe UI"/>
              </a:rPr>
              <a:t>✓  </a:t>
            </a:r>
            <a:r>
              <a:rPr sz="1500" b="0">
                <a:solidFill>
                  <a:srgbClr val="F5F7FB"/>
                </a:solidFill>
                <a:latin typeface="Segoe UI"/>
              </a:rPr>
              <a:t>Explain why some model-serialisation formats can execute code on load, and the mitigations that reduce that risk</a:t>
            </a:r>
          </a:p>
          <a:p>
            <a:pPr algn="l">
              <a:spcBef>
                <a:spcPts val="0"/>
              </a:spcBef>
              <a:spcAft>
                <a:spcPts val="1200"/>
              </a:spcAft>
            </a:pPr>
            <a:r>
              <a:rPr sz="1500" b="1">
                <a:solidFill>
                  <a:srgbClr val="FF6A00"/>
                </a:solidFill>
                <a:latin typeface="Segoe UI"/>
              </a:rPr>
              <a:t>✓  </a:t>
            </a:r>
            <a:r>
              <a:rPr sz="1500" b="0">
                <a:solidFill>
                  <a:srgbClr val="F5F7FB"/>
                </a:solidFill>
                <a:latin typeface="Segoe UI"/>
              </a:rPr>
              <a:t>Distinguish upstream dataset poisoning from Module 5's retrieval-time RAG-corpus poisoning</a:t>
            </a:r>
          </a:p>
          <a:p>
            <a:pPr algn="l">
              <a:spcBef>
                <a:spcPts val="0"/>
              </a:spcBef>
              <a:spcAft>
                <a:spcPts val="1200"/>
              </a:spcAft>
            </a:pPr>
            <a:r>
              <a:rPr sz="1500" b="1">
                <a:solidFill>
                  <a:srgbClr val="FF6A00"/>
                </a:solidFill>
                <a:latin typeface="Segoe UI"/>
              </a:rPr>
              <a:t>✓  </a:t>
            </a:r>
            <a:r>
              <a:rPr sz="1500" b="0">
                <a:solidFill>
                  <a:srgbClr val="F5F7FB"/>
                </a:solidFill>
                <a:latin typeface="Segoe UI"/>
              </a:rPr>
              <a:t>Recognise typosquatting and dependency confusion on public ML package registries</a:t>
            </a:r>
          </a:p>
          <a:p>
            <a:pPr algn="l">
              <a:spcBef>
                <a:spcPts val="0"/>
              </a:spcBef>
              <a:spcAft>
                <a:spcPts val="1200"/>
              </a:spcAft>
            </a:pPr>
            <a:r>
              <a:rPr sz="1500" b="1">
                <a:solidFill>
                  <a:srgbClr val="FF6A00"/>
                </a:solidFill>
                <a:latin typeface="Segoe UI"/>
              </a:rPr>
              <a:t>✓  </a:t>
            </a:r>
            <a:r>
              <a:rPr sz="1500" b="0">
                <a:solidFill>
                  <a:srgbClr val="F5F7FB"/>
                </a:solidFill>
                <a:latin typeface="Segoe UI"/>
              </a:rPr>
              <a:t>Map every supply-chain finding to OWASP LLM03 or LLM04 and to MITRE ATLAS's supply-chain tactic</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NEXT STEPS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On to Module 9 — AI Infrastructure and Deployment Exploits</a:t>
            </a:r>
          </a:p>
        </p:txBody>
      </p:sp>
      <p:sp>
        <p:nvSpPr>
          <p:cNvPr id="6" name="TextBox 5"/>
          <p:cNvSpPr txBox="1"/>
          <p:nvPr/>
        </p:nvSpPr>
        <p:spPr>
          <a:xfrm>
            <a:off x="640080" y="1874519"/>
            <a:ext cx="10972800" cy="4206240"/>
          </a:xfrm>
          <a:prstGeom prst="rect">
            <a:avLst/>
          </a:prstGeom>
          <a:noFill/>
        </p:spPr>
        <p:txBody>
          <a:bodyPr wrap="square" anchor="t" lIns="25400" rIns="25400" tIns="25400" bIns="25400">
            <a:spAutoFit/>
          </a:bodyPr>
          <a:lstStyle/>
          <a:p>
            <a:pPr algn="l">
              <a:spcBef>
                <a:spcPts val="0"/>
              </a:spcBef>
              <a:spcAft>
                <a:spcPts val="1200"/>
              </a:spcAft>
            </a:pPr>
            <a:r>
              <a:rPr sz="1500" b="1">
                <a:solidFill>
                  <a:srgbClr val="FF6A00"/>
                </a:solidFill>
                <a:latin typeface="Segoe UI"/>
              </a:rPr>
              <a:t>✓  </a:t>
            </a:r>
            <a:r>
              <a:rPr sz="1500" b="0">
                <a:solidFill>
                  <a:srgbClr val="F5F7FB"/>
                </a:solidFill>
                <a:latin typeface="Segoe UI"/>
              </a:rPr>
              <a:t>Module 9 moves from what was sourced externally to how it is hosted and served in production</a:t>
            </a:r>
          </a:p>
          <a:p>
            <a:pPr algn="l">
              <a:spcBef>
                <a:spcPts val="0"/>
              </a:spcBef>
              <a:spcAft>
                <a:spcPts val="1200"/>
              </a:spcAft>
            </a:pPr>
            <a:r>
              <a:rPr sz="1500" b="1">
                <a:solidFill>
                  <a:srgbClr val="FF6A00"/>
                </a:solidFill>
                <a:latin typeface="Segoe UI"/>
              </a:rPr>
              <a:t>✓  </a:t>
            </a:r>
            <a:r>
              <a:rPr sz="1500" b="0">
                <a:solidFill>
                  <a:srgbClr val="F5F7FB"/>
                </a:solidFill>
                <a:latin typeface="Segoe UI"/>
              </a:rPr>
              <a:t>You will examine the infrastructure layer previewed in Module 1, Objective 1.2 — inference servers, serving frameworks, and cloud identity</a:t>
            </a:r>
          </a:p>
          <a:p>
            <a:pPr algn="l">
              <a:spcBef>
                <a:spcPts val="0"/>
              </a:spcBef>
              <a:spcAft>
                <a:spcPts val="1200"/>
              </a:spcAft>
            </a:pPr>
            <a:r>
              <a:rPr sz="1500" b="1">
                <a:solidFill>
                  <a:srgbClr val="FF6A00"/>
                </a:solidFill>
                <a:latin typeface="Segoe UI"/>
              </a:rPr>
              <a:t>✓  </a:t>
            </a:r>
            <a:r>
              <a:rPr sz="1500" b="0">
                <a:solidFill>
                  <a:srgbClr val="F5F7FB"/>
                </a:solidFill>
                <a:latin typeface="Segoe UI"/>
              </a:rPr>
              <a:t>The model-loading and file-format risk from Objective 8.3 connects directly to how models are served in Module 9</a:t>
            </a:r>
          </a:p>
          <a:p>
            <a:pPr algn="l">
              <a:spcBef>
                <a:spcPts val="0"/>
              </a:spcBef>
              <a:spcAft>
                <a:spcPts val="1200"/>
              </a:spcAft>
            </a:pPr>
            <a:r>
              <a:rPr sz="1500" b="1">
                <a:solidFill>
                  <a:srgbClr val="FF6A00"/>
                </a:solidFill>
                <a:latin typeface="Segoe UI"/>
              </a:rPr>
              <a:t>✓  </a:t>
            </a:r>
            <a:r>
              <a:rPr sz="1500" b="0">
                <a:solidFill>
                  <a:srgbClr val="F5F7FB"/>
                </a:solidFill>
                <a:latin typeface="Segoe UI"/>
              </a:rPr>
              <a:t>Keep the supply-chain-to-risk map close — Module 9 assumes a supply-chain component may already be compromised when it reaches infrastructure</a:t>
            </a:r>
          </a:p>
          <a:p>
            <a:pPr algn="l">
              <a:spcBef>
                <a:spcPts val="0"/>
              </a:spcBef>
              <a:spcAft>
                <a:spcPts val="1200"/>
              </a:spcAft>
            </a:pPr>
            <a:r>
              <a:rPr sz="1500" b="1">
                <a:solidFill>
                  <a:srgbClr val="FF6A00"/>
                </a:solidFill>
                <a:latin typeface="Segoe UI"/>
              </a:rPr>
              <a:t>✓  </a:t>
            </a:r>
            <a:r>
              <a:rPr sz="1500" b="0">
                <a:solidFill>
                  <a:srgbClr val="F5F7FB"/>
                </a:solidFill>
                <a:latin typeface="Segoe UI"/>
              </a:rPr>
              <a:t>Review the flashcards, cheat sheet, PBQ, and quiz for this module before continuing</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