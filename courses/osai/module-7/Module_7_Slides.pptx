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7 of the Offensive Security AI Red Teamer (OSAI) course. Module 3 gave you the first taste of tool and function-calling abuse and named the confused-deputy pattern; Module 7 returns to that surface with a full deep dive, adding the standardised, protocol-style tool-exposure pattern increasingly used to connect models and agents to external capability. You will learn the general shape of that interface pattern, systematically enumerate and abuse a tool surface, recognise the new trust weaknesses a standardised interface introduces, and learn to catalogue tool-surface findings the way a red teamer scopes and reports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explicitly as a deep-dive module, not a first encounter. Learners already met tool abuse and the confused-deputy pattern in Module 3, Objective 3.3 — this module returns to the same agent-and-tool layer with a wider lens and a standardised-interface twist.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Orient learners: this is Module 7 of 11. Reinforce that everything here builds directly on Module 2's tool enumeration and Module 3's confused-deputy pattern, rather than introducing an unrelated new topic.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Reconnect explicitly to Module 1's six-layer attack-surface map. Every finding this module produces should be traceable back to that agent-and-tool layer, the same layer Module 3 first attacked directly.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7.1. Before mapping or abusing anything, we build the conceptual vocabulary for how a model or agent discovers and invokes external tool capability through a standardised interface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register for the whole objective immediately: this is conceptual literacy, not a protocol reference. Learners should come away able to reason about the pattern in general terms, not recite implementation-specific details this course deliberately does not assert.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reframe of the module: nothing about the underlying abuse mechanism changes from Module 3, but the surface it operates on becomes standardised, reusable, and potentially shared across trust boundaries.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as conceptual roles, not named protocol components. The exam-relevant skill is recognising this shape wherever it appears, not memorising any single vendor's terminology for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two-phase split explicit and durable — nearly everything else in this module is really about attacking one phase or the other. Discovery is a reconnaissance-and-trust problem; invocation is where abuse and privilege questions 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is the direct echo of Module 3, Objective 3.3's tool-output-as-injection-vector concept — the same re-entry point, now generalised to any tool reached through a standardised interface rather than a single bespoke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backlink out loud: any learner who cannot restate Module 3's confused-deputy pattern from memory should revisit it before continuing, because every objective in this module assumes that concept as a foundation.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bridge from Objective 7.1's vocabulary into Objectives 7.2 and 7.3's exploitation content — each row previews a technique developed later in the module.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anatomy is deliberately generic — the point is structural literacy about the discovery/invocation shape, so learners can recognise it under any vendor's specific terminology without this course asserting facts it cannot verify.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7.2. With the conceptual pattern established, we now systematically map every tool a target can reach and abuse a legitimate call for an unintended purpose.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Restate the Module 2 backlink immediately: Objective 2.3 taught learners to notice side effects and delegation language as signals that a tool surface exists. Objective 7.2 turns that single signal into a complete, systematic inventory.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the parallel to Module 3, Objective 3.1's mapping-to-bypass escalation explicitly — learners have already seen this exact shift in posture once, applied to guardrails; here it is applied to the tool surface instead.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module's second core concept alongside the confused-deputy pattern from Module 3. Encourage learners to ask, for every enumerated tool: 'does this task actually need this much access?' — that question is the excessive-agency test.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these four as an escalating sequence within Objective 7.2: enumerate directly, then transitively, then test the permission boundary of each entry, then attempt crafted-parameter abuse against the most promising ones.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is the pivot from enumeration to abuse: not every enumerated tool is worth attacking, and prioritising by apparent excess privilege before attempting abuse mirrors real engagement time budgets under the 24-hour exam clock.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row is the direct continuation of Module 3, Objective 3.3's confused-deputy pattern — the tool inventory this objective builds is exactly what makes that pattern targeted rather than opportunistic.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mirrors Module 3, Objective 3.3's parameter-injection pattern exactly, generalised from one bespoke tool to any tool discovered anywhere on the systematically enumerated surface.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with Module 3's confused-deputy anatomy, this is structural literacy, not a reusable exploit. Learners should be able to label each component in any tool-abuse scenario, whether the tool was reached directly or transitively.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7.3. We now attack the assumptions underneath the tool surface itself — trusting a tool's own description, and trusting a third-party tool provider without independent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backlink to Module 1 explicit and central: the 'text is code' principle was introduced there as the root cause of prompt injection generally. Objective 7.3 is the moment that principle reaches all the way down to how a tool describes itself.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easy for learners to conflate with Module 3's tool-output lesson. Stress that description injection can influence tool selection and behaviour before a single tool call is even made — it is earlier and, in some ways, more insidious.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this forward to Objective 7.4: a third-party provider trust gap is exactly the kind of finding that belongs in a prioritised engagement report, because it is a standing risk rather than a single demonstrated bypass.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weaknesses are specific to the standardised, description-driven discovery pattern from Objective 7.1 — none of them has a clean analogue in Module 3's bespoke, single-application tool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is the module's recurring lesson restated: the report-worthy fact is the trust gap crossed, not merely that a description contained interesting wording. A defensible finding names exactly what was trusted and why that trust was misplaced.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that description injection maps back to LLM01, the same risk category as Module 3's direct injection — only the delivery surface has moved from user input to the tool-definition layer itself.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Objective 7.3 by tying discovery-phase and invocation-phase trust weaknesses into one coherent lesson: an agent that distrusts tool output but blindly trusts tool description has only closed half of the same underlying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with earlier anatomy slides, this is structural literacy. Learners should be able to point at any discovery-phase scenario and identify which component — the description itself, or the provider behind it — is the actual source of misplaced trust.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7.4. We close the module from the red teamer's own perspective — how a tool surface gets catalogued, prioritised, and reported once the engagement clock runs out.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Objective 7.4 as the module's reporting discipline, mirroring Module 3's impact-chaining standard: a catalogued tool surface is only valuable once it is prioritised and mapped, not simply listed.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categories map directly onto the module's three content objectives — treat this slide as the checklist a learner should walk through when drafting the tool-surface section of any engagement report.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in this table lands in the same Module 1 layer — reinforce that Module 7's entire scope is a deep dive into one layer of the six-layer map, not a departure from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continuity with the whole course's reporting discipline: every module since Module 1 has mapped its findings back to the same six-layer surface, and Module 7 is no exception.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workflow is the module's own version of Module 3's impact-chaining standard — a tool-surface catalogue only becomes a strong report section once it is consolidated, ranked, and mapped, not simply listed in discovery order.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final quality bar for the module: any learner drafting a tool-surface finding should be able to check it against the right-hand column before calling it report-ready.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table beside the acronym spotlight — it is the fastest way to recall which objective maps to which risk under exam pressure, and it doubles as the module's own summary of scope.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 the module's vocabulary. MCP, LLM01, and LLM06 are the three identifiers learners should recall instantly, since together they cover the module's conceptual foundation and its two dominant risk categories.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Directly confront the misconceptions learners typically arrive with. The first and last are the most commonly tested exam traps — MCP is a deep dive on a known mechanism, and a tool description is text, and therefore a potential injection surface.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OSAI is assessed by a 24-hour practical engagement, not percentage-weighted domains. Per the source-of-truth rule we do not invent a weighting; we state plainly that none is published. What matters is a systematically enumerated, evidenced, and prioritised tool-surface finding — not coverage of any single technique.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the module's central Objective 7.3 concept. Wrong answers are instructive: A requires a crafted parameter at invocation time rather than a poisoned description, C is a Module 2 passive activity, D requires a rendered-content sink from Module 3, Objective 3.4.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module against its four objectives. Every technique here deepens Module 3's confused-deputy foundation. If learners cannot yet distinguish trusting tool output from trusting tool description, revisit Objective 7.3 before Module 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to Module 8. Reinforce continuity: unmanaged third-party provider trust, flagged here as a tool-surface finding, is the exact seam Module 8 develops into a full supply-chain attack surface. Encourage completion of this module's PBQ and flashcards first.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0"/>
            <a:ext cx="10058400" cy="45720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OSAI (AI-300) · MODULE 7 OF 11</a:t>
            </a:r>
          </a:p>
        </p:txBody>
      </p:sp>
      <p:sp>
        <p:nvSpPr>
          <p:cNvPr id="5" name="TextBox 4"/>
          <p:cNvSpPr txBox="1"/>
          <p:nvPr/>
        </p:nvSpPr>
        <p:spPr>
          <a:xfrm>
            <a:off x="548640" y="2331720"/>
            <a:ext cx="11064240" cy="1828800"/>
          </a:xfrm>
          <a:prstGeom prst="rect">
            <a:avLst/>
          </a:prstGeom>
          <a:noFill/>
        </p:spPr>
        <p:txBody>
          <a:bodyPr wrap="square" anchor="t" lIns="25400" rIns="25400" tIns="25400" bIns="25400">
            <a:spAutoFit/>
          </a:bodyPr>
          <a:lstStyle/>
          <a:p>
            <a:pPr algn="l">
              <a:spcBef>
                <a:spcPts val="0"/>
              </a:spcBef>
              <a:spcAft>
                <a:spcPts val="600"/>
              </a:spcAft>
            </a:pPr>
            <a:r>
              <a:rPr sz="5200" b="1">
                <a:solidFill>
                  <a:srgbClr val="F5F7FB"/>
                </a:solidFill>
                <a:latin typeface="Segoe UI"/>
              </a:rPr>
              <a:t>Attacking Model Context Protocol and Tool Surfaces</a:t>
            </a:r>
          </a:p>
        </p:txBody>
      </p:sp>
      <p:sp>
        <p:nvSpPr>
          <p:cNvPr id="6" name="TextBox 5"/>
          <p:cNvSpPr txBox="1"/>
          <p:nvPr/>
        </p:nvSpPr>
        <p:spPr>
          <a:xfrm>
            <a:off x="566928" y="4297680"/>
            <a:ext cx="10515600" cy="914400"/>
          </a:xfrm>
          <a:prstGeom prst="rect">
            <a:avLst/>
          </a:prstGeom>
          <a:noFill/>
        </p:spPr>
        <p:txBody>
          <a:bodyPr wrap="square" anchor="t" lIns="25400" rIns="25400" tIns="25400" bIns="25400">
            <a:spAutoFit/>
          </a:bodyPr>
          <a:lstStyle/>
          <a:p>
            <a:pPr algn="l">
              <a:spcBef>
                <a:spcPts val="0"/>
              </a:spcBef>
              <a:spcAft>
                <a:spcPts val="600"/>
              </a:spcAft>
            </a:pPr>
            <a:r>
              <a:rPr sz="2000" b="0">
                <a:solidFill>
                  <a:srgbClr val="B8C0CF"/>
                </a:solidFill>
                <a:latin typeface="Segoe UI"/>
              </a:rPr>
              <a:t>The deep dive into standardised tool exposure — mapping, abusing, and reasoning about everything a model or agent can reach</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LEARNING OBJECTIVES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By the end of this module, you will be able to</a:t>
            </a:r>
          </a:p>
        </p:txBody>
      </p:sp>
      <p:sp>
        <p:nvSpPr>
          <p:cNvPr id="6" name="Rounded Rectangle 5"/>
          <p:cNvSpPr/>
          <p:nvPr/>
        </p:nvSpPr>
        <p:spPr>
          <a:xfrm>
            <a:off x="548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7.1</a:t>
            </a:r>
          </a:p>
        </p:txBody>
      </p:sp>
      <p:sp>
        <p:nvSpPr>
          <p:cNvPr id="8" name="TextBox 7"/>
          <p:cNvSpPr txBox="1"/>
          <p:nvPr/>
        </p:nvSpPr>
        <p:spPr>
          <a:xfrm>
            <a:off x="1600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Explain Model Context Protocol (MCP) fundamentals as a standardised interface pattern between a model/agent and external tools</a:t>
            </a:r>
          </a:p>
        </p:txBody>
      </p:sp>
      <p:sp>
        <p:nvSpPr>
          <p:cNvPr id="9" name="Rounded Rectangle 8"/>
          <p:cNvSpPr/>
          <p:nvPr/>
        </p:nvSpPr>
        <p:spPr>
          <a:xfrm>
            <a:off x="6263640" y="1828800"/>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920240"/>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7.2</a:t>
            </a:r>
          </a:p>
        </p:txBody>
      </p:sp>
      <p:sp>
        <p:nvSpPr>
          <p:cNvPr id="11" name="TextBox 10"/>
          <p:cNvSpPr txBox="1"/>
          <p:nvPr/>
        </p:nvSpPr>
        <p:spPr>
          <a:xfrm>
            <a:off x="7315200" y="1828800"/>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Systematically enumerate a target's full tool surface and abuse a legitimate tool call for an unintended purpose</a:t>
            </a:r>
          </a:p>
        </p:txBody>
      </p:sp>
      <p:sp>
        <p:nvSpPr>
          <p:cNvPr id="12" name="Rounded Rectangle 11"/>
          <p:cNvSpPr/>
          <p:nvPr/>
        </p:nvSpPr>
        <p:spPr>
          <a:xfrm>
            <a:off x="548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7.3</a:t>
            </a:r>
          </a:p>
        </p:txBody>
      </p:sp>
      <p:sp>
        <p:nvSpPr>
          <p:cNvPr id="14" name="TextBox 13"/>
          <p:cNvSpPr txBox="1"/>
          <p:nvPr/>
        </p:nvSpPr>
        <p:spPr>
          <a:xfrm>
            <a:off x="1600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Identify MCP-specific trust and validation weaknesses in tool descriptions, metadata, and third-party tool providers</a:t>
            </a:r>
          </a:p>
        </p:txBody>
      </p:sp>
      <p:sp>
        <p:nvSpPr>
          <p:cNvPr id="15" name="Rounded Rectangle 14"/>
          <p:cNvSpPr/>
          <p:nvPr/>
        </p:nvSpPr>
        <p:spPr>
          <a:xfrm>
            <a:off x="6263640" y="2798064"/>
            <a:ext cx="5440680"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2889504"/>
            <a:ext cx="914400" cy="841248"/>
          </a:xfrm>
          <a:prstGeom prst="rect">
            <a:avLst/>
          </a:prstGeom>
          <a:noFill/>
        </p:spPr>
        <p:txBody>
          <a:bodyPr wrap="square" anchor="ctr" lIns="25400" rIns="25400" tIns="25400" bIns="25400">
            <a:spAutoFit/>
          </a:bodyPr>
          <a:lstStyle/>
          <a:p>
            <a:pPr algn="l">
              <a:spcBef>
                <a:spcPts val="0"/>
              </a:spcBef>
              <a:spcAft>
                <a:spcPts val="600"/>
              </a:spcAft>
            </a:pPr>
            <a:r>
              <a:rPr sz="2600" b="1">
                <a:solidFill>
                  <a:srgbClr val="FF6A00"/>
                </a:solidFill>
                <a:latin typeface="Segoe UI"/>
              </a:rPr>
              <a:t>7.4</a:t>
            </a:r>
          </a:p>
        </p:txBody>
      </p:sp>
      <p:sp>
        <p:nvSpPr>
          <p:cNvPr id="17" name="TextBox 16"/>
          <p:cNvSpPr txBox="1"/>
          <p:nvPr/>
        </p:nvSpPr>
        <p:spPr>
          <a:xfrm>
            <a:off x="7315200" y="2798064"/>
            <a:ext cx="4251960" cy="841248"/>
          </a:xfrm>
          <a:prstGeom prst="rect">
            <a:avLst/>
          </a:prstGeom>
          <a:noFill/>
        </p:spPr>
        <p:txBody>
          <a:bodyPr wrap="square" anchor="ctr" lIns="25400" rIns="25400" tIns="25400" bIns="25400">
            <a:spAutoFit/>
          </a:bodyPr>
          <a:lstStyle/>
          <a:p>
            <a:pPr algn="l">
              <a:spcBef>
                <a:spcPts val="0"/>
              </a:spcBef>
              <a:spcAft>
                <a:spcPts val="600"/>
              </a:spcAft>
            </a:pPr>
            <a:r>
              <a:rPr sz="1500" b="0">
                <a:solidFill>
                  <a:srgbClr val="F5F7FB"/>
                </a:solidFill>
                <a:latin typeface="Segoe UI"/>
              </a:rPr>
              <a:t>Catalogue and prioritise a tool surface for engagement-report purposes, mapped back to Module 1's six-layer attack surface</a:t>
            </a:r>
          </a:p>
        </p:txBody>
      </p:sp>
      <p:sp>
        <p:nvSpPr>
          <p:cNvPr id="18" name="TextBox 17"/>
          <p:cNvSpPr txBox="1"/>
          <p:nvPr/>
        </p:nvSpPr>
        <p:spPr>
          <a:xfrm>
            <a:off x="548640" y="3813048"/>
            <a:ext cx="11064240" cy="914400"/>
          </a:xfrm>
          <a:prstGeom prst="rect">
            <a:avLst/>
          </a:prstGeom>
          <a:noFill/>
        </p:spPr>
        <p:txBody>
          <a:bodyPr wrap="square" anchor="t" lIns="25400" rIns="25400" tIns="25400" bIns="25400">
            <a:spAutoFit/>
          </a:bodyPr>
          <a:lstStyle/>
          <a:p>
            <a:pPr algn="l">
              <a:spcBef>
                <a:spcPts val="0"/>
              </a:spcBef>
              <a:spcAft>
                <a:spcPts val="600"/>
              </a:spcAft>
            </a:pPr>
            <a:r>
              <a:rPr sz="1400" b="0">
                <a:solidFill>
                  <a:srgbClr val="B8C0CF"/>
                </a:solidFill>
                <a:latin typeface="Segoe UI"/>
              </a:rPr>
              <a:t>Objective 7.1 gives you the conceptual model; 7.2 is the deep-dive exploitation of that surface; 7.3 is what changes once tool exposure is standardised rather than bespoke; 7.4 turns everything into a defensible, reportable finding.</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CONTEXT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Where this module sits in OSAI</a:t>
            </a:r>
          </a:p>
        </p:txBody>
      </p:sp>
      <p:sp>
        <p:nvSpPr>
          <p:cNvPr id="6" name="Rounded Rectangle 5"/>
          <p:cNvSpPr/>
          <p:nvPr/>
        </p:nvSpPr>
        <p:spPr>
          <a:xfrm>
            <a:off x="548640"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M1–6</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Foundations through embeddings</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Attack surface, recon, agents, multi-agent/A2A, RAG, embeddings — complete</a:t>
            </a:r>
          </a:p>
        </p:txBody>
      </p:sp>
      <p:sp>
        <p:nvSpPr>
          <p:cNvPr id="10" name="Rounded Rectangle 9"/>
          <p:cNvSpPr/>
          <p:nvPr/>
        </p:nvSpPr>
        <p:spPr>
          <a:xfrm>
            <a:off x="4337304"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M7</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MCP &amp; tool surfaces</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Standardised tool exposure, deep-dive enumeration, trust weaknesses — current</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M8–11</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Supply chain through capstone</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Supply-chain attacks, infrastructure, threat modeling, and the capstone engagement</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OSAI exam: a 24-hour proctored, hands-on engagement against a realistic AI-enabled enterprise, plus a professional report. Domain weightings: Information not defined in the official exam outline — the exam is engagement-based, not percentage-weighted.</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ORIENTATION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Three questions this module answers about a tool surface</a:t>
            </a:r>
          </a:p>
        </p:txBody>
      </p:sp>
      <p:sp>
        <p:nvSpPr>
          <p:cNvPr id="6" name="Rounded Rectangle 5"/>
          <p:cNvSpPr/>
          <p:nvPr/>
        </p:nvSpPr>
        <p:spPr>
          <a:xfrm>
            <a:off x="548640" y="2057400"/>
            <a:ext cx="3514344" cy="3291840"/>
          </a:xfrm>
          <a:prstGeom prst="roundRect">
            <a:avLst/>
          </a:prstGeom>
          <a:solidFill>
            <a:srgbClr val="141519"/>
          </a:solidFill>
          <a:ln w="2540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WHAT</a:t>
            </a:r>
          </a:p>
        </p:txBody>
      </p:sp>
      <p:sp>
        <p:nvSpPr>
          <p:cNvPr id="8" name="TextBox 7"/>
          <p:cNvSpPr txBox="1"/>
          <p:nvPr/>
        </p:nvSpPr>
        <p:spPr>
          <a:xfrm>
            <a:off x="658368"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What can be reached?</a:t>
            </a:r>
          </a:p>
        </p:txBody>
      </p:sp>
      <p:sp>
        <p:nvSpPr>
          <p:cNvPr id="9" name="TextBox 8"/>
          <p:cNvSpPr txBox="1"/>
          <p:nvPr/>
        </p:nvSpPr>
        <p:spPr>
          <a:xfrm>
            <a:off x="685800"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The full inventory of tools a model or agent can invoke, directly or transitively — Objective 7.2</a:t>
            </a:r>
          </a:p>
        </p:txBody>
      </p:sp>
      <p:sp>
        <p:nvSpPr>
          <p:cNvPr id="10" name="Rounded Rectangle 9"/>
          <p:cNvSpPr/>
          <p:nvPr/>
        </p:nvSpPr>
        <p:spPr>
          <a:xfrm>
            <a:off x="4337304"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37304"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TRUST</a:t>
            </a:r>
          </a:p>
        </p:txBody>
      </p:sp>
      <p:sp>
        <p:nvSpPr>
          <p:cNvPr id="12" name="TextBox 11"/>
          <p:cNvSpPr txBox="1"/>
          <p:nvPr/>
        </p:nvSpPr>
        <p:spPr>
          <a:xfrm>
            <a:off x="4447032"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What is trusted without proof?</a:t>
            </a:r>
          </a:p>
        </p:txBody>
      </p:sp>
      <p:sp>
        <p:nvSpPr>
          <p:cNvPr id="13" name="TextBox 12"/>
          <p:cNvSpPr txBox="1"/>
          <p:nvPr/>
        </p:nvSpPr>
        <p:spPr>
          <a:xfrm>
            <a:off x="4474464"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Tool descriptions, metadata, and third-party providers accepted at face value — Objective 7.3</a:t>
            </a:r>
          </a:p>
        </p:txBody>
      </p:sp>
      <p:sp>
        <p:nvSpPr>
          <p:cNvPr id="14" name="Rounded Rectangle 13"/>
          <p:cNvSpPr/>
          <p:nvPr/>
        </p:nvSpPr>
        <p:spPr>
          <a:xfrm>
            <a:off x="8125968" y="2057400"/>
            <a:ext cx="3514344" cy="3291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25968" y="2286000"/>
            <a:ext cx="3514344" cy="1097280"/>
          </a:xfrm>
          <a:prstGeom prst="rect">
            <a:avLst/>
          </a:prstGeom>
          <a:noFill/>
        </p:spPr>
        <p:txBody>
          <a:bodyPr wrap="square" anchor="t" lIns="25400" rIns="25400" tIns="25400" bIns="25400">
            <a:spAutoFit/>
          </a:bodyPr>
          <a:lstStyle/>
          <a:p>
            <a:pPr algn="ctr">
              <a:spcBef>
                <a:spcPts val="0"/>
              </a:spcBef>
              <a:spcAft>
                <a:spcPts val="600"/>
              </a:spcAft>
            </a:pPr>
            <a:r>
              <a:rPr sz="3000" b="1">
                <a:solidFill>
                  <a:srgbClr val="FF6A00"/>
                </a:solidFill>
                <a:latin typeface="Segoe UI"/>
              </a:rPr>
              <a:t>REPORT</a:t>
            </a:r>
          </a:p>
        </p:txBody>
      </p:sp>
      <p:sp>
        <p:nvSpPr>
          <p:cNvPr id="16" name="TextBox 15"/>
          <p:cNvSpPr txBox="1"/>
          <p:nvPr/>
        </p:nvSpPr>
        <p:spPr>
          <a:xfrm>
            <a:off x="8235696" y="3291840"/>
            <a:ext cx="3294888" cy="640080"/>
          </a:xfrm>
          <a:prstGeom prst="rect">
            <a:avLst/>
          </a:prstGeom>
          <a:noFill/>
        </p:spPr>
        <p:txBody>
          <a:bodyPr wrap="square" anchor="t" lIns="25400" rIns="25400" tIns="25400" bIns="25400">
            <a:spAutoFit/>
          </a:bodyPr>
          <a:lstStyle/>
          <a:p>
            <a:pPr algn="ctr">
              <a:spcBef>
                <a:spcPts val="0"/>
              </a:spcBef>
              <a:spcAft>
                <a:spcPts val="600"/>
              </a:spcAft>
            </a:pPr>
            <a:r>
              <a:rPr sz="1500" b="1">
                <a:solidFill>
                  <a:srgbClr val="F5F7FB"/>
                </a:solidFill>
                <a:latin typeface="Segoe UI"/>
              </a:rPr>
              <a:t>How does it get reported?</a:t>
            </a:r>
          </a:p>
        </p:txBody>
      </p:sp>
      <p:sp>
        <p:nvSpPr>
          <p:cNvPr id="17" name="TextBox 16"/>
          <p:cNvSpPr txBox="1"/>
          <p:nvPr/>
        </p:nvSpPr>
        <p:spPr>
          <a:xfrm>
            <a:off x="8263128" y="3931919"/>
            <a:ext cx="3240024" cy="1280160"/>
          </a:xfrm>
          <a:prstGeom prst="rect">
            <a:avLst/>
          </a:prstGeom>
          <a:noFill/>
        </p:spPr>
        <p:txBody>
          <a:bodyPr wrap="square" anchor="t" lIns="25400" rIns="25400" tIns="25400" bIns="25400">
            <a:spAutoFit/>
          </a:bodyPr>
          <a:lstStyle/>
          <a:p>
            <a:pPr algn="ctr">
              <a:spcBef>
                <a:spcPts val="0"/>
              </a:spcBef>
              <a:spcAft>
                <a:spcPts val="600"/>
              </a:spcAft>
            </a:pPr>
            <a:r>
              <a:rPr sz="1250" b="0">
                <a:solidFill>
                  <a:srgbClr val="B8C0CF"/>
                </a:solidFill>
                <a:latin typeface="Segoe UI"/>
              </a:rPr>
              <a:t>Cataloguing and prioritising findings for the engagement report — Objective 7.4</a:t>
            </a:r>
          </a:p>
        </p:txBody>
      </p:sp>
      <p:sp>
        <p:nvSpPr>
          <p:cNvPr id="18" name="TextBox 17"/>
          <p:cNvSpPr txBox="1"/>
          <p:nvPr/>
        </p:nvSpPr>
        <p:spPr>
          <a:xfrm>
            <a:off x="548640" y="5669280"/>
            <a:ext cx="11064240" cy="64008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These three questions sit inside Module 1's agent-and-tool layer (Objective 1.2), now examined at full depth. Objective 7.1 supplies the conceptual vocabulary that the other three questions are asked in.</a:t>
            </a:r>
          </a:p>
        </p:txBody>
      </p:sp>
      <p:sp>
        <p:nvSpPr>
          <p:cNvPr id="19" name="TextBox 1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0" name="TextBox 1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7.1</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7.1</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Model Context Protocol (MCP) fundamentals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Model Context Protocol, conceptually?</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At a conceptual level, Model Context Protocol (MCP) describes a standardised interface pattern that lets a model or agent discover what external tool capabilities exist and invoke them, rather than each application wiring up its own bespoke tool integration.</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 OF THIS OBJECTIVE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Build a general, conceptual understanding of the pattern — how a model/agent side and a tool-providing side interact — without relying on any specific message schema, version number, or field name.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COURSE RULE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Where a specific protocol detail would need external verification, this course uses general conceptual language instead — the same source-of-truth discipline applied to the exam outline itself.</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Bespoke tool integration vs standardised tool exposure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Bespoke integration — Module 3</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Each application wires its own tool/function-calling logic</a:t>
            </a:r>
          </a:p>
          <a:p>
            <a:pPr algn="l">
              <a:spcBef>
                <a:spcPts val="0"/>
              </a:spcBef>
              <a:spcAft>
                <a:spcPts val="800"/>
              </a:spcAft>
            </a:pPr>
            <a:r>
              <a:rPr sz="1400" b="1">
                <a:solidFill>
                  <a:srgbClr val="FF6A00"/>
                </a:solidFill>
                <a:latin typeface="Segoe UI"/>
              </a:rPr>
              <a:t>•  </a:t>
            </a:r>
            <a:r>
              <a:rPr sz="1400" b="0">
                <a:solidFill>
                  <a:srgbClr val="B8C0CF"/>
                </a:solidFill>
                <a:latin typeface="Segoe UI"/>
              </a:rPr>
              <a:t>Tool availability is specific to that one application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An attacker's findings rarely transfer to another application</a:t>
            </a:r>
          </a:p>
          <a:p>
            <a:pPr algn="l">
              <a:spcBef>
                <a:spcPts val="0"/>
              </a:spcBef>
              <a:spcAft>
                <a:spcPts val="800"/>
              </a:spcAft>
            </a:pPr>
            <a:r>
              <a:rPr sz="1400" b="1">
                <a:solidFill>
                  <a:srgbClr val="FF6A00"/>
                </a:solidFill>
                <a:latin typeface="Segoe UI"/>
              </a:rPr>
              <a:t>•  </a:t>
            </a:r>
            <a:r>
              <a:rPr sz="1400" b="0">
                <a:solidFill>
                  <a:srgbClr val="B8C0CF"/>
                </a:solidFill>
                <a:latin typeface="Segoe UI"/>
              </a:rPr>
              <a:t>The confused-deputy pattern is scoped to a single agent</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Standardised exposure — Module 7</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A common interface pattern exposes tools across agents</a:t>
            </a:r>
          </a:p>
          <a:p>
            <a:pPr algn="l">
              <a:spcBef>
                <a:spcPts val="0"/>
              </a:spcBef>
              <a:spcAft>
                <a:spcPts val="800"/>
              </a:spcAft>
            </a:pPr>
            <a:r>
              <a:rPr sz="1400" b="1">
                <a:solidFill>
                  <a:srgbClr val="FF6A00"/>
                </a:solidFill>
                <a:latin typeface="Segoe UI"/>
              </a:rPr>
              <a:t>•  </a:t>
            </a:r>
            <a:r>
              <a:rPr sz="1400" b="0">
                <a:solidFill>
                  <a:srgbClr val="B8C0CF"/>
                </a:solidFill>
                <a:latin typeface="Segoe UI"/>
              </a:rPr>
              <a:t>The same tool-providing side can serve multiple consumers</a:t>
            </a:r>
          </a:p>
          <a:p>
            <a:pPr algn="l">
              <a:spcBef>
                <a:spcPts val="0"/>
              </a:spcBef>
              <a:spcAft>
                <a:spcPts val="800"/>
              </a:spcAft>
            </a:pPr>
            <a:r>
              <a:rPr sz="1400" b="1">
                <a:solidFill>
                  <a:srgbClr val="FF6A00"/>
                </a:solidFill>
                <a:latin typeface="Segoe UI"/>
              </a:rPr>
              <a:t>•  </a:t>
            </a:r>
            <a:r>
              <a:rPr sz="1400" b="0">
                <a:solidFill>
                  <a:srgbClr val="B8C0CF"/>
                </a:solidFill>
                <a:latin typeface="Segoe UI"/>
              </a:rPr>
              <a:t>Enumeration and abuse technique generalise across targets</a:t>
            </a:r>
          </a:p>
          <a:p>
            <a:pPr algn="l">
              <a:spcBef>
                <a:spcPts val="0"/>
              </a:spcBef>
              <a:spcAft>
                <a:spcPts val="800"/>
              </a:spcAft>
            </a:pPr>
            <a:r>
              <a:rPr sz="1400" b="1">
                <a:solidFill>
                  <a:srgbClr val="FF6A00"/>
                </a:solidFill>
                <a:latin typeface="Segoe UI"/>
              </a:rPr>
              <a:t>•  </a:t>
            </a:r>
            <a:r>
              <a:rPr sz="1400" b="0">
                <a:solidFill>
                  <a:srgbClr val="B8C0CF"/>
                </a:solidFill>
                <a:latin typeface="Segoe UI"/>
              </a:rPr>
              <a:t>The tool surface can span organisational and trust boundaries</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Standardisation is what turns tool abuse from a per-application curiosity into a repeatable methodology — the same conceptual approach now applies wherever this interface pattern is present, which is exactly why it earns a dedicated module.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ROLES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Conceptual roles in a standardised tool-exposure pattern</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MODEL/AGENT SIDE (CONSUMER)</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model or agent that wants to discover and use external capability, reasoning about which tool to invoke and with what intent.</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TOOL-PROVIDING SIDE (PROVIDER)</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component that exposes one or more tools, each described in some way so the consumer can understand what it does.</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DISCOVERY MECHANISM</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general step by which the consumer learns what tools are available and roughly what each one is for, before ever invoking one.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INVOCATION MECHANISM</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general step by which the consumer requests that a specific tool be executed, supplying whatever input the tool needs.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PATTERN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two-phase pattern: discovery, then invocation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Conceptually, a model or agent working through a standardised tool interface typically operates in two phases: first discovering what capability exists and how it is described, then invoking a specific capability with concrete input.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THE SPLIT MATTERS</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Discovery shapes what the model believes is possible and trustworthy before a single tool is ever called — which is exactly the assumption Objective 7.3 later attacks.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FORWARD LINK</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Objective 7.2 systematically walks the discovery phase to build a complete tool inventory, and Objective 7.3 asks what happens when the discovery phase itself cannot be trusted.</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How a model/agent typically works with a standardised tool surface</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Establish the connection to a tool-providing side</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consumer becomes aware that a tool-providing side exists and is reachable.</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Discover available capability</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consumer learns what tools exist and reads whatever description or metadata accompanies each one.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Reason about which tool fits the current task</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model selects a tool based on its own understanding of the task and the tool's declared purpose.</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Invoke the tool with concrete input</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The consumer supplies parameters and requests execution of the chosen capability.</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Incorporate the result back into context</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Whatever the tool returns re-enters the model's working context, informing its next action.</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BACKLINK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Module 3, Objective 3.3 vs Module 7's deep dive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Module 3, Objective 3.3 — introduction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Introduces tool/function-calling abuse in one agent</a:t>
            </a:r>
          </a:p>
          <a:p>
            <a:pPr algn="l">
              <a:spcBef>
                <a:spcPts val="0"/>
              </a:spcBef>
              <a:spcAft>
                <a:spcPts val="800"/>
              </a:spcAft>
            </a:pPr>
            <a:r>
              <a:rPr sz="1400" b="1">
                <a:solidFill>
                  <a:srgbClr val="FF6A00"/>
                </a:solidFill>
                <a:latin typeface="Segoe UI"/>
              </a:rPr>
              <a:t>•  </a:t>
            </a:r>
            <a:r>
              <a:rPr sz="1400" b="0">
                <a:solidFill>
                  <a:srgbClr val="B8C0CF"/>
                </a:solidFill>
                <a:latin typeface="Segoe UI"/>
              </a:rPr>
              <a:t>Introduces the confused-deputy pattern by name</a:t>
            </a:r>
          </a:p>
          <a:p>
            <a:pPr algn="l">
              <a:spcBef>
                <a:spcPts val="0"/>
              </a:spcBef>
              <a:spcAft>
                <a:spcPts val="800"/>
              </a:spcAft>
            </a:pPr>
            <a:r>
              <a:rPr sz="1400" b="1">
                <a:solidFill>
                  <a:srgbClr val="FF6A00"/>
                </a:solidFill>
                <a:latin typeface="Segoe UI"/>
              </a:rPr>
              <a:t>•  </a:t>
            </a:r>
            <a:r>
              <a:rPr sz="1400" b="0">
                <a:solidFill>
                  <a:srgbClr val="B8C0CF"/>
                </a:solidFill>
                <a:latin typeface="Segoe UI"/>
              </a:rPr>
              <a:t>Treats the tool surface as whatever one agent exposes</a:t>
            </a:r>
          </a:p>
          <a:p>
            <a:pPr algn="l">
              <a:spcBef>
                <a:spcPts val="0"/>
              </a:spcBef>
              <a:spcAft>
                <a:spcPts val="800"/>
              </a:spcAft>
            </a:pPr>
            <a:r>
              <a:rPr sz="1400" b="1">
                <a:solidFill>
                  <a:srgbClr val="FF6A00"/>
                </a:solidFill>
                <a:latin typeface="Segoe UI"/>
              </a:rPr>
              <a:t>•  </a:t>
            </a:r>
            <a:r>
              <a:rPr sz="1400" b="0">
                <a:solidFill>
                  <a:srgbClr val="B8C0CF"/>
                </a:solidFill>
                <a:latin typeface="Segoe UI"/>
              </a:rPr>
              <a:t>Sufficient depth to recognise the pattern once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Module 7 — deep dive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Generalises abuse across a standardised interface pattern</a:t>
            </a:r>
          </a:p>
          <a:p>
            <a:pPr algn="l">
              <a:spcBef>
                <a:spcPts val="0"/>
              </a:spcBef>
              <a:spcAft>
                <a:spcPts val="800"/>
              </a:spcAft>
            </a:pPr>
            <a:r>
              <a:rPr sz="1400" b="1">
                <a:solidFill>
                  <a:srgbClr val="FF6A00"/>
                </a:solidFill>
                <a:latin typeface="Segoe UI"/>
              </a:rPr>
              <a:t>•  </a:t>
            </a:r>
            <a:r>
              <a:rPr sz="1400" b="0">
                <a:solidFill>
                  <a:srgbClr val="B8C0CF"/>
                </a:solidFill>
                <a:latin typeface="Segoe UI"/>
              </a:rPr>
              <a:t>Extends confused-deputy thinking to excessive agency at scale</a:t>
            </a:r>
          </a:p>
          <a:p>
            <a:pPr algn="l">
              <a:spcBef>
                <a:spcPts val="0"/>
              </a:spcBef>
              <a:spcAft>
                <a:spcPts val="800"/>
              </a:spcAft>
            </a:pPr>
            <a:r>
              <a:rPr sz="1400" b="1">
                <a:solidFill>
                  <a:srgbClr val="FF6A00"/>
                </a:solidFill>
                <a:latin typeface="Segoe UI"/>
              </a:rPr>
              <a:t>•  </a:t>
            </a:r>
            <a:r>
              <a:rPr sz="1400" b="0">
                <a:solidFill>
                  <a:srgbClr val="B8C0CF"/>
                </a:solidFill>
                <a:latin typeface="Segoe UI"/>
              </a:rPr>
              <a:t>Treats the tool surface as everything reachable, directly or not</a:t>
            </a:r>
          </a:p>
          <a:p>
            <a:pPr algn="l">
              <a:spcBef>
                <a:spcPts val="0"/>
              </a:spcBef>
              <a:spcAft>
                <a:spcPts val="800"/>
              </a:spcAft>
            </a:pPr>
            <a:r>
              <a:rPr sz="1400" b="1">
                <a:solidFill>
                  <a:srgbClr val="FF6A00"/>
                </a:solidFill>
                <a:latin typeface="Segoe UI"/>
              </a:rPr>
              <a:t>•  </a:t>
            </a:r>
            <a:r>
              <a:rPr sz="1400" b="0">
                <a:solidFill>
                  <a:srgbClr val="B8C0CF"/>
                </a:solidFill>
                <a:latin typeface="Segoe UI"/>
              </a:rPr>
              <a:t>Sufficient depth to enumerate, prioritise, and report systematically</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Module 3 taught the mechanism once against a single tool; Module 7 is that same mechanism practised as a full methodology against an entire, potentially standardised, tool surface — this is explicitly a deep dive, not a new topic.</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Standardisation property to security implication</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Property of standardised tool exposure</a:t>
                      </a:r>
                    </a:p>
                  </a:txBody>
                  <a:tcPr marL="101600" marR="101600" marT="50800" marB="50800" anchor="ctr">
                    <a:solidFill>
                      <a:srgbClr val="3A2410"/>
                    </a:solidFill>
                  </a:tcPr>
                </a:tc>
                <a:tc>
                  <a:txBody>
                    <a:bodyPr wrap="square"/>
                    <a:lstStyle/>
                    <a:p>
                      <a:r>
                        <a:rPr sz="1300" b="1">
                          <a:solidFill>
                            <a:srgbClr val="F5F7FB"/>
                          </a:solidFill>
                          <a:latin typeface="Segoe UI"/>
                        </a:rPr>
                        <a:t>Why it exists</a:t>
                      </a:r>
                    </a:p>
                  </a:txBody>
                  <a:tcPr marL="101600" marR="101600" marT="50800" marB="50800" anchor="ctr">
                    <a:solidFill>
                      <a:srgbClr val="3A2410"/>
                    </a:solidFill>
                  </a:tcPr>
                </a:tc>
                <a:tc>
                  <a:txBody>
                    <a:bodyPr wrap="square"/>
                    <a:lstStyle/>
                    <a:p>
                      <a:r>
                        <a:rPr sz="1300" b="1">
                          <a:solidFill>
                            <a:srgbClr val="F5F7FB"/>
                          </a:solidFill>
                          <a:latin typeface="Segoe UI"/>
                        </a:rPr>
                        <a:t>Security implication</a:t>
                      </a:r>
                    </a:p>
                  </a:txBody>
                  <a:tcPr marL="101600" marR="101600" marT="50800" marB="50800" anchor="ctr">
                    <a:solidFill>
                      <a:srgbClr val="3A2410"/>
                    </a:solidFill>
                  </a:tcPr>
                </a:tc>
              </a:tr>
              <a:tr h="471830">
                <a:tc>
                  <a:txBody>
                    <a:bodyPr wrap="square"/>
                    <a:lstStyle/>
                    <a:p>
                      <a:r>
                        <a:rPr sz="1200" b="1">
                          <a:solidFill>
                            <a:srgbClr val="F5F7FB"/>
                          </a:solidFill>
                          <a:latin typeface="Segoe UI"/>
                        </a:rPr>
                        <a:t>Common discovery mechanism</a:t>
                      </a:r>
                    </a:p>
                  </a:txBody>
                  <a:tcPr marL="101600" marR="101600" marT="50800" marB="50800" anchor="ctr">
                    <a:solidFill>
                      <a:srgbClr val="121319"/>
                    </a:solidFill>
                  </a:tcPr>
                </a:tc>
                <a:tc>
                  <a:txBody>
                    <a:bodyPr wrap="square"/>
                    <a:lstStyle/>
                    <a:p>
                      <a:r>
                        <a:rPr sz="1200" b="0">
                          <a:solidFill>
                            <a:srgbClr val="B8C0CF"/>
                          </a:solidFill>
                          <a:latin typeface="Segoe UI"/>
                        </a:rPr>
                        <a:t>Lets any consumer learn what a provider offers</a:t>
                      </a:r>
                    </a:p>
                  </a:txBody>
                  <a:tcPr marL="101600" marR="101600" marT="50800" marB="50800" anchor="ctr">
                    <a:solidFill>
                      <a:srgbClr val="121319"/>
                    </a:solidFill>
                  </a:tcPr>
                </a:tc>
                <a:tc>
                  <a:txBody>
                    <a:bodyPr wrap="square"/>
                    <a:lstStyle/>
                    <a:p>
                      <a:r>
                        <a:rPr sz="1200" b="0">
                          <a:solidFill>
                            <a:srgbClr val="B8C0CF"/>
                          </a:solidFill>
                          <a:latin typeface="Segoe UI"/>
                        </a:rPr>
                        <a:t>Discovery output becomes a new thing to distrust — Objective 7.3</a:t>
                      </a:r>
                    </a:p>
                  </a:txBody>
                  <a:tcPr marL="101600" marR="101600" marT="50800" marB="50800" anchor="ctr">
                    <a:solidFill>
                      <a:srgbClr val="121319"/>
                    </a:solidFill>
                  </a:tcPr>
                </a:tc>
              </a:tr>
              <a:tr h="471830">
                <a:tc>
                  <a:txBody>
                    <a:bodyPr wrap="square"/>
                    <a:lstStyle/>
                    <a:p>
                      <a:r>
                        <a:rPr sz="1200" b="1">
                          <a:solidFill>
                            <a:srgbClr val="F5F7FB"/>
                          </a:solidFill>
                          <a:latin typeface="Segoe UI"/>
                        </a:rPr>
                        <a:t>Reusable tool-providing side</a:t>
                      </a:r>
                    </a:p>
                  </a:txBody>
                  <a:tcPr marL="101600" marR="101600" marT="50800" marB="50800" anchor="ctr">
                    <a:solidFill>
                      <a:srgbClr val="141519"/>
                    </a:solidFill>
                  </a:tcPr>
                </a:tc>
                <a:tc>
                  <a:txBody>
                    <a:bodyPr wrap="square"/>
                    <a:lstStyle/>
                    <a:p>
                      <a:r>
                        <a:rPr sz="1200" b="0">
                          <a:solidFill>
                            <a:srgbClr val="B8C0CF"/>
                          </a:solidFill>
                          <a:latin typeface="Segoe UI"/>
                        </a:rPr>
                        <a:t>One provider can serve many different consumers</a:t>
                      </a:r>
                    </a:p>
                  </a:txBody>
                  <a:tcPr marL="101600" marR="101600" marT="50800" marB="50800" anchor="ctr">
                    <a:solidFill>
                      <a:srgbClr val="141519"/>
                    </a:solidFill>
                  </a:tcPr>
                </a:tc>
                <a:tc>
                  <a:txBody>
                    <a:bodyPr wrap="square"/>
                    <a:lstStyle/>
                    <a:p>
                      <a:r>
                        <a:rPr sz="1200" b="0">
                          <a:solidFill>
                            <a:srgbClr val="B8C0CF"/>
                          </a:solidFill>
                          <a:latin typeface="Segoe UI"/>
                        </a:rPr>
                        <a:t>A single compromised or malicious provider has broad reach</a:t>
                      </a:r>
                    </a:p>
                  </a:txBody>
                  <a:tcPr marL="101600" marR="101600" marT="50800" marB="50800" anchor="ctr">
                    <a:solidFill>
                      <a:srgbClr val="141519"/>
                    </a:solidFill>
                  </a:tcPr>
                </a:tc>
              </a:tr>
              <a:tr h="471830">
                <a:tc>
                  <a:txBody>
                    <a:bodyPr wrap="square"/>
                    <a:lstStyle/>
                    <a:p>
                      <a:r>
                        <a:rPr sz="1200" b="1">
                          <a:solidFill>
                            <a:srgbClr val="F5F7FB"/>
                          </a:solidFill>
                          <a:latin typeface="Segoe UI"/>
                        </a:rPr>
                        <a:t>Description-driven tool selection</a:t>
                      </a:r>
                    </a:p>
                  </a:txBody>
                  <a:tcPr marL="101600" marR="101600" marT="50800" marB="50800" anchor="ctr">
                    <a:solidFill>
                      <a:srgbClr val="121319"/>
                    </a:solidFill>
                  </a:tcPr>
                </a:tc>
                <a:tc>
                  <a:txBody>
                    <a:bodyPr wrap="square"/>
                    <a:lstStyle/>
                    <a:p>
                      <a:r>
                        <a:rPr sz="1200" b="0">
                          <a:solidFill>
                            <a:srgbClr val="B8C0CF"/>
                          </a:solidFill>
                          <a:latin typeface="Segoe UI"/>
                        </a:rPr>
                        <a:t>Lets the model choose tools without hard-coded logic</a:t>
                      </a:r>
                    </a:p>
                  </a:txBody>
                  <a:tcPr marL="101600" marR="101600" marT="50800" marB="50800" anchor="ctr">
                    <a:solidFill>
                      <a:srgbClr val="121319"/>
                    </a:solidFill>
                  </a:tcPr>
                </a:tc>
                <a:tc>
                  <a:txBody>
                    <a:bodyPr wrap="square"/>
                    <a:lstStyle/>
                    <a:p>
                      <a:r>
                        <a:rPr sz="1200" b="0">
                          <a:solidFill>
                            <a:srgbClr val="B8C0CF"/>
                          </a:solidFill>
                          <a:latin typeface="Segoe UI"/>
                        </a:rPr>
                        <a:t>The description itself becomes an instruction-carrying surface</a:t>
                      </a:r>
                    </a:p>
                  </a:txBody>
                  <a:tcPr marL="101600" marR="101600" marT="50800" marB="50800" anchor="ctr">
                    <a:solidFill>
                      <a:srgbClr val="121319"/>
                    </a:solidFill>
                  </a:tcPr>
                </a:tc>
              </a:tr>
              <a:tr h="471832">
                <a:tc>
                  <a:txBody>
                    <a:bodyPr wrap="square"/>
                    <a:lstStyle/>
                    <a:p>
                      <a:r>
                        <a:rPr sz="1200" b="1">
                          <a:solidFill>
                            <a:srgbClr val="F5F7FB"/>
                          </a:solidFill>
                          <a:latin typeface="Segoe UI"/>
                        </a:rPr>
                        <a:t>Cross-boundary reachability</a:t>
                      </a:r>
                    </a:p>
                  </a:txBody>
                  <a:tcPr marL="101600" marR="101600" marT="50800" marB="50800" anchor="ctr">
                    <a:solidFill>
                      <a:srgbClr val="141519"/>
                    </a:solidFill>
                  </a:tcPr>
                </a:tc>
                <a:tc>
                  <a:txBody>
                    <a:bodyPr wrap="square"/>
                    <a:lstStyle/>
                    <a:p>
                      <a:r>
                        <a:rPr sz="1200" b="0">
                          <a:solidFill>
                            <a:srgbClr val="B8C0CF"/>
                          </a:solidFill>
                          <a:latin typeface="Segoe UI"/>
                        </a:rPr>
                        <a:t>Tools may be offered by third parties, not just the operator</a:t>
                      </a:r>
                    </a:p>
                  </a:txBody>
                  <a:tcPr marL="101600" marR="101600" marT="50800" marB="50800" anchor="ctr">
                    <a:solidFill>
                      <a:srgbClr val="141519"/>
                    </a:solidFill>
                  </a:tcPr>
                </a:tc>
                <a:tc>
                  <a:txBody>
                    <a:bodyPr wrap="square"/>
                    <a:lstStyle/>
                    <a:p>
                      <a:r>
                        <a:rPr sz="1200" b="0">
                          <a:solidFill>
                            <a:srgbClr val="B8C0CF"/>
                          </a:solidFill>
                          <a:latin typeface="Segoe UI"/>
                        </a:rPr>
                        <a:t>Trust in a third-party provider becomes part of the attack surface</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No specific protocol version, message schema, or field name is asserted here — these are conceptual properties of the interface pattern, not implementation detail.</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7.1 · PRACTICAL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conceptual anatomy of a discovery-then-invocation interaction</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labelled breakdown of the two-phase pattern — not a protocol reference, not a working payload, and not a lab exercise.</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Phase 1: Discovery</a:t>
            </a:r>
          </a:p>
          <a:p>
            <a:pPr algn="l">
              <a:spcBef>
                <a:spcPts val="0"/>
              </a:spcBef>
              <a:spcAft>
                <a:spcPts val="400"/>
              </a:spcAft>
            </a:pPr>
            <a:r>
              <a:rPr sz="1400" b="0">
                <a:solidFill>
                  <a:srgbClr val="F5F7FB"/>
                </a:solidFill>
                <a:latin typeface="Segoe UI"/>
              </a:rPr>
              <a:t>The consumer learns which tools exist and reads each one's declared description</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Phase 2: Selection</a:t>
            </a:r>
          </a:p>
          <a:p>
            <a:pPr algn="l">
              <a:spcBef>
                <a:spcPts val="0"/>
              </a:spcBef>
              <a:spcAft>
                <a:spcPts val="400"/>
              </a:spcAft>
            </a:pPr>
            <a:r>
              <a:rPr sz="1400" b="0">
                <a:solidFill>
                  <a:srgbClr val="F5F7FB"/>
                </a:solidFill>
                <a:latin typeface="Segoe UI"/>
              </a:rPr>
              <a:t>The model reasons about which described tool best matches the current task</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Phase 3: Invocation</a:t>
            </a:r>
          </a:p>
          <a:p>
            <a:pPr algn="l">
              <a:spcBef>
                <a:spcPts val="0"/>
              </a:spcBef>
              <a:spcAft>
                <a:spcPts val="400"/>
              </a:spcAft>
            </a:pPr>
            <a:r>
              <a:rPr sz="1400" b="0">
                <a:solidFill>
                  <a:srgbClr val="F5F7FB"/>
                </a:solidFill>
                <a:latin typeface="Segoe UI"/>
              </a:rPr>
              <a:t>The consumer requests execution, supplying whatever input the tool appears to need</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Phase 4: Re-entry</a:t>
            </a:r>
          </a:p>
          <a:p>
            <a:pPr algn="l">
              <a:spcBef>
                <a:spcPts val="0"/>
              </a:spcBef>
              <a:spcAft>
                <a:spcPts val="400"/>
              </a:spcAft>
            </a:pPr>
            <a:r>
              <a:rPr sz="1400" b="0">
                <a:solidFill>
                  <a:srgbClr val="F5F7FB"/>
                </a:solidFill>
                <a:latin typeface="Segoe UI"/>
              </a:rPr>
              <a:t>The tool's result re-enters the model's context and shapes what happens next</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7.2</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7.2</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Tool-surface enumeration and abuse (deep dive)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systematic tool-surface enumeration?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Systematic tool-surface enumeration is the disciplined process of identifying every tool a model or agent can reach — directly or transitively — rather than confirming a single tool's existence and moving on.</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Produce a complete, evidenced inventory of reachable tools and their apparent privileges, so abuse attempts are targeted rather than exploratory.</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BUILDS ON</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Module 2, Objective 2.3's behavioural tool-enumeration recon confirmed that a tool surface exists; this objective is the deep-dive methodology for mapping the whole of it.</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Module 2's tool-enumeration recon vs Module 7's deep-dive mapping</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Module 2, Objective 2.3 — recon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Confirms that a tool surface exists at all</a:t>
            </a:r>
          </a:p>
          <a:p>
            <a:pPr algn="l">
              <a:spcBef>
                <a:spcPts val="0"/>
              </a:spcBef>
              <a:spcAft>
                <a:spcPts val="800"/>
              </a:spcAft>
            </a:pPr>
            <a:r>
              <a:rPr sz="1400" b="1">
                <a:solidFill>
                  <a:srgbClr val="FF6A00"/>
                </a:solidFill>
                <a:latin typeface="Segoe UI"/>
              </a:rPr>
              <a:t>•  </a:t>
            </a:r>
            <a:r>
              <a:rPr sz="1400" b="0">
                <a:solidFill>
                  <a:srgbClr val="B8C0CF"/>
                </a:solidFill>
                <a:latin typeface="Segoe UI"/>
              </a:rPr>
              <a:t>Relies on behavioural signals — side effects, latency</a:t>
            </a:r>
          </a:p>
          <a:p>
            <a:pPr algn="l">
              <a:spcBef>
                <a:spcPts val="0"/>
              </a:spcBef>
              <a:spcAft>
                <a:spcPts val="800"/>
              </a:spcAft>
            </a:pPr>
            <a:r>
              <a:rPr sz="1400" b="1">
                <a:solidFill>
                  <a:srgbClr val="FF6A00"/>
                </a:solidFill>
                <a:latin typeface="Segoe UI"/>
              </a:rPr>
              <a:t>•  </a:t>
            </a:r>
            <a:r>
              <a:rPr sz="1400" b="0">
                <a:solidFill>
                  <a:srgbClr val="B8C0CF"/>
                </a:solidFill>
                <a:latin typeface="Segoe UI"/>
              </a:rPr>
              <a:t>Produces a hypothesis-level entry in the target inventory</a:t>
            </a:r>
          </a:p>
          <a:p>
            <a:pPr algn="l">
              <a:spcBef>
                <a:spcPts val="0"/>
              </a:spcBef>
              <a:spcAft>
                <a:spcPts val="800"/>
              </a:spcAft>
            </a:pPr>
            <a:r>
              <a:rPr sz="1400" b="1">
                <a:solidFill>
                  <a:srgbClr val="FF6A00"/>
                </a:solidFill>
                <a:latin typeface="Segoe UI"/>
              </a:rPr>
              <a:t>•  </a:t>
            </a:r>
            <a:r>
              <a:rPr sz="1400" b="0">
                <a:solidFill>
                  <a:srgbClr val="B8C0CF"/>
                </a:solidFill>
                <a:latin typeface="Segoe UI"/>
              </a:rPr>
              <a:t>Stops at existence, not privilege or abuse</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Module 7, Objective 7.2 — deep dive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Maps every reachable tool, directly and transitively</a:t>
            </a:r>
          </a:p>
          <a:p>
            <a:pPr algn="l">
              <a:spcBef>
                <a:spcPts val="0"/>
              </a:spcBef>
              <a:spcAft>
                <a:spcPts val="800"/>
              </a:spcAft>
            </a:pPr>
            <a:r>
              <a:rPr sz="1400" b="1">
                <a:solidFill>
                  <a:srgbClr val="FF6A00"/>
                </a:solidFill>
                <a:latin typeface="Segoe UI"/>
              </a:rPr>
              <a:t>•  </a:t>
            </a:r>
            <a:r>
              <a:rPr sz="1400" b="0">
                <a:solidFill>
                  <a:srgbClr val="B8C0CF"/>
                </a:solidFill>
                <a:latin typeface="Segoe UI"/>
              </a:rPr>
              <a:t>Adds privilege and permission-boundary analysis per tool</a:t>
            </a:r>
          </a:p>
          <a:p>
            <a:pPr algn="l">
              <a:spcBef>
                <a:spcPts val="0"/>
              </a:spcBef>
              <a:spcAft>
                <a:spcPts val="800"/>
              </a:spcAft>
            </a:pPr>
            <a:r>
              <a:rPr sz="1400" b="1">
                <a:solidFill>
                  <a:srgbClr val="FF6A00"/>
                </a:solidFill>
                <a:latin typeface="Segoe UI"/>
              </a:rPr>
              <a:t>•  </a:t>
            </a:r>
            <a:r>
              <a:rPr sz="1400" b="0">
                <a:solidFill>
                  <a:srgbClr val="B8C0CF"/>
                </a:solidFill>
                <a:latin typeface="Segoe UI"/>
              </a:rPr>
              <a:t>Produces a confirmed, evidenced tool-surface inventory</a:t>
            </a:r>
          </a:p>
          <a:p>
            <a:pPr algn="l">
              <a:spcBef>
                <a:spcPts val="0"/>
              </a:spcBef>
              <a:spcAft>
                <a:spcPts val="800"/>
              </a:spcAft>
            </a:pPr>
            <a:r>
              <a:rPr sz="1400" b="1">
                <a:solidFill>
                  <a:srgbClr val="FF6A00"/>
                </a:solidFill>
                <a:latin typeface="Segoe UI"/>
              </a:rPr>
              <a:t>•  </a:t>
            </a:r>
            <a:r>
              <a:rPr sz="1400" b="0">
                <a:solidFill>
                  <a:srgbClr val="B8C0CF"/>
                </a:solidFill>
                <a:latin typeface="Segoe UI"/>
              </a:rPr>
              <a:t>Extends to abuse of a legitimate call's parameters</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Module 2 tells you a tool surface is there; Module 7 is the module that walks the whole of it and tests what each entry actually permits — the same escalation pattern the course used for guardrail mapping into guardrail bypass.</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CONCEPT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Excessive agency (OWASP LLM06) at the tool-surface level</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Excessive agency describes a model or agent holding more standing permission, autonomy, or tool access than its actual task requires — the structural condition that makes tool-surface abuse possible at scale.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WHERE IT COMES FROM</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Operators often grant an agent broad tool access for convenience or future flexibility, rather than scoping each tool grant to what a given task genuinely needs.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MATTERS HERE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Every tool identified during enumeration is a candidate for an excessive-agency finding the moment its granted privilege exceeds what the observed task requires.</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TECHNIQUE FAMILY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Forms of tool-surface enumeration and abuse</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DIRECT ENUMERATION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Systematically probing or observing which tools a single agent can invoke, building on Module 2's behavioural signals with a complete pass rather than a spot check.</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TRANSITIVE ENUMERATION</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Identifying tools reachable only indirectly — a tool that itself can trigger another tool or agent, extending the surface beyond what is immediately visible.</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PERMISSION-BOUNDARY TESTING</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Establishing what a given tool grant actually allows versus what the current task or user should legitimately require.</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CRAFTED-PARAMETER ABUSE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Calling a legitimate, intended tool with parameters chosen to redirect its effect toward an unintended target or outcome.</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Systematically mapping a target's full tool surface</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Inventory every directly observable tool</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List each tool the agent visibly can invoke, using Module 2's behavioural signals as the starting evidence.</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for transitive reach</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whether any enumerated tool can itself trigger a further tool or agent beyond the first hop.</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Establish the apparent privilege of each tool</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For every entry, note what the tool appears able to do and how broad that access seems relative to the task at hand.</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Flag excessive-agency candidates</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Mark any tool whose apparent privilege exceeds what the observed task genuinely requires.</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Attempt crafted-parameter abuse against the strongest candidates</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Craft parameters for a legitimate call that redirect its effect toward an unintended target, without exercising it destructively.</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Tool-surface finding to OWASP mapping and demonstrated impact</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Finding type</a:t>
                      </a:r>
                    </a:p>
                  </a:txBody>
                  <a:tcPr marL="101600" marR="101600" marT="50800" marB="50800" anchor="ctr">
                    <a:solidFill>
                      <a:srgbClr val="3A2410"/>
                    </a:solidFill>
                  </a:tcPr>
                </a:tc>
                <a:tc>
                  <a:txBody>
                    <a:bodyPr wrap="square"/>
                    <a:lstStyle/>
                    <a:p>
                      <a:r>
                        <a:rPr sz="1300" b="1">
                          <a:solidFill>
                            <a:srgbClr val="F5F7FB"/>
                          </a:solidFill>
                          <a:latin typeface="Segoe UI"/>
                        </a:rPr>
                        <a:t>OWASP mapping</a:t>
                      </a:r>
                    </a:p>
                  </a:txBody>
                  <a:tcPr marL="101600" marR="101600" marT="50800" marB="50800" anchor="ctr">
                    <a:solidFill>
                      <a:srgbClr val="3A2410"/>
                    </a:solidFill>
                  </a:tcPr>
                </a:tc>
                <a:tc>
                  <a:txBody>
                    <a:bodyPr wrap="square"/>
                    <a:lstStyle/>
                    <a:p>
                      <a:r>
                        <a:rPr sz="1300" b="1">
                          <a:solidFill>
                            <a:srgbClr val="F5F7FB"/>
                          </a:solidFill>
                          <a:latin typeface="Segoe UI"/>
                        </a:rPr>
                        <a:t>Demonstrated impact</a:t>
                      </a:r>
                    </a:p>
                  </a:txBody>
                  <a:tcPr marL="101600" marR="101600" marT="50800" marB="50800" anchor="ctr">
                    <a:solidFill>
                      <a:srgbClr val="3A2410"/>
                    </a:solidFill>
                  </a:tcPr>
                </a:tc>
              </a:tr>
              <a:tr h="471830">
                <a:tc>
                  <a:txBody>
                    <a:bodyPr wrap="square"/>
                    <a:lstStyle/>
                    <a:p>
                      <a:r>
                        <a:rPr sz="1200" b="1">
                          <a:solidFill>
                            <a:srgbClr val="F5F7FB"/>
                          </a:solidFill>
                          <a:latin typeface="Segoe UI"/>
                        </a:rPr>
                        <a:t>Directly enumerated over-permissioned tool</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c>
                  <a:txBody>
                    <a:bodyPr wrap="square"/>
                    <a:lstStyle/>
                    <a:p>
                      <a:r>
                        <a:rPr sz="1200" b="0">
                          <a:solidFill>
                            <a:srgbClr val="B8C0CF"/>
                          </a:solidFill>
                          <a:latin typeface="Segoe UI"/>
                        </a:rPr>
                        <a:t>Tool grant exceeds what the observed task requires</a:t>
                      </a:r>
                    </a:p>
                  </a:txBody>
                  <a:tcPr marL="101600" marR="101600" marT="50800" marB="50800" anchor="ctr">
                    <a:solidFill>
                      <a:srgbClr val="121319"/>
                    </a:solidFill>
                  </a:tcPr>
                </a:tc>
              </a:tr>
              <a:tr h="471830">
                <a:tc>
                  <a:txBody>
                    <a:bodyPr wrap="square"/>
                    <a:lstStyle/>
                    <a:p>
                      <a:r>
                        <a:rPr sz="1200" b="1">
                          <a:solidFill>
                            <a:srgbClr val="F5F7FB"/>
                          </a:solidFill>
                          <a:latin typeface="Segoe UI"/>
                        </a:rPr>
                        <a:t>Transitively reachable tool</a:t>
                      </a:r>
                    </a:p>
                  </a:txBody>
                  <a:tcPr marL="101600" marR="101600" marT="50800" marB="50800" anchor="ctr">
                    <a:solidFill>
                      <a:srgbClr val="141519"/>
                    </a:solidFill>
                  </a:tcPr>
                </a:tc>
                <a:tc>
                  <a:txBody>
                    <a:bodyPr wrap="square"/>
                    <a:lstStyle/>
                    <a:p>
                      <a:r>
                        <a:rPr sz="1200" b="0">
                          <a:solidFill>
                            <a:srgbClr val="B8C0CF"/>
                          </a:solidFill>
                          <a:latin typeface="Segoe UI"/>
                        </a:rPr>
                        <a:t>LLM06 Excessive Agency</a:t>
                      </a:r>
                    </a:p>
                  </a:txBody>
                  <a:tcPr marL="101600" marR="101600" marT="50800" marB="50800" anchor="ctr">
                    <a:solidFill>
                      <a:srgbClr val="141519"/>
                    </a:solidFill>
                  </a:tcPr>
                </a:tc>
                <a:tc>
                  <a:txBody>
                    <a:bodyPr wrap="square"/>
                    <a:lstStyle/>
                    <a:p>
                      <a:r>
                        <a:rPr sz="1200" b="0">
                          <a:solidFill>
                            <a:srgbClr val="B8C0CF"/>
                          </a:solidFill>
                          <a:latin typeface="Segoe UI"/>
                        </a:rPr>
                        <a:t>Surface extends beyond the first, visible hop</a:t>
                      </a:r>
                    </a:p>
                  </a:txBody>
                  <a:tcPr marL="101600" marR="101600" marT="50800" marB="50800" anchor="ctr">
                    <a:solidFill>
                      <a:srgbClr val="141519"/>
                    </a:solidFill>
                  </a:tcPr>
                </a:tc>
              </a:tr>
              <a:tr h="471830">
                <a:tc>
                  <a:txBody>
                    <a:bodyPr wrap="square"/>
                    <a:lstStyle/>
                    <a:p>
                      <a:r>
                        <a:rPr sz="1200" b="1">
                          <a:solidFill>
                            <a:srgbClr val="F5F7FB"/>
                          </a:solidFill>
                          <a:latin typeface="Segoe UI"/>
                        </a:rPr>
                        <a:t>Crafted-parameter abuse of a legitimate call</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c>
                  <a:txBody>
                    <a:bodyPr wrap="square"/>
                    <a:lstStyle/>
                    <a:p>
                      <a:r>
                        <a:rPr sz="1200" b="0">
                          <a:solidFill>
                            <a:srgbClr val="B8C0CF"/>
                          </a:solidFill>
                          <a:latin typeface="Segoe UI"/>
                        </a:rPr>
                        <a:t>Legitimate call redirected to an unintended target or outcome</a:t>
                      </a:r>
                    </a:p>
                  </a:txBody>
                  <a:tcPr marL="101600" marR="101600" marT="50800" marB="50800" anchor="ctr">
                    <a:solidFill>
                      <a:srgbClr val="121319"/>
                    </a:solidFill>
                  </a:tcPr>
                </a:tc>
              </a:tr>
              <a:tr h="471832">
                <a:tc>
                  <a:txBody>
                    <a:bodyPr wrap="square"/>
                    <a:lstStyle/>
                    <a:p>
                      <a:r>
                        <a:rPr sz="1200" b="1">
                          <a:solidFill>
                            <a:srgbClr val="F5F7FB"/>
                          </a:solidFill>
                          <a:latin typeface="Segoe UI"/>
                        </a:rPr>
                        <a:t>Injection-driven invocation of an enumerated tool</a:t>
                      </a:r>
                    </a:p>
                  </a:txBody>
                  <a:tcPr marL="101600" marR="101600" marT="50800" marB="50800" anchor="ctr">
                    <a:solidFill>
                      <a:srgbClr val="141519"/>
                    </a:solidFill>
                  </a:tcPr>
                </a:tc>
                <a:tc>
                  <a:txBody>
                    <a:bodyPr wrap="square"/>
                    <a:lstStyle/>
                    <a:p>
                      <a:r>
                        <a:rPr sz="1200" b="0">
                          <a:solidFill>
                            <a:srgbClr val="B8C0CF"/>
                          </a:solidFill>
                          <a:latin typeface="Segoe UI"/>
                        </a:rPr>
                        <a:t>LLM01 Prompt Injection</a:t>
                      </a:r>
                    </a:p>
                  </a:txBody>
                  <a:tcPr marL="101600" marR="101600" marT="50800" marB="50800" anchor="ctr">
                    <a:solidFill>
                      <a:srgbClr val="141519"/>
                    </a:solidFill>
                  </a:tcPr>
                </a:tc>
                <a:tc>
                  <a:txBody>
                    <a:bodyPr wrap="square"/>
                    <a:lstStyle/>
                    <a:p>
                      <a:r>
                        <a:rPr sz="1200" b="0">
                          <a:solidFill>
                            <a:srgbClr val="B8C0CF"/>
                          </a:solidFill>
                          <a:latin typeface="Segoe UI"/>
                        </a:rPr>
                        <a:t>Untrusted input reaches and drives a mapped tool, as in Module 3</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Excessive Agency (LLM06) is the structural risk; the specific abuse demonstrated is what actually goes into the engagement report as evidence.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Using a tool as intended vs abusing it for an unintended purpose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Intended use</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Parameters fall within the task's legitimate scope</a:t>
            </a:r>
          </a:p>
          <a:p>
            <a:pPr algn="l">
              <a:spcBef>
                <a:spcPts val="0"/>
              </a:spcBef>
              <a:spcAft>
                <a:spcPts val="800"/>
              </a:spcAft>
            </a:pPr>
            <a:r>
              <a:rPr sz="1400" b="1">
                <a:solidFill>
                  <a:srgbClr val="FF6A00"/>
                </a:solidFill>
                <a:latin typeface="Segoe UI"/>
              </a:rPr>
              <a:t>•  </a:t>
            </a:r>
            <a:r>
              <a:rPr sz="1400" b="0">
                <a:solidFill>
                  <a:srgbClr val="B8C0CF"/>
                </a:solidFill>
                <a:latin typeface="Segoe UI"/>
              </a:rPr>
              <a:t>The call matches what an authorised user would request</a:t>
            </a:r>
          </a:p>
          <a:p>
            <a:pPr algn="l">
              <a:spcBef>
                <a:spcPts val="0"/>
              </a:spcBef>
              <a:spcAft>
                <a:spcPts val="800"/>
              </a:spcAft>
            </a:pPr>
            <a:r>
              <a:rPr sz="1400" b="1">
                <a:solidFill>
                  <a:srgbClr val="FF6A00"/>
                </a:solidFill>
                <a:latin typeface="Segoe UI"/>
              </a:rPr>
              <a:t>•  </a:t>
            </a:r>
            <a:r>
              <a:rPr sz="1400" b="0">
                <a:solidFill>
                  <a:srgbClr val="B8C0CF"/>
                </a:solidFill>
                <a:latin typeface="Segoe UI"/>
              </a:rPr>
              <a:t>No privilege boundary is crossed</a:t>
            </a:r>
          </a:p>
          <a:p>
            <a:pPr algn="l">
              <a:spcBef>
                <a:spcPts val="0"/>
              </a:spcBef>
              <a:spcAft>
                <a:spcPts val="800"/>
              </a:spcAft>
            </a:pPr>
            <a:r>
              <a:rPr sz="1400" b="1">
                <a:solidFill>
                  <a:srgbClr val="FF6A00"/>
                </a:solidFill>
                <a:latin typeface="Segoe UI"/>
              </a:rPr>
              <a:t>•  </a:t>
            </a:r>
            <a:r>
              <a:rPr sz="1400" b="0">
                <a:solidFill>
                  <a:srgbClr val="B8C0CF"/>
                </a:solidFill>
                <a:latin typeface="Segoe UI"/>
              </a:rPr>
              <a:t>Not a finding on its own</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Unintended-purpose abuse</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Parameters are crafted to redirect the call's effect</a:t>
            </a:r>
          </a:p>
          <a:p>
            <a:pPr algn="l">
              <a:spcBef>
                <a:spcPts val="0"/>
              </a:spcBef>
              <a:spcAft>
                <a:spcPts val="800"/>
              </a:spcAft>
            </a:pPr>
            <a:r>
              <a:rPr sz="1400" b="1">
                <a:solidFill>
                  <a:srgbClr val="FF6A00"/>
                </a:solidFill>
                <a:latin typeface="Segoe UI"/>
              </a:rPr>
              <a:t>•  </a:t>
            </a:r>
            <a:r>
              <a:rPr sz="1400" b="0">
                <a:solidFill>
                  <a:srgbClr val="B8C0CF"/>
                </a:solidFill>
                <a:latin typeface="Segoe UI"/>
              </a:rPr>
              <a:t>The call exceeds what the current context should permit</a:t>
            </a:r>
          </a:p>
          <a:p>
            <a:pPr algn="l">
              <a:spcBef>
                <a:spcPts val="0"/>
              </a:spcBef>
              <a:spcAft>
                <a:spcPts val="800"/>
              </a:spcAft>
            </a:pPr>
            <a:r>
              <a:rPr sz="1400" b="1">
                <a:solidFill>
                  <a:srgbClr val="FF6A00"/>
                </a:solidFill>
                <a:latin typeface="Segoe UI"/>
              </a:rPr>
              <a:t>•  </a:t>
            </a:r>
            <a:r>
              <a:rPr sz="1400" b="0">
                <a:solidFill>
                  <a:srgbClr val="B8C0CF"/>
                </a:solidFill>
                <a:latin typeface="Segoe UI"/>
              </a:rPr>
              <a:t>A privilege or scope boundary is demonstrably crossed</a:t>
            </a:r>
          </a:p>
          <a:p>
            <a:pPr algn="l">
              <a:spcBef>
                <a:spcPts val="0"/>
              </a:spcBef>
              <a:spcAft>
                <a:spcPts val="800"/>
              </a:spcAft>
            </a:pPr>
            <a:r>
              <a:rPr sz="1400" b="1">
                <a:solidFill>
                  <a:srgbClr val="FF6A00"/>
                </a:solidFill>
                <a:latin typeface="Segoe UI"/>
              </a:rPr>
              <a:t>•  </a:t>
            </a:r>
            <a:r>
              <a:rPr sz="1400" b="0">
                <a:solidFill>
                  <a:srgbClr val="B8C0CF"/>
                </a:solidFill>
                <a:latin typeface="Segoe UI"/>
              </a:rPr>
              <a:t>A defensible LLM06 finding once evidenced</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The tool itself is rarely broken in either case — the same legitimate call mechanism is used both times. What separates a finding from normal use is whether the crafted parameters cross a privilege boundary the task did not require.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7.2 · PRACTICAL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conceptual anatomy of crafted-parameter tool abuse</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labelled breakdown of how a legitimate tool call is abused for an unintended purpose — not a working exploit, and not a lab exercise.</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Component 1: The enumerated tool</a:t>
            </a:r>
          </a:p>
          <a:p>
            <a:pPr algn="l">
              <a:spcBef>
                <a:spcPts val="0"/>
              </a:spcBef>
              <a:spcAft>
                <a:spcPts val="400"/>
              </a:spcAft>
            </a:pPr>
            <a:r>
              <a:rPr sz="1400" b="0">
                <a:solidFill>
                  <a:srgbClr val="F5F7FB"/>
                </a:solidFill>
                <a:latin typeface="Segoe UI"/>
              </a:rPr>
              <a:t>A confirmed, legitimate tool the agent holds real access to</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2: The intended parameter scope</a:t>
            </a:r>
          </a:p>
          <a:p>
            <a:pPr algn="l">
              <a:spcBef>
                <a:spcPts val="0"/>
              </a:spcBef>
              <a:spcAft>
                <a:spcPts val="400"/>
              </a:spcAft>
            </a:pPr>
            <a:r>
              <a:rPr sz="1400" b="0">
                <a:solidFill>
                  <a:srgbClr val="F5F7FB"/>
                </a:solidFill>
                <a:latin typeface="Segoe UI"/>
              </a:rPr>
              <a:t>What the task and the current user's privilege should legitimately constrain the call to</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3: The crafted parameter</a:t>
            </a:r>
          </a:p>
          <a:p>
            <a:pPr algn="l">
              <a:spcBef>
                <a:spcPts val="0"/>
              </a:spcBef>
              <a:spcAft>
                <a:spcPts val="400"/>
              </a:spcAft>
            </a:pPr>
            <a:r>
              <a:rPr sz="1400" b="0">
                <a:solidFill>
                  <a:srgbClr val="F5F7FB"/>
                </a:solidFill>
                <a:latin typeface="Segoe UI"/>
              </a:rPr>
              <a:t>Input engineered to redirect the call's target, recipient, or effect beyond that scope</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4: Evidence capture</a:t>
            </a:r>
          </a:p>
          <a:p>
            <a:pPr algn="l">
              <a:spcBef>
                <a:spcPts val="0"/>
              </a:spcBef>
              <a:spcAft>
                <a:spcPts val="400"/>
              </a:spcAft>
            </a:pPr>
            <a:r>
              <a:rPr sz="1400" b="0">
                <a:solidFill>
                  <a:srgbClr val="F5F7FB"/>
                </a:solidFill>
                <a:latin typeface="Segoe UI"/>
              </a:rPr>
              <a:t>Record the enumerated tool, the crafted parameter, and the privilege boundary crossed</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7.3</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7.3</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MCP-specific trust and validation weaknesses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is a tool-description or tool-metadata injection risk?</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A tool-description or tool-metadata injection risk arises when a model or agent trusts a tool's declared description or capability at face value, without independent verification — so untrusted text describing what a tool does can itself carry an instruction.</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MECHANISM</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During the discovery phase from Objective 7.1, the model reads a tool's description to decide when and how to use it; if that description is attacker-influenceable, it becomes a fresh injection surface.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FRAMING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This extends Module 1's 'text is code' principle one layer deeper — not just user input or retrieved content, but the tool-definition layer itself can carry instructions the model treats as authoritative.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Trusting tool output (Module 3) vs trusting tool description (Module 7)</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Trusting tool output — Module 3, Objective 3.3</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Risk sits in what a tool returns after being called</a:t>
            </a:r>
          </a:p>
          <a:p>
            <a:pPr algn="l">
              <a:spcBef>
                <a:spcPts val="0"/>
              </a:spcBef>
              <a:spcAft>
                <a:spcPts val="800"/>
              </a:spcAft>
            </a:pPr>
            <a:r>
              <a:rPr sz="1400" b="1">
                <a:solidFill>
                  <a:srgbClr val="FF6A00"/>
                </a:solidFill>
                <a:latin typeface="Segoe UI"/>
              </a:rPr>
              <a:t>•  </a:t>
            </a:r>
            <a:r>
              <a:rPr sz="1400" b="0">
                <a:solidFill>
                  <a:srgbClr val="B8C0CF"/>
                </a:solidFill>
                <a:latin typeface="Segoe UI"/>
              </a:rPr>
              <a:t>Re-enters context during the invocation/result phase</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Attacker needs to influence a fetched result</a:t>
            </a:r>
          </a:p>
          <a:p>
            <a:pPr algn="l">
              <a:spcBef>
                <a:spcPts val="0"/>
              </a:spcBef>
              <a:spcAft>
                <a:spcPts val="800"/>
              </a:spcAft>
            </a:pPr>
            <a:r>
              <a:rPr sz="1400" b="1">
                <a:solidFill>
                  <a:srgbClr val="FF6A00"/>
                </a:solidFill>
                <a:latin typeface="Segoe UI"/>
              </a:rPr>
              <a:t>•  </a:t>
            </a:r>
            <a:r>
              <a:rPr sz="1400" b="0">
                <a:solidFill>
                  <a:srgbClr val="B8C0CF"/>
                </a:solidFill>
                <a:latin typeface="Segoe UI"/>
              </a:rPr>
              <a:t>Defence: treat every tool result as untrusted</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Trusting tool description — Module 7, Objective 7.3</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Risk sits in what a tool claims about itself before any call</a:t>
            </a:r>
          </a:p>
          <a:p>
            <a:pPr algn="l">
              <a:spcBef>
                <a:spcPts val="0"/>
              </a:spcBef>
              <a:spcAft>
                <a:spcPts val="800"/>
              </a:spcAft>
            </a:pPr>
            <a:r>
              <a:rPr sz="1400" b="1">
                <a:solidFill>
                  <a:srgbClr val="FF6A00"/>
                </a:solidFill>
                <a:latin typeface="Segoe UI"/>
              </a:rPr>
              <a:t>•  </a:t>
            </a:r>
            <a:r>
              <a:rPr sz="1400" b="0">
                <a:solidFill>
                  <a:srgbClr val="B8C0CF"/>
                </a:solidFill>
                <a:latin typeface="Segoe UI"/>
              </a:rPr>
              <a:t>Re-enters context during the discovery phase</a:t>
            </a:r>
          </a:p>
          <a:p>
            <a:pPr algn="l">
              <a:spcBef>
                <a:spcPts val="0"/>
              </a:spcBef>
              <a:spcAft>
                <a:spcPts val="800"/>
              </a:spcAft>
            </a:pPr>
            <a:r>
              <a:rPr sz="1400" b="1">
                <a:solidFill>
                  <a:srgbClr val="FF6A00"/>
                </a:solidFill>
                <a:latin typeface="Segoe UI"/>
              </a:rPr>
              <a:t>•  </a:t>
            </a:r>
            <a:r>
              <a:rPr sz="1400" b="0">
                <a:solidFill>
                  <a:srgbClr val="B8C0CF"/>
                </a:solidFill>
                <a:latin typeface="Segoe UI"/>
              </a:rPr>
              <a:t>Attacker needs to influence the description or metadata</a:t>
            </a:r>
          </a:p>
          <a:p>
            <a:pPr algn="l">
              <a:spcBef>
                <a:spcPts val="0"/>
              </a:spcBef>
              <a:spcAft>
                <a:spcPts val="800"/>
              </a:spcAft>
            </a:pPr>
            <a:r>
              <a:rPr sz="1400" b="1">
                <a:solidFill>
                  <a:srgbClr val="FF6A00"/>
                </a:solidFill>
                <a:latin typeface="Segoe UI"/>
              </a:rPr>
              <a:t>•  </a:t>
            </a:r>
            <a:r>
              <a:rPr sz="1400" b="0">
                <a:solidFill>
                  <a:srgbClr val="B8C0CF"/>
                </a:solidFill>
                <a:latin typeface="Segoe UI"/>
              </a:rPr>
              <a:t>Defence: treat every tool description as untrusted too</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Both are the same underlying failure — trusting AI-adjacent text without verification — applied at two different phases of the two-phase pattern from Objective 7.1: after invocation in Module 3, and before invocation here.</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CONCEPT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risk of trusting a malicious or compromised third-party provider</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Where a tool-providing side is operated by a third party rather than the target organisation itself, the agent's willingness to trust that provider's declared tools and results becomes part of the attack surface in its own right.</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IS DISTINCT FROM DESCRIPTION INJECTION</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compromised or malicious provider can act consistently and convincingly across many interactions — it is not a single crafted string but an ongoing, adversarial relationship the agent has no way to detect from inside a conversation.</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IT MATTERS FOR SCOPING</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Any engagement where the target integrates third-party tool providers should treat provider trust as an explicit line item in the tool-surface inventory, not an assumed given.</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TECHNIQUE FAMILY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Forms of MCP-specific trust and validation weakness</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TOOL-DESCRIPTION INJECTION</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Crafted text embedded in a tool's own declared description carries an instruction the model treats as legitimate guidance during tool selection.</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CAPABILITY OVER-CLAIMING</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tool's description asserts broader or different capability than it actually has, misleading the model's choice of when to invoke it.</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COMPROMISED THIRD-PARTY PROVIDER</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tool-providing side outside the target's direct control behaves maliciously or has itself been compromised upstream.</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UNVERIFIED PROVENANCE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agent has no independent way to confirm that a discovered tool genuinely belongs to, or is authorised by, the party it claims to represent.</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Testing tool-description and provider trust</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Enumerate declared tool descriptions</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Collect the description or metadata text associated with every tool identified in Objective 7.2's inventory.</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Assess whether any description is attacker-influenceable</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Determine whether the description's source could plausibly be shaped by an untrusted party rather than the target operator.</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Test whether description content shapes model behaviour</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Observe whether wording in a tool's description measurably changes when or how the model chooses to invoke it.</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Establish provider trust boundaries</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For each tool-providing side, determine whether it is operated by the target or by an independent third party.</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Document the trust gap, not just the mechanism</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Record which specific description, metadata field, or provider relationship was accepted without independent verification.</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Trust weakness to OWASP/ATLAS mapping and consequence</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Weakness</a:t>
                      </a:r>
                    </a:p>
                  </a:txBody>
                  <a:tcPr marL="101600" marR="101600" marT="50800" marB="50800" anchor="ctr">
                    <a:solidFill>
                      <a:srgbClr val="3A2410"/>
                    </a:solidFill>
                  </a:tcPr>
                </a:tc>
                <a:tc>
                  <a:txBody>
                    <a:bodyPr wrap="square"/>
                    <a:lstStyle/>
                    <a:p>
                      <a:r>
                        <a:rPr sz="1300" b="1">
                          <a:solidFill>
                            <a:srgbClr val="F5F7FB"/>
                          </a:solidFill>
                          <a:latin typeface="Segoe UI"/>
                        </a:rPr>
                        <a:t>Mapping</a:t>
                      </a:r>
                    </a:p>
                  </a:txBody>
                  <a:tcPr marL="101600" marR="101600" marT="50800" marB="50800" anchor="ctr">
                    <a:solidFill>
                      <a:srgbClr val="3A2410"/>
                    </a:solidFill>
                  </a:tcPr>
                </a:tc>
                <a:tc>
                  <a:txBody>
                    <a:bodyPr wrap="square"/>
                    <a:lstStyle/>
                    <a:p>
                      <a:r>
                        <a:rPr sz="1300" b="1">
                          <a:solidFill>
                            <a:srgbClr val="F5F7FB"/>
                          </a:solidFill>
                          <a:latin typeface="Segoe UI"/>
                        </a:rPr>
                        <a:t>Consequence if exploited</a:t>
                      </a:r>
                    </a:p>
                  </a:txBody>
                  <a:tcPr marL="101600" marR="101600" marT="50800" marB="50800" anchor="ctr">
                    <a:solidFill>
                      <a:srgbClr val="3A2410"/>
                    </a:solidFill>
                  </a:tcPr>
                </a:tc>
              </a:tr>
              <a:tr h="471830">
                <a:tc>
                  <a:txBody>
                    <a:bodyPr wrap="square"/>
                    <a:lstStyle/>
                    <a:p>
                      <a:r>
                        <a:rPr sz="1200" b="1">
                          <a:solidFill>
                            <a:srgbClr val="F5F7FB"/>
                          </a:solidFill>
                          <a:latin typeface="Segoe UI"/>
                        </a:rPr>
                        <a:t>Tool-description injection</a:t>
                      </a:r>
                    </a:p>
                  </a:txBody>
                  <a:tcPr marL="101600" marR="101600" marT="50800" marB="50800" anchor="ctr">
                    <a:solidFill>
                      <a:srgbClr val="121319"/>
                    </a:solidFill>
                  </a:tcPr>
                </a:tc>
                <a:tc>
                  <a:txBody>
                    <a:bodyPr wrap="square"/>
                    <a:lstStyle/>
                    <a:p>
                      <a:r>
                        <a:rPr sz="1200" b="0">
                          <a:solidFill>
                            <a:srgbClr val="B8C0CF"/>
                          </a:solidFill>
                          <a:latin typeface="Segoe UI"/>
                        </a:rPr>
                        <a:t>LLM01 Prompt Injection (indirect)</a:t>
                      </a:r>
                    </a:p>
                  </a:txBody>
                  <a:tcPr marL="101600" marR="101600" marT="50800" marB="50800" anchor="ctr">
                    <a:solidFill>
                      <a:srgbClr val="121319"/>
                    </a:solidFill>
                  </a:tcPr>
                </a:tc>
                <a:tc>
                  <a:txBody>
                    <a:bodyPr wrap="square"/>
                    <a:lstStyle/>
                    <a:p>
                      <a:r>
                        <a:rPr sz="1200" b="0">
                          <a:solidFill>
                            <a:srgbClr val="B8C0CF"/>
                          </a:solidFill>
                          <a:latin typeface="Segoe UI"/>
                        </a:rPr>
                        <a:t>Model's tool selection or behaviour is steered by untrusted description text</a:t>
                      </a:r>
                    </a:p>
                  </a:txBody>
                  <a:tcPr marL="101600" marR="101600" marT="50800" marB="50800" anchor="ctr">
                    <a:solidFill>
                      <a:srgbClr val="121319"/>
                    </a:solidFill>
                  </a:tcPr>
                </a:tc>
              </a:tr>
              <a:tr h="471830">
                <a:tc>
                  <a:txBody>
                    <a:bodyPr wrap="square"/>
                    <a:lstStyle/>
                    <a:p>
                      <a:r>
                        <a:rPr sz="1200" b="1">
                          <a:solidFill>
                            <a:srgbClr val="F5F7FB"/>
                          </a:solidFill>
                          <a:latin typeface="Segoe UI"/>
                        </a:rPr>
                        <a:t>Capability over-claiming</a:t>
                      </a:r>
                    </a:p>
                  </a:txBody>
                  <a:tcPr marL="101600" marR="101600" marT="50800" marB="50800" anchor="ctr">
                    <a:solidFill>
                      <a:srgbClr val="141519"/>
                    </a:solidFill>
                  </a:tcPr>
                </a:tc>
                <a:tc>
                  <a:txBody>
                    <a:bodyPr wrap="square"/>
                    <a:lstStyle/>
                    <a:p>
                      <a:r>
                        <a:rPr sz="1200" b="0">
                          <a:solidFill>
                            <a:srgbClr val="B8C0CF"/>
                          </a:solidFill>
                          <a:latin typeface="Segoe UI"/>
                        </a:rPr>
                        <a:t>LLM06 Excessive Agency</a:t>
                      </a:r>
                    </a:p>
                  </a:txBody>
                  <a:tcPr marL="101600" marR="101600" marT="50800" marB="50800" anchor="ctr">
                    <a:solidFill>
                      <a:srgbClr val="141519"/>
                    </a:solidFill>
                  </a:tcPr>
                </a:tc>
                <a:tc>
                  <a:txBody>
                    <a:bodyPr wrap="square"/>
                    <a:lstStyle/>
                    <a:p>
                      <a:r>
                        <a:rPr sz="1200" b="0">
                          <a:solidFill>
                            <a:srgbClr val="B8C0CF"/>
                          </a:solidFill>
                          <a:latin typeface="Segoe UI"/>
                        </a:rPr>
                        <a:t>Model is misled into invoking a tool beyond its real, verified capability</a:t>
                      </a:r>
                    </a:p>
                  </a:txBody>
                  <a:tcPr marL="101600" marR="101600" marT="50800" marB="50800" anchor="ctr">
                    <a:solidFill>
                      <a:srgbClr val="141519"/>
                    </a:solidFill>
                  </a:tcPr>
                </a:tc>
              </a:tr>
              <a:tr h="471830">
                <a:tc>
                  <a:txBody>
                    <a:bodyPr wrap="square"/>
                    <a:lstStyle/>
                    <a:p>
                      <a:r>
                        <a:rPr sz="1200" b="1">
                          <a:solidFill>
                            <a:srgbClr val="F5F7FB"/>
                          </a:solidFill>
                          <a:latin typeface="Segoe UI"/>
                        </a:rPr>
                        <a:t>Compromised third-party provider</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c>
                  <a:txBody>
                    <a:bodyPr wrap="square"/>
                    <a:lstStyle/>
                    <a:p>
                      <a:r>
                        <a:rPr sz="1200" b="0">
                          <a:solidFill>
                            <a:srgbClr val="B8C0CF"/>
                          </a:solidFill>
                          <a:latin typeface="Segoe UI"/>
                        </a:rPr>
                        <a:t>An external party gains standing influence over the agent's actions</a:t>
                      </a:r>
                    </a:p>
                  </a:txBody>
                  <a:tcPr marL="101600" marR="101600" marT="50800" marB="50800" anchor="ctr">
                    <a:solidFill>
                      <a:srgbClr val="121319"/>
                    </a:solidFill>
                  </a:tcPr>
                </a:tc>
              </a:tr>
              <a:tr h="471832">
                <a:tc>
                  <a:txBody>
                    <a:bodyPr wrap="square"/>
                    <a:lstStyle/>
                    <a:p>
                      <a:r>
                        <a:rPr sz="1200" b="1">
                          <a:solidFill>
                            <a:srgbClr val="F5F7FB"/>
                          </a:solidFill>
                          <a:latin typeface="Segoe UI"/>
                        </a:rPr>
                        <a:t>Unverified provenance</a:t>
                      </a:r>
                    </a:p>
                  </a:txBody>
                  <a:tcPr marL="101600" marR="101600" marT="50800" marB="50800" anchor="ctr">
                    <a:solidFill>
                      <a:srgbClr val="141519"/>
                    </a:solidFill>
                  </a:tcPr>
                </a:tc>
                <a:tc>
                  <a:txBody>
                    <a:bodyPr wrap="square"/>
                    <a:lstStyle/>
                    <a:p>
                      <a:r>
                        <a:rPr sz="1200" b="0">
                          <a:solidFill>
                            <a:srgbClr val="B8C0CF"/>
                          </a:solidFill>
                          <a:latin typeface="Segoe UI"/>
                        </a:rPr>
                        <a:t>MITRE ATLAS — supply-chain-adjacent trust gap</a:t>
                      </a:r>
                    </a:p>
                  </a:txBody>
                  <a:tcPr marL="101600" marR="101600" marT="50800" marB="50800" anchor="ctr">
                    <a:solidFill>
                      <a:srgbClr val="141519"/>
                    </a:solidFill>
                  </a:tcPr>
                </a:tc>
                <a:tc>
                  <a:txBody>
                    <a:bodyPr wrap="square"/>
                    <a:lstStyle/>
                    <a:p>
                      <a:r>
                        <a:rPr sz="1200" b="0">
                          <a:solidFill>
                            <a:srgbClr val="B8C0CF"/>
                          </a:solidFill>
                          <a:latin typeface="Segoe UI"/>
                        </a:rPr>
                        <a:t>Agent cannot distinguish an authorised tool from an impostor</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MITRE ATLAS frames unverified provenance as a trust-boundary weakness relevant to the same threat landscape as classic supply-chain risk, developed further in Module 8.</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SYNTHESIS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Why the discovery phase deserves the same scrutiny as invocation</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Objective 7.1 split tool use into discovery and invocation; Module 3 and Objective 7.2 focused mainly on invocation-time abuse, but Objective 7.3 shows the discovery phase carries its own, distinct trust weaknesses.</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THE CORE ASSUMPTION FAILURE</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Operators and models alike tend to treat a tool's own self-description as reliable metadata rather than as untrusted text — the same blind spot Module 3 identified for tool output, one phase earlier.</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THIS MEANS FOR A TESTER</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tool-surface assessment that only tests invocation-time abuse and never questions the discovery phase's trust assumptions is incomplete.</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7.3 · PRACTICAL</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The conceptual anatomy of a tool-description trust weakness</a:t>
            </a:r>
          </a:p>
        </p:txBody>
      </p:sp>
      <p:sp>
        <p:nvSpPr>
          <p:cNvPr id="6" name="TextBox 5"/>
          <p:cNvSpPr txBox="1"/>
          <p:nvPr/>
        </p:nvSpPr>
        <p:spPr>
          <a:xfrm>
            <a:off x="548640" y="1737360"/>
            <a:ext cx="11064240" cy="640080"/>
          </a:xfrm>
          <a:prstGeom prst="rect">
            <a:avLst/>
          </a:prstGeom>
          <a:noFill/>
        </p:spPr>
        <p:txBody>
          <a:bodyPr wrap="square" anchor="t" lIns="25400" rIns="25400" tIns="25400" bIns="25400">
            <a:spAutoFit/>
          </a:bodyPr>
          <a:lstStyle/>
          <a:p>
            <a:pPr algn="l">
              <a:spcBef>
                <a:spcPts val="0"/>
              </a:spcBef>
              <a:spcAft>
                <a:spcPts val="600"/>
              </a:spcAft>
            </a:pPr>
            <a:r>
              <a:rPr sz="1500" b="0">
                <a:solidFill>
                  <a:srgbClr val="B8C0CF"/>
                </a:solidFill>
                <a:latin typeface="Segoe UI"/>
              </a:rPr>
              <a:t>A conceptual, labelled breakdown of how a discovery-phase trust weakness is structured — not a working exploit, and not a lab exercise.</a:t>
            </a:r>
          </a:p>
        </p:txBody>
      </p:sp>
      <p:sp>
        <p:nvSpPr>
          <p:cNvPr id="7" name="Rounded Rectangle 6"/>
          <p:cNvSpPr/>
          <p:nvPr/>
        </p:nvSpPr>
        <p:spPr>
          <a:xfrm>
            <a:off x="548640" y="2423160"/>
            <a:ext cx="11091672" cy="3566160"/>
          </a:xfrm>
          <a:prstGeom prst="roundRect">
            <a:avLst/>
          </a:prstGeom>
          <a:solidFill>
            <a:srgbClr val="0A0F16"/>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606040"/>
            <a:ext cx="10515600" cy="3291840"/>
          </a:xfrm>
          <a:prstGeom prst="rect">
            <a:avLst/>
          </a:prstGeom>
          <a:noFill/>
        </p:spPr>
        <p:txBody>
          <a:bodyPr wrap="square" anchor="t" lIns="25400" rIns="25400" tIns="25400" bIns="25400">
            <a:spAutoFit/>
          </a:bodyPr>
          <a:lstStyle/>
          <a:p>
            <a:pPr algn="l">
              <a:spcBef>
                <a:spcPts val="0"/>
              </a:spcBef>
              <a:spcAft>
                <a:spcPts val="400"/>
              </a:spcAft>
            </a:pPr>
            <a:r>
              <a:rPr sz="1400" b="0">
                <a:solidFill>
                  <a:srgbClr val="9CE6B4"/>
                </a:solidFill>
                <a:latin typeface="Segoe UI"/>
              </a:rPr>
              <a:t># Component 1: The discovery phase</a:t>
            </a:r>
          </a:p>
          <a:p>
            <a:pPr algn="l">
              <a:spcBef>
                <a:spcPts val="0"/>
              </a:spcBef>
              <a:spcAft>
                <a:spcPts val="400"/>
              </a:spcAft>
            </a:pPr>
            <a:r>
              <a:rPr sz="1400" b="0">
                <a:solidFill>
                  <a:srgbClr val="F5F7FB"/>
                </a:solidFill>
                <a:latin typeface="Segoe UI"/>
              </a:rPr>
              <a:t>The model reads tool descriptions to decide what exists and when to use it</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2: The untrusted description</a:t>
            </a:r>
          </a:p>
          <a:p>
            <a:pPr algn="l">
              <a:spcBef>
                <a:spcPts val="0"/>
              </a:spcBef>
              <a:spcAft>
                <a:spcPts val="400"/>
              </a:spcAft>
            </a:pPr>
            <a:r>
              <a:rPr sz="1400" b="0">
                <a:solidFill>
                  <a:srgbClr val="F5F7FB"/>
                </a:solidFill>
                <a:latin typeface="Segoe UI"/>
              </a:rPr>
              <a:t>A description or metadata field is attacker-influenceable or otherwise unverified</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3: The misplaced trust</a:t>
            </a:r>
          </a:p>
          <a:p>
            <a:pPr algn="l">
              <a:spcBef>
                <a:spcPts val="0"/>
              </a:spcBef>
              <a:spcAft>
                <a:spcPts val="400"/>
              </a:spcAft>
            </a:pPr>
            <a:r>
              <a:rPr sz="1400" b="0">
                <a:solidFill>
                  <a:srgbClr val="F5F7FB"/>
                </a:solidFill>
                <a:latin typeface="Segoe UI"/>
              </a:rPr>
              <a:t>The model accepts the description's claims without independent verification</a:t>
            </a:r>
          </a:p>
          <a:p>
            <a:pPr algn="l">
              <a:spcBef>
                <a:spcPts val="0"/>
              </a:spcBef>
              <a:spcAft>
                <a:spcPts val="400"/>
              </a:spcAft>
            </a:pPr>
            <a:r>
              <a:rPr sz="1400" b="0">
                <a:solidFill>
                  <a:srgbClr val="F5F7FB"/>
                </a:solidFill>
                <a:latin typeface="Segoe UI"/>
              </a:rPr>
              <a:t/>
            </a:r>
          </a:p>
          <a:p>
            <a:pPr algn="l">
              <a:spcBef>
                <a:spcPts val="0"/>
              </a:spcBef>
              <a:spcAft>
                <a:spcPts val="400"/>
              </a:spcAft>
            </a:pPr>
            <a:r>
              <a:rPr sz="1400" b="0">
                <a:solidFill>
                  <a:srgbClr val="9CE6B4"/>
                </a:solidFill>
                <a:latin typeface="Segoe UI"/>
              </a:rPr>
              <a:t># Component 4: Evidence capture</a:t>
            </a:r>
          </a:p>
          <a:p>
            <a:pPr algn="l">
              <a:spcBef>
                <a:spcPts val="0"/>
              </a:spcBef>
              <a:spcAft>
                <a:spcPts val="400"/>
              </a:spcAft>
            </a:pPr>
            <a:r>
              <a:rPr sz="1400" b="0">
                <a:solidFill>
                  <a:srgbClr val="F5F7FB"/>
                </a:solidFill>
                <a:latin typeface="Segoe UI"/>
              </a:rPr>
              <a:t>Record which tool, which description or provider, and what behaviour resulted</a:t>
            </a:r>
          </a:p>
        </p:txBody>
      </p:sp>
      <p:sp>
        <p:nvSpPr>
          <p:cNvPr id="9" name="TextBox 8"/>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0" name="TextBox 9"/>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OBJECTIVE 7.4</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7.4</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Defending and reasoning about tool surfaces</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DEFINITION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Cataloguing a tool surface for engagement-report purposes</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Cataloguing a tool surface means converting everything discovered in Objectives 7.2 and 7.3 into a structured, prioritised set of findings a client can act on — the same discipline Module 2 applied to the broader target inventory.</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GOAL</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Produce a tool-surface section of the engagement report that a client's own team can read, prioritise, and remediate without needing to reconstruct the testing process.</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AN ATTACKER'S-EYE VIEW STILL MATTERS HERE</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Prioritisation itself is an attacker skill — a red teamer who cannot rank findings by real exploitability produces a report that is accurate but not useful.</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FINDINGS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Categories of tool-surface finding worth reporting</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LEAST-PRIVILEGE GAPS</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tool grant that exceeds what the observed task requires — the direct, reportable form of the excessive-agency concept from Objective 7.2.</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MISSING TOOL-OUTPUT VALIDATION</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agent treats a tool's returned result as trusted context without sanitisation, the Module 3 weakness now confirmed at report-ready evidence quality.</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MISSING TOOL-DESCRIPTION VALIDATION</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The agent treats a tool's declared description or metadata as trustworthy without independent verification, per Objective 7.3.</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UNMANAGED THIRD-PARTY PROVIDER TRUST</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A tool-providing side outside the target's direct control is trusted without any documented verification process.</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MAP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Tool-surface finding category to attack-surface layer and OWASP mapping</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Finding category</a:t>
                      </a:r>
                    </a:p>
                  </a:txBody>
                  <a:tcPr marL="101600" marR="101600" marT="50800" marB="50800" anchor="ctr">
                    <a:solidFill>
                      <a:srgbClr val="3A2410"/>
                    </a:solidFill>
                  </a:tcPr>
                </a:tc>
                <a:tc>
                  <a:txBody>
                    <a:bodyPr wrap="square"/>
                    <a:lstStyle/>
                    <a:p>
                      <a:r>
                        <a:rPr sz="1300" b="1">
                          <a:solidFill>
                            <a:srgbClr val="F5F7FB"/>
                          </a:solidFill>
                          <a:latin typeface="Segoe UI"/>
                        </a:rPr>
                        <a:t>Module 1 attack-surface layer</a:t>
                      </a:r>
                    </a:p>
                  </a:txBody>
                  <a:tcPr marL="101600" marR="101600" marT="50800" marB="50800" anchor="ctr">
                    <a:solidFill>
                      <a:srgbClr val="3A2410"/>
                    </a:solidFill>
                  </a:tcPr>
                </a:tc>
                <a:tc>
                  <a:txBody>
                    <a:bodyPr wrap="square"/>
                    <a:lstStyle/>
                    <a:p>
                      <a:r>
                        <a:rPr sz="1300" b="1">
                          <a:solidFill>
                            <a:srgbClr val="F5F7FB"/>
                          </a:solidFill>
                          <a:latin typeface="Segoe UI"/>
                        </a:rPr>
                        <a:t>OWASP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Least-privilege / excessive-agency gap</a:t>
                      </a:r>
                    </a:p>
                  </a:txBody>
                  <a:tcPr marL="101600" marR="101600" marT="50800" marB="50800" anchor="ctr">
                    <a:solidFill>
                      <a:srgbClr val="121319"/>
                    </a:solidFill>
                  </a:tcPr>
                </a:tc>
                <a:tc>
                  <a:txBody>
                    <a:bodyPr wrap="square"/>
                    <a:lstStyle/>
                    <a:p>
                      <a:r>
                        <a:rPr sz="1200" b="0">
                          <a:solidFill>
                            <a:srgbClr val="B8C0CF"/>
                          </a:solidFill>
                          <a:latin typeface="Segoe UI"/>
                        </a:rPr>
                        <a:t>Agent &amp; tool layer</a:t>
                      </a:r>
                    </a:p>
                  </a:txBody>
                  <a:tcPr marL="101600" marR="101600" marT="50800" marB="50800" anchor="ctr">
                    <a:solidFill>
                      <a:srgbClr val="121319"/>
                    </a:solidFill>
                  </a:tcPr>
                </a:tc>
                <a:tc>
                  <a:txBody>
                    <a:bodyPr wrap="square"/>
                    <a:lstStyle/>
                    <a:p>
                      <a:r>
                        <a:rPr sz="1200" b="0">
                          <a:solidFill>
                            <a:srgbClr val="B8C0CF"/>
                          </a:solidFill>
                          <a:latin typeface="Segoe UI"/>
                        </a:rPr>
                        <a:t>LLM06 Excessive Agency</a:t>
                      </a:r>
                    </a:p>
                  </a:txBody>
                  <a:tcPr marL="101600" marR="101600" marT="50800" marB="50800" anchor="ctr">
                    <a:solidFill>
                      <a:srgbClr val="121319"/>
                    </a:solidFill>
                  </a:tcPr>
                </a:tc>
              </a:tr>
              <a:tr h="471830">
                <a:tc>
                  <a:txBody>
                    <a:bodyPr wrap="square"/>
                    <a:lstStyle/>
                    <a:p>
                      <a:r>
                        <a:rPr sz="1200" b="1">
                          <a:solidFill>
                            <a:srgbClr val="F5F7FB"/>
                          </a:solidFill>
                          <a:latin typeface="Segoe UI"/>
                        </a:rPr>
                        <a:t>Missing tool-output validation</a:t>
                      </a:r>
                    </a:p>
                  </a:txBody>
                  <a:tcPr marL="101600" marR="101600" marT="50800" marB="50800" anchor="ctr">
                    <a:solidFill>
                      <a:srgbClr val="141519"/>
                    </a:solidFill>
                  </a:tcPr>
                </a:tc>
                <a:tc>
                  <a:txBody>
                    <a:bodyPr wrap="square"/>
                    <a:lstStyle/>
                    <a:p>
                      <a:r>
                        <a:rPr sz="1200" b="0">
                          <a:solidFill>
                            <a:srgbClr val="B8C0CF"/>
                          </a:solidFill>
                          <a:latin typeface="Segoe UI"/>
                        </a:rPr>
                        <a:t>Agent &amp; tool layer</a:t>
                      </a:r>
                    </a:p>
                  </a:txBody>
                  <a:tcPr marL="101600" marR="101600" marT="50800" marB="50800" anchor="ctr">
                    <a:solidFill>
                      <a:srgbClr val="141519"/>
                    </a:solidFill>
                  </a:tcPr>
                </a:tc>
                <a:tc>
                  <a:txBody>
                    <a:bodyPr wrap="square"/>
                    <a:lstStyle/>
                    <a:p>
                      <a:r>
                        <a:rPr sz="1200" b="0">
                          <a:solidFill>
                            <a:srgbClr val="B8C0CF"/>
                          </a:solidFill>
                          <a:latin typeface="Segoe UI"/>
                        </a:rPr>
                        <a:t>LLM01 Prompt Injection (indirect)</a:t>
                      </a:r>
                    </a:p>
                  </a:txBody>
                  <a:tcPr marL="101600" marR="101600" marT="50800" marB="50800" anchor="ctr">
                    <a:solidFill>
                      <a:srgbClr val="141519"/>
                    </a:solidFill>
                  </a:tcPr>
                </a:tc>
              </a:tr>
              <a:tr h="471830">
                <a:tc>
                  <a:txBody>
                    <a:bodyPr wrap="square"/>
                    <a:lstStyle/>
                    <a:p>
                      <a:r>
                        <a:rPr sz="1200" b="1">
                          <a:solidFill>
                            <a:srgbClr val="F5F7FB"/>
                          </a:solidFill>
                          <a:latin typeface="Segoe UI"/>
                        </a:rPr>
                        <a:t>Missing tool-description validation</a:t>
                      </a:r>
                    </a:p>
                  </a:txBody>
                  <a:tcPr marL="101600" marR="101600" marT="50800" marB="50800" anchor="ctr">
                    <a:solidFill>
                      <a:srgbClr val="121319"/>
                    </a:solidFill>
                  </a:tcPr>
                </a:tc>
                <a:tc>
                  <a:txBody>
                    <a:bodyPr wrap="square"/>
                    <a:lstStyle/>
                    <a:p>
                      <a:r>
                        <a:rPr sz="1200" b="0">
                          <a:solidFill>
                            <a:srgbClr val="B8C0CF"/>
                          </a:solidFill>
                          <a:latin typeface="Segoe UI"/>
                        </a:rPr>
                        <a:t>Agent &amp; tool layer</a:t>
                      </a:r>
                    </a:p>
                  </a:txBody>
                  <a:tcPr marL="101600" marR="101600" marT="50800" marB="50800" anchor="ctr">
                    <a:solidFill>
                      <a:srgbClr val="121319"/>
                    </a:solidFill>
                  </a:tcPr>
                </a:tc>
                <a:tc>
                  <a:txBody>
                    <a:bodyPr wrap="square"/>
                    <a:lstStyle/>
                    <a:p>
                      <a:r>
                        <a:rPr sz="1200" b="0">
                          <a:solidFill>
                            <a:srgbClr val="B8C0CF"/>
                          </a:solidFill>
                          <a:latin typeface="Segoe UI"/>
                        </a:rPr>
                        <a:t>LLM01 Prompt Injection (indirect)</a:t>
                      </a:r>
                    </a:p>
                  </a:txBody>
                  <a:tcPr marL="101600" marR="101600" marT="50800" marB="50800" anchor="ctr">
                    <a:solidFill>
                      <a:srgbClr val="121319"/>
                    </a:solidFill>
                  </a:tcPr>
                </a:tc>
              </a:tr>
              <a:tr h="471832">
                <a:tc>
                  <a:txBody>
                    <a:bodyPr wrap="square"/>
                    <a:lstStyle/>
                    <a:p>
                      <a:r>
                        <a:rPr sz="1200" b="1">
                          <a:solidFill>
                            <a:srgbClr val="F5F7FB"/>
                          </a:solidFill>
                          <a:latin typeface="Segoe UI"/>
                        </a:rPr>
                        <a:t>Unmanaged third-party provider trust</a:t>
                      </a:r>
                    </a:p>
                  </a:txBody>
                  <a:tcPr marL="101600" marR="101600" marT="50800" marB="50800" anchor="ctr">
                    <a:solidFill>
                      <a:srgbClr val="141519"/>
                    </a:solidFill>
                  </a:tcPr>
                </a:tc>
                <a:tc>
                  <a:txBody>
                    <a:bodyPr wrap="square"/>
                    <a:lstStyle/>
                    <a:p>
                      <a:r>
                        <a:rPr sz="1200" b="0">
                          <a:solidFill>
                            <a:srgbClr val="B8C0CF"/>
                          </a:solidFill>
                          <a:latin typeface="Segoe UI"/>
                        </a:rPr>
                        <a:t>Agent &amp; tool layer / supply chain adjacent</a:t>
                      </a:r>
                    </a:p>
                  </a:txBody>
                  <a:tcPr marL="101600" marR="101600" marT="50800" marB="50800" anchor="ctr">
                    <a:solidFill>
                      <a:srgbClr val="141519"/>
                    </a:solidFill>
                  </a:tcPr>
                </a:tc>
                <a:tc>
                  <a:txBody>
                    <a:bodyPr wrap="square"/>
                    <a:lstStyle/>
                    <a:p>
                      <a:r>
                        <a:rPr sz="1200" b="0">
                          <a:solidFill>
                            <a:srgbClr val="B8C0CF"/>
                          </a:solidFill>
                          <a:latin typeface="Segoe UI"/>
                        </a:rPr>
                        <a:t>LLM06 Excessive Agency</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Supply-chain-adjacent provider trust is developed fully in Module 8; this module only flags it as a tool-surface finding category.</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HANDOFF</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Mapping tool-surface findings back to Module 1's attack surface</a:t>
            </a:r>
          </a:p>
        </p:txBody>
      </p:sp>
      <p:sp>
        <p:nvSpPr>
          <p:cNvPr id="6" name="Rounded Rectangle 5"/>
          <p:cNvSpPr/>
          <p:nvPr/>
        </p:nvSpPr>
        <p:spPr>
          <a:xfrm>
            <a:off x="548640" y="1783080"/>
            <a:ext cx="11091672" cy="132588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20240"/>
            <a:ext cx="10607040" cy="1097280"/>
          </a:xfrm>
          <a:prstGeom prst="rect">
            <a:avLst/>
          </a:prstGeom>
          <a:noFill/>
        </p:spPr>
        <p:txBody>
          <a:bodyPr wrap="square" anchor="ctr" lIns="25400" rIns="25400" tIns="25400" bIns="25400">
            <a:spAutoFit/>
          </a:bodyPr>
          <a:lstStyle/>
          <a:p>
            <a:pPr algn="l">
              <a:spcBef>
                <a:spcPts val="0"/>
              </a:spcBef>
              <a:spcAft>
                <a:spcPts val="600"/>
              </a:spcAft>
            </a:pPr>
            <a:r>
              <a:rPr sz="1650" b="0">
                <a:solidFill>
                  <a:srgbClr val="F5F7FB"/>
                </a:solidFill>
                <a:latin typeface="Segoe UI"/>
              </a:rPr>
              <a:t>Module 1, Objective 1.2 introduced a six-layer attack-surface map; every finding this module produces belongs to that map's agent-and-tool layer, giving the final report a consistent structural home for tool-surface evidence.</a:t>
            </a:r>
          </a:p>
        </p:txBody>
      </p:sp>
      <p:sp>
        <p:nvSpPr>
          <p:cNvPr id="8" name="Rounded Rectangle 7"/>
          <p:cNvSpPr/>
          <p:nvPr/>
        </p:nvSpPr>
        <p:spPr>
          <a:xfrm>
            <a:off x="548640"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WHY THIS MATTERS FOR THE REPORT</a:t>
            </a:r>
          </a:p>
        </p:txBody>
      </p:sp>
      <p:sp>
        <p:nvSpPr>
          <p:cNvPr id="10" name="TextBox 9"/>
          <p:cNvSpPr txBox="1"/>
          <p:nvPr/>
        </p:nvSpPr>
        <p:spPr>
          <a:xfrm>
            <a:off x="749808"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A client reading the final report should be able to see immediately which layer each finding belongs to, without needing AI-specific vocabulary to follow the structure.</a:t>
            </a:r>
          </a:p>
        </p:txBody>
      </p:sp>
      <p:sp>
        <p:nvSpPr>
          <p:cNvPr id="11" name="Rounded Rectangle 10"/>
          <p:cNvSpPr/>
          <p:nvPr/>
        </p:nvSpPr>
        <p:spPr>
          <a:xfrm>
            <a:off x="6231636" y="3337560"/>
            <a:ext cx="5408676" cy="26060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2804" y="3520440"/>
            <a:ext cx="5006340" cy="54864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WHAT TRAVELS FORWARD</a:t>
            </a:r>
          </a:p>
        </p:txBody>
      </p:sp>
      <p:sp>
        <p:nvSpPr>
          <p:cNvPr id="13" name="TextBox 12"/>
          <p:cNvSpPr txBox="1"/>
          <p:nvPr/>
        </p:nvSpPr>
        <p:spPr>
          <a:xfrm>
            <a:off x="6432804" y="4023360"/>
            <a:ext cx="5006340" cy="1783080"/>
          </a:xfrm>
          <a:prstGeom prst="rect">
            <a:avLst/>
          </a:prstGeom>
          <a:noFill/>
        </p:spPr>
        <p:txBody>
          <a:bodyPr wrap="square" anchor="t" lIns="25400" rIns="25400" tIns="25400" bIns="25400">
            <a:spAutoFit/>
          </a:bodyPr>
          <a:lstStyle/>
          <a:p>
            <a:pPr algn="l">
              <a:spcBef>
                <a:spcPts val="0"/>
              </a:spcBef>
              <a:spcAft>
                <a:spcPts val="600"/>
              </a:spcAft>
            </a:pPr>
            <a:r>
              <a:rPr sz="1350" b="0">
                <a:solidFill>
                  <a:srgbClr val="B8C0CF"/>
                </a:solidFill>
                <a:latin typeface="Segoe UI"/>
              </a:rPr>
              <a:t>Prioritised tool-surface findings, the same way Module 2's target inventory travels forward into Module 10's threat modeling.</a:t>
            </a:r>
          </a:p>
        </p:txBody>
      </p:sp>
      <p:sp>
        <p:nvSpPr>
          <p:cNvPr id="14" name="TextBox 13"/>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5" name="TextBox 14"/>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WORKFLOW</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From tool-surface catalogue to report section</a:t>
            </a:r>
          </a:p>
        </p:txBody>
      </p:sp>
      <p:sp>
        <p:nvSpPr>
          <p:cNvPr id="6" name="Rounded Rectangle 5"/>
          <p:cNvSpPr/>
          <p:nvPr/>
        </p:nvSpPr>
        <p:spPr>
          <a:xfrm>
            <a:off x="548640" y="1920240"/>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1</a:t>
            </a:r>
          </a:p>
        </p:txBody>
      </p:sp>
      <p:sp>
        <p:nvSpPr>
          <p:cNvPr id="8" name="Rounded Rectangle 7"/>
          <p:cNvSpPr/>
          <p:nvPr/>
        </p:nvSpPr>
        <p:spPr>
          <a:xfrm>
            <a:off x="1371600" y="1920240"/>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1920240"/>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Consolidate Objective 7.2's tool inventory</a:t>
            </a:r>
          </a:p>
        </p:txBody>
      </p:sp>
      <p:sp>
        <p:nvSpPr>
          <p:cNvPr id="10" name="TextBox 9"/>
          <p:cNvSpPr txBox="1"/>
          <p:nvPr/>
        </p:nvSpPr>
        <p:spPr>
          <a:xfrm>
            <a:off x="4709160" y="1920240"/>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Bring together every enumerated tool, its apparent privilege, and any demonstrated abuse.</a:t>
            </a:r>
          </a:p>
        </p:txBody>
      </p:sp>
      <p:sp>
        <p:nvSpPr>
          <p:cNvPr id="11" name="Rounded Rectangle 10"/>
          <p:cNvSpPr/>
          <p:nvPr/>
        </p:nvSpPr>
        <p:spPr>
          <a:xfrm>
            <a:off x="548640" y="2816352"/>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16352"/>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2</a:t>
            </a:r>
          </a:p>
        </p:txBody>
      </p:sp>
      <p:sp>
        <p:nvSpPr>
          <p:cNvPr id="13" name="Rounded Rectangle 12"/>
          <p:cNvSpPr/>
          <p:nvPr/>
        </p:nvSpPr>
        <p:spPr>
          <a:xfrm>
            <a:off x="1371600" y="2816352"/>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00200" y="2816352"/>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Consolidate Objective 7.3's trust findings</a:t>
            </a:r>
          </a:p>
        </p:txBody>
      </p:sp>
      <p:sp>
        <p:nvSpPr>
          <p:cNvPr id="15" name="TextBox 14"/>
          <p:cNvSpPr txBox="1"/>
          <p:nvPr/>
        </p:nvSpPr>
        <p:spPr>
          <a:xfrm>
            <a:off x="4709160" y="2816352"/>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Add every tool-description or provider-trust weakness identified, with its supporting evidence.</a:t>
            </a:r>
          </a:p>
        </p:txBody>
      </p:sp>
      <p:sp>
        <p:nvSpPr>
          <p:cNvPr id="16" name="Rounded Rectangle 15"/>
          <p:cNvSpPr/>
          <p:nvPr/>
        </p:nvSpPr>
        <p:spPr>
          <a:xfrm>
            <a:off x="548640" y="3712464"/>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712464"/>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3</a:t>
            </a:r>
          </a:p>
        </p:txBody>
      </p:sp>
      <p:sp>
        <p:nvSpPr>
          <p:cNvPr id="18" name="Rounded Rectangle 17"/>
          <p:cNvSpPr/>
          <p:nvPr/>
        </p:nvSpPr>
        <p:spPr>
          <a:xfrm>
            <a:off x="1371600" y="3712464"/>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00200" y="3712464"/>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Rank by demonstrated impact and effort</a:t>
            </a:r>
          </a:p>
        </p:txBody>
      </p:sp>
      <p:sp>
        <p:nvSpPr>
          <p:cNvPr id="20" name="TextBox 19"/>
          <p:cNvSpPr txBox="1"/>
          <p:nvPr/>
        </p:nvSpPr>
        <p:spPr>
          <a:xfrm>
            <a:off x="4709160" y="3712464"/>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Prioritise findings the way Module 10's threat modeling will — likely impact against effort to exploit.</a:t>
            </a:r>
          </a:p>
        </p:txBody>
      </p:sp>
      <p:sp>
        <p:nvSpPr>
          <p:cNvPr id="21" name="Rounded Rectangle 20"/>
          <p:cNvSpPr/>
          <p:nvPr/>
        </p:nvSpPr>
        <p:spPr>
          <a:xfrm>
            <a:off x="548640" y="4608576"/>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608576"/>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4</a:t>
            </a:r>
          </a:p>
        </p:txBody>
      </p:sp>
      <p:sp>
        <p:nvSpPr>
          <p:cNvPr id="23" name="Rounded Rectangle 22"/>
          <p:cNvSpPr/>
          <p:nvPr/>
        </p:nvSpPr>
        <p:spPr>
          <a:xfrm>
            <a:off x="1371600" y="4608576"/>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00200" y="4608576"/>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Map each finding to its attack-surface layer and OWASP ID</a:t>
            </a:r>
          </a:p>
        </p:txBody>
      </p:sp>
      <p:sp>
        <p:nvSpPr>
          <p:cNvPr id="25" name="TextBox 24"/>
          <p:cNvSpPr txBox="1"/>
          <p:nvPr/>
        </p:nvSpPr>
        <p:spPr>
          <a:xfrm>
            <a:off x="4709160" y="4608576"/>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Give every entry a consistent structural home in the report.</a:t>
            </a:r>
          </a:p>
        </p:txBody>
      </p:sp>
      <p:sp>
        <p:nvSpPr>
          <p:cNvPr id="26" name="Rounded Rectangle 25"/>
          <p:cNvSpPr/>
          <p:nvPr/>
        </p:nvSpPr>
        <p:spPr>
          <a:xfrm>
            <a:off x="548640" y="5504688"/>
            <a:ext cx="685800" cy="841248"/>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504688"/>
            <a:ext cx="685800" cy="841248"/>
          </a:xfrm>
          <a:prstGeom prst="rect">
            <a:avLst/>
          </a:prstGeom>
          <a:noFill/>
        </p:spPr>
        <p:txBody>
          <a:bodyPr wrap="square" anchor="ctr" lIns="25400" rIns="25400" tIns="25400" bIns="25400">
            <a:spAutoFit/>
          </a:bodyPr>
          <a:lstStyle/>
          <a:p>
            <a:pPr algn="ctr">
              <a:spcBef>
                <a:spcPts val="0"/>
              </a:spcBef>
              <a:spcAft>
                <a:spcPts val="600"/>
              </a:spcAft>
            </a:pPr>
            <a:r>
              <a:rPr sz="2200" b="1">
                <a:solidFill>
                  <a:srgbClr val="0C0D10"/>
                </a:solidFill>
                <a:latin typeface="Segoe UI"/>
              </a:rPr>
              <a:t>5</a:t>
            </a:r>
          </a:p>
        </p:txBody>
      </p:sp>
      <p:sp>
        <p:nvSpPr>
          <p:cNvPr id="28" name="Rounded Rectangle 27"/>
          <p:cNvSpPr/>
          <p:nvPr/>
        </p:nvSpPr>
        <p:spPr>
          <a:xfrm>
            <a:off x="1371600" y="5504688"/>
            <a:ext cx="10268712" cy="841248"/>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600200" y="5504688"/>
            <a:ext cx="3108960" cy="841248"/>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5F7FB"/>
                </a:solidFill>
                <a:latin typeface="Segoe UI"/>
              </a:rPr>
              <a:t>Write the tool-surface section as one coherent narrative</a:t>
            </a:r>
          </a:p>
        </p:txBody>
      </p:sp>
      <p:sp>
        <p:nvSpPr>
          <p:cNvPr id="30" name="TextBox 29"/>
          <p:cNvSpPr txBox="1"/>
          <p:nvPr/>
        </p:nvSpPr>
        <p:spPr>
          <a:xfrm>
            <a:off x="4709160" y="5504688"/>
            <a:ext cx="6766560" cy="841248"/>
          </a:xfrm>
          <a:prstGeom prst="rect">
            <a:avLst/>
          </a:prstGeom>
          <a:noFill/>
        </p:spPr>
        <p:txBody>
          <a:bodyPr wrap="square" anchor="ctr" lIns="25400" rIns="25400" tIns="25400" bIns="25400">
            <a:spAutoFit/>
          </a:bodyPr>
          <a:lstStyle/>
          <a:p>
            <a:pPr algn="l">
              <a:spcBef>
                <a:spcPts val="0"/>
              </a:spcBef>
              <a:spcAft>
                <a:spcPts val="600"/>
              </a:spcAft>
            </a:pPr>
            <a:r>
              <a:rPr sz="1300" b="0">
                <a:solidFill>
                  <a:srgbClr val="B8C0CF"/>
                </a:solidFill>
                <a:latin typeface="Segoe UI"/>
              </a:rPr>
              <a:t>Present the catalogue as a prioritised set of findings, not a raw dump of enumerated tools.</a:t>
            </a:r>
          </a:p>
        </p:txBody>
      </p:sp>
      <p:sp>
        <p:nvSpPr>
          <p:cNvPr id="31" name="TextBox 3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32" name="TextBox 3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CRITICAL DISTINCTION</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A weak tool-surface report section vs a strong one</a:t>
            </a:r>
          </a:p>
        </p:txBody>
      </p:sp>
      <p:sp>
        <p:nvSpPr>
          <p:cNvPr id="6" name="Rounded Rectangle 5"/>
          <p:cNvSpPr/>
          <p:nvPr/>
        </p:nvSpPr>
        <p:spPr>
          <a:xfrm>
            <a:off x="548640" y="1828800"/>
            <a:ext cx="5257800" cy="3246120"/>
          </a:xfrm>
          <a:prstGeom prst="roundRect">
            <a:avLst/>
          </a:prstGeom>
          <a:solidFill>
            <a:srgbClr val="141519"/>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Weak report section</a:t>
            </a:r>
          </a:p>
        </p:txBody>
      </p:sp>
      <p:sp>
        <p:nvSpPr>
          <p:cNvPr id="8" name="TextBox 7"/>
          <p:cNvSpPr txBox="1"/>
          <p:nvPr/>
        </p:nvSpPr>
        <p:spPr>
          <a:xfrm>
            <a:off x="777240"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Lists every enumerated tool with no ranking</a:t>
            </a:r>
          </a:p>
          <a:p>
            <a:pPr algn="l">
              <a:spcBef>
                <a:spcPts val="0"/>
              </a:spcBef>
              <a:spcAft>
                <a:spcPts val="800"/>
              </a:spcAft>
            </a:pPr>
            <a:r>
              <a:rPr sz="1400" b="1">
                <a:solidFill>
                  <a:srgbClr val="FF6A00"/>
                </a:solidFill>
                <a:latin typeface="Segoe UI"/>
              </a:rPr>
              <a:t>•  </a:t>
            </a:r>
            <a:r>
              <a:rPr sz="1400" b="0">
                <a:solidFill>
                  <a:srgbClr val="B8C0CF"/>
                </a:solidFill>
                <a:latin typeface="Segoe UI"/>
              </a:rPr>
              <a:t>States a tool 'might' be over-permissioned</a:t>
            </a:r>
          </a:p>
          <a:p>
            <a:pPr algn="l">
              <a:spcBef>
                <a:spcPts val="0"/>
              </a:spcBef>
              <a:spcAft>
                <a:spcPts val="800"/>
              </a:spcAft>
            </a:pPr>
            <a:r>
              <a:rPr sz="1400" b="1">
                <a:solidFill>
                  <a:srgbClr val="FF6A00"/>
                </a:solidFill>
                <a:latin typeface="Segoe UI"/>
              </a:rPr>
              <a:t>•  </a:t>
            </a:r>
            <a:r>
              <a:rPr sz="1400" b="0">
                <a:solidFill>
                  <a:srgbClr val="B8C0CF"/>
                </a:solidFill>
                <a:latin typeface="Segoe UI"/>
              </a:rPr>
              <a:t>Omits which discovery-phase trust assumption failed</a:t>
            </a:r>
          </a:p>
          <a:p>
            <a:pPr algn="l">
              <a:spcBef>
                <a:spcPts val="0"/>
              </a:spcBef>
              <a:spcAft>
                <a:spcPts val="800"/>
              </a:spcAft>
            </a:pPr>
            <a:r>
              <a:rPr sz="1400" b="1">
                <a:solidFill>
                  <a:srgbClr val="FF6A00"/>
                </a:solidFill>
                <a:latin typeface="Segoe UI"/>
              </a:rPr>
              <a:t>•  </a:t>
            </a:r>
            <a:r>
              <a:rPr sz="1400" b="0">
                <a:solidFill>
                  <a:srgbClr val="B8C0CF"/>
                </a:solidFill>
                <a:latin typeface="Segoe UI"/>
              </a:rPr>
              <a:t>No link back to the Module 1 attack-surface map</a:t>
            </a:r>
          </a:p>
        </p:txBody>
      </p:sp>
      <p:sp>
        <p:nvSpPr>
          <p:cNvPr id="9" name="Rounded Rectangle 8"/>
          <p:cNvSpPr/>
          <p:nvPr/>
        </p:nvSpPr>
        <p:spPr>
          <a:xfrm>
            <a:off x="6382512" y="1828800"/>
            <a:ext cx="5257800" cy="324612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11112" y="2011680"/>
            <a:ext cx="4800600" cy="640080"/>
          </a:xfrm>
          <a:prstGeom prst="rect">
            <a:avLst/>
          </a:prstGeom>
          <a:noFill/>
        </p:spPr>
        <p:txBody>
          <a:bodyPr wrap="square" anchor="t" lIns="25400" rIns="25400" tIns="25400" bIns="25400">
            <a:spAutoFit/>
          </a:bodyPr>
          <a:lstStyle/>
          <a:p>
            <a:pPr algn="l">
              <a:spcBef>
                <a:spcPts val="0"/>
              </a:spcBef>
              <a:spcAft>
                <a:spcPts val="600"/>
              </a:spcAft>
            </a:pPr>
            <a:r>
              <a:rPr sz="2000" b="1">
                <a:solidFill>
                  <a:srgbClr val="F5F7FB"/>
                </a:solidFill>
                <a:latin typeface="Segoe UI"/>
              </a:rPr>
              <a:t>Strong report section</a:t>
            </a:r>
          </a:p>
        </p:txBody>
      </p:sp>
      <p:sp>
        <p:nvSpPr>
          <p:cNvPr id="11" name="TextBox 10"/>
          <p:cNvSpPr txBox="1"/>
          <p:nvPr/>
        </p:nvSpPr>
        <p:spPr>
          <a:xfrm>
            <a:off x="6611112" y="2743200"/>
            <a:ext cx="4800600" cy="2148840"/>
          </a:xfrm>
          <a:prstGeom prst="rect">
            <a:avLst/>
          </a:prstGeom>
          <a:noFill/>
        </p:spPr>
        <p:txBody>
          <a:bodyPr wrap="square" anchor="t" lIns="25400" rIns="25400" tIns="25400" bIns="25400">
            <a:spAutoFit/>
          </a:bodyPr>
          <a:lstStyle/>
          <a:p>
            <a:pPr algn="l">
              <a:spcBef>
                <a:spcPts val="0"/>
              </a:spcBef>
              <a:spcAft>
                <a:spcPts val="800"/>
              </a:spcAft>
            </a:pPr>
            <a:r>
              <a:rPr sz="1400" b="1">
                <a:solidFill>
                  <a:srgbClr val="FF6A00"/>
                </a:solidFill>
                <a:latin typeface="Segoe UI"/>
              </a:rPr>
              <a:t>•  </a:t>
            </a:r>
            <a:r>
              <a:rPr sz="1400" b="0">
                <a:solidFill>
                  <a:srgbClr val="B8C0CF"/>
                </a:solidFill>
                <a:latin typeface="Segoe UI"/>
              </a:rPr>
              <a:t>Prioritises findings by demonstrated impact and effort</a:t>
            </a:r>
          </a:p>
          <a:p>
            <a:pPr algn="l">
              <a:spcBef>
                <a:spcPts val="0"/>
              </a:spcBef>
              <a:spcAft>
                <a:spcPts val="800"/>
              </a:spcAft>
            </a:pPr>
            <a:r>
              <a:rPr sz="1400" b="1">
                <a:solidFill>
                  <a:srgbClr val="FF6A00"/>
                </a:solidFill>
                <a:latin typeface="Segoe UI"/>
              </a:rPr>
              <a:t>•  </a:t>
            </a:r>
            <a:r>
              <a:rPr sz="1400" b="0">
                <a:solidFill>
                  <a:srgbClr val="B8C0CF"/>
                </a:solidFill>
                <a:latin typeface="Segoe UI"/>
              </a:rPr>
              <a:t>States exactly which privilege boundary was crossed and how</a:t>
            </a:r>
          </a:p>
          <a:p>
            <a:pPr algn="l">
              <a:spcBef>
                <a:spcPts val="0"/>
              </a:spcBef>
              <a:spcAft>
                <a:spcPts val="800"/>
              </a:spcAft>
            </a:pPr>
            <a:r>
              <a:rPr sz="1400" b="1">
                <a:solidFill>
                  <a:srgbClr val="FF6A00"/>
                </a:solidFill>
                <a:latin typeface="Segoe UI"/>
              </a:rPr>
              <a:t>•  </a:t>
            </a:r>
            <a:r>
              <a:rPr sz="1400" b="0">
                <a:solidFill>
                  <a:srgbClr val="B8C0CF"/>
                </a:solidFill>
                <a:latin typeface="Segoe UI"/>
              </a:rPr>
              <a:t>Names the specific description, metadata, or provider trusted without proof</a:t>
            </a:r>
          </a:p>
          <a:p>
            <a:pPr algn="l">
              <a:spcBef>
                <a:spcPts val="0"/>
              </a:spcBef>
              <a:spcAft>
                <a:spcPts val="800"/>
              </a:spcAft>
            </a:pPr>
            <a:r>
              <a:rPr sz="1400" b="1">
                <a:solidFill>
                  <a:srgbClr val="FF6A00"/>
                </a:solidFill>
                <a:latin typeface="Segoe UI"/>
              </a:rPr>
              <a:t>•  </a:t>
            </a:r>
            <a:r>
              <a:rPr sz="1400" b="0">
                <a:solidFill>
                  <a:srgbClr val="B8C0CF"/>
                </a:solidFill>
                <a:latin typeface="Segoe UI"/>
              </a:rPr>
              <a:t>Explicitly maps each finding to its attack-surface layer and OWASP ID</a:t>
            </a:r>
          </a:p>
        </p:txBody>
      </p:sp>
      <p:sp>
        <p:nvSpPr>
          <p:cNvPr id="12" name="Rounded Rectangle 11"/>
          <p:cNvSpPr/>
          <p:nvPr/>
        </p:nvSpPr>
        <p:spPr>
          <a:xfrm>
            <a:off x="5742432" y="3063240"/>
            <a:ext cx="777240" cy="777240"/>
          </a:xfrm>
          <a:prstGeom prst="round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42432" y="3063240"/>
            <a:ext cx="777240" cy="777240"/>
          </a:xfrm>
          <a:prstGeom prst="rect">
            <a:avLst/>
          </a:prstGeom>
          <a:noFill/>
        </p:spPr>
        <p:txBody>
          <a:bodyPr wrap="square" anchor="ctr" lIns="25400" rIns="25400" tIns="25400" bIns="25400">
            <a:spAutoFit/>
          </a:bodyPr>
          <a:lstStyle/>
          <a:p>
            <a:pPr algn="ctr">
              <a:spcBef>
                <a:spcPts val="0"/>
              </a:spcBef>
              <a:spcAft>
                <a:spcPts val="600"/>
              </a:spcAft>
            </a:pPr>
            <a:r>
              <a:rPr sz="1800" b="1">
                <a:solidFill>
                  <a:srgbClr val="0C0D10"/>
                </a:solidFill>
                <a:latin typeface="Segoe UI"/>
              </a:rPr>
              <a:t>VS</a:t>
            </a:r>
          </a:p>
        </p:txBody>
      </p:sp>
      <p:sp>
        <p:nvSpPr>
          <p:cNvPr id="14" name="Rounded Rectangle 13"/>
          <p:cNvSpPr/>
          <p:nvPr/>
        </p:nvSpPr>
        <p:spPr>
          <a:xfrm>
            <a:off x="548640" y="5257800"/>
            <a:ext cx="11091672" cy="868680"/>
          </a:xfrm>
          <a:prstGeom prst="roundRect">
            <a:avLst/>
          </a:prstGeom>
          <a:solidFill>
            <a:srgbClr val="1A1208"/>
          </a:solidFill>
          <a:ln w="12700">
            <a:solidFill>
              <a:srgbClr val="B8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303520"/>
            <a:ext cx="10607040" cy="777240"/>
          </a:xfrm>
          <a:prstGeom prst="rect">
            <a:avLst/>
          </a:prstGeom>
          <a:noFill/>
        </p:spPr>
        <p:txBody>
          <a:bodyPr wrap="square" anchor="ctr" lIns="25400" rIns="25400" tIns="25400" bIns="25400">
            <a:spAutoFit/>
          </a:bodyPr>
          <a:lstStyle/>
          <a:p>
            <a:pPr algn="l">
              <a:spcBef>
                <a:spcPts val="0"/>
              </a:spcBef>
              <a:spcAft>
                <a:spcPts val="600"/>
              </a:spcAft>
            </a:pPr>
            <a:r>
              <a:rPr sz="1250" b="1">
                <a:solidFill>
                  <a:srgbClr val="FF6A00"/>
                </a:solidFill>
                <a:latin typeface="Segoe UI"/>
              </a:rPr>
              <a:t>KEY DISTINCTION  </a:t>
            </a:r>
            <a:r>
              <a:rPr sz="1350" b="0">
                <a:solidFill>
                  <a:srgbClr val="F5F7FB"/>
                </a:solidFill>
                <a:latin typeface="Segoe UI"/>
              </a:rPr>
              <a:t>This is the same weak-versus-strong-finding standard Module 3 closed on, now applied specifically to the tool-surface report section this module produces — evidence and structure are what separate the two.</a:t>
            </a:r>
          </a:p>
        </p:txBody>
      </p:sp>
      <p:sp>
        <p:nvSpPr>
          <p:cNvPr id="16" name="TextBox 15"/>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7" name="TextBox 16"/>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7.4 · MODULE RECAP</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Objectives 7.1–7.4 to OWASP mapping — the module in one table</a:t>
            </a:r>
          </a:p>
        </p:txBody>
      </p:sp>
      <p:graphicFrame>
        <p:nvGraphicFramePr>
          <p:cNvPr id="6" name="Table 5"/>
          <p:cNvGraphicFramePr>
            <a:graphicFrameLocks noGrp="1"/>
          </p:cNvGraphicFramePr>
          <p:nvPr/>
        </p:nvGraphicFramePr>
        <p:xfrm>
          <a:off x="548640" y="1828800"/>
          <a:ext cx="11091672" cy="2359152"/>
        </p:xfrm>
        <a:graphic>
          <a:graphicData uri="http://schemas.openxmlformats.org/drawingml/2006/table">
            <a:tbl>
              <a:tblPr>
                <a:tableStyleId>{5C22544A-7EE6-4342-B048-85BDC9FD1C3A}</a:tableStyleId>
              </a:tblPr>
              <a:tblGrid>
                <a:gridCol w="3697224"/>
                <a:gridCol w="3697224"/>
                <a:gridCol w="3697224"/>
              </a:tblGrid>
              <a:tr h="471830">
                <a:tc>
                  <a:txBody>
                    <a:bodyPr wrap="square"/>
                    <a:lstStyle/>
                    <a:p>
                      <a:r>
                        <a:rPr sz="1300" b="1">
                          <a:solidFill>
                            <a:srgbClr val="F5F7FB"/>
                          </a:solidFill>
                          <a:latin typeface="Segoe UI"/>
                        </a:rPr>
                        <a:t>Objective</a:t>
                      </a:r>
                    </a:p>
                  </a:txBody>
                  <a:tcPr marL="101600" marR="101600" marT="50800" marB="50800" anchor="ctr">
                    <a:solidFill>
                      <a:srgbClr val="3A2410"/>
                    </a:solidFill>
                  </a:tcPr>
                </a:tc>
                <a:tc>
                  <a:txBody>
                    <a:bodyPr wrap="square"/>
                    <a:lstStyle/>
                    <a:p>
                      <a:r>
                        <a:rPr sz="1300" b="1">
                          <a:solidFill>
                            <a:srgbClr val="F5F7FB"/>
                          </a:solidFill>
                          <a:latin typeface="Segoe UI"/>
                        </a:rPr>
                        <a:t>Focus</a:t>
                      </a:r>
                    </a:p>
                  </a:txBody>
                  <a:tcPr marL="101600" marR="101600" marT="50800" marB="50800" anchor="ctr">
                    <a:solidFill>
                      <a:srgbClr val="3A2410"/>
                    </a:solidFill>
                  </a:tcPr>
                </a:tc>
                <a:tc>
                  <a:txBody>
                    <a:bodyPr wrap="square"/>
                    <a:lstStyle/>
                    <a:p>
                      <a:r>
                        <a:rPr sz="1300" b="1">
                          <a:solidFill>
                            <a:srgbClr val="F5F7FB"/>
                          </a:solidFill>
                          <a:latin typeface="Segoe UI"/>
                        </a:rPr>
                        <a:t>OWASP / framework mapping</a:t>
                      </a:r>
                    </a:p>
                  </a:txBody>
                  <a:tcPr marL="101600" marR="101600" marT="50800" marB="50800" anchor="ctr">
                    <a:solidFill>
                      <a:srgbClr val="3A2410"/>
                    </a:solidFill>
                  </a:tcPr>
                </a:tc>
              </a:tr>
              <a:tr h="471830">
                <a:tc>
                  <a:txBody>
                    <a:bodyPr wrap="square"/>
                    <a:lstStyle/>
                    <a:p>
                      <a:r>
                        <a:rPr sz="1200" b="1">
                          <a:solidFill>
                            <a:srgbClr val="F5F7FB"/>
                          </a:solidFill>
                          <a:latin typeface="Segoe UI"/>
                        </a:rPr>
                        <a:t>7.1</a:t>
                      </a:r>
                    </a:p>
                  </a:txBody>
                  <a:tcPr marL="101600" marR="101600" marT="50800" marB="50800" anchor="ctr">
                    <a:solidFill>
                      <a:srgbClr val="121319"/>
                    </a:solidFill>
                  </a:tcPr>
                </a:tc>
                <a:tc>
                  <a:txBody>
                    <a:bodyPr wrap="square"/>
                    <a:lstStyle/>
                    <a:p>
                      <a:r>
                        <a:rPr sz="1200" b="0">
                          <a:solidFill>
                            <a:srgbClr val="B8C0CF"/>
                          </a:solidFill>
                          <a:latin typeface="Segoe UI"/>
                        </a:rPr>
                        <a:t>MCP fundamentals — the discovery/invocation pattern</a:t>
                      </a:r>
                    </a:p>
                  </a:txBody>
                  <a:tcPr marL="101600" marR="101600" marT="50800" marB="50800" anchor="ctr">
                    <a:solidFill>
                      <a:srgbClr val="121319"/>
                    </a:solidFill>
                  </a:tcPr>
                </a:tc>
                <a:tc>
                  <a:txBody>
                    <a:bodyPr wrap="square"/>
                    <a:lstStyle/>
                    <a:p>
                      <a:r>
                        <a:rPr sz="1200" b="0">
                          <a:solidFill>
                            <a:srgbClr val="B8C0CF"/>
                          </a:solidFill>
                          <a:latin typeface="Segoe UI"/>
                        </a:rPr>
                        <a:t>Conceptual foundation; no single OWASP ID</a:t>
                      </a:r>
                    </a:p>
                  </a:txBody>
                  <a:tcPr marL="101600" marR="101600" marT="50800" marB="50800" anchor="ctr">
                    <a:solidFill>
                      <a:srgbClr val="121319"/>
                    </a:solidFill>
                  </a:tcPr>
                </a:tc>
              </a:tr>
              <a:tr h="471830">
                <a:tc>
                  <a:txBody>
                    <a:bodyPr wrap="square"/>
                    <a:lstStyle/>
                    <a:p>
                      <a:r>
                        <a:rPr sz="1200" b="1">
                          <a:solidFill>
                            <a:srgbClr val="F5F7FB"/>
                          </a:solidFill>
                          <a:latin typeface="Segoe UI"/>
                        </a:rPr>
                        <a:t>7.2</a:t>
                      </a:r>
                    </a:p>
                  </a:txBody>
                  <a:tcPr marL="101600" marR="101600" marT="50800" marB="50800" anchor="ctr">
                    <a:solidFill>
                      <a:srgbClr val="141519"/>
                    </a:solidFill>
                  </a:tcPr>
                </a:tc>
                <a:tc>
                  <a:txBody>
                    <a:bodyPr wrap="square"/>
                    <a:lstStyle/>
                    <a:p>
                      <a:r>
                        <a:rPr sz="1200" b="0">
                          <a:solidFill>
                            <a:srgbClr val="B8C0CF"/>
                          </a:solidFill>
                          <a:latin typeface="Segoe UI"/>
                        </a:rPr>
                        <a:t>Tool-surface enumeration and crafted-parameter abuse</a:t>
                      </a:r>
                    </a:p>
                  </a:txBody>
                  <a:tcPr marL="101600" marR="101600" marT="50800" marB="50800" anchor="ctr">
                    <a:solidFill>
                      <a:srgbClr val="141519"/>
                    </a:solidFill>
                  </a:tcPr>
                </a:tc>
                <a:tc>
                  <a:txBody>
                    <a:bodyPr wrap="square"/>
                    <a:lstStyle/>
                    <a:p>
                      <a:r>
                        <a:rPr sz="1200" b="0">
                          <a:solidFill>
                            <a:srgbClr val="B8C0CF"/>
                          </a:solidFill>
                          <a:latin typeface="Segoe UI"/>
                        </a:rPr>
                        <a:t>LLM06 Excessive Agency</a:t>
                      </a:r>
                    </a:p>
                  </a:txBody>
                  <a:tcPr marL="101600" marR="101600" marT="50800" marB="50800" anchor="ctr">
                    <a:solidFill>
                      <a:srgbClr val="141519"/>
                    </a:solidFill>
                  </a:tcPr>
                </a:tc>
              </a:tr>
              <a:tr h="471830">
                <a:tc>
                  <a:txBody>
                    <a:bodyPr wrap="square"/>
                    <a:lstStyle/>
                    <a:p>
                      <a:r>
                        <a:rPr sz="1200" b="1">
                          <a:solidFill>
                            <a:srgbClr val="F5F7FB"/>
                          </a:solidFill>
                          <a:latin typeface="Segoe UI"/>
                        </a:rPr>
                        <a:t>7.3</a:t>
                      </a:r>
                    </a:p>
                  </a:txBody>
                  <a:tcPr marL="101600" marR="101600" marT="50800" marB="50800" anchor="ctr">
                    <a:solidFill>
                      <a:srgbClr val="121319"/>
                    </a:solidFill>
                  </a:tcPr>
                </a:tc>
                <a:tc>
                  <a:txBody>
                    <a:bodyPr wrap="square"/>
                    <a:lstStyle/>
                    <a:p>
                      <a:r>
                        <a:rPr sz="1200" b="0">
                          <a:solidFill>
                            <a:srgbClr val="B8C0CF"/>
                          </a:solidFill>
                          <a:latin typeface="Segoe UI"/>
                        </a:rPr>
                        <a:t>Tool-description and third-party provider trust weaknesses</a:t>
                      </a:r>
                    </a:p>
                  </a:txBody>
                  <a:tcPr marL="101600" marR="101600" marT="50800" marB="50800" anchor="ctr">
                    <a:solidFill>
                      <a:srgbClr val="121319"/>
                    </a:solidFill>
                  </a:tcPr>
                </a:tc>
                <a:tc>
                  <a:txBody>
                    <a:bodyPr wrap="square"/>
                    <a:lstStyle/>
                    <a:p>
                      <a:r>
                        <a:rPr sz="1200" b="0">
                          <a:solidFill>
                            <a:srgbClr val="B8C0CF"/>
                          </a:solidFill>
                          <a:latin typeface="Segoe UI"/>
                        </a:rPr>
                        <a:t>LLM01 Prompt Injection (indirect) / LLM06 Excessive Agency</a:t>
                      </a:r>
                    </a:p>
                  </a:txBody>
                  <a:tcPr marL="101600" marR="101600" marT="50800" marB="50800" anchor="ctr">
                    <a:solidFill>
                      <a:srgbClr val="121319"/>
                    </a:solidFill>
                  </a:tcPr>
                </a:tc>
              </a:tr>
              <a:tr h="471832">
                <a:tc>
                  <a:txBody>
                    <a:bodyPr wrap="square"/>
                    <a:lstStyle/>
                    <a:p>
                      <a:r>
                        <a:rPr sz="1200" b="1">
                          <a:solidFill>
                            <a:srgbClr val="F5F7FB"/>
                          </a:solidFill>
                          <a:latin typeface="Segoe UI"/>
                        </a:rPr>
                        <a:t>7.4</a:t>
                      </a:r>
                    </a:p>
                  </a:txBody>
                  <a:tcPr marL="101600" marR="101600" marT="50800" marB="50800" anchor="ctr">
                    <a:solidFill>
                      <a:srgbClr val="141519"/>
                    </a:solidFill>
                  </a:tcPr>
                </a:tc>
                <a:tc>
                  <a:txBody>
                    <a:bodyPr wrap="square"/>
                    <a:lstStyle/>
                    <a:p>
                      <a:r>
                        <a:rPr sz="1200" b="0">
                          <a:solidFill>
                            <a:srgbClr val="B8C0CF"/>
                          </a:solidFill>
                          <a:latin typeface="Segoe UI"/>
                        </a:rPr>
                        <a:t>Cataloguing and reporting the tool surface</a:t>
                      </a:r>
                    </a:p>
                  </a:txBody>
                  <a:tcPr marL="101600" marR="101600" marT="50800" marB="50800" anchor="ctr">
                    <a:solidFill>
                      <a:srgbClr val="141519"/>
                    </a:solidFill>
                  </a:tcPr>
                </a:tc>
                <a:tc>
                  <a:txBody>
                    <a:bodyPr wrap="square"/>
                    <a:lstStyle/>
                    <a:p>
                      <a:r>
                        <a:rPr sz="1200" b="0">
                          <a:solidFill>
                            <a:srgbClr val="B8C0CF"/>
                          </a:solidFill>
                          <a:latin typeface="Segoe UI"/>
                        </a:rPr>
                        <a:t>Maps findings to Module 1's agent-and-tool layer</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MITRE ATLAS tags Objectives 7.2 and 7.3 as distinct stages of the same agent-and-tool kill chain first opened in Module 3.</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ACRONYM SPOTLIGHT</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Key acronyms for this module</a:t>
            </a:r>
          </a:p>
        </p:txBody>
      </p:sp>
      <p:graphicFrame>
        <p:nvGraphicFramePr>
          <p:cNvPr id="6" name="Table 5"/>
          <p:cNvGraphicFramePr>
            <a:graphicFrameLocks noGrp="1"/>
          </p:cNvGraphicFramePr>
          <p:nvPr/>
        </p:nvGraphicFramePr>
        <p:xfrm>
          <a:off x="548640" y="1828800"/>
          <a:ext cx="11091672" cy="4206240"/>
        </p:xfrm>
        <a:graphic>
          <a:graphicData uri="http://schemas.openxmlformats.org/drawingml/2006/table">
            <a:tbl>
              <a:tblPr>
                <a:tableStyleId>{5C22544A-7EE6-4342-B048-85BDC9FD1C3A}</a:tableStyleId>
              </a:tblPr>
              <a:tblGrid>
                <a:gridCol w="3697224"/>
                <a:gridCol w="3697224"/>
                <a:gridCol w="3697224"/>
              </a:tblGrid>
              <a:tr h="467360">
                <a:tc>
                  <a:txBody>
                    <a:bodyPr wrap="square"/>
                    <a:lstStyle/>
                    <a:p>
                      <a:r>
                        <a:rPr sz="1300" b="1">
                          <a:solidFill>
                            <a:srgbClr val="F5F7FB"/>
                          </a:solidFill>
                          <a:latin typeface="Segoe UI"/>
                        </a:rPr>
                        <a:t>Acronym</a:t>
                      </a:r>
                    </a:p>
                  </a:txBody>
                  <a:tcPr marL="101600" marR="101600" marT="50800" marB="50800" anchor="ctr">
                    <a:solidFill>
                      <a:srgbClr val="3A2410"/>
                    </a:solidFill>
                  </a:tcPr>
                </a:tc>
                <a:tc>
                  <a:txBody>
                    <a:bodyPr wrap="square"/>
                    <a:lstStyle/>
                    <a:p>
                      <a:r>
                        <a:rPr sz="1300" b="1">
                          <a:solidFill>
                            <a:srgbClr val="F5F7FB"/>
                          </a:solidFill>
                          <a:latin typeface="Segoe UI"/>
                        </a:rPr>
                        <a:t>Expansion</a:t>
                      </a:r>
                    </a:p>
                  </a:txBody>
                  <a:tcPr marL="101600" marR="101600" marT="50800" marB="50800" anchor="ctr">
                    <a:solidFill>
                      <a:srgbClr val="3A2410"/>
                    </a:solidFill>
                  </a:tcPr>
                </a:tc>
                <a:tc>
                  <a:txBody>
                    <a:bodyPr wrap="square"/>
                    <a:lstStyle/>
                    <a:p>
                      <a:r>
                        <a:rPr sz="1300" b="1">
                          <a:solidFill>
                            <a:srgbClr val="F5F7FB"/>
                          </a:solidFill>
                          <a:latin typeface="Segoe UI"/>
                        </a:rPr>
                        <a:t>Meaning in context</a:t>
                      </a:r>
                    </a:p>
                  </a:txBody>
                  <a:tcPr marL="101600" marR="101600" marT="50800" marB="50800" anchor="ctr">
                    <a:solidFill>
                      <a:srgbClr val="3A2410"/>
                    </a:solidFill>
                  </a:tcPr>
                </a:tc>
              </a:tr>
              <a:tr h="467360">
                <a:tc>
                  <a:txBody>
                    <a:bodyPr wrap="square"/>
                    <a:lstStyle/>
                    <a:p>
                      <a:r>
                        <a:rPr sz="1200" b="1">
                          <a:solidFill>
                            <a:srgbClr val="F5F7FB"/>
                          </a:solidFill>
                          <a:latin typeface="Segoe UI"/>
                        </a:rPr>
                        <a:t>MCP</a:t>
                      </a:r>
                    </a:p>
                  </a:txBody>
                  <a:tcPr marL="101600" marR="101600" marT="50800" marB="50800" anchor="ctr">
                    <a:solidFill>
                      <a:srgbClr val="121319"/>
                    </a:solidFill>
                  </a:tcPr>
                </a:tc>
                <a:tc>
                  <a:txBody>
                    <a:bodyPr wrap="square"/>
                    <a:lstStyle/>
                    <a:p>
                      <a:r>
                        <a:rPr sz="1200" b="0">
                          <a:solidFill>
                            <a:srgbClr val="B8C0CF"/>
                          </a:solidFill>
                          <a:latin typeface="Segoe UI"/>
                        </a:rPr>
                        <a:t>Model Context Protocol</a:t>
                      </a:r>
                    </a:p>
                  </a:txBody>
                  <a:tcPr marL="101600" marR="101600" marT="50800" marB="50800" anchor="ctr">
                    <a:solidFill>
                      <a:srgbClr val="121319"/>
                    </a:solidFill>
                  </a:tcPr>
                </a:tc>
                <a:tc>
                  <a:txBody>
                    <a:bodyPr wrap="square"/>
                    <a:lstStyle/>
                    <a:p>
                      <a:r>
                        <a:rPr sz="1200" b="0">
                          <a:solidFill>
                            <a:srgbClr val="B8C0CF"/>
                          </a:solidFill>
                          <a:latin typeface="Segoe UI"/>
                        </a:rPr>
                        <a:t>A standardised interface pattern for model/agent tool discovery and invocation — Objective 7.1</a:t>
                      </a:r>
                    </a:p>
                  </a:txBody>
                  <a:tcPr marL="101600" marR="101600" marT="50800" marB="50800" anchor="ctr">
                    <a:solidFill>
                      <a:srgbClr val="121319"/>
                    </a:solidFill>
                  </a:tcPr>
                </a:tc>
              </a:tr>
              <a:tr h="467360">
                <a:tc>
                  <a:txBody>
                    <a:bodyPr wrap="square"/>
                    <a:lstStyle/>
                    <a:p>
                      <a:r>
                        <a:rPr sz="1200" b="1">
                          <a:solidFill>
                            <a:srgbClr val="F5F7FB"/>
                          </a:solidFill>
                          <a:latin typeface="Segoe UI"/>
                        </a:rPr>
                        <a:t>LLM01</a:t>
                      </a:r>
                    </a:p>
                  </a:txBody>
                  <a:tcPr marL="101600" marR="101600" marT="50800" marB="50800" anchor="ctr">
                    <a:solidFill>
                      <a:srgbClr val="141519"/>
                    </a:solidFill>
                  </a:tcPr>
                </a:tc>
                <a:tc>
                  <a:txBody>
                    <a:bodyPr wrap="square"/>
                    <a:lstStyle/>
                    <a:p>
                      <a:r>
                        <a:rPr sz="1200" b="0">
                          <a:solidFill>
                            <a:srgbClr val="B8C0CF"/>
                          </a:solidFill>
                          <a:latin typeface="Segoe UI"/>
                        </a:rPr>
                        <a:t>OWASP LLM Risk 01 — Prompt Injection</a:t>
                      </a:r>
                    </a:p>
                  </a:txBody>
                  <a:tcPr marL="101600" marR="101600" marT="50800" marB="50800" anchor="ctr">
                    <a:solidFill>
                      <a:srgbClr val="141519"/>
                    </a:solidFill>
                  </a:tcPr>
                </a:tc>
                <a:tc>
                  <a:txBody>
                    <a:bodyPr wrap="square"/>
                    <a:lstStyle/>
                    <a:p>
                      <a:r>
                        <a:rPr sz="1200" b="0">
                          <a:solidFill>
                            <a:srgbClr val="B8C0CF"/>
                          </a:solidFill>
                          <a:latin typeface="Segoe UI"/>
                        </a:rPr>
                        <a:t>Untrusted tool description or output overrides intended behaviour — Objectives 7.2, 7.3</a:t>
                      </a:r>
                    </a:p>
                  </a:txBody>
                  <a:tcPr marL="101600" marR="101600" marT="50800" marB="50800" anchor="ctr">
                    <a:solidFill>
                      <a:srgbClr val="141519"/>
                    </a:solidFill>
                  </a:tcPr>
                </a:tc>
              </a:tr>
              <a:tr h="467360">
                <a:tc>
                  <a:txBody>
                    <a:bodyPr wrap="square"/>
                    <a:lstStyle/>
                    <a:p>
                      <a:r>
                        <a:rPr sz="1200" b="1">
                          <a:solidFill>
                            <a:srgbClr val="F5F7FB"/>
                          </a:solidFill>
                          <a:latin typeface="Segoe UI"/>
                        </a:rPr>
                        <a:t>LLM06</a:t>
                      </a:r>
                    </a:p>
                  </a:txBody>
                  <a:tcPr marL="101600" marR="101600" marT="50800" marB="50800" anchor="ctr">
                    <a:solidFill>
                      <a:srgbClr val="121319"/>
                    </a:solidFill>
                  </a:tcPr>
                </a:tc>
                <a:tc>
                  <a:txBody>
                    <a:bodyPr wrap="square"/>
                    <a:lstStyle/>
                    <a:p>
                      <a:r>
                        <a:rPr sz="1200" b="0">
                          <a:solidFill>
                            <a:srgbClr val="B8C0CF"/>
                          </a:solidFill>
                          <a:latin typeface="Segoe UI"/>
                        </a:rPr>
                        <a:t>OWASP LLM Risk 06 — Excessive Agency</a:t>
                      </a:r>
                    </a:p>
                  </a:txBody>
                  <a:tcPr marL="101600" marR="101600" marT="50800" marB="50800" anchor="ctr">
                    <a:solidFill>
                      <a:srgbClr val="121319"/>
                    </a:solidFill>
                  </a:tcPr>
                </a:tc>
                <a:tc>
                  <a:txBody>
                    <a:bodyPr wrap="square"/>
                    <a:lstStyle/>
                    <a:p>
                      <a:r>
                        <a:rPr sz="1200" b="0">
                          <a:solidFill>
                            <a:srgbClr val="B8C0CF"/>
                          </a:solidFill>
                          <a:latin typeface="Segoe UI"/>
                        </a:rPr>
                        <a:t>Over-permissioned tool grants and autonomy — Objectives 7.2, 7.3, 7.4</a:t>
                      </a:r>
                    </a:p>
                  </a:txBody>
                  <a:tcPr marL="101600" marR="101600" marT="50800" marB="50800" anchor="ctr">
                    <a:solidFill>
                      <a:srgbClr val="121319"/>
                    </a:solidFill>
                  </a:tcPr>
                </a:tc>
              </a:tr>
              <a:tr h="467360">
                <a:tc>
                  <a:txBody>
                    <a:bodyPr wrap="square"/>
                    <a:lstStyle/>
                    <a:p>
                      <a:r>
                        <a:rPr sz="1200" b="1">
                          <a:solidFill>
                            <a:srgbClr val="F5F7FB"/>
                          </a:solidFill>
                          <a:latin typeface="Segoe UI"/>
                        </a:rPr>
                        <a:t>ATLAS</a:t>
                      </a:r>
                    </a:p>
                  </a:txBody>
                  <a:tcPr marL="101600" marR="101600" marT="50800" marB="50800" anchor="ctr">
                    <a:solidFill>
                      <a:srgbClr val="141519"/>
                    </a:solidFill>
                  </a:tcPr>
                </a:tc>
                <a:tc>
                  <a:txBody>
                    <a:bodyPr wrap="square"/>
                    <a:lstStyle/>
                    <a:p>
                      <a:r>
                        <a:rPr sz="1200" b="0">
                          <a:solidFill>
                            <a:srgbClr val="B8C0CF"/>
                          </a:solidFill>
                          <a:latin typeface="Segoe UI"/>
                        </a:rPr>
                        <a:t>Adversarial Threat Landscape for AI Systems</a:t>
                      </a:r>
                    </a:p>
                  </a:txBody>
                  <a:tcPr marL="101600" marR="101600" marT="50800" marB="50800" anchor="ctr">
                    <a:solidFill>
                      <a:srgbClr val="141519"/>
                    </a:solidFill>
                  </a:tcPr>
                </a:tc>
                <a:tc>
                  <a:txBody>
                    <a:bodyPr wrap="square"/>
                    <a:lstStyle/>
                    <a:p>
                      <a:r>
                        <a:rPr sz="1200" b="0">
                          <a:solidFill>
                            <a:srgbClr val="B8C0CF"/>
                          </a:solidFill>
                          <a:latin typeface="Segoe UI"/>
                        </a:rPr>
                        <a:t>MITRE's framework for tagging this module's agent-and-tool kill-chain steps</a:t>
                      </a:r>
                    </a:p>
                  </a:txBody>
                  <a:tcPr marL="101600" marR="101600" marT="50800" marB="50800" anchor="ctr">
                    <a:solidFill>
                      <a:srgbClr val="141519"/>
                    </a:solidFill>
                  </a:tcPr>
                </a:tc>
              </a:tr>
              <a:tr h="467360">
                <a:tc>
                  <a:txBody>
                    <a:bodyPr wrap="square"/>
                    <a:lstStyle/>
                    <a:p>
                      <a:r>
                        <a:rPr sz="1200" b="1">
                          <a:solidFill>
                            <a:srgbClr val="F5F7FB"/>
                          </a:solidFill>
                          <a:latin typeface="Segoe UI"/>
                        </a:rPr>
                        <a:t>TTP</a:t>
                      </a:r>
                    </a:p>
                  </a:txBody>
                  <a:tcPr marL="101600" marR="101600" marT="50800" marB="50800" anchor="ctr">
                    <a:solidFill>
                      <a:srgbClr val="121319"/>
                    </a:solidFill>
                  </a:tcPr>
                </a:tc>
                <a:tc>
                  <a:txBody>
                    <a:bodyPr wrap="square"/>
                    <a:lstStyle/>
                    <a:p>
                      <a:r>
                        <a:rPr sz="1200" b="0">
                          <a:solidFill>
                            <a:srgbClr val="B8C0CF"/>
                          </a:solidFill>
                          <a:latin typeface="Segoe UI"/>
                        </a:rPr>
                        <a:t>Tactics, Techniques, Procedures</a:t>
                      </a:r>
                    </a:p>
                  </a:txBody>
                  <a:tcPr marL="101600" marR="101600" marT="50800" marB="50800" anchor="ctr">
                    <a:solidFill>
                      <a:srgbClr val="121319"/>
                    </a:solidFill>
                  </a:tcPr>
                </a:tc>
                <a:tc>
                  <a:txBody>
                    <a:bodyPr wrap="square"/>
                    <a:lstStyle/>
                    <a:p>
                      <a:r>
                        <a:rPr sz="1200" b="0">
                          <a:solidFill>
                            <a:srgbClr val="B8C0CF"/>
                          </a:solidFill>
                          <a:latin typeface="Segoe UI"/>
                        </a:rPr>
                        <a:t>How this module's techniques are described in an ATLAS-mapped report</a:t>
                      </a:r>
                    </a:p>
                  </a:txBody>
                  <a:tcPr marL="101600" marR="101600" marT="50800" marB="50800" anchor="ctr">
                    <a:solidFill>
                      <a:srgbClr val="121319"/>
                    </a:solidFill>
                  </a:tcPr>
                </a:tc>
              </a:tr>
              <a:tr h="467360">
                <a:tc>
                  <a:txBody>
                    <a:bodyPr wrap="square"/>
                    <a:lstStyle/>
                    <a:p>
                      <a:r>
                        <a:rPr sz="1200" b="1">
                          <a:solidFill>
                            <a:srgbClr val="F5F7FB"/>
                          </a:solidFill>
                          <a:latin typeface="Segoe UI"/>
                        </a:rPr>
                        <a:t>RoE</a:t>
                      </a:r>
                    </a:p>
                  </a:txBody>
                  <a:tcPr marL="101600" marR="101600" marT="50800" marB="50800" anchor="ctr">
                    <a:solidFill>
                      <a:srgbClr val="141519"/>
                    </a:solidFill>
                  </a:tcPr>
                </a:tc>
                <a:tc>
                  <a:txBody>
                    <a:bodyPr wrap="square"/>
                    <a:lstStyle/>
                    <a:p>
                      <a:r>
                        <a:rPr sz="1200" b="0">
                          <a:solidFill>
                            <a:srgbClr val="B8C0CF"/>
                          </a:solidFill>
                          <a:latin typeface="Segoe UI"/>
                        </a:rPr>
                        <a:t>Rules of Engagement</a:t>
                      </a:r>
                    </a:p>
                  </a:txBody>
                  <a:tcPr marL="101600" marR="101600" marT="50800" marB="50800" anchor="ctr">
                    <a:solidFill>
                      <a:srgbClr val="141519"/>
                    </a:solidFill>
                  </a:tcPr>
                </a:tc>
                <a:tc>
                  <a:txBody>
                    <a:bodyPr wrap="square"/>
                    <a:lstStyle/>
                    <a:p>
                      <a:r>
                        <a:rPr sz="1200" b="0">
                          <a:solidFill>
                            <a:srgbClr val="B8C0CF"/>
                          </a:solidFill>
                          <a:latin typeface="Segoe UI"/>
                        </a:rPr>
                        <a:t>The Module 1 authorisation boundary governing every enumeration and abuse attempt here</a:t>
                      </a:r>
                    </a:p>
                  </a:txBody>
                  <a:tcPr marL="101600" marR="101600" marT="50800" marB="50800" anchor="ctr">
                    <a:solidFill>
                      <a:srgbClr val="141519"/>
                    </a:solidFill>
                  </a:tcPr>
                </a:tc>
              </a:tr>
              <a:tr h="467360">
                <a:tc>
                  <a:txBody>
                    <a:bodyPr wrap="square"/>
                    <a:lstStyle/>
                    <a:p>
                      <a:r>
                        <a:rPr sz="1200" b="1">
                          <a:solidFill>
                            <a:srgbClr val="F5F7FB"/>
                          </a:solidFill>
                          <a:latin typeface="Segoe UI"/>
                        </a:rPr>
                        <a:t>OSINT</a:t>
                      </a:r>
                    </a:p>
                  </a:txBody>
                  <a:tcPr marL="101600" marR="101600" marT="50800" marB="50800" anchor="ctr">
                    <a:solidFill>
                      <a:srgbClr val="121319"/>
                    </a:solidFill>
                  </a:tcPr>
                </a:tc>
                <a:tc>
                  <a:txBody>
                    <a:bodyPr wrap="square"/>
                    <a:lstStyle/>
                    <a:p>
                      <a:r>
                        <a:rPr sz="1200" b="0">
                          <a:solidFill>
                            <a:srgbClr val="B8C0CF"/>
                          </a:solidFill>
                          <a:latin typeface="Segoe UI"/>
                        </a:rPr>
                        <a:t>Open-Source Intelligence</a:t>
                      </a:r>
                    </a:p>
                  </a:txBody>
                  <a:tcPr marL="101600" marR="101600" marT="50800" marB="50800" anchor="ctr">
                    <a:solidFill>
                      <a:srgbClr val="121319"/>
                    </a:solidFill>
                  </a:tcPr>
                </a:tc>
                <a:tc>
                  <a:txBody>
                    <a:bodyPr wrap="square"/>
                    <a:lstStyle/>
                    <a:p>
                      <a:r>
                        <a:rPr sz="1200" b="0">
                          <a:solidFill>
                            <a:srgbClr val="B8C0CF"/>
                          </a:solidFill>
                          <a:latin typeface="Segoe UI"/>
                        </a:rPr>
                        <a:t>Module 2's passive recon phase that can first hint at a target's tool-providing side</a:t>
                      </a:r>
                    </a:p>
                  </a:txBody>
                  <a:tcPr marL="101600" marR="101600" marT="50800" marB="50800" anchor="ctr">
                    <a:solidFill>
                      <a:srgbClr val="121319"/>
                    </a:solidFill>
                  </a:tcPr>
                </a:tc>
              </a:tr>
              <a:tr h="467360">
                <a:tc>
                  <a:txBody>
                    <a:bodyPr wrap="square"/>
                    <a:lstStyle/>
                    <a:p>
                      <a:r>
                        <a:rPr sz="1200" b="1">
                          <a:solidFill>
                            <a:srgbClr val="F5F7FB"/>
                          </a:solidFill>
                          <a:latin typeface="Segoe UI"/>
                        </a:rPr>
                        <a:t>A2A</a:t>
                      </a:r>
                    </a:p>
                  </a:txBody>
                  <a:tcPr marL="101600" marR="101600" marT="50800" marB="50800" anchor="ctr">
                    <a:solidFill>
                      <a:srgbClr val="141519"/>
                    </a:solidFill>
                  </a:tcPr>
                </a:tc>
                <a:tc>
                  <a:txBody>
                    <a:bodyPr wrap="square"/>
                    <a:lstStyle/>
                    <a:p>
                      <a:r>
                        <a:rPr sz="1200" b="0">
                          <a:solidFill>
                            <a:srgbClr val="B8C0CF"/>
                          </a:solidFill>
                          <a:latin typeface="Segoe UI"/>
                        </a:rPr>
                        <a:t>Agent-to-Agent (communication)</a:t>
                      </a:r>
                    </a:p>
                  </a:txBody>
                  <a:tcPr marL="101600" marR="101600" marT="50800" marB="50800" anchor="ctr">
                    <a:solidFill>
                      <a:srgbClr val="141519"/>
                    </a:solidFill>
                  </a:tcPr>
                </a:tc>
                <a:tc>
                  <a:txBody>
                    <a:bodyPr wrap="square"/>
                    <a:lstStyle/>
                    <a:p>
                      <a:r>
                        <a:rPr sz="1200" b="0">
                          <a:solidFill>
                            <a:srgbClr val="B8C0CF"/>
                          </a:solidFill>
                          <a:latin typeface="Segoe UI"/>
                        </a:rPr>
                        <a:t>Module 4's multi-agent messaging surface, related but distinct from a single agent's tool surface</a:t>
                      </a:r>
                    </a:p>
                  </a:txBody>
                  <a:tcPr marL="101600" marR="101600" marT="50800" marB="50800" anchor="ctr">
                    <a:solidFill>
                      <a:srgbClr val="141519"/>
                    </a:solidFill>
                  </a:tcPr>
                </a:tc>
              </a:tr>
            </a:tbl>
          </a:graphicData>
        </a:graphic>
      </p:graphicFrame>
      <p:sp>
        <p:nvSpPr>
          <p:cNvPr id="7" name="TextBox 6"/>
          <p:cNvSpPr txBox="1"/>
          <p:nvPr/>
        </p:nvSpPr>
        <p:spPr>
          <a:xfrm>
            <a:off x="548640" y="5989320"/>
            <a:ext cx="11064240" cy="457200"/>
          </a:xfrm>
          <a:prstGeom prst="rect">
            <a:avLst/>
          </a:prstGeom>
          <a:noFill/>
        </p:spPr>
        <p:txBody>
          <a:bodyPr wrap="square" anchor="t" lIns="25400" rIns="25400" tIns="25400" bIns="25400">
            <a:spAutoFit/>
          </a:bodyPr>
          <a:lstStyle/>
          <a:p>
            <a:pPr algn="l">
              <a:spcBef>
                <a:spcPts val="0"/>
              </a:spcBef>
              <a:spcAft>
                <a:spcPts val="600"/>
              </a:spcAft>
            </a:pPr>
            <a:r>
              <a:rPr sz="1200" b="0">
                <a:solidFill>
                  <a:srgbClr val="B8C0CF"/>
                </a:solidFill>
                <a:latin typeface="Segoe UI"/>
              </a:rPr>
              <a:t>RoE and NIST AI RMF from Module 1 remain the governing frame for what may be enumerated or attempted here.</a:t>
            </a:r>
          </a:p>
        </p:txBody>
      </p:sp>
      <p:sp>
        <p:nvSpPr>
          <p:cNvPr id="8" name="TextBox 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9" name="TextBox 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COMMON MISCONCEPTIONS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Myths to unlearn before Module 8</a:t>
            </a:r>
          </a:p>
        </p:txBody>
      </p:sp>
      <p:sp>
        <p:nvSpPr>
          <p:cNvPr id="6" name="Rounded Rectangle 5"/>
          <p:cNvSpPr/>
          <p:nvPr/>
        </p:nvSpPr>
        <p:spPr>
          <a:xfrm>
            <a:off x="548640"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'MCP IS JUST A NEW NAME FOR FUNCTION-CALLING'</a:t>
            </a:r>
          </a:p>
        </p:txBody>
      </p:sp>
      <p:sp>
        <p:nvSpPr>
          <p:cNvPr id="8" name="TextBox 7"/>
          <p:cNvSpPr txBox="1"/>
          <p:nvPr/>
        </p:nvSpPr>
        <p:spPr>
          <a:xfrm>
            <a:off x="731520"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the underlying abuse mechanism is the same as Module 3, but standardisation changes discovery, provenance, and cross-boundary trust in ways bespoke integrations never had to address.</a:t>
            </a:r>
          </a:p>
        </p:txBody>
      </p:sp>
      <p:sp>
        <p:nvSpPr>
          <p:cNvPr id="9" name="Rounded Rectangle 8"/>
          <p:cNvSpPr/>
          <p:nvPr/>
        </p:nvSpPr>
        <p:spPr>
          <a:xfrm>
            <a:off x="6231636" y="182880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195681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'ENUMERATING A TOOL IS THE SAME AS CONFIRMING IT'S OVER-PERMISSIONED'</a:t>
            </a:r>
          </a:p>
        </p:txBody>
      </p:sp>
      <p:sp>
        <p:nvSpPr>
          <p:cNvPr id="11" name="TextBox 10"/>
          <p:cNvSpPr txBox="1"/>
          <p:nvPr/>
        </p:nvSpPr>
        <p:spPr>
          <a:xfrm>
            <a:off x="6414516" y="237744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excessive agency requires comparing granted privilege against what the observed task actually needs — enumeration alone only produces an inventory, not a finding.</a:t>
            </a:r>
          </a:p>
        </p:txBody>
      </p:sp>
      <p:sp>
        <p:nvSpPr>
          <p:cNvPr id="12" name="Rounded Rectangle 11"/>
          <p:cNvSpPr/>
          <p:nvPr/>
        </p:nvSpPr>
        <p:spPr>
          <a:xfrm>
            <a:off x="548640"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'IF THE TOOL WORKS CORRECTLY, THERE'S NO FINDING'</a:t>
            </a:r>
          </a:p>
        </p:txBody>
      </p:sp>
      <p:sp>
        <p:nvSpPr>
          <p:cNvPr id="14" name="TextBox 13"/>
          <p:cNvSpPr txBox="1"/>
          <p:nvPr/>
        </p:nvSpPr>
        <p:spPr>
          <a:xfrm>
            <a:off x="731520"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a correctly functioning tool called with crafted parameters, or selected because of a trusted-but-untrue description, is still a defensible finding — the tool need not be broken.</a:t>
            </a:r>
          </a:p>
        </p:txBody>
      </p:sp>
      <p:sp>
        <p:nvSpPr>
          <p:cNvPr id="15" name="Rounded Rectangle 14"/>
          <p:cNvSpPr/>
          <p:nvPr/>
        </p:nvSpPr>
        <p:spPr>
          <a:xfrm>
            <a:off x="6231636" y="4023360"/>
            <a:ext cx="5408676" cy="19202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4151376"/>
            <a:ext cx="5042916" cy="457200"/>
          </a:xfrm>
          <a:prstGeom prst="rect">
            <a:avLst/>
          </a:prstGeom>
          <a:noFill/>
        </p:spPr>
        <p:txBody>
          <a:bodyPr wrap="square" anchor="t" lIns="25400" rIns="25400" tIns="25400" bIns="25400">
            <a:spAutoFit/>
          </a:bodyPr>
          <a:lstStyle/>
          <a:p>
            <a:pPr algn="l">
              <a:spcBef>
                <a:spcPts val="0"/>
              </a:spcBef>
              <a:spcAft>
                <a:spcPts val="600"/>
              </a:spcAft>
            </a:pPr>
            <a:r>
              <a:rPr sz="1250" b="1">
                <a:solidFill>
                  <a:srgbClr val="FF6A00"/>
                </a:solidFill>
                <a:latin typeface="Segoe UI"/>
              </a:rPr>
              <a:t>'TOOL DESCRIPTIONS ARE JUST DOCUMENTATION, NOT AN ATTACK SURFACE'</a:t>
            </a:r>
          </a:p>
        </p:txBody>
      </p:sp>
      <p:sp>
        <p:nvSpPr>
          <p:cNvPr id="17" name="TextBox 16"/>
          <p:cNvSpPr txBox="1"/>
          <p:nvPr/>
        </p:nvSpPr>
        <p:spPr>
          <a:xfrm>
            <a:off x="6414516" y="4572000"/>
            <a:ext cx="5042916" cy="1280160"/>
          </a:xfrm>
          <a:prstGeom prst="rect">
            <a:avLst/>
          </a:prstGeom>
          <a:noFill/>
        </p:spPr>
        <p:txBody>
          <a:bodyPr wrap="square" anchor="t" lIns="25400" rIns="25400" tIns="25400" bIns="25400">
            <a:spAutoFit/>
          </a:bodyPr>
          <a:lstStyle/>
          <a:p>
            <a:pPr algn="l">
              <a:spcBef>
                <a:spcPts val="0"/>
              </a:spcBef>
              <a:spcAft>
                <a:spcPts val="600"/>
              </a:spcAft>
            </a:pPr>
            <a:r>
              <a:rPr sz="1250" b="0">
                <a:solidFill>
                  <a:srgbClr val="B8C0CF"/>
                </a:solidFill>
                <a:latin typeface="Segoe UI"/>
              </a:rPr>
              <a:t>Reality: a description read during the discovery phase can carry an instruction the model treats as authoritative, extending Module 1's 'text is code' principle to the tool-definition layer itself.</a:t>
            </a:r>
          </a:p>
        </p:txBody>
      </p:sp>
      <p:sp>
        <p:nvSpPr>
          <p:cNvPr id="18" name="TextBox 17"/>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19" name="TextBox 18"/>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0058400" cy="548640"/>
          </a:xfrm>
          <a:prstGeom prst="rect">
            <a:avLst/>
          </a:prstGeom>
          <a:noFill/>
        </p:spPr>
        <p:txBody>
          <a:bodyPr wrap="square" anchor="t" lIns="25400" rIns="25400" tIns="25400" bIns="25400">
            <a:spAutoFit/>
          </a:bodyPr>
          <a:lstStyle/>
          <a:p>
            <a:pPr algn="l">
              <a:spcBef>
                <a:spcPts val="0"/>
              </a:spcBef>
              <a:spcAft>
                <a:spcPts val="600"/>
              </a:spcAft>
            </a:pPr>
            <a:r>
              <a:rPr sz="1500" b="1">
                <a:solidFill>
                  <a:srgbClr val="FF6A00"/>
                </a:solidFill>
                <a:latin typeface="Segoe UI"/>
              </a:rPr>
              <a:t>DOMAIN WEIGHTING</a:t>
            </a:r>
          </a:p>
        </p:txBody>
      </p:sp>
      <p:sp>
        <p:nvSpPr>
          <p:cNvPr id="5" name="TextBox 4"/>
          <p:cNvSpPr txBox="1"/>
          <p:nvPr/>
        </p:nvSpPr>
        <p:spPr>
          <a:xfrm>
            <a:off x="502920" y="2560320"/>
            <a:ext cx="3657600" cy="1463040"/>
          </a:xfrm>
          <a:prstGeom prst="rect">
            <a:avLst/>
          </a:prstGeom>
          <a:noFill/>
        </p:spPr>
        <p:txBody>
          <a:bodyPr wrap="square" anchor="t" lIns="25400" rIns="25400" tIns="25400" bIns="25400">
            <a:spAutoFit/>
          </a:bodyPr>
          <a:lstStyle/>
          <a:p>
            <a:pPr algn="l">
              <a:spcBef>
                <a:spcPts val="0"/>
              </a:spcBef>
              <a:spcAft>
                <a:spcPts val="600"/>
              </a:spcAft>
            </a:pPr>
            <a:r>
              <a:rPr sz="15000" b="1">
                <a:solidFill>
                  <a:srgbClr val="FF6A00"/>
                </a:solidFill>
                <a:latin typeface="Segoe UI"/>
              </a:rPr>
              <a:t>n/a</a:t>
            </a:r>
          </a:p>
        </p:txBody>
      </p:sp>
      <p:sp>
        <p:nvSpPr>
          <p:cNvPr id="6" name="TextBox 5"/>
          <p:cNvSpPr txBox="1"/>
          <p:nvPr/>
        </p:nvSpPr>
        <p:spPr>
          <a:xfrm>
            <a:off x="548640" y="4343400"/>
            <a:ext cx="10972800" cy="1280160"/>
          </a:xfrm>
          <a:prstGeom prst="rect">
            <a:avLst/>
          </a:prstGeom>
          <a:noFill/>
        </p:spPr>
        <p:txBody>
          <a:bodyPr wrap="square" anchor="t" lIns="25400" rIns="25400" tIns="25400" bIns="25400">
            <a:spAutoFit/>
          </a:bodyPr>
          <a:lstStyle/>
          <a:p>
            <a:pPr algn="l">
              <a:spcBef>
                <a:spcPts val="0"/>
              </a:spcBef>
              <a:spcAft>
                <a:spcPts val="600"/>
              </a:spcAft>
            </a:pPr>
            <a:r>
              <a:rPr sz="4000" b="1">
                <a:solidFill>
                  <a:srgbClr val="F5F7FB"/>
                </a:solidFill>
                <a:latin typeface="Segoe UI"/>
              </a:rPr>
              <a:t>OSAI weightings: Information not defined in the official exam outline</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KNOWLEDGE CHECK</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Test yourself</a:t>
            </a:r>
          </a:p>
        </p:txBody>
      </p:sp>
      <p:sp>
        <p:nvSpPr>
          <p:cNvPr id="6" name="Rounded Rectangle 5"/>
          <p:cNvSpPr/>
          <p:nvPr/>
        </p:nvSpPr>
        <p:spPr>
          <a:xfrm>
            <a:off x="548640" y="1783080"/>
            <a:ext cx="11091672" cy="1005840"/>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19"/>
            <a:ext cx="10607040" cy="914400"/>
          </a:xfrm>
          <a:prstGeom prst="rect">
            <a:avLst/>
          </a:prstGeom>
          <a:noFill/>
        </p:spPr>
        <p:txBody>
          <a:bodyPr wrap="square" anchor="ctr" lIns="25400" rIns="25400" tIns="25400" bIns="25400">
            <a:spAutoFit/>
          </a:bodyPr>
          <a:lstStyle/>
          <a:p>
            <a:pPr algn="l">
              <a:spcBef>
                <a:spcPts val="0"/>
              </a:spcBef>
              <a:spcAft>
                <a:spcPts val="600"/>
              </a:spcAft>
            </a:pPr>
            <a:r>
              <a:rPr sz="1600" b="1">
                <a:solidFill>
                  <a:srgbClr val="F5F7FB"/>
                </a:solidFill>
                <a:latin typeface="Segoe UI"/>
              </a:rPr>
              <a:t>During an engagement, a target agent discovers a tool through a standardised tool-exposure interface. The tool's declared description contains text instructing the model to always forward its output to an external address, and the model follows this instruction without the tester ever crafting a malicious prompt. Which weakness does this best illustrate?</a:t>
            </a:r>
          </a:p>
        </p:txBody>
      </p:sp>
      <p:sp>
        <p:nvSpPr>
          <p:cNvPr id="8" name="Rounded Rectangle 7"/>
          <p:cNvSpPr/>
          <p:nvPr/>
        </p:nvSpPr>
        <p:spPr>
          <a:xfrm>
            <a:off x="548640" y="2971800"/>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971800"/>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A</a:t>
            </a:r>
          </a:p>
        </p:txBody>
      </p:sp>
      <p:sp>
        <p:nvSpPr>
          <p:cNvPr id="10" name="TextBox 9"/>
          <p:cNvSpPr txBox="1"/>
          <p:nvPr/>
        </p:nvSpPr>
        <p:spPr>
          <a:xfrm>
            <a:off x="1234440" y="2971800"/>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Crafted-parameter abuse of a legitimate tool call</a:t>
            </a:r>
          </a:p>
        </p:txBody>
      </p:sp>
      <p:sp>
        <p:nvSpPr>
          <p:cNvPr id="11" name="Rounded Rectangle 10"/>
          <p:cNvSpPr/>
          <p:nvPr/>
        </p:nvSpPr>
        <p:spPr>
          <a:xfrm>
            <a:off x="548640" y="3575304"/>
            <a:ext cx="11091672" cy="512064"/>
          </a:xfrm>
          <a:prstGeom prst="roundRect">
            <a:avLst/>
          </a:prstGeom>
          <a:solidFill>
            <a:srgbClr val="1A1208"/>
          </a:solidFill>
          <a:ln w="20320">
            <a:solidFill>
              <a:srgbClr val="FF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575304"/>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B</a:t>
            </a:r>
          </a:p>
        </p:txBody>
      </p:sp>
      <p:sp>
        <p:nvSpPr>
          <p:cNvPr id="13" name="TextBox 12"/>
          <p:cNvSpPr txBox="1"/>
          <p:nvPr/>
        </p:nvSpPr>
        <p:spPr>
          <a:xfrm>
            <a:off x="1234440" y="3575304"/>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1">
                <a:solidFill>
                  <a:srgbClr val="F5F7FB"/>
                </a:solidFill>
                <a:latin typeface="Segoe UI"/>
              </a:rPr>
              <a:t>A tool-description or tool-metadata injection risk, trusted during the discovery phase</a:t>
            </a:r>
          </a:p>
        </p:txBody>
      </p:sp>
      <p:sp>
        <p:nvSpPr>
          <p:cNvPr id="14" name="Rounded Rectangle 13"/>
          <p:cNvSpPr/>
          <p:nvPr/>
        </p:nvSpPr>
        <p:spPr>
          <a:xfrm>
            <a:off x="548640" y="4178808"/>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178808"/>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C</a:t>
            </a:r>
          </a:p>
        </p:txBody>
      </p:sp>
      <p:sp>
        <p:nvSpPr>
          <p:cNvPr id="16" name="TextBox 15"/>
          <p:cNvSpPr txBox="1"/>
          <p:nvPr/>
        </p:nvSpPr>
        <p:spPr>
          <a:xfrm>
            <a:off x="1234440" y="4178808"/>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Passive OSINT reconnaissance of a third-party provider</a:t>
            </a:r>
          </a:p>
        </p:txBody>
      </p:sp>
      <p:sp>
        <p:nvSpPr>
          <p:cNvPr id="17" name="Rounded Rectangle 16"/>
          <p:cNvSpPr/>
          <p:nvPr/>
        </p:nvSpPr>
        <p:spPr>
          <a:xfrm>
            <a:off x="548640" y="4782312"/>
            <a:ext cx="11091672" cy="512064"/>
          </a:xfrm>
          <a:prstGeom prst="roundRect">
            <a:avLst/>
          </a:prstGeom>
          <a:solidFill>
            <a:srgbClr val="141519"/>
          </a:solidFill>
          <a:ln w="12700">
            <a:solidFill>
              <a:srgbClr val="2A2F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782312"/>
            <a:ext cx="548640" cy="512064"/>
          </a:xfrm>
          <a:prstGeom prst="rect">
            <a:avLst/>
          </a:prstGeom>
          <a:noFill/>
        </p:spPr>
        <p:txBody>
          <a:bodyPr wrap="square" anchor="ctr" lIns="25400" rIns="25400" tIns="25400" bIns="25400">
            <a:spAutoFit/>
          </a:bodyPr>
          <a:lstStyle/>
          <a:p>
            <a:pPr algn="l">
              <a:spcBef>
                <a:spcPts val="0"/>
              </a:spcBef>
              <a:spcAft>
                <a:spcPts val="600"/>
              </a:spcAft>
            </a:pPr>
            <a:r>
              <a:rPr sz="1500" b="1">
                <a:solidFill>
                  <a:srgbClr val="FF6A00"/>
                </a:solidFill>
                <a:latin typeface="Segoe UI"/>
              </a:rPr>
              <a:t>D</a:t>
            </a:r>
          </a:p>
        </p:txBody>
      </p:sp>
      <p:sp>
        <p:nvSpPr>
          <p:cNvPr id="19" name="TextBox 18"/>
          <p:cNvSpPr txBox="1"/>
          <p:nvPr/>
        </p:nvSpPr>
        <p:spPr>
          <a:xfrm>
            <a:off x="1234440" y="4782312"/>
            <a:ext cx="10241280" cy="512064"/>
          </a:xfrm>
          <a:prstGeom prst="rect">
            <a:avLst/>
          </a:prstGeom>
          <a:noFill/>
        </p:spPr>
        <p:txBody>
          <a:bodyPr wrap="square" anchor="ctr" lIns="25400" rIns="25400" tIns="25400" bIns="25400">
            <a:spAutoFit/>
          </a:bodyPr>
          <a:lstStyle/>
          <a:p>
            <a:pPr algn="l">
              <a:spcBef>
                <a:spcPts val="0"/>
              </a:spcBef>
              <a:spcAft>
                <a:spcPts val="600"/>
              </a:spcAft>
            </a:pPr>
            <a:r>
              <a:rPr sz="1350" b="0">
                <a:solidFill>
                  <a:srgbClr val="B8C0CF"/>
                </a:solidFill>
                <a:latin typeface="Segoe UI"/>
              </a:rPr>
              <a:t>Insecure output handling in a rendered HTML sink</a:t>
            </a:r>
          </a:p>
        </p:txBody>
      </p:sp>
      <p:sp>
        <p:nvSpPr>
          <p:cNvPr id="20" name="TextBox 19"/>
          <p:cNvSpPr txBox="1"/>
          <p:nvPr/>
        </p:nvSpPr>
        <p:spPr>
          <a:xfrm>
            <a:off x="548640" y="5623560"/>
            <a:ext cx="11064240" cy="73152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Answer B.  </a:t>
            </a:r>
            <a:r>
              <a:rPr sz="1300" b="0">
                <a:solidFill>
                  <a:srgbClr val="B8C0CF"/>
                </a:solidFill>
                <a:latin typeface="Segoe UI"/>
              </a:rPr>
              <a:t>The instruction was embedded in the tool's own declared description and acted on during discovery, before any invocation occurred — the textbook Objective 7.3 pattern of trusting a tool's self-description without independent verification.</a:t>
            </a:r>
          </a:p>
        </p:txBody>
      </p:sp>
      <p:sp>
        <p:nvSpPr>
          <p:cNvPr id="21" name="TextBox 20"/>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22" name="TextBox 21"/>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MODULE SUMMARY</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What you can now do</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Explain Model Context Protocol fundamentals as a general, conceptual discovery-and-invocation pattern</a:t>
            </a:r>
          </a:p>
          <a:p>
            <a:pPr algn="l">
              <a:spcBef>
                <a:spcPts val="0"/>
              </a:spcBef>
              <a:spcAft>
                <a:spcPts val="1200"/>
              </a:spcAft>
            </a:pPr>
            <a:r>
              <a:rPr sz="1500" b="1">
                <a:solidFill>
                  <a:srgbClr val="FF6A00"/>
                </a:solidFill>
                <a:latin typeface="Segoe UI"/>
              </a:rPr>
              <a:t>✓  </a:t>
            </a:r>
            <a:r>
              <a:rPr sz="1500" b="0">
                <a:solidFill>
                  <a:srgbClr val="F5F7FB"/>
                </a:solidFill>
                <a:latin typeface="Segoe UI"/>
              </a:rPr>
              <a:t>Systematically enumerate a target's full tool surface, directly and transitively</a:t>
            </a:r>
          </a:p>
          <a:p>
            <a:pPr algn="l">
              <a:spcBef>
                <a:spcPts val="0"/>
              </a:spcBef>
              <a:spcAft>
                <a:spcPts val="1200"/>
              </a:spcAft>
            </a:pPr>
            <a:r>
              <a:rPr sz="1500" b="1">
                <a:solidFill>
                  <a:srgbClr val="FF6A00"/>
                </a:solidFill>
                <a:latin typeface="Segoe UI"/>
              </a:rPr>
              <a:t>✓  </a:t>
            </a:r>
            <a:r>
              <a:rPr sz="1500" b="0">
                <a:solidFill>
                  <a:srgbClr val="F5F7FB"/>
                </a:solidFill>
                <a:latin typeface="Segoe UI"/>
              </a:rPr>
              <a:t>Abuse a legitimate tool call for an unintended purpose via crafted parameters, and evidence the privilege gap crossed</a:t>
            </a:r>
          </a:p>
          <a:p>
            <a:pPr algn="l">
              <a:spcBef>
                <a:spcPts val="0"/>
              </a:spcBef>
              <a:spcAft>
                <a:spcPts val="1200"/>
              </a:spcAft>
            </a:pPr>
            <a:r>
              <a:rPr sz="1500" b="1">
                <a:solidFill>
                  <a:srgbClr val="FF6A00"/>
                </a:solidFill>
                <a:latin typeface="Segoe UI"/>
              </a:rPr>
              <a:t>✓  </a:t>
            </a:r>
            <a:r>
              <a:rPr sz="1500" b="0">
                <a:solidFill>
                  <a:srgbClr val="F5F7FB"/>
                </a:solidFill>
                <a:latin typeface="Segoe UI"/>
              </a:rPr>
              <a:t>Identify tool-description and tool-metadata injection risk as an extension of Module 1's 'text is code' principle</a:t>
            </a:r>
          </a:p>
          <a:p>
            <a:pPr algn="l">
              <a:spcBef>
                <a:spcPts val="0"/>
              </a:spcBef>
              <a:spcAft>
                <a:spcPts val="1200"/>
              </a:spcAft>
            </a:pPr>
            <a:r>
              <a:rPr sz="1500" b="1">
                <a:solidFill>
                  <a:srgbClr val="FF6A00"/>
                </a:solidFill>
                <a:latin typeface="Segoe UI"/>
              </a:rPr>
              <a:t>✓  </a:t>
            </a:r>
            <a:r>
              <a:rPr sz="1500" b="0">
                <a:solidFill>
                  <a:srgbClr val="F5F7FB"/>
                </a:solidFill>
                <a:latin typeface="Segoe UI"/>
              </a:rPr>
              <a:t>Recognise the risk of trusting a malicious or compromised third-party tool provider</a:t>
            </a:r>
          </a:p>
          <a:p>
            <a:pPr algn="l">
              <a:spcBef>
                <a:spcPts val="0"/>
              </a:spcBef>
              <a:spcAft>
                <a:spcPts val="1200"/>
              </a:spcAft>
            </a:pPr>
            <a:r>
              <a:rPr sz="1500" b="1">
                <a:solidFill>
                  <a:srgbClr val="FF6A00"/>
                </a:solidFill>
                <a:latin typeface="Segoe UI"/>
              </a:rPr>
              <a:t>✓  </a:t>
            </a:r>
            <a:r>
              <a:rPr sz="1500" b="0">
                <a:solidFill>
                  <a:srgbClr val="F5F7FB"/>
                </a:solidFill>
                <a:latin typeface="Segoe UI"/>
              </a:rPr>
              <a:t>Catalogue, prioritise, and map tool-surface findings back to Module 1's agent-and-tool attack-surface layer</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FF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8229600" cy="365760"/>
          </a:xfrm>
          <a:prstGeom prst="rect">
            <a:avLst/>
          </a:prstGeom>
          <a:noFill/>
        </p:spPr>
        <p:txBody>
          <a:bodyPr wrap="square" anchor="t" lIns="25400" rIns="25400" tIns="25400" bIns="25400">
            <a:spAutoFit/>
          </a:bodyPr>
          <a:lstStyle/>
          <a:p>
            <a:pPr algn="l">
              <a:spcBef>
                <a:spcPts val="0"/>
              </a:spcBef>
              <a:spcAft>
                <a:spcPts val="600"/>
              </a:spcAft>
            </a:pPr>
            <a:r>
              <a:rPr sz="1300" b="1">
                <a:solidFill>
                  <a:srgbClr val="FF6A00"/>
                </a:solidFill>
                <a:latin typeface="Segoe UI"/>
              </a:rPr>
              <a:t>NEXT STEPS</a:t>
            </a:r>
          </a:p>
        </p:txBody>
      </p:sp>
      <p:sp>
        <p:nvSpPr>
          <p:cNvPr id="5" name="TextBox 4"/>
          <p:cNvSpPr txBox="1"/>
          <p:nvPr/>
        </p:nvSpPr>
        <p:spPr>
          <a:xfrm>
            <a:off x="548640" y="777240"/>
            <a:ext cx="11064240" cy="1005840"/>
          </a:xfrm>
          <a:prstGeom prst="rect">
            <a:avLst/>
          </a:prstGeom>
          <a:noFill/>
        </p:spPr>
        <p:txBody>
          <a:bodyPr wrap="square" anchor="t" lIns="25400" rIns="25400" tIns="25400" bIns="25400">
            <a:spAutoFit/>
          </a:bodyPr>
          <a:lstStyle/>
          <a:p>
            <a:pPr algn="l">
              <a:spcBef>
                <a:spcPts val="0"/>
              </a:spcBef>
              <a:spcAft>
                <a:spcPts val="600"/>
              </a:spcAft>
            </a:pPr>
            <a:r>
              <a:rPr sz="3400" b="1">
                <a:solidFill>
                  <a:srgbClr val="F5F7FB"/>
                </a:solidFill>
                <a:latin typeface="Segoe UI"/>
              </a:rPr>
              <a:t>On to Module 8 — AI Supply Chain Attacks</a:t>
            </a:r>
          </a:p>
        </p:txBody>
      </p:sp>
      <p:sp>
        <p:nvSpPr>
          <p:cNvPr id="6" name="TextBox 5"/>
          <p:cNvSpPr txBox="1"/>
          <p:nvPr/>
        </p:nvSpPr>
        <p:spPr>
          <a:xfrm>
            <a:off x="640080" y="1874519"/>
            <a:ext cx="10972800" cy="4206240"/>
          </a:xfrm>
          <a:prstGeom prst="rect">
            <a:avLst/>
          </a:prstGeom>
          <a:noFill/>
        </p:spPr>
        <p:txBody>
          <a:bodyPr wrap="square" anchor="t" lIns="25400" rIns="25400" tIns="25400" bIns="25400">
            <a:spAutoFit/>
          </a:bodyPr>
          <a:lstStyle/>
          <a:p>
            <a:pPr algn="l">
              <a:spcBef>
                <a:spcPts val="0"/>
              </a:spcBef>
              <a:spcAft>
                <a:spcPts val="1200"/>
              </a:spcAft>
            </a:pPr>
            <a:r>
              <a:rPr sz="1500" b="1">
                <a:solidFill>
                  <a:srgbClr val="FF6A00"/>
                </a:solidFill>
                <a:latin typeface="Segoe UI"/>
              </a:rPr>
              <a:t>✓  </a:t>
            </a:r>
            <a:r>
              <a:rPr sz="1500" b="0">
                <a:solidFill>
                  <a:srgbClr val="F5F7FB"/>
                </a:solidFill>
                <a:latin typeface="Segoe UI"/>
              </a:rPr>
              <a:t>Module 8 extends the third-party trust question Objective 7.3 opened into the full AI supply chain</a:t>
            </a:r>
          </a:p>
          <a:p>
            <a:pPr algn="l">
              <a:spcBef>
                <a:spcPts val="0"/>
              </a:spcBef>
              <a:spcAft>
                <a:spcPts val="1200"/>
              </a:spcAft>
            </a:pPr>
            <a:r>
              <a:rPr sz="1500" b="1">
                <a:solidFill>
                  <a:srgbClr val="FF6A00"/>
                </a:solidFill>
                <a:latin typeface="Segoe UI"/>
              </a:rPr>
              <a:t>✓  </a:t>
            </a:r>
            <a:r>
              <a:rPr sz="1500" b="0">
                <a:solidFill>
                  <a:srgbClr val="F5F7FB"/>
                </a:solidFill>
                <a:latin typeface="Segoe UI"/>
              </a:rPr>
              <a:t>Unverified tool provenance here becomes unverified model, dataset, and dependency provenance there</a:t>
            </a:r>
          </a:p>
          <a:p>
            <a:pPr algn="l">
              <a:spcBef>
                <a:spcPts val="0"/>
              </a:spcBef>
              <a:spcAft>
                <a:spcPts val="1200"/>
              </a:spcAft>
            </a:pPr>
            <a:r>
              <a:rPr sz="1500" b="1">
                <a:solidFill>
                  <a:srgbClr val="FF6A00"/>
                </a:solidFill>
                <a:latin typeface="Segoe UI"/>
              </a:rPr>
              <a:t>✓  </a:t>
            </a:r>
            <a:r>
              <a:rPr sz="1500" b="0">
                <a:solidFill>
                  <a:srgbClr val="F5F7FB"/>
                </a:solidFill>
                <a:latin typeface="Segoe UI"/>
              </a:rPr>
              <a:t>The same least-privilege and trust-boundary reasoning from Objective 7.4 applies to supply-chain findings</a:t>
            </a:r>
          </a:p>
          <a:p>
            <a:pPr algn="l">
              <a:spcBef>
                <a:spcPts val="0"/>
              </a:spcBef>
              <a:spcAft>
                <a:spcPts val="1200"/>
              </a:spcAft>
            </a:pPr>
            <a:r>
              <a:rPr sz="1500" b="1">
                <a:solidFill>
                  <a:srgbClr val="FF6A00"/>
                </a:solidFill>
                <a:latin typeface="Segoe UI"/>
              </a:rPr>
              <a:t>✓  </a:t>
            </a:r>
            <a:r>
              <a:rPr sz="1500" b="0">
                <a:solidFill>
                  <a:srgbClr val="F5F7FB"/>
                </a:solidFill>
                <a:latin typeface="Segoe UI"/>
              </a:rPr>
              <a:t>Keep your tool-surface catalogue close — Module 8 builds on the same cataloguing-and-prioritising discipline</a:t>
            </a:r>
          </a:p>
          <a:p>
            <a:pPr algn="l">
              <a:spcBef>
                <a:spcPts val="0"/>
              </a:spcBef>
              <a:spcAft>
                <a:spcPts val="1200"/>
              </a:spcAft>
            </a:pPr>
            <a:r>
              <a:rPr sz="1500" b="1">
                <a:solidFill>
                  <a:srgbClr val="FF6A00"/>
                </a:solidFill>
                <a:latin typeface="Segoe UI"/>
              </a:rPr>
              <a:t>✓  </a:t>
            </a:r>
            <a:r>
              <a:rPr sz="1500" b="0">
                <a:solidFill>
                  <a:srgbClr val="F5F7FB"/>
                </a:solidFill>
                <a:latin typeface="Segoe UI"/>
              </a:rPr>
              <a:t>Review the flashcards, cheat sheet, PBQ, and quiz for this module before continuing</a:t>
            </a:r>
          </a:p>
        </p:txBody>
      </p:sp>
      <p:sp>
        <p:nvSpPr>
          <p:cNvPr id="7" name="TextBox 6"/>
          <p:cNvSpPr txBox="1"/>
          <p:nvPr/>
        </p:nvSpPr>
        <p:spPr>
          <a:xfrm>
            <a:off x="548640" y="6419088"/>
            <a:ext cx="5486400" cy="365760"/>
          </a:xfrm>
          <a:prstGeom prst="rect">
            <a:avLst/>
          </a:prstGeom>
          <a:noFill/>
        </p:spPr>
        <p:txBody>
          <a:bodyPr wrap="square" anchor="t" lIns="25400" rIns="25400" tIns="25400" bIns="25400">
            <a:spAutoFit/>
          </a:bodyPr>
          <a:lstStyle/>
          <a:p>
            <a:pPr algn="l">
              <a:spcBef>
                <a:spcPts val="0"/>
              </a:spcBef>
              <a:spcAft>
                <a:spcPts val="600"/>
              </a:spcAft>
            </a:pPr>
            <a:r>
              <a:rPr sz="1100" b="0">
                <a:solidFill>
                  <a:srgbClr val="B8C0CF"/>
                </a:solidFill>
                <a:latin typeface="Segoe UI"/>
              </a:rPr>
              <a:t>My Cyber Academy</a:t>
            </a:r>
          </a:p>
        </p:txBody>
      </p:sp>
      <p:sp>
        <p:nvSpPr>
          <p:cNvPr id="8" name="TextBox 7"/>
          <p:cNvSpPr txBox="1"/>
          <p:nvPr/>
        </p:nvSpPr>
        <p:spPr>
          <a:xfrm>
            <a:off x="8595360" y="6419088"/>
            <a:ext cx="3044952" cy="365760"/>
          </a:xfrm>
          <a:prstGeom prst="rect">
            <a:avLst/>
          </a:prstGeom>
          <a:noFill/>
        </p:spPr>
        <p:txBody>
          <a:bodyPr wrap="square" anchor="t" lIns="25400" rIns="25400" tIns="25400" bIns="25400">
            <a:spAutoFit/>
          </a:bodyPr>
          <a:lstStyle/>
          <a:p>
            <a:pPr algn="r">
              <a:spcBef>
                <a:spcPts val="0"/>
              </a:spcBef>
              <a:spcAft>
                <a:spcPts val="600"/>
              </a:spcAft>
            </a:pPr>
            <a:r>
              <a:rPr sz="1200" b="1">
                <a:solidFill>
                  <a:srgbClr val="FF6A00"/>
                </a:solidFill>
                <a:latin typeface="Segoe UI"/>
              </a:rPr>
              <a:t>OS</a:t>
            </a:r>
            <a:r>
              <a:rPr sz="1200" b="1">
                <a:solidFill>
                  <a:srgbClr val="F5F7FB"/>
                </a:solidFill>
                <a:latin typeface="Segoe UI"/>
              </a:rPr>
              <a:t>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