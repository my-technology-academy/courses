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3 of the Offensive Security AI Red Teamer (OSAI) course. Module 1 gave you the map and Module 2 gave you a target inventory; Module 3 is where the course turns hands-on exploitation. You will craft direct prompt injection and guardrail-bypass technique, elicit system-prompt and configuration disclosure, abuse tool and function-calling privileges, and recognise how insecure output handling recreates classic injection impact through an AI channel — then chain all four into one demonstrated finding.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explicitly as the first exploitation module. Modules 1 and 2 were definitional and observational; every technique from here on is something learners actually attempt against a target, under authorisation, and document as a finding.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Module 3 of 11, the first exploitation-focused module. Reinforce that everything demonstrated here should trace back to a seam or component the Module 2 target inventory already flagged.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Reconnect this slide to Module 1, Objective 1.2's attack-surface map. Naming which surface a technique targets is what lets learners place every new trick they see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3.1. We move from mapping a guardrail seam to deliberately crossing it — the course's first genuinely exploitative technique.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shift in posture explicitly: everything before this slide was definition or observation, and everything from here on is an attempt. Stress that a bypass attempt should target a seam the target inventory already logged, not a blind guess.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scope boundary of the module — learners should be able to state, for any technique they try, which Module 2 finding it is exploiting.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as a family, not a checklist to exhaust in order. Real attempts often combine two or three — an obfuscated payload inside a role-play frame, escalated across turns — rather than relying on any single technique alone.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direct parallel to Objective 2.2: payload splitting is the exploitation-side twin of the input-only enforcement seam learners were taught to spot during recon. Recognising the seam and exploiting it are now the same skill applied in sequence.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step 5: an escalation that succeeds but is not documented turn-by-turn cannot be reproduced or defended in a report. The turn number where behaviour changed is the single most important piece of evidence this technique produces.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learners to try single-turn technique first because it is cheap to rule in or out; only escalate to multi-turn or split-payload technique once single-turn attempts are exhausted against a given seam.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detection difficulty as a planning input for the tester, not a ranking of which technique is 'better'. The objective is always a reproducible, well-evidenced finding — not stealth for its own sake.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conceptual anatomy, not a reusable exploit. The point is structural literacy: given any real bypass attempt, learners should be able to label which component is doing which job, and reconstruct why it worked from the evidence captured.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3.2. We move from a bypassed guardrail to deliberately eliciting the hidden instructions and configuration behind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Restate the Module 2 scope boundary one more time before extending it: this objective is exactly the deliberate-extraction escalation that Module 2, slide 22, explicitly deferred to Module 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with Objective 3.1, present these as a family to escalate through rather than a single silver bullet. Many targets defeat the direct ask but comply with a reframed repetition or completion request.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forward link explicit: whatever is extracted here should feed directly back into refining Objective 3.1 attempts and directly forward into Objective 3.3's tool enumeration. This objective is a hub, not an endpoint.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often assume any leaked fragment is automatically a 'finding'. Clarify that a defensible finding requires the deliberate, reproducible elicitation this objective teaches, not a single accidental fragment.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mirrors Objective 2.2's graded-probing discipline, but the goal here is disclosure rather than observation. Step 5 matters most: a single fragment is weak evidence, but fragments from several techniques that agree are a strong, defensible finding.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technique is reliable against every target; a structured escalation across several techniques, as in the previous slide, is what actually produces a defensible finding 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explicit that the most valuable extraction outcome is often not prose at all — it is a tool name or parameter schema that turns Objective 3.3 from guesswork into a targeted attempt.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Objective 3.2 by naming the traps directly, since exam-style knowledge checks frequently probe exactly this LLM07/LLM01 confusion and the 'extraction is the finding' misconception.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3.3. With a bypass technique and extracted configuration in hand, we now turn injected instructions into abuse of an agent's real tools and privileges.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Module 1's agent-and-tool layer (Objective 1.2) attacked directly for the first time. Reinforce that nothing here works without an injection point from 3.1 and, often, configuration detail from 3.2.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concept in the module. Make learners restate it in their own words: the agent is 'confused' because it cannot tell an attacker's smuggled instruction from its operator's legitimate one, and it acts with its own privilege regardless.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forms recur throughout the rest of the course under different names — Module 4 calls the same pattern poisoned inter-agent messages, and Module 7 calls it MCP tool-surface abuse. The mechanism taught here is the constant.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frequently missed by learners with a classic appsec background, who instinctively validate input but rarely think to distrust a tool's own response. Make the output-side risk explicit and repeat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this explicitly as a bridge slide: everything else in Objective 3.3 is single-agent tool abuse, but tool-output-as-injection-vector is the exact mechanism that scales into the multi-agent and MCP modules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is the finding, not step 3. A tool call that fires exactly as an authorised user could request is not yet an interesting finding — the report-worthy fact is the privilege gap the injection crossed.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Excessive Agency is the OWASP name for the structural over-permissioning problem; the specific pattern demonstrated is what actually goes in the report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with the Objective 3.1 anatomy slide, this is structural literacy, not a reusable exploit. Learners should be able to label each component in any confused-deputy scenario they are shown, including ones outside this course's examples.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3.4. We follow the model's output to a real sink and close the loop — chaining every technique in this module into one demonstrated-impact finding.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this as the closing objective: 3.1 gets malicious intent into the model, 3.2 and 3.3 give it leverage, and 3.4 is where that intent finally reaches something that actually matters outside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sinks are exactly where classic appsec vulnerability classes live — the novelty is only that the model, not the user, is now the thing supplying the untrusted content that reaches them.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payoff distinction for learners with an OSCP-style background: nothing about the sink is new, only the path to it. Recognising the analogue makes the finding instantly legible to a client's own appsec team.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assumption failure as the root cause across the whole module: applications trust the model as a source, not realising the model is only relaying whatever untrusted content reached its own context via 3.1, 3.2, or 3.3.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capstone workflow. Every objective taught so far is a stage in this one chain — the strongest possible OSAI finding walks an assessor through all five steps with evidence at each.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Naming the classic analogue is itself a reporting technique — it lets a client's existing application-security team recognise the impact immediately, without needing AI-specific vocabulary.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technical content of the module on this note. This is the standard learners should hold every future exploitation attempt to, all the way through the capstone engagement in Module 11.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table beside the acronym spotlight — it is the fastest way to recall which objective maps to which OWASP risk under exam pressure, and it doubles as the module's own summary of scope.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 the module's vocabulary. The four OWASP IDs here are the ones learners should be able to recall instantly, since they map one-to-one onto the module's four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typically arrive with. The last two are the most commonly tested exam traps — tool abuse is a trust failure, not a broken tool, and output handling is where AI security rejoins classic appsec.</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What matters is a demonstrated, chained finding across Objectives 3.1 to 3.4, not coverage of any single technique.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the module's central concept. Wrong answers are instructive: A requires an elicitation attempt on the model itself, C requires a rendered-content sink rather than a tool action, D is a Module 2 activity with no injection at all.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Every technique here becomes a working tool in the modules that follow. If learners cannot yet explain the confused-deputy pattern in their own words, revisit Objective 3.3 before Module 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4. Reinforce continuity: nothing in Module 4 is a new mechanism so much as the same injection, extraction, and tool-abuse technique operating across a system of agents rather than a single one. Encourage completion of this module's PBQ and flashcards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3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Attacking AI Agents</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Turning mapped guardrail seams and tool surfaces into demonstrated compromise — the course's first exploitation module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3.1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Execute direct prompt injection and guardrail-bypass technique against a target's application layer</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3.2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Elicit system-prompt and configuration disclosure, and explain why that leakage matters</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3.3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Identify and demonstrate tool and function-calling abuse, including the confused-deputy pattern</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3.4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Recognise insecure output handling and chain injection technique into demonstrated impact</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These four objectives are also the chain: 3.1 gets you past the guardrail, 3.2 tells you what the target actually contains, 3.3 reaches a tool with real privilege, and 3.4 lands that privilege in a sink that produces real effect.</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M1–2</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&amp; recon</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Definitions, attack surface, frameworks, methodology, target inventory — complete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M3</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Attacking AI agents</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Direct injection, guardrail bypass, extraction, tool abuse, output handling — current</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M4–11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Deeper exploitation &amp; proof</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Multi-agent/A2A, RAG, embeddings, MCP, supply chain, infrastructure, threat modeling, capstone</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Three surfaces this module attacks</a:t>
            </a:r>
          </a:p>
        </p:txBody>
      </p:sp>
      <p:sp>
        <p:nvSpPr>
          <p:cNvPr id="6" name="Rounded Rectangle 5"/>
          <p:cNvSpPr/>
          <p:nvPr/>
        </p:nvSpPr>
        <p:spPr>
          <a:xfrm>
            <a:off x="548640"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PROMPT</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Application &amp; prompt layer</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System prompt, guardrails, and input handling — Objectives 3.1 and 3.2</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TOOL</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Agent &amp; tool layer</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Function-calling, privileges, and the confused-deputy pattern — Objective 3.3</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OUTPUT</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Output &amp; sink layer</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Where model output is trusted and acted upon — Objective 3.4</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These three surfaces are Layers 3 and 4 of Module 1's six-layer attack-surface map, now attacked directly rather than merely defined. By the end of the module you will have crossed each one at least once and chained the results together.</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3.1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3.1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Direct prompt injection and guardrail-bypass technique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guardrail-bypass technique?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Guardrail-bypass technique is the deliberate crafting of input designed to make a model or application depart from its intended instructions or content policy — moving from observing a seam to exploiting it.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GOAL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Demonstrate that a specific, reproducible input reliably shifts the target's behaviour away from its declared constraints — not a one-off lucky response.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SCOPE BOUNDARY</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1 defined direct prompt injection and Module 2 mapped where guardrail enforcement was inconsistent; Module 3 is the first module that deliberately crosses that boundary under authorisation.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Guardrail mapping (Module 2) vs guardrail bypass (Module 3)</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Guardrail mapping — Objective 2.2</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Documents what is filtered and how consistently</a:t>
            </a:r>
          </a:p>
          <a:p>
            <a:pPr algn="l">
              <a:spcBef>
                <a:spcPts val="0"/>
              </a:spcBef>
              <a:spcAft>
                <a:spcPts val="800"/>
              </a:spcAft>
            </a:pPr>
            <a:r>
              <a:rPr sz="1400" b="1">
                <a:solidFill>
                  <a:srgbClr val="FF6A00"/>
                </a:solidFill>
                <a:latin typeface="Segoe UI"/>
              </a:rPr>
              <a:t>•  </a:t>
            </a:r>
            <a:r>
              <a:rPr sz="1400" b="0">
                <a:solidFill>
                  <a:srgbClr val="B8C0CF"/>
                </a:solidFill>
                <a:latin typeface="Segoe UI"/>
              </a:rPr>
              <a:t>Observational only — no attempt to defeat anything</a:t>
            </a:r>
          </a:p>
          <a:p>
            <a:pPr algn="l">
              <a:spcBef>
                <a:spcPts val="0"/>
              </a:spcBef>
              <a:spcAft>
                <a:spcPts val="800"/>
              </a:spcAft>
            </a:pPr>
            <a:r>
              <a:rPr sz="1400" b="1">
                <a:solidFill>
                  <a:srgbClr val="FF6A00"/>
                </a:solidFill>
                <a:latin typeface="Segoe UI"/>
              </a:rPr>
              <a:t>•  </a:t>
            </a:r>
            <a:r>
              <a:rPr sz="1400" b="0">
                <a:solidFill>
                  <a:srgbClr val="B8C0CF"/>
                </a:solidFill>
                <a:latin typeface="Segoe UI"/>
              </a:rPr>
              <a:t>Produces a defensive-posture profile</a:t>
            </a:r>
          </a:p>
          <a:p>
            <a:pPr algn="l">
              <a:spcBef>
                <a:spcPts val="0"/>
              </a:spcBef>
              <a:spcAft>
                <a:spcPts val="800"/>
              </a:spcAft>
            </a:pPr>
            <a:r>
              <a:rPr sz="1400" b="1">
                <a:solidFill>
                  <a:srgbClr val="FF6A00"/>
                </a:solidFill>
                <a:latin typeface="Segoe UI"/>
              </a:rPr>
              <a:t>•  </a:t>
            </a:r>
            <a:r>
              <a:rPr sz="1400" b="0">
                <a:solidFill>
                  <a:srgbClr val="B8C0CF"/>
                </a:solidFill>
                <a:latin typeface="Segoe UI"/>
              </a:rPr>
              <a:t>Output: a seam noted in the target inventory</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Guardrail bypass — Objective 3.1</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Deliberately crafts input to cross a mapped seam</a:t>
            </a:r>
          </a:p>
          <a:p>
            <a:pPr algn="l">
              <a:spcBef>
                <a:spcPts val="0"/>
              </a:spcBef>
              <a:spcAft>
                <a:spcPts val="800"/>
              </a:spcAft>
            </a:pPr>
            <a:r>
              <a:rPr sz="1400" b="1">
                <a:solidFill>
                  <a:srgbClr val="FF6A00"/>
                </a:solidFill>
                <a:latin typeface="Segoe UI"/>
              </a:rPr>
              <a:t>•  </a:t>
            </a:r>
            <a:r>
              <a:rPr sz="1400" b="0">
                <a:solidFill>
                  <a:srgbClr val="B8C0CF"/>
                </a:solidFill>
                <a:latin typeface="Segoe UI"/>
              </a:rPr>
              <a:t>Actively exploits inconsistent or input-only enforcement</a:t>
            </a:r>
          </a:p>
          <a:p>
            <a:pPr algn="l">
              <a:spcBef>
                <a:spcPts val="0"/>
              </a:spcBef>
              <a:spcAft>
                <a:spcPts val="800"/>
              </a:spcAft>
            </a:pPr>
            <a:r>
              <a:rPr sz="1400" b="1">
                <a:solidFill>
                  <a:srgbClr val="FF6A00"/>
                </a:solidFill>
                <a:latin typeface="Segoe UI"/>
              </a:rPr>
              <a:t>•  </a:t>
            </a:r>
            <a:r>
              <a:rPr sz="1400" b="0">
                <a:solidFill>
                  <a:srgbClr val="B8C0CF"/>
                </a:solidFill>
                <a:latin typeface="Segoe UI"/>
              </a:rPr>
              <a:t>Produces a reproducible bypass, not just an observation</a:t>
            </a:r>
          </a:p>
          <a:p>
            <a:pPr algn="l">
              <a:spcBef>
                <a:spcPts val="0"/>
              </a:spcBef>
              <a:spcAft>
                <a:spcPts val="800"/>
              </a:spcAft>
            </a:pPr>
            <a:r>
              <a:rPr sz="1400" b="1">
                <a:solidFill>
                  <a:srgbClr val="FF6A00"/>
                </a:solidFill>
                <a:latin typeface="Segoe UI"/>
              </a:rPr>
              <a:t>•  </a:t>
            </a:r>
            <a:r>
              <a:rPr sz="1400" b="0">
                <a:solidFill>
                  <a:srgbClr val="B8C0CF"/>
                </a:solidFill>
                <a:latin typeface="Segoe UI"/>
              </a:rPr>
              <a:t>Output: a demonstrated finding mapped to OWASP LLM01</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Module 2 tells you where the seam is; Module 3 is the first module that puts weight on it. Treat every bypass attempt in this module as a continuation of a specific target-inventory entry, not an isolated exercise.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TECHNIQUE FAMILY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Core direct-injection framing techniques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OVERRIDE / IGNORE-INSTRUCTIONS PATTERNS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Explicit instructions telling the model to disregard its prior instructions or system prompt, framing new text as a higher-priority instruction.</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ROLE-PLAY AND PERSONA-SHIFT FRAMING</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Casting the interaction as a fictional scenario or an alternate persona whose rules are framed as superseding the model's actual constraints.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ENCODING AND OBFUSCATION OF PAYLOADS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Disguising the intent of an instruction — through alternate encodings, spacing, or indirect phrasing — so pattern-based filters do not recognise it as an override attempt.</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MULTI-TURN ESCALATION</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Shifting context gradually across several turns so no single message looks like an override, while the cumulative conversation state does.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Payload splitting across inputs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Payload splitting divides a single intended instruction across multiple separate inputs, fields, or turns, so that no individual piece is recognisable as a policy-violating request.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MECHANISM</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model reconstructs and acts on the combined instruction once enough fragments are present in context, even though each fragment alone looked benign.</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EVADES NAIVE CONTROLS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Guardrails that inspect each input in isolation cannot see the assembled intent — the same blind spot that input-only enforcement leaves open, first noted in Objective 2.2's guardrail mapping.</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WORKFLOW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Multi-turn escalation as a structured technique</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Open with an unremarkable exchange</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Establish a normal-looking conversation baseline, consistent with what recon already characterised.</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Introduce a small, plausible shift</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Nudge the framing slightly — a hypothetical, a fictional frame, a change of stated role — without requesting anything disallowed yet.</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Reinforce the shifted frame</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Have the model affirm or build on the new frame across further turns, so it becomes the conversation's working context.</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Layer the actual request inside the frame</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Ask for the originally disallowed content or action as a natural continuation of the now-established context.</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Record the turn at which behaviour changed</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Document precisely which message in the sequence caused the shift — this is the reproducible evidence a finding needs.</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Single-turn vs multi-turn injection</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Single-turn injection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The full override attempt sits in one message</a:t>
            </a:r>
          </a:p>
          <a:p>
            <a:pPr algn="l">
              <a:spcBef>
                <a:spcPts val="0"/>
              </a:spcBef>
              <a:spcAft>
                <a:spcPts val="800"/>
              </a:spcAft>
            </a:pPr>
            <a:r>
              <a:rPr sz="1400" b="1">
                <a:solidFill>
                  <a:srgbClr val="FF6A00"/>
                </a:solidFill>
                <a:latin typeface="Segoe UI"/>
              </a:rPr>
              <a:t>•  </a:t>
            </a:r>
            <a:r>
              <a:rPr sz="1400" b="0">
                <a:solidFill>
                  <a:srgbClr val="B8C0CF"/>
                </a:solidFill>
                <a:latin typeface="Segoe UI"/>
              </a:rPr>
              <a:t>Easiest for simple filters to catch</a:t>
            </a:r>
          </a:p>
          <a:p>
            <a:pPr algn="l">
              <a:spcBef>
                <a:spcPts val="0"/>
              </a:spcBef>
              <a:spcAft>
                <a:spcPts val="800"/>
              </a:spcAft>
            </a:pPr>
            <a:r>
              <a:rPr sz="1400" b="1">
                <a:solidFill>
                  <a:srgbClr val="FF6A00"/>
                </a:solidFill>
                <a:latin typeface="Segoe UI"/>
              </a:rPr>
              <a:t>•  </a:t>
            </a:r>
            <a:r>
              <a:rPr sz="1400" b="0">
                <a:solidFill>
                  <a:srgbClr val="B8C0CF"/>
                </a:solidFill>
                <a:latin typeface="Segoe UI"/>
              </a:rPr>
              <a:t>High signal, low stealth</a:t>
            </a:r>
          </a:p>
          <a:p>
            <a:pPr algn="l">
              <a:spcBef>
                <a:spcPts val="0"/>
              </a:spcBef>
              <a:spcAft>
                <a:spcPts val="800"/>
              </a:spcAft>
            </a:pPr>
            <a:r>
              <a:rPr sz="1400" b="1">
                <a:solidFill>
                  <a:srgbClr val="FF6A00"/>
                </a:solidFill>
                <a:latin typeface="Segoe UI"/>
              </a:rPr>
              <a:t>•  </a:t>
            </a:r>
            <a:r>
              <a:rPr sz="1400" b="0">
                <a:solidFill>
                  <a:srgbClr val="B8C0CF"/>
                </a:solidFill>
                <a:latin typeface="Segoe UI"/>
              </a:rPr>
              <a:t>Fast to test, fast to fail</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Multi-turn injection</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Intent is distributed across several turns</a:t>
            </a:r>
          </a:p>
          <a:p>
            <a:pPr algn="l">
              <a:spcBef>
                <a:spcPts val="0"/>
              </a:spcBef>
              <a:spcAft>
                <a:spcPts val="800"/>
              </a:spcAft>
            </a:pPr>
            <a:r>
              <a:rPr sz="1400" b="1">
                <a:solidFill>
                  <a:srgbClr val="FF6A00"/>
                </a:solidFill>
                <a:latin typeface="Segoe UI"/>
              </a:rPr>
              <a:t>•  </a:t>
            </a:r>
            <a:r>
              <a:rPr sz="1400" b="0">
                <a:solidFill>
                  <a:srgbClr val="B8C0CF"/>
                </a:solidFill>
                <a:latin typeface="Segoe UI"/>
              </a:rPr>
              <a:t>Defeats controls that only inspect one message</a:t>
            </a:r>
          </a:p>
          <a:p>
            <a:pPr algn="l">
              <a:spcBef>
                <a:spcPts val="0"/>
              </a:spcBef>
              <a:spcAft>
                <a:spcPts val="800"/>
              </a:spcAft>
            </a:pPr>
            <a:r>
              <a:rPr sz="1400" b="1">
                <a:solidFill>
                  <a:srgbClr val="FF6A00"/>
                </a:solidFill>
                <a:latin typeface="Segoe UI"/>
              </a:rPr>
              <a:t>•  </a:t>
            </a:r>
            <a:r>
              <a:rPr sz="1400" b="0">
                <a:solidFill>
                  <a:srgbClr val="B8C0CF"/>
                </a:solidFill>
                <a:latin typeface="Segoe UI"/>
              </a:rPr>
              <a:t>Lower signal per turn, higher stealth</a:t>
            </a:r>
          </a:p>
          <a:p>
            <a:pPr algn="l">
              <a:spcBef>
                <a:spcPts val="0"/>
              </a:spcBef>
              <a:spcAft>
                <a:spcPts val="800"/>
              </a:spcAft>
            </a:pPr>
            <a:r>
              <a:rPr sz="1400" b="1">
                <a:solidFill>
                  <a:srgbClr val="FF6A00"/>
                </a:solidFill>
                <a:latin typeface="Segoe UI"/>
              </a:rPr>
              <a:t>•  </a:t>
            </a:r>
            <a:r>
              <a:rPr sz="1400" b="0">
                <a:solidFill>
                  <a:srgbClr val="B8C0CF"/>
                </a:solidFill>
                <a:latin typeface="Segoe UI"/>
              </a:rPr>
              <a:t>Slower to execute, harder to detect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Multi-turn escalation and payload splitting are the same underlying idea — distributing intent so no single observable unit trips a control — applied across turns versus across inputs respectively.</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Direct-injection technique to mechanism and detection difficulty</a:t>
            </a:r>
          </a:p>
        </p:txBody>
      </p:sp>
      <p:graphicFrame>
        <p:nvGraphicFramePr>
          <p:cNvPr id="6" name="Table 5"/>
          <p:cNvGraphicFramePr>
            <a:graphicFrameLocks noGrp="1"/>
          </p:cNvGraphicFramePr>
          <p:nvPr/>
        </p:nvGraphicFramePr>
        <p:xfrm>
          <a:off x="548640" y="1828800"/>
          <a:ext cx="11091672" cy="2834640"/>
        </p:xfrm>
        <a:graphic>
          <a:graphicData uri="http://schemas.openxmlformats.org/drawingml/2006/table">
            <a:tbl>
              <a:tblPr>
                <a:tableStyleId>{5C22544A-7EE6-4342-B048-85BDC9FD1C3A}</a:tableStyleId>
              </a:tblPr>
              <a:tblGrid>
                <a:gridCol w="3697224"/>
                <a:gridCol w="3697224"/>
                <a:gridCol w="3697224"/>
              </a:tblGrid>
              <a:tr h="472440">
                <a:tc>
                  <a:txBody>
                    <a:bodyPr wrap="square"/>
                    <a:lstStyle/>
                    <a:p>
                      <a:r>
                        <a:rPr sz="1300" b="1">
                          <a:solidFill>
                            <a:srgbClr val="F5F7FB"/>
                          </a:solidFill>
                          <a:latin typeface="Segoe UI"/>
                        </a:rPr>
                        <a:t>Technique</a:t>
                      </a:r>
                    </a:p>
                  </a:txBody>
                  <a:tcPr marL="101600" marR="101600" marT="50800" marB="50800" anchor="ctr">
                    <a:solidFill>
                      <a:srgbClr val="3A2410"/>
                    </a:solidFill>
                  </a:tcPr>
                </a:tc>
                <a:tc>
                  <a:txBody>
                    <a:bodyPr wrap="square"/>
                    <a:lstStyle/>
                    <a:p>
                      <a:r>
                        <a:rPr sz="1300" b="1">
                          <a:solidFill>
                            <a:srgbClr val="F5F7FB"/>
                          </a:solidFill>
                          <a:latin typeface="Segoe UI"/>
                        </a:rPr>
                        <a:t>Mechanism</a:t>
                      </a:r>
                    </a:p>
                  </a:txBody>
                  <a:tcPr marL="101600" marR="101600" marT="50800" marB="50800" anchor="ctr">
                    <a:solidFill>
                      <a:srgbClr val="3A2410"/>
                    </a:solidFill>
                  </a:tcPr>
                </a:tc>
                <a:tc>
                  <a:txBody>
                    <a:bodyPr wrap="square"/>
                    <a:lstStyle/>
                    <a:p>
                      <a:r>
                        <a:rPr sz="1300" b="1">
                          <a:solidFill>
                            <a:srgbClr val="F5F7FB"/>
                          </a:solidFill>
                          <a:latin typeface="Segoe UI"/>
                        </a:rPr>
                        <a:t>Typical detection difficulty</a:t>
                      </a:r>
                    </a:p>
                  </a:txBody>
                  <a:tcPr marL="101600" marR="101600" marT="50800" marB="50800" anchor="ctr">
                    <a:solidFill>
                      <a:srgbClr val="3A2410"/>
                    </a:solidFill>
                  </a:tcPr>
                </a:tc>
              </a:tr>
              <a:tr h="472440">
                <a:tc>
                  <a:txBody>
                    <a:bodyPr wrap="square"/>
                    <a:lstStyle/>
                    <a:p>
                      <a:r>
                        <a:rPr sz="1200" b="1">
                          <a:solidFill>
                            <a:srgbClr val="F5F7FB"/>
                          </a:solidFill>
                          <a:latin typeface="Segoe UI"/>
                        </a:rPr>
                        <a:t>Override / ignore-instructions</a:t>
                      </a:r>
                    </a:p>
                  </a:txBody>
                  <a:tcPr marL="101600" marR="101600" marT="50800" marB="50800" anchor="ctr">
                    <a:solidFill>
                      <a:srgbClr val="121319"/>
                    </a:solidFill>
                  </a:tcPr>
                </a:tc>
                <a:tc>
                  <a:txBody>
                    <a:bodyPr wrap="square"/>
                    <a:lstStyle/>
                    <a:p>
                      <a:r>
                        <a:rPr sz="1200" b="0">
                          <a:solidFill>
                            <a:srgbClr val="B8C0CF"/>
                          </a:solidFill>
                          <a:latin typeface="Segoe UI"/>
                        </a:rPr>
                        <a:t>Explicit priority claim over the system prompt</a:t>
                      </a:r>
                    </a:p>
                  </a:txBody>
                  <a:tcPr marL="101600" marR="101600" marT="50800" marB="50800" anchor="ctr">
                    <a:solidFill>
                      <a:srgbClr val="121319"/>
                    </a:solidFill>
                  </a:tcPr>
                </a:tc>
                <a:tc>
                  <a:txBody>
                    <a:bodyPr wrap="square"/>
                    <a:lstStyle/>
                    <a:p>
                      <a:r>
                        <a:rPr sz="1200" b="0">
                          <a:solidFill>
                            <a:srgbClr val="B8C0CF"/>
                          </a:solidFill>
                          <a:latin typeface="Segoe UI"/>
                        </a:rPr>
                        <a:t>Low — pattern-matchable phrasing</a:t>
                      </a:r>
                    </a:p>
                  </a:txBody>
                  <a:tcPr marL="101600" marR="101600" marT="50800" marB="50800" anchor="ctr">
                    <a:solidFill>
                      <a:srgbClr val="121319"/>
                    </a:solidFill>
                  </a:tcPr>
                </a:tc>
              </a:tr>
              <a:tr h="472440">
                <a:tc>
                  <a:txBody>
                    <a:bodyPr wrap="square"/>
                    <a:lstStyle/>
                    <a:p>
                      <a:r>
                        <a:rPr sz="1200" b="1">
                          <a:solidFill>
                            <a:srgbClr val="F5F7FB"/>
                          </a:solidFill>
                          <a:latin typeface="Segoe UI"/>
                        </a:rPr>
                        <a:t>Role-play / persona-shift</a:t>
                      </a:r>
                    </a:p>
                  </a:txBody>
                  <a:tcPr marL="101600" marR="101600" marT="50800" marB="50800" anchor="ctr">
                    <a:solidFill>
                      <a:srgbClr val="141519"/>
                    </a:solidFill>
                  </a:tcPr>
                </a:tc>
                <a:tc>
                  <a:txBody>
                    <a:bodyPr wrap="square"/>
                    <a:lstStyle/>
                    <a:p>
                      <a:r>
                        <a:rPr sz="1200" b="0">
                          <a:solidFill>
                            <a:srgbClr val="B8C0CF"/>
                          </a:solidFill>
                          <a:latin typeface="Segoe UI"/>
                        </a:rPr>
                        <a:t>Fictional framing relocates the effective rules</a:t>
                      </a:r>
                    </a:p>
                  </a:txBody>
                  <a:tcPr marL="101600" marR="101600" marT="50800" marB="50800" anchor="ctr">
                    <a:solidFill>
                      <a:srgbClr val="141519"/>
                    </a:solidFill>
                  </a:tcPr>
                </a:tc>
                <a:tc>
                  <a:txBody>
                    <a:bodyPr wrap="square"/>
                    <a:lstStyle/>
                    <a:p>
                      <a:r>
                        <a:rPr sz="1200" b="0">
                          <a:solidFill>
                            <a:srgbClr val="B8C0CF"/>
                          </a:solidFill>
                          <a:latin typeface="Segoe UI"/>
                        </a:rPr>
                        <a:t>Medium — depends on framing subtlety</a:t>
                      </a:r>
                    </a:p>
                  </a:txBody>
                  <a:tcPr marL="101600" marR="101600" marT="50800" marB="50800" anchor="ctr">
                    <a:solidFill>
                      <a:srgbClr val="141519"/>
                    </a:solidFill>
                  </a:tcPr>
                </a:tc>
              </a:tr>
              <a:tr h="472440">
                <a:tc>
                  <a:txBody>
                    <a:bodyPr wrap="square"/>
                    <a:lstStyle/>
                    <a:p>
                      <a:r>
                        <a:rPr sz="1200" b="1">
                          <a:solidFill>
                            <a:srgbClr val="F5F7FB"/>
                          </a:solidFill>
                          <a:latin typeface="Segoe UI"/>
                        </a:rPr>
                        <a:t>Encoding / obfuscation</a:t>
                      </a:r>
                    </a:p>
                  </a:txBody>
                  <a:tcPr marL="101600" marR="101600" marT="50800" marB="50800" anchor="ctr">
                    <a:solidFill>
                      <a:srgbClr val="121319"/>
                    </a:solidFill>
                  </a:tcPr>
                </a:tc>
                <a:tc>
                  <a:txBody>
                    <a:bodyPr wrap="square"/>
                    <a:lstStyle/>
                    <a:p>
                      <a:r>
                        <a:rPr sz="1200" b="0">
                          <a:solidFill>
                            <a:srgbClr val="B8C0CF"/>
                          </a:solidFill>
                          <a:latin typeface="Segoe UI"/>
                        </a:rPr>
                        <a:t>Disguises intent from pattern-based filters</a:t>
                      </a:r>
                    </a:p>
                  </a:txBody>
                  <a:tcPr marL="101600" marR="101600" marT="50800" marB="50800" anchor="ctr">
                    <a:solidFill>
                      <a:srgbClr val="121319"/>
                    </a:solidFill>
                  </a:tcPr>
                </a:tc>
                <a:tc>
                  <a:txBody>
                    <a:bodyPr wrap="square"/>
                    <a:lstStyle/>
                    <a:p>
                      <a:r>
                        <a:rPr sz="1200" b="0">
                          <a:solidFill>
                            <a:srgbClr val="B8C0CF"/>
                          </a:solidFill>
                          <a:latin typeface="Segoe UI"/>
                        </a:rPr>
                        <a:t>Medium–high — requires semantic inspection</a:t>
                      </a:r>
                    </a:p>
                  </a:txBody>
                  <a:tcPr marL="101600" marR="101600" marT="50800" marB="50800" anchor="ctr">
                    <a:solidFill>
                      <a:srgbClr val="121319"/>
                    </a:solidFill>
                  </a:tcPr>
                </a:tc>
              </a:tr>
              <a:tr h="472440">
                <a:tc>
                  <a:txBody>
                    <a:bodyPr wrap="square"/>
                    <a:lstStyle/>
                    <a:p>
                      <a:r>
                        <a:rPr sz="1200" b="1">
                          <a:solidFill>
                            <a:srgbClr val="F5F7FB"/>
                          </a:solidFill>
                          <a:latin typeface="Segoe UI"/>
                        </a:rPr>
                        <a:t>Multi-turn escalation</a:t>
                      </a:r>
                    </a:p>
                  </a:txBody>
                  <a:tcPr marL="101600" marR="101600" marT="50800" marB="50800" anchor="ctr">
                    <a:solidFill>
                      <a:srgbClr val="141519"/>
                    </a:solidFill>
                  </a:tcPr>
                </a:tc>
                <a:tc>
                  <a:txBody>
                    <a:bodyPr wrap="square"/>
                    <a:lstStyle/>
                    <a:p>
                      <a:r>
                        <a:rPr sz="1200" b="0">
                          <a:solidFill>
                            <a:srgbClr val="B8C0CF"/>
                          </a:solidFill>
                          <a:latin typeface="Segoe UI"/>
                        </a:rPr>
                        <a:t>Distributes intent across several turns</a:t>
                      </a:r>
                    </a:p>
                  </a:txBody>
                  <a:tcPr marL="101600" marR="101600" marT="50800" marB="50800" anchor="ctr">
                    <a:solidFill>
                      <a:srgbClr val="141519"/>
                    </a:solidFill>
                  </a:tcPr>
                </a:tc>
                <a:tc>
                  <a:txBody>
                    <a:bodyPr wrap="square"/>
                    <a:lstStyle/>
                    <a:p>
                      <a:r>
                        <a:rPr sz="1200" b="0">
                          <a:solidFill>
                            <a:srgbClr val="B8C0CF"/>
                          </a:solidFill>
                          <a:latin typeface="Segoe UI"/>
                        </a:rPr>
                        <a:t>High — needs full-conversation context</a:t>
                      </a:r>
                    </a:p>
                  </a:txBody>
                  <a:tcPr marL="101600" marR="101600" marT="50800" marB="50800" anchor="ctr">
                    <a:solidFill>
                      <a:srgbClr val="141519"/>
                    </a:solidFill>
                  </a:tcPr>
                </a:tc>
              </a:tr>
              <a:tr h="472440">
                <a:tc>
                  <a:txBody>
                    <a:bodyPr wrap="square"/>
                    <a:lstStyle/>
                    <a:p>
                      <a:r>
                        <a:rPr sz="1200" b="1">
                          <a:solidFill>
                            <a:srgbClr val="F5F7FB"/>
                          </a:solidFill>
                          <a:latin typeface="Segoe UI"/>
                        </a:rPr>
                        <a:t>Payload splitting</a:t>
                      </a:r>
                    </a:p>
                  </a:txBody>
                  <a:tcPr marL="101600" marR="101600" marT="50800" marB="50800" anchor="ctr">
                    <a:solidFill>
                      <a:srgbClr val="121319"/>
                    </a:solidFill>
                  </a:tcPr>
                </a:tc>
                <a:tc>
                  <a:txBody>
                    <a:bodyPr wrap="square"/>
                    <a:lstStyle/>
                    <a:p>
                      <a:r>
                        <a:rPr sz="1200" b="0">
                          <a:solidFill>
                            <a:srgbClr val="B8C0CF"/>
                          </a:solidFill>
                          <a:latin typeface="Segoe UI"/>
                        </a:rPr>
                        <a:t>Distributes intent across separate inputs/fields</a:t>
                      </a:r>
                    </a:p>
                  </a:txBody>
                  <a:tcPr marL="101600" marR="101600" marT="50800" marB="50800" anchor="ctr">
                    <a:solidFill>
                      <a:srgbClr val="121319"/>
                    </a:solidFill>
                  </a:tcPr>
                </a:tc>
                <a:tc>
                  <a:txBody>
                    <a:bodyPr wrap="square"/>
                    <a:lstStyle/>
                    <a:p>
                      <a:r>
                        <a:rPr sz="1200" b="0">
                          <a:solidFill>
                            <a:srgbClr val="B8C0CF"/>
                          </a:solidFill>
                          <a:latin typeface="Segoe UI"/>
                        </a:rPr>
                        <a:t>High — needs cross-field correlation</a:t>
                      </a:r>
                    </a:p>
                  </a:txBody>
                  <a:tcPr marL="101600" marR="101600" marT="50800" marB="50800" anchor="ctr">
                    <a:solidFill>
                      <a:srgbClr val="1213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Every row here maps to OWASP LLM01 Prompt Injection; the table differentiates mechanism, not risk classification.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3.1 · PRACTICAL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conceptual anatomy of a direct-injection attempt</a:t>
            </a:r>
          </a:p>
        </p:txBody>
      </p:sp>
      <p:sp>
        <p:nvSpPr>
          <p:cNvPr id="6" name="TextBox 5"/>
          <p:cNvSpPr txBox="1"/>
          <p:nvPr/>
        </p:nvSpPr>
        <p:spPr>
          <a:xfrm>
            <a:off x="548640" y="1737360"/>
            <a:ext cx="11064240" cy="640080"/>
          </a:xfrm>
          <a:prstGeom prst="rect">
            <a:avLst/>
          </a:prstGeom>
          <a:noFill/>
        </p:spPr>
        <p:txBody>
          <a:bodyPr wrap="square" anchor="t" lIns="25400" rIns="25400" tIns="25400" bIns="25400">
            <a:spAutoFit/>
          </a:bodyPr>
          <a:lstStyle/>
          <a:p>
            <a:pPr algn="l">
              <a:spcBef>
                <a:spcPts val="0"/>
              </a:spcBef>
              <a:spcAft>
                <a:spcPts val="600"/>
              </a:spcAft>
            </a:pPr>
            <a:r>
              <a:rPr sz="1500" b="0">
                <a:solidFill>
                  <a:srgbClr val="B8C0CF"/>
                </a:solidFill>
                <a:latin typeface="Segoe UI"/>
              </a:rPr>
              <a:t>A conceptual, labelled breakdown of how a direct-injection attempt is structured — not a working payload, and not a lab exercise.</a:t>
            </a:r>
          </a:p>
        </p:txBody>
      </p:sp>
      <p:sp>
        <p:nvSpPr>
          <p:cNvPr id="7" name="Rounded Rectangle 6"/>
          <p:cNvSpPr/>
          <p:nvPr/>
        </p:nvSpPr>
        <p:spPr>
          <a:xfrm>
            <a:off x="548640" y="2423160"/>
            <a:ext cx="11091672" cy="3566160"/>
          </a:xfrm>
          <a:prstGeom prst="roundRect">
            <a:avLst/>
          </a:prstGeom>
          <a:solidFill>
            <a:srgbClr val="0A0F16"/>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10515600" cy="329184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9CE6B4"/>
                </a:solidFill>
                <a:latin typeface="Segoe UI"/>
              </a:rPr>
              <a:t># Component 1: Framing</a:t>
            </a:r>
          </a:p>
          <a:p>
            <a:pPr algn="l">
              <a:spcBef>
                <a:spcPts val="0"/>
              </a:spcBef>
              <a:spcAft>
                <a:spcPts val="400"/>
              </a:spcAft>
            </a:pPr>
            <a:r>
              <a:rPr sz="1400" b="0">
                <a:solidFill>
                  <a:srgbClr val="F5F7FB"/>
                </a:solidFill>
                <a:latin typeface="Segoe UI"/>
              </a:rPr>
              <a:t>A fictional, role-shifted, or 'higher priority' context is established first</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2: Override claim</a:t>
            </a:r>
          </a:p>
          <a:p>
            <a:pPr algn="l">
              <a:spcBef>
                <a:spcPts val="0"/>
              </a:spcBef>
              <a:spcAft>
                <a:spcPts val="400"/>
              </a:spcAft>
            </a:pPr>
            <a:r>
              <a:rPr sz="1400" b="0">
                <a:solidFill>
                  <a:srgbClr val="F5F7FB"/>
                </a:solidFill>
                <a:latin typeface="Segoe UI"/>
              </a:rPr>
              <a:t>An explicit or implicit claim that the new text supersedes the system prompt</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3: The actual request</a:t>
            </a:r>
          </a:p>
          <a:p>
            <a:pPr algn="l">
              <a:spcBef>
                <a:spcPts val="0"/>
              </a:spcBef>
              <a:spcAft>
                <a:spcPts val="400"/>
              </a:spcAft>
            </a:pPr>
            <a:r>
              <a:rPr sz="1400" b="0">
                <a:solidFill>
                  <a:srgbClr val="F5F7FB"/>
                </a:solidFill>
                <a:latin typeface="Segoe UI"/>
              </a:rPr>
              <a:t>The originally disallowed content or action, now nested inside the frame</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4: Evidence capture</a:t>
            </a:r>
          </a:p>
          <a:p>
            <a:pPr algn="l">
              <a:spcBef>
                <a:spcPts val="0"/>
              </a:spcBef>
              <a:spcAft>
                <a:spcPts val="400"/>
              </a:spcAft>
            </a:pPr>
            <a:r>
              <a:rPr sz="1400" b="0">
                <a:solidFill>
                  <a:srgbClr val="F5F7FB"/>
                </a:solidFill>
                <a:latin typeface="Segoe UI"/>
              </a:rPr>
              <a:t>Record the exact input, the turn number, and the full response for the report</a:t>
            </a:r>
          </a:p>
        </p:txBody>
      </p:sp>
      <p:sp>
        <p:nvSpPr>
          <p:cNvPr id="9" name="TextBox 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0" name="TextBox 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3.2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3.2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System-prompt and configuration extraction</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system-prompt extraction?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System-prompt extraction is the deliberate elicitation of a model's hidden instructions — the system prompt and related configuration — through crafted requests, rather than the incidental leakage recon sometimes observes.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GOAL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Recover enough of the hidden instructions to reveal declared capabilities, named tools, and internal rules that narrow every objective that follows.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SCOPE BOUNDARY</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Objective 2.2 logged fragments that leaked by accident during fingerprinting; Objective 3.2 is the deliberate, repeatable technique for eliciting them on purpose.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TECHNIQUE FAMILY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Core system-prompt elicitation techniques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DIRECT ASK</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Simply requesting the system prompt or hidden instructions outright — the lowest-effort technique, and often the first one tried against any new target.</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'REPEAT EVERYTHING ABOVE' FRAMING</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Asking the model to repeat, summarise, or output everything preceding the user's message, reframing extraction as an ordinary formatting task.</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TRANSLATION / FORMAT-CONVERSION TRICKS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Asking the model to translate, reformat, or transform its own instructions into another language or structure, which can bypass filters tuned only for direct requests.</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COMPLETION / CONTINUATION TRICKS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Feeding the model a partial fragment of a plausible system prompt and asking it to continue or complete the text.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WHY IT MATTERS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system-prompt leakage matters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leaked system prompt is rarely the end goal in itself — its value is as reconnaissance for every subsequent attack, revealing exactly what the system was told to protect and how.</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REVEALS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Named tools and their parameters, internal business rules, content restrictions, and the exact phrasing of guardrails that Objective 3.1's technique can be tuned against.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OWASP MAPPING</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OWASP LLM07 System Prompt Leakage — confidential instructions and configuration disclosed to an untrusted party.</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Incidental leakage (Module 2) vs deliberate extraction (Module 3)</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Incidental leakage — Objective 2.2</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Surfaces by accident during fingerprinting</a:t>
            </a:r>
          </a:p>
          <a:p>
            <a:pPr algn="l">
              <a:spcBef>
                <a:spcPts val="0"/>
              </a:spcBef>
              <a:spcAft>
                <a:spcPts val="800"/>
              </a:spcAft>
            </a:pPr>
            <a:r>
              <a:rPr sz="1400" b="1">
                <a:solidFill>
                  <a:srgbClr val="FF6A00"/>
                </a:solidFill>
                <a:latin typeface="Segoe UI"/>
              </a:rPr>
              <a:t>•  </a:t>
            </a:r>
            <a:r>
              <a:rPr sz="1400" b="0">
                <a:solidFill>
                  <a:srgbClr val="B8C0CF"/>
                </a:solidFill>
                <a:latin typeface="Segoe UI"/>
              </a:rPr>
              <a:t>Not sought out deliberately</a:t>
            </a:r>
          </a:p>
          <a:p>
            <a:pPr algn="l">
              <a:spcBef>
                <a:spcPts val="0"/>
              </a:spcBef>
              <a:spcAft>
                <a:spcPts val="800"/>
              </a:spcAft>
            </a:pPr>
            <a:r>
              <a:rPr sz="1400" b="1">
                <a:solidFill>
                  <a:srgbClr val="FF6A00"/>
                </a:solidFill>
                <a:latin typeface="Segoe UI"/>
              </a:rPr>
              <a:t>•  </a:t>
            </a:r>
            <a:r>
              <a:rPr sz="1400" b="0">
                <a:solidFill>
                  <a:srgbClr val="B8C0CF"/>
                </a:solidFill>
                <a:latin typeface="Segoe UI"/>
              </a:rPr>
              <a:t>Logged opportunistically as a recon signal</a:t>
            </a:r>
          </a:p>
          <a:p>
            <a:pPr algn="l">
              <a:spcBef>
                <a:spcPts val="0"/>
              </a:spcBef>
              <a:spcAft>
                <a:spcPts val="800"/>
              </a:spcAft>
            </a:pPr>
            <a:r>
              <a:rPr sz="1400" b="1">
                <a:solidFill>
                  <a:srgbClr val="FF6A00"/>
                </a:solidFill>
                <a:latin typeface="Segoe UI"/>
              </a:rPr>
              <a:t>•  </a:t>
            </a:r>
            <a:r>
              <a:rPr sz="1400" b="0">
                <a:solidFill>
                  <a:srgbClr val="B8C0CF"/>
                </a:solidFill>
                <a:latin typeface="Segoe UI"/>
              </a:rPr>
              <a:t>Coverage is whatever happens to appear</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Deliberate extraction — Objective 3.2</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Sought out through structured elicitation technique</a:t>
            </a:r>
          </a:p>
          <a:p>
            <a:pPr algn="l">
              <a:spcBef>
                <a:spcPts val="0"/>
              </a:spcBef>
              <a:spcAft>
                <a:spcPts val="800"/>
              </a:spcAft>
            </a:pPr>
            <a:r>
              <a:rPr sz="1400" b="1">
                <a:solidFill>
                  <a:srgbClr val="FF6A00"/>
                </a:solidFill>
                <a:latin typeface="Segoe UI"/>
              </a:rPr>
              <a:t>•  </a:t>
            </a:r>
            <a:r>
              <a:rPr sz="1400" b="0">
                <a:solidFill>
                  <a:srgbClr val="B8C0CF"/>
                </a:solidFill>
                <a:latin typeface="Segoe UI"/>
              </a:rPr>
              <a:t>Repeated and varied until it succeeds</a:t>
            </a:r>
          </a:p>
          <a:p>
            <a:pPr algn="l">
              <a:spcBef>
                <a:spcPts val="0"/>
              </a:spcBef>
              <a:spcAft>
                <a:spcPts val="800"/>
              </a:spcAft>
            </a:pPr>
            <a:r>
              <a:rPr sz="1400" b="1">
                <a:solidFill>
                  <a:srgbClr val="FF6A00"/>
                </a:solidFill>
                <a:latin typeface="Segoe UI"/>
              </a:rPr>
              <a:t>•  </a:t>
            </a:r>
            <a:r>
              <a:rPr sz="1400" b="0">
                <a:solidFill>
                  <a:srgbClr val="B8C0CF"/>
                </a:solidFill>
                <a:latin typeface="Segoe UI"/>
              </a:rPr>
              <a:t>Treated as a demonstrated finding, not a lucky break</a:t>
            </a:r>
          </a:p>
          <a:p>
            <a:pPr algn="l">
              <a:spcBef>
                <a:spcPts val="0"/>
              </a:spcBef>
              <a:spcAft>
                <a:spcPts val="800"/>
              </a:spcAft>
            </a:pPr>
            <a:r>
              <a:rPr sz="1400" b="1">
                <a:solidFill>
                  <a:srgbClr val="FF6A00"/>
                </a:solidFill>
                <a:latin typeface="Segoe UI"/>
              </a:rPr>
              <a:t>•  </a:t>
            </a:r>
            <a:r>
              <a:rPr sz="1400" b="0">
                <a:solidFill>
                  <a:srgbClr val="B8C0CF"/>
                </a:solidFill>
                <a:latin typeface="Segoe UI"/>
              </a:rPr>
              <a:t>Coverage is systematic across technique families</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scope boundary set in Module 2 holds: noticing a fragment during recon is passive observation; deliberately eliciting the whole system prompt on purpose is Objective 3.2's exploitation technique.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WORKFLOW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structured extraction escalation</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Try the direct ask</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Request the system prompt or hidden instructions outright; some targets simply comply.</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Reframe as repetition or summary</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Ask the model to repeat, summarise, or output everything above the current message.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Reframe as a format-conversion task</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Ask for a translation, JSON conversion, or other transformation of its own instructions.</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Seed a completion</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Provide a plausible opening fragment and ask the model to continue it.</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Corroborate fragments across attempts</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Cross-check partial disclosures from different techniques to reconstruct a confident, evidenced whole.</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Extraction technique to mechanism and what it typically reveals</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Technique</a:t>
                      </a:r>
                    </a:p>
                  </a:txBody>
                  <a:tcPr marL="101600" marR="101600" marT="50800" marB="50800" anchor="ctr">
                    <a:solidFill>
                      <a:srgbClr val="3A2410"/>
                    </a:solidFill>
                  </a:tcPr>
                </a:tc>
                <a:tc>
                  <a:txBody>
                    <a:bodyPr wrap="square"/>
                    <a:lstStyle/>
                    <a:p>
                      <a:r>
                        <a:rPr sz="1300" b="1">
                          <a:solidFill>
                            <a:srgbClr val="F5F7FB"/>
                          </a:solidFill>
                          <a:latin typeface="Segoe UI"/>
                        </a:rPr>
                        <a:t>Mechanism</a:t>
                      </a:r>
                    </a:p>
                  </a:txBody>
                  <a:tcPr marL="101600" marR="101600" marT="50800" marB="50800" anchor="ctr">
                    <a:solidFill>
                      <a:srgbClr val="3A2410"/>
                    </a:solidFill>
                  </a:tcPr>
                </a:tc>
                <a:tc>
                  <a:txBody>
                    <a:bodyPr wrap="square"/>
                    <a:lstStyle/>
                    <a:p>
                      <a:r>
                        <a:rPr sz="1300" b="1">
                          <a:solidFill>
                            <a:srgbClr val="F5F7FB"/>
                          </a:solidFill>
                          <a:latin typeface="Segoe UI"/>
                        </a:rPr>
                        <a:t>What it typically reveals</a:t>
                      </a:r>
                    </a:p>
                  </a:txBody>
                  <a:tcPr marL="101600" marR="101600" marT="50800" marB="50800" anchor="ctr">
                    <a:solidFill>
                      <a:srgbClr val="3A2410"/>
                    </a:solidFill>
                  </a:tcPr>
                </a:tc>
              </a:tr>
              <a:tr h="471830">
                <a:tc>
                  <a:txBody>
                    <a:bodyPr wrap="square"/>
                    <a:lstStyle/>
                    <a:p>
                      <a:r>
                        <a:rPr sz="1200" b="1">
                          <a:solidFill>
                            <a:srgbClr val="F5F7FB"/>
                          </a:solidFill>
                          <a:latin typeface="Segoe UI"/>
                        </a:rPr>
                        <a:t>Direct ask</a:t>
                      </a:r>
                    </a:p>
                  </a:txBody>
                  <a:tcPr marL="101600" marR="101600" marT="50800" marB="50800" anchor="ctr">
                    <a:solidFill>
                      <a:srgbClr val="121319"/>
                    </a:solidFill>
                  </a:tcPr>
                </a:tc>
                <a:tc>
                  <a:txBody>
                    <a:bodyPr wrap="square"/>
                    <a:lstStyle/>
                    <a:p>
                      <a:r>
                        <a:rPr sz="1200" b="0">
                          <a:solidFill>
                            <a:srgbClr val="B8C0CF"/>
                          </a:solidFill>
                          <a:latin typeface="Segoe UI"/>
                        </a:rPr>
                        <a:t>Requests hidden instructions outright</a:t>
                      </a:r>
                    </a:p>
                  </a:txBody>
                  <a:tcPr marL="101600" marR="101600" marT="50800" marB="50800" anchor="ctr">
                    <a:solidFill>
                      <a:srgbClr val="121319"/>
                    </a:solidFill>
                  </a:tcPr>
                </a:tc>
                <a:tc>
                  <a:txBody>
                    <a:bodyPr wrap="square"/>
                    <a:lstStyle/>
                    <a:p>
                      <a:r>
                        <a:rPr sz="1200" b="0">
                          <a:solidFill>
                            <a:srgbClr val="B8C0CF"/>
                          </a:solidFill>
                          <a:latin typeface="Segoe UI"/>
                        </a:rPr>
                        <a:t>Full system prompt, on undefended targets</a:t>
                      </a:r>
                    </a:p>
                  </a:txBody>
                  <a:tcPr marL="101600" marR="101600" marT="50800" marB="50800" anchor="ctr">
                    <a:solidFill>
                      <a:srgbClr val="121319"/>
                    </a:solidFill>
                  </a:tcPr>
                </a:tc>
              </a:tr>
              <a:tr h="471830">
                <a:tc>
                  <a:txBody>
                    <a:bodyPr wrap="square"/>
                    <a:lstStyle/>
                    <a:p>
                      <a:r>
                        <a:rPr sz="1200" b="1">
                          <a:solidFill>
                            <a:srgbClr val="F5F7FB"/>
                          </a:solidFill>
                          <a:latin typeface="Segoe UI"/>
                        </a:rPr>
                        <a:t>Repeat-everything-above framing</a:t>
                      </a:r>
                    </a:p>
                  </a:txBody>
                  <a:tcPr marL="101600" marR="101600" marT="50800" marB="50800" anchor="ctr">
                    <a:solidFill>
                      <a:srgbClr val="141519"/>
                    </a:solidFill>
                  </a:tcPr>
                </a:tc>
                <a:tc>
                  <a:txBody>
                    <a:bodyPr wrap="square"/>
                    <a:lstStyle/>
                    <a:p>
                      <a:r>
                        <a:rPr sz="1200" b="0">
                          <a:solidFill>
                            <a:srgbClr val="B8C0CF"/>
                          </a:solidFill>
                          <a:latin typeface="Segoe UI"/>
                        </a:rPr>
                        <a:t>Reframes extraction as a formatting/repetition task</a:t>
                      </a:r>
                    </a:p>
                  </a:txBody>
                  <a:tcPr marL="101600" marR="101600" marT="50800" marB="50800" anchor="ctr">
                    <a:solidFill>
                      <a:srgbClr val="141519"/>
                    </a:solidFill>
                  </a:tcPr>
                </a:tc>
                <a:tc>
                  <a:txBody>
                    <a:bodyPr wrap="square"/>
                    <a:lstStyle/>
                    <a:p>
                      <a:r>
                        <a:rPr sz="1200" b="0">
                          <a:solidFill>
                            <a:srgbClr val="B8C0CF"/>
                          </a:solidFill>
                          <a:latin typeface="Segoe UI"/>
                        </a:rPr>
                        <a:t>Full or partial system-prompt text</a:t>
                      </a:r>
                    </a:p>
                  </a:txBody>
                  <a:tcPr marL="101600" marR="101600" marT="50800" marB="50800" anchor="ctr">
                    <a:solidFill>
                      <a:srgbClr val="141519"/>
                    </a:solidFill>
                  </a:tcPr>
                </a:tc>
              </a:tr>
              <a:tr h="471830">
                <a:tc>
                  <a:txBody>
                    <a:bodyPr wrap="square"/>
                    <a:lstStyle/>
                    <a:p>
                      <a:r>
                        <a:rPr sz="1200" b="1">
                          <a:solidFill>
                            <a:srgbClr val="F5F7FB"/>
                          </a:solidFill>
                          <a:latin typeface="Segoe UI"/>
                        </a:rPr>
                        <a:t>Translation / format-conversion</a:t>
                      </a:r>
                    </a:p>
                  </a:txBody>
                  <a:tcPr marL="101600" marR="101600" marT="50800" marB="50800" anchor="ctr">
                    <a:solidFill>
                      <a:srgbClr val="121319"/>
                    </a:solidFill>
                  </a:tcPr>
                </a:tc>
                <a:tc>
                  <a:txBody>
                    <a:bodyPr wrap="square"/>
                    <a:lstStyle/>
                    <a:p>
                      <a:r>
                        <a:rPr sz="1200" b="0">
                          <a:solidFill>
                            <a:srgbClr val="B8C0CF"/>
                          </a:solidFill>
                          <a:latin typeface="Segoe UI"/>
                        </a:rPr>
                        <a:t>Bypasses filters tuned only for direct requests</a:t>
                      </a:r>
                    </a:p>
                  </a:txBody>
                  <a:tcPr marL="101600" marR="101600" marT="50800" marB="50800" anchor="ctr">
                    <a:solidFill>
                      <a:srgbClr val="121319"/>
                    </a:solidFill>
                  </a:tcPr>
                </a:tc>
                <a:tc>
                  <a:txBody>
                    <a:bodyPr wrap="square"/>
                    <a:lstStyle/>
                    <a:p>
                      <a:r>
                        <a:rPr sz="1200" b="0">
                          <a:solidFill>
                            <a:srgbClr val="B8C0CF"/>
                          </a:solidFill>
                          <a:latin typeface="Segoe UI"/>
                        </a:rPr>
                        <a:t>Fragments, occasionally the complete prompt</a:t>
                      </a:r>
                    </a:p>
                  </a:txBody>
                  <a:tcPr marL="101600" marR="101600" marT="50800" marB="50800" anchor="ctr">
                    <a:solidFill>
                      <a:srgbClr val="121319"/>
                    </a:solidFill>
                  </a:tcPr>
                </a:tc>
              </a:tr>
              <a:tr h="471832">
                <a:tc>
                  <a:txBody>
                    <a:bodyPr wrap="square"/>
                    <a:lstStyle/>
                    <a:p>
                      <a:r>
                        <a:rPr sz="1200" b="1">
                          <a:solidFill>
                            <a:srgbClr val="F5F7FB"/>
                          </a:solidFill>
                          <a:latin typeface="Segoe UI"/>
                        </a:rPr>
                        <a:t>Completion / continuation</a:t>
                      </a:r>
                    </a:p>
                  </a:txBody>
                  <a:tcPr marL="101600" marR="101600" marT="50800" marB="50800" anchor="ctr">
                    <a:solidFill>
                      <a:srgbClr val="141519"/>
                    </a:solidFill>
                  </a:tcPr>
                </a:tc>
                <a:tc>
                  <a:txBody>
                    <a:bodyPr wrap="square"/>
                    <a:lstStyle/>
                    <a:p>
                      <a:r>
                        <a:rPr sz="1200" b="0">
                          <a:solidFill>
                            <a:srgbClr val="B8C0CF"/>
                          </a:solidFill>
                          <a:latin typeface="Segoe UI"/>
                        </a:rPr>
                        <a:t>Model completes a seeded, plausible fragment</a:t>
                      </a:r>
                    </a:p>
                  </a:txBody>
                  <a:tcPr marL="101600" marR="101600" marT="50800" marB="50800" anchor="ctr">
                    <a:solidFill>
                      <a:srgbClr val="141519"/>
                    </a:solidFill>
                  </a:tcPr>
                </a:tc>
                <a:tc>
                  <a:txBody>
                    <a:bodyPr wrap="square"/>
                    <a:lstStyle/>
                    <a:p>
                      <a:r>
                        <a:rPr sz="1200" b="0">
                          <a:solidFill>
                            <a:srgbClr val="B8C0CF"/>
                          </a:solidFill>
                          <a:latin typeface="Segoe UI"/>
                        </a:rPr>
                        <a:t>Partial phrasing, tool names, rule fragments</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Every row maps to OWASP LLM07 System Prompt Leakage regardless of which specific technique succeeded.</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Configuration extraction beyond the system prompt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System-prompt extraction is one case of a broader category — configuration extraction — which also targets tool schemas, internal naming conventions, and other operational metadata the application never intended to expose.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ELSE CAN LEAK</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Tool and function names, parameter schemas, internal identifiers, and references to connected systems or data sources.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MATTERS MORE THAN THE PROMPT ALONE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Tool names and schemas extracted here are the direct reconnaissance input to Objective 3.3's tool and function-calling abuse.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3.2 · EXAM TRAPS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Extraction exam traps to avoid</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TREATING ONE LEAKED FRAGMENT AS PROOF</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single unverified fragment is weak evidence; corroborate across at least two independent elicitation techniques before treating it as a confirmed finding.</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ASSUMING EXTRACTION IS THE FINDING ITSELF</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Leakage is reconnaissance value for the rest of the chain — the report-worthy finding is what it enables in Objectives 3.1, 3.3, and 3.4.</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CONFUSING LLM07 WITH LLM01</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System-prompt leakage (LLM07) is a disclosure risk; prompt injection (LLM01) is a control-flow risk — a single technique can sometimes trigger both, but they are distinct OWASP entries.</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SKIPPING THE DIRECT ASK</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lowest-effort technique is still worth trying first — many real targets disclose far more than a defended one would suggest.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3.3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3.3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Tool and function-calling abuse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tool and function-calling abuse?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Tool and function-calling abuse is the manipulation of an agent's connected tools — through injected instructions or crafted input — to make it invoke, misuse, or misdirect a function call it holds legitimate access to.</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GOAL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Demonstrate that injected input can influence which tool is called, with what parameters, or whether a tool is called at all — converting a text-only weakness into a real-action weakness.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SCOPE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Builds directly on Objective 2.3's tool enumeration and Objective 3.1's injection technique — this objective is where the two combine into agent-layer impact.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CONCEPT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confused-deputy pattern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The confused-deputy pattern occurs when an agent holds privileges the attacker does not, and a prompt injection tricks the agent into misusing those privileges on the attacker's behalf.</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POWERFUL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attacker never needs their own credentials — they only need an injection point the agent will read, because the agent itself supplies the privilege.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WHERE IT COMES FROM</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Named after the classic confused-deputy problem in software security — a legitimate, privileged program tricked into misusing its authority — now realised through natural-language injection instead of a technical exploit.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TECHNIQUE FAMILY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Forms of tool and function-calling abuse</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PARAMETER INJECTION</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Injected content changes the arguments passed to a legitimate tool call — redirecting a lookup, a recipient, or a query target — without the call itself looking unusual.</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FORCED UNINTENDED INVOCATION</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Injected content causes a tool to be called that the user never requested, or at a point in the conversation where it should not fire.</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EXCESSIVE-AGENCY EXPLOITATION</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agent has more standing permissions than its task requires, so a single injection can reach further than the user's own access ever could.</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CONFUSED-DEPUTY CHAINING</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agent's legitimate privileges are used, via injection, to perform an action entirely outside what the current user should be able to do.</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Trusting tool input vs trusting tool output</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Trusting tool input</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The application validates what it sends to a tool</a:t>
            </a:r>
          </a:p>
          <a:p>
            <a:pPr algn="l">
              <a:spcBef>
                <a:spcPts val="0"/>
              </a:spcBef>
              <a:spcAft>
                <a:spcPts val="800"/>
              </a:spcAft>
            </a:pPr>
            <a:r>
              <a:rPr sz="1400" b="1">
                <a:solidFill>
                  <a:srgbClr val="FF6A00"/>
                </a:solidFill>
                <a:latin typeface="Segoe UI"/>
              </a:rPr>
              <a:t>•  </a:t>
            </a:r>
            <a:r>
              <a:rPr sz="1400" b="0">
                <a:solidFill>
                  <a:srgbClr val="B8C0CF"/>
                </a:solidFill>
                <a:latin typeface="Segoe UI"/>
              </a:rPr>
              <a:t>Well-understood — mirrors classic input validation</a:t>
            </a:r>
          </a:p>
          <a:p>
            <a:pPr algn="l">
              <a:spcBef>
                <a:spcPts val="0"/>
              </a:spcBef>
              <a:spcAft>
                <a:spcPts val="800"/>
              </a:spcAft>
            </a:pPr>
            <a:r>
              <a:rPr sz="1400" b="1">
                <a:solidFill>
                  <a:srgbClr val="FF6A00"/>
                </a:solidFill>
                <a:latin typeface="Segoe UI"/>
              </a:rPr>
              <a:t>•  </a:t>
            </a:r>
            <a:r>
              <a:rPr sz="1400" b="0">
                <a:solidFill>
                  <a:srgbClr val="B8C0CF"/>
                </a:solidFill>
                <a:latin typeface="Segoe UI"/>
              </a:rPr>
              <a:t>Parameter injection is the main risk here</a:t>
            </a:r>
          </a:p>
          <a:p>
            <a:pPr algn="l">
              <a:spcBef>
                <a:spcPts val="0"/>
              </a:spcBef>
              <a:spcAft>
                <a:spcPts val="800"/>
              </a:spcAft>
            </a:pPr>
            <a:r>
              <a:rPr sz="1400" b="1">
                <a:solidFill>
                  <a:srgbClr val="FF6A00"/>
                </a:solidFill>
                <a:latin typeface="Segoe UI"/>
              </a:rPr>
              <a:t>•  </a:t>
            </a:r>
            <a:r>
              <a:rPr sz="1400" b="0">
                <a:solidFill>
                  <a:srgbClr val="B8C0CF"/>
                </a:solidFill>
                <a:latin typeface="Segoe UI"/>
              </a:rPr>
              <a:t>Defence: schema and value validation before calling</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Trusting tool output</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The agent treats a tool's returned result as safe context</a:t>
            </a:r>
          </a:p>
          <a:p>
            <a:pPr algn="l">
              <a:spcBef>
                <a:spcPts val="0"/>
              </a:spcBef>
              <a:spcAft>
                <a:spcPts val="800"/>
              </a:spcAft>
            </a:pPr>
            <a:r>
              <a:rPr sz="1400" b="1">
                <a:solidFill>
                  <a:srgbClr val="FF6A00"/>
                </a:solidFill>
                <a:latin typeface="Segoe UI"/>
              </a:rPr>
              <a:t>•  </a:t>
            </a:r>
            <a:r>
              <a:rPr sz="1400" b="0">
                <a:solidFill>
                  <a:srgbClr val="B8C0CF"/>
                </a:solidFill>
                <a:latin typeface="Segoe UI"/>
              </a:rPr>
              <a:t>Novel: the tool's result re-enters the model's context</a:t>
            </a:r>
          </a:p>
          <a:p>
            <a:pPr algn="l">
              <a:spcBef>
                <a:spcPts val="0"/>
              </a:spcBef>
              <a:spcAft>
                <a:spcPts val="800"/>
              </a:spcAft>
            </a:pPr>
            <a:r>
              <a:rPr sz="1400" b="1">
                <a:solidFill>
                  <a:srgbClr val="FF6A00"/>
                </a:solidFill>
                <a:latin typeface="Segoe UI"/>
              </a:rPr>
              <a:t>•  </a:t>
            </a:r>
            <a:r>
              <a:rPr sz="1400" b="0">
                <a:solidFill>
                  <a:srgbClr val="B8C0CF"/>
                </a:solidFill>
                <a:latin typeface="Segoe UI"/>
              </a:rPr>
              <a:t>A poisoned or attacker-influenced result becomes an instruction</a:t>
            </a:r>
          </a:p>
          <a:p>
            <a:pPr algn="l">
              <a:spcBef>
                <a:spcPts val="0"/>
              </a:spcBef>
              <a:spcAft>
                <a:spcPts val="800"/>
              </a:spcAft>
            </a:pPr>
            <a:r>
              <a:rPr sz="1400" b="1">
                <a:solidFill>
                  <a:srgbClr val="FF6A00"/>
                </a:solidFill>
                <a:latin typeface="Segoe UI"/>
              </a:rPr>
              <a:t>•  </a:t>
            </a:r>
            <a:r>
              <a:rPr sz="1400" b="0">
                <a:solidFill>
                  <a:srgbClr val="B8C0CF"/>
                </a:solidFill>
                <a:latin typeface="Segoe UI"/>
              </a:rPr>
              <a:t>Defence: treat tool output as untrusted, same as user input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Trusting tool OUTPUT as though it were trusted data is the newer and more dangerous assumption — it lets the tool itself become an injection vector, a mechanism Modules 4 and 7 develop much further.</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Tool output as an untrusted injection vector</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When an agent feeds a tool's returned result back into its own context without treating it as untrusted, any attacker-influenceable content in that result can act as a fresh prompt injection.</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MECHANISM</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web page, document, or API response a tool fetches may itself contain crafted instructions, which the agent then follows as if they came from its own operator.</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FORWARD LINK</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the seed of indirect prompt injection through tools and agents, developed fully against multi-agent message-passing in Module 4 and against the Model Context Protocol surface in Module 7.</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WORKFLOW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workflow for demonstrating tool abuse</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Confirm the tool and its apparent privileges</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Use Objective 2.3's enumeration findings to identify which tools are connected and what they appear able to do.</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Test whether parameters can be influenced</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Craft input that would, if followed, alter a tool call's arguments — without exercising the tool destructively.</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Test whether invocation itself can be forced</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Craft input that attempts to trigger a tool call the user's own request did not ask for.</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Trace the privilege gap</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Establish which of the demonstrated actions exceed what the current user should legitimately be able to do.</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Document as a confused-deputy finding</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Record the injection point, the tool, the parameters or invocation affected, and the privilege gap as evidence.</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Tool-abuse pattern to OWASP mapping and impact</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Pattern</a:t>
                      </a:r>
                    </a:p>
                  </a:txBody>
                  <a:tcPr marL="101600" marR="101600" marT="50800" marB="50800" anchor="ctr">
                    <a:solidFill>
                      <a:srgbClr val="3A2410"/>
                    </a:solidFill>
                  </a:tcPr>
                </a:tc>
                <a:tc>
                  <a:txBody>
                    <a:bodyPr wrap="square"/>
                    <a:lstStyle/>
                    <a:p>
                      <a:r>
                        <a:rPr sz="1300" b="1">
                          <a:solidFill>
                            <a:srgbClr val="F5F7FB"/>
                          </a:solidFill>
                          <a:latin typeface="Segoe UI"/>
                        </a:rPr>
                        <a:t>OWASP mapping</a:t>
                      </a:r>
                    </a:p>
                  </a:txBody>
                  <a:tcPr marL="101600" marR="101600" marT="50800" marB="50800" anchor="ctr">
                    <a:solidFill>
                      <a:srgbClr val="3A2410"/>
                    </a:solidFill>
                  </a:tcPr>
                </a:tc>
                <a:tc>
                  <a:txBody>
                    <a:bodyPr wrap="square"/>
                    <a:lstStyle/>
                    <a:p>
                      <a:r>
                        <a:rPr sz="1300" b="1">
                          <a:solidFill>
                            <a:srgbClr val="F5F7FB"/>
                          </a:solidFill>
                          <a:latin typeface="Segoe UI"/>
                        </a:rPr>
                        <a:t>Demonstrated impact</a:t>
                      </a:r>
                    </a:p>
                  </a:txBody>
                  <a:tcPr marL="101600" marR="101600" marT="50800" marB="50800" anchor="ctr">
                    <a:solidFill>
                      <a:srgbClr val="3A2410"/>
                    </a:solidFill>
                  </a:tcPr>
                </a:tc>
              </a:tr>
              <a:tr h="471830">
                <a:tc>
                  <a:txBody>
                    <a:bodyPr wrap="square"/>
                    <a:lstStyle/>
                    <a:p>
                      <a:r>
                        <a:rPr sz="1200" b="1">
                          <a:solidFill>
                            <a:srgbClr val="F5F7FB"/>
                          </a:solidFill>
                          <a:latin typeface="Segoe UI"/>
                        </a:rPr>
                        <a:t>Parameter injection</a:t>
                      </a:r>
                    </a:p>
                  </a:txBody>
                  <a:tcPr marL="101600" marR="101600" marT="50800" marB="50800" anchor="ctr">
                    <a:solidFill>
                      <a:srgbClr val="121319"/>
                    </a:solidFill>
                  </a:tcPr>
                </a:tc>
                <a:tc>
                  <a:txBody>
                    <a:bodyPr wrap="square"/>
                    <a:lstStyle/>
                    <a:p>
                      <a:r>
                        <a:rPr sz="1200" b="0">
                          <a:solidFill>
                            <a:srgbClr val="B8C0CF"/>
                          </a:solidFill>
                          <a:latin typeface="Segoe UI"/>
                        </a:rPr>
                        <a:t>LLM06 Excessive Agency</a:t>
                      </a:r>
                    </a:p>
                  </a:txBody>
                  <a:tcPr marL="101600" marR="101600" marT="50800" marB="50800" anchor="ctr">
                    <a:solidFill>
                      <a:srgbClr val="121319"/>
                    </a:solidFill>
                  </a:tcPr>
                </a:tc>
                <a:tc>
                  <a:txBody>
                    <a:bodyPr wrap="square"/>
                    <a:lstStyle/>
                    <a:p>
                      <a:r>
                        <a:rPr sz="1200" b="0">
                          <a:solidFill>
                            <a:srgbClr val="B8C0CF"/>
                          </a:solidFill>
                          <a:latin typeface="Segoe UI"/>
                        </a:rPr>
                        <a:t>Redirected action — wrong recipient, record, or query target</a:t>
                      </a:r>
                    </a:p>
                  </a:txBody>
                  <a:tcPr marL="101600" marR="101600" marT="50800" marB="50800" anchor="ctr">
                    <a:solidFill>
                      <a:srgbClr val="121319"/>
                    </a:solidFill>
                  </a:tcPr>
                </a:tc>
              </a:tr>
              <a:tr h="471830">
                <a:tc>
                  <a:txBody>
                    <a:bodyPr wrap="square"/>
                    <a:lstStyle/>
                    <a:p>
                      <a:r>
                        <a:rPr sz="1200" b="1">
                          <a:solidFill>
                            <a:srgbClr val="F5F7FB"/>
                          </a:solidFill>
                          <a:latin typeface="Segoe UI"/>
                        </a:rPr>
                        <a:t>Forced unintended invocation</a:t>
                      </a:r>
                    </a:p>
                  </a:txBody>
                  <a:tcPr marL="101600" marR="101600" marT="50800" marB="50800" anchor="ctr">
                    <a:solidFill>
                      <a:srgbClr val="141519"/>
                    </a:solidFill>
                  </a:tcPr>
                </a:tc>
                <a:tc>
                  <a:txBody>
                    <a:bodyPr wrap="square"/>
                    <a:lstStyle/>
                    <a:p>
                      <a:r>
                        <a:rPr sz="1200" b="0">
                          <a:solidFill>
                            <a:srgbClr val="B8C0CF"/>
                          </a:solidFill>
                          <a:latin typeface="Segoe UI"/>
                        </a:rPr>
                        <a:t>LLM06 Excessive Agency</a:t>
                      </a:r>
                    </a:p>
                  </a:txBody>
                  <a:tcPr marL="101600" marR="101600" marT="50800" marB="50800" anchor="ctr">
                    <a:solidFill>
                      <a:srgbClr val="141519"/>
                    </a:solidFill>
                  </a:tcPr>
                </a:tc>
                <a:tc>
                  <a:txBody>
                    <a:bodyPr wrap="square"/>
                    <a:lstStyle/>
                    <a:p>
                      <a:r>
                        <a:rPr sz="1200" b="0">
                          <a:solidFill>
                            <a:srgbClr val="B8C0CF"/>
                          </a:solidFill>
                          <a:latin typeface="Segoe UI"/>
                        </a:rPr>
                        <a:t>An action taken that the user never requested</a:t>
                      </a:r>
                    </a:p>
                  </a:txBody>
                  <a:tcPr marL="101600" marR="101600" marT="50800" marB="50800" anchor="ctr">
                    <a:solidFill>
                      <a:srgbClr val="141519"/>
                    </a:solidFill>
                  </a:tcPr>
                </a:tc>
              </a:tr>
              <a:tr h="471830">
                <a:tc>
                  <a:txBody>
                    <a:bodyPr wrap="square"/>
                    <a:lstStyle/>
                    <a:p>
                      <a:r>
                        <a:rPr sz="1200" b="1">
                          <a:solidFill>
                            <a:srgbClr val="F5F7FB"/>
                          </a:solidFill>
                          <a:latin typeface="Segoe UI"/>
                        </a:rPr>
                        <a:t>Confused-deputy chaining</a:t>
                      </a:r>
                    </a:p>
                  </a:txBody>
                  <a:tcPr marL="101600" marR="101600" marT="50800" marB="50800" anchor="ctr">
                    <a:solidFill>
                      <a:srgbClr val="121319"/>
                    </a:solidFill>
                  </a:tcPr>
                </a:tc>
                <a:tc>
                  <a:txBody>
                    <a:bodyPr wrap="square"/>
                    <a:lstStyle/>
                    <a:p>
                      <a:r>
                        <a:rPr sz="1200" b="0">
                          <a:solidFill>
                            <a:srgbClr val="B8C0CF"/>
                          </a:solidFill>
                          <a:latin typeface="Segoe UI"/>
                        </a:rPr>
                        <a:t>LLM06 Excessive Agency</a:t>
                      </a:r>
                    </a:p>
                  </a:txBody>
                  <a:tcPr marL="101600" marR="101600" marT="50800" marB="50800" anchor="ctr">
                    <a:solidFill>
                      <a:srgbClr val="121319"/>
                    </a:solidFill>
                  </a:tcPr>
                </a:tc>
                <a:tc>
                  <a:txBody>
                    <a:bodyPr wrap="square"/>
                    <a:lstStyle/>
                    <a:p>
                      <a:r>
                        <a:rPr sz="1200" b="0">
                          <a:solidFill>
                            <a:srgbClr val="B8C0CF"/>
                          </a:solidFill>
                          <a:latin typeface="Segoe UI"/>
                        </a:rPr>
                        <a:t>Action taken outside the current user's own privilege level</a:t>
                      </a:r>
                    </a:p>
                  </a:txBody>
                  <a:tcPr marL="101600" marR="101600" marT="50800" marB="50800" anchor="ctr">
                    <a:solidFill>
                      <a:srgbClr val="121319"/>
                    </a:solidFill>
                  </a:tcPr>
                </a:tc>
              </a:tr>
              <a:tr h="471832">
                <a:tc>
                  <a:txBody>
                    <a:bodyPr wrap="square"/>
                    <a:lstStyle/>
                    <a:p>
                      <a:r>
                        <a:rPr sz="1200" b="1">
                          <a:solidFill>
                            <a:srgbClr val="F5F7FB"/>
                          </a:solidFill>
                          <a:latin typeface="Segoe UI"/>
                        </a:rPr>
                        <a:t>Tool-output-as-injection</a:t>
                      </a:r>
                    </a:p>
                  </a:txBody>
                  <a:tcPr marL="101600" marR="101600" marT="50800" marB="50800" anchor="ctr">
                    <a:solidFill>
                      <a:srgbClr val="141519"/>
                    </a:solidFill>
                  </a:tcPr>
                </a:tc>
                <a:tc>
                  <a:txBody>
                    <a:bodyPr wrap="square"/>
                    <a:lstStyle/>
                    <a:p>
                      <a:r>
                        <a:rPr sz="1200" b="0">
                          <a:solidFill>
                            <a:srgbClr val="B8C0CF"/>
                          </a:solidFill>
                          <a:latin typeface="Segoe UI"/>
                        </a:rPr>
                        <a:t>LLM01 Prompt Injection (indirect)</a:t>
                      </a:r>
                    </a:p>
                  </a:txBody>
                  <a:tcPr marL="101600" marR="101600" marT="50800" marB="50800" anchor="ctr">
                    <a:solidFill>
                      <a:srgbClr val="141519"/>
                    </a:solidFill>
                  </a:tcPr>
                </a:tc>
                <a:tc>
                  <a:txBody>
                    <a:bodyPr wrap="square"/>
                    <a:lstStyle/>
                    <a:p>
                      <a:r>
                        <a:rPr sz="1200" b="0">
                          <a:solidFill>
                            <a:srgbClr val="B8C0CF"/>
                          </a:solidFill>
                          <a:latin typeface="Segoe UI"/>
                        </a:rPr>
                        <a:t>A tool result seeds a fresh injection into the agent</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Note that the fourth row maps back to LLM01, not LLM06 — the tool is the delivery mechanism, but the underlying risk is indirect injection.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3.3 · PRACTICAL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conceptual anatomy of a confused-deputy chain</a:t>
            </a:r>
          </a:p>
        </p:txBody>
      </p:sp>
      <p:sp>
        <p:nvSpPr>
          <p:cNvPr id="6" name="TextBox 5"/>
          <p:cNvSpPr txBox="1"/>
          <p:nvPr/>
        </p:nvSpPr>
        <p:spPr>
          <a:xfrm>
            <a:off x="548640" y="1737360"/>
            <a:ext cx="11064240" cy="640080"/>
          </a:xfrm>
          <a:prstGeom prst="rect">
            <a:avLst/>
          </a:prstGeom>
          <a:noFill/>
        </p:spPr>
        <p:txBody>
          <a:bodyPr wrap="square" anchor="t" lIns="25400" rIns="25400" tIns="25400" bIns="25400">
            <a:spAutoFit/>
          </a:bodyPr>
          <a:lstStyle/>
          <a:p>
            <a:pPr algn="l">
              <a:spcBef>
                <a:spcPts val="0"/>
              </a:spcBef>
              <a:spcAft>
                <a:spcPts val="600"/>
              </a:spcAft>
            </a:pPr>
            <a:r>
              <a:rPr sz="1500" b="0">
                <a:solidFill>
                  <a:srgbClr val="B8C0CF"/>
                </a:solidFill>
                <a:latin typeface="Segoe UI"/>
              </a:rPr>
              <a:t>A conceptual, labelled breakdown of how a confused-deputy chain is structured — not a working exploit, and not a lab exercise.</a:t>
            </a:r>
          </a:p>
        </p:txBody>
      </p:sp>
      <p:sp>
        <p:nvSpPr>
          <p:cNvPr id="7" name="Rounded Rectangle 6"/>
          <p:cNvSpPr/>
          <p:nvPr/>
        </p:nvSpPr>
        <p:spPr>
          <a:xfrm>
            <a:off x="548640" y="2423160"/>
            <a:ext cx="11091672" cy="3566160"/>
          </a:xfrm>
          <a:prstGeom prst="roundRect">
            <a:avLst/>
          </a:prstGeom>
          <a:solidFill>
            <a:srgbClr val="0A0F16"/>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10515600" cy="329184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9CE6B4"/>
                </a:solidFill>
                <a:latin typeface="Segoe UI"/>
              </a:rPr>
              <a:t># Component 1: The privileged agent</a:t>
            </a:r>
          </a:p>
          <a:p>
            <a:pPr algn="l">
              <a:spcBef>
                <a:spcPts val="0"/>
              </a:spcBef>
              <a:spcAft>
                <a:spcPts val="400"/>
              </a:spcAft>
            </a:pPr>
            <a:r>
              <a:rPr sz="1400" b="0">
                <a:solidFill>
                  <a:srgbClr val="F5F7FB"/>
                </a:solidFill>
                <a:latin typeface="Segoe UI"/>
              </a:rPr>
              <a:t>An agent holds a legitimate tool with real-world reach the attacker lacks directly</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2: The injection point</a:t>
            </a:r>
          </a:p>
          <a:p>
            <a:pPr algn="l">
              <a:spcBef>
                <a:spcPts val="0"/>
              </a:spcBef>
              <a:spcAft>
                <a:spcPts val="400"/>
              </a:spcAft>
            </a:pPr>
            <a:r>
              <a:rPr sz="1400" b="0">
                <a:solidFill>
                  <a:srgbClr val="F5F7FB"/>
                </a:solidFill>
                <a:latin typeface="Segoe UI"/>
              </a:rPr>
              <a:t>Untrusted input — direct, or via a tool's own fetched output — reaches the agent's context</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3: The misused privilege</a:t>
            </a:r>
          </a:p>
          <a:p>
            <a:pPr algn="l">
              <a:spcBef>
                <a:spcPts val="0"/>
              </a:spcBef>
              <a:spcAft>
                <a:spcPts val="400"/>
              </a:spcAft>
            </a:pPr>
            <a:r>
              <a:rPr sz="1400" b="0">
                <a:solidFill>
                  <a:srgbClr val="F5F7FB"/>
                </a:solidFill>
                <a:latin typeface="Segoe UI"/>
              </a:rPr>
              <a:t>The agent invokes its legitimate tool, but with attacker-influenced parameters or intent</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4: Evidence capture</a:t>
            </a:r>
          </a:p>
          <a:p>
            <a:pPr algn="l">
              <a:spcBef>
                <a:spcPts val="0"/>
              </a:spcBef>
              <a:spcAft>
                <a:spcPts val="400"/>
              </a:spcAft>
            </a:pPr>
            <a:r>
              <a:rPr sz="1400" b="0">
                <a:solidFill>
                  <a:srgbClr val="F5F7FB"/>
                </a:solidFill>
                <a:latin typeface="Segoe UI"/>
              </a:rPr>
              <a:t>Record the injection point, the exact tool call made, and the privilege gap it crossed</a:t>
            </a:r>
          </a:p>
        </p:txBody>
      </p:sp>
      <p:sp>
        <p:nvSpPr>
          <p:cNvPr id="9" name="TextBox 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0" name="TextBox 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3.4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3.4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Insecure output handling and impact chaining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insecure output handling?</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Insecure output handling occurs when an application trusts the model's output and passes it, unsanitised, to a downstream sink — recreating classic injection-style impact through an AI channel.</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GOAL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Show that a crafted model response reaches a sink — rendered HTML, executed code, an API call, or a database query — and produces effect there, not just interesting text.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MAPPING</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OWASP LLM05 Improper Output Handling — the mirror image of Objective 3.1's input-side problem, now expressed on the output side.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SINKS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Common sinks for untrusted model output</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RENDERED HTML OR MARKDOWN</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Model output displayed in a web UI without sanitisation can carry script or markup that executes in the viewer's browser.</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EXECUTED CODE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Output passed to an interpreter, a shell, or a code-execution feature can carry attacker-influenced commands.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 DOWNSTREAM API CALL</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Output used to construct an outbound request can redirect that request's destination or payload.</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 DATABASE QUERY</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Output concatenated into a query rather than parameterised can alter what the query actually does.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Classic injection vs AI-channel injection</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Classic injection (XSS / SQLi / command injection)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Attacker-controlled input reaches a sink directly</a:t>
            </a:r>
          </a:p>
          <a:p>
            <a:pPr algn="l">
              <a:spcBef>
                <a:spcPts val="0"/>
              </a:spcBef>
              <a:spcAft>
                <a:spcPts val="800"/>
              </a:spcAft>
            </a:pPr>
            <a:r>
              <a:rPr sz="1400" b="1">
                <a:solidFill>
                  <a:srgbClr val="FF6A00"/>
                </a:solidFill>
                <a:latin typeface="Segoe UI"/>
              </a:rPr>
              <a:t>•  </a:t>
            </a:r>
            <a:r>
              <a:rPr sz="1400" b="0">
                <a:solidFill>
                  <a:srgbClr val="B8C0CF"/>
                </a:solidFill>
                <a:latin typeface="Segoe UI"/>
              </a:rPr>
              <a:t>Well-understood trust boundary in code</a:t>
            </a:r>
          </a:p>
          <a:p>
            <a:pPr algn="l">
              <a:spcBef>
                <a:spcPts val="0"/>
              </a:spcBef>
              <a:spcAft>
                <a:spcPts val="800"/>
              </a:spcAft>
            </a:pPr>
            <a:r>
              <a:rPr sz="1400" b="1">
                <a:solidFill>
                  <a:srgbClr val="FF6A00"/>
                </a:solidFill>
                <a:latin typeface="Segoe UI"/>
              </a:rPr>
              <a:t>•  </a:t>
            </a:r>
            <a:r>
              <a:rPr sz="1400" b="0">
                <a:solidFill>
                  <a:srgbClr val="B8C0CF"/>
                </a:solidFill>
                <a:latin typeface="Segoe UI"/>
              </a:rPr>
              <a:t>Detected by conventional input/output testing</a:t>
            </a:r>
          </a:p>
          <a:p>
            <a:pPr algn="l">
              <a:spcBef>
                <a:spcPts val="0"/>
              </a:spcBef>
              <a:spcAft>
                <a:spcPts val="800"/>
              </a:spcAft>
            </a:pPr>
            <a:r>
              <a:rPr sz="1400" b="1">
                <a:solidFill>
                  <a:srgbClr val="FF6A00"/>
                </a:solidFill>
                <a:latin typeface="Segoe UI"/>
              </a:rPr>
              <a:t>•  </a:t>
            </a:r>
            <a:r>
              <a:rPr sz="1400" b="0">
                <a:solidFill>
                  <a:srgbClr val="B8C0CF"/>
                </a:solidFill>
                <a:latin typeface="Segoe UI"/>
              </a:rPr>
              <a:t>Decades of established defences</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AI-channel injection</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Attacker-controlled input reaches the sink via the model</a:t>
            </a:r>
          </a:p>
          <a:p>
            <a:pPr algn="l">
              <a:spcBef>
                <a:spcPts val="0"/>
              </a:spcBef>
              <a:spcAft>
                <a:spcPts val="800"/>
              </a:spcAft>
            </a:pPr>
            <a:r>
              <a:rPr sz="1400" b="1">
                <a:solidFill>
                  <a:srgbClr val="FF6A00"/>
                </a:solidFill>
                <a:latin typeface="Segoe UI"/>
              </a:rPr>
              <a:t>•  </a:t>
            </a:r>
            <a:r>
              <a:rPr sz="1400" b="0">
                <a:solidFill>
                  <a:srgbClr val="B8C0CF"/>
                </a:solidFill>
                <a:latin typeface="Segoe UI"/>
              </a:rPr>
              <a:t>The model sits between input and sink, obscuring the path</a:t>
            </a:r>
          </a:p>
          <a:p>
            <a:pPr algn="l">
              <a:spcBef>
                <a:spcPts val="0"/>
              </a:spcBef>
              <a:spcAft>
                <a:spcPts val="800"/>
              </a:spcAft>
            </a:pPr>
            <a:r>
              <a:rPr sz="1400" b="1">
                <a:solidFill>
                  <a:srgbClr val="FF6A00"/>
                </a:solidFill>
                <a:latin typeface="Segoe UI"/>
              </a:rPr>
              <a:t>•  </a:t>
            </a:r>
            <a:r>
              <a:rPr sz="1400" b="0">
                <a:solidFill>
                  <a:srgbClr val="B8C0CF"/>
                </a:solidFill>
                <a:latin typeface="Segoe UI"/>
              </a:rPr>
              <a:t>Non-deterministic — the same input may not always reach the sink</a:t>
            </a:r>
          </a:p>
          <a:p>
            <a:pPr algn="l">
              <a:spcBef>
                <a:spcPts val="0"/>
              </a:spcBef>
              <a:spcAft>
                <a:spcPts val="800"/>
              </a:spcAft>
            </a:pPr>
            <a:r>
              <a:rPr sz="1400" b="1">
                <a:solidFill>
                  <a:srgbClr val="FF6A00"/>
                </a:solidFill>
                <a:latin typeface="Segoe UI"/>
              </a:rPr>
              <a:t>•  </a:t>
            </a:r>
            <a:r>
              <a:rPr sz="1400" b="0">
                <a:solidFill>
                  <a:srgbClr val="B8C0CF"/>
                </a:solidFill>
                <a:latin typeface="Segoe UI"/>
              </a:rPr>
              <a:t>Same sinks, same defences, new delivery mechanism</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sink and the impact are identical to classic web/app injection; what has changed is the delivery mechanism — the model itself is now the untrusted conduit between attacker input and the sink.</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OWASP LLM05 in practice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LLM05 Improper Output Handling is triggered whenever an application fails to apply the same output-encoding, sanitisation, or validation discipline to model output that it would apply to any other untrusted input.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THE CORE ASSUMPTION FAILURE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Developers often trust model output because it 'came from our own model', forgetting that the model's output is itself shaped by untrusted upstream input — user text, retrieved documents, or tool results.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EASY TO MISS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Output handling is usually reviewed for user input; the model is a new, less obvious untrusted source feeding the exact same sinks.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CHAIN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Chaining Objectives 3.1 to 3.4 into demonstrated impact</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Establish the injection point (3.1)</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Confirm a direct-injection or guardrail-bypass technique reliably shifts the model's behaviour.</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Extract supporting configuration (3.2)</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Use extracted tool names or rules to understand what levers are available to pull.</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Reach a tool or privilege (3.3)</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Direct the injected behaviour at a connected tool, exploiting the confused-deputy pattern where present.</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Land in a sink (3.4)</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Confirm the resulting output, action, or tool call reaches a real sink — rendered content, executed code, an API call, a query.</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Document the full chain</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Report the chain end to end: entry point, technique, privilege crossed, and the sink reached — this is the demonstrated impact Module 1 required.</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Sink type to classic analogue and AI-channel recreation</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Sink</a:t>
                      </a:r>
                    </a:p>
                  </a:txBody>
                  <a:tcPr marL="101600" marR="101600" marT="50800" marB="50800" anchor="ctr">
                    <a:solidFill>
                      <a:srgbClr val="3A2410"/>
                    </a:solidFill>
                  </a:tcPr>
                </a:tc>
                <a:tc>
                  <a:txBody>
                    <a:bodyPr wrap="square"/>
                    <a:lstStyle/>
                    <a:p>
                      <a:r>
                        <a:rPr sz="1300" b="1">
                          <a:solidFill>
                            <a:srgbClr val="F5F7FB"/>
                          </a:solidFill>
                          <a:latin typeface="Segoe UI"/>
                        </a:rPr>
                        <a:t>Classic analogue</a:t>
                      </a:r>
                    </a:p>
                  </a:txBody>
                  <a:tcPr marL="101600" marR="101600" marT="50800" marB="50800" anchor="ctr">
                    <a:solidFill>
                      <a:srgbClr val="3A2410"/>
                    </a:solidFill>
                  </a:tcPr>
                </a:tc>
                <a:tc>
                  <a:txBody>
                    <a:bodyPr wrap="square"/>
                    <a:lstStyle/>
                    <a:p>
                      <a:r>
                        <a:rPr sz="1300" b="1">
                          <a:solidFill>
                            <a:srgbClr val="F5F7FB"/>
                          </a:solidFill>
                          <a:latin typeface="Segoe UI"/>
                        </a:rPr>
                        <a:t>AI-channel recreation</a:t>
                      </a:r>
                    </a:p>
                  </a:txBody>
                  <a:tcPr marL="101600" marR="101600" marT="50800" marB="50800" anchor="ctr">
                    <a:solidFill>
                      <a:srgbClr val="3A2410"/>
                    </a:solidFill>
                  </a:tcPr>
                </a:tc>
              </a:tr>
              <a:tr h="471830">
                <a:tc>
                  <a:txBody>
                    <a:bodyPr wrap="square"/>
                    <a:lstStyle/>
                    <a:p>
                      <a:r>
                        <a:rPr sz="1200" b="1">
                          <a:solidFill>
                            <a:srgbClr val="F5F7FB"/>
                          </a:solidFill>
                          <a:latin typeface="Segoe UI"/>
                        </a:rPr>
                        <a:t>Rendered HTML/markdown</a:t>
                      </a:r>
                    </a:p>
                  </a:txBody>
                  <a:tcPr marL="101600" marR="101600" marT="50800" marB="50800" anchor="ctr">
                    <a:solidFill>
                      <a:srgbClr val="121319"/>
                    </a:solidFill>
                  </a:tcPr>
                </a:tc>
                <a:tc>
                  <a:txBody>
                    <a:bodyPr wrap="square"/>
                    <a:lstStyle/>
                    <a:p>
                      <a:r>
                        <a:rPr sz="1200" b="0">
                          <a:solidFill>
                            <a:srgbClr val="B8C0CF"/>
                          </a:solidFill>
                          <a:latin typeface="Segoe UI"/>
                        </a:rPr>
                        <a:t>Cross-site scripting (XSS)</a:t>
                      </a:r>
                    </a:p>
                  </a:txBody>
                  <a:tcPr marL="101600" marR="101600" marT="50800" marB="50800" anchor="ctr">
                    <a:solidFill>
                      <a:srgbClr val="121319"/>
                    </a:solidFill>
                  </a:tcPr>
                </a:tc>
                <a:tc>
                  <a:txBody>
                    <a:bodyPr wrap="square"/>
                    <a:lstStyle/>
                    <a:p>
                      <a:r>
                        <a:rPr sz="1200" b="0">
                          <a:solidFill>
                            <a:srgbClr val="B8C0CF"/>
                          </a:solidFill>
                          <a:latin typeface="Segoe UI"/>
                        </a:rPr>
                        <a:t>Model output containing markup or script rendered unsanitised</a:t>
                      </a:r>
                    </a:p>
                  </a:txBody>
                  <a:tcPr marL="101600" marR="101600" marT="50800" marB="50800" anchor="ctr">
                    <a:solidFill>
                      <a:srgbClr val="121319"/>
                    </a:solidFill>
                  </a:tcPr>
                </a:tc>
              </a:tr>
              <a:tr h="471830">
                <a:tc>
                  <a:txBody>
                    <a:bodyPr wrap="square"/>
                    <a:lstStyle/>
                    <a:p>
                      <a:r>
                        <a:rPr sz="1200" b="1">
                          <a:solidFill>
                            <a:srgbClr val="F5F7FB"/>
                          </a:solidFill>
                          <a:latin typeface="Segoe UI"/>
                        </a:rPr>
                        <a:t>Executed code</a:t>
                      </a:r>
                    </a:p>
                  </a:txBody>
                  <a:tcPr marL="101600" marR="101600" marT="50800" marB="50800" anchor="ctr">
                    <a:solidFill>
                      <a:srgbClr val="141519"/>
                    </a:solidFill>
                  </a:tcPr>
                </a:tc>
                <a:tc>
                  <a:txBody>
                    <a:bodyPr wrap="square"/>
                    <a:lstStyle/>
                    <a:p>
                      <a:r>
                        <a:rPr sz="1200" b="0">
                          <a:solidFill>
                            <a:srgbClr val="B8C0CF"/>
                          </a:solidFill>
                          <a:latin typeface="Segoe UI"/>
                        </a:rPr>
                        <a:t>Command / code injection</a:t>
                      </a:r>
                    </a:p>
                  </a:txBody>
                  <a:tcPr marL="101600" marR="101600" marT="50800" marB="50800" anchor="ctr">
                    <a:solidFill>
                      <a:srgbClr val="141519"/>
                    </a:solidFill>
                  </a:tcPr>
                </a:tc>
                <a:tc>
                  <a:txBody>
                    <a:bodyPr wrap="square"/>
                    <a:lstStyle/>
                    <a:p>
                      <a:r>
                        <a:rPr sz="1200" b="0">
                          <a:solidFill>
                            <a:srgbClr val="B8C0CF"/>
                          </a:solidFill>
                          <a:latin typeface="Segoe UI"/>
                        </a:rPr>
                        <a:t>Model output passed to an interpreter or shell without validation</a:t>
                      </a:r>
                    </a:p>
                  </a:txBody>
                  <a:tcPr marL="101600" marR="101600" marT="50800" marB="50800" anchor="ctr">
                    <a:solidFill>
                      <a:srgbClr val="141519"/>
                    </a:solidFill>
                  </a:tcPr>
                </a:tc>
              </a:tr>
              <a:tr h="471830">
                <a:tc>
                  <a:txBody>
                    <a:bodyPr wrap="square"/>
                    <a:lstStyle/>
                    <a:p>
                      <a:r>
                        <a:rPr sz="1200" b="1">
                          <a:solidFill>
                            <a:srgbClr val="F5F7FB"/>
                          </a:solidFill>
                          <a:latin typeface="Segoe UI"/>
                        </a:rPr>
                        <a:t>Outbound API call</a:t>
                      </a:r>
                    </a:p>
                  </a:txBody>
                  <a:tcPr marL="101600" marR="101600" marT="50800" marB="50800" anchor="ctr">
                    <a:solidFill>
                      <a:srgbClr val="121319"/>
                    </a:solidFill>
                  </a:tcPr>
                </a:tc>
                <a:tc>
                  <a:txBody>
                    <a:bodyPr wrap="square"/>
                    <a:lstStyle/>
                    <a:p>
                      <a:r>
                        <a:rPr sz="1200" b="0">
                          <a:solidFill>
                            <a:srgbClr val="B8C0CF"/>
                          </a:solidFill>
                          <a:latin typeface="Segoe UI"/>
                        </a:rPr>
                        <a:t>SSRF-style request redirection</a:t>
                      </a:r>
                    </a:p>
                  </a:txBody>
                  <a:tcPr marL="101600" marR="101600" marT="50800" marB="50800" anchor="ctr">
                    <a:solidFill>
                      <a:srgbClr val="121319"/>
                    </a:solidFill>
                  </a:tcPr>
                </a:tc>
                <a:tc>
                  <a:txBody>
                    <a:bodyPr wrap="square"/>
                    <a:lstStyle/>
                    <a:p>
                      <a:r>
                        <a:rPr sz="1200" b="0">
                          <a:solidFill>
                            <a:srgbClr val="B8C0CF"/>
                          </a:solidFill>
                          <a:latin typeface="Segoe UI"/>
                        </a:rPr>
                        <a:t>Model output shaping the destination or payload of a downstream call</a:t>
                      </a:r>
                    </a:p>
                  </a:txBody>
                  <a:tcPr marL="101600" marR="101600" marT="50800" marB="50800" anchor="ctr">
                    <a:solidFill>
                      <a:srgbClr val="121319"/>
                    </a:solidFill>
                  </a:tcPr>
                </a:tc>
              </a:tr>
              <a:tr h="471832">
                <a:tc>
                  <a:txBody>
                    <a:bodyPr wrap="square"/>
                    <a:lstStyle/>
                    <a:p>
                      <a:r>
                        <a:rPr sz="1200" b="1">
                          <a:solidFill>
                            <a:srgbClr val="F5F7FB"/>
                          </a:solidFill>
                          <a:latin typeface="Segoe UI"/>
                        </a:rPr>
                        <a:t>Database query</a:t>
                      </a:r>
                    </a:p>
                  </a:txBody>
                  <a:tcPr marL="101600" marR="101600" marT="50800" marB="50800" anchor="ctr">
                    <a:solidFill>
                      <a:srgbClr val="141519"/>
                    </a:solidFill>
                  </a:tcPr>
                </a:tc>
                <a:tc>
                  <a:txBody>
                    <a:bodyPr wrap="square"/>
                    <a:lstStyle/>
                    <a:p>
                      <a:r>
                        <a:rPr sz="1200" b="0">
                          <a:solidFill>
                            <a:srgbClr val="B8C0CF"/>
                          </a:solidFill>
                          <a:latin typeface="Segoe UI"/>
                        </a:rPr>
                        <a:t>SQL injection</a:t>
                      </a:r>
                    </a:p>
                  </a:txBody>
                  <a:tcPr marL="101600" marR="101600" marT="50800" marB="50800" anchor="ctr">
                    <a:solidFill>
                      <a:srgbClr val="141519"/>
                    </a:solidFill>
                  </a:tcPr>
                </a:tc>
                <a:tc>
                  <a:txBody>
                    <a:bodyPr wrap="square"/>
                    <a:lstStyle/>
                    <a:p>
                      <a:r>
                        <a:rPr sz="1200" b="0">
                          <a:solidFill>
                            <a:srgbClr val="B8C0CF"/>
                          </a:solidFill>
                          <a:latin typeface="Segoe UI"/>
                        </a:rPr>
                        <a:t>Model output concatenated into a query instead of parameterised</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All four rows map to OWASP LLM05 Improper Output Handling.</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SYNTHESIS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Impact chaining as the OSAI standard</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Module 1's central principle — a finding matters only once chained to demonstrated impact — is now fully realised: Objectives 3.1 to 3.4 are stages of one chain, not four unrelated tricks.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A STRONG FINDING LOOKS LIKE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 entry point (3.1), any supporting disclosure (3.2), a privileged action or tool reached (3.3), and a real sink affected (3.4) — reported as one narrative.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A WEAK FINDING LOOKS LIKE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 isolated bypass or a leaked fragment with no sink reached — technically true but not yet impact, and not yet a strong OSAI finding.</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3.4 · MODULE RECAP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Objectives 3.1–3.4 to OWASP mapping — the module in one table</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Objective</a:t>
                      </a:r>
                    </a:p>
                  </a:txBody>
                  <a:tcPr marL="101600" marR="101600" marT="50800" marB="50800" anchor="ctr">
                    <a:solidFill>
                      <a:srgbClr val="3A2410"/>
                    </a:solidFill>
                  </a:tcPr>
                </a:tc>
                <a:tc>
                  <a:txBody>
                    <a:bodyPr wrap="square"/>
                    <a:lstStyle/>
                    <a:p>
                      <a:r>
                        <a:rPr sz="1300" b="1">
                          <a:solidFill>
                            <a:srgbClr val="F5F7FB"/>
                          </a:solidFill>
                          <a:latin typeface="Segoe UI"/>
                        </a:rPr>
                        <a:t>Technique family</a:t>
                      </a:r>
                    </a:p>
                  </a:txBody>
                  <a:tcPr marL="101600" marR="101600" marT="50800" marB="50800" anchor="ctr">
                    <a:solidFill>
                      <a:srgbClr val="3A2410"/>
                    </a:solidFill>
                  </a:tcPr>
                </a:tc>
                <a:tc>
                  <a:txBody>
                    <a:bodyPr wrap="square"/>
                    <a:lstStyle/>
                    <a:p>
                      <a:r>
                        <a:rPr sz="1300" b="1">
                          <a:solidFill>
                            <a:srgbClr val="F5F7FB"/>
                          </a:solidFill>
                          <a:latin typeface="Segoe UI"/>
                        </a:rPr>
                        <a:t>OWASP LLM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3.1</a:t>
                      </a:r>
                    </a:p>
                  </a:txBody>
                  <a:tcPr marL="101600" marR="101600" marT="50800" marB="50800" anchor="ctr">
                    <a:solidFill>
                      <a:srgbClr val="121319"/>
                    </a:solidFill>
                  </a:tcPr>
                </a:tc>
                <a:tc>
                  <a:txBody>
                    <a:bodyPr wrap="square"/>
                    <a:lstStyle/>
                    <a:p>
                      <a:r>
                        <a:rPr sz="1200" b="0">
                          <a:solidFill>
                            <a:srgbClr val="B8C0CF"/>
                          </a:solidFill>
                          <a:latin typeface="Segoe UI"/>
                        </a:rPr>
                        <a:t>Direct injection &amp; guardrail bypass</a:t>
                      </a:r>
                    </a:p>
                  </a:txBody>
                  <a:tcPr marL="101600" marR="101600" marT="50800" marB="50800" anchor="ctr">
                    <a:solidFill>
                      <a:srgbClr val="121319"/>
                    </a:solidFill>
                  </a:tcPr>
                </a:tc>
                <a:tc>
                  <a:txBody>
                    <a:bodyPr wrap="square"/>
                    <a:lstStyle/>
                    <a:p>
                      <a:r>
                        <a:rPr sz="1200" b="0">
                          <a:solidFill>
                            <a:srgbClr val="B8C0CF"/>
                          </a:solidFill>
                          <a:latin typeface="Segoe UI"/>
                        </a:rPr>
                        <a:t>LLM01 Prompt Injection</a:t>
                      </a:r>
                    </a:p>
                  </a:txBody>
                  <a:tcPr marL="101600" marR="101600" marT="50800" marB="50800" anchor="ctr">
                    <a:solidFill>
                      <a:srgbClr val="121319"/>
                    </a:solidFill>
                  </a:tcPr>
                </a:tc>
              </a:tr>
              <a:tr h="471830">
                <a:tc>
                  <a:txBody>
                    <a:bodyPr wrap="square"/>
                    <a:lstStyle/>
                    <a:p>
                      <a:r>
                        <a:rPr sz="1200" b="1">
                          <a:solidFill>
                            <a:srgbClr val="F5F7FB"/>
                          </a:solidFill>
                          <a:latin typeface="Segoe UI"/>
                        </a:rPr>
                        <a:t>3.2</a:t>
                      </a:r>
                    </a:p>
                  </a:txBody>
                  <a:tcPr marL="101600" marR="101600" marT="50800" marB="50800" anchor="ctr">
                    <a:solidFill>
                      <a:srgbClr val="141519"/>
                    </a:solidFill>
                  </a:tcPr>
                </a:tc>
                <a:tc>
                  <a:txBody>
                    <a:bodyPr wrap="square"/>
                    <a:lstStyle/>
                    <a:p>
                      <a:r>
                        <a:rPr sz="1200" b="0">
                          <a:solidFill>
                            <a:srgbClr val="B8C0CF"/>
                          </a:solidFill>
                          <a:latin typeface="Segoe UI"/>
                        </a:rPr>
                        <a:t>System-prompt &amp; configuration extraction</a:t>
                      </a:r>
                    </a:p>
                  </a:txBody>
                  <a:tcPr marL="101600" marR="101600" marT="50800" marB="50800" anchor="ctr">
                    <a:solidFill>
                      <a:srgbClr val="141519"/>
                    </a:solidFill>
                  </a:tcPr>
                </a:tc>
                <a:tc>
                  <a:txBody>
                    <a:bodyPr wrap="square"/>
                    <a:lstStyle/>
                    <a:p>
                      <a:r>
                        <a:rPr sz="1200" b="0">
                          <a:solidFill>
                            <a:srgbClr val="B8C0CF"/>
                          </a:solidFill>
                          <a:latin typeface="Segoe UI"/>
                        </a:rPr>
                        <a:t>LLM07 System Prompt Leakage</a:t>
                      </a:r>
                    </a:p>
                  </a:txBody>
                  <a:tcPr marL="101600" marR="101600" marT="50800" marB="50800" anchor="ctr">
                    <a:solidFill>
                      <a:srgbClr val="141519"/>
                    </a:solidFill>
                  </a:tcPr>
                </a:tc>
              </a:tr>
              <a:tr h="471830">
                <a:tc>
                  <a:txBody>
                    <a:bodyPr wrap="square"/>
                    <a:lstStyle/>
                    <a:p>
                      <a:r>
                        <a:rPr sz="1200" b="1">
                          <a:solidFill>
                            <a:srgbClr val="F5F7FB"/>
                          </a:solidFill>
                          <a:latin typeface="Segoe UI"/>
                        </a:rPr>
                        <a:t>3.3</a:t>
                      </a:r>
                    </a:p>
                  </a:txBody>
                  <a:tcPr marL="101600" marR="101600" marT="50800" marB="50800" anchor="ctr">
                    <a:solidFill>
                      <a:srgbClr val="121319"/>
                    </a:solidFill>
                  </a:tcPr>
                </a:tc>
                <a:tc>
                  <a:txBody>
                    <a:bodyPr wrap="square"/>
                    <a:lstStyle/>
                    <a:p>
                      <a:r>
                        <a:rPr sz="1200" b="0">
                          <a:solidFill>
                            <a:srgbClr val="B8C0CF"/>
                          </a:solidFill>
                          <a:latin typeface="Segoe UI"/>
                        </a:rPr>
                        <a:t>Tool &amp; function-calling abuse</a:t>
                      </a:r>
                    </a:p>
                  </a:txBody>
                  <a:tcPr marL="101600" marR="101600" marT="50800" marB="50800" anchor="ctr">
                    <a:solidFill>
                      <a:srgbClr val="121319"/>
                    </a:solidFill>
                  </a:tcPr>
                </a:tc>
                <a:tc>
                  <a:txBody>
                    <a:bodyPr wrap="square"/>
                    <a:lstStyle/>
                    <a:p>
                      <a:r>
                        <a:rPr sz="1200" b="0">
                          <a:solidFill>
                            <a:srgbClr val="B8C0CF"/>
                          </a:solidFill>
                          <a:latin typeface="Segoe UI"/>
                        </a:rPr>
                        <a:t>LLM06 Excessive Agency</a:t>
                      </a:r>
                    </a:p>
                  </a:txBody>
                  <a:tcPr marL="101600" marR="101600" marT="50800" marB="50800" anchor="ctr">
                    <a:solidFill>
                      <a:srgbClr val="121319"/>
                    </a:solidFill>
                  </a:tcPr>
                </a:tc>
              </a:tr>
              <a:tr h="471832">
                <a:tc>
                  <a:txBody>
                    <a:bodyPr wrap="square"/>
                    <a:lstStyle/>
                    <a:p>
                      <a:r>
                        <a:rPr sz="1200" b="1">
                          <a:solidFill>
                            <a:srgbClr val="F5F7FB"/>
                          </a:solidFill>
                          <a:latin typeface="Segoe UI"/>
                        </a:rPr>
                        <a:t>3.4</a:t>
                      </a:r>
                    </a:p>
                  </a:txBody>
                  <a:tcPr marL="101600" marR="101600" marT="50800" marB="50800" anchor="ctr">
                    <a:solidFill>
                      <a:srgbClr val="141519"/>
                    </a:solidFill>
                  </a:tcPr>
                </a:tc>
                <a:tc>
                  <a:txBody>
                    <a:bodyPr wrap="square"/>
                    <a:lstStyle/>
                    <a:p>
                      <a:r>
                        <a:rPr sz="1200" b="0">
                          <a:solidFill>
                            <a:srgbClr val="B8C0CF"/>
                          </a:solidFill>
                          <a:latin typeface="Segoe UI"/>
                        </a:rPr>
                        <a:t>Insecure output handling</a:t>
                      </a:r>
                    </a:p>
                  </a:txBody>
                  <a:tcPr marL="101600" marR="101600" marT="50800" marB="50800" anchor="ctr">
                    <a:solidFill>
                      <a:srgbClr val="141519"/>
                    </a:solidFill>
                  </a:tcPr>
                </a:tc>
                <a:tc>
                  <a:txBody>
                    <a:bodyPr wrap="square"/>
                    <a:lstStyle/>
                    <a:p>
                      <a:r>
                        <a:rPr sz="1200" b="0">
                          <a:solidFill>
                            <a:srgbClr val="B8C0CF"/>
                          </a:solidFill>
                          <a:latin typeface="Segoe UI"/>
                        </a:rPr>
                        <a:t>LLM05 Improper Output Handling</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MITRE ATLAS tags each objective as a distinct stage of the same kill chain: Initial Access through Impact.</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4206240"/>
        </p:xfrm>
        <a:graphic>
          <a:graphicData uri="http://schemas.openxmlformats.org/drawingml/2006/table">
            <a:tbl>
              <a:tblPr>
                <a:tableStyleId>{5C22544A-7EE6-4342-B048-85BDC9FD1C3A}</a:tableStyleId>
              </a:tblPr>
              <a:tblGrid>
                <a:gridCol w="3697224"/>
                <a:gridCol w="3697224"/>
                <a:gridCol w="3697224"/>
              </a:tblGrid>
              <a:tr h="46736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67360">
                <a:tc>
                  <a:txBody>
                    <a:bodyPr wrap="square"/>
                    <a:lstStyle/>
                    <a:p>
                      <a:r>
                        <a:rPr sz="1200" b="1">
                          <a:solidFill>
                            <a:srgbClr val="F5F7FB"/>
                          </a:solidFill>
                          <a:latin typeface="Segoe UI"/>
                        </a:rPr>
                        <a:t>LLM01</a:t>
                      </a:r>
                    </a:p>
                  </a:txBody>
                  <a:tcPr marL="101600" marR="101600" marT="50800" marB="50800" anchor="ctr">
                    <a:solidFill>
                      <a:srgbClr val="121319"/>
                    </a:solidFill>
                  </a:tcPr>
                </a:tc>
                <a:tc>
                  <a:txBody>
                    <a:bodyPr wrap="square"/>
                    <a:lstStyle/>
                    <a:p>
                      <a:r>
                        <a:rPr sz="1200" b="0">
                          <a:solidFill>
                            <a:srgbClr val="B8C0CF"/>
                          </a:solidFill>
                          <a:latin typeface="Segoe UI"/>
                        </a:rPr>
                        <a:t>OWASP LLM Risk 01 — Prompt Injection</a:t>
                      </a:r>
                    </a:p>
                  </a:txBody>
                  <a:tcPr marL="101600" marR="101600" marT="50800" marB="50800" anchor="ctr">
                    <a:solidFill>
                      <a:srgbClr val="121319"/>
                    </a:solidFill>
                  </a:tcPr>
                </a:tc>
                <a:tc>
                  <a:txBody>
                    <a:bodyPr wrap="square"/>
                    <a:lstStyle/>
                    <a:p>
                      <a:r>
                        <a:rPr sz="1200" b="0">
                          <a:solidFill>
                            <a:srgbClr val="B8C0CF"/>
                          </a:solidFill>
                          <a:latin typeface="Segoe UI"/>
                        </a:rPr>
                        <a:t>Untrusted input overrides intended instructions — Objective 3.1</a:t>
                      </a:r>
                    </a:p>
                  </a:txBody>
                  <a:tcPr marL="101600" marR="101600" marT="50800" marB="50800" anchor="ctr">
                    <a:solidFill>
                      <a:srgbClr val="121319"/>
                    </a:solidFill>
                  </a:tcPr>
                </a:tc>
              </a:tr>
              <a:tr h="467360">
                <a:tc>
                  <a:txBody>
                    <a:bodyPr wrap="square"/>
                    <a:lstStyle/>
                    <a:p>
                      <a:r>
                        <a:rPr sz="1200" b="1">
                          <a:solidFill>
                            <a:srgbClr val="F5F7FB"/>
                          </a:solidFill>
                          <a:latin typeface="Segoe UI"/>
                        </a:rPr>
                        <a:t>LLM05</a:t>
                      </a:r>
                    </a:p>
                  </a:txBody>
                  <a:tcPr marL="101600" marR="101600" marT="50800" marB="50800" anchor="ctr">
                    <a:solidFill>
                      <a:srgbClr val="141519"/>
                    </a:solidFill>
                  </a:tcPr>
                </a:tc>
                <a:tc>
                  <a:txBody>
                    <a:bodyPr wrap="square"/>
                    <a:lstStyle/>
                    <a:p>
                      <a:r>
                        <a:rPr sz="1200" b="0">
                          <a:solidFill>
                            <a:srgbClr val="B8C0CF"/>
                          </a:solidFill>
                          <a:latin typeface="Segoe UI"/>
                        </a:rPr>
                        <a:t>OWASP LLM Risk 05 — Improper Output Handling</a:t>
                      </a:r>
                    </a:p>
                  </a:txBody>
                  <a:tcPr marL="101600" marR="101600" marT="50800" marB="50800" anchor="ctr">
                    <a:solidFill>
                      <a:srgbClr val="141519"/>
                    </a:solidFill>
                  </a:tcPr>
                </a:tc>
                <a:tc>
                  <a:txBody>
                    <a:bodyPr wrap="square"/>
                    <a:lstStyle/>
                    <a:p>
                      <a:r>
                        <a:rPr sz="1200" b="0">
                          <a:solidFill>
                            <a:srgbClr val="B8C0CF"/>
                          </a:solidFill>
                          <a:latin typeface="Segoe UI"/>
                        </a:rPr>
                        <a:t>Downstream sinks trust unsanitised model output — Objective 3.4</a:t>
                      </a:r>
                    </a:p>
                  </a:txBody>
                  <a:tcPr marL="101600" marR="101600" marT="50800" marB="50800" anchor="ctr">
                    <a:solidFill>
                      <a:srgbClr val="141519"/>
                    </a:solidFill>
                  </a:tcPr>
                </a:tc>
              </a:tr>
              <a:tr h="467360">
                <a:tc>
                  <a:txBody>
                    <a:bodyPr wrap="square"/>
                    <a:lstStyle/>
                    <a:p>
                      <a:r>
                        <a:rPr sz="1200" b="1">
                          <a:solidFill>
                            <a:srgbClr val="F5F7FB"/>
                          </a:solidFill>
                          <a:latin typeface="Segoe UI"/>
                        </a:rPr>
                        <a:t>LLM06</a:t>
                      </a:r>
                    </a:p>
                  </a:txBody>
                  <a:tcPr marL="101600" marR="101600" marT="50800" marB="50800" anchor="ctr">
                    <a:solidFill>
                      <a:srgbClr val="121319"/>
                    </a:solidFill>
                  </a:tcPr>
                </a:tc>
                <a:tc>
                  <a:txBody>
                    <a:bodyPr wrap="square"/>
                    <a:lstStyle/>
                    <a:p>
                      <a:r>
                        <a:rPr sz="1200" b="0">
                          <a:solidFill>
                            <a:srgbClr val="B8C0CF"/>
                          </a:solidFill>
                          <a:latin typeface="Segoe UI"/>
                        </a:rPr>
                        <a:t>OWASP LLM Risk 06 — Excessive Agency</a:t>
                      </a:r>
                    </a:p>
                  </a:txBody>
                  <a:tcPr marL="101600" marR="101600" marT="50800" marB="50800" anchor="ctr">
                    <a:solidFill>
                      <a:srgbClr val="121319"/>
                    </a:solidFill>
                  </a:tcPr>
                </a:tc>
                <a:tc>
                  <a:txBody>
                    <a:bodyPr wrap="square"/>
                    <a:lstStyle/>
                    <a:p>
                      <a:r>
                        <a:rPr sz="1200" b="0">
                          <a:solidFill>
                            <a:srgbClr val="B8C0CF"/>
                          </a:solidFill>
                          <a:latin typeface="Segoe UI"/>
                        </a:rPr>
                        <a:t>Over-permissioned tools and autonomy — Objective 3.3</a:t>
                      </a:r>
                    </a:p>
                  </a:txBody>
                  <a:tcPr marL="101600" marR="101600" marT="50800" marB="50800" anchor="ctr">
                    <a:solidFill>
                      <a:srgbClr val="121319"/>
                    </a:solidFill>
                  </a:tcPr>
                </a:tc>
              </a:tr>
              <a:tr h="467360">
                <a:tc>
                  <a:txBody>
                    <a:bodyPr wrap="square"/>
                    <a:lstStyle/>
                    <a:p>
                      <a:r>
                        <a:rPr sz="1200" b="1">
                          <a:solidFill>
                            <a:srgbClr val="F5F7FB"/>
                          </a:solidFill>
                          <a:latin typeface="Segoe UI"/>
                        </a:rPr>
                        <a:t>LLM07</a:t>
                      </a:r>
                    </a:p>
                  </a:txBody>
                  <a:tcPr marL="101600" marR="101600" marT="50800" marB="50800" anchor="ctr">
                    <a:solidFill>
                      <a:srgbClr val="141519"/>
                    </a:solidFill>
                  </a:tcPr>
                </a:tc>
                <a:tc>
                  <a:txBody>
                    <a:bodyPr wrap="square"/>
                    <a:lstStyle/>
                    <a:p>
                      <a:r>
                        <a:rPr sz="1200" b="0">
                          <a:solidFill>
                            <a:srgbClr val="B8C0CF"/>
                          </a:solidFill>
                          <a:latin typeface="Segoe UI"/>
                        </a:rPr>
                        <a:t>OWASP LLM Risk 07 — System Prompt Leakage</a:t>
                      </a:r>
                    </a:p>
                  </a:txBody>
                  <a:tcPr marL="101600" marR="101600" marT="50800" marB="50800" anchor="ctr">
                    <a:solidFill>
                      <a:srgbClr val="141519"/>
                    </a:solidFill>
                  </a:tcPr>
                </a:tc>
                <a:tc>
                  <a:txBody>
                    <a:bodyPr wrap="square"/>
                    <a:lstStyle/>
                    <a:p>
                      <a:r>
                        <a:rPr sz="1200" b="0">
                          <a:solidFill>
                            <a:srgbClr val="B8C0CF"/>
                          </a:solidFill>
                          <a:latin typeface="Segoe UI"/>
                        </a:rPr>
                        <a:t>Confidential instructions extracted — Objective 3.2</a:t>
                      </a:r>
                    </a:p>
                  </a:txBody>
                  <a:tcPr marL="101600" marR="101600" marT="50800" marB="50800" anchor="ctr">
                    <a:solidFill>
                      <a:srgbClr val="141519"/>
                    </a:solidFill>
                  </a:tcPr>
                </a:tc>
              </a:tr>
              <a:tr h="467360">
                <a:tc>
                  <a:txBody>
                    <a:bodyPr wrap="square"/>
                    <a:lstStyle/>
                    <a:p>
                      <a:r>
                        <a:rPr sz="1200" b="1">
                          <a:solidFill>
                            <a:srgbClr val="F5F7FB"/>
                          </a:solidFill>
                          <a:latin typeface="Segoe UI"/>
                        </a:rPr>
                        <a:t>XSS</a:t>
                      </a:r>
                    </a:p>
                  </a:txBody>
                  <a:tcPr marL="101600" marR="101600" marT="50800" marB="50800" anchor="ctr">
                    <a:solidFill>
                      <a:srgbClr val="121319"/>
                    </a:solidFill>
                  </a:tcPr>
                </a:tc>
                <a:tc>
                  <a:txBody>
                    <a:bodyPr wrap="square"/>
                    <a:lstStyle/>
                    <a:p>
                      <a:r>
                        <a:rPr sz="1200" b="0">
                          <a:solidFill>
                            <a:srgbClr val="B8C0CF"/>
                          </a:solidFill>
                          <a:latin typeface="Segoe UI"/>
                        </a:rPr>
                        <a:t>Cross-Site Scripting</a:t>
                      </a:r>
                    </a:p>
                  </a:txBody>
                  <a:tcPr marL="101600" marR="101600" marT="50800" marB="50800" anchor="ctr">
                    <a:solidFill>
                      <a:srgbClr val="121319"/>
                    </a:solidFill>
                  </a:tcPr>
                </a:tc>
                <a:tc>
                  <a:txBody>
                    <a:bodyPr wrap="square"/>
                    <a:lstStyle/>
                    <a:p>
                      <a:r>
                        <a:rPr sz="1200" b="0">
                          <a:solidFill>
                            <a:srgbClr val="B8C0CF"/>
                          </a:solidFill>
                          <a:latin typeface="Segoe UI"/>
                        </a:rPr>
                        <a:t>Classic sink impact recreated through unsanitised rendered output</a:t>
                      </a:r>
                    </a:p>
                  </a:txBody>
                  <a:tcPr marL="101600" marR="101600" marT="50800" marB="50800" anchor="ctr">
                    <a:solidFill>
                      <a:srgbClr val="121319"/>
                    </a:solidFill>
                  </a:tcPr>
                </a:tc>
              </a:tr>
              <a:tr h="467360">
                <a:tc>
                  <a:txBody>
                    <a:bodyPr wrap="square"/>
                    <a:lstStyle/>
                    <a:p>
                      <a:r>
                        <a:rPr sz="1200" b="1">
                          <a:solidFill>
                            <a:srgbClr val="F5F7FB"/>
                          </a:solidFill>
                          <a:latin typeface="Segoe UI"/>
                        </a:rPr>
                        <a:t>SSRF</a:t>
                      </a:r>
                    </a:p>
                  </a:txBody>
                  <a:tcPr marL="101600" marR="101600" marT="50800" marB="50800" anchor="ctr">
                    <a:solidFill>
                      <a:srgbClr val="141519"/>
                    </a:solidFill>
                  </a:tcPr>
                </a:tc>
                <a:tc>
                  <a:txBody>
                    <a:bodyPr wrap="square"/>
                    <a:lstStyle/>
                    <a:p>
                      <a:r>
                        <a:rPr sz="1200" b="0">
                          <a:solidFill>
                            <a:srgbClr val="B8C0CF"/>
                          </a:solidFill>
                          <a:latin typeface="Segoe UI"/>
                        </a:rPr>
                        <a:t>Server-Side Request Forgery</a:t>
                      </a:r>
                    </a:p>
                  </a:txBody>
                  <a:tcPr marL="101600" marR="101600" marT="50800" marB="50800" anchor="ctr">
                    <a:solidFill>
                      <a:srgbClr val="141519"/>
                    </a:solidFill>
                  </a:tcPr>
                </a:tc>
                <a:tc>
                  <a:txBody>
                    <a:bodyPr wrap="square"/>
                    <a:lstStyle/>
                    <a:p>
                      <a:r>
                        <a:rPr sz="1200" b="0">
                          <a:solidFill>
                            <a:srgbClr val="B8C0CF"/>
                          </a:solidFill>
                          <a:latin typeface="Segoe UI"/>
                        </a:rPr>
                        <a:t>Classic sink impact pattern echoed by output-driven API calls</a:t>
                      </a:r>
                    </a:p>
                  </a:txBody>
                  <a:tcPr marL="101600" marR="101600" marT="50800" marB="50800" anchor="ctr">
                    <a:solidFill>
                      <a:srgbClr val="141519"/>
                    </a:solidFill>
                  </a:tcPr>
                </a:tc>
              </a:tr>
              <a:tr h="467360">
                <a:tc>
                  <a:txBody>
                    <a:bodyPr wrap="square"/>
                    <a:lstStyle/>
                    <a:p>
                      <a:r>
                        <a:rPr sz="1200" b="1">
                          <a:solidFill>
                            <a:srgbClr val="F5F7FB"/>
                          </a:solidFill>
                          <a:latin typeface="Segoe UI"/>
                        </a:rPr>
                        <a:t>TTP</a:t>
                      </a:r>
                    </a:p>
                  </a:txBody>
                  <a:tcPr marL="101600" marR="101600" marT="50800" marB="50800" anchor="ctr">
                    <a:solidFill>
                      <a:srgbClr val="121319"/>
                    </a:solidFill>
                  </a:tcPr>
                </a:tc>
                <a:tc>
                  <a:txBody>
                    <a:bodyPr wrap="square"/>
                    <a:lstStyle/>
                    <a:p>
                      <a:r>
                        <a:rPr sz="1200" b="0">
                          <a:solidFill>
                            <a:srgbClr val="B8C0CF"/>
                          </a:solidFill>
                          <a:latin typeface="Segoe UI"/>
                        </a:rPr>
                        <a:t>Tactics, Techniques, Procedures</a:t>
                      </a:r>
                    </a:p>
                  </a:txBody>
                  <a:tcPr marL="101600" marR="101600" marT="50800" marB="50800" anchor="ctr">
                    <a:solidFill>
                      <a:srgbClr val="121319"/>
                    </a:solidFill>
                  </a:tcPr>
                </a:tc>
                <a:tc>
                  <a:txBody>
                    <a:bodyPr wrap="square"/>
                    <a:lstStyle/>
                    <a:p>
                      <a:r>
                        <a:rPr sz="1200" b="0">
                          <a:solidFill>
                            <a:srgbClr val="B8C0CF"/>
                          </a:solidFill>
                          <a:latin typeface="Segoe UI"/>
                        </a:rPr>
                        <a:t>How this module's techniques are described in an ATLAS-mapped report</a:t>
                      </a:r>
                    </a:p>
                  </a:txBody>
                  <a:tcPr marL="101600" marR="101600" marT="50800" marB="50800" anchor="ctr">
                    <a:solidFill>
                      <a:srgbClr val="121319"/>
                    </a:solidFill>
                  </a:tcPr>
                </a:tc>
              </a:tr>
              <a:tr h="467360">
                <a:tc>
                  <a:txBody>
                    <a:bodyPr wrap="square"/>
                    <a:lstStyle/>
                    <a:p>
                      <a:r>
                        <a:rPr sz="1200" b="1">
                          <a:solidFill>
                            <a:srgbClr val="F5F7FB"/>
                          </a:solidFill>
                          <a:latin typeface="Segoe UI"/>
                        </a:rPr>
                        <a:t>ATLAS</a:t>
                      </a:r>
                    </a:p>
                  </a:txBody>
                  <a:tcPr marL="101600" marR="101600" marT="50800" marB="50800" anchor="ctr">
                    <a:solidFill>
                      <a:srgbClr val="141519"/>
                    </a:solidFill>
                  </a:tcPr>
                </a:tc>
                <a:tc>
                  <a:txBody>
                    <a:bodyPr wrap="square"/>
                    <a:lstStyle/>
                    <a:p>
                      <a:r>
                        <a:rPr sz="1200" b="0">
                          <a:solidFill>
                            <a:srgbClr val="B8C0CF"/>
                          </a:solidFill>
                          <a:latin typeface="Segoe UI"/>
                        </a:rPr>
                        <a:t>Adversarial Threat Landscape for AI Systems</a:t>
                      </a:r>
                    </a:p>
                  </a:txBody>
                  <a:tcPr marL="101600" marR="101600" marT="50800" marB="50800" anchor="ctr">
                    <a:solidFill>
                      <a:srgbClr val="141519"/>
                    </a:solidFill>
                  </a:tcPr>
                </a:tc>
                <a:tc>
                  <a:txBody>
                    <a:bodyPr wrap="square"/>
                    <a:lstStyle/>
                    <a:p>
                      <a:r>
                        <a:rPr sz="1200" b="0">
                          <a:solidFill>
                            <a:srgbClr val="B8C0CF"/>
                          </a:solidFill>
                          <a:latin typeface="Segoe UI"/>
                        </a:rPr>
                        <a:t>MITRE's framework for tagging this module's kill-chain steps</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RoE and NIST AI RMF from Module 1 remain the governing frame for what may be attempted here.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Module 4</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'GUARDRAIL BYPASS IS JUST CLEVER PHRASING'</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a defensible finding is a reproducible input mapped to a seam Module 2 already logged, evidenced and reported — not a lucky one-off phrase.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'LEAKING THE SYSTEM PROMPT IS THE FINDING'</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extraction is reconnaissance for the rest of the chain — the finding is what you do with what it reveals.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'TOOL ABUSE MEANS THE TOOL ITSELF IS BROKEN'</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the tool usually works exactly as designed — the weakness is trusting an injected instruction to direct it, the confused-deputy pattern.</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'OUTPUT HANDLING IS A DEVELOPER PROBLEM, NOT AN AI-SECURITY ONE'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the sink and the fix are classic appsec — the model is simply a new, easily-overlooked untrusted source feeding the same sink.</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An internal agent has legitimate access to a ticketing system. An attacker plants an instruction inside a web page that the agent's own tool later fetches, causing the agent to open a ticket containing sensitive internal data addressed to an external email the attacker controls. Which pattern does this best illustrate?</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System-prompt leakage through a translation trick</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The confused-deputy pattern, via tool output treated as trusted</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Insecure output handling in a rendered HTML sink</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Passive OSINT reconnaissance</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The agent holds legitimate ticketing privileges the attacker does not; the injected instruction — delivered through the tool's own fetched content — tricks the agent into misusing that privilege, the textbook confused-deputy pattern from Objective 3.3.</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Craft and reproduce direct prompt injection and guardrail-bypass technique against a mapped seam</a:t>
            </a:r>
          </a:p>
          <a:p>
            <a:pPr algn="l">
              <a:spcBef>
                <a:spcPts val="0"/>
              </a:spcBef>
              <a:spcAft>
                <a:spcPts val="1200"/>
              </a:spcAft>
            </a:pPr>
            <a:r>
              <a:rPr sz="1500" b="1">
                <a:solidFill>
                  <a:srgbClr val="FF6A00"/>
                </a:solidFill>
                <a:latin typeface="Segoe UI"/>
              </a:rPr>
              <a:t>✓  </a:t>
            </a:r>
            <a:r>
              <a:rPr sz="1500" b="0">
                <a:solidFill>
                  <a:srgbClr val="F5F7FB"/>
                </a:solidFill>
                <a:latin typeface="Segoe UI"/>
              </a:rPr>
              <a:t>Elicit system-prompt and configuration disclosure through structured extraction technique</a:t>
            </a:r>
          </a:p>
          <a:p>
            <a:pPr algn="l">
              <a:spcBef>
                <a:spcPts val="0"/>
              </a:spcBef>
              <a:spcAft>
                <a:spcPts val="1200"/>
              </a:spcAft>
            </a:pPr>
            <a:r>
              <a:rPr sz="1500" b="1">
                <a:solidFill>
                  <a:srgbClr val="FF6A00"/>
                </a:solidFill>
                <a:latin typeface="Segoe UI"/>
              </a:rPr>
              <a:t>✓  </a:t>
            </a:r>
            <a:r>
              <a:rPr sz="1500" b="0">
                <a:solidFill>
                  <a:srgbClr val="F5F7FB"/>
                </a:solidFill>
                <a:latin typeface="Segoe UI"/>
              </a:rPr>
              <a:t>Demonstrate tool and function-calling abuse, including the confused-deputy pattern</a:t>
            </a:r>
          </a:p>
          <a:p>
            <a:pPr algn="l">
              <a:spcBef>
                <a:spcPts val="0"/>
              </a:spcBef>
              <a:spcAft>
                <a:spcPts val="1200"/>
              </a:spcAft>
            </a:pPr>
            <a:r>
              <a:rPr sz="1500" b="1">
                <a:solidFill>
                  <a:srgbClr val="FF6A00"/>
                </a:solidFill>
                <a:latin typeface="Segoe UI"/>
              </a:rPr>
              <a:t>✓  </a:t>
            </a:r>
            <a:r>
              <a:rPr sz="1500" b="0">
                <a:solidFill>
                  <a:srgbClr val="F5F7FB"/>
                </a:solidFill>
                <a:latin typeface="Segoe UI"/>
              </a:rPr>
              <a:t>Recognise insecure output handling and the sinks it recreates classic injection impact in</a:t>
            </a:r>
          </a:p>
          <a:p>
            <a:pPr algn="l">
              <a:spcBef>
                <a:spcPts val="0"/>
              </a:spcBef>
              <a:spcAft>
                <a:spcPts val="1200"/>
              </a:spcAft>
            </a:pPr>
            <a:r>
              <a:rPr sz="1500" b="1">
                <a:solidFill>
                  <a:srgbClr val="FF6A00"/>
                </a:solidFill>
                <a:latin typeface="Segoe UI"/>
              </a:rPr>
              <a:t>✓  </a:t>
            </a:r>
            <a:r>
              <a:rPr sz="1500" b="0">
                <a:solidFill>
                  <a:srgbClr val="F5F7FB"/>
                </a:solidFill>
                <a:latin typeface="Segoe UI"/>
              </a:rPr>
              <a:t>Treat tool output as untrusted data, never as safe context</a:t>
            </a:r>
          </a:p>
          <a:p>
            <a:pPr algn="l">
              <a:spcBef>
                <a:spcPts val="0"/>
              </a:spcBef>
              <a:spcAft>
                <a:spcPts val="1200"/>
              </a:spcAft>
            </a:pPr>
            <a:r>
              <a:rPr sz="1500" b="1">
                <a:solidFill>
                  <a:srgbClr val="FF6A00"/>
                </a:solidFill>
                <a:latin typeface="Segoe UI"/>
              </a:rPr>
              <a:t>✓  </a:t>
            </a:r>
            <a:r>
              <a:rPr sz="1500" b="0">
                <a:solidFill>
                  <a:srgbClr val="F5F7FB"/>
                </a:solidFill>
                <a:latin typeface="Segoe UI"/>
              </a:rPr>
              <a:t>Chain Objectives 3.1 to 3.4 into one demonstrated-impact narrative, mapped to OWASP LLM01, LLM05, LLM06, and LLM07</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NEXT STEPS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On to Module 4 — Attacking Multi-Agent Systems and A2A Protocols</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 4 extends tool abuse into systems of multiple cooperating agents</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confused-deputy pattern reappears as poisoned messages passed agent to agent</a:t>
            </a:r>
          </a:p>
          <a:p>
            <a:pPr algn="l">
              <a:spcBef>
                <a:spcPts val="0"/>
              </a:spcBef>
              <a:spcAft>
                <a:spcPts val="1200"/>
              </a:spcAft>
            </a:pPr>
            <a:r>
              <a:rPr sz="1500" b="1">
                <a:solidFill>
                  <a:srgbClr val="FF6A00"/>
                </a:solidFill>
                <a:latin typeface="Segoe UI"/>
              </a:rPr>
              <a:t>✓  </a:t>
            </a:r>
            <a:r>
              <a:rPr sz="1500" b="0">
                <a:solidFill>
                  <a:srgbClr val="F5F7FB"/>
                </a:solidFill>
                <a:latin typeface="Segoe UI"/>
              </a:rPr>
              <a:t>Tool-output-as-injection-vector, introduced here, becomes the delivery mechanism for A2A attacks</a:t>
            </a:r>
          </a:p>
          <a:p>
            <a:pPr algn="l">
              <a:spcBef>
                <a:spcPts val="0"/>
              </a:spcBef>
              <a:spcAft>
                <a:spcPts val="1200"/>
              </a:spcAft>
            </a:pPr>
            <a:r>
              <a:rPr sz="1500" b="1">
                <a:solidFill>
                  <a:srgbClr val="FF6A00"/>
                </a:solidFill>
                <a:latin typeface="Segoe UI"/>
              </a:rPr>
              <a:t>✓  </a:t>
            </a:r>
            <a:r>
              <a:rPr sz="1500" b="0">
                <a:solidFill>
                  <a:srgbClr val="F5F7FB"/>
                </a:solidFill>
                <a:latin typeface="Segoe UI"/>
              </a:rPr>
              <a:t>Keep your chained findings close — Module 4 builds on the same chain-to-impact standard</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the flashcards, cheat sheet, PBQ, and quiz for this module before continuing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