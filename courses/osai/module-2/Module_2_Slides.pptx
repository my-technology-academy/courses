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Module 2 of the Offensive Security AI Red Teamer (OSAI) course. Module 1 gave you the map — the six-layer attack surface, the governing frameworks, and the engagement lifecycle. Module 2 puts that map to work: passive OSINT, active behavioural fingerprinting, and enumeration of the AI-specific attack surface. Everything you discover here becomes the input to threat modeling in Module 10 and the exploitation modules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first genuinely hands-on module. Emphasise that good recon is what separates a focused OSAI attempt from random prompt-poking against the clock in the 24-hour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learners: this is Module 2 of 11, the first hands-on phase. Reinforce that recon output is a direct input to Module 10 (threat modeling) and every exploitation module from here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mental model before diving into technique. Most real engagements combine all three: a public chatbot backed by an API, itself wired to an internal agent with tools. Recon has to characterise each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2.1. Before sending the target a single crafted input, we build a profile from what is already public — documentation, code, job postings, and the model's own public footprint.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passive/active boundary early — learners will apply it constantly. Passive recon costs nothing in rate limits or detection risk, so it should always come first and inform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Learners with a web-pentest background already know this split; the AI-specific twist is in what each phase reveals — passive recon here surfaces model provider and framework, not just IP ranges and subdomains.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source narrows the hypothesis space before any active probe is sent. A single job posting naming a vector database, for instance, tells you retrieval is present and roughly how it is likely implemented — informing Objective 2.3 before you even start Objective 2.2.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learners to browse the target like a curious user first: streaming text, citations, or a 'regenerate response' button are strong tells. This costs nothing and is indistinguishable from normal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repeatable OSINT checklist for Objective 2.1. Step 5 is essential: passive recon is only useful once its findings are written down as testable hypotheses, ready to hand to Objective 2.2.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OSINT finding back to a later module: provider hints feed Objective 2.2, framework hints feed Objective 2.3, and organisational context feeds the threat-modeling prioritisation in Module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Caution learners against over-trusting model-card recon: it describes the base model, not the deployed system. A well-guarded application built on a 'leaky' base model may still be hard to break, and vice 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previews Module 9. Learners should leave Objective 2.1 able to say, from OSINT alone, which category the target most likely falls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table as a checklist and a reminder that confidence varies by source — treat OSINT findings as hypotheses to confirm, not facts, until Objective 2.2 tests them against the live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2.2. We move to structured, low-noise probing of the live target — inferring the model family and mapping its guardrails from observed behaviour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spine of Objective 2.2. Encourage learners to log every signal as they collect it — a table, not a guess, is what supports a defensible fingerprint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caveat heavily: asking the model 'what model are you?' is a starting point, never a conclusion. Corroborate self-reported claims with independent behavioural signals before treating the fingerprint as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graded escalation is intentionally gentle — Objective 2.2 is about mapping the boundary, not crossing it. Guardrail bypass proper belongs to Module 3; here the goal is purely observational.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sets up Module 3 directly: inconsistent or input-only enforcement is exactly the kind of seam that guardrail-bypass techniques exploit. Objective 2.2 finds the seam; Module 3 exploits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this to Module 1's scoping objective. In a 24-hour exam, knowing whether you are black-box or grey-box shapes how much time to budget for Objective 2.2 versus moving straight into exploitation.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signal alone is weak evidence; logged together they triangulate a confident fingerprint. This is the same discipline as OS or service fingerprinting in traditional recon — no single banner is proof, but the combination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scope boundary explicit: learners should note leaked fragments during recon but understand that dedicated extraction technique belongs to the next module. This keeps Module 2 focused on discovery, not exploitation.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detection risk as a planning input, not just a curiosity: in a scoped engagement with logging on the client side, favour the lower-risk techniques first and escalate only as the rules of engagement allow.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conceptual probe sequence, not a lab. Reinforce that step 2 is a hint requiring corroboration, and that nothing here attempts to defeat a guardrail — that escalation belongs to Module 3 under explicit authorisation.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2.3. With the model fingerprinted, we now enumerate what surrounds it — retrieval, tools, agents, and infrastructure — from behaviour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spine of Objective 2.3. Present it as the practical, behavioural version of the six-layer map introduced in Module 1 — recon is where that abstract map becomes concrete for a specific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highest-value enumeration technique in the module — confirming RAG immediately tells the learner that Module 5's poisoning and indirect-injection techniques apply to this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safety: enumerating tools means observing whether an action *would* occur, not deliberately triggering harmful side effects. Confirm cautiously and note the tool's apparent purpose rather than exercising it 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Multi-agent recon is subtler than tool recon: the signals are conversational rather than functional. Encourage learners to watch for language that implies coordination, such as an agent describing what 'another step' will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same categories of signal used in Objective 2.2's fingerprinting, applied one layer out — from 'what is the model' to 'what is the model connected to'.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Reconnect this to Objective 2.1's managed-vs-self-hosted distinction: infrastructure recon here is where that earlier hypothesis gets actively confirmed rather than merely inferred from OSINT.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extends Module 1's attack-surface-to-module index with the specific behaviour that confirms each layer is actually present on this target — turning the abstract map into a concrete engagement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order moves from lowest to highest effort and risk. Confirming retrieval and tools first is high value and low noise; infrastructure characterisation often requires more probing and should come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constraints are unique to AI recon compared with traditional network recon: cost and rate limits are real operational limits, not just detection concerns. Tie this back to Module 1's scoping and authorisation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2.4. We close the loop: how reconnaissance fits the engagement lifecycle, what tooling categories support it, and how findings are documented for threat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 is not a single step but this entire five-stage arc — Module 1 named it as one phase, Module 2 has now unpacked it fully. The handoff in step 5 is the deliverable this module produces.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 does not happen in a vacuum — everything on this slide comes directly from the Module 1 scoping objective. A recon plan that ignores agreed constraints risks breaching the rules of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deliverable of the module — make explicit that everything taught in Objectives 2.1 to 2.3 exists to populate this inventory, not as isolated tricks.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at the category level rather than naming specific commercial products — the skill being taught is knowing which category of tool a task calls for, not memorising a brand.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Module 10 briefly so learners see recon is not an end in itself. In the 24-hour exam, time spent here is only worthwhile if it is captured well enough for threat modeling to actually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conceptual documentation shape, not a lab. The essential fields are the same every time: which layer, what signal, how confident, and what evidence supports it — this is what makes recon defensible in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Objective 2.4 by naming the failure modes directly. The last point restates the module's scope boundary one final time before learners move into Module 3's exploitation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Consolidate the module's vocabulary. These acronyms recur through the recon-adjacent parts of later modules, especially Module 8 (supply chain) and Module 9 (infrastructure).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Directly confront the misconceptions learners typically carry from adjacent disciplines. The third myth is the most important scope boundary in the module — reinforce it once more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OSAI is assessed by a 24-hour practical engagement, not percentage-weighted domains. Per the source-of-truth rule we do not invent a weighting; we state plainly that none is published. Reconnaissance is graded on how effectively it focuses the exploitation phases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to check the module's central enumeration skill. Wrong answers are instructive: A requires delegation language not citations, C requires infrastructure-level signals, D requires OSINT evidence, not a single conversational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module against its four objectives. Every confirmed component here becomes an assumption the exploitation modules build on. If learners are unsure how to tell a hypothesis from a confirmed finding, revisit before Module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to Module 3. Reinforce continuity: nothing here was exploitation — it was preparation. Encourage completion of the module's PBQ and flashcards to consolidate the passive/active distinction before exploitation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OSAI (AI-300) · MODULE 2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6424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5F7FB"/>
                </a:solidFill>
                <a:latin typeface="Segoe UI"/>
              </a:rPr>
              <a:t>Reconnaissance for AI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976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B8C0CF"/>
                </a:solidFill>
                <a:latin typeface="Segoe UI"/>
              </a:rPr>
              <a:t>Discovering, fingerprinting, and mapping an AI-enabled system before a single exploit is attempted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By the end of this module, you will be able 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40680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914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6A00"/>
                </a:solidFill>
                <a:latin typeface="Segoe UI"/>
              </a:rPr>
              <a:t>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4251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5F7FB"/>
                </a:solidFill>
                <a:latin typeface="Segoe UI"/>
              </a:rPr>
              <a:t>Conduct passive reconnaissance and OSINT against an AI-enabled target without touching it directly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440680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914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6A00"/>
                </a:solidFill>
                <a:latin typeface="Segoe UI"/>
              </a:rPr>
              <a:t>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4251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5F7FB"/>
                </a:solidFill>
                <a:latin typeface="Segoe UI"/>
              </a:rPr>
              <a:t>Actively fingerprint a model, its family, and its guardrail behaviour through structured probing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98064"/>
            <a:ext cx="5440680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89504"/>
            <a:ext cx="914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6A00"/>
                </a:solidFill>
                <a:latin typeface="Segoe UI"/>
              </a:rPr>
              <a:t>2.3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798064"/>
            <a:ext cx="4251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5F7FB"/>
                </a:solidFill>
                <a:latin typeface="Segoe UI"/>
              </a:rPr>
              <a:t>Enumerate the AI-specific attack surface — retrieval, tools, agents, and infrastructure — from observed behaviour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98064"/>
            <a:ext cx="5440680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889504"/>
            <a:ext cx="914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6A00"/>
                </a:solidFill>
                <a:latin typeface="Segoe UI"/>
              </a:rPr>
              <a:t>2.4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798064"/>
            <a:ext cx="4251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5F7FB"/>
                </a:solidFill>
                <a:latin typeface="Segoe UI"/>
              </a:rPr>
              <a:t>Apply a repeatable recon methodology and document findings so they feed directly into threat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13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B8C0CF"/>
                </a:solidFill>
                <a:latin typeface="Segoe UI"/>
              </a:rPr>
              <a:t>Objective 2.1 starts before you send the target a single crafted input; 2.2 and 2.3 are the active phase; 2.4 turns loose observations into a structured artefact. Together they are the reconnaissance phase of the Module 1 lifecycle.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COURSE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Where this module sits in OSAI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Definitions, attack surface, frameworks, methodology — 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2057400"/>
            <a:ext cx="3514344" cy="3291840"/>
          </a:xfrm>
          <a:prstGeom prst="roundRect">
            <a:avLst/>
          </a:prstGeom>
          <a:solidFill>
            <a:srgbClr val="141519"/>
          </a:solidFill>
          <a:ln w="2540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7304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7032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Reconnaissance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Passive OSINT, active fingerprinting, surface enumeration — current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5968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M3–11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Exploit, model, 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3128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Component attacks, threat modeling, and the capstone 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OSAI exam: a 24-hour proctored, hands-on engagement against a realistic AI-enabled enterprise, plus a professional report. Domain weightings: Information not defined in the official exam outline — the exam is engagement-based, not percentage-weighted.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Three shapes an AI recon target takes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14344" cy="3291840"/>
          </a:xfrm>
          <a:prstGeom prst="roundRect">
            <a:avLst/>
          </a:prstGeom>
          <a:solidFill>
            <a:srgbClr val="141519"/>
          </a:solidFill>
          <a:ln w="2540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Public-facing AI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chatbot, copilot, or assistant exposed through a web or mobile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7304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7032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Model or inference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direct API surface — hosted, self-hosted, or embedded in another product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5968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Enterprise-embedded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3128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An internal agent wired into tools, data stores, and business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Every OSAI target presents as one or more of these shapes. The shape determines which OSINT sources and fingerprinting techniques apply first — a public chatbot rewards OSINT on its front end, an internal agent rewards enumeration of what it can reach.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OBJECTIVE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Passive reconnaissance and OSINT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2.1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What is passive reconnaissance for an AI target?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Passive reconnaissance gathers information about an AI-enabled target without interacting with it — no crafted prompts, no probing traffic, nothing the target or its owner can observe as testing activity.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Build an initial profile — provider, framework, likely components — before spending a single active probe, so active recon is targeted rather than exploratory.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CONSTRAINT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Stay entirely within public sources. Anything that sends a request to the target itself belongs to active recon (Objective 2.2), not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2.1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Passive recon vs active recon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Passive reconnaissance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Uses only public, third-party sources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Generates zero traffic to the target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Unlimited, low-risk, repeatable at any time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Produces hypotheses to be confirmed later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Active reconnaissance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Sends crafted input directly to the target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Generates observable, attributable traffic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Constrained by rate limits, cost, and scope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Confirms or refutes passive hypotheses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Passive recon is free and unlimited but only produces hypotheses; active recon is constrained but produces confirmed fact. The professional sequence is always passive first, active second — never the reverse.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2.1 ·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OSINT sources for an AI-enabled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PUBLIC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API references, developer docs, and help-centre articles often name the underlying model provider, SDK, or framework in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SOURCE CODE AND REPOSITORIES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Public repos, client-side JavaScript, and mobile app binaries can reveal API endpoints, model identifiers, and prompt scaffolding.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JOB POSTINGS AND ENGINEERING BLOGS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Hiring listings and technical blog posts frequently disclose the AI stack — vector database, orchestration framework, hosting provider.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MODEL HUBS AND MODEL 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If a specific model is named anywhere, its public model card describes its capabilities, known limitations, and safety behaviour.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2.1 ·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Identifying AI components from the public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The public-facing surface of an application — its UI, its client-side code, and its network calls — often betrays the presence of AI components even when nothing is explicitly documented.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TO LOOK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Chat widgets, 'ask AI' features, streaming responses, citation footnotes, or a distinctive latency pattern all hint at an LLM behind the feature.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Confirming an AI component exists — and roughly where in the product — tells you where to point active fingerprinting instead of guessing across the whole application.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2.1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A structured OSINT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Identify the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Locate every public entry point: web app, mobile app, public API, documentation site, status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16352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816352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816352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Mine public artefacts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16352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Pull client-side code, published docs, and any public repos or SDKs associated with the product.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12464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12464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712464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712464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Search adjacent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712464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Job postings, engineering blogs, conference talks, and social media from the target's own engineers.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08576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608576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608576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Check model and component hubs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08576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If any model, framework, or vector store is named, review its public model card or documentation.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04688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04688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504688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504688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Consolidate hypotheses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504688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Write down what you believe is true — provider, framework, likely RAG/tools — to be confirmed actively.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2.1 ·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What a good OSINT pass reveals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LIKELY MODEL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Hints at which model family, and therefore which known behaviours and published bypasses, are worth testing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FRAMEWORK AND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Naming an agent or orchestration framework narrows the tool-abuse and agent techniques that are likely to apply.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RETRIEVAL AND DATA HINTS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References to a vector database or knowledge base confirm RAG is worth testing for in Objective 2.3 and exploiting in Module 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ORGANISATIONAL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Company size, industry, and public incidents help prioritise which objective — data exposure, tool abuse — is most valuable to the client.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2.1 ·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Model cards and public model-hub recon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When a specific open or public model is identifiable, its published model card documents intended use, known limitations, evaluated risks, and sometimes safety-testing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IT GIVES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documented baseline of the model's known behaviour and weaknesses — a head start over black-box guessing when the model is later fingerprinted.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IT DOES NOT GIVE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How the target application has configured, fine-tuned, or wrapped that model — the application layer must still be probed independently.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2.1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Managed API model vs self-hosted or open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Managed API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Accessed through a vendor's hosted API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Vendor controls guardrails and version updates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Recon focuses on the application wrapping it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Infrastructure layer largely out of your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Self-hosted / open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Weights deployed on infrastructure you can recon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Guardrails are whatever the deployer implemented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Recon extends to the serving stack itself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Infrastructure layer (Module 9) is squarely in 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A managed API shifts most model-layer risk to the vendor and narrows your recon to the application around it; a self-hosted model reopens the entire infrastructure layer as fair game. Identify which one you face early — it reshapes the whole engagement.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2.1 ·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Passive OSINT sources at a glance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724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What it can reveal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Confidence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Docs / help centre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Model provider, API shape, feature names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Medium–high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Client-side code / apps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Endpoints, model identifiers, prompt scaffolding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Job postings / blogs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Framework, vector store, hosting provider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Model cards / hubs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Base-model capabilities and known limitations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High (for the base model only)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Social media / talks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Architecture hints from the target's own engineers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Low–medium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No passive source should ever require sending a request to the target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OBJECTIVE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Active fingerprinting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2.2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Three signals used to fingerprint a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Response 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Phrasing, formatting habits, and characteristic refusal wording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2057400"/>
            <a:ext cx="3514344" cy="3291840"/>
          </a:xfrm>
          <a:prstGeom prst="roundRect">
            <a:avLst/>
          </a:prstGeom>
          <a:solidFill>
            <a:srgbClr val="141519"/>
          </a:solidFill>
          <a:ln w="2540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7304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7032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Behavioural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Token/context limits, latency patterns, and rate-limit behaviour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5968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Guardrail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3128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What is refused, what is filtered, and where enforcement is inconsistent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No single signal is conclusive; fingerprinting is triangulation across all three. The goal is not certainty but a strong-enough hypothesis to select techniques that are known to work against that class of target.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2.2 ·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Fingerprinting the model family and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Model family fingerprinting infers which underlying model — and roughly which version — is answering, purely from the characteristics of its output and behaviour.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OBSERVABLE TRAITS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Characteristic phrasing, refusal templates, formatting defaults, known quirks, and self-reported identity when directly asked.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Self-reported identity is unreliable — models can be instructed to claim a different identity, or may confidently state an incorrect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2.2 ·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Graded probing: from baseline to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Establish the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Ask ordinary, in-scope questions to observe normal tone, formatting, and capability.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16352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816352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816352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Probe declared 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16352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Ask what the assistant can and cannot help with — most systems will state this directly.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12464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12464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712464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712464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Test soft edge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712464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Ask borderline questions that a cautious system might hedge on, without attempting any bypass.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08576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608576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608576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Locate the refusal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08576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Note the exact point where behaviour shifts from answering to hedging to refusing.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04688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04688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504688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504688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Record and correlate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504688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Compare the boundary and phrasing against known model families to firm up the fingerprint.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2.2 ·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Mapping the guardrail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Guardrail mapping documents what is filtered, at what stage, and how consistently — producing a profile of the target's defensive posture rather than attempting to defeat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INPUT VS OUTPUT ENFORCEMENT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Some guardrails inspect what the user sends; others inspect only what the model is about to return — the two can behave very differently.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Note whether refusals are consistent across rephrasing, or whether the same request sometimes succeeds and sometimes does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2.2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Black-box vs grey-box AI reconnaissance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Black-box recon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No knowledge of the model, prompts, or architecture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Everything inferred purely from behaviour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Mirrors what a real external attacker sees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Slower, but matches most OSAI-style engagements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Grey-box recon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Some documentation, system prompt, or config shared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Behavioural probing confirms and extends known facts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Faster and more precise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Common when the client wants deeper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The technique set is the same either way; grey-box access simply gives you a head start by confirming hypotheses you would otherwise have to infer. Always clarify which mode the rules of engagement specify before starting.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2.2 ·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Fingerprinting signals worth logging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REFUSAL TEMPLATES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The exact wording used to decline a request often correlates strongly with a specific model family or vendor.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TOKEN AND CONTEXT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Where responses truncate, or how much context the system appears to retain, narrows the underlying model configuration.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ERROR MESSAGE FORMATTING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Raw or verbose error messages can leak framework names, stack details, or internal component identifiers.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LATENCY AND STREAMING BEHAVIOUR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Response timing and whether output streams token-by-token can hint at the serving stack and, indirectly, at tool or retrieval calls happening behind the scenes.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2.2 ·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System-prompt leakage as a reconnaissance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Partial or accidental system-prompt leakage — through error messages, verbose responses, or inconsistent formatting — is a recon signal here, not yet an exploitation objective.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RECON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Any fragment of the system prompt reveals declared capabilities, named tools, and internal terminology that sharpens surface enumeration.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SCOPE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Deliberate system-prompt extraction techniques and their full exploitation are covered in Module 3 — Objective 2.2 only records what surfaces incidentally.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2.2 ·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Recon technique to what it reveals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724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Technique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What it reveals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Detection risk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Baseline capability questions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Declared scope and tone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Very low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Graded edge-case probing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Refusal boundary and consistency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Self-identity questions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Unverified model-family hint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Very low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Error-triggering inputs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Framework or stack leakage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Low–medium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Latency/streaming observation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Serving stack and possible tool calls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Very low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None of these techniques attempt to bypass a guardrail — that is Module 3's objective.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2.2 · 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A baseline fingerprinting probe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B8C0CF"/>
                </a:solidFill>
                <a:latin typeface="Segoe UI"/>
              </a:rPr>
              <a:t>A conceptual, low-noise probe order for the active-fingerprinting phase. Escalate only with authorisation and within the rules of engagement.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11091672" cy="3566160"/>
          </a:xfrm>
          <a:prstGeom prst="roundRect">
            <a:avLst/>
          </a:prstGeom>
          <a:solidFill>
            <a:srgbClr val="0A0F16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1. Baseline capability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Ask: "What can you help me with, and what topics are you not able to discuss?"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2. Self-reported identity (treat as a hint, not fact)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Ask: "Which model or system are you built on?"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3. Graded edge case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Pose a mild borderline request and note whether it is answered, hedged, or refused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4. Error-triggering input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Send a malformed or unusual input and record any verbose error or stack detail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5. Log and correlate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Record style, limits, and guardrail boundary together; compare against known families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OBJECTIVE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Enumerating the AI attack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2.3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Three components to enumerate around the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14344" cy="3291840"/>
          </a:xfrm>
          <a:prstGeom prst="roundRect">
            <a:avLst/>
          </a:prstGeom>
          <a:solidFill>
            <a:srgbClr val="141519"/>
          </a:solidFill>
          <a:ln w="2540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Is external or internal content being fetched into the model's context?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7304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7032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Tools &amp;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Can the system take actions — call functions, query systems, invoke other agents?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5968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3128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Where is the model served, and what APIs and versioning are exposed?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Each component confirmed here adds an entry to the attack-surface map from Module 1 and a candidate for the exploitation modules — retrieval to Module 5, tools and agents to Modules 3 and 4, infrastructure to Module 9.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2.3 ·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Detecting retrieval-augmented generation behaviourally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RAG can usually be confirmed without any documentation, simply by asking questions whose correct answer could only come from a private or specialised corpus.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POSITIVE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Citations or source references, answers containing organisation-specific detail, or noticeably different accuracy on niche versus general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CONFIRMING FURTHER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Ask about content that should not exist publicly; a confident, specific answer strongly suggests retrieval over an internal corpus.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2.3 ·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Enumerating the tool and function-calling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Tool enumeration establishes whether the system can act on the world — sending messages, querying databases, or invoking external APIs — beyond simply generating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POSITIVE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Requests that produce a real-world side effect, a response that references an action being taken, or a noticeable pause consistent with an external 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Any confirmed tool converts a text-only weakness into a real-action weakness, and is the entry point for the agent-layer techniques in Modules 3 and 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2.3 ·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Discovering multi-agent and orchestration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Some systems are not a single model but a coordinated set of agents — a planner, specialist sub-agents, and an orchestrator — communicating over an internal protocol.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POSITIVE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Responses that reference delegating a task, distinct 'personas' or capabilities appearing mid-conversation, or latency patterns consistent with multiple hand-offs.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multi-agent system opens the Module 4 attack surface — poisoning messages passed between agents — which does not exist in a single-model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2.3 ·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Behavioural signals that reveal tool or agent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REAL-WORLD SIDE EFFECTS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An email arrives, a record changes, or a ticket appears — the strongest possible confirmation a tool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RESPONSE LATENCY SPIKES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pause inconsistent with pure text generation often corresponds to an external call in progress.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CITATIONS AND STRUCTURED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Footnoted sources, ticket numbers, or record IDs in the response imply a connected backend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DISTINCT ERROR FORMATS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An error that clearly originates from a downstream API or database, rather than the model itself, confirms an integration point.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2.3 ·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API and infrastructure reconnaissance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Where the target exposes any direct API, standard API reconnaissance applies alongside the AI-specific techniques — versioning, rate limits, and response headers all narrow the hosting picture.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TO LOOK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API version identifiers, rate-limit headers, response timing consistent with a specific hosting pattern, and any endpoint that appears to serve the model directly.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Confirming self-hosted infrastructure — versus a fully managed API — determines whether Module 9's infrastructure-layer techniques are in scope for this engagement.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2.3 ·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Attack-surface layer to confirming recon signal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7183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Recon signal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Confirms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Data / retrieval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Citations, org-specific accuracy on niche questions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RAG is present — Module 5 applies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Agents &amp; tools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Side effects, delegation language, latency spikes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Tool/agent surface — Modules 3, 4 apply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Application / prompt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Leaked fragments, inconsistent refusals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Guardrail seams — Module 3 applies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18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Infrastructure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API versioning, exposed serving endpoints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Self-hosted stack — Module 9 applies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Supply-chain (Module 8) signals are typically found in Objective 2.1's OSINT pass, not through live probing.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2.3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Enumeration order: broad before narrow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Confirm the model is reachable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Establish a stable baseline conversation before testing for anything else.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16352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816352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816352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Test for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16352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Ask niche, organisation-specific questions to confirm or rule out RAG.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12464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12464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712464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712464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Test for tools and agency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712464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Request plausible actions and watch for side effects or delegation language.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08576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608576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608576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Probe for multi-agent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08576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Watch for coordination language or capability shifts mid-conversation.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04688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04688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504688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504688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Characterise the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504688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Note any exposed API details and whether the model appears self-hosted.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2.3 ·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Recon safety and stealth considerations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RESPECT RATE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Aggressive probing can trigger throttling or lockouts that end the engagement early — pace requests deliberately.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MIND INFERENCE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Every request to a paid API has a real cost; scope probing volume against the engagement budget agreed at scoping.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AVOID UNNECESSARY SIDE EFFECTS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Stop enumerating a tool once its existence is confirmed — do not exercise it further than proving it is there.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LOG EVERYTHING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Every probe, response, and inferred signal must be reproducible for the report — undocumented recon is wasted recon.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OBJECTIVE 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Recon methodology and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2.4 ·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Reconnaissance within the engagement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Scoping &amp; rules of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Recon begins only once objectives, targets, and constraints are agreed (Module 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16352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816352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816352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Passive reconnaissance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16352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OSINT and public-source review — Objective 2.1, zero traffic to the target.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12464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12464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712464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712464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Active fingerprinting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712464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Structured, low-noise probing of the live model — Objective 2.2.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08576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608576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608576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Surface enumeration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08576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Confirming retrieval, tools, agents, and infrastructure — Objective 2.3.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04688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04688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504688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504688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Handoff to threat modeling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504688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consolidated findings become the input to Module 10's prioritisation.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2.4 ·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What scoping hands to reconnaissance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What a successful compromise looks like shapes which components are worth enumerating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IN / OUT OF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The exact systems, tools, and data stores you may probe — and what must never be touched.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Rate limits, inference-cost ceilings, and permitted testing windows agreed during scoping.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KNOWN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Whether the engagement is black-box or grey-box, and any documentation already shared by the client.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2.4 · ARTEFACT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Building the target inventory and attack-surface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The concrete output of Module 2 is a target inventory: every confirmed component, mapped to the six-layer attack surface from Module 1, each tagged with the evidence that confirmed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One entry per confirmed component — its layer, the signal that confirmed it, and a confidence rating (hypothesis, likely, or confirmed).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This inventory is handed directly into Module 10's threat modeling, which ranks these components by potential impact and effort to attack.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2.4 · 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Categories of recon tooling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MANUAL INTERACTIVE PROBING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Direct conversation with the target through its normal interface — the primary technique for Objectives 2.1 to 2.3.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HTTP INTERCEPTION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proxy between client and target to inspect raw API requests, headers, and timing that the UI does not surface.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SCRIPTED PROBING HARNESSES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Lightweight custom scripts that repeat graded probes consistently and log results for later correlation.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OSINT SEARCH TOOLING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General search, code-search, and job-listing search used to execute the Objective 2.1 workflow at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2.4 ·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From reconnaissance to threat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Module 2 ends where Module 10 begins: the target inventory, confidence ratings, and any organisational context from OSINT become the raw material threat modeling prioritises.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TRAVELS FORWARD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Every confirmed and hypothesised component, tagged by layer, plus the engagement objectives from scoping.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THREAT MODELING ADDS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ranking of attack paths by likely impact and effort — turning an inventory into a prioritised exploitation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2.4 · 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A conceptual recon documentation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B8C0CF"/>
                </a:solidFill>
                <a:latin typeface="Segoe UI"/>
              </a:rPr>
              <a:t>A minimal structure for logging one recon finding — the same shape scales to the full target inventory.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11091672" cy="3566160"/>
          </a:xfrm>
          <a:prstGeom prst="roundRect">
            <a:avLst/>
          </a:prstGeom>
          <a:solidFill>
            <a:srgbClr val="0A0F16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Component: Retrieval (RAG)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Layer:        Data &amp; retrieval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Signal:       Response cited an internal-looking document reference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Confidence:   Likely (single signal, not yet corroborated)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Evidence:     Query + full response transcript, timestamped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Component: Ticketing tool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Layer:        Agent &amp; tool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Signal:       Response referenced a newly created ticket ID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Confidence:   Confirmed (observable side effect)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Evidence:     Query + response + corroborating side-effect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2.4 ·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Common reconnaissance mistakes to avoid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SKIPPING STRAIGHT TO ACTIVE PROBING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Passive OSINT is free; skipping it wastes rate-limited, costed active probes on things public sources would have told you.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TREATING SELF-REPORTED IDENTITY AS 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model's claim about its own identity is a hint, not evidence — always corroborate with independent signals.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UNDER-DOCUMENTING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signal not logged with evidence is unusable in threat modeling and unreproducible in the final report.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CONFUSING RECON WITH EXPLOITATION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Confirming a guardrail seam or a leaked fragment is recon; deliberately defeating it belongs to Module 3, not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ACRONYM 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Key acronyms for this module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673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Acronym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Expansion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Meaning in context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OSINT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Open-Source Intelligence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Public-source recon performed with zero traffic to the target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API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Application Programming Interface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The programmatic surface an AI system exposes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SDK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Software Development Kit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Client libraries that can leak endpoints and model identifiers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WAF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Web Application Firewall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Infrastructure control that may shape observed error behaviour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RAG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Retrieval-Augmented Generation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The retrieval component this module teaches you to detect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TTP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Tactics, Techniques, Procedures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How recon behaviour is described in an ATLAS-mapped report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PII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Personally Identifiable Information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Sensitive data category to protect if recon incidentally surfaces it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CVE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Common Vulnerabilities and Exposures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Public vulnerability identifiers relevant to supply-chain OSINT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RoE and ATLAS from Module 1 remain in active use throughout this module's methodology.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COMMON MISCONCEPTIONS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Myths to unlearn before Module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'RECON JUST MEANS ASKING THE MODEL ABOUT ITSELF'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Reality: self-reported identity is one weak signal among many; real recon triangulates OSINT and behavioural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'PASSIVE RECON IS A WASTE OF TIME'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Reality: it is free, low-risk, and routinely tells you the model provider and framework before a single active probe.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'CONFIRMING A TOOL MEANS EXPLOITING IT'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Reality: enumeration confirms existence and stops there — exploitation of tools belongs to Modules 3 and 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'RECON FINDINGS ARE OPTIONAL DETAIL FOR THE REPORT'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Reality: the target inventory is the direct input to threat modeling — without it, Module 10 has nothing to prioritise.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DOMAIN WEIGHTING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n/a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OSAI weightings: Information not defined in the official exam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Test yourself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005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F7FB"/>
                </a:solidFill>
                <a:latin typeface="Segoe UI"/>
              </a:rPr>
              <a:t>During an engagement, you ask the target's chatbot several niche questions whose correct answers reference internal, organisation-specific details, and the responses include what look like document citations. Which component have you most likely just confirmed?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11091672" cy="512064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5486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71800"/>
            <a:ext cx="102412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multi-agent orchestration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75304"/>
            <a:ext cx="11091672" cy="512064"/>
          </a:xfrm>
          <a:prstGeom prst="roundRect">
            <a:avLst/>
          </a:prstGeom>
          <a:solidFill>
            <a:srgbClr val="1A1208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75304"/>
            <a:ext cx="5486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75304"/>
            <a:ext cx="102412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5F7FB"/>
                </a:solidFill>
                <a:latin typeface="Segoe UI"/>
              </a:rPr>
              <a:t>Retrieval-augmented generation (RAG)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1672" cy="512064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78808"/>
            <a:ext cx="5486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78808"/>
            <a:ext cx="102412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self-hosted inference endpoint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2312"/>
            <a:ext cx="11091672" cy="512064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82312"/>
            <a:ext cx="5486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782312"/>
            <a:ext cx="102412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supply-chain compromise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Answer B.  </a:t>
            </a:r>
            <a:r>
              <a:rPr sz="1300" b="0">
                <a:solidFill>
                  <a:srgbClr val="B8C0CF"/>
                </a:solidFill>
                <a:latin typeface="Segoe UI"/>
              </a:rPr>
              <a:t>Accurate, organisation-specific answers with citation-like references are the classic behavioural signal that the system is retrieving from an internal corpus — confirming RAG, which points forward to Module 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MODULE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What you can now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Run a passive OSINT pass against an AI target without generating any traffic to it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Distinguish passive from active reconnaissance and sequence them correctly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Fingerprint a model family and map its guardrail boundary through graded probing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Enumerate retrieval, tools, agents, and infrastructure from behavioural signals alone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Apply recon safely — respecting rate limits, cost, and unnecessary side effects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Document findings as a target inventory ready to hand into threat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On to Module 3 — Attacking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Module 3 begins exploitation: turning recon findings into demonstrated compromise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You will target the guardrail seams and prompt-injection surfaces you learned to map here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Tools and agency confirmed in Objective 2.3 become direct exploitation targets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Keep your target inventory close — it is the working document for the rest of the engagement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Review the flashcards, cheat sheet, PBQ, and quiz for this module before continuing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