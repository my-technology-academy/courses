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5 of the Offensive Security AI Red Teamer (OSAI) course. Module 2 taught you to detect retrieval-augmented generation behaviourally; Module 5 teaches you to attack it. We trace the full RAG pipeline from ingestion to augmentation, then attack each stage in turn — poisoning the corpus, exploiting the trust placed in retrieved content, and applying RAG-specific technique such as ranking manipulation and citation spoofing. Everything here is conceptual and methodological — no runnable exploit code and no lab references, in line with the MCA no-labs rule.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as the first fully data-centric exploitation module. Everything taught here assumes Module 2's RAG-detection signal has already fired — this module is what a red teamer does next once retrieval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learners: this is Module 5 of 11. Reinforce that RAG exploitation sits between the agent-focused Modules 3–4 and the embeddings-focused Module 6 — the vector database itself is examined more closely there.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mental model before dissecting the pipeline in Objective 5.1. Emphasise that augmentation is the highest-value stage for an attacker — it is the exact point where retrieved text crosses from 'data' to 'context the model acts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5.1. Before attacking anything, we map the full RAG pipeline stage by stage — this is the shared vocabulary and target map for the rest of the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definition before the pipeline detail. The key idea: RAG does not change the model's weights, it changes what the model is shown at inference time — and everything shown to the model is a candidate injection surface.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six-stage model is the spine of the whole module. Have learners memorise the order: everything in Objective 5.2 happens before stage 5, everything in Objective 5.3 happens at stage 6, and Objective 5.4 touches stages 2, 5, and 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practical rather than mathematical — learners do not need chunking algorithms, only the concept that chunk boundaries are a deliberate design choice with security consequences explored later in the module.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Explicitly bridge to Module 6 so learners know embedding-specific attacks (such as embedding-space manipulation) are coming later — this module only needs the concept that embedding is content-blind to trust.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slide in Objective 5.1. Stress the augmentation point explicitly: the moment retrieved text enters the context window, the pipeline is implicitly asking the model to trust it — Objective 5.3 is built entirely on that fact.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often conflate these two grounding techniques. The exam-relevant distinction is where the attack surface lives: RAG's is operational and immediate, fine-tuning's is a supply-chain concern addressed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the module's index. Every remaining objective attacks exactly one row — learners should be able to say which pipeline stage any RAG attack targets before naming the technique.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continuity across the course explicitly. Learners should leave Objective 5.1 able to place RAG precisely on the Module 1 map and recall exactly which Module 2 signal told them it was present.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5.2. We attack the ingestion stage directly: introducing manipulated content into the source corpus so it is later ingested and retrieved as if it were trusted.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definition against the pipeline map from Objective 5.1: poisoning targets the ingestion stage specifically, before a single query is ever asked. This is a data-integrity attack, not yet an attack on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property in Objective 5.2 — make sure learners can explain persistence unprompted. It is also the property that makes corpus poisoning attractive relative to attacking one conversation at a time.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a frequent exam trap: learners confuse 'poisoning' with 'injecting'. Poisoning is about how the payload gets into the system; injection (Objective 5.3) is about what happens once retrieved text reaches the model.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vector shares one property: it is a place where the boundary between 'user-submitted' and 'trusted knowledge' is thin or absent. Ask learners to identify, for any target, exactly which of these vectors the corpus exposes.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lifecycle end to end. Step 5 is the payoff of persistence: the attacker's work is complete at step 3, and the payload lies dormant until organic usage triggers it — a very different tempo from a live, interactive attack.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Module 1 habit of mapping every finding to a named framework category. Be precise that LLM04 is broader than RAG alone — corpus poisoning is the retrieval-specific slice this module teaches.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difficulty roughly tracks how much the corpus already expects untrusted input. Vectors that already carry user-submitted content are the hardest to defend, because poisoned content need not even look anomalous.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back to Objective 5.2's core lesson: poisoning is an integrity attack on data at rest, and its danger comes precisely from how ordinary and delayed it looks compared with an interactive attack a defender might notice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5.3. With poisoned or attacker-influenced content now in the corpus, we examine exactly what happens when it is retrieved: the mechanism of indirect prompt injection.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mechanism slide the whole objective builds on. Make the causal chain explicit: poisoning (5.2) plants the payload; retrieval and augmentation (5.1) deliver it into context; the model's inability to separate data from instruction is what makes it work.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Backlink explicitly to Module 1, Objective 1.3, where this distinction was first introduced abstractly. This objective is that distinction made concrete against the RAG pipeline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payoff of the whole module so far. Make sure learners can articulate, unprompted, why an indirect retrieval-based injection is a strictly higher-impact finding than an equivalent direct injection in a report.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chain slowly — it is the technical heart of the objective. Step 4 is the crux: the vulnerability is not the retrieval mechanism itself, but the model's default assumption that everything in its context deserves equal trust.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Module 1 discipline of citing both OWASP and ATLAS where applicable. This slide gives learners the exact category name to write in a report: LLM01, indirect sub-case, via the RAG retrieval channel.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conceptual anatomy for exam recognition, not runnable payload content — there is no lab component to this course. Use it to help learners recognise the shape of a retrieval-delivered instruction when reviewing a corpus during an engagement.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previews Objective 5.4's citation spoofing and cross-tenant rows — use it as a bridge slide showing that every RAG attack ultimately exploits some assumption about what retrieval can be trusted to return.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signals let a tester distinguish an indirect injection from a coincidental model quirk — the defining test is that the effect tracks the retrieved content, not the tester's own prompt wording.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5.4. We complete the RAG toolkit: manipulating what gets retrieved, exploiting how documents are split, spoofing authority, and the risk of leakage across users sharing one corpus.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overview groups the sharpest, most RAG-specific technique in the module. All three exploit a different implicit assumption in the retrieval process itself, distinct from the general poisoning and injection mechanisms already covered.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directly back to Objective 5.1's retrieval stage description: ranking is a similarity score, not a relevance judgement — this technique is simply that fact turned into a deliberate lever.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subtler technique than direct poisoning — it depends on understanding Objective 5.1's chunking stage well enough to predict how a document will be split, then exploiting that prediction.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dual audience of this technique: it targets both the model's own citation behaviour and the human reader's trust heuristics — a rare technique in this course that manipulates both layers at once.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risk is distinct from the rest of the module: it requires no attacker-crafted payload at all, only a normal query against a badly scoped shared corpus. Stress this as a design flaw finding, not a technique the tester actively executes.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should prompt learners to ask, during scoping, whether the corpus serves one organisation or many — the answer changes which of this objective's technique are even applicable.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Cross-tenant leakage is deliberately mapped to LLM08 rather than LLM01 — it is a vector-database and access-control weakness, not an injection technique, even though it shares this objective with the other three.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workflow ties all four objectives into one repeatable assessment sequence. It is the RAG-specific analogue of Module 2's recon workflow — the practical shape learners should follow during the exam's engagement phase.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 the module's vocabulary. LLM01, LLM04, and LLM08 recur throughout the rest of the exploitation modules whenever a finding touches data, retrieval, or embeddings.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confront the misconceptions learners typically carry from the earlier, more interactive modules. The first two are the most commonly confused pair in the entire course — reinforce them once more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OSAI is assessed by a 24-hour practical engagement, not percentage-weighted domains. Per the source-of-truth rule we do not invent a weighting; we state plainly that none is published. RAG exploitation is graded on whether findings are correctly attributed to the right pipeline stage and framework category.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check whether learners can chain Objectives 5.2 and 5.3 correctly. Wrong answers are instructive: A requires the attacker to type into the chat itself, C requires no poisoning at all, D requires a training-time compromise, which is Module 8's scope.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module against its four objectives. Every technique here assumed RAG was already confirmed by Module 2 — if learners are unsure how that detection signal was produced, revisit Module 2, Objective 2.3 before Module 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6. Reinforce continuity: this module treated embedding as a black box within the pipeline; the next module opens that box. Encourage completion of the module's PBQ and flashcards to consolidate the poisoning/injection distinction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0058400" cy="45720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OSAI (AI-300) · MODULE 5 OF 11</a:t>
            </a:r>
          </a:p>
        </p:txBody>
      </p:sp>
      <p:sp>
        <p:nvSpPr>
          <p:cNvPr id="5" name="TextBox 4"/>
          <p:cNvSpPr txBox="1"/>
          <p:nvPr/>
        </p:nvSpPr>
        <p:spPr>
          <a:xfrm>
            <a:off x="548640" y="2331720"/>
            <a:ext cx="11064240" cy="1828800"/>
          </a:xfrm>
          <a:prstGeom prst="rect">
            <a:avLst/>
          </a:prstGeom>
          <a:noFill/>
        </p:spPr>
        <p:txBody>
          <a:bodyPr wrap="square" anchor="t" lIns="25400" rIns="25400" tIns="25400" bIns="25400">
            <a:spAutoFit/>
          </a:bodyPr>
          <a:lstStyle/>
          <a:p>
            <a:pPr algn="l">
              <a:spcBef>
                <a:spcPts val="0"/>
              </a:spcBef>
              <a:spcAft>
                <a:spcPts val="600"/>
              </a:spcAft>
            </a:pPr>
            <a:r>
              <a:rPr sz="5200" b="1">
                <a:solidFill>
                  <a:srgbClr val="F5F7FB"/>
                </a:solidFill>
                <a:latin typeface="Segoe UI"/>
              </a:rPr>
              <a:t>Exploiting RAG Pipelines</a:t>
            </a:r>
          </a:p>
        </p:txBody>
      </p:sp>
      <p:sp>
        <p:nvSpPr>
          <p:cNvPr id="6" name="TextBox 5"/>
          <p:cNvSpPr txBox="1"/>
          <p:nvPr/>
        </p:nvSpPr>
        <p:spPr>
          <a:xfrm>
            <a:off x="566928" y="4297680"/>
            <a:ext cx="10515600" cy="914400"/>
          </a:xfrm>
          <a:prstGeom prst="rect">
            <a:avLst/>
          </a:prstGeom>
          <a:noFill/>
        </p:spPr>
        <p:txBody>
          <a:bodyPr wrap="square" anchor="t" lIns="25400" rIns="25400" tIns="25400" bIns="25400">
            <a:spAutoFit/>
          </a:bodyPr>
          <a:lstStyle/>
          <a:p>
            <a:pPr algn="l">
              <a:spcBef>
                <a:spcPts val="0"/>
              </a:spcBef>
              <a:spcAft>
                <a:spcPts val="600"/>
              </a:spcAft>
            </a:pPr>
            <a:r>
              <a:rPr sz="2000" b="0">
                <a:solidFill>
                  <a:srgbClr val="B8C0CF"/>
                </a:solidFill>
                <a:latin typeface="Segoe UI"/>
              </a:rPr>
              <a:t>Attacking the retrieval layer — corpus poisoning, indirect prompt injection, and the RAG-specific techniques that turn a knowledge base into an attack surface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LEARNING OBJECTIVES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By the end of this module, you will be able to</a:t>
            </a:r>
          </a:p>
        </p:txBody>
      </p:sp>
      <p:sp>
        <p:nvSpPr>
          <p:cNvPr id="6" name="Rounded Rectangle 5"/>
          <p:cNvSpPr/>
          <p:nvPr/>
        </p:nvSpPr>
        <p:spPr>
          <a:xfrm>
            <a:off x="548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5.1</a:t>
            </a:r>
          </a:p>
        </p:txBody>
      </p:sp>
      <p:sp>
        <p:nvSpPr>
          <p:cNvPr id="8" name="TextBox 7"/>
          <p:cNvSpPr txBox="1"/>
          <p:nvPr/>
        </p:nvSpPr>
        <p:spPr>
          <a:xfrm>
            <a:off x="1600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RAG architecture and data flow — ingestion, chunking, embedding, storage, retrieval, and augmentation</a:t>
            </a:r>
          </a:p>
        </p:txBody>
      </p:sp>
      <p:sp>
        <p:nvSpPr>
          <p:cNvPr id="9" name="Rounded Rectangle 8"/>
          <p:cNvSpPr/>
          <p:nvPr/>
        </p:nvSpPr>
        <p:spPr>
          <a:xfrm>
            <a:off x="6263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5.2</a:t>
            </a:r>
          </a:p>
        </p:txBody>
      </p:sp>
      <p:sp>
        <p:nvSpPr>
          <p:cNvPr id="11" name="TextBox 10"/>
          <p:cNvSpPr txBox="1"/>
          <p:nvPr/>
        </p:nvSpPr>
        <p:spPr>
          <a:xfrm>
            <a:off x="7315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Describe RAG-corpus poisoning: how manipulated content enters a corpus and persists across future queries</a:t>
            </a:r>
          </a:p>
        </p:txBody>
      </p:sp>
      <p:sp>
        <p:nvSpPr>
          <p:cNvPr id="12" name="Rounded Rectangle 11"/>
          <p:cNvSpPr/>
          <p:nvPr/>
        </p:nvSpPr>
        <p:spPr>
          <a:xfrm>
            <a:off x="548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5.3</a:t>
            </a:r>
          </a:p>
        </p:txBody>
      </p:sp>
      <p:sp>
        <p:nvSpPr>
          <p:cNvPr id="14" name="TextBox 13"/>
          <p:cNvSpPr txBox="1"/>
          <p:nvPr/>
        </p:nvSpPr>
        <p:spPr>
          <a:xfrm>
            <a:off x="1600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indirect prompt injection via retrieval and why it is more dangerous than direct injection</a:t>
            </a:r>
          </a:p>
        </p:txBody>
      </p:sp>
      <p:sp>
        <p:nvSpPr>
          <p:cNvPr id="15" name="Rounded Rectangle 14"/>
          <p:cNvSpPr/>
          <p:nvPr/>
        </p:nvSpPr>
        <p:spPr>
          <a:xfrm>
            <a:off x="6263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5.4</a:t>
            </a:r>
          </a:p>
        </p:txBody>
      </p:sp>
      <p:sp>
        <p:nvSpPr>
          <p:cNvPr id="17" name="TextBox 16"/>
          <p:cNvSpPr txBox="1"/>
          <p:nvPr/>
        </p:nvSpPr>
        <p:spPr>
          <a:xfrm>
            <a:off x="7315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Apply RAG-specific technique and considerations — ranking manipulation, chunk tricks, citation spoofing, and cross-tenant leakage</a:t>
            </a:r>
          </a:p>
        </p:txBody>
      </p:sp>
      <p:sp>
        <p:nvSpPr>
          <p:cNvPr id="18" name="TextBox 17"/>
          <p:cNvSpPr txBox="1"/>
          <p:nvPr/>
        </p:nvSpPr>
        <p:spPr>
          <a:xfrm>
            <a:off x="548640" y="3813048"/>
            <a:ext cx="11064240" cy="914400"/>
          </a:xfrm>
          <a:prstGeom prst="rect">
            <a:avLst/>
          </a:prstGeom>
          <a:noFill/>
        </p:spPr>
        <p:txBody>
          <a:bodyPr wrap="square" anchor="t" lIns="25400" rIns="25400" tIns="25400" bIns="25400">
            <a:spAutoFit/>
          </a:bodyPr>
          <a:lstStyle/>
          <a:p>
            <a:pPr algn="l">
              <a:spcBef>
                <a:spcPts val="0"/>
              </a:spcBef>
              <a:spcAft>
                <a:spcPts val="600"/>
              </a:spcAft>
            </a:pPr>
            <a:r>
              <a:rPr sz="1400" b="0">
                <a:solidFill>
                  <a:srgbClr val="B8C0CF"/>
                </a:solidFill>
                <a:latin typeface="Segoe UI"/>
              </a:rPr>
              <a:t>Objective 5.1 gives you the pipeline every later objective attacks one stage of; 5.2 attacks the corpus before retrieval happens; 5.3 attacks the trust boundary at retrieval time; 5.4 rounds out the RAG-specific technique set and its multi-tenant risks.</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CONTEXT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this module sits in OSAI</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M1–4</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Foundations &amp; agents</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Definitions, recon, agent attacks, multi-agent/A2A — complete</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M5</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Exploiting RAG pipelines</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Corpus poisoning and indirect injection via retrieval — current</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M6–11</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Embeddings onward</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Embeddings, MCP/tools, supply chain, infrastructure, threat modeling, capstone</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OSAI exam: a 24-hour proctored, hands-on engagement against a realistic AI-enabled enterprise, plus a professional report. Domain weightings: Information not defined in the official exam outline — the exam is engagement-based, not percentage-weighted.</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ORIENTATION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RAG pipeline at a glance</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INGEST</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Ingestion &amp; indexing</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Documents are chunked, embedded, and stored in a vector database — all completed before any query arrives</a:t>
            </a:r>
          </a:p>
        </p:txBody>
      </p:sp>
      <p:sp>
        <p:nvSpPr>
          <p:cNvPr id="10" name="Rounded Rectangle 9"/>
          <p:cNvSpPr/>
          <p:nvPr/>
        </p:nvSpPr>
        <p:spPr>
          <a:xfrm>
            <a:off x="4337304"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RETRIEVE</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Query-time retrieval</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A live query triggers similarity search against the vector store to find the most relevant chunks</a:t>
            </a:r>
          </a:p>
        </p:txBody>
      </p:sp>
      <p:sp>
        <p:nvSpPr>
          <p:cNvPr id="14" name="Rounded Rectangle 13"/>
          <p:cNvSpPr/>
          <p:nvPr/>
        </p:nvSpPr>
        <p:spPr>
          <a:xfrm>
            <a:off x="8125968"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AUGMENT</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Context augmentation</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Retrieved chunks are prepended into the model's context window and treated as trusted input</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Every technique in this module maps to one of these three stages: Objective 5.2 attacks ingestion, Objective 5.3 attacks the trust placed in augmentation, and Objective 5.4 spans all three. Keep this three-stage model in mind throughout.</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5.1</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5.1</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RAG architecture and data flow</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5.1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retrieval-augmented generation?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Retrieval-augmented generation (RAG) is an architecture pattern that gives a language model access to external or private knowledge at query time, by retrieving relevant content and inserting it into the model's context rather than retraining the model itself.</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EXISTS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It lets an organisation ground answers in current, private, or domain-specific data without the cost and latency of fine-tuning a model on that data.</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IT CHANGES FOR ATTACKERS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It introduces an entire external data pipeline — ingestion, storage, and retrieval — as new attack surface that a model without RAG simply does not have.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5.1 · PIPELINE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six-stage RAG pipeline</a:t>
            </a:r>
          </a:p>
        </p:txBody>
      </p:sp>
      <p:sp>
        <p:nvSpPr>
          <p:cNvPr id="6" name="Rounded Rectangle 5"/>
          <p:cNvSpPr/>
          <p:nvPr/>
        </p:nvSpPr>
        <p:spPr>
          <a:xfrm>
            <a:off x="548640" y="1920240"/>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Ingestion</a:t>
            </a:r>
          </a:p>
        </p:txBody>
      </p:sp>
      <p:sp>
        <p:nvSpPr>
          <p:cNvPr id="10" name="TextBox 9"/>
          <p:cNvSpPr txBox="1"/>
          <p:nvPr/>
        </p:nvSpPr>
        <p:spPr>
          <a:xfrm>
            <a:off x="4709160" y="1920240"/>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Source documents — files, wiki pages, tickets, web content — are brought into the pipeline for processing.</a:t>
            </a:r>
          </a:p>
        </p:txBody>
      </p:sp>
      <p:sp>
        <p:nvSpPr>
          <p:cNvPr id="11" name="Rounded Rectangle 10"/>
          <p:cNvSpPr/>
          <p:nvPr/>
        </p:nvSpPr>
        <p:spPr>
          <a:xfrm>
            <a:off x="548640" y="2721864"/>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721864"/>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721864"/>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721864"/>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Chunking</a:t>
            </a:r>
          </a:p>
        </p:txBody>
      </p:sp>
      <p:sp>
        <p:nvSpPr>
          <p:cNvPr id="15" name="TextBox 14"/>
          <p:cNvSpPr txBox="1"/>
          <p:nvPr/>
        </p:nvSpPr>
        <p:spPr>
          <a:xfrm>
            <a:off x="4709160" y="2721864"/>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Documents are split into smaller retrievable units, since a whole document is usually too large to embed or return usefully.</a:t>
            </a:r>
          </a:p>
        </p:txBody>
      </p:sp>
      <p:sp>
        <p:nvSpPr>
          <p:cNvPr id="16" name="Rounded Rectangle 15"/>
          <p:cNvSpPr/>
          <p:nvPr/>
        </p:nvSpPr>
        <p:spPr>
          <a:xfrm>
            <a:off x="548640" y="3523488"/>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523488"/>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523488"/>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523488"/>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Embedding</a:t>
            </a:r>
          </a:p>
        </p:txBody>
      </p:sp>
      <p:sp>
        <p:nvSpPr>
          <p:cNvPr id="20" name="TextBox 19"/>
          <p:cNvSpPr txBox="1"/>
          <p:nvPr/>
        </p:nvSpPr>
        <p:spPr>
          <a:xfrm>
            <a:off x="4709160" y="3523488"/>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Each chunk is converted into a numeric vector that captures its meaning — the technique explored in depth in Module 6.</a:t>
            </a:r>
          </a:p>
        </p:txBody>
      </p:sp>
      <p:sp>
        <p:nvSpPr>
          <p:cNvPr id="21" name="Rounded Rectangle 20"/>
          <p:cNvSpPr/>
          <p:nvPr/>
        </p:nvSpPr>
        <p:spPr>
          <a:xfrm>
            <a:off x="548640" y="4325112"/>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325112"/>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325112"/>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325112"/>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Storage</a:t>
            </a:r>
          </a:p>
        </p:txBody>
      </p:sp>
      <p:sp>
        <p:nvSpPr>
          <p:cNvPr id="25" name="TextBox 24"/>
          <p:cNvSpPr txBox="1"/>
          <p:nvPr/>
        </p:nvSpPr>
        <p:spPr>
          <a:xfrm>
            <a:off x="4709160" y="4325112"/>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Chunk vectors, and usually the original text, are stored in a vector database optimised for similarity search.</a:t>
            </a:r>
          </a:p>
        </p:txBody>
      </p:sp>
      <p:sp>
        <p:nvSpPr>
          <p:cNvPr id="26" name="Rounded Rectangle 25"/>
          <p:cNvSpPr/>
          <p:nvPr/>
        </p:nvSpPr>
        <p:spPr>
          <a:xfrm>
            <a:off x="548640" y="5126736"/>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126736"/>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126736"/>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126736"/>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Retrieval</a:t>
            </a:r>
          </a:p>
        </p:txBody>
      </p:sp>
      <p:sp>
        <p:nvSpPr>
          <p:cNvPr id="30" name="TextBox 29"/>
          <p:cNvSpPr txBox="1"/>
          <p:nvPr/>
        </p:nvSpPr>
        <p:spPr>
          <a:xfrm>
            <a:off x="4709160" y="5126736"/>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At query time, the user's query is embedded and compared against stored vectors to find the most similar chunks.</a:t>
            </a:r>
          </a:p>
        </p:txBody>
      </p:sp>
      <p:sp>
        <p:nvSpPr>
          <p:cNvPr id="31" name="Rounded Rectangle 30"/>
          <p:cNvSpPr/>
          <p:nvPr/>
        </p:nvSpPr>
        <p:spPr>
          <a:xfrm>
            <a:off x="548640" y="5928360"/>
            <a:ext cx="685800" cy="74676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928360"/>
            <a:ext cx="685800" cy="746760"/>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6</a:t>
            </a:r>
          </a:p>
        </p:txBody>
      </p:sp>
      <p:sp>
        <p:nvSpPr>
          <p:cNvPr id="33" name="Rounded Rectangle 32"/>
          <p:cNvSpPr/>
          <p:nvPr/>
        </p:nvSpPr>
        <p:spPr>
          <a:xfrm>
            <a:off x="1371600" y="5928360"/>
            <a:ext cx="10268712" cy="74676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00200" y="5928360"/>
            <a:ext cx="3108960" cy="746760"/>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Augmentation</a:t>
            </a:r>
          </a:p>
        </p:txBody>
      </p:sp>
      <p:sp>
        <p:nvSpPr>
          <p:cNvPr id="35" name="TextBox 34"/>
          <p:cNvSpPr txBox="1"/>
          <p:nvPr/>
        </p:nvSpPr>
        <p:spPr>
          <a:xfrm>
            <a:off x="4709160" y="5928360"/>
            <a:ext cx="6766560" cy="746760"/>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retrieved chunks are inserted — augmented — into the model's prompt context alongside the user's question.</a:t>
            </a:r>
          </a:p>
        </p:txBody>
      </p:sp>
      <p:sp>
        <p:nvSpPr>
          <p:cNvPr id="36" name="TextBox 3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7" name="TextBox 3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5.1 · STAGE DETAIL</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Chunking: splitting documents into retrievable units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Chunking divides source documents into smaller passages — by fixed size, by sentence or paragraph boundary, or by semantic similarity — so that retrieval can return focused, relevant passages instead of entire documents.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CHUNK SIZE MATTERS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Chunks that are too large dilute relevance and waste context space; chunks that are too small lose surrounding meaning and can be retrieved out of context.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ATTACKER RELEVANCE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How a corpus is chunked determines exactly what text will be retrieved together — and is itself a lever, covered in Objective 5.4's chunk-boundary technique.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5.1 · STAGE DETAIL</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Embedding and vector storage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Embedding converts each text chunk into a high-dimensional vector such that semantically similar text produces nearby vectors; these vectors, together with the source text, are stored in a vector database for fast similarity search.</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PREVIEW</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6 examines embeddings themselves as an attack surface — this module treats embedding purely as a pipeline stage a poisoned chunk must pass through.</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MATTERS HERE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poisoned chunk is embedded and stored exactly like legitimate content — the pipeline has no inherent way to distinguish trustworthy from untrustworthy text at this stage.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5.1 · STAGE DETAIL</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Retrieval and augmentation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Retrieval performs a similarity search between the embedded query and the stored chunk vectors, returning the top-ranked matches; augmentation then inserts that retrieved text directly into the model's context window alongside the user's prompt.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RETRIEVAL</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Ranking is driven by vector similarity — content crafted to resemble likely queries is more likely to be retrieved, which Objective 5.4 exploits directly.</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AUGMENTATION</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Once inserted, retrieved text sits in the same context the model uses to reason and respond — it is not visually or structurally separated from trusted instructions in most implementations.</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RAG vs fine-tuning as a knowledge-grounding approach</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Retrieval-augmented generation</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Knowledge lives outside the model, in a corpus and vector store</a:t>
            </a:r>
          </a:p>
          <a:p>
            <a:pPr algn="l">
              <a:spcBef>
                <a:spcPts val="0"/>
              </a:spcBef>
              <a:spcAft>
                <a:spcPts val="800"/>
              </a:spcAft>
            </a:pPr>
            <a:r>
              <a:rPr sz="1400" b="1">
                <a:solidFill>
                  <a:srgbClr val="FF6A00"/>
                </a:solidFill>
                <a:latin typeface="Segoe UI"/>
              </a:rPr>
              <a:t>•  </a:t>
            </a:r>
            <a:r>
              <a:rPr sz="1400" b="0">
                <a:solidFill>
                  <a:srgbClr val="B8C0CF"/>
                </a:solidFill>
                <a:latin typeface="Segoe UI"/>
              </a:rPr>
              <a:t>Content can be updated instantly by changing the corpus</a:t>
            </a:r>
          </a:p>
          <a:p>
            <a:pPr algn="l">
              <a:spcBef>
                <a:spcPts val="0"/>
              </a:spcBef>
              <a:spcAft>
                <a:spcPts val="800"/>
              </a:spcAft>
            </a:pPr>
            <a:r>
              <a:rPr sz="1400" b="1">
                <a:solidFill>
                  <a:srgbClr val="FF6A00"/>
                </a:solidFill>
                <a:latin typeface="Segoe UI"/>
              </a:rPr>
              <a:t>•  </a:t>
            </a:r>
            <a:r>
              <a:rPr sz="1400" b="0">
                <a:solidFill>
                  <a:srgbClr val="B8C0CF"/>
                </a:solidFill>
                <a:latin typeface="Segoe UI"/>
              </a:rPr>
              <a:t>Attack surface: the pipeline — ingestion, storage, retrieval</a:t>
            </a:r>
          </a:p>
          <a:p>
            <a:pPr algn="l">
              <a:spcBef>
                <a:spcPts val="0"/>
              </a:spcBef>
              <a:spcAft>
                <a:spcPts val="800"/>
              </a:spcAft>
            </a:pPr>
            <a:r>
              <a:rPr sz="1400" b="1">
                <a:solidFill>
                  <a:srgbClr val="FF6A00"/>
                </a:solidFill>
                <a:latin typeface="Segoe UI"/>
              </a:rPr>
              <a:t>•  </a:t>
            </a:r>
            <a:r>
              <a:rPr sz="1400" b="0">
                <a:solidFill>
                  <a:srgbClr val="B8C0CF"/>
                </a:solidFill>
                <a:latin typeface="Segoe UI"/>
              </a:rPr>
              <a:t>A single poisoned document can affect future queries immediately</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Fine-tuning</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Knowledge is baked into the model's weights during training</a:t>
            </a:r>
          </a:p>
          <a:p>
            <a:pPr algn="l">
              <a:spcBef>
                <a:spcPts val="0"/>
              </a:spcBef>
              <a:spcAft>
                <a:spcPts val="800"/>
              </a:spcAft>
            </a:pPr>
            <a:r>
              <a:rPr sz="1400" b="1">
                <a:solidFill>
                  <a:srgbClr val="FF6A00"/>
                </a:solidFill>
                <a:latin typeface="Segoe UI"/>
              </a:rPr>
              <a:t>•  </a:t>
            </a:r>
            <a:r>
              <a:rPr sz="1400" b="0">
                <a:solidFill>
                  <a:srgbClr val="B8C0CF"/>
                </a:solidFill>
                <a:latin typeface="Segoe UI"/>
              </a:rPr>
              <a:t>Updating knowledge requires a new training or tuning run</a:t>
            </a:r>
          </a:p>
          <a:p>
            <a:pPr algn="l">
              <a:spcBef>
                <a:spcPts val="0"/>
              </a:spcBef>
              <a:spcAft>
                <a:spcPts val="800"/>
              </a:spcAft>
            </a:pPr>
            <a:r>
              <a:rPr sz="1400" b="1">
                <a:solidFill>
                  <a:srgbClr val="FF6A00"/>
                </a:solidFill>
                <a:latin typeface="Segoe UI"/>
              </a:rPr>
              <a:t>•  </a:t>
            </a:r>
            <a:r>
              <a:rPr sz="1400" b="0">
                <a:solidFill>
                  <a:srgbClr val="B8C0CF"/>
                </a:solidFill>
                <a:latin typeface="Segoe UI"/>
              </a:rPr>
              <a:t>Attack surface: the training data and process (Module 8, supply chain)</a:t>
            </a:r>
          </a:p>
          <a:p>
            <a:pPr algn="l">
              <a:spcBef>
                <a:spcPts val="0"/>
              </a:spcBef>
              <a:spcAft>
                <a:spcPts val="800"/>
              </a:spcAft>
            </a:pPr>
            <a:r>
              <a:rPr sz="1400" b="1">
                <a:solidFill>
                  <a:srgbClr val="FF6A00"/>
                </a:solidFill>
                <a:latin typeface="Segoe UI"/>
              </a:rPr>
              <a:t>•  </a:t>
            </a:r>
            <a:r>
              <a:rPr sz="1400" b="0">
                <a:solidFill>
                  <a:srgbClr val="B8C0CF"/>
                </a:solidFill>
                <a:latin typeface="Segoe UI"/>
              </a:rPr>
              <a:t>A poisoned training example must survive training to have effect</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Both approaches ground a model in extra knowledge, but they create entirely different attack surfaces: RAG exposes a live, editable pipeline; fine-tuning exposes a training-time supply chain. OSAI treats these as separate exploitation modules — this one and Module 8.</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5.1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Pipeline stage to the technique that attacks it</a:t>
            </a:r>
          </a:p>
        </p:txBody>
      </p:sp>
      <p:graphicFrame>
        <p:nvGraphicFramePr>
          <p:cNvPr id="6" name="Table 5"/>
          <p:cNvGraphicFramePr>
            <a:graphicFrameLocks noGrp="1"/>
          </p:cNvGraphicFramePr>
          <p:nvPr/>
        </p:nvGraphicFramePr>
        <p:xfrm>
          <a:off x="548640" y="1828800"/>
          <a:ext cx="11091672" cy="3310128"/>
        </p:xfrm>
        <a:graphic>
          <a:graphicData uri="http://schemas.openxmlformats.org/drawingml/2006/table">
            <a:tbl>
              <a:tblPr>
                <a:tableStyleId>{5C22544A-7EE6-4342-B048-85BDC9FD1C3A}</a:tableStyleId>
              </a:tblPr>
              <a:tblGrid>
                <a:gridCol w="3697224"/>
                <a:gridCol w="3697224"/>
                <a:gridCol w="3697224"/>
              </a:tblGrid>
              <a:tr h="472875">
                <a:tc>
                  <a:txBody>
                    <a:bodyPr wrap="square"/>
                    <a:lstStyle/>
                    <a:p>
                      <a:r>
                        <a:rPr sz="1300" b="1">
                          <a:solidFill>
                            <a:srgbClr val="F5F7FB"/>
                          </a:solidFill>
                          <a:latin typeface="Segoe UI"/>
                        </a:rPr>
                        <a:t>Stage</a:t>
                      </a:r>
                    </a:p>
                  </a:txBody>
                  <a:tcPr marL="101600" marR="101600" marT="50800" marB="50800" anchor="ctr">
                    <a:solidFill>
                      <a:srgbClr val="3A2410"/>
                    </a:solidFill>
                  </a:tcPr>
                </a:tc>
                <a:tc>
                  <a:txBody>
                    <a:bodyPr wrap="square"/>
                    <a:lstStyle/>
                    <a:p>
                      <a:r>
                        <a:rPr sz="1300" b="1">
                          <a:solidFill>
                            <a:srgbClr val="F5F7FB"/>
                          </a:solidFill>
                          <a:latin typeface="Segoe UI"/>
                        </a:rPr>
                        <a:t>What happens</a:t>
                      </a:r>
                    </a:p>
                  </a:txBody>
                  <a:tcPr marL="101600" marR="101600" marT="50800" marB="50800" anchor="ctr">
                    <a:solidFill>
                      <a:srgbClr val="3A2410"/>
                    </a:solidFill>
                  </a:tcPr>
                </a:tc>
                <a:tc>
                  <a:txBody>
                    <a:bodyPr wrap="square"/>
                    <a:lstStyle/>
                    <a:p>
                      <a:r>
                        <a:rPr sz="1300" b="1">
                          <a:solidFill>
                            <a:srgbClr val="F5F7FB"/>
                          </a:solidFill>
                          <a:latin typeface="Segoe UI"/>
                        </a:rPr>
                        <a:t>Attacked by</a:t>
                      </a:r>
                    </a:p>
                  </a:txBody>
                  <a:tcPr marL="101600" marR="101600" marT="50800" marB="50800" anchor="ctr">
                    <a:solidFill>
                      <a:srgbClr val="3A2410"/>
                    </a:solidFill>
                  </a:tcPr>
                </a:tc>
              </a:tr>
              <a:tr h="472875">
                <a:tc>
                  <a:txBody>
                    <a:bodyPr wrap="square"/>
                    <a:lstStyle/>
                    <a:p>
                      <a:r>
                        <a:rPr sz="1200" b="1">
                          <a:solidFill>
                            <a:srgbClr val="F5F7FB"/>
                          </a:solidFill>
                          <a:latin typeface="Segoe UI"/>
                        </a:rPr>
                        <a:t>Ingestion</a:t>
                      </a:r>
                    </a:p>
                  </a:txBody>
                  <a:tcPr marL="101600" marR="101600" marT="50800" marB="50800" anchor="ctr">
                    <a:solidFill>
                      <a:srgbClr val="121319"/>
                    </a:solidFill>
                  </a:tcPr>
                </a:tc>
                <a:tc>
                  <a:txBody>
                    <a:bodyPr wrap="square"/>
                    <a:lstStyle/>
                    <a:p>
                      <a:r>
                        <a:rPr sz="1200" b="0">
                          <a:solidFill>
                            <a:srgbClr val="B8C0CF"/>
                          </a:solidFill>
                          <a:latin typeface="Segoe UI"/>
                        </a:rPr>
                        <a:t>Source documents enter the pipeline</a:t>
                      </a:r>
                    </a:p>
                  </a:txBody>
                  <a:tcPr marL="101600" marR="101600" marT="50800" marB="50800" anchor="ctr">
                    <a:solidFill>
                      <a:srgbClr val="121319"/>
                    </a:solidFill>
                  </a:tcPr>
                </a:tc>
                <a:tc>
                  <a:txBody>
                    <a:bodyPr wrap="square"/>
                    <a:lstStyle/>
                    <a:p>
                      <a:r>
                        <a:rPr sz="1200" b="0">
                          <a:solidFill>
                            <a:srgbClr val="B8C0CF"/>
                          </a:solidFill>
                          <a:latin typeface="Segoe UI"/>
                        </a:rPr>
                        <a:t>Corpus poisoning — Objective 5.2</a:t>
                      </a:r>
                    </a:p>
                  </a:txBody>
                  <a:tcPr marL="101600" marR="101600" marT="50800" marB="50800" anchor="ctr">
                    <a:solidFill>
                      <a:srgbClr val="121319"/>
                    </a:solidFill>
                  </a:tcPr>
                </a:tc>
              </a:tr>
              <a:tr h="472875">
                <a:tc>
                  <a:txBody>
                    <a:bodyPr wrap="square"/>
                    <a:lstStyle/>
                    <a:p>
                      <a:r>
                        <a:rPr sz="1200" b="1">
                          <a:solidFill>
                            <a:srgbClr val="F5F7FB"/>
                          </a:solidFill>
                          <a:latin typeface="Segoe UI"/>
                        </a:rPr>
                        <a:t>Chunking</a:t>
                      </a:r>
                    </a:p>
                  </a:txBody>
                  <a:tcPr marL="101600" marR="101600" marT="50800" marB="50800" anchor="ctr">
                    <a:solidFill>
                      <a:srgbClr val="141519"/>
                    </a:solidFill>
                  </a:tcPr>
                </a:tc>
                <a:tc>
                  <a:txBody>
                    <a:bodyPr wrap="square"/>
                    <a:lstStyle/>
                    <a:p>
                      <a:r>
                        <a:rPr sz="1200" b="0">
                          <a:solidFill>
                            <a:srgbClr val="B8C0CF"/>
                          </a:solidFill>
                          <a:latin typeface="Segoe UI"/>
                        </a:rPr>
                        <a:t>Documents split into retrievable units</a:t>
                      </a:r>
                    </a:p>
                  </a:txBody>
                  <a:tcPr marL="101600" marR="101600" marT="50800" marB="50800" anchor="ctr">
                    <a:solidFill>
                      <a:srgbClr val="141519"/>
                    </a:solidFill>
                  </a:tcPr>
                </a:tc>
                <a:tc>
                  <a:txBody>
                    <a:bodyPr wrap="square"/>
                    <a:lstStyle/>
                    <a:p>
                      <a:r>
                        <a:rPr sz="1200" b="0">
                          <a:solidFill>
                            <a:srgbClr val="B8C0CF"/>
                          </a:solidFill>
                          <a:latin typeface="Segoe UI"/>
                        </a:rPr>
                        <a:t>Chunk-boundary technique — Objective 5.4</a:t>
                      </a:r>
                    </a:p>
                  </a:txBody>
                  <a:tcPr marL="101600" marR="101600" marT="50800" marB="50800" anchor="ctr">
                    <a:solidFill>
                      <a:srgbClr val="141519"/>
                    </a:solidFill>
                  </a:tcPr>
                </a:tc>
              </a:tr>
              <a:tr h="472875">
                <a:tc>
                  <a:txBody>
                    <a:bodyPr wrap="square"/>
                    <a:lstStyle/>
                    <a:p>
                      <a:r>
                        <a:rPr sz="1200" b="1">
                          <a:solidFill>
                            <a:srgbClr val="F5F7FB"/>
                          </a:solidFill>
                          <a:latin typeface="Segoe UI"/>
                        </a:rPr>
                        <a:t>Embedding</a:t>
                      </a:r>
                    </a:p>
                  </a:txBody>
                  <a:tcPr marL="101600" marR="101600" marT="50800" marB="50800" anchor="ctr">
                    <a:solidFill>
                      <a:srgbClr val="121319"/>
                    </a:solidFill>
                  </a:tcPr>
                </a:tc>
                <a:tc>
                  <a:txBody>
                    <a:bodyPr wrap="square"/>
                    <a:lstStyle/>
                    <a:p>
                      <a:r>
                        <a:rPr sz="1200" b="0">
                          <a:solidFill>
                            <a:srgbClr val="B8C0CF"/>
                          </a:solidFill>
                          <a:latin typeface="Segoe UI"/>
                        </a:rPr>
                        <a:t>Chunks converted to vectors</a:t>
                      </a:r>
                    </a:p>
                  </a:txBody>
                  <a:tcPr marL="101600" marR="101600" marT="50800" marB="50800" anchor="ctr">
                    <a:solidFill>
                      <a:srgbClr val="121319"/>
                    </a:solidFill>
                  </a:tcPr>
                </a:tc>
                <a:tc>
                  <a:txBody>
                    <a:bodyPr wrap="square"/>
                    <a:lstStyle/>
                    <a:p>
                      <a:r>
                        <a:rPr sz="1200" b="0">
                          <a:solidFill>
                            <a:srgbClr val="B8C0CF"/>
                          </a:solidFill>
                          <a:latin typeface="Segoe UI"/>
                        </a:rPr>
                        <a:t>Embedding-space attacks — Module 6</a:t>
                      </a:r>
                    </a:p>
                  </a:txBody>
                  <a:tcPr marL="101600" marR="101600" marT="50800" marB="50800" anchor="ctr">
                    <a:solidFill>
                      <a:srgbClr val="121319"/>
                    </a:solidFill>
                  </a:tcPr>
                </a:tc>
              </a:tr>
              <a:tr h="472875">
                <a:tc>
                  <a:txBody>
                    <a:bodyPr wrap="square"/>
                    <a:lstStyle/>
                    <a:p>
                      <a:r>
                        <a:rPr sz="1200" b="1">
                          <a:solidFill>
                            <a:srgbClr val="F5F7FB"/>
                          </a:solidFill>
                          <a:latin typeface="Segoe UI"/>
                        </a:rPr>
                        <a:t>Storage</a:t>
                      </a:r>
                    </a:p>
                  </a:txBody>
                  <a:tcPr marL="101600" marR="101600" marT="50800" marB="50800" anchor="ctr">
                    <a:solidFill>
                      <a:srgbClr val="141519"/>
                    </a:solidFill>
                  </a:tcPr>
                </a:tc>
                <a:tc>
                  <a:txBody>
                    <a:bodyPr wrap="square"/>
                    <a:lstStyle/>
                    <a:p>
                      <a:r>
                        <a:rPr sz="1200" b="0">
                          <a:solidFill>
                            <a:srgbClr val="B8C0CF"/>
                          </a:solidFill>
                          <a:latin typeface="Segoe UI"/>
                        </a:rPr>
                        <a:t>Vectors and text held in a vector database</a:t>
                      </a:r>
                    </a:p>
                  </a:txBody>
                  <a:tcPr marL="101600" marR="101600" marT="50800" marB="50800" anchor="ctr">
                    <a:solidFill>
                      <a:srgbClr val="141519"/>
                    </a:solidFill>
                  </a:tcPr>
                </a:tc>
                <a:tc>
                  <a:txBody>
                    <a:bodyPr wrap="square"/>
                    <a:lstStyle/>
                    <a:p>
                      <a:r>
                        <a:rPr sz="1200" b="0">
                          <a:solidFill>
                            <a:srgbClr val="B8C0CF"/>
                          </a:solidFill>
                          <a:latin typeface="Segoe UI"/>
                        </a:rPr>
                        <a:t>Cross-tenant leakage — Objective 5.4</a:t>
                      </a:r>
                    </a:p>
                  </a:txBody>
                  <a:tcPr marL="101600" marR="101600" marT="50800" marB="50800" anchor="ctr">
                    <a:solidFill>
                      <a:srgbClr val="141519"/>
                    </a:solidFill>
                  </a:tcPr>
                </a:tc>
              </a:tr>
              <a:tr h="472875">
                <a:tc>
                  <a:txBody>
                    <a:bodyPr wrap="square"/>
                    <a:lstStyle/>
                    <a:p>
                      <a:r>
                        <a:rPr sz="1200" b="1">
                          <a:solidFill>
                            <a:srgbClr val="F5F7FB"/>
                          </a:solidFill>
                          <a:latin typeface="Segoe UI"/>
                        </a:rPr>
                        <a:t>Retrieval</a:t>
                      </a:r>
                    </a:p>
                  </a:txBody>
                  <a:tcPr marL="101600" marR="101600" marT="50800" marB="50800" anchor="ctr">
                    <a:solidFill>
                      <a:srgbClr val="121319"/>
                    </a:solidFill>
                  </a:tcPr>
                </a:tc>
                <a:tc>
                  <a:txBody>
                    <a:bodyPr wrap="square"/>
                    <a:lstStyle/>
                    <a:p>
                      <a:r>
                        <a:rPr sz="1200" b="0">
                          <a:solidFill>
                            <a:srgbClr val="B8C0CF"/>
                          </a:solidFill>
                          <a:latin typeface="Segoe UI"/>
                        </a:rPr>
                        <a:t>Similarity search selects chunks</a:t>
                      </a:r>
                    </a:p>
                  </a:txBody>
                  <a:tcPr marL="101600" marR="101600" marT="50800" marB="50800" anchor="ctr">
                    <a:solidFill>
                      <a:srgbClr val="121319"/>
                    </a:solidFill>
                  </a:tcPr>
                </a:tc>
                <a:tc>
                  <a:txBody>
                    <a:bodyPr wrap="square"/>
                    <a:lstStyle/>
                    <a:p>
                      <a:r>
                        <a:rPr sz="1200" b="0">
                          <a:solidFill>
                            <a:srgbClr val="B8C0CF"/>
                          </a:solidFill>
                          <a:latin typeface="Segoe UI"/>
                        </a:rPr>
                        <a:t>Ranking manipulation — Objective 5.4</a:t>
                      </a:r>
                    </a:p>
                  </a:txBody>
                  <a:tcPr marL="101600" marR="101600" marT="50800" marB="50800" anchor="ctr">
                    <a:solidFill>
                      <a:srgbClr val="121319"/>
                    </a:solidFill>
                  </a:tcPr>
                </a:tc>
              </a:tr>
              <a:tr h="472878">
                <a:tc>
                  <a:txBody>
                    <a:bodyPr wrap="square"/>
                    <a:lstStyle/>
                    <a:p>
                      <a:r>
                        <a:rPr sz="1200" b="1">
                          <a:solidFill>
                            <a:srgbClr val="F5F7FB"/>
                          </a:solidFill>
                          <a:latin typeface="Segoe UI"/>
                        </a:rPr>
                        <a:t>Augmentation</a:t>
                      </a:r>
                    </a:p>
                  </a:txBody>
                  <a:tcPr marL="101600" marR="101600" marT="50800" marB="50800" anchor="ctr">
                    <a:solidFill>
                      <a:srgbClr val="141519"/>
                    </a:solidFill>
                  </a:tcPr>
                </a:tc>
                <a:tc>
                  <a:txBody>
                    <a:bodyPr wrap="square"/>
                    <a:lstStyle/>
                    <a:p>
                      <a:r>
                        <a:rPr sz="1200" b="0">
                          <a:solidFill>
                            <a:srgbClr val="B8C0CF"/>
                          </a:solidFill>
                          <a:latin typeface="Segoe UI"/>
                        </a:rPr>
                        <a:t>Retrieved text enters the model's context</a:t>
                      </a:r>
                    </a:p>
                  </a:txBody>
                  <a:tcPr marL="101600" marR="101600" marT="50800" marB="50800" anchor="ctr">
                    <a:solidFill>
                      <a:srgbClr val="141519"/>
                    </a:solidFill>
                  </a:tcPr>
                </a:tc>
                <a:tc>
                  <a:txBody>
                    <a:bodyPr wrap="square"/>
                    <a:lstStyle/>
                    <a:p>
                      <a:r>
                        <a:rPr sz="1200" b="0">
                          <a:solidFill>
                            <a:srgbClr val="B8C0CF"/>
                          </a:solidFill>
                          <a:latin typeface="Segoe UI"/>
                        </a:rPr>
                        <a:t>Indirect prompt injection — Objective 5.3</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This table is the direct analogue of Module 1's attack-surface-to-module index, scoped to the retrieval layer alone.</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5.1 · POSITIONING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RAG within the Module 1 attack-surface model</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Module 1 introduced a six-layer attack surface for AI systems; RAG is the concrete implementation of the data and retrieval layer, and everything this module teaches is scoped to that single layer.</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CONNECTS BACKWARD</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2, Objective 2.3 taught you to confirm RAG behaviourally — citations and organisation-specific accuracy are the signal this module now acts on.</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CONNECTS FORWARD</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6 goes one layer deeper into the embeddings themselves; Module 9 covers the infrastructure hosting the vector database.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5.2</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5.2</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RAG-corpus poisoning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5.2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RAG-corpus poisoning?</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RAG-corpus poisoning is the introduction of malicious or manipulated content into the documents or data sources a RAG pipeline ingests, so that the pipeline later retrieves and presents that content as if it were trusted, legitimate knowledge.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WHERE IT HAPPENS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Anywhere the corpus accepts new or edited content — uploaded documents, editable wikis, ticket systems, scraped web pages, or user-submitted feedback.</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WORKS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The ingestion and embedding stages, as established in Objective 5.1, are content-blind — nothing in the pipeline evaluates whether new content is trustworthy before storing it.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5.2 · PROPERTY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Persistence: why one poisoned document matters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Persistence is the defining property of corpus poisoning: once a malicious document is ingested, chunked, embedded, and stored, it remains in the vector database and can be retrieved by every future query that matches it — without any repeated action by the attacker.</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CONTRAST WITH A SINGLE-TURN ATTACK</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direct prompt injection typically affects one conversation; a poisoned corpus entry affects every user and every session whose query happens to retrieve it.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OPERATIONAL IMPLICATION</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Detecting and remediating a poisoned corpus entry after the fact requires re-auditing the entire corpus, not just a single conversation log.</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Corpus poisoning vs direct prompt injection</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RAG-corpus poisoning</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Payload is planted in the source data, before retrieval</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a route into the corpus — an ingestion point</a:t>
            </a:r>
          </a:p>
          <a:p>
            <a:pPr algn="l">
              <a:spcBef>
                <a:spcPts val="0"/>
              </a:spcBef>
              <a:spcAft>
                <a:spcPts val="800"/>
              </a:spcAft>
            </a:pPr>
            <a:r>
              <a:rPr sz="1400" b="1">
                <a:solidFill>
                  <a:srgbClr val="FF6A00"/>
                </a:solidFill>
                <a:latin typeface="Segoe UI"/>
              </a:rPr>
              <a:t>•  </a:t>
            </a:r>
            <a:r>
              <a:rPr sz="1400" b="0">
                <a:solidFill>
                  <a:srgbClr val="B8C0CF"/>
                </a:solidFill>
                <a:latin typeface="Segoe UI"/>
              </a:rPr>
              <a:t>Persists and affects every future matching query</a:t>
            </a:r>
          </a:p>
          <a:p>
            <a:pPr algn="l">
              <a:spcBef>
                <a:spcPts val="0"/>
              </a:spcBef>
              <a:spcAft>
                <a:spcPts val="800"/>
              </a:spcAft>
            </a:pPr>
            <a:r>
              <a:rPr sz="1400" b="1">
                <a:solidFill>
                  <a:srgbClr val="FF6A00"/>
                </a:solidFill>
                <a:latin typeface="Segoe UI"/>
              </a:rPr>
              <a:t>•  </a:t>
            </a:r>
            <a:r>
              <a:rPr sz="1400" b="0">
                <a:solidFill>
                  <a:srgbClr val="B8C0CF"/>
                </a:solidFill>
                <a:latin typeface="Segoe UI"/>
              </a:rPr>
              <a:t>Attacker need never interact with the target model directly</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Direct prompt injection</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Payload is placed directly in the user's own prompt</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only access to the conversation with the model</a:t>
            </a:r>
          </a:p>
          <a:p>
            <a:pPr algn="l">
              <a:spcBef>
                <a:spcPts val="0"/>
              </a:spcBef>
              <a:spcAft>
                <a:spcPts val="800"/>
              </a:spcAft>
            </a:pPr>
            <a:r>
              <a:rPr sz="1400" b="1">
                <a:solidFill>
                  <a:srgbClr val="FF6A00"/>
                </a:solidFill>
                <a:latin typeface="Segoe UI"/>
              </a:rPr>
              <a:t>•  </a:t>
            </a:r>
            <a:r>
              <a:rPr sz="1400" b="0">
                <a:solidFill>
                  <a:srgbClr val="B8C0CF"/>
                </a:solidFill>
                <a:latin typeface="Segoe UI"/>
              </a:rPr>
              <a:t>Affects only the current conversation or session</a:t>
            </a:r>
          </a:p>
          <a:p>
            <a:pPr algn="l">
              <a:spcBef>
                <a:spcPts val="0"/>
              </a:spcBef>
              <a:spcAft>
                <a:spcPts val="800"/>
              </a:spcAft>
            </a:pPr>
            <a:r>
              <a:rPr sz="1400" b="1">
                <a:solidFill>
                  <a:srgbClr val="FF6A00"/>
                </a:solidFill>
                <a:latin typeface="Segoe UI"/>
              </a:rPr>
              <a:t>•  </a:t>
            </a:r>
            <a:r>
              <a:rPr sz="1400" b="0">
                <a:solidFill>
                  <a:srgbClr val="B8C0CF"/>
                </a:solidFill>
                <a:latin typeface="Segoe UI"/>
              </a:rPr>
              <a:t>Attacker interacts with the model in real time</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Corpus poisoning trades a harder initial requirement — a route into the corpus — for a payload that persists and scales across every user who later retrieves it, unlike a direct injection that is spent after one conversation.</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5.2 · VECTORS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Common corpus poisoning entry points</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EDITABLE KNOWLEDGE SOURCES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Wikis, internal documentation, and collaborative note tools that any authenticated user can edit are a direct route into the corpus.</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DOCUMENT UPLOAD FEATURES</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Any feature that lets a user upload a file that is later ingested for retrieval is a candidate poisoning vector.</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SCRAPED OR CRAWLED WEB CONTENT</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If the corpus ingests external web pages, content the attacker controls on the open web can be crawled in as if it were trusted.</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USER FEEDBACK AND SUPPORT TICKETS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Feedback forms, support tickets, or reviews that feed back into a knowledge base can carry a payload disguised as ordinary user content.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5.2 · LIFECYCLE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corpus-poisoning lifecycle</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an ingestion point</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which corpus sources are editable, uploadable, or crawled, per Objective 2.3's enumeration.</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Craft content that will pass unnoticed</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Content must read as legitimate to any human reviewer while carrying its intended effect.</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Get the content ingested</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Submit, upload, or otherwise place the content where the pipeline's ingestion process will pick it up.</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Wait for embedding and indexing</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pipeline chunks, embeds, and stores the content exactly as it would any legitimate document.</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Persist until a matching query retrieves it</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payload has no further effect until a query similar enough to trigger retrieval is asked — by anyone.</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5.2 · FRAMEWORK MAPPING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OWASP LLM04: Data and Model Poisoning</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RAG-corpus poisoning is a specific, retrieval-time instance of OWASP's broader LLM04 category, which covers manipulation of training, fine-tuning, or retrieval data to introduce vulnerabilities, biases, or backdoors into a system's behaviour.</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SCOPE NOTE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LLM04 also covers training-data poisoning, which is a supply-chain concern addressed in Module 8 — this module's Objective 5.2 is the retrieval-corpus subset of that category.</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THE MAPPING MATTERS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Framing findings against a named OWASP category gives them shared, defensible vocabulary in an engagement report, exactly as Module 1 established.</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5.2 · ASSESSMENT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Poisoning vector to typical detection difficulty</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Vector</a:t>
                      </a:r>
                    </a:p>
                  </a:txBody>
                  <a:tcPr marL="101600" marR="101600" marT="50800" marB="50800" anchor="ctr">
                    <a:solidFill>
                      <a:srgbClr val="3A2410"/>
                    </a:solidFill>
                  </a:tcPr>
                </a:tc>
                <a:tc>
                  <a:txBody>
                    <a:bodyPr wrap="square"/>
                    <a:lstStyle/>
                    <a:p>
                      <a:r>
                        <a:rPr sz="1300" b="1">
                          <a:solidFill>
                            <a:srgbClr val="F5F7FB"/>
                          </a:solidFill>
                          <a:latin typeface="Segoe UI"/>
                        </a:rPr>
                        <a:t>Typical corpus type</a:t>
                      </a:r>
                    </a:p>
                  </a:txBody>
                  <a:tcPr marL="101600" marR="101600" marT="50800" marB="50800" anchor="ctr">
                    <a:solidFill>
                      <a:srgbClr val="3A2410"/>
                    </a:solidFill>
                  </a:tcPr>
                </a:tc>
                <a:tc>
                  <a:txBody>
                    <a:bodyPr wrap="square"/>
                    <a:lstStyle/>
                    <a:p>
                      <a:r>
                        <a:rPr sz="1300" b="1">
                          <a:solidFill>
                            <a:srgbClr val="F5F7FB"/>
                          </a:solidFill>
                          <a:latin typeface="Segoe UI"/>
                        </a:rPr>
                        <a:t>Detection difficulty</a:t>
                      </a:r>
                    </a:p>
                  </a:txBody>
                  <a:tcPr marL="101600" marR="101600" marT="50800" marB="50800" anchor="ctr">
                    <a:solidFill>
                      <a:srgbClr val="3A2410"/>
                    </a:solidFill>
                  </a:tcPr>
                </a:tc>
              </a:tr>
              <a:tr h="471830">
                <a:tc>
                  <a:txBody>
                    <a:bodyPr wrap="square"/>
                    <a:lstStyle/>
                    <a:p>
                      <a:r>
                        <a:rPr sz="1200" b="1">
                          <a:solidFill>
                            <a:srgbClr val="F5F7FB"/>
                          </a:solidFill>
                          <a:latin typeface="Segoe UI"/>
                        </a:rPr>
                        <a:t>Editable wiki / docs</a:t>
                      </a:r>
                    </a:p>
                  </a:txBody>
                  <a:tcPr marL="101600" marR="101600" marT="50800" marB="50800" anchor="ctr">
                    <a:solidFill>
                      <a:srgbClr val="121319"/>
                    </a:solidFill>
                  </a:tcPr>
                </a:tc>
                <a:tc>
                  <a:txBody>
                    <a:bodyPr wrap="square"/>
                    <a:lstStyle/>
                    <a:p>
                      <a:r>
                        <a:rPr sz="1200" b="0">
                          <a:solidFill>
                            <a:srgbClr val="B8C0CF"/>
                          </a:solidFill>
                          <a:latin typeface="Segoe UI"/>
                        </a:rPr>
                        <a:t>Internal knowledge base</a:t>
                      </a:r>
                    </a:p>
                  </a:txBody>
                  <a:tcPr marL="101600" marR="101600" marT="50800" marB="50800" anchor="ctr">
                    <a:solidFill>
                      <a:srgbClr val="121319"/>
                    </a:solidFill>
                  </a:tcPr>
                </a:tc>
                <a:tc>
                  <a:txBody>
                    <a:bodyPr wrap="square"/>
                    <a:lstStyle/>
                    <a:p>
                      <a:r>
                        <a:rPr sz="1200" b="0">
                          <a:solidFill>
                            <a:srgbClr val="B8C0CF"/>
                          </a:solidFill>
                          <a:latin typeface="Segoe UI"/>
                        </a:rPr>
                        <a:t>Medium — edit history is usually auditable</a:t>
                      </a:r>
                    </a:p>
                  </a:txBody>
                  <a:tcPr marL="101600" marR="101600" marT="50800" marB="50800" anchor="ctr">
                    <a:solidFill>
                      <a:srgbClr val="121319"/>
                    </a:solidFill>
                  </a:tcPr>
                </a:tc>
              </a:tr>
              <a:tr h="471830">
                <a:tc>
                  <a:txBody>
                    <a:bodyPr wrap="square"/>
                    <a:lstStyle/>
                    <a:p>
                      <a:r>
                        <a:rPr sz="1200" b="1">
                          <a:solidFill>
                            <a:srgbClr val="F5F7FB"/>
                          </a:solidFill>
                          <a:latin typeface="Segoe UI"/>
                        </a:rPr>
                        <a:t>Document upload</a:t>
                      </a:r>
                    </a:p>
                  </a:txBody>
                  <a:tcPr marL="101600" marR="101600" marT="50800" marB="50800" anchor="ctr">
                    <a:solidFill>
                      <a:srgbClr val="141519"/>
                    </a:solidFill>
                  </a:tcPr>
                </a:tc>
                <a:tc>
                  <a:txBody>
                    <a:bodyPr wrap="square"/>
                    <a:lstStyle/>
                    <a:p>
                      <a:r>
                        <a:rPr sz="1200" b="0">
                          <a:solidFill>
                            <a:srgbClr val="B8C0CF"/>
                          </a:solidFill>
                          <a:latin typeface="Segoe UI"/>
                        </a:rPr>
                        <a:t>File-based knowledge store</a:t>
                      </a:r>
                    </a:p>
                  </a:txBody>
                  <a:tcPr marL="101600" marR="101600" marT="50800" marB="50800" anchor="ctr">
                    <a:solidFill>
                      <a:srgbClr val="141519"/>
                    </a:solidFill>
                  </a:tcPr>
                </a:tc>
                <a:tc>
                  <a:txBody>
                    <a:bodyPr wrap="square"/>
                    <a:lstStyle/>
                    <a:p>
                      <a:r>
                        <a:rPr sz="1200" b="0">
                          <a:solidFill>
                            <a:srgbClr val="B8C0CF"/>
                          </a:solidFill>
                          <a:latin typeface="Segoe UI"/>
                        </a:rPr>
                        <a:t>Medium–high — depends on review before ingestion</a:t>
                      </a:r>
                    </a:p>
                  </a:txBody>
                  <a:tcPr marL="101600" marR="101600" marT="50800" marB="50800" anchor="ctr">
                    <a:solidFill>
                      <a:srgbClr val="141519"/>
                    </a:solidFill>
                  </a:tcPr>
                </a:tc>
              </a:tr>
              <a:tr h="471830">
                <a:tc>
                  <a:txBody>
                    <a:bodyPr wrap="square"/>
                    <a:lstStyle/>
                    <a:p>
                      <a:r>
                        <a:rPr sz="1200" b="1">
                          <a:solidFill>
                            <a:srgbClr val="F5F7FB"/>
                          </a:solidFill>
                          <a:latin typeface="Segoe UI"/>
                        </a:rPr>
                        <a:t>Scraped web content</a:t>
                      </a:r>
                    </a:p>
                  </a:txBody>
                  <a:tcPr marL="101600" marR="101600" marT="50800" marB="50800" anchor="ctr">
                    <a:solidFill>
                      <a:srgbClr val="121319"/>
                    </a:solidFill>
                  </a:tcPr>
                </a:tc>
                <a:tc>
                  <a:txBody>
                    <a:bodyPr wrap="square"/>
                    <a:lstStyle/>
                    <a:p>
                      <a:r>
                        <a:rPr sz="1200" b="0">
                          <a:solidFill>
                            <a:srgbClr val="B8C0CF"/>
                          </a:solidFill>
                          <a:latin typeface="Segoe UI"/>
                        </a:rPr>
                        <a:t>External or crawled corpus</a:t>
                      </a:r>
                    </a:p>
                  </a:txBody>
                  <a:tcPr marL="101600" marR="101600" marT="50800" marB="50800" anchor="ctr">
                    <a:solidFill>
                      <a:srgbClr val="121319"/>
                    </a:solidFill>
                  </a:tcPr>
                </a:tc>
                <a:tc>
                  <a:txBody>
                    <a:bodyPr wrap="square"/>
                    <a:lstStyle/>
                    <a:p>
                      <a:r>
                        <a:rPr sz="1200" b="0">
                          <a:solidFill>
                            <a:srgbClr val="B8C0CF"/>
                          </a:solidFill>
                          <a:latin typeface="Segoe UI"/>
                        </a:rPr>
                        <a:t>High — source is outside the organisation's control</a:t>
                      </a:r>
                    </a:p>
                  </a:txBody>
                  <a:tcPr marL="101600" marR="101600" marT="50800" marB="50800" anchor="ctr">
                    <a:solidFill>
                      <a:srgbClr val="121319"/>
                    </a:solidFill>
                  </a:tcPr>
                </a:tc>
              </a:tr>
              <a:tr h="471832">
                <a:tc>
                  <a:txBody>
                    <a:bodyPr wrap="square"/>
                    <a:lstStyle/>
                    <a:p>
                      <a:r>
                        <a:rPr sz="1200" b="1">
                          <a:solidFill>
                            <a:srgbClr val="F5F7FB"/>
                          </a:solidFill>
                          <a:latin typeface="Segoe UI"/>
                        </a:rPr>
                        <a:t>User feedback / tickets</a:t>
                      </a:r>
                    </a:p>
                  </a:txBody>
                  <a:tcPr marL="101600" marR="101600" marT="50800" marB="50800" anchor="ctr">
                    <a:solidFill>
                      <a:srgbClr val="141519"/>
                    </a:solidFill>
                  </a:tcPr>
                </a:tc>
                <a:tc>
                  <a:txBody>
                    <a:bodyPr wrap="square"/>
                    <a:lstStyle/>
                    <a:p>
                      <a:r>
                        <a:rPr sz="1200" b="0">
                          <a:solidFill>
                            <a:srgbClr val="B8C0CF"/>
                          </a:solidFill>
                          <a:latin typeface="Segoe UI"/>
                        </a:rPr>
                        <a:t>Support or feedback knowledge base</a:t>
                      </a:r>
                    </a:p>
                  </a:txBody>
                  <a:tcPr marL="101600" marR="101600" marT="50800" marB="50800" anchor="ctr">
                    <a:solidFill>
                      <a:srgbClr val="141519"/>
                    </a:solidFill>
                  </a:tcPr>
                </a:tc>
                <a:tc>
                  <a:txBody>
                    <a:bodyPr wrap="square"/>
                    <a:lstStyle/>
                    <a:p>
                      <a:r>
                        <a:rPr sz="1200" b="0">
                          <a:solidFill>
                            <a:srgbClr val="B8C0CF"/>
                          </a:solidFill>
                          <a:latin typeface="Segoe UI"/>
                        </a:rPr>
                        <a:t>High — content is expected to be user-submitted</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This is an assessment aid for engagement reporting, not a defensive control specification.</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5.2 · PERSISTENCE FACTORS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poisoned content is hard to catch</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IT LOOKS LEGITIMATE</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Well-crafted poisoned content is written to pass a human review exactly like genuine documentation would.</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IT IS EMBEDDED, NOT EXECUTED</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Nothing about the ingestion or embedding stage evaluates intent — a payload sits inertly as a vector until retrieved.</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RETRIEVAL IS NON-OBVIOUS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document that eventually surfaces a payload may be one of thousands ingested, with no single event to flag.</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IMPACT IS DELAYED</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gap between ingestion and the query that finally retrieves the content can be long, breaking the intuitive link between cause and effect.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5.3</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5.3</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Indirect prompt injection via retrieval</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5.3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indirect prompt injection via retrieval?</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Indirect prompt injection via retrieval occurs when a poisoned or attacker-influenced chunk, once retrieved and augmented into the model's context, is treated as trusted instruction-bearing content rather than inert reference data — so the model follows instructions embedded within it.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MECHANISM IN ONE LINE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Retrieval does not distinguish 'data to reference' from 'instructions to follow' — both are just text in the context window once augmentation happens.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PREREQUISITE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objective assumes Objective 5.2's poisoning has already succeeded, or that the attacker otherwise influences content the corpus is known to retrieve.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5.3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Direct vs indirect prompt injection</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Direct prompt injection</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Attacker types the malicious instruction into their own prompt</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the attacker to be the one interacting with the model</a:t>
            </a:r>
          </a:p>
          <a:p>
            <a:pPr algn="l">
              <a:spcBef>
                <a:spcPts val="0"/>
              </a:spcBef>
              <a:spcAft>
                <a:spcPts val="800"/>
              </a:spcAft>
            </a:pPr>
            <a:r>
              <a:rPr sz="1400" b="1">
                <a:solidFill>
                  <a:srgbClr val="FF6A00"/>
                </a:solidFill>
                <a:latin typeface="Segoe UI"/>
              </a:rPr>
              <a:t>•  </a:t>
            </a:r>
            <a:r>
              <a:rPr sz="1400" b="0">
                <a:solidFill>
                  <a:srgbClr val="B8C0CF"/>
                </a:solidFill>
                <a:latin typeface="Segoe UI"/>
              </a:rPr>
              <a:t>Affects only the attacker's own session by default</a:t>
            </a:r>
          </a:p>
          <a:p>
            <a:pPr algn="l">
              <a:spcBef>
                <a:spcPts val="0"/>
              </a:spcBef>
              <a:spcAft>
                <a:spcPts val="800"/>
              </a:spcAft>
            </a:pPr>
            <a:r>
              <a:rPr sz="1400" b="1">
                <a:solidFill>
                  <a:srgbClr val="FF6A00"/>
                </a:solidFill>
                <a:latin typeface="Segoe UI"/>
              </a:rPr>
              <a:t>•  </a:t>
            </a:r>
            <a:r>
              <a:rPr sz="1400" b="0">
                <a:solidFill>
                  <a:srgbClr val="B8C0CF"/>
                </a:solidFill>
                <a:latin typeface="Segoe UI"/>
              </a:rPr>
              <a:t>Introduced in Module 1, Objective 1.3</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Indirect prompt injection via retrieval</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Instruction is embedded in content the model retrieves, not in the user's prompt</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no access to the victim's own conversation at all</a:t>
            </a:r>
          </a:p>
          <a:p>
            <a:pPr algn="l">
              <a:spcBef>
                <a:spcPts val="0"/>
              </a:spcBef>
              <a:spcAft>
                <a:spcPts val="800"/>
              </a:spcAft>
            </a:pPr>
            <a:r>
              <a:rPr sz="1400" b="1">
                <a:solidFill>
                  <a:srgbClr val="FF6A00"/>
                </a:solidFill>
                <a:latin typeface="Segoe UI"/>
              </a:rPr>
              <a:t>•  </a:t>
            </a:r>
            <a:r>
              <a:rPr sz="1400" b="0">
                <a:solidFill>
                  <a:srgbClr val="B8C0CF"/>
                </a:solidFill>
                <a:latin typeface="Segoe UI"/>
              </a:rPr>
              <a:t>Can affect every user whose query happens to retrieve the poisoned chunk</a:t>
            </a:r>
          </a:p>
          <a:p>
            <a:pPr algn="l">
              <a:spcBef>
                <a:spcPts val="0"/>
              </a:spcBef>
              <a:spcAft>
                <a:spcPts val="800"/>
              </a:spcAft>
            </a:pPr>
            <a:r>
              <a:rPr sz="1400" b="1">
                <a:solidFill>
                  <a:srgbClr val="FF6A00"/>
                </a:solidFill>
                <a:latin typeface="Segoe UI"/>
              </a:rPr>
              <a:t>•  </a:t>
            </a:r>
            <a:r>
              <a:rPr sz="1400" b="0">
                <a:solidFill>
                  <a:srgbClr val="B8C0CF"/>
                </a:solidFill>
                <a:latin typeface="Segoe UI"/>
              </a:rPr>
              <a:t>The RAG-specific case taught in this objective</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critical exam distinction: indirect injection needs no access to the victim's session — the attacker only needs their payload retrieved. That single property is why it scales far beyond what direct injection can achieve.</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5.3 · IMPACT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indirect injection via retrieval is more dangerous</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NO ACCESS TO THE VICTIM'S PROMPT REQUIRED</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attacker never needs to interact with the target system at all — only with the corpus it retrieves from.</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SCALES TO EVERY USER WHO TRIGGERS RETRIEVAL</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One poisoned chunk can affect an unbounded number of unrelated users and sessions over time.</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HARDER TO ATTRIBUTE</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harmful response appears to originate from the organisation's own trusted corpus, not from an identifiable attacker interaction.</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COMPOUNDS WITH PERSISTENCE</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Objective 5.2's persistence property means the injection remains live for as long as the poisoned chunk stays in the corpus.</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5.3 · MECHANISM</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retrieval trust chain</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 user submits an ordinary query</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Nothing about the query itself is malicious — the victim is simply using the system normally.</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Retrieval selects the poisoned chunk</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chunk is returned because it is semantically similar enough to match the query, exactly as Objective 5.1 describes.</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Augmentation inserts it into context</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chunk's text — including any embedded instruction — enters the model's context alongside the user's question.</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The model treats context as trusted</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Without a mechanism to separate 'reference data' from 'instructions', the model may follow directives found in the retrieved text.</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The model acts on the embedded instruction</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response — or, if tools are connected, an action — reflects the attacker's instruction rather than the corpus's genuine content.</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5.3 · FRAMEWORK MAPPING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OWASP LLM01: Prompt Injection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Indirect prompt injection via retrieval is a named sub-case of OWASP's LLM01 category, which covers any technique that causes a model to follow attacker-supplied instructions embedded in input the model processes — whether that input comes from the user directly or indirectly through another channel.</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DIRECT VS INDIRECT WITHIN LLM01</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OWASP's own framing already separates direct injection, from the user, from indirect injection, delivered through a secondary data source such as a retrieved document.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MITRE ATLAS RELEVANCE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The technique also maps to ATLAS's adversarial-input tactics, giving engagement reports a second, complementary framework citation.</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5.3 · CONCEPTUAL ANATOMY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Anatomy of a retrieval-delivered payload</a:t>
            </a:r>
          </a:p>
        </p:txBody>
      </p:sp>
      <p:sp>
        <p:nvSpPr>
          <p:cNvPr id="6" name="TextBox 5"/>
          <p:cNvSpPr txBox="1"/>
          <p:nvPr/>
        </p:nvSpPr>
        <p:spPr>
          <a:xfrm>
            <a:off x="548640" y="1737360"/>
            <a:ext cx="11064240" cy="640080"/>
          </a:xfrm>
          <a:prstGeom prst="rect">
            <a:avLst/>
          </a:prstGeom>
          <a:noFill/>
        </p:spPr>
        <p:txBody>
          <a:bodyPr wrap="square" anchor="t" lIns="25400" rIns="25400" tIns="25400" bIns="25400">
            <a:spAutoFit/>
          </a:bodyPr>
          <a:lstStyle/>
          <a:p>
            <a:pPr algn="l">
              <a:spcBef>
                <a:spcPts val="0"/>
              </a:spcBef>
              <a:spcAft>
                <a:spcPts val="600"/>
              </a:spcAft>
            </a:pPr>
            <a:r>
              <a:rPr sz="1500" b="0">
                <a:solidFill>
                  <a:srgbClr val="B8C0CF"/>
                </a:solidFill>
                <a:latin typeface="Segoe UI"/>
              </a:rPr>
              <a:t>A conceptual, non-executable breakdown of what makes retrieved content function as an indirect injection — not a payload to reproduce.</a:t>
            </a:r>
          </a:p>
        </p:txBody>
      </p:sp>
      <p:sp>
        <p:nvSpPr>
          <p:cNvPr id="7" name="Rounded Rectangle 6"/>
          <p:cNvSpPr/>
          <p:nvPr/>
        </p:nvSpPr>
        <p:spPr>
          <a:xfrm>
            <a:off x="548640" y="2423160"/>
            <a:ext cx="11091672" cy="3566160"/>
          </a:xfrm>
          <a:prstGeom prst="roundRect">
            <a:avLst/>
          </a:prstGeom>
          <a:solidFill>
            <a:srgbClr val="0A0F16"/>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06040"/>
            <a:ext cx="10515600" cy="3291840"/>
          </a:xfrm>
          <a:prstGeom prst="rect">
            <a:avLst/>
          </a:prstGeom>
          <a:noFill/>
        </p:spPr>
        <p:txBody>
          <a:bodyPr wrap="square" anchor="t" lIns="25400" rIns="25400" tIns="25400" bIns="25400">
            <a:spAutoFit/>
          </a:bodyPr>
          <a:lstStyle/>
          <a:p>
            <a:pPr algn="l">
              <a:spcBef>
                <a:spcPts val="0"/>
              </a:spcBef>
              <a:spcAft>
                <a:spcPts val="400"/>
              </a:spcAft>
            </a:pPr>
            <a:r>
              <a:rPr sz="1400" b="0">
                <a:solidFill>
                  <a:srgbClr val="9CE6B4"/>
                </a:solidFill>
                <a:latin typeface="Segoe UI"/>
              </a:rPr>
              <a:t># Visible layer</a:t>
            </a:r>
          </a:p>
          <a:p>
            <a:pPr algn="l">
              <a:spcBef>
                <a:spcPts val="0"/>
              </a:spcBef>
              <a:spcAft>
                <a:spcPts val="400"/>
              </a:spcAft>
            </a:pPr>
            <a:r>
              <a:rPr sz="1400" b="0">
                <a:solidFill>
                  <a:srgbClr val="F5F7FB"/>
                </a:solidFill>
                <a:latin typeface="Segoe UI"/>
              </a:rPr>
              <a:t>Ordinary-looking passage that satisfies a human reviewer and a semantic-similarity match</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Embedded directive</a:t>
            </a:r>
          </a:p>
          <a:p>
            <a:pPr algn="l">
              <a:spcBef>
                <a:spcPts val="0"/>
              </a:spcBef>
              <a:spcAft>
                <a:spcPts val="400"/>
              </a:spcAft>
            </a:pPr>
            <a:r>
              <a:rPr sz="1400" b="0">
                <a:solidFill>
                  <a:srgbClr val="F5F7FB"/>
                </a:solidFill>
                <a:latin typeface="Segoe UI"/>
              </a:rPr>
              <a:t>A directive addressed to 'the assistant reading this', not to the human reader of the document</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Trust exploit</a:t>
            </a:r>
          </a:p>
          <a:p>
            <a:pPr algn="l">
              <a:spcBef>
                <a:spcPts val="0"/>
              </a:spcBef>
              <a:spcAft>
                <a:spcPts val="400"/>
              </a:spcAft>
            </a:pPr>
            <a:r>
              <a:rPr sz="1400" b="0">
                <a:solidFill>
                  <a:srgbClr val="F5F7FB"/>
                </a:solidFill>
                <a:latin typeface="Segoe UI"/>
              </a:rPr>
              <a:t>Relies on the model treating retrieved text as instruction-bearing rather than as inert reference data</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Delivery route</a:t>
            </a:r>
          </a:p>
          <a:p>
            <a:pPr algn="l">
              <a:spcBef>
                <a:spcPts val="0"/>
              </a:spcBef>
              <a:spcAft>
                <a:spcPts val="400"/>
              </a:spcAft>
            </a:pPr>
            <a:r>
              <a:rPr sz="1400" b="0">
                <a:solidFill>
                  <a:srgbClr val="F5F7FB"/>
                </a:solidFill>
                <a:latin typeface="Segoe UI"/>
              </a:rPr>
              <a:t>Placed wherever Objective 5.2 identified an ingestion point the corpus will accept without challenge</a:t>
            </a:r>
          </a:p>
        </p:txBody>
      </p:sp>
      <p:sp>
        <p:nvSpPr>
          <p:cNvPr id="9" name="TextBox 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0" name="TextBox 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5.3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Injection vector to the trust assumption exploited</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Vector</a:t>
                      </a:r>
                    </a:p>
                  </a:txBody>
                  <a:tcPr marL="101600" marR="101600" marT="50800" marB="50800" anchor="ctr">
                    <a:solidFill>
                      <a:srgbClr val="3A2410"/>
                    </a:solidFill>
                  </a:tcPr>
                </a:tc>
                <a:tc>
                  <a:txBody>
                    <a:bodyPr wrap="square"/>
                    <a:lstStyle/>
                    <a:p>
                      <a:r>
                        <a:rPr sz="1300" b="1">
                          <a:solidFill>
                            <a:srgbClr val="F5F7FB"/>
                          </a:solidFill>
                          <a:latin typeface="Segoe UI"/>
                        </a:rPr>
                        <a:t>Trust assumption exploited</a:t>
                      </a:r>
                    </a:p>
                  </a:txBody>
                  <a:tcPr marL="101600" marR="101600" marT="50800" marB="50800" anchor="ctr">
                    <a:solidFill>
                      <a:srgbClr val="3A2410"/>
                    </a:solidFill>
                  </a:tcPr>
                </a:tc>
                <a:tc>
                  <a:txBody>
                    <a:bodyPr wrap="square"/>
                    <a:lstStyle/>
                    <a:p>
                      <a:r>
                        <a:rPr sz="1300" b="1">
                          <a:solidFill>
                            <a:srgbClr val="F5F7FB"/>
                          </a:solidFill>
                          <a:latin typeface="Segoe UI"/>
                        </a:rPr>
                        <a:t>Consequence</a:t>
                      </a:r>
                    </a:p>
                  </a:txBody>
                  <a:tcPr marL="101600" marR="101600" marT="50800" marB="50800" anchor="ctr">
                    <a:solidFill>
                      <a:srgbClr val="3A2410"/>
                    </a:solidFill>
                  </a:tcPr>
                </a:tc>
              </a:tr>
              <a:tr h="471830">
                <a:tc>
                  <a:txBody>
                    <a:bodyPr wrap="square"/>
                    <a:lstStyle/>
                    <a:p>
                      <a:r>
                        <a:rPr sz="1200" b="1">
                          <a:solidFill>
                            <a:srgbClr val="F5F7FB"/>
                          </a:solidFill>
                          <a:latin typeface="Segoe UI"/>
                        </a:rPr>
                        <a:t>Poisoned document chunk</a:t>
                      </a:r>
                    </a:p>
                  </a:txBody>
                  <a:tcPr marL="101600" marR="101600" marT="50800" marB="50800" anchor="ctr">
                    <a:solidFill>
                      <a:srgbClr val="121319"/>
                    </a:solidFill>
                  </a:tcPr>
                </a:tc>
                <a:tc>
                  <a:txBody>
                    <a:bodyPr wrap="square"/>
                    <a:lstStyle/>
                    <a:p>
                      <a:r>
                        <a:rPr sz="1200" b="0">
                          <a:solidFill>
                            <a:srgbClr val="B8C0CF"/>
                          </a:solidFill>
                          <a:latin typeface="Segoe UI"/>
                        </a:rPr>
                        <a:t>Retrieved text is assumed to be inert reference data</a:t>
                      </a:r>
                    </a:p>
                  </a:txBody>
                  <a:tcPr marL="101600" marR="101600" marT="50800" marB="50800" anchor="ctr">
                    <a:solidFill>
                      <a:srgbClr val="121319"/>
                    </a:solidFill>
                  </a:tcPr>
                </a:tc>
                <a:tc>
                  <a:txBody>
                    <a:bodyPr wrap="square"/>
                    <a:lstStyle/>
                    <a:p>
                      <a:r>
                        <a:rPr sz="1200" b="0">
                          <a:solidFill>
                            <a:srgbClr val="B8C0CF"/>
                          </a:solidFill>
                          <a:latin typeface="Segoe UI"/>
                        </a:rPr>
                        <a:t>Model follows an embedded directive</a:t>
                      </a:r>
                    </a:p>
                  </a:txBody>
                  <a:tcPr marL="101600" marR="101600" marT="50800" marB="50800" anchor="ctr">
                    <a:solidFill>
                      <a:srgbClr val="121319"/>
                    </a:solidFill>
                  </a:tcPr>
                </a:tc>
              </a:tr>
              <a:tr h="471830">
                <a:tc>
                  <a:txBody>
                    <a:bodyPr wrap="square"/>
                    <a:lstStyle/>
                    <a:p>
                      <a:r>
                        <a:rPr sz="1200" b="1">
                          <a:solidFill>
                            <a:srgbClr val="F5F7FB"/>
                          </a:solidFill>
                          <a:latin typeface="Segoe UI"/>
                        </a:rPr>
                        <a:t>Spoofed citation or source label</a:t>
                      </a:r>
                    </a:p>
                  </a:txBody>
                  <a:tcPr marL="101600" marR="101600" marT="50800" marB="50800" anchor="ctr">
                    <a:solidFill>
                      <a:srgbClr val="141519"/>
                    </a:solidFill>
                  </a:tcPr>
                </a:tc>
                <a:tc>
                  <a:txBody>
                    <a:bodyPr wrap="square"/>
                    <a:lstStyle/>
                    <a:p>
                      <a:r>
                        <a:rPr sz="1200" b="0">
                          <a:solidFill>
                            <a:srgbClr val="B8C0CF"/>
                          </a:solidFill>
                          <a:latin typeface="Segoe UI"/>
                        </a:rPr>
                        <a:t>Cited sources are assumed to be authoritative</a:t>
                      </a:r>
                    </a:p>
                  </a:txBody>
                  <a:tcPr marL="101600" marR="101600" marT="50800" marB="50800" anchor="ctr">
                    <a:solidFill>
                      <a:srgbClr val="141519"/>
                    </a:solidFill>
                  </a:tcPr>
                </a:tc>
                <a:tc>
                  <a:txBody>
                    <a:bodyPr wrap="square"/>
                    <a:lstStyle/>
                    <a:p>
                      <a:r>
                        <a:rPr sz="1200" b="0">
                          <a:solidFill>
                            <a:srgbClr val="B8C0CF"/>
                          </a:solidFill>
                          <a:latin typeface="Segoe UI"/>
                        </a:rPr>
                        <a:t>User or model over-trusts fabricated attribution</a:t>
                      </a:r>
                    </a:p>
                  </a:txBody>
                  <a:tcPr marL="101600" marR="101600" marT="50800" marB="50800" anchor="ctr">
                    <a:solidFill>
                      <a:srgbClr val="141519"/>
                    </a:solidFill>
                  </a:tcPr>
                </a:tc>
              </a:tr>
              <a:tr h="471830">
                <a:tc>
                  <a:txBody>
                    <a:bodyPr wrap="square"/>
                    <a:lstStyle/>
                    <a:p>
                      <a:r>
                        <a:rPr sz="1200" b="1">
                          <a:solidFill>
                            <a:srgbClr val="F5F7FB"/>
                          </a:solidFill>
                          <a:latin typeface="Segoe UI"/>
                        </a:rPr>
                        <a:t>Attacker-influenced web content</a:t>
                      </a:r>
                    </a:p>
                  </a:txBody>
                  <a:tcPr marL="101600" marR="101600" marT="50800" marB="50800" anchor="ctr">
                    <a:solidFill>
                      <a:srgbClr val="121319"/>
                    </a:solidFill>
                  </a:tcPr>
                </a:tc>
                <a:tc>
                  <a:txBody>
                    <a:bodyPr wrap="square"/>
                    <a:lstStyle/>
                    <a:p>
                      <a:r>
                        <a:rPr sz="1200" b="0">
                          <a:solidFill>
                            <a:srgbClr val="B8C0CF"/>
                          </a:solidFill>
                          <a:latin typeface="Segoe UI"/>
                        </a:rPr>
                        <a:t>Crawled external content is assumed equivalent to internal knowledge</a:t>
                      </a:r>
                    </a:p>
                  </a:txBody>
                  <a:tcPr marL="101600" marR="101600" marT="50800" marB="50800" anchor="ctr">
                    <a:solidFill>
                      <a:srgbClr val="121319"/>
                    </a:solidFill>
                  </a:tcPr>
                </a:tc>
                <a:tc>
                  <a:txBody>
                    <a:bodyPr wrap="square"/>
                    <a:lstStyle/>
                    <a:p>
                      <a:r>
                        <a:rPr sz="1200" b="0">
                          <a:solidFill>
                            <a:srgbClr val="B8C0CF"/>
                          </a:solidFill>
                          <a:latin typeface="Segoe UI"/>
                        </a:rPr>
                        <a:t>External attacker gains an indirect channel into the model</a:t>
                      </a:r>
                    </a:p>
                  </a:txBody>
                  <a:tcPr marL="101600" marR="101600" marT="50800" marB="50800" anchor="ctr">
                    <a:solidFill>
                      <a:srgbClr val="121319"/>
                    </a:solidFill>
                  </a:tcPr>
                </a:tc>
              </a:tr>
              <a:tr h="471832">
                <a:tc>
                  <a:txBody>
                    <a:bodyPr wrap="square"/>
                    <a:lstStyle/>
                    <a:p>
                      <a:r>
                        <a:rPr sz="1200" b="1">
                          <a:solidFill>
                            <a:srgbClr val="F5F7FB"/>
                          </a:solidFill>
                          <a:latin typeface="Segoe UI"/>
                        </a:rPr>
                        <a:t>Cross-tenant retrieved content</a:t>
                      </a:r>
                    </a:p>
                  </a:txBody>
                  <a:tcPr marL="101600" marR="101600" marT="50800" marB="50800" anchor="ctr">
                    <a:solidFill>
                      <a:srgbClr val="141519"/>
                    </a:solidFill>
                  </a:tcPr>
                </a:tc>
                <a:tc>
                  <a:txBody>
                    <a:bodyPr wrap="square"/>
                    <a:lstStyle/>
                    <a:p>
                      <a:r>
                        <a:rPr sz="1200" b="0">
                          <a:solidFill>
                            <a:srgbClr val="B8C0CF"/>
                          </a:solidFill>
                          <a:latin typeface="Segoe UI"/>
                        </a:rPr>
                        <a:t>Retrieval is assumed to be scoped to the current user or tenant</a:t>
                      </a:r>
                    </a:p>
                  </a:txBody>
                  <a:tcPr marL="101600" marR="101600" marT="50800" marB="50800" anchor="ctr">
                    <a:solidFill>
                      <a:srgbClr val="141519"/>
                    </a:solidFill>
                  </a:tcPr>
                </a:tc>
                <a:tc>
                  <a:txBody>
                    <a:bodyPr wrap="square"/>
                    <a:lstStyle/>
                    <a:p>
                      <a:r>
                        <a:rPr sz="1200" b="0">
                          <a:solidFill>
                            <a:srgbClr val="B8C0CF"/>
                          </a:solidFill>
                          <a:latin typeface="Segoe UI"/>
                        </a:rPr>
                        <a:t>Sensitive content from another user or tenant leaks</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The final row is developed fully as cross-tenant data leakage in Objective 5.4.</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5.3 · RECOGNITION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Signals of a successful indirect injection during testing</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UNEXPLAINED BEHAVIOURAL SHIFT</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model's tone, format, or apparent instructions change with no corresponding change in the user's own prompt.</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INSTRUCTIONS ATTRIBUTED TO 'THE DOCUMENT'</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response references following guidance that was not part of the tester's own query.</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ACTION WITHOUT A MATCHING USER REQUEST</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If tools are connected, an action occurs that the user's query alone would not justify.</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REPRODUCIBILITY ON RETRIEVAL, NOT ON REPHRASING</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effect reappears whenever the same corpus content is retrieved, regardless of how the query is worded.</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5.4</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5.4</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RAG-specific technique and considerations</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5.4 · OVERVIEW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Four RAG-specific techniques</a:t>
            </a:r>
          </a:p>
        </p:txBody>
      </p:sp>
      <p:sp>
        <p:nvSpPr>
          <p:cNvPr id="6" name="Rounded Rectangle 5"/>
          <p:cNvSpPr/>
          <p:nvPr/>
        </p:nvSpPr>
        <p:spPr>
          <a:xfrm>
            <a:off x="548640"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RANK</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Ranking manipulation</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Crafting content likely to be ranked highly and retrieved for a broad range of queries</a:t>
            </a:r>
          </a:p>
        </p:txBody>
      </p:sp>
      <p:sp>
        <p:nvSpPr>
          <p:cNvPr id="10" name="Rounded Rectangle 9"/>
          <p:cNvSpPr/>
          <p:nvPr/>
        </p:nvSpPr>
        <p:spPr>
          <a:xfrm>
            <a:off x="4337304"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CHUNK</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Chunk-boundary tricks</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Exploiting how documents are split to control what text is retrieved together</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CITE</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Citation spoofing</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Making injected content appear authoritative through fabricated source attribution</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These three, plus cross-tenant leakage covered separately, complete the RAG-specific technique set. Present them as refinements that make Objective 5.2's poisoning and Objective 5.3's injection more effective and harder to detect.</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5.4 · TECHNIQUE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Retrieval ranking manipulation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Retrieval ranking manipulation crafts poisoned content so that its embedding is semantically close to a wide range of likely queries, maximising the probability that it is ranked highly and retrieved — independent of whether it is actually the most relevant content available.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HOW IT WORKS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Because ranking is driven purely by vector similarity, content padded with many plausible query-like phrases can rank well for queries it has no genuine relevance to.</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EFFECT</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increases the reach of a poisoned chunk, making Objective 5.2's persistence property affect a broader range of queries than a narrowly written payload would.</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5.4 · TECHNIQUE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Chunk-boundary and formatting tricks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Chunk-boundary technique exploits the mechanics of how a document is split at ingestion — positioning content so that a malicious fragment is chunked together with, or separately from, specific surrounding text to control exactly what the model sees when that chunk is retrieved.</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BOUNDARY PLACEMENT</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 attacker who understands or can infer the chunking strategy can position content so a payload is isolated from any surrounding context that might otherwise neutralise or flag it.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FORMATTING EXPLOITATION</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Headings, list structures, or metadata-like formatting can be used to make injected text visually and structurally resemble a trusted instruction block within the chunk.</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5.4 · TECHNIQUE</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Citation and source spoofing</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Citation or source spoofing crafts injected content to carry the visual or structural markers of an authoritative source — formal document formatting, fabricated references, or citation-style attribution — so that both the model and a human reviewing its output are more likely to trust it.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MODEL-FACING EFFECT</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model asked to cite its sources may reproduce the spoofed attribution, lending the injected content false legitimacy in its own response.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HUMAN-FACING EFFECT</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 end user seeing a confident, well-formatted citation is less likely to question the content, compounding the impact of the underlying poisoning or injection.</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5.4 · RISK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Cross-user and cross-tenant data leakage in shared corpora</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In a RAG deployment shared across multiple users or tenants, insufficient isolation in the vector store or retrieval logic can cause one user's or tenant's private content to be retrieved and surfaced in another's query results.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ROOT CAUSE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Retrieval scoping — filtering the vector search to only the requesting user's or tenant's authorised content — is a deliberate access-control layer, not a default of the retrieval mechanism itself.</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CONSEQUENCE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Confidential documents, personal data, or another organisation's proprietary content can leak through ordinary, non-malicious queries, without any poisoning or injection required.</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5.4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Single-tenant vs multi-tenant corpus risk</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Single-tenant corpus</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One organisation's data, one trust boundary</a:t>
            </a:r>
          </a:p>
          <a:p>
            <a:pPr algn="l">
              <a:spcBef>
                <a:spcPts val="0"/>
              </a:spcBef>
              <a:spcAft>
                <a:spcPts val="800"/>
              </a:spcAft>
            </a:pPr>
            <a:r>
              <a:rPr sz="1400" b="1">
                <a:solidFill>
                  <a:srgbClr val="FF6A00"/>
                </a:solidFill>
                <a:latin typeface="Segoe UI"/>
              </a:rPr>
              <a:t>•  </a:t>
            </a:r>
            <a:r>
              <a:rPr sz="1400" b="0">
                <a:solidFill>
                  <a:srgbClr val="B8C0CF"/>
                </a:solidFill>
                <a:latin typeface="Segoe UI"/>
              </a:rPr>
              <a:t>Leakage risk is internal — between roles or teams, not across organisations</a:t>
            </a:r>
          </a:p>
          <a:p>
            <a:pPr algn="l">
              <a:spcBef>
                <a:spcPts val="0"/>
              </a:spcBef>
              <a:spcAft>
                <a:spcPts val="800"/>
              </a:spcAft>
            </a:pPr>
            <a:r>
              <a:rPr sz="1400" b="1">
                <a:solidFill>
                  <a:srgbClr val="FF6A00"/>
                </a:solidFill>
                <a:latin typeface="Segoe UI"/>
              </a:rPr>
              <a:t>•  </a:t>
            </a:r>
            <a:r>
              <a:rPr sz="1400" b="0">
                <a:solidFill>
                  <a:srgbClr val="B8C0CF"/>
                </a:solidFill>
                <a:latin typeface="Segoe UI"/>
              </a:rPr>
              <a:t>Poisoning still applies; cross-tenant leakage does not</a:t>
            </a:r>
          </a:p>
          <a:p>
            <a:pPr algn="l">
              <a:spcBef>
                <a:spcPts val="0"/>
              </a:spcBef>
              <a:spcAft>
                <a:spcPts val="800"/>
              </a:spcAft>
            </a:pPr>
            <a:r>
              <a:rPr sz="1400" b="1">
                <a:solidFill>
                  <a:srgbClr val="FF6A00"/>
                </a:solidFill>
                <a:latin typeface="Segoe UI"/>
              </a:rPr>
              <a:t>•  </a:t>
            </a:r>
            <a:r>
              <a:rPr sz="1400" b="0">
                <a:solidFill>
                  <a:srgbClr val="B8C0CF"/>
                </a:solidFill>
                <a:latin typeface="Segoe UI"/>
              </a:rPr>
              <a:t>Simpler retrieval scoping requirements</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Multi-tenant shared corpus</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Multiple customers' or users' data in one vector store</a:t>
            </a:r>
          </a:p>
          <a:p>
            <a:pPr algn="l">
              <a:spcBef>
                <a:spcPts val="0"/>
              </a:spcBef>
              <a:spcAft>
                <a:spcPts val="800"/>
              </a:spcAft>
            </a:pPr>
            <a:r>
              <a:rPr sz="1400" b="1">
                <a:solidFill>
                  <a:srgbClr val="FF6A00"/>
                </a:solidFill>
                <a:latin typeface="Segoe UI"/>
              </a:rPr>
              <a:t>•  </a:t>
            </a:r>
            <a:r>
              <a:rPr sz="1400" b="0">
                <a:solidFill>
                  <a:srgbClr val="B8C0CF"/>
                </a:solidFill>
                <a:latin typeface="Segoe UI"/>
              </a:rPr>
              <a:t>A scoping failure can leak one tenant's content to another entirely</a:t>
            </a:r>
          </a:p>
          <a:p>
            <a:pPr algn="l">
              <a:spcBef>
                <a:spcPts val="0"/>
              </a:spcBef>
              <a:spcAft>
                <a:spcPts val="800"/>
              </a:spcAft>
            </a:pPr>
            <a:r>
              <a:rPr sz="1400" b="1">
                <a:solidFill>
                  <a:srgbClr val="FF6A00"/>
                </a:solidFill>
                <a:latin typeface="Segoe UI"/>
              </a:rPr>
              <a:t>•  </a:t>
            </a:r>
            <a:r>
              <a:rPr sz="1400" b="0">
                <a:solidFill>
                  <a:srgbClr val="B8C0CF"/>
                </a:solidFill>
                <a:latin typeface="Segoe UI"/>
              </a:rPr>
              <a:t>Both poisoning and cross-tenant leakage are in scope</a:t>
            </a:r>
          </a:p>
          <a:p>
            <a:pPr algn="l">
              <a:spcBef>
                <a:spcPts val="0"/>
              </a:spcBef>
              <a:spcAft>
                <a:spcPts val="800"/>
              </a:spcAft>
            </a:pPr>
            <a:r>
              <a:rPr sz="1400" b="1">
                <a:solidFill>
                  <a:srgbClr val="FF6A00"/>
                </a:solidFill>
                <a:latin typeface="Segoe UI"/>
              </a:rPr>
              <a:t>•  </a:t>
            </a:r>
            <a:r>
              <a:rPr sz="1400" b="0">
                <a:solidFill>
                  <a:srgbClr val="B8C0CF"/>
                </a:solidFill>
                <a:latin typeface="Segoe UI"/>
              </a:rPr>
              <a:t>Retrieval must enforce per-tenant filtering on every query</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a multi-tenant RAG deployment inherits every single-tenant risk and adds cross-tenant leakage on top — always confirm which model a target uses before scoping a RAG assessment.</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5.4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RAG-specific technique to framework mapping</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Technique</a:t>
                      </a:r>
                    </a:p>
                  </a:txBody>
                  <a:tcPr marL="101600" marR="101600" marT="50800" marB="50800" anchor="ctr">
                    <a:solidFill>
                      <a:srgbClr val="3A2410"/>
                    </a:solidFill>
                  </a:tcPr>
                </a:tc>
                <a:tc>
                  <a:txBody>
                    <a:bodyPr wrap="square"/>
                    <a:lstStyle/>
                    <a:p>
                      <a:r>
                        <a:rPr sz="1300" b="1">
                          <a:solidFill>
                            <a:srgbClr val="F5F7FB"/>
                          </a:solidFill>
                          <a:latin typeface="Segoe UI"/>
                        </a:rPr>
                        <a:t>Mechanism</a:t>
                      </a:r>
                    </a:p>
                  </a:txBody>
                  <a:tcPr marL="101600" marR="101600" marT="50800" marB="50800" anchor="ctr">
                    <a:solidFill>
                      <a:srgbClr val="3A2410"/>
                    </a:solidFill>
                  </a:tcPr>
                </a:tc>
                <a:tc>
                  <a:txBody>
                    <a:bodyPr wrap="square"/>
                    <a:lstStyle/>
                    <a:p>
                      <a:r>
                        <a:rPr sz="1300" b="1">
                          <a:solidFill>
                            <a:srgbClr val="F5F7FB"/>
                          </a:solidFill>
                          <a:latin typeface="Segoe UI"/>
                        </a:rPr>
                        <a:t>Framework mapping</a:t>
                      </a:r>
                    </a:p>
                  </a:txBody>
                  <a:tcPr marL="101600" marR="101600" marT="50800" marB="50800" anchor="ctr">
                    <a:solidFill>
                      <a:srgbClr val="3A2410"/>
                    </a:solidFill>
                  </a:tcPr>
                </a:tc>
              </a:tr>
              <a:tr h="471830">
                <a:tc>
                  <a:txBody>
                    <a:bodyPr wrap="square"/>
                    <a:lstStyle/>
                    <a:p>
                      <a:r>
                        <a:rPr sz="1200" b="1">
                          <a:solidFill>
                            <a:srgbClr val="F5F7FB"/>
                          </a:solidFill>
                          <a:latin typeface="Segoe UI"/>
                        </a:rPr>
                        <a:t>Ranking manipulation</a:t>
                      </a:r>
                    </a:p>
                  </a:txBody>
                  <a:tcPr marL="101600" marR="101600" marT="50800" marB="50800" anchor="ctr">
                    <a:solidFill>
                      <a:srgbClr val="121319"/>
                    </a:solidFill>
                  </a:tcPr>
                </a:tc>
                <a:tc>
                  <a:txBody>
                    <a:bodyPr wrap="square"/>
                    <a:lstStyle/>
                    <a:p>
                      <a:r>
                        <a:rPr sz="1200" b="0">
                          <a:solidFill>
                            <a:srgbClr val="B8C0CF"/>
                          </a:solidFill>
                          <a:latin typeface="Segoe UI"/>
                        </a:rPr>
                        <a:t>Content crafted to score highly across many queries</a:t>
                      </a:r>
                    </a:p>
                  </a:txBody>
                  <a:tcPr marL="101600" marR="101600" marT="50800" marB="50800" anchor="ctr">
                    <a:solidFill>
                      <a:srgbClr val="121319"/>
                    </a:solidFill>
                  </a:tcPr>
                </a:tc>
                <a:tc>
                  <a:txBody>
                    <a:bodyPr wrap="square"/>
                    <a:lstStyle/>
                    <a:p>
                      <a:r>
                        <a:rPr sz="1200" b="0">
                          <a:solidFill>
                            <a:srgbClr val="B8C0CF"/>
                          </a:solidFill>
                          <a:latin typeface="Segoe UI"/>
                        </a:rPr>
                        <a:t>OWASP LLM01 / LLM04</a:t>
                      </a:r>
                    </a:p>
                  </a:txBody>
                  <a:tcPr marL="101600" marR="101600" marT="50800" marB="50800" anchor="ctr">
                    <a:solidFill>
                      <a:srgbClr val="121319"/>
                    </a:solidFill>
                  </a:tcPr>
                </a:tc>
              </a:tr>
              <a:tr h="471830">
                <a:tc>
                  <a:txBody>
                    <a:bodyPr wrap="square"/>
                    <a:lstStyle/>
                    <a:p>
                      <a:r>
                        <a:rPr sz="1200" b="1">
                          <a:solidFill>
                            <a:srgbClr val="F5F7FB"/>
                          </a:solidFill>
                          <a:latin typeface="Segoe UI"/>
                        </a:rPr>
                        <a:t>Chunk-boundary tricks</a:t>
                      </a:r>
                    </a:p>
                  </a:txBody>
                  <a:tcPr marL="101600" marR="101600" marT="50800" marB="50800" anchor="ctr">
                    <a:solidFill>
                      <a:srgbClr val="141519"/>
                    </a:solidFill>
                  </a:tcPr>
                </a:tc>
                <a:tc>
                  <a:txBody>
                    <a:bodyPr wrap="square"/>
                    <a:lstStyle/>
                    <a:p>
                      <a:r>
                        <a:rPr sz="1200" b="0">
                          <a:solidFill>
                            <a:srgbClr val="B8C0CF"/>
                          </a:solidFill>
                          <a:latin typeface="Segoe UI"/>
                        </a:rPr>
                        <a:t>Payload positioned to exploit document-splitting mechanics</a:t>
                      </a:r>
                    </a:p>
                  </a:txBody>
                  <a:tcPr marL="101600" marR="101600" marT="50800" marB="50800" anchor="ctr">
                    <a:solidFill>
                      <a:srgbClr val="141519"/>
                    </a:solidFill>
                  </a:tcPr>
                </a:tc>
                <a:tc>
                  <a:txBody>
                    <a:bodyPr wrap="square"/>
                    <a:lstStyle/>
                    <a:p>
                      <a:r>
                        <a:rPr sz="1200" b="0">
                          <a:solidFill>
                            <a:srgbClr val="B8C0CF"/>
                          </a:solidFill>
                          <a:latin typeface="Segoe UI"/>
                        </a:rPr>
                        <a:t>OWASP LLM01</a:t>
                      </a:r>
                    </a:p>
                  </a:txBody>
                  <a:tcPr marL="101600" marR="101600" marT="50800" marB="50800" anchor="ctr">
                    <a:solidFill>
                      <a:srgbClr val="141519"/>
                    </a:solidFill>
                  </a:tcPr>
                </a:tc>
              </a:tr>
              <a:tr h="471830">
                <a:tc>
                  <a:txBody>
                    <a:bodyPr wrap="square"/>
                    <a:lstStyle/>
                    <a:p>
                      <a:r>
                        <a:rPr sz="1200" b="1">
                          <a:solidFill>
                            <a:srgbClr val="F5F7FB"/>
                          </a:solidFill>
                          <a:latin typeface="Segoe UI"/>
                        </a:rPr>
                        <a:t>Citation spoofing</a:t>
                      </a:r>
                    </a:p>
                  </a:txBody>
                  <a:tcPr marL="101600" marR="101600" marT="50800" marB="50800" anchor="ctr">
                    <a:solidFill>
                      <a:srgbClr val="121319"/>
                    </a:solidFill>
                  </a:tcPr>
                </a:tc>
                <a:tc>
                  <a:txBody>
                    <a:bodyPr wrap="square"/>
                    <a:lstStyle/>
                    <a:p>
                      <a:r>
                        <a:rPr sz="1200" b="0">
                          <a:solidFill>
                            <a:srgbClr val="B8C0CF"/>
                          </a:solidFill>
                          <a:latin typeface="Segoe UI"/>
                        </a:rPr>
                        <a:t>Fabricated source attribution to appear authoritative</a:t>
                      </a:r>
                    </a:p>
                  </a:txBody>
                  <a:tcPr marL="101600" marR="101600" marT="50800" marB="50800" anchor="ctr">
                    <a:solidFill>
                      <a:srgbClr val="121319"/>
                    </a:solidFill>
                  </a:tcPr>
                </a:tc>
                <a:tc>
                  <a:txBody>
                    <a:bodyPr wrap="square"/>
                    <a:lstStyle/>
                    <a:p>
                      <a:r>
                        <a:rPr sz="1200" b="0">
                          <a:solidFill>
                            <a:srgbClr val="B8C0CF"/>
                          </a:solidFill>
                          <a:latin typeface="Segoe UI"/>
                        </a:rPr>
                        <a:t>OWASP LLM01</a:t>
                      </a:r>
                    </a:p>
                  </a:txBody>
                  <a:tcPr marL="101600" marR="101600" marT="50800" marB="50800" anchor="ctr">
                    <a:solidFill>
                      <a:srgbClr val="121319"/>
                    </a:solidFill>
                  </a:tcPr>
                </a:tc>
              </a:tr>
              <a:tr h="471832">
                <a:tc>
                  <a:txBody>
                    <a:bodyPr wrap="square"/>
                    <a:lstStyle/>
                    <a:p>
                      <a:r>
                        <a:rPr sz="1200" b="1">
                          <a:solidFill>
                            <a:srgbClr val="F5F7FB"/>
                          </a:solidFill>
                          <a:latin typeface="Segoe UI"/>
                        </a:rPr>
                        <a:t>Cross-tenant leakage</a:t>
                      </a:r>
                    </a:p>
                  </a:txBody>
                  <a:tcPr marL="101600" marR="101600" marT="50800" marB="50800" anchor="ctr">
                    <a:solidFill>
                      <a:srgbClr val="141519"/>
                    </a:solidFill>
                  </a:tcPr>
                </a:tc>
                <a:tc>
                  <a:txBody>
                    <a:bodyPr wrap="square"/>
                    <a:lstStyle/>
                    <a:p>
                      <a:r>
                        <a:rPr sz="1200" b="0">
                          <a:solidFill>
                            <a:srgbClr val="B8C0CF"/>
                          </a:solidFill>
                          <a:latin typeface="Segoe UI"/>
                        </a:rPr>
                        <a:t>Retrieval scoping failure across users or tenants</a:t>
                      </a:r>
                    </a:p>
                  </a:txBody>
                  <a:tcPr marL="101600" marR="101600" marT="50800" marB="50800" anchor="ctr">
                    <a:solidFill>
                      <a:srgbClr val="141519"/>
                    </a:solidFill>
                  </a:tcPr>
                </a:tc>
                <a:tc>
                  <a:txBody>
                    <a:bodyPr wrap="square"/>
                    <a:lstStyle/>
                    <a:p>
                      <a:r>
                        <a:rPr sz="1200" b="0">
                          <a:solidFill>
                            <a:srgbClr val="B8C0CF"/>
                          </a:solidFill>
                          <a:latin typeface="Segoe UI"/>
                        </a:rPr>
                        <a:t>OWASP LLM08 — Vector &amp; Embedding Weaknesses</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Module 6 returns to LLM08 in far greater depth as it examines embeddings and vector databases directly.</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5.4 · METHODOLOGY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RAG-pipeline assessment workflow</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Confirm RAG and map the pipeline</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Use Module 2's detection signal, then identify ingestion, chunking, and storage components per Objective 5.1.</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ingestion vectors</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Enumerate every editable, uploadable, or crawled source that Objective 5.2 could target.</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Test corpus-to-response persistence</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Confirm, where authorised, that content placed in the corpus is later reflected in retrieved output.</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Probe the retrieval-trust boundary</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Assess whether retrieved text is capable of altering model behaviour, per Objective 5.3's mechanism.</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Assess tenancy and scoping</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whether the corpus is single- or multi-tenant, and whether retrieval is properly scoped.</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ACRONYM SPOTLIGHT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Key acronyms for this module</a:t>
            </a:r>
          </a:p>
        </p:txBody>
      </p:sp>
      <p:graphicFrame>
        <p:nvGraphicFramePr>
          <p:cNvPr id="6" name="Table 5"/>
          <p:cNvGraphicFramePr>
            <a:graphicFrameLocks noGrp="1"/>
          </p:cNvGraphicFramePr>
          <p:nvPr/>
        </p:nvGraphicFramePr>
        <p:xfrm>
          <a:off x="548640" y="1828800"/>
          <a:ext cx="11091672" cy="4206240"/>
        </p:xfrm>
        <a:graphic>
          <a:graphicData uri="http://schemas.openxmlformats.org/drawingml/2006/table">
            <a:tbl>
              <a:tblPr>
                <a:tableStyleId>{5C22544A-7EE6-4342-B048-85BDC9FD1C3A}</a:tableStyleId>
              </a:tblPr>
              <a:tblGrid>
                <a:gridCol w="3697224"/>
                <a:gridCol w="3697224"/>
                <a:gridCol w="3697224"/>
              </a:tblGrid>
              <a:tr h="467360">
                <a:tc>
                  <a:txBody>
                    <a:bodyPr wrap="square"/>
                    <a:lstStyle/>
                    <a:p>
                      <a:r>
                        <a:rPr sz="1300" b="1">
                          <a:solidFill>
                            <a:srgbClr val="F5F7FB"/>
                          </a:solidFill>
                          <a:latin typeface="Segoe UI"/>
                        </a:rPr>
                        <a:t>Acronym</a:t>
                      </a:r>
                    </a:p>
                  </a:txBody>
                  <a:tcPr marL="101600" marR="101600" marT="50800" marB="50800" anchor="ctr">
                    <a:solidFill>
                      <a:srgbClr val="3A2410"/>
                    </a:solidFill>
                  </a:tcPr>
                </a:tc>
                <a:tc>
                  <a:txBody>
                    <a:bodyPr wrap="square"/>
                    <a:lstStyle/>
                    <a:p>
                      <a:r>
                        <a:rPr sz="1300" b="1">
                          <a:solidFill>
                            <a:srgbClr val="F5F7FB"/>
                          </a:solidFill>
                          <a:latin typeface="Segoe UI"/>
                        </a:rPr>
                        <a:t>Expansion</a:t>
                      </a:r>
                    </a:p>
                  </a:txBody>
                  <a:tcPr marL="101600" marR="101600" marT="50800" marB="50800" anchor="ctr">
                    <a:solidFill>
                      <a:srgbClr val="3A2410"/>
                    </a:solidFill>
                  </a:tcPr>
                </a:tc>
                <a:tc>
                  <a:txBody>
                    <a:bodyPr wrap="square"/>
                    <a:lstStyle/>
                    <a:p>
                      <a:r>
                        <a:rPr sz="1300" b="1">
                          <a:solidFill>
                            <a:srgbClr val="F5F7FB"/>
                          </a:solidFill>
                          <a:latin typeface="Segoe UI"/>
                        </a:rPr>
                        <a:t>Meaning in context</a:t>
                      </a:r>
                    </a:p>
                  </a:txBody>
                  <a:tcPr marL="101600" marR="101600" marT="50800" marB="50800" anchor="ctr">
                    <a:solidFill>
                      <a:srgbClr val="3A2410"/>
                    </a:solidFill>
                  </a:tcPr>
                </a:tc>
              </a:tr>
              <a:tr h="467360">
                <a:tc>
                  <a:txBody>
                    <a:bodyPr wrap="square"/>
                    <a:lstStyle/>
                    <a:p>
                      <a:r>
                        <a:rPr sz="1200" b="1">
                          <a:solidFill>
                            <a:srgbClr val="F5F7FB"/>
                          </a:solidFill>
                          <a:latin typeface="Segoe UI"/>
                        </a:rPr>
                        <a:t>RAG</a:t>
                      </a:r>
                    </a:p>
                  </a:txBody>
                  <a:tcPr marL="101600" marR="101600" marT="50800" marB="50800" anchor="ctr">
                    <a:solidFill>
                      <a:srgbClr val="121319"/>
                    </a:solidFill>
                  </a:tcPr>
                </a:tc>
                <a:tc>
                  <a:txBody>
                    <a:bodyPr wrap="square"/>
                    <a:lstStyle/>
                    <a:p>
                      <a:r>
                        <a:rPr sz="1200" b="0">
                          <a:solidFill>
                            <a:srgbClr val="B8C0CF"/>
                          </a:solidFill>
                          <a:latin typeface="Segoe UI"/>
                        </a:rPr>
                        <a:t>Retrieval-Augmented Generation</a:t>
                      </a:r>
                    </a:p>
                  </a:txBody>
                  <a:tcPr marL="101600" marR="101600" marT="50800" marB="50800" anchor="ctr">
                    <a:solidFill>
                      <a:srgbClr val="121319"/>
                    </a:solidFill>
                  </a:tcPr>
                </a:tc>
                <a:tc>
                  <a:txBody>
                    <a:bodyPr wrap="square"/>
                    <a:lstStyle/>
                    <a:p>
                      <a:r>
                        <a:rPr sz="1200" b="0">
                          <a:solidFill>
                            <a:srgbClr val="B8C0CF"/>
                          </a:solidFill>
                          <a:latin typeface="Segoe UI"/>
                        </a:rPr>
                        <a:t>The pipeline architecture this entire module attacks</a:t>
                      </a:r>
                    </a:p>
                  </a:txBody>
                  <a:tcPr marL="101600" marR="101600" marT="50800" marB="50800" anchor="ctr">
                    <a:solidFill>
                      <a:srgbClr val="121319"/>
                    </a:solidFill>
                  </a:tcPr>
                </a:tc>
              </a:tr>
              <a:tr h="467360">
                <a:tc>
                  <a:txBody>
                    <a:bodyPr wrap="square"/>
                    <a:lstStyle/>
                    <a:p>
                      <a:r>
                        <a:rPr sz="1200" b="1">
                          <a:solidFill>
                            <a:srgbClr val="F5F7FB"/>
                          </a:solidFill>
                          <a:latin typeface="Segoe UI"/>
                        </a:rPr>
                        <a:t>OWASP</a:t>
                      </a:r>
                    </a:p>
                  </a:txBody>
                  <a:tcPr marL="101600" marR="101600" marT="50800" marB="50800" anchor="ctr">
                    <a:solidFill>
                      <a:srgbClr val="141519"/>
                    </a:solidFill>
                  </a:tcPr>
                </a:tc>
                <a:tc>
                  <a:txBody>
                    <a:bodyPr wrap="square"/>
                    <a:lstStyle/>
                    <a:p>
                      <a:r>
                        <a:rPr sz="1200" b="0">
                          <a:solidFill>
                            <a:srgbClr val="B8C0CF"/>
                          </a:solidFill>
                          <a:latin typeface="Segoe UI"/>
                        </a:rPr>
                        <a:t>Open Worldwide Application Security Project</a:t>
                      </a:r>
                    </a:p>
                  </a:txBody>
                  <a:tcPr marL="101600" marR="101600" marT="50800" marB="50800" anchor="ctr">
                    <a:solidFill>
                      <a:srgbClr val="141519"/>
                    </a:solidFill>
                  </a:tcPr>
                </a:tc>
                <a:tc>
                  <a:txBody>
                    <a:bodyPr wrap="square"/>
                    <a:lstStyle/>
                    <a:p>
                      <a:r>
                        <a:rPr sz="1200" b="0">
                          <a:solidFill>
                            <a:srgbClr val="B8C0CF"/>
                          </a:solidFill>
                          <a:latin typeface="Segoe UI"/>
                        </a:rPr>
                        <a:t>Publisher of the Top 10 for LLM Applications used throughout</a:t>
                      </a:r>
                    </a:p>
                  </a:txBody>
                  <a:tcPr marL="101600" marR="101600" marT="50800" marB="50800" anchor="ctr">
                    <a:solidFill>
                      <a:srgbClr val="141519"/>
                    </a:solidFill>
                  </a:tcPr>
                </a:tc>
              </a:tr>
              <a:tr h="467360">
                <a:tc>
                  <a:txBody>
                    <a:bodyPr wrap="square"/>
                    <a:lstStyle/>
                    <a:p>
                      <a:r>
                        <a:rPr sz="1200" b="1">
                          <a:solidFill>
                            <a:srgbClr val="F5F7FB"/>
                          </a:solidFill>
                          <a:latin typeface="Segoe UI"/>
                        </a:rPr>
                        <a:t>LLM01</a:t>
                      </a:r>
                    </a:p>
                  </a:txBody>
                  <a:tcPr marL="101600" marR="101600" marT="50800" marB="50800" anchor="ctr">
                    <a:solidFill>
                      <a:srgbClr val="121319"/>
                    </a:solidFill>
                  </a:tcPr>
                </a:tc>
                <a:tc>
                  <a:txBody>
                    <a:bodyPr wrap="square"/>
                    <a:lstStyle/>
                    <a:p>
                      <a:r>
                        <a:rPr sz="1200" b="0">
                          <a:solidFill>
                            <a:srgbClr val="B8C0CF"/>
                          </a:solidFill>
                          <a:latin typeface="Segoe UI"/>
                        </a:rPr>
                        <a:t>Prompt Injection (OWASP category)</a:t>
                      </a:r>
                    </a:p>
                  </a:txBody>
                  <a:tcPr marL="101600" marR="101600" marT="50800" marB="50800" anchor="ctr">
                    <a:solidFill>
                      <a:srgbClr val="121319"/>
                    </a:solidFill>
                  </a:tcPr>
                </a:tc>
                <a:tc>
                  <a:txBody>
                    <a:bodyPr wrap="square"/>
                    <a:lstStyle/>
                    <a:p>
                      <a:r>
                        <a:rPr sz="1200" b="0">
                          <a:solidFill>
                            <a:srgbClr val="B8C0CF"/>
                          </a:solidFill>
                          <a:latin typeface="Segoe UI"/>
                        </a:rPr>
                        <a:t>Covers indirect injection via retrieved content — Objective 5.3</a:t>
                      </a:r>
                    </a:p>
                  </a:txBody>
                  <a:tcPr marL="101600" marR="101600" marT="50800" marB="50800" anchor="ctr">
                    <a:solidFill>
                      <a:srgbClr val="121319"/>
                    </a:solidFill>
                  </a:tcPr>
                </a:tc>
              </a:tr>
              <a:tr h="467360">
                <a:tc>
                  <a:txBody>
                    <a:bodyPr wrap="square"/>
                    <a:lstStyle/>
                    <a:p>
                      <a:r>
                        <a:rPr sz="1200" b="1">
                          <a:solidFill>
                            <a:srgbClr val="F5F7FB"/>
                          </a:solidFill>
                          <a:latin typeface="Segoe UI"/>
                        </a:rPr>
                        <a:t>LLM04</a:t>
                      </a:r>
                    </a:p>
                  </a:txBody>
                  <a:tcPr marL="101600" marR="101600" marT="50800" marB="50800" anchor="ctr">
                    <a:solidFill>
                      <a:srgbClr val="141519"/>
                    </a:solidFill>
                  </a:tcPr>
                </a:tc>
                <a:tc>
                  <a:txBody>
                    <a:bodyPr wrap="square"/>
                    <a:lstStyle/>
                    <a:p>
                      <a:r>
                        <a:rPr sz="1200" b="0">
                          <a:solidFill>
                            <a:srgbClr val="B8C0CF"/>
                          </a:solidFill>
                          <a:latin typeface="Segoe UI"/>
                        </a:rPr>
                        <a:t>Data and Model Poisoning (OWASP category)</a:t>
                      </a:r>
                    </a:p>
                  </a:txBody>
                  <a:tcPr marL="101600" marR="101600" marT="50800" marB="50800" anchor="ctr">
                    <a:solidFill>
                      <a:srgbClr val="141519"/>
                    </a:solidFill>
                  </a:tcPr>
                </a:tc>
                <a:tc>
                  <a:txBody>
                    <a:bodyPr wrap="square"/>
                    <a:lstStyle/>
                    <a:p>
                      <a:r>
                        <a:rPr sz="1200" b="0">
                          <a:solidFill>
                            <a:srgbClr val="B8C0CF"/>
                          </a:solidFill>
                          <a:latin typeface="Segoe UI"/>
                        </a:rPr>
                        <a:t>Covers RAG-corpus poisoning as a retrieval-time subset — Objective 5.2</a:t>
                      </a:r>
                    </a:p>
                  </a:txBody>
                  <a:tcPr marL="101600" marR="101600" marT="50800" marB="50800" anchor="ctr">
                    <a:solidFill>
                      <a:srgbClr val="141519"/>
                    </a:solidFill>
                  </a:tcPr>
                </a:tc>
              </a:tr>
              <a:tr h="467360">
                <a:tc>
                  <a:txBody>
                    <a:bodyPr wrap="square"/>
                    <a:lstStyle/>
                    <a:p>
                      <a:r>
                        <a:rPr sz="1200" b="1">
                          <a:solidFill>
                            <a:srgbClr val="F5F7FB"/>
                          </a:solidFill>
                          <a:latin typeface="Segoe UI"/>
                        </a:rPr>
                        <a:t>LLM08</a:t>
                      </a:r>
                    </a:p>
                  </a:txBody>
                  <a:tcPr marL="101600" marR="101600" marT="50800" marB="50800" anchor="ctr">
                    <a:solidFill>
                      <a:srgbClr val="121319"/>
                    </a:solidFill>
                  </a:tcPr>
                </a:tc>
                <a:tc>
                  <a:txBody>
                    <a:bodyPr wrap="square"/>
                    <a:lstStyle/>
                    <a:p>
                      <a:r>
                        <a:rPr sz="1200" b="0">
                          <a:solidFill>
                            <a:srgbClr val="B8C0CF"/>
                          </a:solidFill>
                          <a:latin typeface="Segoe UI"/>
                        </a:rPr>
                        <a:t>Vector and Embedding Weaknesses (OWASP category)</a:t>
                      </a:r>
                    </a:p>
                  </a:txBody>
                  <a:tcPr marL="101600" marR="101600" marT="50800" marB="50800" anchor="ctr">
                    <a:solidFill>
                      <a:srgbClr val="121319"/>
                    </a:solidFill>
                  </a:tcPr>
                </a:tc>
                <a:tc>
                  <a:txBody>
                    <a:bodyPr wrap="square"/>
                    <a:lstStyle/>
                    <a:p>
                      <a:r>
                        <a:rPr sz="1200" b="0">
                          <a:solidFill>
                            <a:srgbClr val="B8C0CF"/>
                          </a:solidFill>
                          <a:latin typeface="Segoe UI"/>
                        </a:rPr>
                        <a:t>Covers cross-tenant leakage and vector-store risk — Objective 5.4</a:t>
                      </a:r>
                    </a:p>
                  </a:txBody>
                  <a:tcPr marL="101600" marR="101600" marT="50800" marB="50800" anchor="ctr">
                    <a:solidFill>
                      <a:srgbClr val="121319"/>
                    </a:solidFill>
                  </a:tcPr>
                </a:tc>
              </a:tr>
              <a:tr h="467360">
                <a:tc>
                  <a:txBody>
                    <a:bodyPr wrap="square"/>
                    <a:lstStyle/>
                    <a:p>
                      <a:r>
                        <a:rPr sz="1200" b="1">
                          <a:solidFill>
                            <a:srgbClr val="F5F7FB"/>
                          </a:solidFill>
                          <a:latin typeface="Segoe UI"/>
                        </a:rPr>
                        <a:t>ATLAS</a:t>
                      </a:r>
                    </a:p>
                  </a:txBody>
                  <a:tcPr marL="101600" marR="101600" marT="50800" marB="50800" anchor="ctr">
                    <a:solidFill>
                      <a:srgbClr val="141519"/>
                    </a:solidFill>
                  </a:tcPr>
                </a:tc>
                <a:tc>
                  <a:txBody>
                    <a:bodyPr wrap="square"/>
                    <a:lstStyle/>
                    <a:p>
                      <a:r>
                        <a:rPr sz="1200" b="0">
                          <a:solidFill>
                            <a:srgbClr val="B8C0CF"/>
                          </a:solidFill>
                          <a:latin typeface="Segoe UI"/>
                        </a:rPr>
                        <a:t>Adversarial Threat Landscape for AI Systems (MITRE)</a:t>
                      </a:r>
                    </a:p>
                  </a:txBody>
                  <a:tcPr marL="101600" marR="101600" marT="50800" marB="50800" anchor="ctr">
                    <a:solidFill>
                      <a:srgbClr val="141519"/>
                    </a:solidFill>
                  </a:tcPr>
                </a:tc>
                <a:tc>
                  <a:txBody>
                    <a:bodyPr wrap="square"/>
                    <a:lstStyle/>
                    <a:p>
                      <a:r>
                        <a:rPr sz="1200" b="0">
                          <a:solidFill>
                            <a:srgbClr val="B8C0CF"/>
                          </a:solidFill>
                          <a:latin typeface="Segoe UI"/>
                        </a:rPr>
                        <a:t>Complementary tactic/technique framework for report mapping</a:t>
                      </a:r>
                    </a:p>
                  </a:txBody>
                  <a:tcPr marL="101600" marR="101600" marT="50800" marB="50800" anchor="ctr">
                    <a:solidFill>
                      <a:srgbClr val="141519"/>
                    </a:solidFill>
                  </a:tcPr>
                </a:tc>
              </a:tr>
              <a:tr h="467360">
                <a:tc>
                  <a:txBody>
                    <a:bodyPr wrap="square"/>
                    <a:lstStyle/>
                    <a:p>
                      <a:r>
                        <a:rPr sz="1200" b="1">
                          <a:solidFill>
                            <a:srgbClr val="F5F7FB"/>
                          </a:solidFill>
                          <a:latin typeface="Segoe UI"/>
                        </a:rPr>
                        <a:t>TTP</a:t>
                      </a:r>
                    </a:p>
                  </a:txBody>
                  <a:tcPr marL="101600" marR="101600" marT="50800" marB="50800" anchor="ctr">
                    <a:solidFill>
                      <a:srgbClr val="121319"/>
                    </a:solidFill>
                  </a:tcPr>
                </a:tc>
                <a:tc>
                  <a:txBody>
                    <a:bodyPr wrap="square"/>
                    <a:lstStyle/>
                    <a:p>
                      <a:r>
                        <a:rPr sz="1200" b="0">
                          <a:solidFill>
                            <a:srgbClr val="B8C0CF"/>
                          </a:solidFill>
                          <a:latin typeface="Segoe UI"/>
                        </a:rPr>
                        <a:t>Tactics, Techniques, Procedures</a:t>
                      </a:r>
                    </a:p>
                  </a:txBody>
                  <a:tcPr marL="101600" marR="101600" marT="50800" marB="50800" anchor="ctr">
                    <a:solidFill>
                      <a:srgbClr val="121319"/>
                    </a:solidFill>
                  </a:tcPr>
                </a:tc>
                <a:tc>
                  <a:txBody>
                    <a:bodyPr wrap="square"/>
                    <a:lstStyle/>
                    <a:p>
                      <a:r>
                        <a:rPr sz="1200" b="0">
                          <a:solidFill>
                            <a:srgbClr val="B8C0CF"/>
                          </a:solidFill>
                          <a:latin typeface="Segoe UI"/>
                        </a:rPr>
                        <a:t>How RAG attacks are described in an ATLAS-mapped report</a:t>
                      </a:r>
                    </a:p>
                  </a:txBody>
                  <a:tcPr marL="101600" marR="101600" marT="50800" marB="50800" anchor="ctr">
                    <a:solidFill>
                      <a:srgbClr val="121319"/>
                    </a:solidFill>
                  </a:tcPr>
                </a:tc>
              </a:tr>
              <a:tr h="467360">
                <a:tc>
                  <a:txBody>
                    <a:bodyPr wrap="square"/>
                    <a:lstStyle/>
                    <a:p>
                      <a:r>
                        <a:rPr sz="1200" b="1">
                          <a:solidFill>
                            <a:srgbClr val="F5F7FB"/>
                          </a:solidFill>
                          <a:latin typeface="Segoe UI"/>
                        </a:rPr>
                        <a:t>PII</a:t>
                      </a:r>
                    </a:p>
                  </a:txBody>
                  <a:tcPr marL="101600" marR="101600" marT="50800" marB="50800" anchor="ctr">
                    <a:solidFill>
                      <a:srgbClr val="141519"/>
                    </a:solidFill>
                  </a:tcPr>
                </a:tc>
                <a:tc>
                  <a:txBody>
                    <a:bodyPr wrap="square"/>
                    <a:lstStyle/>
                    <a:p>
                      <a:r>
                        <a:rPr sz="1200" b="0">
                          <a:solidFill>
                            <a:srgbClr val="B8C0CF"/>
                          </a:solidFill>
                          <a:latin typeface="Segoe UI"/>
                        </a:rPr>
                        <a:t>Personally Identifiable Information</a:t>
                      </a:r>
                    </a:p>
                  </a:txBody>
                  <a:tcPr marL="101600" marR="101600" marT="50800" marB="50800" anchor="ctr">
                    <a:solidFill>
                      <a:srgbClr val="141519"/>
                    </a:solidFill>
                  </a:tcPr>
                </a:tc>
                <a:tc>
                  <a:txBody>
                    <a:bodyPr wrap="square"/>
                    <a:lstStyle/>
                    <a:p>
                      <a:r>
                        <a:rPr sz="1200" b="0">
                          <a:solidFill>
                            <a:srgbClr val="B8C0CF"/>
                          </a:solidFill>
                          <a:latin typeface="Segoe UI"/>
                        </a:rPr>
                        <a:t>Sensitive data category at risk in cross-tenant leakage findings</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ATLAS and the six-layer attack surface from Module 1 remain in active use throughout this module's methodology.</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COMMON MISCONCEPTIONS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Myths to unlearn before Module 6</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'RAG POISONING REQUIRES HACKING THE MODEL'</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it only requires a route into the corpus — the model itself is never directly attacked at the ingestion stage.</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'INDIRECT INJECTION NEEDS THE VICTIM'S OWN PROMPT'</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the entire point of indirect injection via retrieval is that no access to the victim's session is required at all.</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 POISONED DOCUMENT ONLY AFFECTS ONE CONVERSATION'</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persistence means it affects every future query that retrieves it, across every user, until removed.</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'CROSS-TENANT LEAKAGE REQUIRES AN ATTACKER PAYLOAD'</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it can occur through ordinary, non-malicious queries against a badly scoped shared corpus.</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DOMAIN WEIGHTING</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n/a</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OSAI weightings: Information not defined in the official exam outline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KNOWLEDGE CHECK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Test yourself</a:t>
            </a:r>
          </a:p>
        </p:txBody>
      </p:sp>
      <p:sp>
        <p:nvSpPr>
          <p:cNvPr id="6" name="Rounded Rectangle 5"/>
          <p:cNvSpPr/>
          <p:nvPr/>
        </p:nvSpPr>
        <p:spPr>
          <a:xfrm>
            <a:off x="548640" y="1783080"/>
            <a:ext cx="11091672" cy="1005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10607040" cy="914400"/>
          </a:xfrm>
          <a:prstGeom prst="rect">
            <a:avLst/>
          </a:prstGeom>
          <a:noFill/>
        </p:spPr>
        <p:txBody>
          <a:bodyPr wrap="square" anchor="ctr" lIns="25400" rIns="25400" tIns="25400" bIns="25400">
            <a:spAutoFit/>
          </a:bodyPr>
          <a:lstStyle/>
          <a:p>
            <a:pPr algn="l">
              <a:spcBef>
                <a:spcPts val="0"/>
              </a:spcBef>
              <a:spcAft>
                <a:spcPts val="600"/>
              </a:spcAft>
            </a:pPr>
            <a:r>
              <a:rPr sz="1600" b="1">
                <a:solidFill>
                  <a:srgbClr val="F5F7FB"/>
                </a:solidFill>
                <a:latin typeface="Segoe UI"/>
              </a:rPr>
              <a:t>During testing, a tester never interacts with the target chatbot directly. Instead, they submit a crafted entry to an internal wiki that the RAG pipeline later ingests. Weeks afterward, unrelated users asking a matching question receive responses following an embedded instruction from that entry. What best describes this scenario?</a:t>
            </a:r>
          </a:p>
        </p:txBody>
      </p:sp>
      <p:sp>
        <p:nvSpPr>
          <p:cNvPr id="8" name="Rounded Rectangle 7"/>
          <p:cNvSpPr/>
          <p:nvPr/>
        </p:nvSpPr>
        <p:spPr>
          <a:xfrm>
            <a:off x="548640" y="2971800"/>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71800"/>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A</a:t>
            </a:r>
          </a:p>
        </p:txBody>
      </p:sp>
      <p:sp>
        <p:nvSpPr>
          <p:cNvPr id="10" name="TextBox 9"/>
          <p:cNvSpPr txBox="1"/>
          <p:nvPr/>
        </p:nvSpPr>
        <p:spPr>
          <a:xfrm>
            <a:off x="1234440" y="2971800"/>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A direct prompt injection delivered through the chat interface</a:t>
            </a:r>
          </a:p>
        </p:txBody>
      </p:sp>
      <p:sp>
        <p:nvSpPr>
          <p:cNvPr id="11" name="Rounded Rectangle 10"/>
          <p:cNvSpPr/>
          <p:nvPr/>
        </p:nvSpPr>
        <p:spPr>
          <a:xfrm>
            <a:off x="548640" y="3575304"/>
            <a:ext cx="11091672" cy="512064"/>
          </a:xfrm>
          <a:prstGeom prst="roundRect">
            <a:avLst/>
          </a:prstGeom>
          <a:solidFill>
            <a:srgbClr val="1A1208"/>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75304"/>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B</a:t>
            </a:r>
          </a:p>
        </p:txBody>
      </p:sp>
      <p:sp>
        <p:nvSpPr>
          <p:cNvPr id="13" name="TextBox 12"/>
          <p:cNvSpPr txBox="1"/>
          <p:nvPr/>
        </p:nvSpPr>
        <p:spPr>
          <a:xfrm>
            <a:off x="1234440" y="3575304"/>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1">
                <a:solidFill>
                  <a:srgbClr val="F5F7FB"/>
                </a:solidFill>
                <a:latin typeface="Segoe UI"/>
              </a:rPr>
              <a:t>RAG-corpus poisoning combined with indirect prompt injection via retrieval</a:t>
            </a:r>
          </a:p>
        </p:txBody>
      </p:sp>
      <p:sp>
        <p:nvSpPr>
          <p:cNvPr id="14" name="Rounded Rectangle 13"/>
          <p:cNvSpPr/>
          <p:nvPr/>
        </p:nvSpPr>
        <p:spPr>
          <a:xfrm>
            <a:off x="548640" y="4178808"/>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178808"/>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C</a:t>
            </a:r>
          </a:p>
        </p:txBody>
      </p:sp>
      <p:sp>
        <p:nvSpPr>
          <p:cNvPr id="16" name="TextBox 15"/>
          <p:cNvSpPr txBox="1"/>
          <p:nvPr/>
        </p:nvSpPr>
        <p:spPr>
          <a:xfrm>
            <a:off x="1234440" y="4178808"/>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A cross-tenant data leakage caused by poor retrieval scoping</a:t>
            </a:r>
          </a:p>
        </p:txBody>
      </p:sp>
      <p:sp>
        <p:nvSpPr>
          <p:cNvPr id="17" name="Rounded Rectangle 16"/>
          <p:cNvSpPr/>
          <p:nvPr/>
        </p:nvSpPr>
        <p:spPr>
          <a:xfrm>
            <a:off x="548640" y="4782312"/>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82312"/>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D</a:t>
            </a:r>
          </a:p>
        </p:txBody>
      </p:sp>
      <p:sp>
        <p:nvSpPr>
          <p:cNvPr id="19" name="TextBox 18"/>
          <p:cNvSpPr txBox="1"/>
          <p:nvPr/>
        </p:nvSpPr>
        <p:spPr>
          <a:xfrm>
            <a:off x="1234440" y="4782312"/>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A model fine-tuning attack against the training pipeline</a:t>
            </a:r>
          </a:p>
        </p:txBody>
      </p:sp>
      <p:sp>
        <p:nvSpPr>
          <p:cNvPr id="20" name="TextBox 19"/>
          <p:cNvSpPr txBox="1"/>
          <p:nvPr/>
        </p:nvSpPr>
        <p:spPr>
          <a:xfrm>
            <a:off x="548640" y="5623560"/>
            <a:ext cx="11064240" cy="73152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Answer B.  </a:t>
            </a:r>
            <a:r>
              <a:rPr sz="1300" b="0">
                <a:solidFill>
                  <a:srgbClr val="B8C0CF"/>
                </a:solidFill>
                <a:latin typeface="Segoe UI"/>
              </a:rPr>
              <a:t>The wiki entry is the poisoning vector (Objective 5.2, ingestion-stage), and the delayed effect on unrelated users' queries is the indirect-injection mechanism (Objective 5.3) — persistence links the two across every matching future query.</a:t>
            </a:r>
          </a:p>
        </p:txBody>
      </p:sp>
      <p:sp>
        <p:nvSpPr>
          <p:cNvPr id="21" name="TextBox 2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2" name="TextBox 2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SUMMARY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you can now do</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Explain the six-stage RAG pipeline from ingestion through augmentation</a:t>
            </a:r>
          </a:p>
          <a:p>
            <a:pPr algn="l">
              <a:spcBef>
                <a:spcPts val="0"/>
              </a:spcBef>
              <a:spcAft>
                <a:spcPts val="1200"/>
              </a:spcAft>
            </a:pPr>
            <a:r>
              <a:rPr sz="1500" b="1">
                <a:solidFill>
                  <a:srgbClr val="FF6A00"/>
                </a:solidFill>
                <a:latin typeface="Segoe UI"/>
              </a:rPr>
              <a:t>✓  </a:t>
            </a:r>
            <a:r>
              <a:rPr sz="1500" b="0">
                <a:solidFill>
                  <a:srgbClr val="F5F7FB"/>
                </a:solidFill>
                <a:latin typeface="Segoe UI"/>
              </a:rPr>
              <a:t>Describe how RAG-corpus poisoning is introduced and why it persists across future queries</a:t>
            </a:r>
          </a:p>
          <a:p>
            <a:pPr algn="l">
              <a:spcBef>
                <a:spcPts val="0"/>
              </a:spcBef>
              <a:spcAft>
                <a:spcPts val="1200"/>
              </a:spcAft>
            </a:pPr>
            <a:r>
              <a:rPr sz="1500" b="1">
                <a:solidFill>
                  <a:srgbClr val="FF6A00"/>
                </a:solidFill>
                <a:latin typeface="Segoe UI"/>
              </a:rPr>
              <a:t>✓  </a:t>
            </a:r>
            <a:r>
              <a:rPr sz="1500" b="0">
                <a:solidFill>
                  <a:srgbClr val="F5F7FB"/>
                </a:solidFill>
                <a:latin typeface="Segoe UI"/>
              </a:rPr>
              <a:t>Explain the mechanism of indirect prompt injection via retrieval and why it needs no access to the victim's prompt</a:t>
            </a:r>
          </a:p>
          <a:p>
            <a:pPr algn="l">
              <a:spcBef>
                <a:spcPts val="0"/>
              </a:spcBef>
              <a:spcAft>
                <a:spcPts val="1200"/>
              </a:spcAft>
            </a:pPr>
            <a:r>
              <a:rPr sz="1500" b="1">
                <a:solidFill>
                  <a:srgbClr val="FF6A00"/>
                </a:solidFill>
                <a:latin typeface="Segoe UI"/>
              </a:rPr>
              <a:t>✓  </a:t>
            </a:r>
            <a:r>
              <a:rPr sz="1500" b="0">
                <a:solidFill>
                  <a:srgbClr val="F5F7FB"/>
                </a:solidFill>
                <a:latin typeface="Segoe UI"/>
              </a:rPr>
              <a:t>Apply RAG-specific technique — ranking manipulation, chunk-boundary tricks, and citation spoofing</a:t>
            </a:r>
          </a:p>
          <a:p>
            <a:pPr algn="l">
              <a:spcBef>
                <a:spcPts val="0"/>
              </a:spcBef>
              <a:spcAft>
                <a:spcPts val="1200"/>
              </a:spcAft>
            </a:pPr>
            <a:r>
              <a:rPr sz="1500" b="1">
                <a:solidFill>
                  <a:srgbClr val="FF6A00"/>
                </a:solidFill>
                <a:latin typeface="Segoe UI"/>
              </a:rPr>
              <a:t>✓  </a:t>
            </a:r>
            <a:r>
              <a:rPr sz="1500" b="0">
                <a:solidFill>
                  <a:srgbClr val="F5F7FB"/>
                </a:solidFill>
                <a:latin typeface="Segoe UI"/>
              </a:rPr>
              <a:t>Recognise cross-tenant data leakage as a retrieval-scoping risk distinct from poisoning or injection</a:t>
            </a:r>
          </a:p>
          <a:p>
            <a:pPr algn="l">
              <a:spcBef>
                <a:spcPts val="0"/>
              </a:spcBef>
              <a:spcAft>
                <a:spcPts val="1200"/>
              </a:spcAft>
            </a:pPr>
            <a:r>
              <a:rPr sz="1500" b="1">
                <a:solidFill>
                  <a:srgbClr val="FF6A00"/>
                </a:solidFill>
                <a:latin typeface="Segoe UI"/>
              </a:rPr>
              <a:t>✓  </a:t>
            </a:r>
            <a:r>
              <a:rPr sz="1500" b="0">
                <a:solidFill>
                  <a:srgbClr val="F5F7FB"/>
                </a:solidFill>
                <a:latin typeface="Segoe UI"/>
              </a:rPr>
              <a:t>Map every RAG finding to the correct OWASP LLM category and stage of the pipeline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NEXT STEPS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On to Module 6 — Attacking Embeddings</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Module 6 goes one layer deeper: the embeddings and vector database this module treated as a pipeline stage</a:t>
            </a:r>
          </a:p>
          <a:p>
            <a:pPr algn="l">
              <a:spcBef>
                <a:spcPts val="0"/>
              </a:spcBef>
              <a:spcAft>
                <a:spcPts val="1200"/>
              </a:spcAft>
            </a:pPr>
            <a:r>
              <a:rPr sz="1500" b="1">
                <a:solidFill>
                  <a:srgbClr val="FF6A00"/>
                </a:solidFill>
                <a:latin typeface="Segoe UI"/>
              </a:rPr>
              <a:t>✓  </a:t>
            </a:r>
            <a:r>
              <a:rPr sz="1500" b="0">
                <a:solidFill>
                  <a:srgbClr val="F5F7FB"/>
                </a:solidFill>
                <a:latin typeface="Segoe UI"/>
              </a:rPr>
              <a:t>You will examine how embedding-space manipulation and vector-store weaknesses extend LLM08 beyond cross-tenant leakage</a:t>
            </a:r>
          </a:p>
          <a:p>
            <a:pPr algn="l">
              <a:spcBef>
                <a:spcPts val="0"/>
              </a:spcBef>
              <a:spcAft>
                <a:spcPts val="1200"/>
              </a:spcAft>
            </a:pPr>
            <a:r>
              <a:rPr sz="1500" b="1">
                <a:solidFill>
                  <a:srgbClr val="FF6A00"/>
                </a:solidFill>
                <a:latin typeface="Segoe UI"/>
              </a:rPr>
              <a:t>✓  </a:t>
            </a:r>
            <a:r>
              <a:rPr sz="1500" b="0">
                <a:solidFill>
                  <a:srgbClr val="F5F7FB"/>
                </a:solidFill>
                <a:latin typeface="Segoe UI"/>
              </a:rPr>
              <a:t>The chunking and ranking concepts from Objective 5.1 and 5.4 become the technical foundation for that module</a:t>
            </a:r>
          </a:p>
          <a:p>
            <a:pPr algn="l">
              <a:spcBef>
                <a:spcPts val="0"/>
              </a:spcBef>
              <a:spcAft>
                <a:spcPts val="1200"/>
              </a:spcAft>
            </a:pPr>
            <a:r>
              <a:rPr sz="1500" b="1">
                <a:solidFill>
                  <a:srgbClr val="FF6A00"/>
                </a:solidFill>
                <a:latin typeface="Segoe UI"/>
              </a:rPr>
              <a:t>✓  </a:t>
            </a:r>
            <a:r>
              <a:rPr sz="1500" b="0">
                <a:solidFill>
                  <a:srgbClr val="F5F7FB"/>
                </a:solidFill>
                <a:latin typeface="Segoe UI"/>
              </a:rPr>
              <a:t>Keep the six-stage pipeline map close — Module 6 refers back to the embedding and storage stages directly</a:t>
            </a:r>
          </a:p>
          <a:p>
            <a:pPr algn="l">
              <a:spcBef>
                <a:spcPts val="0"/>
              </a:spcBef>
              <a:spcAft>
                <a:spcPts val="1200"/>
              </a:spcAft>
            </a:pPr>
            <a:r>
              <a:rPr sz="1500" b="1">
                <a:solidFill>
                  <a:srgbClr val="FF6A00"/>
                </a:solidFill>
                <a:latin typeface="Segoe UI"/>
              </a:rPr>
              <a:t>✓  </a:t>
            </a:r>
            <a:r>
              <a:rPr sz="1500" b="0">
                <a:solidFill>
                  <a:srgbClr val="F5F7FB"/>
                </a:solidFill>
                <a:latin typeface="Segoe UI"/>
              </a:rPr>
              <a:t>Review the flashcards, cheat sheet, PBQ, and quiz for this module before continuing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