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11, the final module of the Offensive Security AI Red Teamer (OSAI) course. This is not a new-technique module — every mechanism referenced here was already taught in Modules 1 to 10. Instead, Module 11 rehearses the full six-phase engagement lifecycle against one realistic, AI-enabled target: scoping and rules of engagement, reconnaissance, threat modeling, exploitation, post-exploitation, and reporting. This is the closest rehearsal the course offers for the shape and pace of the real OSAI exam. As with every module, everything here remains conceptual and methodological — no runnable code, no specific product names,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full-lifecycle rehearsal, not new material. Every learner should recognise each phase from an earlier module — this module's value is entirely in sequencing and integration, which is exactly what the 24-hour exam rewards.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the final module of the course. What follows here is the last checkpoint before the real exam, so treat pacing and sequencing discipline as seriously as technical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early: learners should expect to recognise components from every earlier module somewhere in this target, and should expect that no single technique alone reaches the most valuable objective.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11.1. Every engagement, including the capstone and the real exam, begins the same way: agreeing what success looks like and what is in and out of bounds, before any testing begins.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a deliberate recap, not new content. The capstone's first concrete action should always be re-reading and restating the scope, exactly as a real engagement would — many learners under time pressure skip this and pay for it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checklist learners should apply at the very start of the capstone exercise and, later, the real exam — treat it as a five-minute discipline that pays for itself across the rest of the engagement window.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common failure mode under time pressure: a learner spots something interesting just outside scope and chases it. Reinforce that scope discipline is part of professionalism, not a limitation on skill.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11.2. With scope agreed, the target is mapped and the resulting inventory is turned into a ranked kill-chain plan — Module 2 and Module 10, applied to one target for the first time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quickly — learners should recognise every step from Module 2 without re-teaching it. The purpose here is to show recon feeding directly and visibly into the next phase, not to re-derive recon technique.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Modules 2 and 10 visibly meet for the first time against a single target. Emphasise that the kill-chain document produced here is what the rest of the capstone — and the rest of this course — has been building toward.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the module's central warning. Under 24-hour time pressure, the instinct to 'just start trying things' is strong — reinforce that the disciplined path is also, empirically, the faster path to a strong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11.3. With a ranked kill chain in hand, the capstone executes it — applying Modules 3 to 9's techniques in priority order, then extending successful footholds toward the scoped objective.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illustrative of the pattern, not a fixed script — the capstone's actual kill chain depends entirely on what threat modeling ranked highest for this specific target and objective.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feedback loop Module 10, Objective 10.4 introduced: exploitation and post-exploitation do not just execute the plan, they continuously feed evidence back into it as the engagement proceeds.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rewards exactly the discipline Module 10 built: learners who threat-model well naturally produce demonstrated-impact results, because the whole point of prioritisation was picking paths that reach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operationalises Module 10's prioritisation discipline under real time pressure — the skill being tested in the capstone, and in the real exam, is as much pacing as it is technique.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11.4. The engagement is not complete until it is written up — a defensible, evidence-based report is the deliverable a client actually receives, and the artefact an OSAI exam is graded against.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output of Objective 10.4's anatomy, now positioned as the literal report structure. Learners who documented their kill chain well during threat modeling have already done most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explicitly: everything from Objective 10.4 onward exists to make this final report narrative, not a checklist. A strong kill-chain document during threat modeling is what makes a strong report possible under time pressure.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exam-relevant piece of process advice in the module: learners consistently underestimate reporting time and consistently regret it. State this plainly and more than once.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introduces no new framework of its own — it is the objective where every framework mapping from Modules 1 to 10 converges into one final, client-facing document.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are most likely to carry into the real exam. Every one of these has already been taught and warned against in an earlier module — this is the last chance to reinforce them before the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The capstone, like the exam, is graded on the full lifecycle — scoping through reporting — not on any single phase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apply the module's central lessons together under a single realistic scenario: prioritisation discipline (10.3), chaining over breadth (11.3), and incremental reporting (11.4). Wrong answers each represent one specific failure mode warned against earlier in the module.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If any phase feels unfamiliar, that phase's originating module — 1, 2, 3 through 9, or 10 — is the place to revisit before attempting the real exam.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Congratulate learners on completing all eleven modules, and reinforce that the capstone was deliberately designed as the closest possible rehearsal for the real, 24-hour OSAI exam.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11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Capstone Red Team Engagement</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One realistic, AI-enabled target, one 24-hour-style window, and every skill from Modules 1 to 10 exercised end to end — scoping through reporting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11.1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Scope a capstone engagement and produce defensible rules of engagement before any testing begins</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11.2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Walk a target inventory through reconnaissance and threat modeling to produce a ranked kill-chain plan</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11.3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Execute and chain exploitation across the six-layer attack surface, then extend footholds through post-exploitation</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11.4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Assemble a professional, evidence-based engagement report from a completed capstone</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11.1 opens the engagement; 11.2 turns the target into a plan; 11.3 executes that plan and extends it; 11.4 closes the engagement with the deliverable a client actually receives.</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M1–9</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components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and every attack-surface layer from agents through infrastructure — complete</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M10</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Threat modeling</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Synthesis, prioritisation, and kill-chain documentation — complete</a:t>
            </a:r>
          </a:p>
        </p:txBody>
      </p:sp>
      <p:sp>
        <p:nvSpPr>
          <p:cNvPr id="14" name="Rounded Rectangle 13"/>
          <p:cNvSpPr/>
          <p:nvPr/>
        </p:nvSpPr>
        <p:spPr>
          <a:xfrm>
            <a:off x="8125968"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Capstone</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Full end-to-end engagement exercising everything from Modules 1 to 10 — current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capstone target: a realistic, AI-enabled enterprise</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SURFACE</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Six layers, one target</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Model, data, application, agent/tool, infrastructure, and supply chain all present in a single engagement scope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WINDOW</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 bounded engagement window</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Mirrors the real exam's fixed 24-hour window — time discipline is graded as much as technique</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DELIVERABLE</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 professional report</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engagement is not complete until findings are chained, prioritised, and written up defensibly</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capstone deliberately compresses everything the course taught into one scope and one clock. No single module's techniques are enough on their own — the target is designed to reward chaining across layers, exactly as Module 10 taught.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11.1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11.1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Scoping the capstone engagement</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11.1 · RECAP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Scoping and rules of engagement, revisited</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Scoping defines what a successful compromise looks like for this specific engagement and what is explicitly in and out of bounds, producing the rules of engagement that every later phase — including this capstone's own reconnaissance and threat modeling — depends on as an input.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DIRECT BACKLINK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Objective 1.4 introduced scoping and RoE as the first phase of the six-phase engagement lifecycle.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OPENS THE CAPSTONE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10.1 named engagement objectives as one of threat modeling's two required inputs — without scoping, the capstone's threat model has nothing to rank paths against.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11.1 · PRACTICE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a capstone scope statement should state plainly</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THE DEFINED OBJECTIVE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What outcome counts as a successful, demonstrated compromise — e.g. exfiltration of a specific sensitive data class, or unauthorised high-authority tool use.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IN-SCOPE COMPONENTS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Which layers and components of the target are authorised for testing, mapped to the six-layer attack-surface model.</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OUT-OF-SCOPE BOUNDARIES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What must not be touched — data, systems, or actions excluded regardless of technical feasibility.</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EVIDENCE STANDARD</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What counts as sufficient proof of impact, so findings in the eventual report are defensible rather than merely plausible.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Scope discipline vs scope creep</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Scope discipline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Every action maps back to an in-scope component</a:t>
            </a:r>
          </a:p>
          <a:p>
            <a:pPr algn="l">
              <a:spcBef>
                <a:spcPts val="0"/>
              </a:spcBef>
              <a:spcAft>
                <a:spcPts val="800"/>
              </a:spcAft>
            </a:pPr>
            <a:r>
              <a:rPr sz="1400" b="1">
                <a:solidFill>
                  <a:srgbClr val="FF6A00"/>
                </a:solidFill>
                <a:latin typeface="Segoe UI"/>
              </a:rPr>
              <a:t>•  </a:t>
            </a:r>
            <a:r>
              <a:rPr sz="1400" b="0">
                <a:solidFill>
                  <a:srgbClr val="B8C0CF"/>
                </a:solidFill>
                <a:latin typeface="Segoe UI"/>
              </a:rPr>
              <a:t>Out-of-scope findings are noted, not pursued</a:t>
            </a:r>
          </a:p>
          <a:p>
            <a:pPr algn="l">
              <a:spcBef>
                <a:spcPts val="0"/>
              </a:spcBef>
              <a:spcAft>
                <a:spcPts val="800"/>
              </a:spcAft>
            </a:pPr>
            <a:r>
              <a:rPr sz="1400" b="1">
                <a:solidFill>
                  <a:srgbClr val="FF6A00"/>
                </a:solidFill>
                <a:latin typeface="Segoe UI"/>
              </a:rPr>
              <a:t>•  </a:t>
            </a:r>
            <a:r>
              <a:rPr sz="1400" b="0">
                <a:solidFill>
                  <a:srgbClr val="B8C0CF"/>
                </a:solidFill>
                <a:latin typeface="Segoe UI"/>
              </a:rPr>
              <a:t>Ambiguous boundaries are clarified before acting</a:t>
            </a:r>
          </a:p>
          <a:p>
            <a:pPr algn="l">
              <a:spcBef>
                <a:spcPts val="0"/>
              </a:spcBef>
              <a:spcAft>
                <a:spcPts val="800"/>
              </a:spcAft>
            </a:pPr>
            <a:r>
              <a:rPr sz="1400" b="1">
                <a:solidFill>
                  <a:srgbClr val="FF6A00"/>
                </a:solidFill>
                <a:latin typeface="Segoe UI"/>
              </a:rPr>
              <a:t>•  </a:t>
            </a:r>
            <a:r>
              <a:rPr sz="1400" b="0">
                <a:solidFill>
                  <a:srgbClr val="B8C0CF"/>
                </a:solidFill>
                <a:latin typeface="Segoe UI"/>
              </a:rPr>
              <a:t>Time is spent inside the agreed engagement objective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Scope creep</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Testing drifts toward whatever looks interesting</a:t>
            </a:r>
          </a:p>
          <a:p>
            <a:pPr algn="l">
              <a:spcBef>
                <a:spcPts val="0"/>
              </a:spcBef>
              <a:spcAft>
                <a:spcPts val="800"/>
              </a:spcAft>
            </a:pPr>
            <a:r>
              <a:rPr sz="1400" b="1">
                <a:solidFill>
                  <a:srgbClr val="FF6A00"/>
                </a:solidFill>
                <a:latin typeface="Segoe UI"/>
              </a:rPr>
              <a:t>•  </a:t>
            </a:r>
            <a:r>
              <a:rPr sz="1400" b="0">
                <a:solidFill>
                  <a:srgbClr val="B8C0CF"/>
                </a:solidFill>
                <a:latin typeface="Segoe UI"/>
              </a:rPr>
              <a:t>Out-of-scope systems are touched without authorisation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Ambiguity is resolved by assumption, not clarification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Time is spent chasing findings outside the objective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scope discipline is itself gradable — an impressive finding obtained outside agreed boundaries is not a successful engagement outcome, in the capstone or in the real exam.</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11.2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11.2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Reconnaissance and threat modeling, applied</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11.2 · WALKTHROUGH</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Reconnaissance across the capstone target</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Map the target to the six-layer model</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Place every discoverable component against model, data, application, agent/tool, infrastructure, and supply chain — Module 1, Objective 1.2.</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Enumerate without exploiting</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Confirm what exists and how confident that confirmation is, without yet attempting to compromise anything — Module 2's core discipline.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Record evidence and confidence per component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Every inventory entry carries its supporting evidence and a confirmed-or-hypothesised confidence label.</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Assemble the target inventory</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Produce the single deliverable Module 2, Objective 2.4 defined — the required input to threat modeling.</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Hand off to threat modeling</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completed inventory, plus the Objective 11.1 scope, becomes threat modeling's two required inputs.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11.2 · WALKTHROUGH</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Threat modeling the capstone inventory</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Build candidate attack paths</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Chain individual inventory entries toward the scoped objective, across layers — Module 10, Objective 10.2.</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Label confirmed vs hypothesised links</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Carry recon's confidence discipline forward into every link of every candidate chain.</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Score impact and effort per path</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Weigh severity, asset criticality, and how much of each path rests on unverified links — Module 10, Objective 10.3.</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Sort into the priority order</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High-impact/low-effort first, high-impact/high-effort next, low-impact last.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Document the top paths as a kill chain</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Produce the ranked, tagged narrative Module 10, Objective 10.4 defined — the plan exploitation will execute.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Recon-and-threat-model-first vs jumping straight to exploitation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Recon-and-threat-model-first</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Time is spent building an accurate, evidence-backed inventory</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 paths are chosen because they rank highest, not because they were found first</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Exploitation executes a plan with a clear, stated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Time inside the engagement window is spent efficiently</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Jumping straight to exploitation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Testing begins against the first interesting-looking component found</a:t>
            </a:r>
          </a:p>
          <a:p>
            <a:pPr algn="l">
              <a:spcBef>
                <a:spcPts val="0"/>
              </a:spcBef>
              <a:spcAft>
                <a:spcPts val="800"/>
              </a:spcAft>
            </a:pPr>
            <a:r>
              <a:rPr sz="1400" b="1">
                <a:solidFill>
                  <a:srgbClr val="FF6A00"/>
                </a:solidFill>
                <a:latin typeface="Segoe UI"/>
              </a:rPr>
              <a:t>•  </a:t>
            </a:r>
            <a:r>
              <a:rPr sz="1400" b="0">
                <a:solidFill>
                  <a:srgbClr val="B8C0CF"/>
                </a:solidFill>
                <a:latin typeface="Segoe UI"/>
              </a:rPr>
              <a:t>No comparison is made against other, possibly higher-value paths</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Exploitation proceeds without a stated objective to chain toward</a:t>
            </a:r>
          </a:p>
          <a:p>
            <a:pPr algn="l">
              <a:spcBef>
                <a:spcPts val="0"/>
              </a:spcBef>
              <a:spcAft>
                <a:spcPts val="800"/>
              </a:spcAft>
            </a:pPr>
            <a:r>
              <a:rPr sz="1400" b="1">
                <a:solidFill>
                  <a:srgbClr val="FF6A00"/>
                </a:solidFill>
                <a:latin typeface="Segoe UI"/>
              </a:rPr>
              <a:t>•  </a:t>
            </a:r>
            <a:r>
              <a:rPr sz="1400" b="0">
                <a:solidFill>
                  <a:srgbClr val="B8C0CF"/>
                </a:solidFill>
                <a:latin typeface="Segoe UI"/>
              </a:rPr>
              <a:t>Time is frequently spent on low-impact or dead-end paths</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skipping straight to exploitation is the single most common capstone and exam failure mode — it feels productive in the moment but reliably under-performs a disciplined recon-then-threat-model opening.</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11.3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11.3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Exploitation and post-exploitation, chained</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11.3 · EXECUTING THE PLAN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Kill-chain steps mapped back to their originating module</a:t>
            </a:r>
          </a:p>
        </p:txBody>
      </p:sp>
      <p:graphicFrame>
        <p:nvGraphicFramePr>
          <p:cNvPr id="6" name="Table 5"/>
          <p:cNvGraphicFramePr>
            <a:graphicFrameLocks noGrp="1"/>
          </p:cNvGraphicFramePr>
          <p:nvPr/>
        </p:nvGraphicFramePr>
        <p:xfrm>
          <a:off x="548640" y="1828800"/>
          <a:ext cx="11091672" cy="1883664"/>
        </p:xfrm>
        <a:graphic>
          <a:graphicData uri="http://schemas.openxmlformats.org/drawingml/2006/table">
            <a:tbl>
              <a:tblPr>
                <a:tableStyleId>{5C22544A-7EE6-4342-B048-85BDC9FD1C3A}</a:tableStyleId>
              </a:tblPr>
              <a:tblGrid>
                <a:gridCol w="3697224"/>
                <a:gridCol w="3697224"/>
                <a:gridCol w="3697224"/>
              </a:tblGrid>
              <a:tr h="470916">
                <a:tc>
                  <a:txBody>
                    <a:bodyPr wrap="square"/>
                    <a:lstStyle/>
                    <a:p>
                      <a:r>
                        <a:rPr sz="1300" b="1">
                          <a:solidFill>
                            <a:srgbClr val="F5F7FB"/>
                          </a:solidFill>
                          <a:latin typeface="Segoe UI"/>
                        </a:rPr>
                        <a:t>Layer</a:t>
                      </a:r>
                    </a:p>
                  </a:txBody>
                  <a:tcPr marL="101600" marR="101600" marT="50800" marB="50800" anchor="ctr">
                    <a:solidFill>
                      <a:srgbClr val="3A2410"/>
                    </a:solidFill>
                  </a:tcPr>
                </a:tc>
                <a:tc>
                  <a:txBody>
                    <a:bodyPr wrap="square"/>
                    <a:lstStyle/>
                    <a:p>
                      <a:r>
                        <a:rPr sz="1300" b="1">
                          <a:solidFill>
                            <a:srgbClr val="F5F7FB"/>
                          </a:solidFill>
                          <a:latin typeface="Segoe UI"/>
                        </a:rPr>
                        <a:t>Capstone action</a:t>
                      </a:r>
                    </a:p>
                  </a:txBody>
                  <a:tcPr marL="101600" marR="101600" marT="50800" marB="50800" anchor="ctr">
                    <a:solidFill>
                      <a:srgbClr val="3A2410"/>
                    </a:solidFill>
                  </a:tcPr>
                </a:tc>
                <a:tc>
                  <a:txBody>
                    <a:bodyPr wrap="square"/>
                    <a:lstStyle/>
                    <a:p>
                      <a:r>
                        <a:rPr sz="1300" b="1">
                          <a:solidFill>
                            <a:srgbClr val="F5F7FB"/>
                          </a:solidFill>
                          <a:latin typeface="Segoe UI"/>
                        </a:rPr>
                        <a:t>Technique origin</a:t>
                      </a:r>
                    </a:p>
                  </a:txBody>
                  <a:tcPr marL="101600" marR="101600" marT="50800" marB="50800" anchor="ctr">
                    <a:solidFill>
                      <a:srgbClr val="3A2410"/>
                    </a:solidFill>
                  </a:tcPr>
                </a:tc>
              </a:tr>
              <a:tr h="470916">
                <a:tc>
                  <a:txBody>
                    <a:bodyPr wrap="square"/>
                    <a:lstStyle/>
                    <a:p>
                      <a:r>
                        <a:rPr sz="1200" b="1">
                          <a:solidFill>
                            <a:srgbClr val="F5F7FB"/>
                          </a:solidFill>
                          <a:latin typeface="Segoe UI"/>
                        </a:rPr>
                        <a:t>Data / RAG</a:t>
                      </a:r>
                    </a:p>
                  </a:txBody>
                  <a:tcPr marL="101600" marR="101600" marT="50800" marB="50800" anchor="ctr">
                    <a:solidFill>
                      <a:srgbClr val="121319"/>
                    </a:solidFill>
                  </a:tcPr>
                </a:tc>
                <a:tc>
                  <a:txBody>
                    <a:bodyPr wrap="square"/>
                    <a:lstStyle/>
                    <a:p>
                      <a:r>
                        <a:rPr sz="1200" b="0">
                          <a:solidFill>
                            <a:srgbClr val="B8C0CF"/>
                          </a:solidFill>
                          <a:latin typeface="Segoe UI"/>
                        </a:rPr>
                        <a:t>Exploit a retrieval-source weakness identified during threat modeling</a:t>
                      </a:r>
                    </a:p>
                  </a:txBody>
                  <a:tcPr marL="101600" marR="101600" marT="50800" marB="50800" anchor="ctr">
                    <a:solidFill>
                      <a:srgbClr val="121319"/>
                    </a:solidFill>
                  </a:tcPr>
                </a:tc>
                <a:tc>
                  <a:txBody>
                    <a:bodyPr wrap="square"/>
                    <a:lstStyle/>
                    <a:p>
                      <a:r>
                        <a:rPr sz="1200" b="0">
                          <a:solidFill>
                            <a:srgbClr val="B8C0CF"/>
                          </a:solidFill>
                          <a:latin typeface="Segoe UI"/>
                        </a:rPr>
                        <a:t>Module 5 — Exploiting RAG Pipelines</a:t>
                      </a:r>
                    </a:p>
                  </a:txBody>
                  <a:tcPr marL="101600" marR="101600" marT="50800" marB="50800" anchor="ctr">
                    <a:solidFill>
                      <a:srgbClr val="121319"/>
                    </a:solidFill>
                  </a:tcPr>
                </a:tc>
              </a:tr>
              <a:tr h="470916">
                <a:tc>
                  <a:txBody>
                    <a:bodyPr wrap="square"/>
                    <a:lstStyle/>
                    <a:p>
                      <a:r>
                        <a:rPr sz="1200" b="1">
                          <a:solidFill>
                            <a:srgbClr val="F5F7FB"/>
                          </a:solidFill>
                          <a:latin typeface="Segoe UI"/>
                        </a:rPr>
                        <a:t>Agent / tool</a:t>
                      </a:r>
                    </a:p>
                  </a:txBody>
                  <a:tcPr marL="101600" marR="101600" marT="50800" marB="50800" anchor="ctr">
                    <a:solidFill>
                      <a:srgbClr val="141519"/>
                    </a:solidFill>
                  </a:tcPr>
                </a:tc>
                <a:tc>
                  <a:txBody>
                    <a:bodyPr wrap="square"/>
                    <a:lstStyle/>
                    <a:p>
                      <a:r>
                        <a:rPr sz="1200" b="0">
                          <a:solidFill>
                            <a:srgbClr val="B8C0CF"/>
                          </a:solidFill>
                          <a:latin typeface="Segoe UI"/>
                        </a:rPr>
                        <a:t>Trigger unintended tool invocation from the compromised retrieval path</a:t>
                      </a:r>
                    </a:p>
                  </a:txBody>
                  <a:tcPr marL="101600" marR="101600" marT="50800" marB="50800" anchor="ctr">
                    <a:solidFill>
                      <a:srgbClr val="141519"/>
                    </a:solidFill>
                  </a:tcPr>
                </a:tc>
                <a:tc>
                  <a:txBody>
                    <a:bodyPr wrap="square"/>
                    <a:lstStyle/>
                    <a:p>
                      <a:r>
                        <a:rPr sz="1200" b="0">
                          <a:solidFill>
                            <a:srgbClr val="B8C0CF"/>
                          </a:solidFill>
                          <a:latin typeface="Segoe UI"/>
                        </a:rPr>
                        <a:t>Module 3 — Attacking AI Agents; Module 7 — MCP &amp; Tool Surfaces</a:t>
                      </a:r>
                    </a:p>
                  </a:txBody>
                  <a:tcPr marL="101600" marR="101600" marT="50800" marB="50800" anchor="ctr">
                    <a:solidFill>
                      <a:srgbClr val="141519"/>
                    </a:solidFill>
                  </a:tcPr>
                </a:tc>
              </a:tr>
              <a:tr h="470916">
                <a:tc>
                  <a:txBody>
                    <a:bodyPr wrap="square"/>
                    <a:lstStyle/>
                    <a:p>
                      <a:r>
                        <a:rPr sz="1200" b="1">
                          <a:solidFill>
                            <a:srgbClr val="F5F7FB"/>
                          </a:solidFill>
                          <a:latin typeface="Segoe UI"/>
                        </a:rPr>
                        <a:t>Infrastructure</a:t>
                      </a:r>
                    </a:p>
                  </a:txBody>
                  <a:tcPr marL="101600" marR="101600" marT="50800" marB="50800" anchor="ctr">
                    <a:solidFill>
                      <a:srgbClr val="121319"/>
                    </a:solidFill>
                  </a:tcPr>
                </a:tc>
                <a:tc>
                  <a:txBody>
                    <a:bodyPr wrap="square"/>
                    <a:lstStyle/>
                    <a:p>
                      <a:r>
                        <a:rPr sz="1200" b="0">
                          <a:solidFill>
                            <a:srgbClr val="B8C0CF"/>
                          </a:solidFill>
                          <a:latin typeface="Segoe UI"/>
                        </a:rPr>
                        <a:t>Pivot using any excess privilege the compromised process holds</a:t>
                      </a:r>
                    </a:p>
                  </a:txBody>
                  <a:tcPr marL="101600" marR="101600" marT="50800" marB="50800" anchor="ctr">
                    <a:solidFill>
                      <a:srgbClr val="121319"/>
                    </a:solidFill>
                  </a:tcPr>
                </a:tc>
                <a:tc>
                  <a:txBody>
                    <a:bodyPr wrap="square"/>
                    <a:lstStyle/>
                    <a:p>
                      <a:r>
                        <a:rPr sz="1200" b="0">
                          <a:solidFill>
                            <a:srgbClr val="B8C0CF"/>
                          </a:solidFill>
                          <a:latin typeface="Segoe UI"/>
                        </a:rPr>
                        <a:t>Module 9 — AI Infrastructure and Deployment Exploits</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Every executed step should be traceable back to the specific module and objective its technique was taught in — this traceability is itself part of what makes the eventual report defensible.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11.3 · POST-EXPLOITATION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Extending a foothold toward the scoped objective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Post-exploitation is the phase where an initial, successful compromise is extended — through chained privilege, additional components, or additional data access — until it reaches the specific objective scoping defined as a successful outcome.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A FOOTHOLD ALONE IS NOT ENOUGH</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confirmed compromise that stops short of the scoped objective is a partial finding, not the demonstrated impact the engagement was chartered to prove.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FEEDING BACK INTO THE KILL CHAIN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Every post-exploitation discovery — a newly confirmed link, a revealed component — should update the threat model's ranking for any remaining, unexecuted paths.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Technique breadth vs demonstrated impact</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Technique breadth</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Many individual weaknesses are confirmed</a:t>
            </a:r>
          </a:p>
          <a:p>
            <a:pPr algn="l">
              <a:spcBef>
                <a:spcPts val="0"/>
              </a:spcBef>
              <a:spcAft>
                <a:spcPts val="800"/>
              </a:spcAft>
            </a:pPr>
            <a:r>
              <a:rPr sz="1400" b="1">
                <a:solidFill>
                  <a:srgbClr val="FF6A00"/>
                </a:solidFill>
                <a:latin typeface="Segoe UI"/>
              </a:rPr>
              <a:t>•  </a:t>
            </a:r>
            <a:r>
              <a:rPr sz="1400" b="0">
                <a:solidFill>
                  <a:srgbClr val="B8C0CF"/>
                </a:solidFill>
                <a:latin typeface="Segoe UI"/>
              </a:rPr>
              <a:t>Each is documented as an isolated finding</a:t>
            </a:r>
          </a:p>
          <a:p>
            <a:pPr algn="l">
              <a:spcBef>
                <a:spcPts val="0"/>
              </a:spcBef>
              <a:spcAft>
                <a:spcPts val="800"/>
              </a:spcAft>
            </a:pPr>
            <a:r>
              <a:rPr sz="1400" b="1">
                <a:solidFill>
                  <a:srgbClr val="FF6A00"/>
                </a:solidFill>
                <a:latin typeface="Segoe UI"/>
              </a:rPr>
              <a:t>•  </a:t>
            </a:r>
            <a:r>
              <a:rPr sz="1400" b="0">
                <a:solidFill>
                  <a:srgbClr val="B8C0CF"/>
                </a:solidFill>
                <a:latin typeface="Segoe UI"/>
              </a:rPr>
              <a:t>Demonstrates familiarity with many techniques</a:t>
            </a:r>
          </a:p>
          <a:p>
            <a:pPr algn="l">
              <a:spcBef>
                <a:spcPts val="0"/>
              </a:spcBef>
              <a:spcAft>
                <a:spcPts val="800"/>
              </a:spcAft>
            </a:pPr>
            <a:r>
              <a:rPr sz="1400" b="1">
                <a:solidFill>
                  <a:srgbClr val="FF6A00"/>
                </a:solidFill>
                <a:latin typeface="Segoe UI"/>
              </a:rPr>
              <a:t>•  </a:t>
            </a:r>
            <a:r>
              <a:rPr sz="1400" b="0">
                <a:solidFill>
                  <a:srgbClr val="B8C0CF"/>
                </a:solidFill>
                <a:latin typeface="Segoe UI"/>
              </a:rPr>
              <a:t>Does not, on its own, prove the scoped objective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Demonstrated impact</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smaller number of weaknesses are chained</a:t>
            </a:r>
          </a:p>
          <a:p>
            <a:pPr algn="l">
              <a:spcBef>
                <a:spcPts val="0"/>
              </a:spcBef>
              <a:spcAft>
                <a:spcPts val="800"/>
              </a:spcAft>
            </a:pPr>
            <a:r>
              <a:rPr sz="1400" b="1">
                <a:solidFill>
                  <a:srgbClr val="FF6A00"/>
                </a:solidFill>
                <a:latin typeface="Segoe UI"/>
              </a:rPr>
              <a:t>•  </a:t>
            </a:r>
            <a:r>
              <a:rPr sz="1400" b="0">
                <a:solidFill>
                  <a:srgbClr val="B8C0CF"/>
                </a:solidFill>
                <a:latin typeface="Segoe UI"/>
              </a:rPr>
              <a:t>The chain is shown to reach the scoped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Demonstrates the actual, client-relevant risk</a:t>
            </a:r>
          </a:p>
          <a:p>
            <a:pPr algn="l">
              <a:spcBef>
                <a:spcPts val="0"/>
              </a:spcBef>
              <a:spcAft>
                <a:spcPts val="800"/>
              </a:spcAft>
            </a:pPr>
            <a:r>
              <a:rPr sz="1400" b="1">
                <a:solidFill>
                  <a:srgbClr val="FF6A00"/>
                </a:solidFill>
                <a:latin typeface="Segoe UI"/>
              </a:rPr>
              <a:t>•  </a:t>
            </a:r>
            <a:r>
              <a:rPr sz="1400" b="0">
                <a:solidFill>
                  <a:srgbClr val="B8C0CF"/>
                </a:solidFill>
                <a:latin typeface="Segoe UI"/>
              </a:rPr>
              <a:t>Directly satisfies the engagement's evidence standard</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a report showing ten confirmed but unchained findings scores lower than a report showing three findings chained into one demonstrated compromise of the stated objective — depth toward the objective outranks breadth.</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11.3 · TIME DISCIPLINE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Pacing exploitation and post-exploitation within a bounded window</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RESERVE TIME FOR REPORTING</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evidence standard from Objective 11.1 cannot be met if no time remains to document what was actually demonstrated.</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RE-CHECK THE PRIORITY ORDER, NOT THE CLOCK ALONE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If a high-ranked path stalls, re-consult the kill chain's next-ranked path rather than defaulting to whatever looks nearby.</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CAPTURE EVIDENCE AS YOU GO</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Screenshots, request/response pairs, and step-by-step notes captured during exploitation are far cheaper to record in the moment than to reconstruct afterward.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KNOW WHEN A PATH IS EXHAUSTED</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path that is not converging after reasonable, planned effort should be abandoned in favour of the next-ranked candidate, per Objective 10.3's discipline.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11.4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11.4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Reporting the engagement</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11.4 · ANATOMY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a defensible capstone report includes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RESTATED SCOPE AND OBJECTIVE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What success was defined to look like, so the reader can judge whether it was achieved without re-deriving it.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THE KILL CHAIN, NOT A RAW FINDINGS LIST</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ordered, tagged narrative from Objective 10.4 — cause and effect, not an unordered checklist.</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EVIDENCE PER STEP</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What was captured during exploitation and post-exploitation, tied to each specific step in the kill chain.</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FRAMEWORK CITATIONS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OWASP LLM category and MITRE ATLAS tactic per step, per Module 1, Objective 1.3's convention, carried through every module since.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narrative report vs a checklist report</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Narrative report</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Findings are presented as a chained story toward the objective</a:t>
            </a:r>
          </a:p>
          <a:p>
            <a:pPr algn="l">
              <a:spcBef>
                <a:spcPts val="0"/>
              </a:spcBef>
              <a:spcAft>
                <a:spcPts val="800"/>
              </a:spcAft>
            </a:pPr>
            <a:r>
              <a:rPr sz="1400" b="1">
                <a:solidFill>
                  <a:srgbClr val="FF6A00"/>
                </a:solidFill>
                <a:latin typeface="Segoe UI"/>
              </a:rPr>
              <a:t>•  </a:t>
            </a:r>
            <a:r>
              <a:rPr sz="1400" b="0">
                <a:solidFill>
                  <a:srgbClr val="B8C0CF"/>
                </a:solidFill>
                <a:latin typeface="Segoe UI"/>
              </a:rPr>
              <a:t>A non-technical reader can follow why the impact matters</a:t>
            </a:r>
          </a:p>
          <a:p>
            <a:pPr algn="l">
              <a:spcBef>
                <a:spcPts val="0"/>
              </a:spcBef>
              <a:spcAft>
                <a:spcPts val="800"/>
              </a:spcAft>
            </a:pPr>
            <a:r>
              <a:rPr sz="1400" b="1">
                <a:solidFill>
                  <a:srgbClr val="FF6A00"/>
                </a:solidFill>
                <a:latin typeface="Segoe UI"/>
              </a:rPr>
              <a:t>•  </a:t>
            </a:r>
            <a:r>
              <a:rPr sz="1400" b="0">
                <a:solidFill>
                  <a:srgbClr val="B8C0CF"/>
                </a:solidFill>
                <a:latin typeface="Segoe UI"/>
              </a:rPr>
              <a:t>Prioritisation and reasoning are made explicit</a:t>
            </a:r>
          </a:p>
          <a:p>
            <a:pPr algn="l">
              <a:spcBef>
                <a:spcPts val="0"/>
              </a:spcBef>
              <a:spcAft>
                <a:spcPts val="800"/>
              </a:spcAft>
            </a:pPr>
            <a:r>
              <a:rPr sz="1400" b="1">
                <a:solidFill>
                  <a:srgbClr val="FF6A00"/>
                </a:solidFill>
                <a:latin typeface="Segoe UI"/>
              </a:rPr>
              <a:t>•  </a:t>
            </a:r>
            <a:r>
              <a:rPr sz="1400" b="0">
                <a:solidFill>
                  <a:srgbClr val="B8C0CF"/>
                </a:solidFill>
                <a:latin typeface="Segoe UI"/>
              </a:rPr>
              <a:t>Reads as professional consulting output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Checklist report</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Findings are listed independently, in discovery order</a:t>
            </a:r>
          </a:p>
          <a:p>
            <a:pPr algn="l">
              <a:spcBef>
                <a:spcPts val="0"/>
              </a:spcBef>
              <a:spcAft>
                <a:spcPts val="800"/>
              </a:spcAft>
            </a:pPr>
            <a:r>
              <a:rPr sz="1400" b="1">
                <a:solidFill>
                  <a:srgbClr val="FF6A00"/>
                </a:solidFill>
                <a:latin typeface="Segoe UI"/>
              </a:rPr>
              <a:t>•  </a:t>
            </a:r>
            <a:r>
              <a:rPr sz="1400" b="0">
                <a:solidFill>
                  <a:srgbClr val="B8C0CF"/>
                </a:solidFill>
                <a:latin typeface="Segoe UI"/>
              </a:rPr>
              <a:t>The reader must infer relationships between findings</a:t>
            </a:r>
          </a:p>
          <a:p>
            <a:pPr algn="l">
              <a:spcBef>
                <a:spcPts val="0"/>
              </a:spcBef>
              <a:spcAft>
                <a:spcPts val="800"/>
              </a:spcAft>
            </a:pPr>
            <a:r>
              <a:rPr sz="1400" b="1">
                <a:solidFill>
                  <a:srgbClr val="FF6A00"/>
                </a:solidFill>
                <a:latin typeface="Segoe UI"/>
              </a:rPr>
              <a:t>•  </a:t>
            </a:r>
            <a:r>
              <a:rPr sz="1400" b="0">
                <a:solidFill>
                  <a:srgbClr val="B8C0CF"/>
                </a:solidFill>
                <a:latin typeface="Segoe UI"/>
              </a:rPr>
              <a:t>No stated reasoning for why anything was prioritised</a:t>
            </a:r>
          </a:p>
          <a:p>
            <a:pPr algn="l">
              <a:spcBef>
                <a:spcPts val="0"/>
              </a:spcBef>
              <a:spcAft>
                <a:spcPts val="800"/>
              </a:spcAft>
            </a:pPr>
            <a:r>
              <a:rPr sz="1400" b="1">
                <a:solidFill>
                  <a:srgbClr val="FF6A00"/>
                </a:solidFill>
                <a:latin typeface="Segoe UI"/>
              </a:rPr>
              <a:t>•  </a:t>
            </a:r>
            <a:r>
              <a:rPr sz="1400" b="0">
                <a:solidFill>
                  <a:srgbClr val="B8C0CF"/>
                </a:solidFill>
                <a:latin typeface="Segoe UI"/>
              </a:rPr>
              <a:t>Reads as an automated scan export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OSAI's engagement-based grading rewards the narrative form directly — this is the same distinction Module 10, Objective 10.4 drew between a kill chain and a raw findings list, now applied to the final deliverable.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11.4 · DISCIPLINE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Writing the report under a bounded window</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report should be assembled incrementally throughout the engagement — using evidence and kill-chain updates already captured during reconnaissance, threat modeling, and exploitation — rather than reconstructed from memory in the final hour.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INCREMENTAL WRITING WINS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report built from real-time notes and the living kill-chain document is both faster to finish and more accurate than one reconstructed after the fact.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TO PROTECT AT ALL COSTS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Regardless of how exploitation is progressing, reserve enough of the window to write up what was actually, defensibly demonstrated.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2834640"/>
        </p:xfrm>
        <a:graphic>
          <a:graphicData uri="http://schemas.openxmlformats.org/drawingml/2006/table">
            <a:tbl>
              <a:tblPr>
                <a:tableStyleId>{5C22544A-7EE6-4342-B048-85BDC9FD1C3A}</a:tableStyleId>
              </a:tblPr>
              <a:tblGrid>
                <a:gridCol w="3697224"/>
                <a:gridCol w="3697224"/>
                <a:gridCol w="3697224"/>
              </a:tblGrid>
              <a:tr h="47244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72440">
                <a:tc>
                  <a:txBody>
                    <a:bodyPr wrap="square"/>
                    <a:lstStyle/>
                    <a:p>
                      <a:r>
                        <a:rPr sz="1200" b="1">
                          <a:solidFill>
                            <a:srgbClr val="F5F7FB"/>
                          </a:solidFill>
                          <a:latin typeface="Segoe UI"/>
                        </a:rPr>
                        <a:t>RoE</a:t>
                      </a:r>
                    </a:p>
                  </a:txBody>
                  <a:tcPr marL="101600" marR="101600" marT="50800" marB="50800" anchor="ctr">
                    <a:solidFill>
                      <a:srgbClr val="121319"/>
                    </a:solidFill>
                  </a:tcPr>
                </a:tc>
                <a:tc>
                  <a:txBody>
                    <a:bodyPr wrap="square"/>
                    <a:lstStyle/>
                    <a:p>
                      <a:r>
                        <a:rPr sz="1200" b="0">
                          <a:solidFill>
                            <a:srgbClr val="B8C0CF"/>
                          </a:solidFill>
                          <a:latin typeface="Segoe UI"/>
                        </a:rPr>
                        <a:t>Rules of Engagement</a:t>
                      </a:r>
                    </a:p>
                  </a:txBody>
                  <a:tcPr marL="101600" marR="101600" marT="50800" marB="50800" anchor="ctr">
                    <a:solidFill>
                      <a:srgbClr val="121319"/>
                    </a:solidFill>
                  </a:tcPr>
                </a:tc>
                <a:tc>
                  <a:txBody>
                    <a:bodyPr wrap="square"/>
                    <a:lstStyle/>
                    <a:p>
                      <a:r>
                        <a:rPr sz="1200" b="0">
                          <a:solidFill>
                            <a:srgbClr val="B8C0CF"/>
                          </a:solidFill>
                          <a:latin typeface="Segoe UI"/>
                        </a:rPr>
                        <a:t>The scoping deliverable that opens the capstone and the real exam alike</a:t>
                      </a:r>
                    </a:p>
                  </a:txBody>
                  <a:tcPr marL="101600" marR="101600" marT="50800" marB="50800" anchor="ctr">
                    <a:solidFill>
                      <a:srgbClr val="121319"/>
                    </a:solidFill>
                  </a:tcPr>
                </a:tc>
              </a:tr>
              <a:tr h="472440">
                <a:tc>
                  <a:txBody>
                    <a:bodyPr wrap="square"/>
                    <a:lstStyle/>
                    <a:p>
                      <a:r>
                        <a:rPr sz="1200" b="1">
                          <a:solidFill>
                            <a:srgbClr val="F5F7FB"/>
                          </a:solidFill>
                          <a:latin typeface="Segoe UI"/>
                        </a:rPr>
                        <a:t>ATLAS</a:t>
                      </a:r>
                    </a:p>
                  </a:txBody>
                  <a:tcPr marL="101600" marR="101600" marT="50800" marB="50800" anchor="ctr">
                    <a:solidFill>
                      <a:srgbClr val="1415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41519"/>
                    </a:solidFill>
                  </a:tcPr>
                </a:tc>
                <a:tc>
                  <a:txBody>
                    <a:bodyPr wrap="square"/>
                    <a:lstStyle/>
                    <a:p>
                      <a:r>
                        <a:rPr sz="1200" b="0">
                          <a:solidFill>
                            <a:srgbClr val="B8C0CF"/>
                          </a:solidFill>
                          <a:latin typeface="Segoe UI"/>
                        </a:rPr>
                        <a:t>Tags each kill-chain step in both the threat model and the final report</a:t>
                      </a:r>
                    </a:p>
                  </a:txBody>
                  <a:tcPr marL="101600" marR="101600" marT="50800" marB="50800" anchor="ctr">
                    <a:solidFill>
                      <a:srgbClr val="141519"/>
                    </a:solidFill>
                  </a:tcPr>
                </a:tc>
              </a:tr>
              <a:tr h="472440">
                <a:tc>
                  <a:txBody>
                    <a:bodyPr wrap="square"/>
                    <a:lstStyle/>
                    <a:p>
                      <a:r>
                        <a:rPr sz="1200" b="1">
                          <a:solidFill>
                            <a:srgbClr val="F5F7FB"/>
                          </a:solidFill>
                          <a:latin typeface="Segoe UI"/>
                        </a:rPr>
                        <a:t>OWASP</a:t>
                      </a:r>
                    </a:p>
                  </a:txBody>
                  <a:tcPr marL="101600" marR="101600" marT="50800" marB="50800" anchor="ctr">
                    <a:solidFill>
                      <a:srgbClr val="1213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21319"/>
                    </a:solidFill>
                  </a:tcPr>
                </a:tc>
                <a:tc>
                  <a:txBody>
                    <a:bodyPr wrap="square"/>
                    <a:lstStyle/>
                    <a:p>
                      <a:r>
                        <a:rPr sz="1200" b="0">
                          <a:solidFill>
                            <a:srgbClr val="B8C0CF"/>
                          </a:solidFill>
                          <a:latin typeface="Segoe UI"/>
                        </a:rPr>
                        <a:t>Publisher of the Top 10 for LLM Applications, cited per finding throughout the report</a:t>
                      </a:r>
                    </a:p>
                  </a:txBody>
                  <a:tcPr marL="101600" marR="101600" marT="50800" marB="50800" anchor="ctr">
                    <a:solidFill>
                      <a:srgbClr val="121319"/>
                    </a:solidFill>
                  </a:tcPr>
                </a:tc>
              </a:tr>
              <a:tr h="472440">
                <a:tc>
                  <a:txBody>
                    <a:bodyPr wrap="square"/>
                    <a:lstStyle/>
                    <a:p>
                      <a:r>
                        <a:rPr sz="1200" b="1">
                          <a:solidFill>
                            <a:srgbClr val="F5F7FB"/>
                          </a:solidFill>
                          <a:latin typeface="Segoe UI"/>
                        </a:rPr>
                        <a:t>RMF</a:t>
                      </a:r>
                    </a:p>
                  </a:txBody>
                  <a:tcPr marL="101600" marR="101600" marT="50800" marB="50800" anchor="ctr">
                    <a:solidFill>
                      <a:srgbClr val="141519"/>
                    </a:solidFill>
                  </a:tcPr>
                </a:tc>
                <a:tc>
                  <a:txBody>
                    <a:bodyPr wrap="square"/>
                    <a:lstStyle/>
                    <a:p>
                      <a:r>
                        <a:rPr sz="1200" b="0">
                          <a:solidFill>
                            <a:srgbClr val="B8C0CF"/>
                          </a:solidFill>
                          <a:latin typeface="Segoe UI"/>
                        </a:rPr>
                        <a:t>Risk Management Framework (NIST AI RMF)</a:t>
                      </a:r>
                    </a:p>
                  </a:txBody>
                  <a:tcPr marL="101600" marR="101600" marT="50800" marB="50800" anchor="ctr">
                    <a:solidFill>
                      <a:srgbClr val="141519"/>
                    </a:solidFill>
                  </a:tcPr>
                </a:tc>
                <a:tc>
                  <a:txBody>
                    <a:bodyPr wrap="square"/>
                    <a:lstStyle/>
                    <a:p>
                      <a:r>
                        <a:rPr sz="1200" b="0">
                          <a:solidFill>
                            <a:srgbClr val="B8C0CF"/>
                          </a:solidFill>
                          <a:latin typeface="Segoe UI"/>
                        </a:rPr>
                        <a:t>Useful for executive-level impact framing in the report's summary</a:t>
                      </a:r>
                    </a:p>
                  </a:txBody>
                  <a:tcPr marL="101600" marR="101600" marT="50800" marB="50800" anchor="ctr">
                    <a:solidFill>
                      <a:srgbClr val="141519"/>
                    </a:solidFill>
                  </a:tcPr>
                </a:tc>
              </a:tr>
              <a:tr h="472440">
                <a:tc>
                  <a:txBody>
                    <a:bodyPr wrap="square"/>
                    <a:lstStyle/>
                    <a:p>
                      <a:r>
                        <a:rPr sz="1200" b="1">
                          <a:solidFill>
                            <a:srgbClr val="F5F7FB"/>
                          </a:solidFill>
                          <a:latin typeface="Segoe UI"/>
                        </a:rPr>
                        <a:t>TTP</a:t>
                      </a:r>
                    </a:p>
                  </a:txBody>
                  <a:tcPr marL="101600" marR="101600" marT="50800" marB="50800" anchor="ctr">
                    <a:solidFill>
                      <a:srgbClr val="1213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21319"/>
                    </a:solidFill>
                  </a:tcPr>
                </a:tc>
                <a:tc>
                  <a:txBody>
                    <a:bodyPr wrap="square"/>
                    <a:lstStyle/>
                    <a:p>
                      <a:r>
                        <a:rPr sz="1200" b="0">
                          <a:solidFill>
                            <a:srgbClr val="B8C0CF"/>
                          </a:solidFill>
                          <a:latin typeface="Segoe UI"/>
                        </a:rPr>
                        <a:t>The vocabulary the kill chain and report narrative are both expressed in</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The six-phase engagement lifecycle from Module 1 remains the structural backbone of the entire capstone.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the real exam</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'MORE FINDINGS ALWAYS MEANS A BETTER SCORE'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 small number of chained findings demonstrating the scoped objective outscores a long list of unchained, isolated findings.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'REPORTING CAN WAIT UNTIL EXPLOITATION IS FULLY DONE'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reporting should be built incrementally throughout the engagement, or it reliably runs out of time at the end.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'SCOPE IS A FORMALITY TO SKIM PAST'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scope discipline is itself gradable — findings outside agreed boundaries do not count as a successful outcome.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'THREAT MODELING CAN BE SKIPPED IF THE TARGET LOOKS SIMPLE'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skipping straight to exploitation is the most common capstone and exam failure mode, even against apparently simple targets.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Midway through the capstone's fixed engagement window, a tester has confirmed ten isolated weaknesses across several layers but has not yet chained any of them toward the scoped objective, and no report content has been written. What is the most defensible next action?</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Continue enumerating additional isolated weaknesses, since more findings always strengthen the final report</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Stop enumerating, select the highest-ranked candidate chain toward the scoped objective, execute it, and begin writing the report incrementally</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Immediately write the final report using only the ten isolated findings, since reporting time is more important than chaining</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Discard all ten findings and restart reconnaissance, since none of them has yet been chained into a path</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Objective 11.3 and 11.4 both point to the same discipline: isolated findings are raw material, not a demonstrated result, and the report must be built incrementally. The defensible action stops low-value enumeration, executes the best-ranked chain toward the objective, and starts writing up evidence in real time — not after exploitation is 'finished'.</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Scope a capstone-style engagement and produce defensible rules of engagement before testing begins</a:t>
            </a:r>
          </a:p>
          <a:p>
            <a:pPr algn="l">
              <a:spcBef>
                <a:spcPts val="0"/>
              </a:spcBef>
              <a:spcAft>
                <a:spcPts val="1200"/>
              </a:spcAft>
            </a:pPr>
            <a:r>
              <a:rPr sz="1500" b="1">
                <a:solidFill>
                  <a:srgbClr val="FF6A00"/>
                </a:solidFill>
                <a:latin typeface="Segoe UI"/>
              </a:rPr>
              <a:t>✓  </a:t>
            </a:r>
            <a:r>
              <a:rPr sz="1500" b="0">
                <a:solidFill>
                  <a:srgbClr val="F5F7FB"/>
                </a:solidFill>
                <a:latin typeface="Segoe UI"/>
              </a:rPr>
              <a:t>Walk a target inventory through reconnaissance and threat modeling to produce a ranked, evidence-backed kill chain</a:t>
            </a:r>
          </a:p>
          <a:p>
            <a:pPr algn="l">
              <a:spcBef>
                <a:spcPts val="0"/>
              </a:spcBef>
              <a:spcAft>
                <a:spcPts val="1200"/>
              </a:spcAft>
            </a:pPr>
            <a:r>
              <a:rPr sz="1500" b="1">
                <a:solidFill>
                  <a:srgbClr val="FF6A00"/>
                </a:solidFill>
                <a:latin typeface="Segoe UI"/>
              </a:rPr>
              <a:t>✓  </a:t>
            </a:r>
            <a:r>
              <a:rPr sz="1500" b="0">
                <a:solidFill>
                  <a:srgbClr val="F5F7FB"/>
                </a:solidFill>
                <a:latin typeface="Segoe UI"/>
              </a:rPr>
              <a:t>Execute and chain exploitation across the six-layer attack surface, then extend footholds through post-exploitation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Pace exploitation and post-exploitation within a bounded engagement window without sacrificing reporting time</a:t>
            </a:r>
          </a:p>
          <a:p>
            <a:pPr algn="l">
              <a:spcBef>
                <a:spcPts val="0"/>
              </a:spcBef>
              <a:spcAft>
                <a:spcPts val="1200"/>
              </a:spcAft>
            </a:pPr>
            <a:r>
              <a:rPr sz="1500" b="1">
                <a:solidFill>
                  <a:srgbClr val="FF6A00"/>
                </a:solidFill>
                <a:latin typeface="Segoe UI"/>
              </a:rPr>
              <a:t>✓  </a:t>
            </a:r>
            <a:r>
              <a:rPr sz="1500" b="0">
                <a:solidFill>
                  <a:srgbClr val="F5F7FB"/>
                </a:solidFill>
                <a:latin typeface="Segoe UI"/>
              </a:rPr>
              <a:t>Assemble a professional, narrative, evidence-based report that a client — or an OSAI exam grader — can act on</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COMPLETE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You have completed OSAI (AI-300)</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Modules 1 to 11 covered the full six-layer AI attack surface and the full six-phase engagement lifecycle</a:t>
            </a:r>
          </a:p>
          <a:p>
            <a:pPr algn="l">
              <a:spcBef>
                <a:spcPts val="0"/>
              </a:spcBef>
              <a:spcAft>
                <a:spcPts val="1200"/>
              </a:spcAft>
            </a:pPr>
            <a:r>
              <a:rPr sz="1500" b="1">
                <a:solidFill>
                  <a:srgbClr val="FF6A00"/>
                </a:solidFill>
                <a:latin typeface="Segoe UI"/>
              </a:rPr>
              <a:t>✓  </a:t>
            </a:r>
            <a:r>
              <a:rPr sz="1500" b="0">
                <a:solidFill>
                  <a:srgbClr val="F5F7FB"/>
                </a:solidFill>
                <a:latin typeface="Segoe UI"/>
              </a:rPr>
              <a:t>Every technique, definition, and framework mapping taught across the course converges in this capstone's kill chain and report</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each module's flashcards, cheat sheet, PBQ, and quiz as final, spaced-repetition preparation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real OSAI exam mirrors this capstone's shape and pace: a bounded window, one realistic target, and one professional report</a:t>
            </a:r>
          </a:p>
          <a:p>
            <a:pPr algn="l">
              <a:spcBef>
                <a:spcPts val="0"/>
              </a:spcBef>
              <a:spcAft>
                <a:spcPts val="1200"/>
              </a:spcAft>
            </a:pPr>
            <a:r>
              <a:rPr sz="1500" b="1">
                <a:solidFill>
                  <a:srgbClr val="FF6A00"/>
                </a:solidFill>
                <a:latin typeface="Segoe UI"/>
              </a:rPr>
              <a:t>✓  </a:t>
            </a:r>
            <a:r>
              <a:rPr sz="1500" b="0">
                <a:solidFill>
                  <a:srgbClr val="F5F7FB"/>
                </a:solidFill>
                <a:latin typeface="Segoe UI"/>
              </a:rPr>
              <a:t>Approach the exam with the same discipline rehearsed here: scope first, threat-model before exploiting, chain over breadth, and protect time for the report</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