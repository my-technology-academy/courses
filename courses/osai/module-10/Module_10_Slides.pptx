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Module 10 of the Offensive Security AI Red Teamer (OSAI) course. Modules 2 to 9 taught technique after technique, layer after layer — reconnaissance, agents, multi-agent systems, RAG, embeddings, MCP and tools, supply chain, infrastructure. None of that is useful without a way to decide where to spend a limited, 24-hour engagement window. Module 10 is that decision layer: how a target inventory becomes a set of candidate attack paths, how those paths are chained and prioritised by impact and effort, and how the result is documented so the exploitation phase in Module 11's capstone has a clear, defensible plan to execute. Everything here is conceptual and methodological — no runnable code, no specific product names, and no lab references, in line with the MCA no-labs rule.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this module as synthesis, not new technique. Every mechanism referenced here was already taught in Modules 1 to 9 — this module teaches how to combine and prioritise them, which is precisely the skill the 24-hour exam rewards most.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Orient learners: this is Module 10 of 11 — the last module before the capstone. Everything taught here is directly rehearsed in Module 11 and directly exercised in the exam itself.</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this positioning before any mechanical detail. The key idea: threat modeling is not a new attack skill, it is the discipline that makes every attack skill already taught efficient and defensible to use.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Objective 10.1. Before building or ranking anything, we define what threat modeling is, what feeds it, and what it produces — the shared vocabulary for the rest of the module.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Anchor the definition against what threat modeling is not, immediately. Learners commonly conflate it with recon or with exploitation itself — this slide should pre-empt that confusion before the rest of the objective builds on 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Reinforce precisely which two earlier deliverables this objective consumes. Learners should be able to name both inputs by their originating module and objective without hesitation — this is directly testable.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same six-phase lifecycle Module 1 introduced; this slide simply zooms in on phase 3. Make sure learners can place threat modeling correctly between reconnaissance and exploitation without prompting.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frequent exam trap: learners under time pressure skip threat modeling and move straight from recon to attacking whatever was found first. Reinforce that skipping this phase is precisely what separates unfocused prompt-poking from a professional engagement.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Stress that this is not a one-way, rigid sequence — a surprising exploitation result can and should feed back into an updated threat model, revisiting Objective 10.3's prioritisation with new evidence.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Reinforce this foundational dependency explicitly. If learners cannot recall the six layers from memory, send them back to Module 1, Objective 1.2 before continuing — every remaining objective in this module assumes fluency with that model.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Objective 10.2. We turn a target inventory into raw material: individual weaknesses chained into candidate attack paths that could plausibly achieve a stated objective.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Anchor this directly against Module 1, Objective 1.1's definition of red teaming. This objective operationalises that definition: a red team engagement is, mechanically, the construction and execution of attack paths.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connects directly to Module 2's cheat-sheet warning that 'confirming a tool exists is not the same as exploiting it'. This objective adds the missing piece: confirmed findings become viable only once chained into a path with a destination.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this mechanism end to end using a concrete, cross-module example — e.g. Module 6's vector-store exposure chained through Module 3's tool abuse toward a stated data-exfiltration objective — to make the abstraction concrete.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worked example shows a two-technique chain spanning two layers, reaching a stated objective. Use it as the template learners should follow when constructing their own candidate paths from a target inventory.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Encourage learners to actively look for chaining opportunities across the modules' many documented cross-references — Module 5 into Module 6, Module 3 into Module 4 — rather than treating each module's findings in isolation.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Reinforce the direct inheritance from Module 2's target-inventory discipline: confidence labelling does not stop at recon, it propagates into every attack path built from that inventory.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Objective 10.3. With candidate paths built, we rank them: which paths offer the greatest impact for the least effort, and which assets most need protecting first.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two-dimension model is intentionally simple and memorable — a learner under 24-hour exam pressure needs a fast heuristic, not an elaborate scoring system. Keep both dimensions qualitative rather than forcing a false numeric precision.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 this as the single most exam-relevant heuristic in the module. Under real time pressure, learners should be able to sort a short list of candidate paths into this three-tier order almost immediately.</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Reinforce that prioritisation is client-aware, not purely technical — a technically elegant chain against a low-value asset should rank below a technically simple path against a high-value one.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where every framework mapping from Modules 1 to 9 pays off as more than a labelling exercise — each one becomes a concrete input to the ranking decision, not just report vocabulary.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closing workflow for Objective 10.3 is the methodology backbone the rest of the engagement executes against. Step 5 is essential: prioritisation is not a one-time exercise, it is revisited throughout the engagement.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list to pre-empt the mistakes learners are most likely to make under real exam time pressure — each pitfall maps directly to skipping one step of the Objective 10.3 workflow.</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Objective 10.4. We turn the ranked output of Objective 10.3 into a document — a kill chain that hands off cleanly to the exploitation phase and, eventually, the engagement report.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Reinforce that a kill chain is the same attack path from Objective 10.2, now expressed in a specific, standardised documentation form — not a new concept, but a new required output format.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practical template learners should follow for every path they carry into Module 11's capstone and, ultimately, into an OSAI exam report — treat this slide as a checklist, not just a description.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 this back to Module 1, Objective 1.1's definition of red teaming as objective-driven and impact-proving, not enumeration-based. A kill-chain document is the tangible artefact of that definition.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the loop explicitly: threat modeling hands a plan to exploitation, and exploitation hands evidence back to threat modeling — this feedback cycle is what Module 11's capstone will exercise in full, end to end.</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Consolidate the module's vocabulary. Note that this module introduces no new OWASP LLM category of its own — it is the objective where every earlier category is put to prioritisation use.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Directly confront the misconceptions learners typically carry into this module. The third myth is the one most likely to hurt exam performance under real time pressure — reinforce it once more before Module 11.</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OSAI is assessed by a 24-hour practical engagement, not percentage-weighted domains. Per the source-of-truth rule we do not invent a weighting; we state plainly that none is published. Threat-modeling work is graded on whether prioritisation is defensible and whether the resulting kill chain is usable by someone who did not perform the testing.</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to check whether learners can apply the impact/effort/confidence heuristic under a realistic time-pressure scenario, rather than defaulting to 'always chase the biggest asset'. Wrong answers are instructive: A ignores effort and confidence entirely, C over-rejects any hypothesised link, D ignores that threat modeling exists specifically to sequence limited time.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Recap the module against its four objectives. Every mechanism referenced here was taught in an earlier module — if learners cannot recall a specific chaining example, revisit the relevant module before Module 11's capstone.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Bridge to Module 11. Reinforce continuity: this module taught how to decide what to attack and in what order; the capstone is where that decision-making is exercised against a full, realistic target for the first time in the course.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828800"/>
            <a:ext cx="10058400" cy="457200"/>
          </a:xfrm>
          <a:prstGeom prst="rect">
            <a:avLst/>
          </a:prstGeom>
          <a:noFill/>
        </p:spPr>
        <p:txBody>
          <a:bodyPr wrap="square" anchor="t" lIns="25400" rIns="25400" tIns="25400" bIns="25400">
            <a:spAutoFit/>
          </a:bodyPr>
          <a:lstStyle/>
          <a:p>
            <a:pPr algn="l">
              <a:spcBef>
                <a:spcPts val="0"/>
              </a:spcBef>
              <a:spcAft>
                <a:spcPts val="600"/>
              </a:spcAft>
            </a:pPr>
            <a:r>
              <a:rPr sz="1500" b="1">
                <a:solidFill>
                  <a:srgbClr val="FF6A00"/>
                </a:solidFill>
                <a:latin typeface="Segoe UI"/>
              </a:rPr>
              <a:t>OSAI (AI-300) · MODULE 10 OF 11</a:t>
            </a:r>
          </a:p>
        </p:txBody>
      </p:sp>
      <p:sp>
        <p:nvSpPr>
          <p:cNvPr id="5" name="TextBox 4"/>
          <p:cNvSpPr txBox="1"/>
          <p:nvPr/>
        </p:nvSpPr>
        <p:spPr>
          <a:xfrm>
            <a:off x="548640" y="2331720"/>
            <a:ext cx="11064240" cy="1828800"/>
          </a:xfrm>
          <a:prstGeom prst="rect">
            <a:avLst/>
          </a:prstGeom>
          <a:noFill/>
        </p:spPr>
        <p:txBody>
          <a:bodyPr wrap="square" anchor="t" lIns="25400" rIns="25400" tIns="25400" bIns="25400">
            <a:spAutoFit/>
          </a:bodyPr>
          <a:lstStyle/>
          <a:p>
            <a:pPr algn="l">
              <a:spcBef>
                <a:spcPts val="0"/>
              </a:spcBef>
              <a:spcAft>
                <a:spcPts val="600"/>
              </a:spcAft>
            </a:pPr>
            <a:r>
              <a:rPr sz="5200" b="1">
                <a:solidFill>
                  <a:srgbClr val="F5F7FB"/>
                </a:solidFill>
                <a:latin typeface="Segoe UI"/>
              </a:rPr>
              <a:t>Threat Modeling for AI-Enabled Targets</a:t>
            </a:r>
          </a:p>
        </p:txBody>
      </p:sp>
      <p:sp>
        <p:nvSpPr>
          <p:cNvPr id="6" name="TextBox 5"/>
          <p:cNvSpPr txBox="1"/>
          <p:nvPr/>
        </p:nvSpPr>
        <p:spPr>
          <a:xfrm>
            <a:off x="566928" y="4297680"/>
            <a:ext cx="10515600" cy="914400"/>
          </a:xfrm>
          <a:prstGeom prst="rect">
            <a:avLst/>
          </a:prstGeom>
          <a:noFill/>
        </p:spPr>
        <p:txBody>
          <a:bodyPr wrap="square" anchor="t" lIns="25400" rIns="25400" tIns="25400" bIns="25400">
            <a:spAutoFit/>
          </a:bodyPr>
          <a:lstStyle/>
          <a:p>
            <a:pPr algn="l">
              <a:spcBef>
                <a:spcPts val="0"/>
              </a:spcBef>
              <a:spcAft>
                <a:spcPts val="600"/>
              </a:spcAft>
            </a:pPr>
            <a:r>
              <a:rPr sz="2000" b="0">
                <a:solidFill>
                  <a:srgbClr val="B8C0CF"/>
                </a:solidFill>
                <a:latin typeface="Segoe UI"/>
              </a:rPr>
              <a:t>Turning nine modules of individual techniques into one ranked, defensible plan — which attack paths matter most, against which assets, before a single exploit is attempted</a:t>
            </a:r>
          </a:p>
        </p:txBody>
      </p:sp>
      <p:sp>
        <p:nvSpPr>
          <p:cNvPr id="7" name="TextBox 6"/>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8" name="TextBox 7"/>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LEARNING OBJECTIVES</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By the end of this module, you will be able to</a:t>
            </a:r>
          </a:p>
        </p:txBody>
      </p:sp>
      <p:sp>
        <p:nvSpPr>
          <p:cNvPr id="6" name="Rounded Rectangle 5"/>
          <p:cNvSpPr/>
          <p:nvPr/>
        </p:nvSpPr>
        <p:spPr>
          <a:xfrm>
            <a:off x="548640" y="1828800"/>
            <a:ext cx="5440680"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20240"/>
            <a:ext cx="914400" cy="841248"/>
          </a:xfrm>
          <a:prstGeom prst="rect">
            <a:avLst/>
          </a:prstGeom>
          <a:noFill/>
        </p:spPr>
        <p:txBody>
          <a:bodyPr wrap="square" anchor="ctr" lIns="25400" rIns="25400" tIns="25400" bIns="25400">
            <a:spAutoFit/>
          </a:bodyPr>
          <a:lstStyle/>
          <a:p>
            <a:pPr algn="l">
              <a:spcBef>
                <a:spcPts val="0"/>
              </a:spcBef>
              <a:spcAft>
                <a:spcPts val="600"/>
              </a:spcAft>
            </a:pPr>
            <a:r>
              <a:rPr sz="2600" b="1">
                <a:solidFill>
                  <a:srgbClr val="FF6A00"/>
                </a:solidFill>
                <a:latin typeface="Segoe UI"/>
              </a:rPr>
              <a:t>10.1</a:t>
            </a:r>
          </a:p>
        </p:txBody>
      </p:sp>
      <p:sp>
        <p:nvSpPr>
          <p:cNvPr id="8" name="TextBox 7"/>
          <p:cNvSpPr txBox="1"/>
          <p:nvPr/>
        </p:nvSpPr>
        <p:spPr>
          <a:xfrm>
            <a:off x="1600200" y="1828800"/>
            <a:ext cx="4251960" cy="841248"/>
          </a:xfrm>
          <a:prstGeom prst="rect">
            <a:avLst/>
          </a:prstGeom>
          <a:noFill/>
        </p:spPr>
        <p:txBody>
          <a:bodyPr wrap="square" anchor="ctr" lIns="25400" rIns="25400" tIns="25400" bIns="25400">
            <a:spAutoFit/>
          </a:bodyPr>
          <a:lstStyle/>
          <a:p>
            <a:pPr algn="l">
              <a:spcBef>
                <a:spcPts val="0"/>
              </a:spcBef>
              <a:spcAft>
                <a:spcPts val="600"/>
              </a:spcAft>
            </a:pPr>
            <a:r>
              <a:rPr sz="1500" b="0">
                <a:solidFill>
                  <a:srgbClr val="F5F7FB"/>
                </a:solidFill>
                <a:latin typeface="Segoe UI"/>
              </a:rPr>
              <a:t>Explain threat modeling's role, inputs, and outputs in the AI red team engagement lifecycle</a:t>
            </a:r>
          </a:p>
        </p:txBody>
      </p:sp>
      <p:sp>
        <p:nvSpPr>
          <p:cNvPr id="9" name="Rounded Rectangle 8"/>
          <p:cNvSpPr/>
          <p:nvPr/>
        </p:nvSpPr>
        <p:spPr>
          <a:xfrm>
            <a:off x="6263640" y="1828800"/>
            <a:ext cx="5440680"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920240"/>
            <a:ext cx="914400" cy="841248"/>
          </a:xfrm>
          <a:prstGeom prst="rect">
            <a:avLst/>
          </a:prstGeom>
          <a:noFill/>
        </p:spPr>
        <p:txBody>
          <a:bodyPr wrap="square" anchor="ctr" lIns="25400" rIns="25400" tIns="25400" bIns="25400">
            <a:spAutoFit/>
          </a:bodyPr>
          <a:lstStyle/>
          <a:p>
            <a:pPr algn="l">
              <a:spcBef>
                <a:spcPts val="0"/>
              </a:spcBef>
              <a:spcAft>
                <a:spcPts val="600"/>
              </a:spcAft>
            </a:pPr>
            <a:r>
              <a:rPr sz="2600" b="1">
                <a:solidFill>
                  <a:srgbClr val="FF6A00"/>
                </a:solidFill>
                <a:latin typeface="Segoe UI"/>
              </a:rPr>
              <a:t>10.2</a:t>
            </a:r>
          </a:p>
        </p:txBody>
      </p:sp>
      <p:sp>
        <p:nvSpPr>
          <p:cNvPr id="11" name="TextBox 10"/>
          <p:cNvSpPr txBox="1"/>
          <p:nvPr/>
        </p:nvSpPr>
        <p:spPr>
          <a:xfrm>
            <a:off x="7315200" y="1828800"/>
            <a:ext cx="4251960" cy="841248"/>
          </a:xfrm>
          <a:prstGeom prst="rect">
            <a:avLst/>
          </a:prstGeom>
          <a:noFill/>
        </p:spPr>
        <p:txBody>
          <a:bodyPr wrap="square" anchor="ctr" lIns="25400" rIns="25400" tIns="25400" bIns="25400">
            <a:spAutoFit/>
          </a:bodyPr>
          <a:lstStyle/>
          <a:p>
            <a:pPr algn="l">
              <a:spcBef>
                <a:spcPts val="0"/>
              </a:spcBef>
              <a:spcAft>
                <a:spcPts val="600"/>
              </a:spcAft>
            </a:pPr>
            <a:r>
              <a:rPr sz="1500" b="0">
                <a:solidFill>
                  <a:srgbClr val="F5F7FB"/>
                </a:solidFill>
                <a:latin typeface="Segoe UI"/>
              </a:rPr>
              <a:t>Construct candidate attack paths by chaining individual weaknesses across the six-layer attack surface</a:t>
            </a:r>
          </a:p>
        </p:txBody>
      </p:sp>
      <p:sp>
        <p:nvSpPr>
          <p:cNvPr id="12" name="Rounded Rectangle 11"/>
          <p:cNvSpPr/>
          <p:nvPr/>
        </p:nvSpPr>
        <p:spPr>
          <a:xfrm>
            <a:off x="548640" y="2798064"/>
            <a:ext cx="5440680"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889504"/>
            <a:ext cx="914400" cy="841248"/>
          </a:xfrm>
          <a:prstGeom prst="rect">
            <a:avLst/>
          </a:prstGeom>
          <a:noFill/>
        </p:spPr>
        <p:txBody>
          <a:bodyPr wrap="square" anchor="ctr" lIns="25400" rIns="25400" tIns="25400" bIns="25400">
            <a:spAutoFit/>
          </a:bodyPr>
          <a:lstStyle/>
          <a:p>
            <a:pPr algn="l">
              <a:spcBef>
                <a:spcPts val="0"/>
              </a:spcBef>
              <a:spcAft>
                <a:spcPts val="600"/>
              </a:spcAft>
            </a:pPr>
            <a:r>
              <a:rPr sz="2600" b="1">
                <a:solidFill>
                  <a:srgbClr val="FF6A00"/>
                </a:solidFill>
                <a:latin typeface="Segoe UI"/>
              </a:rPr>
              <a:t>10.3</a:t>
            </a:r>
          </a:p>
        </p:txBody>
      </p:sp>
      <p:sp>
        <p:nvSpPr>
          <p:cNvPr id="14" name="TextBox 13"/>
          <p:cNvSpPr txBox="1"/>
          <p:nvPr/>
        </p:nvSpPr>
        <p:spPr>
          <a:xfrm>
            <a:off x="1600200" y="2798064"/>
            <a:ext cx="4251960" cy="841248"/>
          </a:xfrm>
          <a:prstGeom prst="rect">
            <a:avLst/>
          </a:prstGeom>
          <a:noFill/>
        </p:spPr>
        <p:txBody>
          <a:bodyPr wrap="square" anchor="ctr" lIns="25400" rIns="25400" tIns="25400" bIns="25400">
            <a:spAutoFit/>
          </a:bodyPr>
          <a:lstStyle/>
          <a:p>
            <a:pPr algn="l">
              <a:spcBef>
                <a:spcPts val="0"/>
              </a:spcBef>
              <a:spcAft>
                <a:spcPts val="600"/>
              </a:spcAft>
            </a:pPr>
            <a:r>
              <a:rPr sz="1500" b="0">
                <a:solidFill>
                  <a:srgbClr val="F5F7FB"/>
                </a:solidFill>
                <a:latin typeface="Segoe UI"/>
              </a:rPr>
              <a:t>Prioritise attack paths by impact and effort, using asset criticality and framework mappings from Modules 1 to 9</a:t>
            </a:r>
          </a:p>
        </p:txBody>
      </p:sp>
      <p:sp>
        <p:nvSpPr>
          <p:cNvPr id="15" name="Rounded Rectangle 14"/>
          <p:cNvSpPr/>
          <p:nvPr/>
        </p:nvSpPr>
        <p:spPr>
          <a:xfrm>
            <a:off x="6263640" y="2798064"/>
            <a:ext cx="5440680"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46520" y="2889504"/>
            <a:ext cx="914400" cy="841248"/>
          </a:xfrm>
          <a:prstGeom prst="rect">
            <a:avLst/>
          </a:prstGeom>
          <a:noFill/>
        </p:spPr>
        <p:txBody>
          <a:bodyPr wrap="square" anchor="ctr" lIns="25400" rIns="25400" tIns="25400" bIns="25400">
            <a:spAutoFit/>
          </a:bodyPr>
          <a:lstStyle/>
          <a:p>
            <a:pPr algn="l">
              <a:spcBef>
                <a:spcPts val="0"/>
              </a:spcBef>
              <a:spcAft>
                <a:spcPts val="600"/>
              </a:spcAft>
            </a:pPr>
            <a:r>
              <a:rPr sz="2600" b="1">
                <a:solidFill>
                  <a:srgbClr val="FF6A00"/>
                </a:solidFill>
                <a:latin typeface="Segoe UI"/>
              </a:rPr>
              <a:t>10.4</a:t>
            </a:r>
          </a:p>
        </p:txBody>
      </p:sp>
      <p:sp>
        <p:nvSpPr>
          <p:cNvPr id="17" name="TextBox 16"/>
          <p:cNvSpPr txBox="1"/>
          <p:nvPr/>
        </p:nvSpPr>
        <p:spPr>
          <a:xfrm>
            <a:off x="7315200" y="2798064"/>
            <a:ext cx="4251960" cy="841248"/>
          </a:xfrm>
          <a:prstGeom prst="rect">
            <a:avLst/>
          </a:prstGeom>
          <a:noFill/>
        </p:spPr>
        <p:txBody>
          <a:bodyPr wrap="square" anchor="ctr" lIns="25400" rIns="25400" tIns="25400" bIns="25400">
            <a:spAutoFit/>
          </a:bodyPr>
          <a:lstStyle/>
          <a:p>
            <a:pPr algn="l">
              <a:spcBef>
                <a:spcPts val="0"/>
              </a:spcBef>
              <a:spcAft>
                <a:spcPts val="600"/>
              </a:spcAft>
            </a:pPr>
            <a:r>
              <a:rPr sz="1500" b="0">
                <a:solidFill>
                  <a:srgbClr val="F5F7FB"/>
                </a:solidFill>
                <a:latin typeface="Segoe UI"/>
              </a:rPr>
              <a:t>Document a threat model as a kill chain that hands off cleanly to the exploitation phase of an engagement</a:t>
            </a:r>
          </a:p>
        </p:txBody>
      </p:sp>
      <p:sp>
        <p:nvSpPr>
          <p:cNvPr id="18" name="TextBox 17"/>
          <p:cNvSpPr txBox="1"/>
          <p:nvPr/>
        </p:nvSpPr>
        <p:spPr>
          <a:xfrm>
            <a:off x="548640" y="3813048"/>
            <a:ext cx="11064240" cy="914400"/>
          </a:xfrm>
          <a:prstGeom prst="rect">
            <a:avLst/>
          </a:prstGeom>
          <a:noFill/>
        </p:spPr>
        <p:txBody>
          <a:bodyPr wrap="square" anchor="t" lIns="25400" rIns="25400" tIns="25400" bIns="25400">
            <a:spAutoFit/>
          </a:bodyPr>
          <a:lstStyle/>
          <a:p>
            <a:pPr algn="l">
              <a:spcBef>
                <a:spcPts val="0"/>
              </a:spcBef>
              <a:spcAft>
                <a:spcPts val="600"/>
              </a:spcAft>
            </a:pPr>
            <a:r>
              <a:rPr sz="1400" b="0">
                <a:solidFill>
                  <a:srgbClr val="B8C0CF"/>
                </a:solidFill>
                <a:latin typeface="Segoe UI"/>
              </a:rPr>
              <a:t>Objective 10.1 places threat modeling in the lifecycle; 10.2 builds the raw material — candidate paths; 10.3 ranks that raw material; 10.4 turns the ranked result into a document the rest of the engagement can act on.</a:t>
            </a:r>
          </a:p>
        </p:txBody>
      </p:sp>
      <p:sp>
        <p:nvSpPr>
          <p:cNvPr id="19" name="TextBox 18"/>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20" name="TextBox 19"/>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COURSE CONTEXT</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Where this module sits in OSAI</a:t>
            </a:r>
          </a:p>
        </p:txBody>
      </p:sp>
      <p:sp>
        <p:nvSpPr>
          <p:cNvPr id="6" name="Rounded Rectangle 5"/>
          <p:cNvSpPr/>
          <p:nvPr/>
        </p:nvSpPr>
        <p:spPr>
          <a:xfrm>
            <a:off x="548640" y="2057400"/>
            <a:ext cx="3514344" cy="32918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286000"/>
            <a:ext cx="3514344" cy="1097280"/>
          </a:xfrm>
          <a:prstGeom prst="rect">
            <a:avLst/>
          </a:prstGeom>
          <a:noFill/>
        </p:spPr>
        <p:txBody>
          <a:bodyPr wrap="square" anchor="t" lIns="25400" rIns="25400" tIns="25400" bIns="25400">
            <a:spAutoFit/>
          </a:bodyPr>
          <a:lstStyle/>
          <a:p>
            <a:pPr algn="ctr">
              <a:spcBef>
                <a:spcPts val="0"/>
              </a:spcBef>
              <a:spcAft>
                <a:spcPts val="600"/>
              </a:spcAft>
            </a:pPr>
            <a:r>
              <a:rPr sz="3000" b="1">
                <a:solidFill>
                  <a:srgbClr val="FF6A00"/>
                </a:solidFill>
                <a:latin typeface="Segoe UI"/>
              </a:rPr>
              <a:t>M1–9</a:t>
            </a:r>
          </a:p>
        </p:txBody>
      </p:sp>
      <p:sp>
        <p:nvSpPr>
          <p:cNvPr id="8" name="TextBox 7"/>
          <p:cNvSpPr txBox="1"/>
          <p:nvPr/>
        </p:nvSpPr>
        <p:spPr>
          <a:xfrm>
            <a:off x="658368" y="3291840"/>
            <a:ext cx="3294888" cy="640080"/>
          </a:xfrm>
          <a:prstGeom prst="rect">
            <a:avLst/>
          </a:prstGeom>
          <a:noFill/>
        </p:spPr>
        <p:txBody>
          <a:bodyPr wrap="square" anchor="t" lIns="25400" rIns="25400" tIns="25400" bIns="25400">
            <a:spAutoFit/>
          </a:bodyPr>
          <a:lstStyle/>
          <a:p>
            <a:pPr algn="ctr">
              <a:spcBef>
                <a:spcPts val="0"/>
              </a:spcBef>
              <a:spcAft>
                <a:spcPts val="600"/>
              </a:spcAft>
            </a:pPr>
            <a:r>
              <a:rPr sz="1500" b="1">
                <a:solidFill>
                  <a:srgbClr val="F5F7FB"/>
                </a:solidFill>
                <a:latin typeface="Segoe UI"/>
              </a:rPr>
              <a:t>Foundations &amp; components</a:t>
            </a:r>
          </a:p>
        </p:txBody>
      </p:sp>
      <p:sp>
        <p:nvSpPr>
          <p:cNvPr id="9" name="TextBox 8"/>
          <p:cNvSpPr txBox="1"/>
          <p:nvPr/>
        </p:nvSpPr>
        <p:spPr>
          <a:xfrm>
            <a:off x="685800" y="3931919"/>
            <a:ext cx="3240024" cy="1280160"/>
          </a:xfrm>
          <a:prstGeom prst="rect">
            <a:avLst/>
          </a:prstGeom>
          <a:noFill/>
        </p:spPr>
        <p:txBody>
          <a:bodyPr wrap="square" anchor="t" lIns="25400" rIns="25400" tIns="25400" bIns="25400">
            <a:spAutoFit/>
          </a:bodyPr>
          <a:lstStyle/>
          <a:p>
            <a:pPr algn="ctr">
              <a:spcBef>
                <a:spcPts val="0"/>
              </a:spcBef>
              <a:spcAft>
                <a:spcPts val="600"/>
              </a:spcAft>
            </a:pPr>
            <a:r>
              <a:rPr sz="1250" b="0">
                <a:solidFill>
                  <a:srgbClr val="B8C0CF"/>
                </a:solidFill>
                <a:latin typeface="Segoe UI"/>
              </a:rPr>
              <a:t>Definitions, recon, and every attack-surface layer from agents through infrastructure — complete</a:t>
            </a:r>
          </a:p>
        </p:txBody>
      </p:sp>
      <p:sp>
        <p:nvSpPr>
          <p:cNvPr id="10" name="Rounded Rectangle 9"/>
          <p:cNvSpPr/>
          <p:nvPr/>
        </p:nvSpPr>
        <p:spPr>
          <a:xfrm>
            <a:off x="4337304" y="2057400"/>
            <a:ext cx="3514344" cy="3291840"/>
          </a:xfrm>
          <a:prstGeom prst="roundRect">
            <a:avLst/>
          </a:prstGeom>
          <a:solidFill>
            <a:srgbClr val="141519"/>
          </a:solidFill>
          <a:ln w="25400">
            <a:solidFill>
              <a:srgbClr val="FF6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37304" y="2286000"/>
            <a:ext cx="3514344" cy="1097280"/>
          </a:xfrm>
          <a:prstGeom prst="rect">
            <a:avLst/>
          </a:prstGeom>
          <a:noFill/>
        </p:spPr>
        <p:txBody>
          <a:bodyPr wrap="square" anchor="t" lIns="25400" rIns="25400" tIns="25400" bIns="25400">
            <a:spAutoFit/>
          </a:bodyPr>
          <a:lstStyle/>
          <a:p>
            <a:pPr algn="ctr">
              <a:spcBef>
                <a:spcPts val="0"/>
              </a:spcBef>
              <a:spcAft>
                <a:spcPts val="600"/>
              </a:spcAft>
            </a:pPr>
            <a:r>
              <a:rPr sz="3000" b="1">
                <a:solidFill>
                  <a:srgbClr val="FF6A00"/>
                </a:solidFill>
                <a:latin typeface="Segoe UI"/>
              </a:rPr>
              <a:t>M10</a:t>
            </a:r>
          </a:p>
        </p:txBody>
      </p:sp>
      <p:sp>
        <p:nvSpPr>
          <p:cNvPr id="12" name="TextBox 11"/>
          <p:cNvSpPr txBox="1"/>
          <p:nvPr/>
        </p:nvSpPr>
        <p:spPr>
          <a:xfrm>
            <a:off x="4447032" y="3291840"/>
            <a:ext cx="3294888" cy="640080"/>
          </a:xfrm>
          <a:prstGeom prst="rect">
            <a:avLst/>
          </a:prstGeom>
          <a:noFill/>
        </p:spPr>
        <p:txBody>
          <a:bodyPr wrap="square" anchor="t" lIns="25400" rIns="25400" tIns="25400" bIns="25400">
            <a:spAutoFit/>
          </a:bodyPr>
          <a:lstStyle/>
          <a:p>
            <a:pPr algn="ctr">
              <a:spcBef>
                <a:spcPts val="0"/>
              </a:spcBef>
              <a:spcAft>
                <a:spcPts val="600"/>
              </a:spcAft>
            </a:pPr>
            <a:r>
              <a:rPr sz="1500" b="1">
                <a:solidFill>
                  <a:srgbClr val="F5F7FB"/>
                </a:solidFill>
                <a:latin typeface="Segoe UI"/>
              </a:rPr>
              <a:t>Threat modeling</a:t>
            </a:r>
          </a:p>
        </p:txBody>
      </p:sp>
      <p:sp>
        <p:nvSpPr>
          <p:cNvPr id="13" name="TextBox 12"/>
          <p:cNvSpPr txBox="1"/>
          <p:nvPr/>
        </p:nvSpPr>
        <p:spPr>
          <a:xfrm>
            <a:off x="4474464" y="3931919"/>
            <a:ext cx="3240024" cy="1280160"/>
          </a:xfrm>
          <a:prstGeom prst="rect">
            <a:avLst/>
          </a:prstGeom>
          <a:noFill/>
        </p:spPr>
        <p:txBody>
          <a:bodyPr wrap="square" anchor="t" lIns="25400" rIns="25400" tIns="25400" bIns="25400">
            <a:spAutoFit/>
          </a:bodyPr>
          <a:lstStyle/>
          <a:p>
            <a:pPr algn="ctr">
              <a:spcBef>
                <a:spcPts val="0"/>
              </a:spcBef>
              <a:spcAft>
                <a:spcPts val="600"/>
              </a:spcAft>
            </a:pPr>
            <a:r>
              <a:rPr sz="1250" b="0">
                <a:solidFill>
                  <a:srgbClr val="B8C0CF"/>
                </a:solidFill>
                <a:latin typeface="Segoe UI"/>
              </a:rPr>
              <a:t>Synthesis, prioritisation, and kill-chain documentation — current</a:t>
            </a:r>
          </a:p>
        </p:txBody>
      </p:sp>
      <p:sp>
        <p:nvSpPr>
          <p:cNvPr id="14" name="Rounded Rectangle 13"/>
          <p:cNvSpPr/>
          <p:nvPr/>
        </p:nvSpPr>
        <p:spPr>
          <a:xfrm>
            <a:off x="8125968" y="2057400"/>
            <a:ext cx="3514344" cy="32918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25968" y="2286000"/>
            <a:ext cx="3514344" cy="1097280"/>
          </a:xfrm>
          <a:prstGeom prst="rect">
            <a:avLst/>
          </a:prstGeom>
          <a:noFill/>
        </p:spPr>
        <p:txBody>
          <a:bodyPr wrap="square" anchor="t" lIns="25400" rIns="25400" tIns="25400" bIns="25400">
            <a:spAutoFit/>
          </a:bodyPr>
          <a:lstStyle/>
          <a:p>
            <a:pPr algn="ctr">
              <a:spcBef>
                <a:spcPts val="0"/>
              </a:spcBef>
              <a:spcAft>
                <a:spcPts val="600"/>
              </a:spcAft>
            </a:pPr>
            <a:r>
              <a:rPr sz="3000" b="1">
                <a:solidFill>
                  <a:srgbClr val="FF6A00"/>
                </a:solidFill>
                <a:latin typeface="Segoe UI"/>
              </a:rPr>
              <a:t>M11</a:t>
            </a:r>
          </a:p>
        </p:txBody>
      </p:sp>
      <p:sp>
        <p:nvSpPr>
          <p:cNvPr id="16" name="TextBox 15"/>
          <p:cNvSpPr txBox="1"/>
          <p:nvPr/>
        </p:nvSpPr>
        <p:spPr>
          <a:xfrm>
            <a:off x="8235696" y="3291840"/>
            <a:ext cx="3294888" cy="640080"/>
          </a:xfrm>
          <a:prstGeom prst="rect">
            <a:avLst/>
          </a:prstGeom>
          <a:noFill/>
        </p:spPr>
        <p:txBody>
          <a:bodyPr wrap="square" anchor="t" lIns="25400" rIns="25400" tIns="25400" bIns="25400">
            <a:spAutoFit/>
          </a:bodyPr>
          <a:lstStyle/>
          <a:p>
            <a:pPr algn="ctr">
              <a:spcBef>
                <a:spcPts val="0"/>
              </a:spcBef>
              <a:spcAft>
                <a:spcPts val="600"/>
              </a:spcAft>
            </a:pPr>
            <a:r>
              <a:rPr sz="1500" b="1">
                <a:solidFill>
                  <a:srgbClr val="F5F7FB"/>
                </a:solidFill>
                <a:latin typeface="Segoe UI"/>
              </a:rPr>
              <a:t>Capstone</a:t>
            </a:r>
          </a:p>
        </p:txBody>
      </p:sp>
      <p:sp>
        <p:nvSpPr>
          <p:cNvPr id="17" name="TextBox 16"/>
          <p:cNvSpPr txBox="1"/>
          <p:nvPr/>
        </p:nvSpPr>
        <p:spPr>
          <a:xfrm>
            <a:off x="8263128" y="3931919"/>
            <a:ext cx="3240024" cy="1280160"/>
          </a:xfrm>
          <a:prstGeom prst="rect">
            <a:avLst/>
          </a:prstGeom>
          <a:noFill/>
        </p:spPr>
        <p:txBody>
          <a:bodyPr wrap="square" anchor="t" lIns="25400" rIns="25400" tIns="25400" bIns="25400">
            <a:spAutoFit/>
          </a:bodyPr>
          <a:lstStyle/>
          <a:p>
            <a:pPr algn="ctr">
              <a:spcBef>
                <a:spcPts val="0"/>
              </a:spcBef>
              <a:spcAft>
                <a:spcPts val="600"/>
              </a:spcAft>
            </a:pPr>
            <a:r>
              <a:rPr sz="1250" b="0">
                <a:solidFill>
                  <a:srgbClr val="B8C0CF"/>
                </a:solidFill>
                <a:latin typeface="Segoe UI"/>
              </a:rPr>
              <a:t>Full end-to-end engagement exercising everything from Modules 1 to 10</a:t>
            </a:r>
          </a:p>
        </p:txBody>
      </p:sp>
      <p:sp>
        <p:nvSpPr>
          <p:cNvPr id="18" name="TextBox 17"/>
          <p:cNvSpPr txBox="1"/>
          <p:nvPr/>
        </p:nvSpPr>
        <p:spPr>
          <a:xfrm>
            <a:off x="548640" y="5669280"/>
            <a:ext cx="11064240" cy="64008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OSAI exam: a 24-hour proctored, hands-on engagement against a realistic AI-enabled enterprise, plus a professional report. Domain weightings: Information not defined in the official exam outline — the exam is engagement-based, not percentage-weighted.</a:t>
            </a:r>
          </a:p>
        </p:txBody>
      </p:sp>
      <p:sp>
        <p:nvSpPr>
          <p:cNvPr id="19" name="TextBox 18"/>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20" name="TextBox 19"/>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ORIENTATION</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Threat modeling as the bridge between recon and exploitation</a:t>
            </a:r>
          </a:p>
        </p:txBody>
      </p:sp>
      <p:sp>
        <p:nvSpPr>
          <p:cNvPr id="6" name="Rounded Rectangle 5"/>
          <p:cNvSpPr/>
          <p:nvPr/>
        </p:nvSpPr>
        <p:spPr>
          <a:xfrm>
            <a:off x="548640" y="2057400"/>
            <a:ext cx="3514344" cy="32918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286000"/>
            <a:ext cx="3514344" cy="1097280"/>
          </a:xfrm>
          <a:prstGeom prst="rect">
            <a:avLst/>
          </a:prstGeom>
          <a:noFill/>
        </p:spPr>
        <p:txBody>
          <a:bodyPr wrap="square" anchor="t" lIns="25400" rIns="25400" tIns="25400" bIns="25400">
            <a:spAutoFit/>
          </a:bodyPr>
          <a:lstStyle/>
          <a:p>
            <a:pPr algn="ctr">
              <a:spcBef>
                <a:spcPts val="0"/>
              </a:spcBef>
              <a:spcAft>
                <a:spcPts val="600"/>
              </a:spcAft>
            </a:pPr>
            <a:r>
              <a:rPr sz="3000" b="1">
                <a:solidFill>
                  <a:srgbClr val="FF6A00"/>
                </a:solidFill>
                <a:latin typeface="Segoe UI"/>
              </a:rPr>
              <a:t>BEFORE</a:t>
            </a:r>
          </a:p>
        </p:txBody>
      </p:sp>
      <p:sp>
        <p:nvSpPr>
          <p:cNvPr id="8" name="TextBox 7"/>
          <p:cNvSpPr txBox="1"/>
          <p:nvPr/>
        </p:nvSpPr>
        <p:spPr>
          <a:xfrm>
            <a:off x="658368" y="3291840"/>
            <a:ext cx="3294888" cy="640080"/>
          </a:xfrm>
          <a:prstGeom prst="rect">
            <a:avLst/>
          </a:prstGeom>
          <a:noFill/>
        </p:spPr>
        <p:txBody>
          <a:bodyPr wrap="square" anchor="t" lIns="25400" rIns="25400" tIns="25400" bIns="25400">
            <a:spAutoFit/>
          </a:bodyPr>
          <a:lstStyle/>
          <a:p>
            <a:pPr algn="ctr">
              <a:spcBef>
                <a:spcPts val="0"/>
              </a:spcBef>
              <a:spcAft>
                <a:spcPts val="600"/>
              </a:spcAft>
            </a:pPr>
            <a:r>
              <a:rPr sz="1500" b="1">
                <a:solidFill>
                  <a:srgbClr val="F5F7FB"/>
                </a:solidFill>
                <a:latin typeface="Segoe UI"/>
              </a:rPr>
              <a:t>Module 2 — Reconnaissance</a:t>
            </a:r>
          </a:p>
        </p:txBody>
      </p:sp>
      <p:sp>
        <p:nvSpPr>
          <p:cNvPr id="9" name="TextBox 8"/>
          <p:cNvSpPr txBox="1"/>
          <p:nvPr/>
        </p:nvSpPr>
        <p:spPr>
          <a:xfrm>
            <a:off x="685800" y="3931919"/>
            <a:ext cx="3240024" cy="1280160"/>
          </a:xfrm>
          <a:prstGeom prst="rect">
            <a:avLst/>
          </a:prstGeom>
          <a:noFill/>
        </p:spPr>
        <p:txBody>
          <a:bodyPr wrap="square" anchor="t" lIns="25400" rIns="25400" tIns="25400" bIns="25400">
            <a:spAutoFit/>
          </a:bodyPr>
          <a:lstStyle/>
          <a:p>
            <a:pPr algn="ctr">
              <a:spcBef>
                <a:spcPts val="0"/>
              </a:spcBef>
              <a:spcAft>
                <a:spcPts val="600"/>
              </a:spcAft>
            </a:pPr>
            <a:r>
              <a:rPr sz="1250" b="0">
                <a:solidFill>
                  <a:srgbClr val="B8C0CF"/>
                </a:solidFill>
                <a:latin typeface="Segoe UI"/>
              </a:rPr>
              <a:t>Produces a target inventory: confirmed and hypothesised components, mapped to attack-surface layers</a:t>
            </a:r>
          </a:p>
        </p:txBody>
      </p:sp>
      <p:sp>
        <p:nvSpPr>
          <p:cNvPr id="10" name="Rounded Rectangle 9"/>
          <p:cNvSpPr/>
          <p:nvPr/>
        </p:nvSpPr>
        <p:spPr>
          <a:xfrm>
            <a:off x="4337304" y="2057400"/>
            <a:ext cx="3514344" cy="3291840"/>
          </a:xfrm>
          <a:prstGeom prst="roundRect">
            <a:avLst/>
          </a:prstGeom>
          <a:solidFill>
            <a:srgbClr val="141519"/>
          </a:solidFill>
          <a:ln w="25400">
            <a:solidFill>
              <a:srgbClr val="FF6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37304" y="2286000"/>
            <a:ext cx="3514344" cy="1097280"/>
          </a:xfrm>
          <a:prstGeom prst="rect">
            <a:avLst/>
          </a:prstGeom>
          <a:noFill/>
        </p:spPr>
        <p:txBody>
          <a:bodyPr wrap="square" anchor="t" lIns="25400" rIns="25400" tIns="25400" bIns="25400">
            <a:spAutoFit/>
          </a:bodyPr>
          <a:lstStyle/>
          <a:p>
            <a:pPr algn="ctr">
              <a:spcBef>
                <a:spcPts val="0"/>
              </a:spcBef>
              <a:spcAft>
                <a:spcPts val="600"/>
              </a:spcAft>
            </a:pPr>
            <a:r>
              <a:rPr sz="3000" b="1">
                <a:solidFill>
                  <a:srgbClr val="FF6A00"/>
                </a:solidFill>
                <a:latin typeface="Segoe UI"/>
              </a:rPr>
              <a:t>THIS MODULE</a:t>
            </a:r>
          </a:p>
        </p:txBody>
      </p:sp>
      <p:sp>
        <p:nvSpPr>
          <p:cNvPr id="12" name="TextBox 11"/>
          <p:cNvSpPr txBox="1"/>
          <p:nvPr/>
        </p:nvSpPr>
        <p:spPr>
          <a:xfrm>
            <a:off x="4447032" y="3291840"/>
            <a:ext cx="3294888" cy="640080"/>
          </a:xfrm>
          <a:prstGeom prst="rect">
            <a:avLst/>
          </a:prstGeom>
          <a:noFill/>
        </p:spPr>
        <p:txBody>
          <a:bodyPr wrap="square" anchor="t" lIns="25400" rIns="25400" tIns="25400" bIns="25400">
            <a:spAutoFit/>
          </a:bodyPr>
          <a:lstStyle/>
          <a:p>
            <a:pPr algn="ctr">
              <a:spcBef>
                <a:spcPts val="0"/>
              </a:spcBef>
              <a:spcAft>
                <a:spcPts val="600"/>
              </a:spcAft>
            </a:pPr>
            <a:r>
              <a:rPr sz="1500" b="1">
                <a:solidFill>
                  <a:srgbClr val="F5F7FB"/>
                </a:solidFill>
                <a:latin typeface="Segoe UI"/>
              </a:rPr>
              <a:t>Module 10 — Threat modeling</a:t>
            </a:r>
          </a:p>
        </p:txBody>
      </p:sp>
      <p:sp>
        <p:nvSpPr>
          <p:cNvPr id="13" name="TextBox 12"/>
          <p:cNvSpPr txBox="1"/>
          <p:nvPr/>
        </p:nvSpPr>
        <p:spPr>
          <a:xfrm>
            <a:off x="4474464" y="3931919"/>
            <a:ext cx="3240024" cy="1280160"/>
          </a:xfrm>
          <a:prstGeom prst="rect">
            <a:avLst/>
          </a:prstGeom>
          <a:noFill/>
        </p:spPr>
        <p:txBody>
          <a:bodyPr wrap="square" anchor="t" lIns="25400" rIns="25400" tIns="25400" bIns="25400">
            <a:spAutoFit/>
          </a:bodyPr>
          <a:lstStyle/>
          <a:p>
            <a:pPr algn="ctr">
              <a:spcBef>
                <a:spcPts val="0"/>
              </a:spcBef>
              <a:spcAft>
                <a:spcPts val="600"/>
              </a:spcAft>
            </a:pPr>
            <a:r>
              <a:rPr sz="1250" b="0">
                <a:solidFill>
                  <a:srgbClr val="B8C0CF"/>
                </a:solidFill>
                <a:latin typeface="Segoe UI"/>
              </a:rPr>
              <a:t>Turns that inventory into a ranked, prioritised set of attack paths</a:t>
            </a:r>
          </a:p>
        </p:txBody>
      </p:sp>
      <p:sp>
        <p:nvSpPr>
          <p:cNvPr id="14" name="Rounded Rectangle 13"/>
          <p:cNvSpPr/>
          <p:nvPr/>
        </p:nvSpPr>
        <p:spPr>
          <a:xfrm>
            <a:off x="8125968" y="2057400"/>
            <a:ext cx="3514344" cy="32918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25968" y="2286000"/>
            <a:ext cx="3514344" cy="1097280"/>
          </a:xfrm>
          <a:prstGeom prst="rect">
            <a:avLst/>
          </a:prstGeom>
          <a:noFill/>
        </p:spPr>
        <p:txBody>
          <a:bodyPr wrap="square" anchor="t" lIns="25400" rIns="25400" tIns="25400" bIns="25400">
            <a:spAutoFit/>
          </a:bodyPr>
          <a:lstStyle/>
          <a:p>
            <a:pPr algn="ctr">
              <a:spcBef>
                <a:spcPts val="0"/>
              </a:spcBef>
              <a:spcAft>
                <a:spcPts val="600"/>
              </a:spcAft>
            </a:pPr>
            <a:r>
              <a:rPr sz="3000" b="1">
                <a:solidFill>
                  <a:srgbClr val="FF6A00"/>
                </a:solidFill>
                <a:latin typeface="Segoe UI"/>
              </a:rPr>
              <a:t>AFTER</a:t>
            </a:r>
          </a:p>
        </p:txBody>
      </p:sp>
      <p:sp>
        <p:nvSpPr>
          <p:cNvPr id="16" name="TextBox 15"/>
          <p:cNvSpPr txBox="1"/>
          <p:nvPr/>
        </p:nvSpPr>
        <p:spPr>
          <a:xfrm>
            <a:off x="8235696" y="3291840"/>
            <a:ext cx="3294888" cy="640080"/>
          </a:xfrm>
          <a:prstGeom prst="rect">
            <a:avLst/>
          </a:prstGeom>
          <a:noFill/>
        </p:spPr>
        <p:txBody>
          <a:bodyPr wrap="square" anchor="t" lIns="25400" rIns="25400" tIns="25400" bIns="25400">
            <a:spAutoFit/>
          </a:bodyPr>
          <a:lstStyle/>
          <a:p>
            <a:pPr algn="ctr">
              <a:spcBef>
                <a:spcPts val="0"/>
              </a:spcBef>
              <a:spcAft>
                <a:spcPts val="600"/>
              </a:spcAft>
            </a:pPr>
            <a:r>
              <a:rPr sz="1500" b="1">
                <a:solidFill>
                  <a:srgbClr val="F5F7FB"/>
                </a:solidFill>
                <a:latin typeface="Segoe UI"/>
              </a:rPr>
              <a:t>Modules 3–9 techniques, Module 11</a:t>
            </a:r>
          </a:p>
        </p:txBody>
      </p:sp>
      <p:sp>
        <p:nvSpPr>
          <p:cNvPr id="17" name="TextBox 16"/>
          <p:cNvSpPr txBox="1"/>
          <p:nvPr/>
        </p:nvSpPr>
        <p:spPr>
          <a:xfrm>
            <a:off x="8263128" y="3931919"/>
            <a:ext cx="3240024" cy="1280160"/>
          </a:xfrm>
          <a:prstGeom prst="rect">
            <a:avLst/>
          </a:prstGeom>
          <a:noFill/>
        </p:spPr>
        <p:txBody>
          <a:bodyPr wrap="square" anchor="t" lIns="25400" rIns="25400" tIns="25400" bIns="25400">
            <a:spAutoFit/>
          </a:bodyPr>
          <a:lstStyle/>
          <a:p>
            <a:pPr algn="ctr">
              <a:spcBef>
                <a:spcPts val="0"/>
              </a:spcBef>
              <a:spcAft>
                <a:spcPts val="600"/>
              </a:spcAft>
            </a:pPr>
            <a:r>
              <a:rPr sz="1250" b="0">
                <a:solidFill>
                  <a:srgbClr val="B8C0CF"/>
                </a:solidFill>
                <a:latin typeface="Segoe UI"/>
              </a:rPr>
              <a:t>The ranked paths direct which techniques are executed, and in what order</a:t>
            </a:r>
          </a:p>
        </p:txBody>
      </p:sp>
      <p:sp>
        <p:nvSpPr>
          <p:cNvPr id="18" name="TextBox 17"/>
          <p:cNvSpPr txBox="1"/>
          <p:nvPr/>
        </p:nvSpPr>
        <p:spPr>
          <a:xfrm>
            <a:off x="548640" y="5669280"/>
            <a:ext cx="11064240" cy="64008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Every technique in Modules 3 to 9 is a tool in a toolbox; threat modeling is what decides which tool to reach for first, given a specific target and a limited window. Objective 10.1 develops this bridge in full.</a:t>
            </a:r>
          </a:p>
        </p:txBody>
      </p:sp>
      <p:sp>
        <p:nvSpPr>
          <p:cNvPr id="19" name="TextBox 18"/>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20" name="TextBox 19"/>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103120"/>
            <a:ext cx="10058400" cy="548640"/>
          </a:xfrm>
          <a:prstGeom prst="rect">
            <a:avLst/>
          </a:prstGeom>
          <a:noFill/>
        </p:spPr>
        <p:txBody>
          <a:bodyPr wrap="square" anchor="t" lIns="25400" rIns="25400" tIns="25400" bIns="25400">
            <a:spAutoFit/>
          </a:bodyPr>
          <a:lstStyle/>
          <a:p>
            <a:pPr algn="l">
              <a:spcBef>
                <a:spcPts val="0"/>
              </a:spcBef>
              <a:spcAft>
                <a:spcPts val="600"/>
              </a:spcAft>
            </a:pPr>
            <a:r>
              <a:rPr sz="1500" b="1">
                <a:solidFill>
                  <a:srgbClr val="FF6A00"/>
                </a:solidFill>
                <a:latin typeface="Segoe UI"/>
              </a:rPr>
              <a:t>OBJECTIVE 10.1</a:t>
            </a:r>
          </a:p>
        </p:txBody>
      </p:sp>
      <p:sp>
        <p:nvSpPr>
          <p:cNvPr id="5" name="TextBox 4"/>
          <p:cNvSpPr txBox="1"/>
          <p:nvPr/>
        </p:nvSpPr>
        <p:spPr>
          <a:xfrm>
            <a:off x="502920" y="2560320"/>
            <a:ext cx="3657600" cy="1463040"/>
          </a:xfrm>
          <a:prstGeom prst="rect">
            <a:avLst/>
          </a:prstGeom>
          <a:noFill/>
        </p:spPr>
        <p:txBody>
          <a:bodyPr wrap="square" anchor="t" lIns="25400" rIns="25400" tIns="25400" bIns="25400">
            <a:spAutoFit/>
          </a:bodyPr>
          <a:lstStyle/>
          <a:p>
            <a:pPr algn="l">
              <a:spcBef>
                <a:spcPts val="0"/>
              </a:spcBef>
              <a:spcAft>
                <a:spcPts val="600"/>
              </a:spcAft>
            </a:pPr>
            <a:r>
              <a:rPr sz="15000" b="1">
                <a:solidFill>
                  <a:srgbClr val="FF6A00"/>
                </a:solidFill>
                <a:latin typeface="Segoe UI"/>
              </a:rPr>
              <a:t>10.1</a:t>
            </a:r>
          </a:p>
        </p:txBody>
      </p:sp>
      <p:sp>
        <p:nvSpPr>
          <p:cNvPr id="6" name="TextBox 5"/>
          <p:cNvSpPr txBox="1"/>
          <p:nvPr/>
        </p:nvSpPr>
        <p:spPr>
          <a:xfrm>
            <a:off x="548640" y="4343400"/>
            <a:ext cx="10972800" cy="1280160"/>
          </a:xfrm>
          <a:prstGeom prst="rect">
            <a:avLst/>
          </a:prstGeom>
          <a:noFill/>
        </p:spPr>
        <p:txBody>
          <a:bodyPr wrap="square" anchor="t" lIns="25400" rIns="25400" tIns="25400" bIns="25400">
            <a:spAutoFit/>
          </a:bodyPr>
          <a:lstStyle/>
          <a:p>
            <a:pPr algn="l">
              <a:spcBef>
                <a:spcPts val="0"/>
              </a:spcBef>
              <a:spcAft>
                <a:spcPts val="600"/>
              </a:spcAft>
            </a:pPr>
            <a:r>
              <a:rPr sz="4000" b="1">
                <a:solidFill>
                  <a:srgbClr val="F5F7FB"/>
                </a:solidFill>
                <a:latin typeface="Segoe UI"/>
              </a:rPr>
              <a:t>Threat modeling's role in the engagement lifecycle</a:t>
            </a:r>
          </a:p>
        </p:txBody>
      </p:sp>
      <p:sp>
        <p:nvSpPr>
          <p:cNvPr id="7" name="TextBox 6"/>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8" name="TextBox 7"/>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10.1 · DEFINITION</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What is threat modeling, in the OSAI context?</a:t>
            </a:r>
          </a:p>
        </p:txBody>
      </p:sp>
      <p:sp>
        <p:nvSpPr>
          <p:cNvPr id="6" name="Rounded Rectangle 5"/>
          <p:cNvSpPr/>
          <p:nvPr/>
        </p:nvSpPr>
        <p:spPr>
          <a:xfrm>
            <a:off x="548640" y="1783080"/>
            <a:ext cx="11091672" cy="132588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920240"/>
            <a:ext cx="10607040" cy="1097280"/>
          </a:xfrm>
          <a:prstGeom prst="rect">
            <a:avLst/>
          </a:prstGeom>
          <a:noFill/>
        </p:spPr>
        <p:txBody>
          <a:bodyPr wrap="square" anchor="ctr" lIns="25400" rIns="25400" tIns="25400" bIns="25400">
            <a:spAutoFit/>
          </a:bodyPr>
          <a:lstStyle/>
          <a:p>
            <a:pPr algn="l">
              <a:spcBef>
                <a:spcPts val="0"/>
              </a:spcBef>
              <a:spcAft>
                <a:spcPts val="600"/>
              </a:spcAft>
            </a:pPr>
            <a:r>
              <a:rPr sz="1650" b="0">
                <a:solidFill>
                  <a:srgbClr val="F5F7FB"/>
                </a:solidFill>
                <a:latin typeface="Segoe UI"/>
              </a:rPr>
              <a:t>Threat modeling is the structured process of turning a mapped attack surface into a prioritised set of attack paths — deciding, before any exploitation begins, which weaknesses are most worth pursuing given the objectives, the target's actual configuration, and the time available.</a:t>
            </a:r>
          </a:p>
        </p:txBody>
      </p:sp>
      <p:sp>
        <p:nvSpPr>
          <p:cNvPr id="8" name="Rounded Rectangle 7"/>
          <p:cNvSpPr/>
          <p:nvPr/>
        </p:nvSpPr>
        <p:spPr>
          <a:xfrm>
            <a:off x="548640"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WHAT IT IS NOT</a:t>
            </a:r>
          </a:p>
        </p:txBody>
      </p:sp>
      <p:sp>
        <p:nvSpPr>
          <p:cNvPr id="10" name="TextBox 9"/>
          <p:cNvSpPr txBox="1"/>
          <p:nvPr/>
        </p:nvSpPr>
        <p:spPr>
          <a:xfrm>
            <a:off x="749808"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It is not another technique for compromising a system — it produces no finding on its own, only a plan for where findings are most likely to matter.</a:t>
            </a:r>
          </a:p>
        </p:txBody>
      </p:sp>
      <p:sp>
        <p:nvSpPr>
          <p:cNvPr id="11" name="Rounded Rectangle 10"/>
          <p:cNvSpPr/>
          <p:nvPr/>
        </p:nvSpPr>
        <p:spPr>
          <a:xfrm>
            <a:off x="6231636"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32804"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WHY IT EXISTS</a:t>
            </a:r>
          </a:p>
        </p:txBody>
      </p:sp>
      <p:sp>
        <p:nvSpPr>
          <p:cNvPr id="13" name="TextBox 12"/>
          <p:cNvSpPr txBox="1"/>
          <p:nvPr/>
        </p:nvSpPr>
        <p:spPr>
          <a:xfrm>
            <a:off x="6432804"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A 24-hour engagement cannot exhaustively test every technique from Modules 3 to 9 against every component — threat modeling is what makes the available time count.</a:t>
            </a:r>
          </a:p>
        </p:txBody>
      </p:sp>
      <p:sp>
        <p:nvSpPr>
          <p:cNvPr id="14" name="TextBox 13"/>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5" name="TextBox 14"/>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10.1 · INPUTS &amp; OUTPUTS</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What feeds threat modeling, and what it produces</a:t>
            </a:r>
          </a:p>
        </p:txBody>
      </p:sp>
      <p:sp>
        <p:nvSpPr>
          <p:cNvPr id="6" name="Rounded Rectangle 5"/>
          <p:cNvSpPr/>
          <p:nvPr/>
        </p:nvSpPr>
        <p:spPr>
          <a:xfrm>
            <a:off x="548640" y="1783080"/>
            <a:ext cx="11091672" cy="132588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920240"/>
            <a:ext cx="10607040" cy="1097280"/>
          </a:xfrm>
          <a:prstGeom prst="rect">
            <a:avLst/>
          </a:prstGeom>
          <a:noFill/>
        </p:spPr>
        <p:txBody>
          <a:bodyPr wrap="square" anchor="ctr" lIns="25400" rIns="25400" tIns="25400" bIns="25400">
            <a:spAutoFit/>
          </a:bodyPr>
          <a:lstStyle/>
          <a:p>
            <a:pPr algn="l">
              <a:spcBef>
                <a:spcPts val="0"/>
              </a:spcBef>
              <a:spcAft>
                <a:spcPts val="600"/>
              </a:spcAft>
            </a:pPr>
            <a:r>
              <a:rPr sz="1650" b="0">
                <a:solidFill>
                  <a:srgbClr val="F5F7FB"/>
                </a:solidFill>
                <a:latin typeface="Segoe UI"/>
              </a:rPr>
              <a:t>Threat modeling takes the target inventory from Module 2 and the objectives from scoping as its two required inputs, and produces a single defined output: a ranked list of candidate attack paths, each tied to evidence, an affected layer, and an estimated impact and effort.</a:t>
            </a:r>
          </a:p>
        </p:txBody>
      </p:sp>
      <p:sp>
        <p:nvSpPr>
          <p:cNvPr id="8" name="Rounded Rectangle 7"/>
          <p:cNvSpPr/>
          <p:nvPr/>
        </p:nvSpPr>
        <p:spPr>
          <a:xfrm>
            <a:off x="548640"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INPUT 1 — TARGET INVENTORY</a:t>
            </a:r>
          </a:p>
        </p:txBody>
      </p:sp>
      <p:sp>
        <p:nvSpPr>
          <p:cNvPr id="10" name="TextBox 9"/>
          <p:cNvSpPr txBox="1"/>
          <p:nvPr/>
        </p:nvSpPr>
        <p:spPr>
          <a:xfrm>
            <a:off x="749808"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Module 2, Objective 2.4's deliverable: every confirmed or hypothesised component, mapped to a layer, with evidence and confidence.</a:t>
            </a:r>
          </a:p>
        </p:txBody>
      </p:sp>
      <p:sp>
        <p:nvSpPr>
          <p:cNvPr id="11" name="Rounded Rectangle 10"/>
          <p:cNvSpPr/>
          <p:nvPr/>
        </p:nvSpPr>
        <p:spPr>
          <a:xfrm>
            <a:off x="6231636"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32804"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INPUT 2 — ENGAGEMENT OBJECTIVES</a:t>
            </a:r>
          </a:p>
        </p:txBody>
      </p:sp>
      <p:sp>
        <p:nvSpPr>
          <p:cNvPr id="13" name="TextBox 12"/>
          <p:cNvSpPr txBox="1"/>
          <p:nvPr/>
        </p:nvSpPr>
        <p:spPr>
          <a:xfrm>
            <a:off x="6432804"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Module 1, Objective 1.4's scoping output: what a successful compromise is defined to look like for this specific engagement.</a:t>
            </a:r>
          </a:p>
        </p:txBody>
      </p:sp>
      <p:sp>
        <p:nvSpPr>
          <p:cNvPr id="14" name="TextBox 13"/>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5" name="TextBox 14"/>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10.1 · POSITION</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Threat modeling's position in the six-phase engagement lifecycle</a:t>
            </a:r>
          </a:p>
        </p:txBody>
      </p:sp>
      <p:sp>
        <p:nvSpPr>
          <p:cNvPr id="6" name="Rounded Rectangle 5"/>
          <p:cNvSpPr/>
          <p:nvPr/>
        </p:nvSpPr>
        <p:spPr>
          <a:xfrm>
            <a:off x="548640" y="1920240"/>
            <a:ext cx="685800" cy="746760"/>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920240"/>
            <a:ext cx="685800" cy="746760"/>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1</a:t>
            </a:r>
          </a:p>
        </p:txBody>
      </p:sp>
      <p:sp>
        <p:nvSpPr>
          <p:cNvPr id="8" name="Rounded Rectangle 7"/>
          <p:cNvSpPr/>
          <p:nvPr/>
        </p:nvSpPr>
        <p:spPr>
          <a:xfrm>
            <a:off x="1371600" y="1920240"/>
            <a:ext cx="10268712" cy="74676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600200" y="1920240"/>
            <a:ext cx="3108960" cy="746760"/>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Scoping &amp; rules of engagement</a:t>
            </a:r>
          </a:p>
        </p:txBody>
      </p:sp>
      <p:sp>
        <p:nvSpPr>
          <p:cNvPr id="10" name="TextBox 9"/>
          <p:cNvSpPr txBox="1"/>
          <p:nvPr/>
        </p:nvSpPr>
        <p:spPr>
          <a:xfrm>
            <a:off x="4709160" y="1920240"/>
            <a:ext cx="6766560" cy="746760"/>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Objectives and constraints are agreed before any testing begins — Module 1, Objective 1.4.</a:t>
            </a:r>
          </a:p>
        </p:txBody>
      </p:sp>
      <p:sp>
        <p:nvSpPr>
          <p:cNvPr id="11" name="Rounded Rectangle 10"/>
          <p:cNvSpPr/>
          <p:nvPr/>
        </p:nvSpPr>
        <p:spPr>
          <a:xfrm>
            <a:off x="548640" y="2721864"/>
            <a:ext cx="685800" cy="746760"/>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2721864"/>
            <a:ext cx="685800" cy="746760"/>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2</a:t>
            </a:r>
          </a:p>
        </p:txBody>
      </p:sp>
      <p:sp>
        <p:nvSpPr>
          <p:cNvPr id="13" name="Rounded Rectangle 12"/>
          <p:cNvSpPr/>
          <p:nvPr/>
        </p:nvSpPr>
        <p:spPr>
          <a:xfrm>
            <a:off x="1371600" y="2721864"/>
            <a:ext cx="10268712" cy="74676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600200" y="2721864"/>
            <a:ext cx="3108960" cy="746760"/>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Reconnaissance</a:t>
            </a:r>
          </a:p>
        </p:txBody>
      </p:sp>
      <p:sp>
        <p:nvSpPr>
          <p:cNvPr id="15" name="TextBox 14"/>
          <p:cNvSpPr txBox="1"/>
          <p:nvPr/>
        </p:nvSpPr>
        <p:spPr>
          <a:xfrm>
            <a:off x="4709160" y="2721864"/>
            <a:ext cx="6766560" cy="746760"/>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The target inventory is built — Module 2.</a:t>
            </a:r>
          </a:p>
        </p:txBody>
      </p:sp>
      <p:sp>
        <p:nvSpPr>
          <p:cNvPr id="16" name="Rounded Rectangle 15"/>
          <p:cNvSpPr/>
          <p:nvPr/>
        </p:nvSpPr>
        <p:spPr>
          <a:xfrm>
            <a:off x="548640" y="3523488"/>
            <a:ext cx="685800" cy="746760"/>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3523488"/>
            <a:ext cx="685800" cy="746760"/>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3</a:t>
            </a:r>
          </a:p>
        </p:txBody>
      </p:sp>
      <p:sp>
        <p:nvSpPr>
          <p:cNvPr id="18" name="Rounded Rectangle 17"/>
          <p:cNvSpPr/>
          <p:nvPr/>
        </p:nvSpPr>
        <p:spPr>
          <a:xfrm>
            <a:off x="1371600" y="3523488"/>
            <a:ext cx="10268712" cy="74676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600200" y="3523488"/>
            <a:ext cx="3108960" cy="746760"/>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Threat modeling</a:t>
            </a:r>
          </a:p>
        </p:txBody>
      </p:sp>
      <p:sp>
        <p:nvSpPr>
          <p:cNvPr id="20" name="TextBox 19"/>
          <p:cNvSpPr txBox="1"/>
          <p:nvPr/>
        </p:nvSpPr>
        <p:spPr>
          <a:xfrm>
            <a:off x="4709160" y="3523488"/>
            <a:ext cx="6766560" cy="746760"/>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The inventory becomes a ranked set of attack paths — this module.</a:t>
            </a:r>
          </a:p>
        </p:txBody>
      </p:sp>
      <p:sp>
        <p:nvSpPr>
          <p:cNvPr id="21" name="Rounded Rectangle 20"/>
          <p:cNvSpPr/>
          <p:nvPr/>
        </p:nvSpPr>
        <p:spPr>
          <a:xfrm>
            <a:off x="548640" y="4325112"/>
            <a:ext cx="685800" cy="746760"/>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4325112"/>
            <a:ext cx="685800" cy="746760"/>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4</a:t>
            </a:r>
          </a:p>
        </p:txBody>
      </p:sp>
      <p:sp>
        <p:nvSpPr>
          <p:cNvPr id="23" name="Rounded Rectangle 22"/>
          <p:cNvSpPr/>
          <p:nvPr/>
        </p:nvSpPr>
        <p:spPr>
          <a:xfrm>
            <a:off x="1371600" y="4325112"/>
            <a:ext cx="10268712" cy="74676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600200" y="4325112"/>
            <a:ext cx="3108960" cy="746760"/>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Exploitation</a:t>
            </a:r>
          </a:p>
        </p:txBody>
      </p:sp>
      <p:sp>
        <p:nvSpPr>
          <p:cNvPr id="25" name="TextBox 24"/>
          <p:cNvSpPr txBox="1"/>
          <p:nvPr/>
        </p:nvSpPr>
        <p:spPr>
          <a:xfrm>
            <a:off x="4709160" y="4325112"/>
            <a:ext cx="6766560" cy="746760"/>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The highest-ranked paths are executed using techniques from Modules 3 to 9.</a:t>
            </a:r>
          </a:p>
        </p:txBody>
      </p:sp>
      <p:sp>
        <p:nvSpPr>
          <p:cNvPr id="26" name="Rounded Rectangle 25"/>
          <p:cNvSpPr/>
          <p:nvPr/>
        </p:nvSpPr>
        <p:spPr>
          <a:xfrm>
            <a:off x="548640" y="5126736"/>
            <a:ext cx="685800" cy="746760"/>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8640" y="5126736"/>
            <a:ext cx="685800" cy="746760"/>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5</a:t>
            </a:r>
          </a:p>
        </p:txBody>
      </p:sp>
      <p:sp>
        <p:nvSpPr>
          <p:cNvPr id="28" name="Rounded Rectangle 27"/>
          <p:cNvSpPr/>
          <p:nvPr/>
        </p:nvSpPr>
        <p:spPr>
          <a:xfrm>
            <a:off x="1371600" y="5126736"/>
            <a:ext cx="10268712" cy="74676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600200" y="5126736"/>
            <a:ext cx="3108960" cy="746760"/>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Post-exploitation &amp; impact</a:t>
            </a:r>
          </a:p>
        </p:txBody>
      </p:sp>
      <p:sp>
        <p:nvSpPr>
          <p:cNvPr id="30" name="TextBox 29"/>
          <p:cNvSpPr txBox="1"/>
          <p:nvPr/>
        </p:nvSpPr>
        <p:spPr>
          <a:xfrm>
            <a:off x="4709160" y="5126736"/>
            <a:ext cx="6766560" cy="746760"/>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Successful footholds are chained toward the objectives defined in scoping.</a:t>
            </a:r>
          </a:p>
        </p:txBody>
      </p:sp>
      <p:sp>
        <p:nvSpPr>
          <p:cNvPr id="31" name="Rounded Rectangle 30"/>
          <p:cNvSpPr/>
          <p:nvPr/>
        </p:nvSpPr>
        <p:spPr>
          <a:xfrm>
            <a:off x="548640" y="5928360"/>
            <a:ext cx="685800" cy="746760"/>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48640" y="5928360"/>
            <a:ext cx="685800" cy="746760"/>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6</a:t>
            </a:r>
          </a:p>
        </p:txBody>
      </p:sp>
      <p:sp>
        <p:nvSpPr>
          <p:cNvPr id="33" name="Rounded Rectangle 32"/>
          <p:cNvSpPr/>
          <p:nvPr/>
        </p:nvSpPr>
        <p:spPr>
          <a:xfrm>
            <a:off x="1371600" y="5928360"/>
            <a:ext cx="10268712" cy="74676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600200" y="5928360"/>
            <a:ext cx="3108960" cy="746760"/>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Reporting</a:t>
            </a:r>
          </a:p>
        </p:txBody>
      </p:sp>
      <p:sp>
        <p:nvSpPr>
          <p:cNvPr id="35" name="TextBox 34"/>
          <p:cNvSpPr txBox="1"/>
          <p:nvPr/>
        </p:nvSpPr>
        <p:spPr>
          <a:xfrm>
            <a:off x="4709160" y="5928360"/>
            <a:ext cx="6766560" cy="746760"/>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The kill chain, evidence, and impact are documented for delivery.</a:t>
            </a:r>
          </a:p>
        </p:txBody>
      </p:sp>
      <p:sp>
        <p:nvSpPr>
          <p:cNvPr id="36" name="TextBox 35"/>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37" name="TextBox 36"/>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10.1 · CRITICAL DISTINCTION</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Threat modeling vs reconnaissance</a:t>
            </a:r>
          </a:p>
        </p:txBody>
      </p:sp>
      <p:sp>
        <p:nvSpPr>
          <p:cNvPr id="6" name="Rounded Rectangle 5"/>
          <p:cNvSpPr/>
          <p:nvPr/>
        </p:nvSpPr>
        <p:spPr>
          <a:xfrm>
            <a:off x="548640" y="1828800"/>
            <a:ext cx="5257800" cy="3246120"/>
          </a:xfrm>
          <a:prstGeom prst="roundRect">
            <a:avLst/>
          </a:prstGeom>
          <a:solidFill>
            <a:srgbClr val="141519"/>
          </a:solidFill>
          <a:ln w="20320">
            <a:solidFill>
              <a:srgbClr val="FF6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011680"/>
            <a:ext cx="4800600" cy="640080"/>
          </a:xfrm>
          <a:prstGeom prst="rect">
            <a:avLst/>
          </a:prstGeom>
          <a:noFill/>
        </p:spPr>
        <p:txBody>
          <a:bodyPr wrap="square" anchor="t" lIns="25400" rIns="25400" tIns="25400" bIns="25400">
            <a:spAutoFit/>
          </a:bodyPr>
          <a:lstStyle/>
          <a:p>
            <a:pPr algn="l">
              <a:spcBef>
                <a:spcPts val="0"/>
              </a:spcBef>
              <a:spcAft>
                <a:spcPts val="600"/>
              </a:spcAft>
            </a:pPr>
            <a:r>
              <a:rPr sz="2000" b="1">
                <a:solidFill>
                  <a:srgbClr val="F5F7FB"/>
                </a:solidFill>
                <a:latin typeface="Segoe UI"/>
              </a:rPr>
              <a:t>Reconnaissance (Module 2)</a:t>
            </a:r>
          </a:p>
        </p:txBody>
      </p:sp>
      <p:sp>
        <p:nvSpPr>
          <p:cNvPr id="8" name="TextBox 7"/>
          <p:cNvSpPr txBox="1"/>
          <p:nvPr/>
        </p:nvSpPr>
        <p:spPr>
          <a:xfrm>
            <a:off x="777240" y="2743200"/>
            <a:ext cx="4800600" cy="2148840"/>
          </a:xfrm>
          <a:prstGeom prst="rect">
            <a:avLst/>
          </a:prstGeom>
          <a:noFill/>
        </p:spPr>
        <p:txBody>
          <a:bodyPr wrap="square" anchor="t" lIns="25400" rIns="25400" tIns="25400" bIns="25400">
            <a:spAutoFit/>
          </a:bodyPr>
          <a:lstStyle/>
          <a:p>
            <a:pPr algn="l">
              <a:spcBef>
                <a:spcPts val="0"/>
              </a:spcBef>
              <a:spcAft>
                <a:spcPts val="800"/>
              </a:spcAft>
            </a:pPr>
            <a:r>
              <a:rPr sz="1400" b="1">
                <a:solidFill>
                  <a:srgbClr val="FF6A00"/>
                </a:solidFill>
                <a:latin typeface="Segoe UI"/>
              </a:rPr>
              <a:t>•  </a:t>
            </a:r>
            <a:r>
              <a:rPr sz="1400" b="0">
                <a:solidFill>
                  <a:srgbClr val="B8C0CF"/>
                </a:solidFill>
                <a:latin typeface="Segoe UI"/>
              </a:rPr>
              <a:t>Discovers and confirms what components exist</a:t>
            </a:r>
          </a:p>
          <a:p>
            <a:pPr algn="l">
              <a:spcBef>
                <a:spcPts val="0"/>
              </a:spcBef>
              <a:spcAft>
                <a:spcPts val="800"/>
              </a:spcAft>
            </a:pPr>
            <a:r>
              <a:rPr sz="1400" b="1">
                <a:solidFill>
                  <a:srgbClr val="FF6A00"/>
                </a:solidFill>
                <a:latin typeface="Segoe UI"/>
              </a:rPr>
              <a:t>•  </a:t>
            </a:r>
            <a:r>
              <a:rPr sz="1400" b="0">
                <a:solidFill>
                  <a:srgbClr val="B8C0CF"/>
                </a:solidFill>
                <a:latin typeface="Segoe UI"/>
              </a:rPr>
              <a:t>Produces an inventory — a description of the target</a:t>
            </a:r>
          </a:p>
          <a:p>
            <a:pPr algn="l">
              <a:spcBef>
                <a:spcPts val="0"/>
              </a:spcBef>
              <a:spcAft>
                <a:spcPts val="800"/>
              </a:spcAft>
            </a:pPr>
            <a:r>
              <a:rPr sz="1400" b="1">
                <a:solidFill>
                  <a:srgbClr val="FF6A00"/>
                </a:solidFill>
                <a:latin typeface="Segoe UI"/>
              </a:rPr>
              <a:t>•  </a:t>
            </a:r>
            <a:r>
              <a:rPr sz="1400" b="0">
                <a:solidFill>
                  <a:srgbClr val="B8C0CF"/>
                </a:solidFill>
                <a:latin typeface="Segoe UI"/>
              </a:rPr>
              <a:t>Asks: what is here, and how confident are we?</a:t>
            </a:r>
          </a:p>
          <a:p>
            <a:pPr algn="l">
              <a:spcBef>
                <a:spcPts val="0"/>
              </a:spcBef>
              <a:spcAft>
                <a:spcPts val="800"/>
              </a:spcAft>
            </a:pPr>
            <a:r>
              <a:rPr sz="1400" b="1">
                <a:solidFill>
                  <a:srgbClr val="FF6A00"/>
                </a:solidFill>
                <a:latin typeface="Segoe UI"/>
              </a:rPr>
              <a:t>•  </a:t>
            </a:r>
            <a:r>
              <a:rPr sz="1400" b="0">
                <a:solidFill>
                  <a:srgbClr val="B8C0CF"/>
                </a:solidFill>
                <a:latin typeface="Segoe UI"/>
              </a:rPr>
              <a:t>Generates no ranking or prioritisation of its own</a:t>
            </a:r>
          </a:p>
        </p:txBody>
      </p:sp>
      <p:sp>
        <p:nvSpPr>
          <p:cNvPr id="9" name="Rounded Rectangle 8"/>
          <p:cNvSpPr/>
          <p:nvPr/>
        </p:nvSpPr>
        <p:spPr>
          <a:xfrm>
            <a:off x="6382512" y="1828800"/>
            <a:ext cx="5257800" cy="324612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11112" y="2011680"/>
            <a:ext cx="4800600" cy="640080"/>
          </a:xfrm>
          <a:prstGeom prst="rect">
            <a:avLst/>
          </a:prstGeom>
          <a:noFill/>
        </p:spPr>
        <p:txBody>
          <a:bodyPr wrap="square" anchor="t" lIns="25400" rIns="25400" tIns="25400" bIns="25400">
            <a:spAutoFit/>
          </a:bodyPr>
          <a:lstStyle/>
          <a:p>
            <a:pPr algn="l">
              <a:spcBef>
                <a:spcPts val="0"/>
              </a:spcBef>
              <a:spcAft>
                <a:spcPts val="600"/>
              </a:spcAft>
            </a:pPr>
            <a:r>
              <a:rPr sz="2000" b="1">
                <a:solidFill>
                  <a:srgbClr val="F5F7FB"/>
                </a:solidFill>
                <a:latin typeface="Segoe UI"/>
              </a:rPr>
              <a:t>Threat modeling (this module)</a:t>
            </a:r>
          </a:p>
        </p:txBody>
      </p:sp>
      <p:sp>
        <p:nvSpPr>
          <p:cNvPr id="11" name="TextBox 10"/>
          <p:cNvSpPr txBox="1"/>
          <p:nvPr/>
        </p:nvSpPr>
        <p:spPr>
          <a:xfrm>
            <a:off x="6611112" y="2743200"/>
            <a:ext cx="4800600" cy="2148840"/>
          </a:xfrm>
          <a:prstGeom prst="rect">
            <a:avLst/>
          </a:prstGeom>
          <a:noFill/>
        </p:spPr>
        <p:txBody>
          <a:bodyPr wrap="square" anchor="t" lIns="25400" rIns="25400" tIns="25400" bIns="25400">
            <a:spAutoFit/>
          </a:bodyPr>
          <a:lstStyle/>
          <a:p>
            <a:pPr algn="l">
              <a:spcBef>
                <a:spcPts val="0"/>
              </a:spcBef>
              <a:spcAft>
                <a:spcPts val="800"/>
              </a:spcAft>
            </a:pPr>
            <a:r>
              <a:rPr sz="1400" b="1">
                <a:solidFill>
                  <a:srgbClr val="FF6A00"/>
                </a:solidFill>
                <a:latin typeface="Segoe UI"/>
              </a:rPr>
              <a:t>•  </a:t>
            </a:r>
            <a:r>
              <a:rPr sz="1400" b="0">
                <a:solidFill>
                  <a:srgbClr val="B8C0CF"/>
                </a:solidFill>
                <a:latin typeface="Segoe UI"/>
              </a:rPr>
              <a:t>Assumes the inventory already exists as an input</a:t>
            </a:r>
          </a:p>
          <a:p>
            <a:pPr algn="l">
              <a:spcBef>
                <a:spcPts val="0"/>
              </a:spcBef>
              <a:spcAft>
                <a:spcPts val="800"/>
              </a:spcAft>
            </a:pPr>
            <a:r>
              <a:rPr sz="1400" b="1">
                <a:solidFill>
                  <a:srgbClr val="FF6A00"/>
                </a:solidFill>
                <a:latin typeface="Segoe UI"/>
              </a:rPr>
              <a:t>•  </a:t>
            </a:r>
            <a:r>
              <a:rPr sz="1400" b="0">
                <a:solidFill>
                  <a:srgbClr val="B8C0CF"/>
                </a:solidFill>
                <a:latin typeface="Segoe UI"/>
              </a:rPr>
              <a:t>Produces a ranked plan — a prioritisation of attack paths</a:t>
            </a:r>
          </a:p>
          <a:p>
            <a:pPr algn="l">
              <a:spcBef>
                <a:spcPts val="0"/>
              </a:spcBef>
              <a:spcAft>
                <a:spcPts val="800"/>
              </a:spcAft>
            </a:pPr>
            <a:r>
              <a:rPr sz="1400" b="1">
                <a:solidFill>
                  <a:srgbClr val="FF6A00"/>
                </a:solidFill>
                <a:latin typeface="Segoe UI"/>
              </a:rPr>
              <a:t>•  </a:t>
            </a:r>
            <a:r>
              <a:rPr sz="1400" b="0">
                <a:solidFill>
                  <a:srgbClr val="B8C0CF"/>
                </a:solidFill>
                <a:latin typeface="Segoe UI"/>
              </a:rPr>
              <a:t>Asks: given what is here, what matters most to attack first?</a:t>
            </a:r>
          </a:p>
          <a:p>
            <a:pPr algn="l">
              <a:spcBef>
                <a:spcPts val="0"/>
              </a:spcBef>
              <a:spcAft>
                <a:spcPts val="800"/>
              </a:spcAft>
            </a:pPr>
            <a:r>
              <a:rPr sz="1400" b="1">
                <a:solidFill>
                  <a:srgbClr val="FF6A00"/>
                </a:solidFill>
                <a:latin typeface="Segoe UI"/>
              </a:rPr>
              <a:t>•  </a:t>
            </a:r>
            <a:r>
              <a:rPr sz="1400" b="0">
                <a:solidFill>
                  <a:srgbClr val="B8C0CF"/>
                </a:solidFill>
                <a:latin typeface="Segoe UI"/>
              </a:rPr>
              <a:t>Consumes the inventory rather than producing one</a:t>
            </a:r>
          </a:p>
        </p:txBody>
      </p:sp>
      <p:sp>
        <p:nvSpPr>
          <p:cNvPr id="12" name="Rounded Rectangle 11"/>
          <p:cNvSpPr/>
          <p:nvPr/>
        </p:nvSpPr>
        <p:spPr>
          <a:xfrm>
            <a:off x="5742432" y="3063240"/>
            <a:ext cx="777240" cy="777240"/>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742432" y="3063240"/>
            <a:ext cx="777240" cy="777240"/>
          </a:xfrm>
          <a:prstGeom prst="rect">
            <a:avLst/>
          </a:prstGeom>
          <a:noFill/>
        </p:spPr>
        <p:txBody>
          <a:bodyPr wrap="square" anchor="ctr" lIns="25400" rIns="25400" tIns="25400" bIns="25400">
            <a:spAutoFit/>
          </a:bodyPr>
          <a:lstStyle/>
          <a:p>
            <a:pPr algn="ctr">
              <a:spcBef>
                <a:spcPts val="0"/>
              </a:spcBef>
              <a:spcAft>
                <a:spcPts val="600"/>
              </a:spcAft>
            </a:pPr>
            <a:r>
              <a:rPr sz="1800" b="1">
                <a:solidFill>
                  <a:srgbClr val="0C0D10"/>
                </a:solidFill>
                <a:latin typeface="Segoe UI"/>
              </a:rPr>
              <a:t>VS</a:t>
            </a:r>
          </a:p>
        </p:txBody>
      </p:sp>
      <p:sp>
        <p:nvSpPr>
          <p:cNvPr id="14" name="Rounded Rectangle 13"/>
          <p:cNvSpPr/>
          <p:nvPr/>
        </p:nvSpPr>
        <p:spPr>
          <a:xfrm>
            <a:off x="548640" y="5257800"/>
            <a:ext cx="11091672" cy="868680"/>
          </a:xfrm>
          <a:prstGeom prst="roundRect">
            <a:avLst/>
          </a:prstGeom>
          <a:solidFill>
            <a:srgbClr val="1A1208"/>
          </a:solidFill>
          <a:ln w="12700">
            <a:solidFill>
              <a:srgbClr val="B851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5303520"/>
            <a:ext cx="10607040" cy="777240"/>
          </a:xfrm>
          <a:prstGeom prst="rect">
            <a:avLst/>
          </a:prstGeom>
          <a:noFill/>
        </p:spPr>
        <p:txBody>
          <a:bodyPr wrap="square" anchor="ctr" lIns="25400" rIns="25400" tIns="25400" bIns="25400">
            <a:spAutoFit/>
          </a:bodyPr>
          <a:lstStyle/>
          <a:p>
            <a:pPr algn="l">
              <a:spcBef>
                <a:spcPts val="0"/>
              </a:spcBef>
              <a:spcAft>
                <a:spcPts val="600"/>
              </a:spcAft>
            </a:pPr>
            <a:r>
              <a:rPr sz="1250" b="1">
                <a:solidFill>
                  <a:srgbClr val="FF6A00"/>
                </a:solidFill>
                <a:latin typeface="Segoe UI"/>
              </a:rPr>
              <a:t>KEY DISTINCTION  </a:t>
            </a:r>
            <a:r>
              <a:rPr sz="1350" b="0">
                <a:solidFill>
                  <a:srgbClr val="F5F7FB"/>
                </a:solidFill>
                <a:latin typeface="Segoe UI"/>
              </a:rPr>
              <a:t>The exam-relevant distinction: recon answers 'what is here', threat modeling answers 'what do we do about it, and in what order' — confusing the two leads to skipping straight from discovery to unfocused exploitation.</a:t>
            </a:r>
          </a:p>
        </p:txBody>
      </p:sp>
      <p:sp>
        <p:nvSpPr>
          <p:cNvPr id="16" name="TextBox 15"/>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7" name="TextBox 16"/>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10.1 · CRITICAL DISTINCTION</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Threat modeling vs exploitation</a:t>
            </a:r>
          </a:p>
        </p:txBody>
      </p:sp>
      <p:sp>
        <p:nvSpPr>
          <p:cNvPr id="6" name="Rounded Rectangle 5"/>
          <p:cNvSpPr/>
          <p:nvPr/>
        </p:nvSpPr>
        <p:spPr>
          <a:xfrm>
            <a:off x="548640" y="1828800"/>
            <a:ext cx="5257800" cy="3246120"/>
          </a:xfrm>
          <a:prstGeom prst="roundRect">
            <a:avLst/>
          </a:prstGeom>
          <a:solidFill>
            <a:srgbClr val="141519"/>
          </a:solidFill>
          <a:ln w="20320">
            <a:solidFill>
              <a:srgbClr val="FF6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011680"/>
            <a:ext cx="4800600" cy="640080"/>
          </a:xfrm>
          <a:prstGeom prst="rect">
            <a:avLst/>
          </a:prstGeom>
          <a:noFill/>
        </p:spPr>
        <p:txBody>
          <a:bodyPr wrap="square" anchor="t" lIns="25400" rIns="25400" tIns="25400" bIns="25400">
            <a:spAutoFit/>
          </a:bodyPr>
          <a:lstStyle/>
          <a:p>
            <a:pPr algn="l">
              <a:spcBef>
                <a:spcPts val="0"/>
              </a:spcBef>
              <a:spcAft>
                <a:spcPts val="600"/>
              </a:spcAft>
            </a:pPr>
            <a:r>
              <a:rPr sz="2000" b="1">
                <a:solidFill>
                  <a:srgbClr val="F5F7FB"/>
                </a:solidFill>
                <a:latin typeface="Segoe UI"/>
              </a:rPr>
              <a:t>Threat modeling (this module)</a:t>
            </a:r>
          </a:p>
        </p:txBody>
      </p:sp>
      <p:sp>
        <p:nvSpPr>
          <p:cNvPr id="8" name="TextBox 7"/>
          <p:cNvSpPr txBox="1"/>
          <p:nvPr/>
        </p:nvSpPr>
        <p:spPr>
          <a:xfrm>
            <a:off x="777240" y="2743200"/>
            <a:ext cx="4800600" cy="2148840"/>
          </a:xfrm>
          <a:prstGeom prst="rect">
            <a:avLst/>
          </a:prstGeom>
          <a:noFill/>
        </p:spPr>
        <p:txBody>
          <a:bodyPr wrap="square" anchor="t" lIns="25400" rIns="25400" tIns="25400" bIns="25400">
            <a:spAutoFit/>
          </a:bodyPr>
          <a:lstStyle/>
          <a:p>
            <a:pPr algn="l">
              <a:spcBef>
                <a:spcPts val="0"/>
              </a:spcBef>
              <a:spcAft>
                <a:spcPts val="800"/>
              </a:spcAft>
            </a:pPr>
            <a:r>
              <a:rPr sz="1400" b="1">
                <a:solidFill>
                  <a:srgbClr val="FF6A00"/>
                </a:solidFill>
                <a:latin typeface="Segoe UI"/>
              </a:rPr>
              <a:t>•  </a:t>
            </a:r>
            <a:r>
              <a:rPr sz="1400" b="0">
                <a:solidFill>
                  <a:srgbClr val="B8C0CF"/>
                </a:solidFill>
                <a:latin typeface="Segoe UI"/>
              </a:rPr>
              <a:t>Produces a plan — which paths, in what order</a:t>
            </a:r>
          </a:p>
          <a:p>
            <a:pPr algn="l">
              <a:spcBef>
                <a:spcPts val="0"/>
              </a:spcBef>
              <a:spcAft>
                <a:spcPts val="800"/>
              </a:spcAft>
            </a:pPr>
            <a:r>
              <a:rPr sz="1400" b="1">
                <a:solidFill>
                  <a:srgbClr val="FF6A00"/>
                </a:solidFill>
                <a:latin typeface="Segoe UI"/>
              </a:rPr>
              <a:t>•  </a:t>
            </a:r>
            <a:r>
              <a:rPr sz="1400" b="0">
                <a:solidFill>
                  <a:srgbClr val="B8C0CF"/>
                </a:solidFill>
                <a:latin typeface="Segoe UI"/>
              </a:rPr>
              <a:t>No payload is delivered, no weakness is exploited</a:t>
            </a:r>
          </a:p>
          <a:p>
            <a:pPr algn="l">
              <a:spcBef>
                <a:spcPts val="0"/>
              </a:spcBef>
              <a:spcAft>
                <a:spcPts val="800"/>
              </a:spcAft>
            </a:pPr>
            <a:r>
              <a:rPr sz="1400" b="1">
                <a:solidFill>
                  <a:srgbClr val="FF6A00"/>
                </a:solidFill>
                <a:latin typeface="Segoe UI"/>
              </a:rPr>
              <a:t>•  </a:t>
            </a:r>
            <a:r>
              <a:rPr sz="1400" b="0">
                <a:solidFill>
                  <a:srgbClr val="B8C0CF"/>
                </a:solidFill>
                <a:latin typeface="Segoe UI"/>
              </a:rPr>
              <a:t>Output is a document: ranked paths with rationale</a:t>
            </a:r>
          </a:p>
          <a:p>
            <a:pPr algn="l">
              <a:spcBef>
                <a:spcPts val="0"/>
              </a:spcBef>
              <a:spcAft>
                <a:spcPts val="800"/>
              </a:spcAft>
            </a:pPr>
            <a:r>
              <a:rPr sz="1400" b="1">
                <a:solidFill>
                  <a:srgbClr val="FF6A00"/>
                </a:solidFill>
                <a:latin typeface="Segoe UI"/>
              </a:rPr>
              <a:t>•  </a:t>
            </a:r>
            <a:r>
              <a:rPr sz="1400" b="0">
                <a:solidFill>
                  <a:srgbClr val="B8C0CF"/>
                </a:solidFill>
                <a:latin typeface="Segoe UI"/>
              </a:rPr>
              <a:t>Can be revised as new information emerges mid-engagement</a:t>
            </a:r>
          </a:p>
        </p:txBody>
      </p:sp>
      <p:sp>
        <p:nvSpPr>
          <p:cNvPr id="9" name="Rounded Rectangle 8"/>
          <p:cNvSpPr/>
          <p:nvPr/>
        </p:nvSpPr>
        <p:spPr>
          <a:xfrm>
            <a:off x="6382512" y="1828800"/>
            <a:ext cx="5257800" cy="324612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11112" y="2011680"/>
            <a:ext cx="4800600" cy="640080"/>
          </a:xfrm>
          <a:prstGeom prst="rect">
            <a:avLst/>
          </a:prstGeom>
          <a:noFill/>
        </p:spPr>
        <p:txBody>
          <a:bodyPr wrap="square" anchor="t" lIns="25400" rIns="25400" tIns="25400" bIns="25400">
            <a:spAutoFit/>
          </a:bodyPr>
          <a:lstStyle/>
          <a:p>
            <a:pPr algn="l">
              <a:spcBef>
                <a:spcPts val="0"/>
              </a:spcBef>
              <a:spcAft>
                <a:spcPts val="600"/>
              </a:spcAft>
            </a:pPr>
            <a:r>
              <a:rPr sz="2000" b="1">
                <a:solidFill>
                  <a:srgbClr val="F5F7FB"/>
                </a:solidFill>
                <a:latin typeface="Segoe UI"/>
              </a:rPr>
              <a:t>Exploitation (Modules 3–9 techniques)</a:t>
            </a:r>
          </a:p>
        </p:txBody>
      </p:sp>
      <p:sp>
        <p:nvSpPr>
          <p:cNvPr id="11" name="TextBox 10"/>
          <p:cNvSpPr txBox="1"/>
          <p:nvPr/>
        </p:nvSpPr>
        <p:spPr>
          <a:xfrm>
            <a:off x="6611112" y="2743200"/>
            <a:ext cx="4800600" cy="2148840"/>
          </a:xfrm>
          <a:prstGeom prst="rect">
            <a:avLst/>
          </a:prstGeom>
          <a:noFill/>
        </p:spPr>
        <p:txBody>
          <a:bodyPr wrap="square" anchor="t" lIns="25400" rIns="25400" tIns="25400" bIns="25400">
            <a:spAutoFit/>
          </a:bodyPr>
          <a:lstStyle/>
          <a:p>
            <a:pPr algn="l">
              <a:spcBef>
                <a:spcPts val="0"/>
              </a:spcBef>
              <a:spcAft>
                <a:spcPts val="800"/>
              </a:spcAft>
            </a:pPr>
            <a:r>
              <a:rPr sz="1400" b="1">
                <a:solidFill>
                  <a:srgbClr val="FF6A00"/>
                </a:solidFill>
                <a:latin typeface="Segoe UI"/>
              </a:rPr>
              <a:t>•  </a:t>
            </a:r>
            <a:r>
              <a:rPr sz="1400" b="0">
                <a:solidFill>
                  <a:srgbClr val="B8C0CF"/>
                </a:solidFill>
                <a:latin typeface="Segoe UI"/>
              </a:rPr>
              <a:t>Executes the plan — delivers the actual technique</a:t>
            </a:r>
          </a:p>
          <a:p>
            <a:pPr algn="l">
              <a:spcBef>
                <a:spcPts val="0"/>
              </a:spcBef>
              <a:spcAft>
                <a:spcPts val="800"/>
              </a:spcAft>
            </a:pPr>
            <a:r>
              <a:rPr sz="1400" b="1">
                <a:solidFill>
                  <a:srgbClr val="FF6A00"/>
                </a:solidFill>
                <a:latin typeface="Segoe UI"/>
              </a:rPr>
              <a:t>•  </a:t>
            </a:r>
            <a:r>
              <a:rPr sz="1400" b="0">
                <a:solidFill>
                  <a:srgbClr val="B8C0CF"/>
                </a:solidFill>
                <a:latin typeface="Segoe UI"/>
              </a:rPr>
              <a:t>Payloads are delivered, weaknesses are actually exploited</a:t>
            </a:r>
          </a:p>
          <a:p>
            <a:pPr algn="l">
              <a:spcBef>
                <a:spcPts val="0"/>
              </a:spcBef>
              <a:spcAft>
                <a:spcPts val="800"/>
              </a:spcAft>
            </a:pPr>
            <a:r>
              <a:rPr sz="1400" b="1">
                <a:solidFill>
                  <a:srgbClr val="FF6A00"/>
                </a:solidFill>
                <a:latin typeface="Segoe UI"/>
              </a:rPr>
              <a:t>•  </a:t>
            </a:r>
            <a:r>
              <a:rPr sz="1400" b="0">
                <a:solidFill>
                  <a:srgbClr val="B8C0CF"/>
                </a:solidFill>
                <a:latin typeface="Segoe UI"/>
              </a:rPr>
              <a:t>Output is evidence: a demonstrated finding</a:t>
            </a:r>
          </a:p>
          <a:p>
            <a:pPr algn="l">
              <a:spcBef>
                <a:spcPts val="0"/>
              </a:spcBef>
              <a:spcAft>
                <a:spcPts val="800"/>
              </a:spcAft>
            </a:pPr>
            <a:r>
              <a:rPr sz="1400" b="1">
                <a:solidFill>
                  <a:srgbClr val="FF6A00"/>
                </a:solidFill>
                <a:latin typeface="Segoe UI"/>
              </a:rPr>
              <a:t>•  </a:t>
            </a:r>
            <a:r>
              <a:rPr sz="1400" b="0">
                <a:solidFill>
                  <a:srgbClr val="B8C0CF"/>
                </a:solidFill>
                <a:latin typeface="Segoe UI"/>
              </a:rPr>
              <a:t>Follows the plan, though findings may feed back into it</a:t>
            </a:r>
          </a:p>
        </p:txBody>
      </p:sp>
      <p:sp>
        <p:nvSpPr>
          <p:cNvPr id="12" name="Rounded Rectangle 11"/>
          <p:cNvSpPr/>
          <p:nvPr/>
        </p:nvSpPr>
        <p:spPr>
          <a:xfrm>
            <a:off x="5742432" y="3063240"/>
            <a:ext cx="777240" cy="777240"/>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742432" y="3063240"/>
            <a:ext cx="777240" cy="777240"/>
          </a:xfrm>
          <a:prstGeom prst="rect">
            <a:avLst/>
          </a:prstGeom>
          <a:noFill/>
        </p:spPr>
        <p:txBody>
          <a:bodyPr wrap="square" anchor="ctr" lIns="25400" rIns="25400" tIns="25400" bIns="25400">
            <a:spAutoFit/>
          </a:bodyPr>
          <a:lstStyle/>
          <a:p>
            <a:pPr algn="ctr">
              <a:spcBef>
                <a:spcPts val="0"/>
              </a:spcBef>
              <a:spcAft>
                <a:spcPts val="600"/>
              </a:spcAft>
            </a:pPr>
            <a:r>
              <a:rPr sz="1800" b="1">
                <a:solidFill>
                  <a:srgbClr val="0C0D10"/>
                </a:solidFill>
                <a:latin typeface="Segoe UI"/>
              </a:rPr>
              <a:t>VS</a:t>
            </a:r>
          </a:p>
        </p:txBody>
      </p:sp>
      <p:sp>
        <p:nvSpPr>
          <p:cNvPr id="14" name="Rounded Rectangle 13"/>
          <p:cNvSpPr/>
          <p:nvPr/>
        </p:nvSpPr>
        <p:spPr>
          <a:xfrm>
            <a:off x="548640" y="5257800"/>
            <a:ext cx="11091672" cy="868680"/>
          </a:xfrm>
          <a:prstGeom prst="roundRect">
            <a:avLst/>
          </a:prstGeom>
          <a:solidFill>
            <a:srgbClr val="1A1208"/>
          </a:solidFill>
          <a:ln w="12700">
            <a:solidFill>
              <a:srgbClr val="B851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5303520"/>
            <a:ext cx="10607040" cy="777240"/>
          </a:xfrm>
          <a:prstGeom prst="rect">
            <a:avLst/>
          </a:prstGeom>
          <a:noFill/>
        </p:spPr>
        <p:txBody>
          <a:bodyPr wrap="square" anchor="ctr" lIns="25400" rIns="25400" tIns="25400" bIns="25400">
            <a:spAutoFit/>
          </a:bodyPr>
          <a:lstStyle/>
          <a:p>
            <a:pPr algn="l">
              <a:spcBef>
                <a:spcPts val="0"/>
              </a:spcBef>
              <a:spcAft>
                <a:spcPts val="600"/>
              </a:spcAft>
            </a:pPr>
            <a:r>
              <a:rPr sz="1250" b="1">
                <a:solidFill>
                  <a:srgbClr val="FF6A00"/>
                </a:solidFill>
                <a:latin typeface="Segoe UI"/>
              </a:rPr>
              <a:t>KEY DISTINCTION  </a:t>
            </a:r>
            <a:r>
              <a:rPr sz="1350" b="0">
                <a:solidFill>
                  <a:srgbClr val="F5F7FB"/>
                </a:solidFill>
                <a:latin typeface="Segoe UI"/>
              </a:rPr>
              <a:t>The exam-relevant distinction: threat modeling is a planning activity with a documentation output, not an attack activity with an evidence output — the two are sequential, feedback-linked phases, not the same phase under two names.</a:t>
            </a:r>
          </a:p>
        </p:txBody>
      </p:sp>
      <p:sp>
        <p:nvSpPr>
          <p:cNvPr id="16" name="TextBox 15"/>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7" name="TextBox 16"/>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10.1 · FOUNDATION</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Threat modeling assumes the six-layer attack-surface model</a:t>
            </a:r>
          </a:p>
        </p:txBody>
      </p:sp>
      <p:sp>
        <p:nvSpPr>
          <p:cNvPr id="6" name="Rounded Rectangle 5"/>
          <p:cNvSpPr/>
          <p:nvPr/>
        </p:nvSpPr>
        <p:spPr>
          <a:xfrm>
            <a:off x="548640" y="1783080"/>
            <a:ext cx="11091672" cy="132588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920240"/>
            <a:ext cx="10607040" cy="1097280"/>
          </a:xfrm>
          <a:prstGeom prst="rect">
            <a:avLst/>
          </a:prstGeom>
          <a:noFill/>
        </p:spPr>
        <p:txBody>
          <a:bodyPr wrap="square" anchor="ctr" lIns="25400" rIns="25400" tIns="25400" bIns="25400">
            <a:spAutoFit/>
          </a:bodyPr>
          <a:lstStyle/>
          <a:p>
            <a:pPr algn="l">
              <a:spcBef>
                <a:spcPts val="0"/>
              </a:spcBef>
              <a:spcAft>
                <a:spcPts val="600"/>
              </a:spcAft>
            </a:pPr>
            <a:r>
              <a:rPr sz="1650" b="0">
                <a:solidFill>
                  <a:srgbClr val="F5F7FB"/>
                </a:solidFill>
                <a:latin typeface="Segoe UI"/>
              </a:rPr>
              <a:t>Every attack path this module discusses is expressed in terms of the six-layer attack-surface model Module 1, Objective 1.2 introduced — model, data, application, agent/tool, infrastructure, and supply chain — since that model is what the target inventory itself is organised around.</a:t>
            </a:r>
          </a:p>
        </p:txBody>
      </p:sp>
      <p:sp>
        <p:nvSpPr>
          <p:cNvPr id="8" name="Rounded Rectangle 7"/>
          <p:cNvSpPr/>
          <p:nvPr/>
        </p:nvSpPr>
        <p:spPr>
          <a:xfrm>
            <a:off x="548640"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WHY THIS MATTERS</a:t>
            </a:r>
          </a:p>
        </p:txBody>
      </p:sp>
      <p:sp>
        <p:nvSpPr>
          <p:cNvPr id="10" name="TextBox 9"/>
          <p:cNvSpPr txBox="1"/>
          <p:nvPr/>
        </p:nvSpPr>
        <p:spPr>
          <a:xfrm>
            <a:off x="749808"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A candidate attack path that cannot be placed on this six-layer map is either poorly scoped or not yet backed by sufficient recon evidence.</a:t>
            </a:r>
          </a:p>
        </p:txBody>
      </p:sp>
      <p:sp>
        <p:nvSpPr>
          <p:cNvPr id="11" name="Rounded Rectangle 10"/>
          <p:cNvSpPr/>
          <p:nvPr/>
        </p:nvSpPr>
        <p:spPr>
          <a:xfrm>
            <a:off x="6231636"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32804"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DIRECT BACKLINK</a:t>
            </a:r>
          </a:p>
        </p:txBody>
      </p:sp>
      <p:sp>
        <p:nvSpPr>
          <p:cNvPr id="13" name="TextBox 12"/>
          <p:cNvSpPr txBox="1"/>
          <p:nvPr/>
        </p:nvSpPr>
        <p:spPr>
          <a:xfrm>
            <a:off x="6432804"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Module 2, Objective 2.4's target inventory was already organised by these same six layers — threat modeling simply reads that structure and ranks within and across it.</a:t>
            </a:r>
          </a:p>
        </p:txBody>
      </p:sp>
      <p:sp>
        <p:nvSpPr>
          <p:cNvPr id="14" name="TextBox 13"/>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5" name="TextBox 14"/>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103120"/>
            <a:ext cx="10058400" cy="548640"/>
          </a:xfrm>
          <a:prstGeom prst="rect">
            <a:avLst/>
          </a:prstGeom>
          <a:noFill/>
        </p:spPr>
        <p:txBody>
          <a:bodyPr wrap="square" anchor="t" lIns="25400" rIns="25400" tIns="25400" bIns="25400">
            <a:spAutoFit/>
          </a:bodyPr>
          <a:lstStyle/>
          <a:p>
            <a:pPr algn="l">
              <a:spcBef>
                <a:spcPts val="0"/>
              </a:spcBef>
              <a:spcAft>
                <a:spcPts val="600"/>
              </a:spcAft>
            </a:pPr>
            <a:r>
              <a:rPr sz="1500" b="1">
                <a:solidFill>
                  <a:srgbClr val="FF6A00"/>
                </a:solidFill>
                <a:latin typeface="Segoe UI"/>
              </a:rPr>
              <a:t>OBJECTIVE 10.2</a:t>
            </a:r>
          </a:p>
        </p:txBody>
      </p:sp>
      <p:sp>
        <p:nvSpPr>
          <p:cNvPr id="5" name="TextBox 4"/>
          <p:cNvSpPr txBox="1"/>
          <p:nvPr/>
        </p:nvSpPr>
        <p:spPr>
          <a:xfrm>
            <a:off x="502920" y="2560320"/>
            <a:ext cx="3657600" cy="1463040"/>
          </a:xfrm>
          <a:prstGeom prst="rect">
            <a:avLst/>
          </a:prstGeom>
          <a:noFill/>
        </p:spPr>
        <p:txBody>
          <a:bodyPr wrap="square" anchor="t" lIns="25400" rIns="25400" tIns="25400" bIns="25400">
            <a:spAutoFit/>
          </a:bodyPr>
          <a:lstStyle/>
          <a:p>
            <a:pPr algn="l">
              <a:spcBef>
                <a:spcPts val="0"/>
              </a:spcBef>
              <a:spcAft>
                <a:spcPts val="600"/>
              </a:spcAft>
            </a:pPr>
            <a:r>
              <a:rPr sz="15000" b="1">
                <a:solidFill>
                  <a:srgbClr val="FF6A00"/>
                </a:solidFill>
                <a:latin typeface="Segoe UI"/>
              </a:rPr>
              <a:t>10.2</a:t>
            </a:r>
          </a:p>
        </p:txBody>
      </p:sp>
      <p:sp>
        <p:nvSpPr>
          <p:cNvPr id="6" name="TextBox 5"/>
          <p:cNvSpPr txBox="1"/>
          <p:nvPr/>
        </p:nvSpPr>
        <p:spPr>
          <a:xfrm>
            <a:off x="548640" y="4343400"/>
            <a:ext cx="10972800" cy="1280160"/>
          </a:xfrm>
          <a:prstGeom prst="rect">
            <a:avLst/>
          </a:prstGeom>
          <a:noFill/>
        </p:spPr>
        <p:txBody>
          <a:bodyPr wrap="square" anchor="t" lIns="25400" rIns="25400" tIns="25400" bIns="25400">
            <a:spAutoFit/>
          </a:bodyPr>
          <a:lstStyle/>
          <a:p>
            <a:pPr algn="l">
              <a:spcBef>
                <a:spcPts val="0"/>
              </a:spcBef>
              <a:spcAft>
                <a:spcPts val="600"/>
              </a:spcAft>
            </a:pPr>
            <a:r>
              <a:rPr sz="4000" b="1">
                <a:solidFill>
                  <a:srgbClr val="F5F7FB"/>
                </a:solidFill>
                <a:latin typeface="Segoe UI"/>
              </a:rPr>
              <a:t>Constructing candidate attack paths</a:t>
            </a:r>
          </a:p>
        </p:txBody>
      </p:sp>
      <p:sp>
        <p:nvSpPr>
          <p:cNvPr id="7" name="TextBox 6"/>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8" name="TextBox 7"/>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10.2 · DEFINITION</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What is an attack path?</a:t>
            </a:r>
          </a:p>
        </p:txBody>
      </p:sp>
      <p:sp>
        <p:nvSpPr>
          <p:cNvPr id="6" name="Rounded Rectangle 5"/>
          <p:cNvSpPr/>
          <p:nvPr/>
        </p:nvSpPr>
        <p:spPr>
          <a:xfrm>
            <a:off x="548640" y="1783080"/>
            <a:ext cx="11091672" cy="132588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920240"/>
            <a:ext cx="10607040" cy="1097280"/>
          </a:xfrm>
          <a:prstGeom prst="rect">
            <a:avLst/>
          </a:prstGeom>
          <a:noFill/>
        </p:spPr>
        <p:txBody>
          <a:bodyPr wrap="square" anchor="ctr" lIns="25400" rIns="25400" tIns="25400" bIns="25400">
            <a:spAutoFit/>
          </a:bodyPr>
          <a:lstStyle/>
          <a:p>
            <a:pPr algn="l">
              <a:spcBef>
                <a:spcPts val="0"/>
              </a:spcBef>
              <a:spcAft>
                <a:spcPts val="600"/>
              </a:spcAft>
            </a:pPr>
            <a:r>
              <a:rPr sz="1650" b="0">
                <a:solidFill>
                  <a:srgbClr val="F5F7FB"/>
                </a:solidFill>
                <a:latin typeface="Segoe UI"/>
              </a:rPr>
              <a:t>An attack path is a specific, ordered sequence of one or more weaknesses that, if successfully exploited in sequence, leads from an attacker's starting position to a stated engagement objective — distinct from a single, isolated weakness considered on its own.</a:t>
            </a:r>
          </a:p>
        </p:txBody>
      </p:sp>
      <p:sp>
        <p:nvSpPr>
          <p:cNvPr id="8" name="Rounded Rectangle 7"/>
          <p:cNvSpPr/>
          <p:nvPr/>
        </p:nvSpPr>
        <p:spPr>
          <a:xfrm>
            <a:off x="548640"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SINGLE WEAKNESS VS ATTACK PATH</a:t>
            </a:r>
          </a:p>
        </p:txBody>
      </p:sp>
      <p:sp>
        <p:nvSpPr>
          <p:cNvPr id="10" name="TextBox 9"/>
          <p:cNvSpPr txBox="1"/>
          <p:nvPr/>
        </p:nvSpPr>
        <p:spPr>
          <a:xfrm>
            <a:off x="749808"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A single confirmed weakness, such as an exposed debug endpoint, is a finding; an attack path is the specific route by which that finding is used to reach an objective.</a:t>
            </a:r>
          </a:p>
        </p:txBody>
      </p:sp>
      <p:sp>
        <p:nvSpPr>
          <p:cNvPr id="11" name="Rounded Rectangle 10"/>
          <p:cNvSpPr/>
          <p:nvPr/>
        </p:nvSpPr>
        <p:spPr>
          <a:xfrm>
            <a:off x="6231636"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32804"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WHY THE DISTINCTION MATTERS</a:t>
            </a:r>
          </a:p>
        </p:txBody>
      </p:sp>
      <p:sp>
        <p:nvSpPr>
          <p:cNvPr id="13" name="TextBox 12"/>
          <p:cNvSpPr txBox="1"/>
          <p:nvPr/>
        </p:nvSpPr>
        <p:spPr>
          <a:xfrm>
            <a:off x="6432804"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Module 1, Objective 1.1 defined AI red teaming itself as chaining weaknesses to prove a specific impact — an attack path is that chain, made concrete for a specific target.</a:t>
            </a:r>
          </a:p>
        </p:txBody>
      </p:sp>
      <p:sp>
        <p:nvSpPr>
          <p:cNvPr id="14" name="TextBox 13"/>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5" name="TextBox 14"/>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10.2 · CRITICAL DISTINCTION</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Confirmed enumeration vs a viable attack path</a:t>
            </a:r>
          </a:p>
        </p:txBody>
      </p:sp>
      <p:sp>
        <p:nvSpPr>
          <p:cNvPr id="6" name="Rounded Rectangle 5"/>
          <p:cNvSpPr/>
          <p:nvPr/>
        </p:nvSpPr>
        <p:spPr>
          <a:xfrm>
            <a:off x="548640" y="1828800"/>
            <a:ext cx="5257800" cy="3246120"/>
          </a:xfrm>
          <a:prstGeom prst="roundRect">
            <a:avLst/>
          </a:prstGeom>
          <a:solidFill>
            <a:srgbClr val="141519"/>
          </a:solidFill>
          <a:ln w="20320">
            <a:solidFill>
              <a:srgbClr val="FF6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011680"/>
            <a:ext cx="4800600" cy="640080"/>
          </a:xfrm>
          <a:prstGeom prst="rect">
            <a:avLst/>
          </a:prstGeom>
          <a:noFill/>
        </p:spPr>
        <p:txBody>
          <a:bodyPr wrap="square" anchor="t" lIns="25400" rIns="25400" tIns="25400" bIns="25400">
            <a:spAutoFit/>
          </a:bodyPr>
          <a:lstStyle/>
          <a:p>
            <a:pPr algn="l">
              <a:spcBef>
                <a:spcPts val="0"/>
              </a:spcBef>
              <a:spcAft>
                <a:spcPts val="600"/>
              </a:spcAft>
            </a:pPr>
            <a:r>
              <a:rPr sz="2000" b="1">
                <a:solidFill>
                  <a:srgbClr val="F5F7FB"/>
                </a:solidFill>
                <a:latin typeface="Segoe UI"/>
              </a:rPr>
              <a:t>Confirmed enumeration</a:t>
            </a:r>
          </a:p>
        </p:txBody>
      </p:sp>
      <p:sp>
        <p:nvSpPr>
          <p:cNvPr id="8" name="TextBox 7"/>
          <p:cNvSpPr txBox="1"/>
          <p:nvPr/>
        </p:nvSpPr>
        <p:spPr>
          <a:xfrm>
            <a:off x="777240" y="2743200"/>
            <a:ext cx="4800600" cy="2148840"/>
          </a:xfrm>
          <a:prstGeom prst="rect">
            <a:avLst/>
          </a:prstGeom>
          <a:noFill/>
        </p:spPr>
        <p:txBody>
          <a:bodyPr wrap="square" anchor="t" lIns="25400" rIns="25400" tIns="25400" bIns="25400">
            <a:spAutoFit/>
          </a:bodyPr>
          <a:lstStyle/>
          <a:p>
            <a:pPr algn="l">
              <a:spcBef>
                <a:spcPts val="0"/>
              </a:spcBef>
              <a:spcAft>
                <a:spcPts val="800"/>
              </a:spcAft>
            </a:pPr>
            <a:r>
              <a:rPr sz="1400" b="1">
                <a:solidFill>
                  <a:srgbClr val="FF6A00"/>
                </a:solidFill>
                <a:latin typeface="Segoe UI"/>
              </a:rPr>
              <a:t>•  </a:t>
            </a:r>
            <a:r>
              <a:rPr sz="1400" b="0">
                <a:solidFill>
                  <a:srgbClr val="B8C0CF"/>
                </a:solidFill>
                <a:latin typeface="Segoe UI"/>
              </a:rPr>
              <a:t>A component or weakness is confirmed to exist</a:t>
            </a:r>
          </a:p>
          <a:p>
            <a:pPr algn="l">
              <a:spcBef>
                <a:spcPts val="0"/>
              </a:spcBef>
              <a:spcAft>
                <a:spcPts val="800"/>
              </a:spcAft>
            </a:pPr>
            <a:r>
              <a:rPr sz="1400" b="1">
                <a:solidFill>
                  <a:srgbClr val="FF6A00"/>
                </a:solidFill>
                <a:latin typeface="Segoe UI"/>
              </a:rPr>
              <a:t>•  </a:t>
            </a:r>
            <a:r>
              <a:rPr sz="1400" b="0">
                <a:solidFill>
                  <a:srgbClr val="B8C0CF"/>
                </a:solidFill>
                <a:latin typeface="Segoe UI"/>
              </a:rPr>
              <a:t>Answers: is this thing present?</a:t>
            </a:r>
          </a:p>
          <a:p>
            <a:pPr algn="l">
              <a:spcBef>
                <a:spcPts val="0"/>
              </a:spcBef>
              <a:spcAft>
                <a:spcPts val="800"/>
              </a:spcAft>
            </a:pPr>
            <a:r>
              <a:rPr sz="1400" b="1">
                <a:solidFill>
                  <a:srgbClr val="FF6A00"/>
                </a:solidFill>
                <a:latin typeface="Segoe UI"/>
              </a:rPr>
              <a:t>•  </a:t>
            </a:r>
            <a:r>
              <a:rPr sz="1400" b="0">
                <a:solidFill>
                  <a:srgbClr val="B8C0CF"/>
                </a:solidFill>
                <a:latin typeface="Segoe UI"/>
              </a:rPr>
              <a:t>Module 2's recon discipline: stop once confirmed</a:t>
            </a:r>
          </a:p>
          <a:p>
            <a:pPr algn="l">
              <a:spcBef>
                <a:spcPts val="0"/>
              </a:spcBef>
              <a:spcAft>
                <a:spcPts val="800"/>
              </a:spcAft>
            </a:pPr>
            <a:r>
              <a:rPr sz="1400" b="1">
                <a:solidFill>
                  <a:srgbClr val="FF6A00"/>
                </a:solidFill>
                <a:latin typeface="Segoe UI"/>
              </a:rPr>
              <a:t>•  </a:t>
            </a:r>
            <a:r>
              <a:rPr sz="1400" b="0">
                <a:solidFill>
                  <a:srgbClr val="B8C0CF"/>
                </a:solidFill>
                <a:latin typeface="Segoe UI"/>
              </a:rPr>
              <a:t>On its own, not yet tied to any objective</a:t>
            </a:r>
          </a:p>
        </p:txBody>
      </p:sp>
      <p:sp>
        <p:nvSpPr>
          <p:cNvPr id="9" name="Rounded Rectangle 8"/>
          <p:cNvSpPr/>
          <p:nvPr/>
        </p:nvSpPr>
        <p:spPr>
          <a:xfrm>
            <a:off x="6382512" y="1828800"/>
            <a:ext cx="5257800" cy="324612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11112" y="2011680"/>
            <a:ext cx="4800600" cy="640080"/>
          </a:xfrm>
          <a:prstGeom prst="rect">
            <a:avLst/>
          </a:prstGeom>
          <a:noFill/>
        </p:spPr>
        <p:txBody>
          <a:bodyPr wrap="square" anchor="t" lIns="25400" rIns="25400" tIns="25400" bIns="25400">
            <a:spAutoFit/>
          </a:bodyPr>
          <a:lstStyle/>
          <a:p>
            <a:pPr algn="l">
              <a:spcBef>
                <a:spcPts val="0"/>
              </a:spcBef>
              <a:spcAft>
                <a:spcPts val="600"/>
              </a:spcAft>
            </a:pPr>
            <a:r>
              <a:rPr sz="2000" b="1">
                <a:solidFill>
                  <a:srgbClr val="F5F7FB"/>
                </a:solidFill>
                <a:latin typeface="Segoe UI"/>
              </a:rPr>
              <a:t>Viable attack path</a:t>
            </a:r>
          </a:p>
        </p:txBody>
      </p:sp>
      <p:sp>
        <p:nvSpPr>
          <p:cNvPr id="11" name="TextBox 10"/>
          <p:cNvSpPr txBox="1"/>
          <p:nvPr/>
        </p:nvSpPr>
        <p:spPr>
          <a:xfrm>
            <a:off x="6611112" y="2743200"/>
            <a:ext cx="4800600" cy="2148840"/>
          </a:xfrm>
          <a:prstGeom prst="rect">
            <a:avLst/>
          </a:prstGeom>
          <a:noFill/>
        </p:spPr>
        <p:txBody>
          <a:bodyPr wrap="square" anchor="t" lIns="25400" rIns="25400" tIns="25400" bIns="25400">
            <a:spAutoFit/>
          </a:bodyPr>
          <a:lstStyle/>
          <a:p>
            <a:pPr algn="l">
              <a:spcBef>
                <a:spcPts val="0"/>
              </a:spcBef>
              <a:spcAft>
                <a:spcPts val="800"/>
              </a:spcAft>
            </a:pPr>
            <a:r>
              <a:rPr sz="1400" b="1">
                <a:solidFill>
                  <a:srgbClr val="FF6A00"/>
                </a:solidFill>
                <a:latin typeface="Segoe UI"/>
              </a:rPr>
              <a:t>•  </a:t>
            </a:r>
            <a:r>
              <a:rPr sz="1400" b="0">
                <a:solidFill>
                  <a:srgbClr val="B8C0CF"/>
                </a:solidFill>
                <a:latin typeface="Segoe UI"/>
              </a:rPr>
              <a:t>A specific sequence from a starting point to an objective is proposed</a:t>
            </a:r>
          </a:p>
          <a:p>
            <a:pPr algn="l">
              <a:spcBef>
                <a:spcPts val="0"/>
              </a:spcBef>
              <a:spcAft>
                <a:spcPts val="800"/>
              </a:spcAft>
            </a:pPr>
            <a:r>
              <a:rPr sz="1400" b="1">
                <a:solidFill>
                  <a:srgbClr val="FF6A00"/>
                </a:solidFill>
                <a:latin typeface="Segoe UI"/>
              </a:rPr>
              <a:t>•  </a:t>
            </a:r>
            <a:r>
              <a:rPr sz="1400" b="0">
                <a:solidFill>
                  <a:srgbClr val="B8C0CF"/>
                </a:solidFill>
                <a:latin typeface="Segoe UI"/>
              </a:rPr>
              <a:t>Answers: can this actually get us to the objective?</a:t>
            </a:r>
          </a:p>
          <a:p>
            <a:pPr algn="l">
              <a:spcBef>
                <a:spcPts val="0"/>
              </a:spcBef>
              <a:spcAft>
                <a:spcPts val="800"/>
              </a:spcAft>
            </a:pPr>
            <a:r>
              <a:rPr sz="1400" b="1">
                <a:solidFill>
                  <a:srgbClr val="FF6A00"/>
                </a:solidFill>
                <a:latin typeface="Segoe UI"/>
              </a:rPr>
              <a:t>•  </a:t>
            </a:r>
            <a:r>
              <a:rPr sz="1400" b="0">
                <a:solidFill>
                  <a:srgbClr val="B8C0CF"/>
                </a:solidFill>
                <a:latin typeface="Segoe UI"/>
              </a:rPr>
              <a:t>Requires chaining one or more confirmed or hypothesised weaknesses</a:t>
            </a:r>
          </a:p>
          <a:p>
            <a:pPr algn="l">
              <a:spcBef>
                <a:spcPts val="0"/>
              </a:spcBef>
              <a:spcAft>
                <a:spcPts val="800"/>
              </a:spcAft>
            </a:pPr>
            <a:r>
              <a:rPr sz="1400" b="1">
                <a:solidFill>
                  <a:srgbClr val="FF6A00"/>
                </a:solidFill>
                <a:latin typeface="Segoe UI"/>
              </a:rPr>
              <a:t>•  </a:t>
            </a:r>
            <a:r>
              <a:rPr sz="1400" b="0">
                <a:solidFill>
                  <a:srgbClr val="B8C0CF"/>
                </a:solidFill>
                <a:latin typeface="Segoe UI"/>
              </a:rPr>
              <a:t>Explicitly tied to a stated engagement objective</a:t>
            </a:r>
          </a:p>
        </p:txBody>
      </p:sp>
      <p:sp>
        <p:nvSpPr>
          <p:cNvPr id="12" name="Rounded Rectangle 11"/>
          <p:cNvSpPr/>
          <p:nvPr/>
        </p:nvSpPr>
        <p:spPr>
          <a:xfrm>
            <a:off x="5742432" y="3063240"/>
            <a:ext cx="777240" cy="777240"/>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742432" y="3063240"/>
            <a:ext cx="777240" cy="777240"/>
          </a:xfrm>
          <a:prstGeom prst="rect">
            <a:avLst/>
          </a:prstGeom>
          <a:noFill/>
        </p:spPr>
        <p:txBody>
          <a:bodyPr wrap="square" anchor="ctr" lIns="25400" rIns="25400" tIns="25400" bIns="25400">
            <a:spAutoFit/>
          </a:bodyPr>
          <a:lstStyle/>
          <a:p>
            <a:pPr algn="ctr">
              <a:spcBef>
                <a:spcPts val="0"/>
              </a:spcBef>
              <a:spcAft>
                <a:spcPts val="600"/>
              </a:spcAft>
            </a:pPr>
            <a:r>
              <a:rPr sz="1800" b="1">
                <a:solidFill>
                  <a:srgbClr val="0C0D10"/>
                </a:solidFill>
                <a:latin typeface="Segoe UI"/>
              </a:rPr>
              <a:t>VS</a:t>
            </a:r>
          </a:p>
        </p:txBody>
      </p:sp>
      <p:sp>
        <p:nvSpPr>
          <p:cNvPr id="14" name="Rounded Rectangle 13"/>
          <p:cNvSpPr/>
          <p:nvPr/>
        </p:nvSpPr>
        <p:spPr>
          <a:xfrm>
            <a:off x="548640" y="5257800"/>
            <a:ext cx="11091672" cy="868680"/>
          </a:xfrm>
          <a:prstGeom prst="roundRect">
            <a:avLst/>
          </a:prstGeom>
          <a:solidFill>
            <a:srgbClr val="1A1208"/>
          </a:solidFill>
          <a:ln w="12700">
            <a:solidFill>
              <a:srgbClr val="B851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5303520"/>
            <a:ext cx="10607040" cy="777240"/>
          </a:xfrm>
          <a:prstGeom prst="rect">
            <a:avLst/>
          </a:prstGeom>
          <a:noFill/>
        </p:spPr>
        <p:txBody>
          <a:bodyPr wrap="square" anchor="ctr" lIns="25400" rIns="25400" tIns="25400" bIns="25400">
            <a:spAutoFit/>
          </a:bodyPr>
          <a:lstStyle/>
          <a:p>
            <a:pPr algn="l">
              <a:spcBef>
                <a:spcPts val="0"/>
              </a:spcBef>
              <a:spcAft>
                <a:spcPts val="600"/>
              </a:spcAft>
            </a:pPr>
            <a:r>
              <a:rPr sz="1250" b="1">
                <a:solidFill>
                  <a:srgbClr val="FF6A00"/>
                </a:solidFill>
                <a:latin typeface="Segoe UI"/>
              </a:rPr>
              <a:t>KEY DISTINCTION  </a:t>
            </a:r>
            <a:r>
              <a:rPr sz="1350" b="0">
                <a:solidFill>
                  <a:srgbClr val="F5F7FB"/>
                </a:solidFill>
                <a:latin typeface="Segoe UI"/>
              </a:rPr>
              <a:t>The exam-relevant distinction: confirming a tool or vulnerability exists (Module 2's enumeration discipline) is necessary but not sufficient — a path only becomes viable once it is chained toward a specific, stated objective.</a:t>
            </a:r>
          </a:p>
        </p:txBody>
      </p:sp>
      <p:sp>
        <p:nvSpPr>
          <p:cNvPr id="16" name="TextBox 15"/>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7" name="TextBox 16"/>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10.2 · MECHANISM</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Building a candidate attack path across layers</a:t>
            </a:r>
          </a:p>
        </p:txBody>
      </p:sp>
      <p:sp>
        <p:nvSpPr>
          <p:cNvPr id="6" name="Rounded Rectangle 5"/>
          <p:cNvSpPr/>
          <p:nvPr/>
        </p:nvSpPr>
        <p:spPr>
          <a:xfrm>
            <a:off x="548640" y="1920240"/>
            <a:ext cx="685800" cy="841248"/>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920240"/>
            <a:ext cx="685800" cy="841248"/>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1</a:t>
            </a:r>
          </a:p>
        </p:txBody>
      </p:sp>
      <p:sp>
        <p:nvSpPr>
          <p:cNvPr id="8" name="Rounded Rectangle 7"/>
          <p:cNvSpPr/>
          <p:nvPr/>
        </p:nvSpPr>
        <p:spPr>
          <a:xfrm>
            <a:off x="1371600" y="1920240"/>
            <a:ext cx="10268712"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600200" y="1920240"/>
            <a:ext cx="3108960" cy="841248"/>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Start from a stated objective</a:t>
            </a:r>
          </a:p>
        </p:txBody>
      </p:sp>
      <p:sp>
        <p:nvSpPr>
          <p:cNvPr id="10" name="TextBox 9"/>
          <p:cNvSpPr txBox="1"/>
          <p:nvPr/>
        </p:nvSpPr>
        <p:spPr>
          <a:xfrm>
            <a:off x="4709160" y="1920240"/>
            <a:ext cx="6766560" cy="841248"/>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Begin from what scoping defined as a successful compromise, not from whatever finding happens to be most interesting.</a:t>
            </a:r>
          </a:p>
        </p:txBody>
      </p:sp>
      <p:sp>
        <p:nvSpPr>
          <p:cNvPr id="11" name="Rounded Rectangle 10"/>
          <p:cNvSpPr/>
          <p:nvPr/>
        </p:nvSpPr>
        <p:spPr>
          <a:xfrm>
            <a:off x="548640" y="2816352"/>
            <a:ext cx="685800" cy="841248"/>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2816352"/>
            <a:ext cx="685800" cy="841248"/>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2</a:t>
            </a:r>
          </a:p>
        </p:txBody>
      </p:sp>
      <p:sp>
        <p:nvSpPr>
          <p:cNvPr id="13" name="Rounded Rectangle 12"/>
          <p:cNvSpPr/>
          <p:nvPr/>
        </p:nvSpPr>
        <p:spPr>
          <a:xfrm>
            <a:off x="1371600" y="2816352"/>
            <a:ext cx="10268712"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600200" y="2816352"/>
            <a:ext cx="3108960" cy="841248"/>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Identify a plausible starting weakness</a:t>
            </a:r>
          </a:p>
        </p:txBody>
      </p:sp>
      <p:sp>
        <p:nvSpPr>
          <p:cNvPr id="15" name="TextBox 14"/>
          <p:cNvSpPr txBox="1"/>
          <p:nvPr/>
        </p:nvSpPr>
        <p:spPr>
          <a:xfrm>
            <a:off x="4709160" y="2816352"/>
            <a:ext cx="6766560" cy="841248"/>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Select an inventory entry — confirmed or hypothesised — that offers initial access or leverage.</a:t>
            </a:r>
          </a:p>
        </p:txBody>
      </p:sp>
      <p:sp>
        <p:nvSpPr>
          <p:cNvPr id="16" name="Rounded Rectangle 15"/>
          <p:cNvSpPr/>
          <p:nvPr/>
        </p:nvSpPr>
        <p:spPr>
          <a:xfrm>
            <a:off x="548640" y="3712464"/>
            <a:ext cx="685800" cy="841248"/>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3712464"/>
            <a:ext cx="685800" cy="841248"/>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3</a:t>
            </a:r>
          </a:p>
        </p:txBody>
      </p:sp>
      <p:sp>
        <p:nvSpPr>
          <p:cNvPr id="18" name="Rounded Rectangle 17"/>
          <p:cNvSpPr/>
          <p:nvPr/>
        </p:nvSpPr>
        <p:spPr>
          <a:xfrm>
            <a:off x="1371600" y="3712464"/>
            <a:ext cx="10268712"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600200" y="3712464"/>
            <a:ext cx="3108960" cy="841248"/>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Chain toward the objective, layer by layer</a:t>
            </a:r>
          </a:p>
        </p:txBody>
      </p:sp>
      <p:sp>
        <p:nvSpPr>
          <p:cNvPr id="20" name="TextBox 19"/>
          <p:cNvSpPr txBox="1"/>
          <p:nvPr/>
        </p:nvSpPr>
        <p:spPr>
          <a:xfrm>
            <a:off x="4709160" y="3712464"/>
            <a:ext cx="6766560" cy="841248"/>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Identify what each subsequent weakness would need to provide to move the chain closer to the objective.</a:t>
            </a:r>
          </a:p>
        </p:txBody>
      </p:sp>
      <p:sp>
        <p:nvSpPr>
          <p:cNvPr id="21" name="Rounded Rectangle 20"/>
          <p:cNvSpPr/>
          <p:nvPr/>
        </p:nvSpPr>
        <p:spPr>
          <a:xfrm>
            <a:off x="548640" y="4608576"/>
            <a:ext cx="685800" cy="841248"/>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4608576"/>
            <a:ext cx="685800" cy="841248"/>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4</a:t>
            </a:r>
          </a:p>
        </p:txBody>
      </p:sp>
      <p:sp>
        <p:nvSpPr>
          <p:cNvPr id="23" name="Rounded Rectangle 22"/>
          <p:cNvSpPr/>
          <p:nvPr/>
        </p:nvSpPr>
        <p:spPr>
          <a:xfrm>
            <a:off x="1371600" y="4608576"/>
            <a:ext cx="10268712"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600200" y="4608576"/>
            <a:ext cx="3108960" cy="841248"/>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Note every assumption the chain depends on</a:t>
            </a:r>
          </a:p>
        </p:txBody>
      </p:sp>
      <p:sp>
        <p:nvSpPr>
          <p:cNvPr id="25" name="TextBox 24"/>
          <p:cNvSpPr txBox="1"/>
          <p:nvPr/>
        </p:nvSpPr>
        <p:spPr>
          <a:xfrm>
            <a:off x="4709160" y="4608576"/>
            <a:ext cx="6766560" cy="841248"/>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Record what must be true — an access-control gap, an over-permissioned tool — for each link in the chain to hold.</a:t>
            </a:r>
          </a:p>
        </p:txBody>
      </p:sp>
      <p:sp>
        <p:nvSpPr>
          <p:cNvPr id="26" name="Rounded Rectangle 25"/>
          <p:cNvSpPr/>
          <p:nvPr/>
        </p:nvSpPr>
        <p:spPr>
          <a:xfrm>
            <a:off x="548640" y="5504688"/>
            <a:ext cx="685800" cy="841248"/>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8640" y="5504688"/>
            <a:ext cx="685800" cy="841248"/>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5</a:t>
            </a:r>
          </a:p>
        </p:txBody>
      </p:sp>
      <p:sp>
        <p:nvSpPr>
          <p:cNvPr id="28" name="Rounded Rectangle 27"/>
          <p:cNvSpPr/>
          <p:nvPr/>
        </p:nvSpPr>
        <p:spPr>
          <a:xfrm>
            <a:off x="1371600" y="5504688"/>
            <a:ext cx="10268712"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600200" y="5504688"/>
            <a:ext cx="3108960" cy="841248"/>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Confirm the chain terminates at the objective</a:t>
            </a:r>
          </a:p>
        </p:txBody>
      </p:sp>
      <p:sp>
        <p:nvSpPr>
          <p:cNvPr id="30" name="TextBox 29"/>
          <p:cNvSpPr txBox="1"/>
          <p:nvPr/>
        </p:nvSpPr>
        <p:spPr>
          <a:xfrm>
            <a:off x="4709160" y="5504688"/>
            <a:ext cx="6766560" cy="841248"/>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A path that does not plausibly reach the stated objective is incomplete, however interesting its individual steps are.</a:t>
            </a:r>
          </a:p>
        </p:txBody>
      </p:sp>
      <p:sp>
        <p:nvSpPr>
          <p:cNvPr id="31" name="TextBox 30"/>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32" name="TextBox 31"/>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10.2 · WORKED EXAMPLE</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A candidate attack path, expressed across layers</a:t>
            </a:r>
          </a:p>
        </p:txBody>
      </p:sp>
      <p:graphicFrame>
        <p:nvGraphicFramePr>
          <p:cNvPr id="6" name="Table 5"/>
          <p:cNvGraphicFramePr>
            <a:graphicFrameLocks noGrp="1"/>
          </p:cNvGraphicFramePr>
          <p:nvPr/>
        </p:nvGraphicFramePr>
        <p:xfrm>
          <a:off x="548640" y="1828800"/>
          <a:ext cx="11091672" cy="1883664"/>
        </p:xfrm>
        <a:graphic>
          <a:graphicData uri="http://schemas.openxmlformats.org/drawingml/2006/table">
            <a:tbl>
              <a:tblPr>
                <a:tableStyleId>{5C22544A-7EE6-4342-B048-85BDC9FD1C3A}</a:tableStyleId>
              </a:tblPr>
              <a:tblGrid>
                <a:gridCol w="3697224"/>
                <a:gridCol w="3697224"/>
                <a:gridCol w="3697224"/>
              </a:tblGrid>
              <a:tr h="470916">
                <a:tc>
                  <a:txBody>
                    <a:bodyPr wrap="square"/>
                    <a:lstStyle/>
                    <a:p>
                      <a:r>
                        <a:rPr sz="1300" b="1">
                          <a:solidFill>
                            <a:srgbClr val="F5F7FB"/>
                          </a:solidFill>
                          <a:latin typeface="Segoe UI"/>
                        </a:rPr>
                        <a:t>Step</a:t>
                      </a:r>
                    </a:p>
                  </a:txBody>
                  <a:tcPr marL="101600" marR="101600" marT="50800" marB="50800" anchor="ctr">
                    <a:solidFill>
                      <a:srgbClr val="3A2410"/>
                    </a:solidFill>
                  </a:tcPr>
                </a:tc>
                <a:tc>
                  <a:txBody>
                    <a:bodyPr wrap="square"/>
                    <a:lstStyle/>
                    <a:p>
                      <a:r>
                        <a:rPr sz="1300" b="1">
                          <a:solidFill>
                            <a:srgbClr val="F5F7FB"/>
                          </a:solidFill>
                          <a:latin typeface="Segoe UI"/>
                        </a:rPr>
                        <a:t>Layer</a:t>
                      </a:r>
                    </a:p>
                  </a:txBody>
                  <a:tcPr marL="101600" marR="101600" marT="50800" marB="50800" anchor="ctr">
                    <a:solidFill>
                      <a:srgbClr val="3A2410"/>
                    </a:solidFill>
                  </a:tcPr>
                </a:tc>
                <a:tc>
                  <a:txBody>
                    <a:bodyPr wrap="square"/>
                    <a:lstStyle/>
                    <a:p>
                      <a:r>
                        <a:rPr sz="1300" b="1">
                          <a:solidFill>
                            <a:srgbClr val="F5F7FB"/>
                          </a:solidFill>
                          <a:latin typeface="Segoe UI"/>
                        </a:rPr>
                        <a:t>Mechanism (from earlier modules)</a:t>
                      </a:r>
                    </a:p>
                  </a:txBody>
                  <a:tcPr marL="101600" marR="101600" marT="50800" marB="50800" anchor="ctr">
                    <a:solidFill>
                      <a:srgbClr val="3A2410"/>
                    </a:solidFill>
                  </a:tcPr>
                </a:tc>
              </a:tr>
              <a:tr h="470916">
                <a:tc>
                  <a:txBody>
                    <a:bodyPr wrap="square"/>
                    <a:lstStyle/>
                    <a:p>
                      <a:r>
                        <a:rPr sz="1200" b="1">
                          <a:solidFill>
                            <a:srgbClr val="F5F7FB"/>
                          </a:solidFill>
                          <a:latin typeface="Segoe UI"/>
                        </a:rPr>
                        <a:t>1. Initial leverage</a:t>
                      </a:r>
                    </a:p>
                  </a:txBody>
                  <a:tcPr marL="101600" marR="101600" marT="50800" marB="50800" anchor="ctr">
                    <a:solidFill>
                      <a:srgbClr val="121319"/>
                    </a:solidFill>
                  </a:tcPr>
                </a:tc>
                <a:tc>
                  <a:txBody>
                    <a:bodyPr wrap="square"/>
                    <a:lstStyle/>
                    <a:p>
                      <a:r>
                        <a:rPr sz="1200" b="0">
                          <a:solidFill>
                            <a:srgbClr val="B8C0CF"/>
                          </a:solidFill>
                          <a:latin typeface="Segoe UI"/>
                        </a:rPr>
                        <a:t>Data / RAG</a:t>
                      </a:r>
                    </a:p>
                  </a:txBody>
                  <a:tcPr marL="101600" marR="101600" marT="50800" marB="50800" anchor="ctr">
                    <a:solidFill>
                      <a:srgbClr val="121319"/>
                    </a:solidFill>
                  </a:tcPr>
                </a:tc>
                <a:tc>
                  <a:txBody>
                    <a:bodyPr wrap="square"/>
                    <a:lstStyle/>
                    <a:p>
                      <a:r>
                        <a:rPr sz="1200" b="0">
                          <a:solidFill>
                            <a:srgbClr val="B8C0CF"/>
                          </a:solidFill>
                          <a:latin typeface="Segoe UI"/>
                        </a:rPr>
                        <a:t>Corpus poisoning places a crafted document into a retrieval source (Module 5, Objective 5.2)</a:t>
                      </a:r>
                    </a:p>
                  </a:txBody>
                  <a:tcPr marL="101600" marR="101600" marT="50800" marB="50800" anchor="ctr">
                    <a:solidFill>
                      <a:srgbClr val="121319"/>
                    </a:solidFill>
                  </a:tcPr>
                </a:tc>
              </a:tr>
              <a:tr h="470916">
                <a:tc>
                  <a:txBody>
                    <a:bodyPr wrap="square"/>
                    <a:lstStyle/>
                    <a:p>
                      <a:r>
                        <a:rPr sz="1200" b="1">
                          <a:solidFill>
                            <a:srgbClr val="F5F7FB"/>
                          </a:solidFill>
                          <a:latin typeface="Segoe UI"/>
                        </a:rPr>
                        <a:t>2. Escalation</a:t>
                      </a:r>
                    </a:p>
                  </a:txBody>
                  <a:tcPr marL="101600" marR="101600" marT="50800" marB="50800" anchor="ctr">
                    <a:solidFill>
                      <a:srgbClr val="141519"/>
                    </a:solidFill>
                  </a:tcPr>
                </a:tc>
                <a:tc>
                  <a:txBody>
                    <a:bodyPr wrap="square"/>
                    <a:lstStyle/>
                    <a:p>
                      <a:r>
                        <a:rPr sz="1200" b="0">
                          <a:solidFill>
                            <a:srgbClr val="B8C0CF"/>
                          </a:solidFill>
                          <a:latin typeface="Segoe UI"/>
                        </a:rPr>
                        <a:t>Agent / tool</a:t>
                      </a:r>
                    </a:p>
                  </a:txBody>
                  <a:tcPr marL="101600" marR="101600" marT="50800" marB="50800" anchor="ctr">
                    <a:solidFill>
                      <a:srgbClr val="141519"/>
                    </a:solidFill>
                  </a:tcPr>
                </a:tc>
                <a:tc>
                  <a:txBody>
                    <a:bodyPr wrap="square"/>
                    <a:lstStyle/>
                    <a:p>
                      <a:r>
                        <a:rPr sz="1200" b="0">
                          <a:solidFill>
                            <a:srgbClr val="B8C0CF"/>
                          </a:solidFill>
                          <a:latin typeface="Segoe UI"/>
                        </a:rPr>
                        <a:t>The poisoned document's hidden instruction triggers unintended tool invocation (Module 3, Objective 3.3)</a:t>
                      </a:r>
                    </a:p>
                  </a:txBody>
                  <a:tcPr marL="101600" marR="101600" marT="50800" marB="50800" anchor="ctr">
                    <a:solidFill>
                      <a:srgbClr val="141519"/>
                    </a:solidFill>
                  </a:tcPr>
                </a:tc>
              </a:tr>
              <a:tr h="470916">
                <a:tc>
                  <a:txBody>
                    <a:bodyPr wrap="square"/>
                    <a:lstStyle/>
                    <a:p>
                      <a:r>
                        <a:rPr sz="1200" b="1">
                          <a:solidFill>
                            <a:srgbClr val="F5F7FB"/>
                          </a:solidFill>
                          <a:latin typeface="Segoe UI"/>
                        </a:rPr>
                        <a:t>3. Objective reached</a:t>
                      </a:r>
                    </a:p>
                  </a:txBody>
                  <a:tcPr marL="101600" marR="101600" marT="50800" marB="50800" anchor="ctr">
                    <a:solidFill>
                      <a:srgbClr val="121319"/>
                    </a:solidFill>
                  </a:tcPr>
                </a:tc>
                <a:tc>
                  <a:txBody>
                    <a:bodyPr wrap="square"/>
                    <a:lstStyle/>
                    <a:p>
                      <a:r>
                        <a:rPr sz="1200" b="0">
                          <a:solidFill>
                            <a:srgbClr val="B8C0CF"/>
                          </a:solidFill>
                          <a:latin typeface="Segoe UI"/>
                        </a:rPr>
                        <a:t>Data exfiltration</a:t>
                      </a:r>
                    </a:p>
                  </a:txBody>
                  <a:tcPr marL="101600" marR="101600" marT="50800" marB="50800" anchor="ctr">
                    <a:solidFill>
                      <a:srgbClr val="121319"/>
                    </a:solidFill>
                  </a:tcPr>
                </a:tc>
                <a:tc>
                  <a:txBody>
                    <a:bodyPr wrap="square"/>
                    <a:lstStyle/>
                    <a:p>
                      <a:r>
                        <a:rPr sz="1200" b="0">
                          <a:solidFill>
                            <a:srgbClr val="B8C0CF"/>
                          </a:solidFill>
                          <a:latin typeface="Segoe UI"/>
                        </a:rPr>
                        <a:t>The invoked tool sends sensitive retrieved content to an attacker-controlled destination</a:t>
                      </a:r>
                    </a:p>
                  </a:txBody>
                  <a:tcPr marL="101600" marR="101600" marT="50800" marB="50800" anchor="ctr">
                    <a:solidFill>
                      <a:srgbClr val="121319"/>
                    </a:solidFill>
                  </a:tcPr>
                </a:tc>
              </a:tr>
            </a:tbl>
          </a:graphicData>
        </a:graphic>
      </p:graphicFrame>
      <p:sp>
        <p:nvSpPr>
          <p:cNvPr id="7" name="TextBox 6"/>
          <p:cNvSpPr txBox="1"/>
          <p:nvPr/>
        </p:nvSpPr>
        <p:spPr>
          <a:xfrm>
            <a:off x="548640" y="5989320"/>
            <a:ext cx="11064240" cy="457200"/>
          </a:xfrm>
          <a:prstGeom prst="rect">
            <a:avLst/>
          </a:prstGeom>
          <a:noFill/>
        </p:spPr>
        <p:txBody>
          <a:bodyPr wrap="square" anchor="t" lIns="25400" rIns="25400" tIns="25400" bIns="25400">
            <a:spAutoFit/>
          </a:bodyPr>
          <a:lstStyle/>
          <a:p>
            <a:pPr algn="l">
              <a:spcBef>
                <a:spcPts val="0"/>
              </a:spcBef>
              <a:spcAft>
                <a:spcPts val="600"/>
              </a:spcAft>
            </a:pPr>
            <a:r>
              <a:rPr sz="1200" b="0">
                <a:solidFill>
                  <a:srgbClr val="B8C0CF"/>
                </a:solidFill>
                <a:latin typeface="Segoe UI"/>
              </a:rPr>
              <a:t>Every step in a defensible attack path should cite the specific module and objective its mechanism was taught in.</a:t>
            </a:r>
          </a:p>
        </p:txBody>
      </p:sp>
      <p:sp>
        <p:nvSpPr>
          <p:cNvPr id="8" name="TextBox 7"/>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9" name="TextBox 8"/>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10.2 · CRITICAL DISTINCTION</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Single-technique paths vs chained-technique paths</a:t>
            </a:r>
          </a:p>
        </p:txBody>
      </p:sp>
      <p:sp>
        <p:nvSpPr>
          <p:cNvPr id="6" name="Rounded Rectangle 5"/>
          <p:cNvSpPr/>
          <p:nvPr/>
        </p:nvSpPr>
        <p:spPr>
          <a:xfrm>
            <a:off x="548640" y="1828800"/>
            <a:ext cx="5257800" cy="3246120"/>
          </a:xfrm>
          <a:prstGeom prst="roundRect">
            <a:avLst/>
          </a:prstGeom>
          <a:solidFill>
            <a:srgbClr val="141519"/>
          </a:solidFill>
          <a:ln w="20320">
            <a:solidFill>
              <a:srgbClr val="FF6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011680"/>
            <a:ext cx="4800600" cy="640080"/>
          </a:xfrm>
          <a:prstGeom prst="rect">
            <a:avLst/>
          </a:prstGeom>
          <a:noFill/>
        </p:spPr>
        <p:txBody>
          <a:bodyPr wrap="square" anchor="t" lIns="25400" rIns="25400" tIns="25400" bIns="25400">
            <a:spAutoFit/>
          </a:bodyPr>
          <a:lstStyle/>
          <a:p>
            <a:pPr algn="l">
              <a:spcBef>
                <a:spcPts val="0"/>
              </a:spcBef>
              <a:spcAft>
                <a:spcPts val="600"/>
              </a:spcAft>
            </a:pPr>
            <a:r>
              <a:rPr sz="2000" b="1">
                <a:solidFill>
                  <a:srgbClr val="F5F7FB"/>
                </a:solidFill>
                <a:latin typeface="Segoe UI"/>
              </a:rPr>
              <a:t>Single-technique path</a:t>
            </a:r>
          </a:p>
        </p:txBody>
      </p:sp>
      <p:sp>
        <p:nvSpPr>
          <p:cNvPr id="8" name="TextBox 7"/>
          <p:cNvSpPr txBox="1"/>
          <p:nvPr/>
        </p:nvSpPr>
        <p:spPr>
          <a:xfrm>
            <a:off x="777240" y="2743200"/>
            <a:ext cx="4800600" cy="2148840"/>
          </a:xfrm>
          <a:prstGeom prst="rect">
            <a:avLst/>
          </a:prstGeom>
          <a:noFill/>
        </p:spPr>
        <p:txBody>
          <a:bodyPr wrap="square" anchor="t" lIns="25400" rIns="25400" tIns="25400" bIns="25400">
            <a:spAutoFit/>
          </a:bodyPr>
          <a:lstStyle/>
          <a:p>
            <a:pPr algn="l">
              <a:spcBef>
                <a:spcPts val="0"/>
              </a:spcBef>
              <a:spcAft>
                <a:spcPts val="800"/>
              </a:spcAft>
            </a:pPr>
            <a:r>
              <a:rPr sz="1400" b="1">
                <a:solidFill>
                  <a:srgbClr val="FF6A00"/>
                </a:solidFill>
                <a:latin typeface="Segoe UI"/>
              </a:rPr>
              <a:t>•  </a:t>
            </a:r>
            <a:r>
              <a:rPr sz="1400" b="0">
                <a:solidFill>
                  <a:srgbClr val="B8C0CF"/>
                </a:solidFill>
                <a:latin typeface="Segoe UI"/>
              </a:rPr>
              <a:t>One weakness alone is sufficient to reach the objective</a:t>
            </a:r>
          </a:p>
          <a:p>
            <a:pPr algn="l">
              <a:spcBef>
                <a:spcPts val="0"/>
              </a:spcBef>
              <a:spcAft>
                <a:spcPts val="800"/>
              </a:spcAft>
            </a:pPr>
            <a:r>
              <a:rPr sz="1400" b="1">
                <a:solidFill>
                  <a:srgbClr val="FF6A00"/>
                </a:solidFill>
                <a:latin typeface="Segoe UI"/>
              </a:rPr>
              <a:t>•  </a:t>
            </a:r>
            <a:r>
              <a:rPr sz="1400" b="0">
                <a:solidFill>
                  <a:srgbClr val="B8C0CF"/>
                </a:solidFill>
                <a:latin typeface="Segoe UI"/>
              </a:rPr>
              <a:t>Simpler to execute and to document</a:t>
            </a:r>
          </a:p>
          <a:p>
            <a:pPr algn="l">
              <a:spcBef>
                <a:spcPts val="0"/>
              </a:spcBef>
              <a:spcAft>
                <a:spcPts val="800"/>
              </a:spcAft>
            </a:pPr>
            <a:r>
              <a:rPr sz="1400" b="1">
                <a:solidFill>
                  <a:srgbClr val="FF6A00"/>
                </a:solidFill>
                <a:latin typeface="Segoe UI"/>
              </a:rPr>
              <a:t>•  </a:t>
            </a:r>
            <a:r>
              <a:rPr sz="1400" b="0">
                <a:solidFill>
                  <a:srgbClr val="B8C0CF"/>
                </a:solidFill>
                <a:latin typeface="Segoe UI"/>
              </a:rPr>
              <a:t>Often lower overall impact, since less of the target is touched</a:t>
            </a:r>
          </a:p>
          <a:p>
            <a:pPr algn="l">
              <a:spcBef>
                <a:spcPts val="0"/>
              </a:spcBef>
              <a:spcAft>
                <a:spcPts val="800"/>
              </a:spcAft>
            </a:pPr>
            <a:r>
              <a:rPr sz="1400" b="1">
                <a:solidFill>
                  <a:srgbClr val="FF6A00"/>
                </a:solidFill>
                <a:latin typeface="Segoe UI"/>
              </a:rPr>
              <a:t>•  </a:t>
            </a:r>
            <a:r>
              <a:rPr sz="1400" b="0">
                <a:solidFill>
                  <a:srgbClr val="B8C0CF"/>
                </a:solidFill>
                <a:latin typeface="Segoe UI"/>
              </a:rPr>
              <a:t>Common when a target has one severe, isolated flaw</a:t>
            </a:r>
          </a:p>
        </p:txBody>
      </p:sp>
      <p:sp>
        <p:nvSpPr>
          <p:cNvPr id="9" name="Rounded Rectangle 8"/>
          <p:cNvSpPr/>
          <p:nvPr/>
        </p:nvSpPr>
        <p:spPr>
          <a:xfrm>
            <a:off x="6382512" y="1828800"/>
            <a:ext cx="5257800" cy="324612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11112" y="2011680"/>
            <a:ext cx="4800600" cy="640080"/>
          </a:xfrm>
          <a:prstGeom prst="rect">
            <a:avLst/>
          </a:prstGeom>
          <a:noFill/>
        </p:spPr>
        <p:txBody>
          <a:bodyPr wrap="square" anchor="t" lIns="25400" rIns="25400" tIns="25400" bIns="25400">
            <a:spAutoFit/>
          </a:bodyPr>
          <a:lstStyle/>
          <a:p>
            <a:pPr algn="l">
              <a:spcBef>
                <a:spcPts val="0"/>
              </a:spcBef>
              <a:spcAft>
                <a:spcPts val="600"/>
              </a:spcAft>
            </a:pPr>
            <a:r>
              <a:rPr sz="2000" b="1">
                <a:solidFill>
                  <a:srgbClr val="F5F7FB"/>
                </a:solidFill>
                <a:latin typeface="Segoe UI"/>
              </a:rPr>
              <a:t>Chained-technique path</a:t>
            </a:r>
          </a:p>
        </p:txBody>
      </p:sp>
      <p:sp>
        <p:nvSpPr>
          <p:cNvPr id="11" name="TextBox 10"/>
          <p:cNvSpPr txBox="1"/>
          <p:nvPr/>
        </p:nvSpPr>
        <p:spPr>
          <a:xfrm>
            <a:off x="6611112" y="2743200"/>
            <a:ext cx="4800600" cy="2148840"/>
          </a:xfrm>
          <a:prstGeom prst="rect">
            <a:avLst/>
          </a:prstGeom>
          <a:noFill/>
        </p:spPr>
        <p:txBody>
          <a:bodyPr wrap="square" anchor="t" lIns="25400" rIns="25400" tIns="25400" bIns="25400">
            <a:spAutoFit/>
          </a:bodyPr>
          <a:lstStyle/>
          <a:p>
            <a:pPr algn="l">
              <a:spcBef>
                <a:spcPts val="0"/>
              </a:spcBef>
              <a:spcAft>
                <a:spcPts val="800"/>
              </a:spcAft>
            </a:pPr>
            <a:r>
              <a:rPr sz="1400" b="1">
                <a:solidFill>
                  <a:srgbClr val="FF6A00"/>
                </a:solidFill>
                <a:latin typeface="Segoe UI"/>
              </a:rPr>
              <a:t>•  </a:t>
            </a:r>
            <a:r>
              <a:rPr sz="1400" b="0">
                <a:solidFill>
                  <a:srgbClr val="B8C0CF"/>
                </a:solidFill>
                <a:latin typeface="Segoe UI"/>
              </a:rPr>
              <a:t>Multiple weaknesses combine, none sufficient alone</a:t>
            </a:r>
          </a:p>
          <a:p>
            <a:pPr algn="l">
              <a:spcBef>
                <a:spcPts val="0"/>
              </a:spcBef>
              <a:spcAft>
                <a:spcPts val="800"/>
              </a:spcAft>
            </a:pPr>
            <a:r>
              <a:rPr sz="1400" b="1">
                <a:solidFill>
                  <a:srgbClr val="FF6A00"/>
                </a:solidFill>
                <a:latin typeface="Segoe UI"/>
              </a:rPr>
              <a:t>•  </a:t>
            </a:r>
            <a:r>
              <a:rPr sz="1400" b="0">
                <a:solidFill>
                  <a:srgbClr val="B8C0CF"/>
                </a:solidFill>
                <a:latin typeface="Segoe UI"/>
              </a:rPr>
              <a:t>More complex to execute and document, but often higher-impact</a:t>
            </a:r>
          </a:p>
          <a:p>
            <a:pPr algn="l">
              <a:spcBef>
                <a:spcPts val="0"/>
              </a:spcBef>
              <a:spcAft>
                <a:spcPts val="800"/>
              </a:spcAft>
            </a:pPr>
            <a:r>
              <a:rPr sz="1400" b="1">
                <a:solidFill>
                  <a:srgbClr val="FF6A00"/>
                </a:solidFill>
                <a:latin typeface="Segoe UI"/>
              </a:rPr>
              <a:t>•  </a:t>
            </a:r>
            <a:r>
              <a:rPr sz="1400" b="0">
                <a:solidFill>
                  <a:srgbClr val="B8C0CF"/>
                </a:solidFill>
                <a:latin typeface="Segoe UI"/>
              </a:rPr>
              <a:t>Demonstrates depth: how independently minor findings compound</a:t>
            </a:r>
          </a:p>
          <a:p>
            <a:pPr algn="l">
              <a:spcBef>
                <a:spcPts val="0"/>
              </a:spcBef>
              <a:spcAft>
                <a:spcPts val="800"/>
              </a:spcAft>
            </a:pPr>
            <a:r>
              <a:rPr sz="1400" b="1">
                <a:solidFill>
                  <a:srgbClr val="FF6A00"/>
                </a:solidFill>
                <a:latin typeface="Segoe UI"/>
              </a:rPr>
              <a:t>•  </a:t>
            </a:r>
            <a:r>
              <a:rPr sz="1400" b="0">
                <a:solidFill>
                  <a:srgbClr val="B8C0CF"/>
                </a:solidFill>
                <a:latin typeface="Segoe UI"/>
              </a:rPr>
              <a:t>The pattern most of Modules 3 to 9's cross-references anticipate</a:t>
            </a:r>
          </a:p>
        </p:txBody>
      </p:sp>
      <p:sp>
        <p:nvSpPr>
          <p:cNvPr id="12" name="Rounded Rectangle 11"/>
          <p:cNvSpPr/>
          <p:nvPr/>
        </p:nvSpPr>
        <p:spPr>
          <a:xfrm>
            <a:off x="5742432" y="3063240"/>
            <a:ext cx="777240" cy="777240"/>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742432" y="3063240"/>
            <a:ext cx="777240" cy="777240"/>
          </a:xfrm>
          <a:prstGeom prst="rect">
            <a:avLst/>
          </a:prstGeom>
          <a:noFill/>
        </p:spPr>
        <p:txBody>
          <a:bodyPr wrap="square" anchor="ctr" lIns="25400" rIns="25400" tIns="25400" bIns="25400">
            <a:spAutoFit/>
          </a:bodyPr>
          <a:lstStyle/>
          <a:p>
            <a:pPr algn="ctr">
              <a:spcBef>
                <a:spcPts val="0"/>
              </a:spcBef>
              <a:spcAft>
                <a:spcPts val="600"/>
              </a:spcAft>
            </a:pPr>
            <a:r>
              <a:rPr sz="1800" b="1">
                <a:solidFill>
                  <a:srgbClr val="0C0D10"/>
                </a:solidFill>
                <a:latin typeface="Segoe UI"/>
              </a:rPr>
              <a:t>VS</a:t>
            </a:r>
          </a:p>
        </p:txBody>
      </p:sp>
      <p:sp>
        <p:nvSpPr>
          <p:cNvPr id="14" name="Rounded Rectangle 13"/>
          <p:cNvSpPr/>
          <p:nvPr/>
        </p:nvSpPr>
        <p:spPr>
          <a:xfrm>
            <a:off x="548640" y="5257800"/>
            <a:ext cx="11091672" cy="868680"/>
          </a:xfrm>
          <a:prstGeom prst="roundRect">
            <a:avLst/>
          </a:prstGeom>
          <a:solidFill>
            <a:srgbClr val="1A1208"/>
          </a:solidFill>
          <a:ln w="12700">
            <a:solidFill>
              <a:srgbClr val="B851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5303520"/>
            <a:ext cx="10607040" cy="777240"/>
          </a:xfrm>
          <a:prstGeom prst="rect">
            <a:avLst/>
          </a:prstGeom>
          <a:noFill/>
        </p:spPr>
        <p:txBody>
          <a:bodyPr wrap="square" anchor="ctr" lIns="25400" rIns="25400" tIns="25400" bIns="25400">
            <a:spAutoFit/>
          </a:bodyPr>
          <a:lstStyle/>
          <a:p>
            <a:pPr algn="l">
              <a:spcBef>
                <a:spcPts val="0"/>
              </a:spcBef>
              <a:spcAft>
                <a:spcPts val="600"/>
              </a:spcAft>
            </a:pPr>
            <a:r>
              <a:rPr sz="1250" b="1">
                <a:solidFill>
                  <a:srgbClr val="FF6A00"/>
                </a:solidFill>
                <a:latin typeface="Segoe UI"/>
              </a:rPr>
              <a:t>KEY DISTINCTION  </a:t>
            </a:r>
            <a:r>
              <a:rPr sz="1350" b="0">
                <a:solidFill>
                  <a:srgbClr val="F5F7FB"/>
                </a:solidFill>
                <a:latin typeface="Segoe UI"/>
              </a:rPr>
              <a:t>The exam-relevant point: OSAI's objective-driven definition of red teaming, from Module 1, favours chained paths that demonstrate real impact — a report full of isolated, unchained findings under-represents the actual risk to the target.</a:t>
            </a:r>
          </a:p>
        </p:txBody>
      </p:sp>
      <p:sp>
        <p:nvSpPr>
          <p:cNvPr id="16" name="TextBox 15"/>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7" name="TextBox 16"/>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10.2 · CONFIDENCE</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Hypothesised vs confirmed links within a chain</a:t>
            </a:r>
          </a:p>
        </p:txBody>
      </p:sp>
      <p:sp>
        <p:nvSpPr>
          <p:cNvPr id="6" name="Rounded Rectangle 5"/>
          <p:cNvSpPr/>
          <p:nvPr/>
        </p:nvSpPr>
        <p:spPr>
          <a:xfrm>
            <a:off x="548640" y="1783080"/>
            <a:ext cx="11091672" cy="132588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920240"/>
            <a:ext cx="10607040" cy="1097280"/>
          </a:xfrm>
          <a:prstGeom prst="rect">
            <a:avLst/>
          </a:prstGeom>
          <a:noFill/>
        </p:spPr>
        <p:txBody>
          <a:bodyPr wrap="square" anchor="ctr" lIns="25400" rIns="25400" tIns="25400" bIns="25400">
            <a:spAutoFit/>
          </a:bodyPr>
          <a:lstStyle/>
          <a:p>
            <a:pPr algn="l">
              <a:spcBef>
                <a:spcPts val="0"/>
              </a:spcBef>
              <a:spcAft>
                <a:spcPts val="600"/>
              </a:spcAft>
            </a:pPr>
            <a:r>
              <a:rPr sz="1650" b="0">
                <a:solidFill>
                  <a:srgbClr val="F5F7FB"/>
                </a:solidFill>
                <a:latin typeface="Segoe UI"/>
              </a:rPr>
              <a:t>A candidate attack path can, and often does, mix confirmed links — weaknesses already verified during recon — with hypothesised links not yet tested, and the chain's overall confidence is only as strong as its weakest, least-verified link.</a:t>
            </a:r>
          </a:p>
        </p:txBody>
      </p:sp>
      <p:sp>
        <p:nvSpPr>
          <p:cNvPr id="8" name="Rounded Rectangle 7"/>
          <p:cNvSpPr/>
          <p:nvPr/>
        </p:nvSpPr>
        <p:spPr>
          <a:xfrm>
            <a:off x="548640"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WHY THIS MATTERS FOR PRIORITISATION</a:t>
            </a:r>
          </a:p>
        </p:txBody>
      </p:sp>
      <p:sp>
        <p:nvSpPr>
          <p:cNvPr id="10" name="TextBox 9"/>
          <p:cNvSpPr txBox="1"/>
          <p:nvPr/>
        </p:nvSpPr>
        <p:spPr>
          <a:xfrm>
            <a:off x="749808"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Objective 10.3 uses this confidence level directly: a path built entirely on hypothesised links is a lower-confidence candidate than one built on confirmed evidence, even if its theoretical impact is identical.</a:t>
            </a:r>
          </a:p>
        </p:txBody>
      </p:sp>
      <p:sp>
        <p:nvSpPr>
          <p:cNvPr id="11" name="Rounded Rectangle 10"/>
          <p:cNvSpPr/>
          <p:nvPr/>
        </p:nvSpPr>
        <p:spPr>
          <a:xfrm>
            <a:off x="6231636"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32804"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PRACTICAL DISCIPLINE</a:t>
            </a:r>
          </a:p>
        </p:txBody>
      </p:sp>
      <p:sp>
        <p:nvSpPr>
          <p:cNvPr id="13" name="TextBox 12"/>
          <p:cNvSpPr txBox="1"/>
          <p:nvPr/>
        </p:nvSpPr>
        <p:spPr>
          <a:xfrm>
            <a:off x="6432804"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Always record, per link, whether it is confirmed or hypothesised — carrying Module 2's evidence-and-confidence discipline forward into the threat model itself.</a:t>
            </a:r>
          </a:p>
        </p:txBody>
      </p:sp>
      <p:sp>
        <p:nvSpPr>
          <p:cNvPr id="14" name="TextBox 13"/>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5" name="TextBox 14"/>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103120"/>
            <a:ext cx="10058400" cy="548640"/>
          </a:xfrm>
          <a:prstGeom prst="rect">
            <a:avLst/>
          </a:prstGeom>
          <a:noFill/>
        </p:spPr>
        <p:txBody>
          <a:bodyPr wrap="square" anchor="t" lIns="25400" rIns="25400" tIns="25400" bIns="25400">
            <a:spAutoFit/>
          </a:bodyPr>
          <a:lstStyle/>
          <a:p>
            <a:pPr algn="l">
              <a:spcBef>
                <a:spcPts val="0"/>
              </a:spcBef>
              <a:spcAft>
                <a:spcPts val="600"/>
              </a:spcAft>
            </a:pPr>
            <a:r>
              <a:rPr sz="1500" b="1">
                <a:solidFill>
                  <a:srgbClr val="FF6A00"/>
                </a:solidFill>
                <a:latin typeface="Segoe UI"/>
              </a:rPr>
              <a:t>OBJECTIVE 10.3</a:t>
            </a:r>
          </a:p>
        </p:txBody>
      </p:sp>
      <p:sp>
        <p:nvSpPr>
          <p:cNvPr id="5" name="TextBox 4"/>
          <p:cNvSpPr txBox="1"/>
          <p:nvPr/>
        </p:nvSpPr>
        <p:spPr>
          <a:xfrm>
            <a:off x="502920" y="2560320"/>
            <a:ext cx="3657600" cy="1463040"/>
          </a:xfrm>
          <a:prstGeom prst="rect">
            <a:avLst/>
          </a:prstGeom>
          <a:noFill/>
        </p:spPr>
        <p:txBody>
          <a:bodyPr wrap="square" anchor="t" lIns="25400" rIns="25400" tIns="25400" bIns="25400">
            <a:spAutoFit/>
          </a:bodyPr>
          <a:lstStyle/>
          <a:p>
            <a:pPr algn="l">
              <a:spcBef>
                <a:spcPts val="0"/>
              </a:spcBef>
              <a:spcAft>
                <a:spcPts val="600"/>
              </a:spcAft>
            </a:pPr>
            <a:r>
              <a:rPr sz="15000" b="1">
                <a:solidFill>
                  <a:srgbClr val="FF6A00"/>
                </a:solidFill>
                <a:latin typeface="Segoe UI"/>
              </a:rPr>
              <a:t>10.3</a:t>
            </a:r>
          </a:p>
        </p:txBody>
      </p:sp>
      <p:sp>
        <p:nvSpPr>
          <p:cNvPr id="6" name="TextBox 5"/>
          <p:cNvSpPr txBox="1"/>
          <p:nvPr/>
        </p:nvSpPr>
        <p:spPr>
          <a:xfrm>
            <a:off x="548640" y="4343400"/>
            <a:ext cx="10972800" cy="1280160"/>
          </a:xfrm>
          <a:prstGeom prst="rect">
            <a:avLst/>
          </a:prstGeom>
          <a:noFill/>
        </p:spPr>
        <p:txBody>
          <a:bodyPr wrap="square" anchor="t" lIns="25400" rIns="25400" tIns="25400" bIns="25400">
            <a:spAutoFit/>
          </a:bodyPr>
          <a:lstStyle/>
          <a:p>
            <a:pPr algn="l">
              <a:spcBef>
                <a:spcPts val="0"/>
              </a:spcBef>
              <a:spcAft>
                <a:spcPts val="600"/>
              </a:spcAft>
            </a:pPr>
            <a:r>
              <a:rPr sz="4000" b="1">
                <a:solidFill>
                  <a:srgbClr val="F5F7FB"/>
                </a:solidFill>
                <a:latin typeface="Segoe UI"/>
              </a:rPr>
              <a:t>Prioritising attack paths by impact and effort</a:t>
            </a:r>
          </a:p>
        </p:txBody>
      </p:sp>
      <p:sp>
        <p:nvSpPr>
          <p:cNvPr id="7" name="TextBox 6"/>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8" name="TextBox 7"/>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10.3 · FRAMEWORK</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Two dimensions: impact and effort</a:t>
            </a:r>
          </a:p>
        </p:txBody>
      </p:sp>
      <p:sp>
        <p:nvSpPr>
          <p:cNvPr id="6" name="Rounded Rectangle 5"/>
          <p:cNvSpPr/>
          <p:nvPr/>
        </p:nvSpPr>
        <p:spPr>
          <a:xfrm>
            <a:off x="548640" y="1783080"/>
            <a:ext cx="11091672" cy="132588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920240"/>
            <a:ext cx="10607040" cy="1097280"/>
          </a:xfrm>
          <a:prstGeom prst="rect">
            <a:avLst/>
          </a:prstGeom>
          <a:noFill/>
        </p:spPr>
        <p:txBody>
          <a:bodyPr wrap="square" anchor="ctr" lIns="25400" rIns="25400" tIns="25400" bIns="25400">
            <a:spAutoFit/>
          </a:bodyPr>
          <a:lstStyle/>
          <a:p>
            <a:pPr algn="l">
              <a:spcBef>
                <a:spcPts val="0"/>
              </a:spcBef>
              <a:spcAft>
                <a:spcPts val="600"/>
              </a:spcAft>
            </a:pPr>
            <a:r>
              <a:rPr sz="1650" b="0">
                <a:solidFill>
                  <a:srgbClr val="F5F7FB"/>
                </a:solidFill>
                <a:latin typeface="Segoe UI"/>
              </a:rPr>
              <a:t>Every candidate attack path is assessed along two dimensions — impact, how severe the consequence is if the path succeeds, and effort, how much time, skill, or opportunity the path realistically requires within the engagement window — and prioritisation ranks paths by the combination of the two.</a:t>
            </a:r>
          </a:p>
        </p:txBody>
      </p:sp>
      <p:sp>
        <p:nvSpPr>
          <p:cNvPr id="8" name="Rounded Rectangle 7"/>
          <p:cNvSpPr/>
          <p:nvPr/>
        </p:nvSpPr>
        <p:spPr>
          <a:xfrm>
            <a:off x="548640"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IMPACT</a:t>
            </a:r>
          </a:p>
        </p:txBody>
      </p:sp>
      <p:sp>
        <p:nvSpPr>
          <p:cNvPr id="10" name="TextBox 9"/>
          <p:cNvSpPr txBox="1"/>
          <p:nvPr/>
        </p:nvSpPr>
        <p:spPr>
          <a:xfrm>
            <a:off x="749808"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Consider confidentiality, integrity, and availability consequences, and how directly the path reaches a stated engagement objective.</a:t>
            </a:r>
          </a:p>
        </p:txBody>
      </p:sp>
      <p:sp>
        <p:nvSpPr>
          <p:cNvPr id="11" name="Rounded Rectangle 10"/>
          <p:cNvSpPr/>
          <p:nvPr/>
        </p:nvSpPr>
        <p:spPr>
          <a:xfrm>
            <a:off x="6231636"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32804"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EFFORT</a:t>
            </a:r>
          </a:p>
        </p:txBody>
      </p:sp>
      <p:sp>
        <p:nvSpPr>
          <p:cNvPr id="13" name="TextBox 12"/>
          <p:cNvSpPr txBox="1"/>
          <p:nvPr/>
        </p:nvSpPr>
        <p:spPr>
          <a:xfrm>
            <a:off x="6432804"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Consider technical complexity, the number of chained links required, and how much of the effort depends on hypothesised rather than confirmed links.</a:t>
            </a:r>
          </a:p>
        </p:txBody>
      </p:sp>
      <p:sp>
        <p:nvSpPr>
          <p:cNvPr id="14" name="TextBox 13"/>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5" name="TextBox 14"/>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10.3 · PRIORITISATION</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Impact and effort combined into a priority order</a:t>
            </a:r>
          </a:p>
        </p:txBody>
      </p:sp>
      <p:sp>
        <p:nvSpPr>
          <p:cNvPr id="6" name="Rounded Rectangle 5"/>
          <p:cNvSpPr/>
          <p:nvPr/>
        </p:nvSpPr>
        <p:spPr>
          <a:xfrm>
            <a:off x="548640" y="2057400"/>
            <a:ext cx="3514344" cy="3291840"/>
          </a:xfrm>
          <a:prstGeom prst="roundRect">
            <a:avLst/>
          </a:prstGeom>
          <a:solidFill>
            <a:srgbClr val="141519"/>
          </a:solidFill>
          <a:ln w="25400">
            <a:solidFill>
              <a:srgbClr val="FF6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286000"/>
            <a:ext cx="3514344" cy="1097280"/>
          </a:xfrm>
          <a:prstGeom prst="rect">
            <a:avLst/>
          </a:prstGeom>
          <a:noFill/>
        </p:spPr>
        <p:txBody>
          <a:bodyPr wrap="square" anchor="t" lIns="25400" rIns="25400" tIns="25400" bIns="25400">
            <a:spAutoFit/>
          </a:bodyPr>
          <a:lstStyle/>
          <a:p>
            <a:pPr algn="ctr">
              <a:spcBef>
                <a:spcPts val="0"/>
              </a:spcBef>
              <a:spcAft>
                <a:spcPts val="600"/>
              </a:spcAft>
            </a:pPr>
            <a:r>
              <a:rPr sz="3000" b="1">
                <a:solidFill>
                  <a:srgbClr val="FF6A00"/>
                </a:solidFill>
                <a:latin typeface="Segoe UI"/>
              </a:rPr>
              <a:t>FIRST</a:t>
            </a:r>
          </a:p>
        </p:txBody>
      </p:sp>
      <p:sp>
        <p:nvSpPr>
          <p:cNvPr id="8" name="TextBox 7"/>
          <p:cNvSpPr txBox="1"/>
          <p:nvPr/>
        </p:nvSpPr>
        <p:spPr>
          <a:xfrm>
            <a:off x="658368" y="3291840"/>
            <a:ext cx="3294888" cy="640080"/>
          </a:xfrm>
          <a:prstGeom prst="rect">
            <a:avLst/>
          </a:prstGeom>
          <a:noFill/>
        </p:spPr>
        <p:txBody>
          <a:bodyPr wrap="square" anchor="t" lIns="25400" rIns="25400" tIns="25400" bIns="25400">
            <a:spAutoFit/>
          </a:bodyPr>
          <a:lstStyle/>
          <a:p>
            <a:pPr algn="ctr">
              <a:spcBef>
                <a:spcPts val="0"/>
              </a:spcBef>
              <a:spcAft>
                <a:spcPts val="600"/>
              </a:spcAft>
            </a:pPr>
            <a:r>
              <a:rPr sz="1500" b="1">
                <a:solidFill>
                  <a:srgbClr val="F5F7FB"/>
                </a:solidFill>
                <a:latin typeface="Segoe UI"/>
              </a:rPr>
              <a:t>High impact, low effort</a:t>
            </a:r>
          </a:p>
        </p:txBody>
      </p:sp>
      <p:sp>
        <p:nvSpPr>
          <p:cNvPr id="9" name="TextBox 8"/>
          <p:cNvSpPr txBox="1"/>
          <p:nvPr/>
        </p:nvSpPr>
        <p:spPr>
          <a:xfrm>
            <a:off x="685800" y="3931919"/>
            <a:ext cx="3240024" cy="1280160"/>
          </a:xfrm>
          <a:prstGeom prst="rect">
            <a:avLst/>
          </a:prstGeom>
          <a:noFill/>
        </p:spPr>
        <p:txBody>
          <a:bodyPr wrap="square" anchor="t" lIns="25400" rIns="25400" tIns="25400" bIns="25400">
            <a:spAutoFit/>
          </a:bodyPr>
          <a:lstStyle/>
          <a:p>
            <a:pPr algn="ctr">
              <a:spcBef>
                <a:spcPts val="0"/>
              </a:spcBef>
              <a:spcAft>
                <a:spcPts val="600"/>
              </a:spcAft>
            </a:pPr>
            <a:r>
              <a:rPr sz="1250" b="0">
                <a:solidFill>
                  <a:srgbClr val="B8C0CF"/>
                </a:solidFill>
                <a:latin typeface="Segoe UI"/>
              </a:rPr>
              <a:t>Attack first — the strongest return on limited engagement time</a:t>
            </a:r>
          </a:p>
        </p:txBody>
      </p:sp>
      <p:sp>
        <p:nvSpPr>
          <p:cNvPr id="10" name="Rounded Rectangle 9"/>
          <p:cNvSpPr/>
          <p:nvPr/>
        </p:nvSpPr>
        <p:spPr>
          <a:xfrm>
            <a:off x="4337304" y="2057400"/>
            <a:ext cx="3514344" cy="32918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37304" y="2286000"/>
            <a:ext cx="3514344" cy="1097280"/>
          </a:xfrm>
          <a:prstGeom prst="rect">
            <a:avLst/>
          </a:prstGeom>
          <a:noFill/>
        </p:spPr>
        <p:txBody>
          <a:bodyPr wrap="square" anchor="t" lIns="25400" rIns="25400" tIns="25400" bIns="25400">
            <a:spAutoFit/>
          </a:bodyPr>
          <a:lstStyle/>
          <a:p>
            <a:pPr algn="ctr">
              <a:spcBef>
                <a:spcPts val="0"/>
              </a:spcBef>
              <a:spcAft>
                <a:spcPts val="600"/>
              </a:spcAft>
            </a:pPr>
            <a:r>
              <a:rPr sz="3000" b="1">
                <a:solidFill>
                  <a:srgbClr val="FF6A00"/>
                </a:solidFill>
                <a:latin typeface="Segoe UI"/>
              </a:rPr>
              <a:t>SECOND</a:t>
            </a:r>
          </a:p>
        </p:txBody>
      </p:sp>
      <p:sp>
        <p:nvSpPr>
          <p:cNvPr id="12" name="TextBox 11"/>
          <p:cNvSpPr txBox="1"/>
          <p:nvPr/>
        </p:nvSpPr>
        <p:spPr>
          <a:xfrm>
            <a:off x="4447032" y="3291840"/>
            <a:ext cx="3294888" cy="640080"/>
          </a:xfrm>
          <a:prstGeom prst="rect">
            <a:avLst/>
          </a:prstGeom>
          <a:noFill/>
        </p:spPr>
        <p:txBody>
          <a:bodyPr wrap="square" anchor="t" lIns="25400" rIns="25400" tIns="25400" bIns="25400">
            <a:spAutoFit/>
          </a:bodyPr>
          <a:lstStyle/>
          <a:p>
            <a:pPr algn="ctr">
              <a:spcBef>
                <a:spcPts val="0"/>
              </a:spcBef>
              <a:spcAft>
                <a:spcPts val="600"/>
              </a:spcAft>
            </a:pPr>
            <a:r>
              <a:rPr sz="1500" b="1">
                <a:solidFill>
                  <a:srgbClr val="F5F7FB"/>
                </a:solidFill>
                <a:latin typeface="Segoe UI"/>
              </a:rPr>
              <a:t>High impact, high effort</a:t>
            </a:r>
          </a:p>
        </p:txBody>
      </p:sp>
      <p:sp>
        <p:nvSpPr>
          <p:cNvPr id="13" name="TextBox 12"/>
          <p:cNvSpPr txBox="1"/>
          <p:nvPr/>
        </p:nvSpPr>
        <p:spPr>
          <a:xfrm>
            <a:off x="4474464" y="3931919"/>
            <a:ext cx="3240024" cy="1280160"/>
          </a:xfrm>
          <a:prstGeom prst="rect">
            <a:avLst/>
          </a:prstGeom>
          <a:noFill/>
        </p:spPr>
        <p:txBody>
          <a:bodyPr wrap="square" anchor="t" lIns="25400" rIns="25400" tIns="25400" bIns="25400">
            <a:spAutoFit/>
          </a:bodyPr>
          <a:lstStyle/>
          <a:p>
            <a:pPr algn="ctr">
              <a:spcBef>
                <a:spcPts val="0"/>
              </a:spcBef>
              <a:spcAft>
                <a:spcPts val="600"/>
              </a:spcAft>
            </a:pPr>
            <a:r>
              <a:rPr sz="1250" b="0">
                <a:solidFill>
                  <a:srgbClr val="B8C0CF"/>
                </a:solidFill>
                <a:latin typeface="Segoe UI"/>
              </a:rPr>
              <a:t>Attack next, if time allows after the first quadrant is exhausted</a:t>
            </a:r>
          </a:p>
        </p:txBody>
      </p:sp>
      <p:sp>
        <p:nvSpPr>
          <p:cNvPr id="14" name="Rounded Rectangle 13"/>
          <p:cNvSpPr/>
          <p:nvPr/>
        </p:nvSpPr>
        <p:spPr>
          <a:xfrm>
            <a:off x="8125968" y="2057400"/>
            <a:ext cx="3514344" cy="32918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25968" y="2286000"/>
            <a:ext cx="3514344" cy="1097280"/>
          </a:xfrm>
          <a:prstGeom prst="rect">
            <a:avLst/>
          </a:prstGeom>
          <a:noFill/>
        </p:spPr>
        <p:txBody>
          <a:bodyPr wrap="square" anchor="t" lIns="25400" rIns="25400" tIns="25400" bIns="25400">
            <a:spAutoFit/>
          </a:bodyPr>
          <a:lstStyle/>
          <a:p>
            <a:pPr algn="ctr">
              <a:spcBef>
                <a:spcPts val="0"/>
              </a:spcBef>
              <a:spcAft>
                <a:spcPts val="600"/>
              </a:spcAft>
            </a:pPr>
            <a:r>
              <a:rPr sz="3000" b="1">
                <a:solidFill>
                  <a:srgbClr val="FF6A00"/>
                </a:solidFill>
                <a:latin typeface="Segoe UI"/>
              </a:rPr>
              <a:t>LAST</a:t>
            </a:r>
          </a:p>
        </p:txBody>
      </p:sp>
      <p:sp>
        <p:nvSpPr>
          <p:cNvPr id="16" name="TextBox 15"/>
          <p:cNvSpPr txBox="1"/>
          <p:nvPr/>
        </p:nvSpPr>
        <p:spPr>
          <a:xfrm>
            <a:off x="8235696" y="3291840"/>
            <a:ext cx="3294888" cy="640080"/>
          </a:xfrm>
          <a:prstGeom prst="rect">
            <a:avLst/>
          </a:prstGeom>
          <a:noFill/>
        </p:spPr>
        <p:txBody>
          <a:bodyPr wrap="square" anchor="t" lIns="25400" rIns="25400" tIns="25400" bIns="25400">
            <a:spAutoFit/>
          </a:bodyPr>
          <a:lstStyle/>
          <a:p>
            <a:pPr algn="ctr">
              <a:spcBef>
                <a:spcPts val="0"/>
              </a:spcBef>
              <a:spcAft>
                <a:spcPts val="600"/>
              </a:spcAft>
            </a:pPr>
            <a:r>
              <a:rPr sz="1500" b="1">
                <a:solidFill>
                  <a:srgbClr val="F5F7FB"/>
                </a:solidFill>
                <a:latin typeface="Segoe UI"/>
              </a:rPr>
              <a:t>Low impact, any effort</a:t>
            </a:r>
          </a:p>
        </p:txBody>
      </p:sp>
      <p:sp>
        <p:nvSpPr>
          <p:cNvPr id="17" name="TextBox 16"/>
          <p:cNvSpPr txBox="1"/>
          <p:nvPr/>
        </p:nvSpPr>
        <p:spPr>
          <a:xfrm>
            <a:off x="8263128" y="3931919"/>
            <a:ext cx="3240024" cy="1280160"/>
          </a:xfrm>
          <a:prstGeom prst="rect">
            <a:avLst/>
          </a:prstGeom>
          <a:noFill/>
        </p:spPr>
        <p:txBody>
          <a:bodyPr wrap="square" anchor="t" lIns="25400" rIns="25400" tIns="25400" bIns="25400">
            <a:spAutoFit/>
          </a:bodyPr>
          <a:lstStyle/>
          <a:p>
            <a:pPr algn="ctr">
              <a:spcBef>
                <a:spcPts val="0"/>
              </a:spcBef>
              <a:spcAft>
                <a:spcPts val="600"/>
              </a:spcAft>
            </a:pPr>
            <a:r>
              <a:rPr sz="1250" b="0">
                <a:solidFill>
                  <a:srgbClr val="B8C0CF"/>
                </a:solidFill>
                <a:latin typeface="Segoe UI"/>
              </a:rPr>
              <a:t>Deprioritise — document as a finding, but do not spend scarce engagement time here first</a:t>
            </a:r>
          </a:p>
        </p:txBody>
      </p:sp>
      <p:sp>
        <p:nvSpPr>
          <p:cNvPr id="18" name="TextBox 17"/>
          <p:cNvSpPr txBox="1"/>
          <p:nvPr/>
        </p:nvSpPr>
        <p:spPr>
          <a:xfrm>
            <a:off x="548640" y="5669280"/>
            <a:ext cx="11064240" cy="64008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This ordering is the practical output of Objective 10.3: high-impact, low-effort paths are executed first, not because they are easiest, but because they return the most demonstrated impact per hour of a 24-hour engagement window.</a:t>
            </a:r>
          </a:p>
        </p:txBody>
      </p:sp>
      <p:sp>
        <p:nvSpPr>
          <p:cNvPr id="19" name="TextBox 18"/>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20" name="TextBox 19"/>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10.3 · FACTOR</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Asset criticality as a prioritisation input</a:t>
            </a:r>
          </a:p>
        </p:txBody>
      </p:sp>
      <p:sp>
        <p:nvSpPr>
          <p:cNvPr id="6" name="Rounded Rectangle 5"/>
          <p:cNvSpPr/>
          <p:nvPr/>
        </p:nvSpPr>
        <p:spPr>
          <a:xfrm>
            <a:off x="548640" y="1783080"/>
            <a:ext cx="11091672" cy="132588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920240"/>
            <a:ext cx="10607040" cy="1097280"/>
          </a:xfrm>
          <a:prstGeom prst="rect">
            <a:avLst/>
          </a:prstGeom>
          <a:noFill/>
        </p:spPr>
        <p:txBody>
          <a:bodyPr wrap="square" anchor="ctr" lIns="25400" rIns="25400" tIns="25400" bIns="25400">
            <a:spAutoFit/>
          </a:bodyPr>
          <a:lstStyle/>
          <a:p>
            <a:pPr algn="l">
              <a:spcBef>
                <a:spcPts val="0"/>
              </a:spcBef>
              <a:spcAft>
                <a:spcPts val="600"/>
              </a:spcAft>
            </a:pPr>
            <a:r>
              <a:rPr sz="1650" b="0">
                <a:solidFill>
                  <a:srgbClr val="F5F7FB"/>
                </a:solidFill>
                <a:latin typeface="Segoe UI"/>
              </a:rPr>
              <a:t>Impact is not judged in a vacuum — a path that reaches a highly sensitive asset, such as regulated personal data or an agent with broad real-world authority, should be weighted more heavily than an equivalent-severity path reaching a low-value asset.</a:t>
            </a:r>
          </a:p>
        </p:txBody>
      </p:sp>
      <p:sp>
        <p:nvSpPr>
          <p:cNvPr id="8" name="Rounded Rectangle 7"/>
          <p:cNvSpPr/>
          <p:nvPr/>
        </p:nvSpPr>
        <p:spPr>
          <a:xfrm>
            <a:off x="548640"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WHERE CRITICALITY COMES FROM</a:t>
            </a:r>
          </a:p>
        </p:txBody>
      </p:sp>
      <p:sp>
        <p:nvSpPr>
          <p:cNvPr id="10" name="TextBox 9"/>
          <p:cNvSpPr txBox="1"/>
          <p:nvPr/>
        </p:nvSpPr>
        <p:spPr>
          <a:xfrm>
            <a:off x="749808"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The engagement objectives defined during scoping, Module 1, Objective 1.4, should already identify which assets the client considers most sensitive or consequential.</a:t>
            </a:r>
          </a:p>
        </p:txBody>
      </p:sp>
      <p:sp>
        <p:nvSpPr>
          <p:cNvPr id="11" name="Rounded Rectangle 10"/>
          <p:cNvSpPr/>
          <p:nvPr/>
        </p:nvSpPr>
        <p:spPr>
          <a:xfrm>
            <a:off x="6231636"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32804"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WHY IT IS EASY TO GET WRONG</a:t>
            </a:r>
          </a:p>
        </p:txBody>
      </p:sp>
      <p:sp>
        <p:nvSpPr>
          <p:cNvPr id="13" name="TextBox 12"/>
          <p:cNvSpPr txBox="1"/>
          <p:nvPr/>
        </p:nvSpPr>
        <p:spPr>
          <a:xfrm>
            <a:off x="6432804"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A technically impressive path is not automatically a high-priority one if the asset it reaches is not, in fact, one the client cares most about protecting.</a:t>
            </a:r>
          </a:p>
        </p:txBody>
      </p:sp>
      <p:sp>
        <p:nvSpPr>
          <p:cNvPr id="14" name="TextBox 13"/>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5" name="TextBox 14"/>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10.3 · INPUTS</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Using Modules 1–9's framework mappings to support prioritisation</a:t>
            </a:r>
          </a:p>
        </p:txBody>
      </p:sp>
      <p:sp>
        <p:nvSpPr>
          <p:cNvPr id="6" name="Rounded Rectangle 5"/>
          <p:cNvSpPr/>
          <p:nvPr/>
        </p:nvSpPr>
        <p:spPr>
          <a:xfrm>
            <a:off x="548640" y="182880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5681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OWASP LLM TOP 10 SEVERITY FRAMING</a:t>
            </a:r>
          </a:p>
        </p:txBody>
      </p:sp>
      <p:sp>
        <p:nvSpPr>
          <p:cNvPr id="8" name="TextBox 7"/>
          <p:cNvSpPr txBox="1"/>
          <p:nvPr/>
        </p:nvSpPr>
        <p:spPr>
          <a:xfrm>
            <a:off x="731520" y="237744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The category a finding maps to often carries an implicit severity signal — e.g. LLM06 Excessive Agency findings frequently carry high real-world impact.</a:t>
            </a:r>
          </a:p>
        </p:txBody>
      </p:sp>
      <p:sp>
        <p:nvSpPr>
          <p:cNvPr id="9" name="Rounded Rectangle 8"/>
          <p:cNvSpPr/>
          <p:nvPr/>
        </p:nvSpPr>
        <p:spPr>
          <a:xfrm>
            <a:off x="6231636" y="182880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14516" y="195681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MITRE ATLAS TACTIC STAGE</a:t>
            </a:r>
          </a:p>
        </p:txBody>
      </p:sp>
      <p:sp>
        <p:nvSpPr>
          <p:cNvPr id="11" name="TextBox 10"/>
          <p:cNvSpPr txBox="1"/>
          <p:nvPr/>
        </p:nvSpPr>
        <p:spPr>
          <a:xfrm>
            <a:off x="6414516" y="237744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A path reaching later-stage ATLAS tactics, such as Impact or Exfiltration, is generally further along the kill chain and closer to demonstrated harm.</a:t>
            </a:r>
          </a:p>
        </p:txBody>
      </p:sp>
      <p:sp>
        <p:nvSpPr>
          <p:cNvPr id="12" name="Rounded Rectangle 11"/>
          <p:cNvSpPr/>
          <p:nvPr/>
        </p:nvSpPr>
        <p:spPr>
          <a:xfrm>
            <a:off x="548640" y="402336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415137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CONFIDENCE FROM OBJECTIVE 10.2</a:t>
            </a:r>
          </a:p>
        </p:txBody>
      </p:sp>
      <p:sp>
        <p:nvSpPr>
          <p:cNvPr id="14" name="TextBox 13"/>
          <p:cNvSpPr txBox="1"/>
          <p:nvPr/>
        </p:nvSpPr>
        <p:spPr>
          <a:xfrm>
            <a:off x="731520" y="457200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Paths built on confirmed links should be weighted as more immediately actionable than equally severe paths resting on hypothesised links.</a:t>
            </a:r>
          </a:p>
        </p:txBody>
      </p:sp>
      <p:sp>
        <p:nvSpPr>
          <p:cNvPr id="15" name="Rounded Rectangle 14"/>
          <p:cNvSpPr/>
          <p:nvPr/>
        </p:nvSpPr>
        <p:spPr>
          <a:xfrm>
            <a:off x="6231636" y="402336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4516" y="415137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CROSS-MODULE CHAINING DEPTH</a:t>
            </a:r>
          </a:p>
        </p:txBody>
      </p:sp>
      <p:sp>
        <p:nvSpPr>
          <p:cNvPr id="17" name="TextBox 16"/>
          <p:cNvSpPr txBox="1"/>
          <p:nvPr/>
        </p:nvSpPr>
        <p:spPr>
          <a:xfrm>
            <a:off x="6414516" y="457200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A path that chains weaknesses across multiple layers often demonstrates broader systemic risk than an equally severe single-layer finding.</a:t>
            </a:r>
          </a:p>
        </p:txBody>
      </p:sp>
      <p:sp>
        <p:nvSpPr>
          <p:cNvPr id="18" name="TextBox 17"/>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9" name="TextBox 18"/>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10.3 · METHODOLOGY</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A prioritisation workflow for candidate attack paths</a:t>
            </a:r>
          </a:p>
        </p:txBody>
      </p:sp>
      <p:sp>
        <p:nvSpPr>
          <p:cNvPr id="6" name="Rounded Rectangle 5"/>
          <p:cNvSpPr/>
          <p:nvPr/>
        </p:nvSpPr>
        <p:spPr>
          <a:xfrm>
            <a:off x="548640" y="1920240"/>
            <a:ext cx="685800" cy="841248"/>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920240"/>
            <a:ext cx="685800" cy="841248"/>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1</a:t>
            </a:r>
          </a:p>
        </p:txBody>
      </p:sp>
      <p:sp>
        <p:nvSpPr>
          <p:cNvPr id="8" name="Rounded Rectangle 7"/>
          <p:cNvSpPr/>
          <p:nvPr/>
        </p:nvSpPr>
        <p:spPr>
          <a:xfrm>
            <a:off x="1371600" y="1920240"/>
            <a:ext cx="10268712"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600200" y="1920240"/>
            <a:ext cx="3108960" cy="841248"/>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List every candidate path from Objective 10.2</a:t>
            </a:r>
          </a:p>
        </p:txBody>
      </p:sp>
      <p:sp>
        <p:nvSpPr>
          <p:cNvPr id="10" name="TextBox 9"/>
          <p:cNvSpPr txBox="1"/>
          <p:nvPr/>
        </p:nvSpPr>
        <p:spPr>
          <a:xfrm>
            <a:off x="4709160" y="1920240"/>
            <a:ext cx="6766560" cy="841248"/>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Gather the full set of chained and single-technique paths built against the target inventory.</a:t>
            </a:r>
          </a:p>
        </p:txBody>
      </p:sp>
      <p:sp>
        <p:nvSpPr>
          <p:cNvPr id="11" name="Rounded Rectangle 10"/>
          <p:cNvSpPr/>
          <p:nvPr/>
        </p:nvSpPr>
        <p:spPr>
          <a:xfrm>
            <a:off x="548640" y="2816352"/>
            <a:ext cx="685800" cy="841248"/>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2816352"/>
            <a:ext cx="685800" cy="841248"/>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2</a:t>
            </a:r>
          </a:p>
        </p:txBody>
      </p:sp>
      <p:sp>
        <p:nvSpPr>
          <p:cNvPr id="13" name="Rounded Rectangle 12"/>
          <p:cNvSpPr/>
          <p:nvPr/>
        </p:nvSpPr>
        <p:spPr>
          <a:xfrm>
            <a:off x="1371600" y="2816352"/>
            <a:ext cx="10268712"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600200" y="2816352"/>
            <a:ext cx="3108960" cy="841248"/>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Score each path's impact</a:t>
            </a:r>
          </a:p>
        </p:txBody>
      </p:sp>
      <p:sp>
        <p:nvSpPr>
          <p:cNvPr id="15" name="TextBox 14"/>
          <p:cNvSpPr txBox="1"/>
          <p:nvPr/>
        </p:nvSpPr>
        <p:spPr>
          <a:xfrm>
            <a:off x="4709160" y="2816352"/>
            <a:ext cx="6766560" cy="841248"/>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Judge severity and asset criticality, informed by the stated engagement objectives.</a:t>
            </a:r>
          </a:p>
        </p:txBody>
      </p:sp>
      <p:sp>
        <p:nvSpPr>
          <p:cNvPr id="16" name="Rounded Rectangle 15"/>
          <p:cNvSpPr/>
          <p:nvPr/>
        </p:nvSpPr>
        <p:spPr>
          <a:xfrm>
            <a:off x="548640" y="3712464"/>
            <a:ext cx="685800" cy="841248"/>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3712464"/>
            <a:ext cx="685800" cy="841248"/>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3</a:t>
            </a:r>
          </a:p>
        </p:txBody>
      </p:sp>
      <p:sp>
        <p:nvSpPr>
          <p:cNvPr id="18" name="Rounded Rectangle 17"/>
          <p:cNvSpPr/>
          <p:nvPr/>
        </p:nvSpPr>
        <p:spPr>
          <a:xfrm>
            <a:off x="1371600" y="3712464"/>
            <a:ext cx="10268712"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600200" y="3712464"/>
            <a:ext cx="3108960" cy="841248"/>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Score each path's effort</a:t>
            </a:r>
          </a:p>
        </p:txBody>
      </p:sp>
      <p:sp>
        <p:nvSpPr>
          <p:cNvPr id="20" name="TextBox 19"/>
          <p:cNvSpPr txBox="1"/>
          <p:nvPr/>
        </p:nvSpPr>
        <p:spPr>
          <a:xfrm>
            <a:off x="4709160" y="3712464"/>
            <a:ext cx="6766560" cy="841248"/>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Judge technical complexity and how much of the path rests on confirmed versus hypothesised links.</a:t>
            </a:r>
          </a:p>
        </p:txBody>
      </p:sp>
      <p:sp>
        <p:nvSpPr>
          <p:cNvPr id="21" name="Rounded Rectangle 20"/>
          <p:cNvSpPr/>
          <p:nvPr/>
        </p:nvSpPr>
        <p:spPr>
          <a:xfrm>
            <a:off x="548640" y="4608576"/>
            <a:ext cx="685800" cy="841248"/>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4608576"/>
            <a:ext cx="685800" cy="841248"/>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4</a:t>
            </a:r>
          </a:p>
        </p:txBody>
      </p:sp>
      <p:sp>
        <p:nvSpPr>
          <p:cNvPr id="23" name="Rounded Rectangle 22"/>
          <p:cNvSpPr/>
          <p:nvPr/>
        </p:nvSpPr>
        <p:spPr>
          <a:xfrm>
            <a:off x="1371600" y="4608576"/>
            <a:ext cx="10268712"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600200" y="4608576"/>
            <a:ext cx="3108960" cy="841248"/>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Sort into the impact/effort priority order</a:t>
            </a:r>
          </a:p>
        </p:txBody>
      </p:sp>
      <p:sp>
        <p:nvSpPr>
          <p:cNvPr id="25" name="TextBox 24"/>
          <p:cNvSpPr txBox="1"/>
          <p:nvPr/>
        </p:nvSpPr>
        <p:spPr>
          <a:xfrm>
            <a:off x="4709160" y="4608576"/>
            <a:ext cx="6766560" cy="841248"/>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Apply the high-impact-low-effort-first heuristic to produce a ranked list.</a:t>
            </a:r>
          </a:p>
        </p:txBody>
      </p:sp>
      <p:sp>
        <p:nvSpPr>
          <p:cNvPr id="26" name="Rounded Rectangle 25"/>
          <p:cNvSpPr/>
          <p:nvPr/>
        </p:nvSpPr>
        <p:spPr>
          <a:xfrm>
            <a:off x="548640" y="5504688"/>
            <a:ext cx="685800" cy="841248"/>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8640" y="5504688"/>
            <a:ext cx="685800" cy="841248"/>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5</a:t>
            </a:r>
          </a:p>
        </p:txBody>
      </p:sp>
      <p:sp>
        <p:nvSpPr>
          <p:cNvPr id="28" name="Rounded Rectangle 27"/>
          <p:cNvSpPr/>
          <p:nvPr/>
        </p:nvSpPr>
        <p:spPr>
          <a:xfrm>
            <a:off x="1371600" y="5504688"/>
            <a:ext cx="10268712"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600200" y="5504688"/>
            <a:ext cx="3108960" cy="841248"/>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Revisit as exploitation produces new evidence</a:t>
            </a:r>
          </a:p>
        </p:txBody>
      </p:sp>
      <p:sp>
        <p:nvSpPr>
          <p:cNvPr id="30" name="TextBox 29"/>
          <p:cNvSpPr txBox="1"/>
          <p:nvPr/>
        </p:nvSpPr>
        <p:spPr>
          <a:xfrm>
            <a:off x="4709160" y="5504688"/>
            <a:ext cx="6766560" cy="841248"/>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Update the ranking whenever a confirmed finding changes a path's confidence or reveals a new candidate path.</a:t>
            </a:r>
          </a:p>
        </p:txBody>
      </p:sp>
      <p:sp>
        <p:nvSpPr>
          <p:cNvPr id="31" name="TextBox 30"/>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32" name="TextBox 31"/>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10.3 · PITFALLS</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Common prioritisation mistakes</a:t>
            </a:r>
          </a:p>
        </p:txBody>
      </p:sp>
      <p:sp>
        <p:nvSpPr>
          <p:cNvPr id="6" name="Rounded Rectangle 5"/>
          <p:cNvSpPr/>
          <p:nvPr/>
        </p:nvSpPr>
        <p:spPr>
          <a:xfrm>
            <a:off x="548640" y="182880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5681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CHASING THE MOST TECHNICALLY INTERESTING PATH FIRST</a:t>
            </a:r>
          </a:p>
        </p:txBody>
      </p:sp>
      <p:sp>
        <p:nvSpPr>
          <p:cNvPr id="8" name="TextBox 7"/>
          <p:cNvSpPr txBox="1"/>
          <p:nvPr/>
        </p:nvSpPr>
        <p:spPr>
          <a:xfrm>
            <a:off x="731520" y="237744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Novelty is not impact — an unusual technique against a low-value asset should not outrank a mundane one against a critical asset.</a:t>
            </a:r>
          </a:p>
        </p:txBody>
      </p:sp>
      <p:sp>
        <p:nvSpPr>
          <p:cNvPr id="9" name="Rounded Rectangle 8"/>
          <p:cNvSpPr/>
          <p:nvPr/>
        </p:nvSpPr>
        <p:spPr>
          <a:xfrm>
            <a:off x="6231636" y="182880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14516" y="195681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IGNORING EFFORT ENTIRELY</a:t>
            </a:r>
          </a:p>
        </p:txBody>
      </p:sp>
      <p:sp>
        <p:nvSpPr>
          <p:cNvPr id="11" name="TextBox 10"/>
          <p:cNvSpPr txBox="1"/>
          <p:nvPr/>
        </p:nvSpPr>
        <p:spPr>
          <a:xfrm>
            <a:off x="6414516" y="237744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A theoretically severe path that consumes the entire engagement window to attempt may return less demonstrated impact than two faster, slightly less severe paths.</a:t>
            </a:r>
          </a:p>
        </p:txBody>
      </p:sp>
      <p:sp>
        <p:nvSpPr>
          <p:cNvPr id="12" name="Rounded Rectangle 11"/>
          <p:cNvSpPr/>
          <p:nvPr/>
        </p:nvSpPr>
        <p:spPr>
          <a:xfrm>
            <a:off x="548640" y="402336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415137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TREATING HYPOTHESISED LINKS AS CONFIRMED</a:t>
            </a:r>
          </a:p>
        </p:txBody>
      </p:sp>
      <p:sp>
        <p:nvSpPr>
          <p:cNvPr id="14" name="TextBox 13"/>
          <p:cNvSpPr txBox="1"/>
          <p:nvPr/>
        </p:nvSpPr>
        <p:spPr>
          <a:xfrm>
            <a:off x="731520" y="457200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Building an entire prioritisation around an unverified assumption risks spending scarce time on a path that turns out not to hold.</a:t>
            </a:r>
          </a:p>
        </p:txBody>
      </p:sp>
      <p:sp>
        <p:nvSpPr>
          <p:cNvPr id="15" name="Rounded Rectangle 14"/>
          <p:cNvSpPr/>
          <p:nvPr/>
        </p:nvSpPr>
        <p:spPr>
          <a:xfrm>
            <a:off x="6231636" y="402336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4516" y="415137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NEVER REVISITING THE RANKING</a:t>
            </a:r>
          </a:p>
        </p:txBody>
      </p:sp>
      <p:sp>
        <p:nvSpPr>
          <p:cNvPr id="17" name="TextBox 16"/>
          <p:cNvSpPr txBox="1"/>
          <p:nvPr/>
        </p:nvSpPr>
        <p:spPr>
          <a:xfrm>
            <a:off x="6414516" y="457200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Treating the initial prioritisation as fixed, rather than updating it as exploitation reveals new evidence, wastes the adaptive advantage threat modeling provides.</a:t>
            </a:r>
          </a:p>
        </p:txBody>
      </p:sp>
      <p:sp>
        <p:nvSpPr>
          <p:cNvPr id="18" name="TextBox 17"/>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9" name="TextBox 18"/>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103120"/>
            <a:ext cx="10058400" cy="548640"/>
          </a:xfrm>
          <a:prstGeom prst="rect">
            <a:avLst/>
          </a:prstGeom>
          <a:noFill/>
        </p:spPr>
        <p:txBody>
          <a:bodyPr wrap="square" anchor="t" lIns="25400" rIns="25400" tIns="25400" bIns="25400">
            <a:spAutoFit/>
          </a:bodyPr>
          <a:lstStyle/>
          <a:p>
            <a:pPr algn="l">
              <a:spcBef>
                <a:spcPts val="0"/>
              </a:spcBef>
              <a:spcAft>
                <a:spcPts val="600"/>
              </a:spcAft>
            </a:pPr>
            <a:r>
              <a:rPr sz="1500" b="1">
                <a:solidFill>
                  <a:srgbClr val="FF6A00"/>
                </a:solidFill>
                <a:latin typeface="Segoe UI"/>
              </a:rPr>
              <a:t>OBJECTIVE 10.4</a:t>
            </a:r>
          </a:p>
        </p:txBody>
      </p:sp>
      <p:sp>
        <p:nvSpPr>
          <p:cNvPr id="5" name="TextBox 4"/>
          <p:cNvSpPr txBox="1"/>
          <p:nvPr/>
        </p:nvSpPr>
        <p:spPr>
          <a:xfrm>
            <a:off x="502920" y="2560320"/>
            <a:ext cx="3657600" cy="1463040"/>
          </a:xfrm>
          <a:prstGeom prst="rect">
            <a:avLst/>
          </a:prstGeom>
          <a:noFill/>
        </p:spPr>
        <p:txBody>
          <a:bodyPr wrap="square" anchor="t" lIns="25400" rIns="25400" tIns="25400" bIns="25400">
            <a:spAutoFit/>
          </a:bodyPr>
          <a:lstStyle/>
          <a:p>
            <a:pPr algn="l">
              <a:spcBef>
                <a:spcPts val="0"/>
              </a:spcBef>
              <a:spcAft>
                <a:spcPts val="600"/>
              </a:spcAft>
            </a:pPr>
            <a:r>
              <a:rPr sz="15000" b="1">
                <a:solidFill>
                  <a:srgbClr val="FF6A00"/>
                </a:solidFill>
                <a:latin typeface="Segoe UI"/>
              </a:rPr>
              <a:t>10.4</a:t>
            </a:r>
          </a:p>
        </p:txBody>
      </p:sp>
      <p:sp>
        <p:nvSpPr>
          <p:cNvPr id="6" name="TextBox 5"/>
          <p:cNvSpPr txBox="1"/>
          <p:nvPr/>
        </p:nvSpPr>
        <p:spPr>
          <a:xfrm>
            <a:off x="548640" y="4343400"/>
            <a:ext cx="10972800" cy="1280160"/>
          </a:xfrm>
          <a:prstGeom prst="rect">
            <a:avLst/>
          </a:prstGeom>
          <a:noFill/>
        </p:spPr>
        <p:txBody>
          <a:bodyPr wrap="square" anchor="t" lIns="25400" rIns="25400" tIns="25400" bIns="25400">
            <a:spAutoFit/>
          </a:bodyPr>
          <a:lstStyle/>
          <a:p>
            <a:pPr algn="l">
              <a:spcBef>
                <a:spcPts val="0"/>
              </a:spcBef>
              <a:spcAft>
                <a:spcPts val="600"/>
              </a:spcAft>
            </a:pPr>
            <a:r>
              <a:rPr sz="4000" b="1">
                <a:solidFill>
                  <a:srgbClr val="F5F7FB"/>
                </a:solidFill>
                <a:latin typeface="Segoe UI"/>
              </a:rPr>
              <a:t>Documenting the threat model as a kill chain</a:t>
            </a:r>
          </a:p>
        </p:txBody>
      </p:sp>
      <p:sp>
        <p:nvSpPr>
          <p:cNvPr id="7" name="TextBox 6"/>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8" name="TextBox 7"/>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10.4 · DEFINITION</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What is a kill chain, in the OSAI context?</a:t>
            </a:r>
          </a:p>
        </p:txBody>
      </p:sp>
      <p:sp>
        <p:nvSpPr>
          <p:cNvPr id="6" name="Rounded Rectangle 5"/>
          <p:cNvSpPr/>
          <p:nvPr/>
        </p:nvSpPr>
        <p:spPr>
          <a:xfrm>
            <a:off x="548640" y="1783080"/>
            <a:ext cx="11091672" cy="132588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920240"/>
            <a:ext cx="10607040" cy="1097280"/>
          </a:xfrm>
          <a:prstGeom prst="rect">
            <a:avLst/>
          </a:prstGeom>
          <a:noFill/>
        </p:spPr>
        <p:txBody>
          <a:bodyPr wrap="square" anchor="ctr" lIns="25400" rIns="25400" tIns="25400" bIns="25400">
            <a:spAutoFit/>
          </a:bodyPr>
          <a:lstStyle/>
          <a:p>
            <a:pPr algn="l">
              <a:spcBef>
                <a:spcPts val="0"/>
              </a:spcBef>
              <a:spcAft>
                <a:spcPts val="600"/>
              </a:spcAft>
            </a:pPr>
            <a:r>
              <a:rPr sz="1650" b="0">
                <a:solidFill>
                  <a:srgbClr val="F5F7FB"/>
                </a:solidFill>
                <a:latin typeface="Segoe UI"/>
              </a:rPr>
              <a:t>A kill chain is the documented, ordered narrative of an attack path — from initial access to demonstrated impact — expressed using a shared tactic-and-technique vocabulary so it can be understood, verified, and defended against by someone who did not perform the testing.</a:t>
            </a:r>
          </a:p>
        </p:txBody>
      </p:sp>
      <p:sp>
        <p:nvSpPr>
          <p:cNvPr id="8" name="Rounded Rectangle 7"/>
          <p:cNvSpPr/>
          <p:nvPr/>
        </p:nvSpPr>
        <p:spPr>
          <a:xfrm>
            <a:off x="548640"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DIRECT BACKLINK</a:t>
            </a:r>
          </a:p>
        </p:txBody>
      </p:sp>
      <p:sp>
        <p:nvSpPr>
          <p:cNvPr id="10" name="TextBox 9"/>
          <p:cNvSpPr txBox="1"/>
          <p:nvPr/>
        </p:nvSpPr>
        <p:spPr>
          <a:xfrm>
            <a:off x="749808"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Module 1, Objective 1.3 introduced MITRE ATLAS specifically as the framework for tagging each step of an AI kill chain with a recognised tactic.</a:t>
            </a:r>
          </a:p>
        </p:txBody>
      </p:sp>
      <p:sp>
        <p:nvSpPr>
          <p:cNvPr id="11" name="Rounded Rectangle 10"/>
          <p:cNvSpPr/>
          <p:nvPr/>
        </p:nvSpPr>
        <p:spPr>
          <a:xfrm>
            <a:off x="6231636"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32804"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WHY DOCUMENTATION FORM MATTERS</a:t>
            </a:r>
          </a:p>
        </p:txBody>
      </p:sp>
      <p:sp>
        <p:nvSpPr>
          <p:cNvPr id="13" name="TextBox 12"/>
          <p:cNvSpPr txBox="1"/>
          <p:nvPr/>
        </p:nvSpPr>
        <p:spPr>
          <a:xfrm>
            <a:off x="6432804"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An attack path that exists only as scattered notes is not yet usable by the rest of the engagement team, or credible to a client reading the final report.</a:t>
            </a:r>
          </a:p>
        </p:txBody>
      </p:sp>
      <p:sp>
        <p:nvSpPr>
          <p:cNvPr id="14" name="TextBox 13"/>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5" name="TextBox 14"/>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10.4 · ANATOMY</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What a well-documented attack path entry includes</a:t>
            </a:r>
          </a:p>
        </p:txBody>
      </p:sp>
      <p:sp>
        <p:nvSpPr>
          <p:cNvPr id="6" name="Rounded Rectangle 5"/>
          <p:cNvSpPr/>
          <p:nvPr/>
        </p:nvSpPr>
        <p:spPr>
          <a:xfrm>
            <a:off x="548640" y="182880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5681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OBJECTIVE AND STARTING POINT</a:t>
            </a:r>
          </a:p>
        </p:txBody>
      </p:sp>
      <p:sp>
        <p:nvSpPr>
          <p:cNvPr id="8" name="TextBox 7"/>
          <p:cNvSpPr txBox="1"/>
          <p:nvPr/>
        </p:nvSpPr>
        <p:spPr>
          <a:xfrm>
            <a:off x="731520" y="237744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Which stated engagement objective this path targets, and what starting access or leverage it assumes.</a:t>
            </a:r>
          </a:p>
        </p:txBody>
      </p:sp>
      <p:sp>
        <p:nvSpPr>
          <p:cNvPr id="9" name="Rounded Rectangle 8"/>
          <p:cNvSpPr/>
          <p:nvPr/>
        </p:nvSpPr>
        <p:spPr>
          <a:xfrm>
            <a:off x="6231636" y="182880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14516" y="195681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ORDERED STEPS WITH FRAMEWORK TAGS</a:t>
            </a:r>
          </a:p>
        </p:txBody>
      </p:sp>
      <p:sp>
        <p:nvSpPr>
          <p:cNvPr id="11" name="TextBox 10"/>
          <p:cNvSpPr txBox="1"/>
          <p:nvPr/>
        </p:nvSpPr>
        <p:spPr>
          <a:xfrm>
            <a:off x="6414516" y="237744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Each chained step, tagged with its OWASP LLM category and MITRE ATLAS tactic, per Module 1, Objective 1.3's convention.</a:t>
            </a:r>
          </a:p>
        </p:txBody>
      </p:sp>
      <p:sp>
        <p:nvSpPr>
          <p:cNvPr id="12" name="Rounded Rectangle 11"/>
          <p:cNvSpPr/>
          <p:nvPr/>
        </p:nvSpPr>
        <p:spPr>
          <a:xfrm>
            <a:off x="548640" y="402336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415137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CONFIDENCE PER LINK</a:t>
            </a:r>
          </a:p>
        </p:txBody>
      </p:sp>
      <p:sp>
        <p:nvSpPr>
          <p:cNvPr id="14" name="TextBox 13"/>
          <p:cNvSpPr txBox="1"/>
          <p:nvPr/>
        </p:nvSpPr>
        <p:spPr>
          <a:xfrm>
            <a:off x="731520" y="457200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Whether each step is confirmed or hypothesised, carried forward from Objective 10.2's chaining discipline.</a:t>
            </a:r>
          </a:p>
        </p:txBody>
      </p:sp>
      <p:sp>
        <p:nvSpPr>
          <p:cNvPr id="15" name="Rounded Rectangle 14"/>
          <p:cNvSpPr/>
          <p:nvPr/>
        </p:nvSpPr>
        <p:spPr>
          <a:xfrm>
            <a:off x="6231636" y="402336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4516" y="415137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IMPACT, EFFORT, AND RESULTING PRIORITY</a:t>
            </a:r>
          </a:p>
        </p:txBody>
      </p:sp>
      <p:sp>
        <p:nvSpPr>
          <p:cNvPr id="17" name="TextBox 16"/>
          <p:cNvSpPr txBox="1"/>
          <p:nvPr/>
        </p:nvSpPr>
        <p:spPr>
          <a:xfrm>
            <a:off x="6414516" y="457200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The Objective 10.3 scoring that justified this path's place in the ranked list.</a:t>
            </a:r>
          </a:p>
        </p:txBody>
      </p:sp>
      <p:sp>
        <p:nvSpPr>
          <p:cNvPr id="18" name="TextBox 17"/>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9" name="TextBox 18"/>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10.4 · CRITICAL DISTINCTION</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A documented kill chain vs a raw findings list</a:t>
            </a:r>
          </a:p>
        </p:txBody>
      </p:sp>
      <p:sp>
        <p:nvSpPr>
          <p:cNvPr id="6" name="Rounded Rectangle 5"/>
          <p:cNvSpPr/>
          <p:nvPr/>
        </p:nvSpPr>
        <p:spPr>
          <a:xfrm>
            <a:off x="548640" y="1828800"/>
            <a:ext cx="5257800" cy="3246120"/>
          </a:xfrm>
          <a:prstGeom prst="roundRect">
            <a:avLst/>
          </a:prstGeom>
          <a:solidFill>
            <a:srgbClr val="141519"/>
          </a:solidFill>
          <a:ln w="20320">
            <a:solidFill>
              <a:srgbClr val="FF6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011680"/>
            <a:ext cx="4800600" cy="640080"/>
          </a:xfrm>
          <a:prstGeom prst="rect">
            <a:avLst/>
          </a:prstGeom>
          <a:noFill/>
        </p:spPr>
        <p:txBody>
          <a:bodyPr wrap="square" anchor="t" lIns="25400" rIns="25400" tIns="25400" bIns="25400">
            <a:spAutoFit/>
          </a:bodyPr>
          <a:lstStyle/>
          <a:p>
            <a:pPr algn="l">
              <a:spcBef>
                <a:spcPts val="0"/>
              </a:spcBef>
              <a:spcAft>
                <a:spcPts val="600"/>
              </a:spcAft>
            </a:pPr>
            <a:r>
              <a:rPr sz="2000" b="1">
                <a:solidFill>
                  <a:srgbClr val="F5F7FB"/>
                </a:solidFill>
                <a:latin typeface="Segoe UI"/>
              </a:rPr>
              <a:t>Raw findings list</a:t>
            </a:r>
          </a:p>
        </p:txBody>
      </p:sp>
      <p:sp>
        <p:nvSpPr>
          <p:cNvPr id="8" name="TextBox 7"/>
          <p:cNvSpPr txBox="1"/>
          <p:nvPr/>
        </p:nvSpPr>
        <p:spPr>
          <a:xfrm>
            <a:off x="777240" y="2743200"/>
            <a:ext cx="4800600" cy="2148840"/>
          </a:xfrm>
          <a:prstGeom prst="rect">
            <a:avLst/>
          </a:prstGeom>
          <a:noFill/>
        </p:spPr>
        <p:txBody>
          <a:bodyPr wrap="square" anchor="t" lIns="25400" rIns="25400" tIns="25400" bIns="25400">
            <a:spAutoFit/>
          </a:bodyPr>
          <a:lstStyle/>
          <a:p>
            <a:pPr algn="l">
              <a:spcBef>
                <a:spcPts val="0"/>
              </a:spcBef>
              <a:spcAft>
                <a:spcPts val="800"/>
              </a:spcAft>
            </a:pPr>
            <a:r>
              <a:rPr sz="1400" b="1">
                <a:solidFill>
                  <a:srgbClr val="FF6A00"/>
                </a:solidFill>
                <a:latin typeface="Segoe UI"/>
              </a:rPr>
              <a:t>•  </a:t>
            </a:r>
            <a:r>
              <a:rPr sz="1400" b="0">
                <a:solidFill>
                  <a:srgbClr val="B8C0CF"/>
                </a:solidFill>
                <a:latin typeface="Segoe UI"/>
              </a:rPr>
              <a:t>Each weakness listed independently</a:t>
            </a:r>
          </a:p>
          <a:p>
            <a:pPr algn="l">
              <a:spcBef>
                <a:spcPts val="0"/>
              </a:spcBef>
              <a:spcAft>
                <a:spcPts val="800"/>
              </a:spcAft>
            </a:pPr>
            <a:r>
              <a:rPr sz="1400" b="1">
                <a:solidFill>
                  <a:srgbClr val="FF6A00"/>
                </a:solidFill>
                <a:latin typeface="Segoe UI"/>
              </a:rPr>
              <a:t>•  </a:t>
            </a:r>
            <a:r>
              <a:rPr sz="1400" b="0">
                <a:solidFill>
                  <a:srgbClr val="B8C0CF"/>
                </a:solidFill>
                <a:latin typeface="Segoe UI"/>
              </a:rPr>
              <a:t>No stated relationship between entries</a:t>
            </a:r>
          </a:p>
          <a:p>
            <a:pPr algn="l">
              <a:spcBef>
                <a:spcPts val="0"/>
              </a:spcBef>
              <a:spcAft>
                <a:spcPts val="800"/>
              </a:spcAft>
            </a:pPr>
            <a:r>
              <a:rPr sz="1400" b="1">
                <a:solidFill>
                  <a:srgbClr val="FF6A00"/>
                </a:solidFill>
                <a:latin typeface="Segoe UI"/>
              </a:rPr>
              <a:t>•  </a:t>
            </a:r>
            <a:r>
              <a:rPr sz="1400" b="0">
                <a:solidFill>
                  <a:srgbClr val="B8C0CF"/>
                </a:solidFill>
                <a:latin typeface="Segoe UI"/>
              </a:rPr>
              <a:t>Reader must infer how findings combine, if at all</a:t>
            </a:r>
          </a:p>
          <a:p>
            <a:pPr algn="l">
              <a:spcBef>
                <a:spcPts val="0"/>
              </a:spcBef>
              <a:spcAft>
                <a:spcPts val="800"/>
              </a:spcAft>
            </a:pPr>
            <a:r>
              <a:rPr sz="1400" b="1">
                <a:solidFill>
                  <a:srgbClr val="FF6A00"/>
                </a:solidFill>
                <a:latin typeface="Segoe UI"/>
              </a:rPr>
              <a:t>•  </a:t>
            </a:r>
            <a:r>
              <a:rPr sz="1400" b="0">
                <a:solidFill>
                  <a:srgbClr val="B8C0CF"/>
                </a:solidFill>
                <a:latin typeface="Segoe UI"/>
              </a:rPr>
              <a:t>Under-represents chained, multi-layer risk</a:t>
            </a:r>
          </a:p>
        </p:txBody>
      </p:sp>
      <p:sp>
        <p:nvSpPr>
          <p:cNvPr id="9" name="Rounded Rectangle 8"/>
          <p:cNvSpPr/>
          <p:nvPr/>
        </p:nvSpPr>
        <p:spPr>
          <a:xfrm>
            <a:off x="6382512" y="1828800"/>
            <a:ext cx="5257800" cy="324612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11112" y="2011680"/>
            <a:ext cx="4800600" cy="640080"/>
          </a:xfrm>
          <a:prstGeom prst="rect">
            <a:avLst/>
          </a:prstGeom>
          <a:noFill/>
        </p:spPr>
        <p:txBody>
          <a:bodyPr wrap="square" anchor="t" lIns="25400" rIns="25400" tIns="25400" bIns="25400">
            <a:spAutoFit/>
          </a:bodyPr>
          <a:lstStyle/>
          <a:p>
            <a:pPr algn="l">
              <a:spcBef>
                <a:spcPts val="0"/>
              </a:spcBef>
              <a:spcAft>
                <a:spcPts val="600"/>
              </a:spcAft>
            </a:pPr>
            <a:r>
              <a:rPr sz="2000" b="1">
                <a:solidFill>
                  <a:srgbClr val="F5F7FB"/>
                </a:solidFill>
                <a:latin typeface="Segoe UI"/>
              </a:rPr>
              <a:t>Documented kill chain</a:t>
            </a:r>
          </a:p>
        </p:txBody>
      </p:sp>
      <p:sp>
        <p:nvSpPr>
          <p:cNvPr id="11" name="TextBox 10"/>
          <p:cNvSpPr txBox="1"/>
          <p:nvPr/>
        </p:nvSpPr>
        <p:spPr>
          <a:xfrm>
            <a:off x="6611112" y="2743200"/>
            <a:ext cx="4800600" cy="2148840"/>
          </a:xfrm>
          <a:prstGeom prst="rect">
            <a:avLst/>
          </a:prstGeom>
          <a:noFill/>
        </p:spPr>
        <p:txBody>
          <a:bodyPr wrap="square" anchor="t" lIns="25400" rIns="25400" tIns="25400" bIns="25400">
            <a:spAutoFit/>
          </a:bodyPr>
          <a:lstStyle/>
          <a:p>
            <a:pPr algn="l">
              <a:spcBef>
                <a:spcPts val="0"/>
              </a:spcBef>
              <a:spcAft>
                <a:spcPts val="800"/>
              </a:spcAft>
            </a:pPr>
            <a:r>
              <a:rPr sz="1400" b="1">
                <a:solidFill>
                  <a:srgbClr val="FF6A00"/>
                </a:solidFill>
                <a:latin typeface="Segoe UI"/>
              </a:rPr>
              <a:t>•  </a:t>
            </a:r>
            <a:r>
              <a:rPr sz="1400" b="0">
                <a:solidFill>
                  <a:srgbClr val="B8C0CF"/>
                </a:solidFill>
                <a:latin typeface="Segoe UI"/>
              </a:rPr>
              <a:t>Weaknesses ordered as a narrative toward an objective</a:t>
            </a:r>
          </a:p>
          <a:p>
            <a:pPr algn="l">
              <a:spcBef>
                <a:spcPts val="0"/>
              </a:spcBef>
              <a:spcAft>
                <a:spcPts val="800"/>
              </a:spcAft>
            </a:pPr>
            <a:r>
              <a:rPr sz="1400" b="1">
                <a:solidFill>
                  <a:srgbClr val="FF6A00"/>
                </a:solidFill>
                <a:latin typeface="Segoe UI"/>
              </a:rPr>
              <a:t>•  </a:t>
            </a:r>
            <a:r>
              <a:rPr sz="1400" b="0">
                <a:solidFill>
                  <a:srgbClr val="B8C0CF"/>
                </a:solidFill>
                <a:latin typeface="Segoe UI"/>
              </a:rPr>
              <a:t>Explicit chaining relationships between entries</a:t>
            </a:r>
          </a:p>
          <a:p>
            <a:pPr algn="l">
              <a:spcBef>
                <a:spcPts val="0"/>
              </a:spcBef>
              <a:spcAft>
                <a:spcPts val="800"/>
              </a:spcAft>
            </a:pPr>
            <a:r>
              <a:rPr sz="1400" b="1">
                <a:solidFill>
                  <a:srgbClr val="FF6A00"/>
                </a:solidFill>
                <a:latin typeface="Segoe UI"/>
              </a:rPr>
              <a:t>•  </a:t>
            </a:r>
            <a:r>
              <a:rPr sz="1400" b="0">
                <a:solidFill>
                  <a:srgbClr val="B8C0CF"/>
                </a:solidFill>
                <a:latin typeface="Segoe UI"/>
              </a:rPr>
              <a:t>Reader can follow cause and effect without inference</a:t>
            </a:r>
          </a:p>
          <a:p>
            <a:pPr algn="l">
              <a:spcBef>
                <a:spcPts val="0"/>
              </a:spcBef>
              <a:spcAft>
                <a:spcPts val="800"/>
              </a:spcAft>
            </a:pPr>
            <a:r>
              <a:rPr sz="1400" b="1">
                <a:solidFill>
                  <a:srgbClr val="FF6A00"/>
                </a:solidFill>
                <a:latin typeface="Segoe UI"/>
              </a:rPr>
              <a:t>•  </a:t>
            </a:r>
            <a:r>
              <a:rPr sz="1400" b="0">
                <a:solidFill>
                  <a:srgbClr val="B8C0CF"/>
                </a:solidFill>
                <a:latin typeface="Segoe UI"/>
              </a:rPr>
              <a:t>Accurately represents the real, demonstrated impact</a:t>
            </a:r>
          </a:p>
        </p:txBody>
      </p:sp>
      <p:sp>
        <p:nvSpPr>
          <p:cNvPr id="12" name="Rounded Rectangle 11"/>
          <p:cNvSpPr/>
          <p:nvPr/>
        </p:nvSpPr>
        <p:spPr>
          <a:xfrm>
            <a:off x="5742432" y="3063240"/>
            <a:ext cx="777240" cy="777240"/>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742432" y="3063240"/>
            <a:ext cx="777240" cy="777240"/>
          </a:xfrm>
          <a:prstGeom prst="rect">
            <a:avLst/>
          </a:prstGeom>
          <a:noFill/>
        </p:spPr>
        <p:txBody>
          <a:bodyPr wrap="square" anchor="ctr" lIns="25400" rIns="25400" tIns="25400" bIns="25400">
            <a:spAutoFit/>
          </a:bodyPr>
          <a:lstStyle/>
          <a:p>
            <a:pPr algn="ctr">
              <a:spcBef>
                <a:spcPts val="0"/>
              </a:spcBef>
              <a:spcAft>
                <a:spcPts val="600"/>
              </a:spcAft>
            </a:pPr>
            <a:r>
              <a:rPr sz="1800" b="1">
                <a:solidFill>
                  <a:srgbClr val="0C0D10"/>
                </a:solidFill>
                <a:latin typeface="Segoe UI"/>
              </a:rPr>
              <a:t>VS</a:t>
            </a:r>
          </a:p>
        </p:txBody>
      </p:sp>
      <p:sp>
        <p:nvSpPr>
          <p:cNvPr id="14" name="Rounded Rectangle 13"/>
          <p:cNvSpPr/>
          <p:nvPr/>
        </p:nvSpPr>
        <p:spPr>
          <a:xfrm>
            <a:off x="548640" y="5257800"/>
            <a:ext cx="11091672" cy="868680"/>
          </a:xfrm>
          <a:prstGeom prst="roundRect">
            <a:avLst/>
          </a:prstGeom>
          <a:solidFill>
            <a:srgbClr val="1A1208"/>
          </a:solidFill>
          <a:ln w="12700">
            <a:solidFill>
              <a:srgbClr val="B851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5303520"/>
            <a:ext cx="10607040" cy="777240"/>
          </a:xfrm>
          <a:prstGeom prst="rect">
            <a:avLst/>
          </a:prstGeom>
          <a:noFill/>
        </p:spPr>
        <p:txBody>
          <a:bodyPr wrap="square" anchor="ctr" lIns="25400" rIns="25400" tIns="25400" bIns="25400">
            <a:spAutoFit/>
          </a:bodyPr>
          <a:lstStyle/>
          <a:p>
            <a:pPr algn="l">
              <a:spcBef>
                <a:spcPts val="0"/>
              </a:spcBef>
              <a:spcAft>
                <a:spcPts val="600"/>
              </a:spcAft>
            </a:pPr>
            <a:r>
              <a:rPr sz="1250" b="1">
                <a:solidFill>
                  <a:srgbClr val="FF6A00"/>
                </a:solidFill>
                <a:latin typeface="Segoe UI"/>
              </a:rPr>
              <a:t>KEY DISTINCTION  </a:t>
            </a:r>
            <a:r>
              <a:rPr sz="1350" b="0">
                <a:solidFill>
                  <a:srgbClr val="F5F7FB"/>
                </a:solidFill>
                <a:latin typeface="Segoe UI"/>
              </a:rPr>
              <a:t>The exam-relevant point: a report built from a threat model reads as a coherent narrative of demonstrated impact; a report built from an unordered findings list reads as a checklist — the difference is exactly what OSAI's engagement-based grading rewards.</a:t>
            </a:r>
          </a:p>
        </p:txBody>
      </p:sp>
      <p:sp>
        <p:nvSpPr>
          <p:cNvPr id="16" name="TextBox 15"/>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7" name="TextBox 16"/>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10.4 · HANDOFF</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From threat model to the exploitation phase</a:t>
            </a:r>
          </a:p>
        </p:txBody>
      </p:sp>
      <p:sp>
        <p:nvSpPr>
          <p:cNvPr id="6" name="Rounded Rectangle 5"/>
          <p:cNvSpPr/>
          <p:nvPr/>
        </p:nvSpPr>
        <p:spPr>
          <a:xfrm>
            <a:off x="548640" y="1783080"/>
            <a:ext cx="11091672" cy="132588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920240"/>
            <a:ext cx="10607040" cy="1097280"/>
          </a:xfrm>
          <a:prstGeom prst="rect">
            <a:avLst/>
          </a:prstGeom>
          <a:noFill/>
        </p:spPr>
        <p:txBody>
          <a:bodyPr wrap="square" anchor="ctr" lIns="25400" rIns="25400" tIns="25400" bIns="25400">
            <a:spAutoFit/>
          </a:bodyPr>
          <a:lstStyle/>
          <a:p>
            <a:pPr algn="l">
              <a:spcBef>
                <a:spcPts val="0"/>
              </a:spcBef>
              <a:spcAft>
                <a:spcPts val="600"/>
              </a:spcAft>
            </a:pPr>
            <a:r>
              <a:rPr sz="1650" b="0">
                <a:solidFill>
                  <a:srgbClr val="F5F7FB"/>
                </a:solidFill>
                <a:latin typeface="Segoe UI"/>
              </a:rPr>
              <a:t>The completed, ranked kill-chain document is the direct handoff into the exploitation phase: the team executes paths in priority order, using the specific techniques from Modules 3 to 9 that each path's steps already named.</a:t>
            </a:r>
          </a:p>
        </p:txBody>
      </p:sp>
      <p:sp>
        <p:nvSpPr>
          <p:cNvPr id="8" name="Rounded Rectangle 7"/>
          <p:cNvSpPr/>
          <p:nvPr/>
        </p:nvSpPr>
        <p:spPr>
          <a:xfrm>
            <a:off x="548640"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WHAT EXPLOITATION SHOULD NOT NEED TO DO</a:t>
            </a:r>
          </a:p>
        </p:txBody>
      </p:sp>
      <p:sp>
        <p:nvSpPr>
          <p:cNvPr id="10" name="TextBox 9"/>
          <p:cNvSpPr txBox="1"/>
          <p:nvPr/>
        </p:nvSpPr>
        <p:spPr>
          <a:xfrm>
            <a:off x="749808"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Re-derive which technique to try next — that decision was already made and justified during threat modeling, not improvised during exploitation.</a:t>
            </a:r>
          </a:p>
        </p:txBody>
      </p:sp>
      <p:sp>
        <p:nvSpPr>
          <p:cNvPr id="11" name="Rounded Rectangle 10"/>
          <p:cNvSpPr/>
          <p:nvPr/>
        </p:nvSpPr>
        <p:spPr>
          <a:xfrm>
            <a:off x="6231636"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32804"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WHAT EXPLOITATION STILL OWES BACK</a:t>
            </a:r>
          </a:p>
        </p:txBody>
      </p:sp>
      <p:sp>
        <p:nvSpPr>
          <p:cNvPr id="13" name="TextBox 12"/>
          <p:cNvSpPr txBox="1"/>
          <p:nvPr/>
        </p:nvSpPr>
        <p:spPr>
          <a:xfrm>
            <a:off x="6432804"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Confirmation or disconfirmation of every hypothesised link, feeding directly back into Objective 10.3's ranking for any remaining, unexecuted paths.</a:t>
            </a:r>
          </a:p>
        </p:txBody>
      </p:sp>
      <p:sp>
        <p:nvSpPr>
          <p:cNvPr id="14" name="TextBox 13"/>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5" name="TextBox 14"/>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ACRONYM SPOTLIGHT</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Key acronyms for this module</a:t>
            </a:r>
          </a:p>
        </p:txBody>
      </p:sp>
      <p:graphicFrame>
        <p:nvGraphicFramePr>
          <p:cNvPr id="6" name="Table 5"/>
          <p:cNvGraphicFramePr>
            <a:graphicFrameLocks noGrp="1"/>
          </p:cNvGraphicFramePr>
          <p:nvPr/>
        </p:nvGraphicFramePr>
        <p:xfrm>
          <a:off x="548640" y="1828800"/>
          <a:ext cx="11091672" cy="2834640"/>
        </p:xfrm>
        <a:graphic>
          <a:graphicData uri="http://schemas.openxmlformats.org/drawingml/2006/table">
            <a:tbl>
              <a:tblPr>
                <a:tableStyleId>{5C22544A-7EE6-4342-B048-85BDC9FD1C3A}</a:tableStyleId>
              </a:tblPr>
              <a:tblGrid>
                <a:gridCol w="3697224"/>
                <a:gridCol w="3697224"/>
                <a:gridCol w="3697224"/>
              </a:tblGrid>
              <a:tr h="472440">
                <a:tc>
                  <a:txBody>
                    <a:bodyPr wrap="square"/>
                    <a:lstStyle/>
                    <a:p>
                      <a:r>
                        <a:rPr sz="1300" b="1">
                          <a:solidFill>
                            <a:srgbClr val="F5F7FB"/>
                          </a:solidFill>
                          <a:latin typeface="Segoe UI"/>
                        </a:rPr>
                        <a:t>Acronym</a:t>
                      </a:r>
                    </a:p>
                  </a:txBody>
                  <a:tcPr marL="101600" marR="101600" marT="50800" marB="50800" anchor="ctr">
                    <a:solidFill>
                      <a:srgbClr val="3A2410"/>
                    </a:solidFill>
                  </a:tcPr>
                </a:tc>
                <a:tc>
                  <a:txBody>
                    <a:bodyPr wrap="square"/>
                    <a:lstStyle/>
                    <a:p>
                      <a:r>
                        <a:rPr sz="1300" b="1">
                          <a:solidFill>
                            <a:srgbClr val="F5F7FB"/>
                          </a:solidFill>
                          <a:latin typeface="Segoe UI"/>
                        </a:rPr>
                        <a:t>Expansion</a:t>
                      </a:r>
                    </a:p>
                  </a:txBody>
                  <a:tcPr marL="101600" marR="101600" marT="50800" marB="50800" anchor="ctr">
                    <a:solidFill>
                      <a:srgbClr val="3A2410"/>
                    </a:solidFill>
                  </a:tcPr>
                </a:tc>
                <a:tc>
                  <a:txBody>
                    <a:bodyPr wrap="square"/>
                    <a:lstStyle/>
                    <a:p>
                      <a:r>
                        <a:rPr sz="1300" b="1">
                          <a:solidFill>
                            <a:srgbClr val="F5F7FB"/>
                          </a:solidFill>
                          <a:latin typeface="Segoe UI"/>
                        </a:rPr>
                        <a:t>Meaning in context</a:t>
                      </a:r>
                    </a:p>
                  </a:txBody>
                  <a:tcPr marL="101600" marR="101600" marT="50800" marB="50800" anchor="ctr">
                    <a:solidFill>
                      <a:srgbClr val="3A2410"/>
                    </a:solidFill>
                  </a:tcPr>
                </a:tc>
              </a:tr>
              <a:tr h="472440">
                <a:tc>
                  <a:txBody>
                    <a:bodyPr wrap="square"/>
                    <a:lstStyle/>
                    <a:p>
                      <a:r>
                        <a:rPr sz="1200" b="1">
                          <a:solidFill>
                            <a:srgbClr val="F5F7FB"/>
                          </a:solidFill>
                          <a:latin typeface="Segoe UI"/>
                        </a:rPr>
                        <a:t>ATLAS</a:t>
                      </a:r>
                    </a:p>
                  </a:txBody>
                  <a:tcPr marL="101600" marR="101600" marT="50800" marB="50800" anchor="ctr">
                    <a:solidFill>
                      <a:srgbClr val="121319"/>
                    </a:solidFill>
                  </a:tcPr>
                </a:tc>
                <a:tc>
                  <a:txBody>
                    <a:bodyPr wrap="square"/>
                    <a:lstStyle/>
                    <a:p>
                      <a:r>
                        <a:rPr sz="1200" b="0">
                          <a:solidFill>
                            <a:srgbClr val="B8C0CF"/>
                          </a:solidFill>
                          <a:latin typeface="Segoe UI"/>
                        </a:rPr>
                        <a:t>Adversarial Threat Landscape for AI Systems (MITRE)</a:t>
                      </a:r>
                    </a:p>
                  </a:txBody>
                  <a:tcPr marL="101600" marR="101600" marT="50800" marB="50800" anchor="ctr">
                    <a:solidFill>
                      <a:srgbClr val="121319"/>
                    </a:solidFill>
                  </a:tcPr>
                </a:tc>
                <a:tc>
                  <a:txBody>
                    <a:bodyPr wrap="square"/>
                    <a:lstStyle/>
                    <a:p>
                      <a:r>
                        <a:rPr sz="1200" b="0">
                          <a:solidFill>
                            <a:srgbClr val="B8C0CF"/>
                          </a:solidFill>
                          <a:latin typeface="Segoe UI"/>
                        </a:rPr>
                        <a:t>The tactic-and-technique vocabulary used to tag every step of a documented kill chain</a:t>
                      </a:r>
                    </a:p>
                  </a:txBody>
                  <a:tcPr marL="101600" marR="101600" marT="50800" marB="50800" anchor="ctr">
                    <a:solidFill>
                      <a:srgbClr val="121319"/>
                    </a:solidFill>
                  </a:tcPr>
                </a:tc>
              </a:tr>
              <a:tr h="472440">
                <a:tc>
                  <a:txBody>
                    <a:bodyPr wrap="square"/>
                    <a:lstStyle/>
                    <a:p>
                      <a:r>
                        <a:rPr sz="1200" b="1">
                          <a:solidFill>
                            <a:srgbClr val="F5F7FB"/>
                          </a:solidFill>
                          <a:latin typeface="Segoe UI"/>
                        </a:rPr>
                        <a:t>OWASP</a:t>
                      </a:r>
                    </a:p>
                  </a:txBody>
                  <a:tcPr marL="101600" marR="101600" marT="50800" marB="50800" anchor="ctr">
                    <a:solidFill>
                      <a:srgbClr val="141519"/>
                    </a:solidFill>
                  </a:tcPr>
                </a:tc>
                <a:tc>
                  <a:txBody>
                    <a:bodyPr wrap="square"/>
                    <a:lstStyle/>
                    <a:p>
                      <a:r>
                        <a:rPr sz="1200" b="0">
                          <a:solidFill>
                            <a:srgbClr val="B8C0CF"/>
                          </a:solidFill>
                          <a:latin typeface="Segoe UI"/>
                        </a:rPr>
                        <a:t>Open Worldwide Application Security Project</a:t>
                      </a:r>
                    </a:p>
                  </a:txBody>
                  <a:tcPr marL="101600" marR="101600" marT="50800" marB="50800" anchor="ctr">
                    <a:solidFill>
                      <a:srgbClr val="141519"/>
                    </a:solidFill>
                  </a:tcPr>
                </a:tc>
                <a:tc>
                  <a:txBody>
                    <a:bodyPr wrap="square"/>
                    <a:lstStyle/>
                    <a:p>
                      <a:r>
                        <a:rPr sz="1200" b="0">
                          <a:solidFill>
                            <a:srgbClr val="B8C0CF"/>
                          </a:solidFill>
                          <a:latin typeface="Segoe UI"/>
                        </a:rPr>
                        <a:t>Publisher of the Top 10 for LLM Applications, cited per step alongside ATLAS tactics</a:t>
                      </a:r>
                    </a:p>
                  </a:txBody>
                  <a:tcPr marL="101600" marR="101600" marT="50800" marB="50800" anchor="ctr">
                    <a:solidFill>
                      <a:srgbClr val="141519"/>
                    </a:solidFill>
                  </a:tcPr>
                </a:tc>
              </a:tr>
              <a:tr h="472440">
                <a:tc>
                  <a:txBody>
                    <a:bodyPr wrap="square"/>
                    <a:lstStyle/>
                    <a:p>
                      <a:r>
                        <a:rPr sz="1200" b="1">
                          <a:solidFill>
                            <a:srgbClr val="F5F7FB"/>
                          </a:solidFill>
                          <a:latin typeface="Segoe UI"/>
                        </a:rPr>
                        <a:t>RMF</a:t>
                      </a:r>
                    </a:p>
                  </a:txBody>
                  <a:tcPr marL="101600" marR="101600" marT="50800" marB="50800" anchor="ctr">
                    <a:solidFill>
                      <a:srgbClr val="121319"/>
                    </a:solidFill>
                  </a:tcPr>
                </a:tc>
                <a:tc>
                  <a:txBody>
                    <a:bodyPr wrap="square"/>
                    <a:lstStyle/>
                    <a:p>
                      <a:r>
                        <a:rPr sz="1200" b="0">
                          <a:solidFill>
                            <a:srgbClr val="B8C0CF"/>
                          </a:solidFill>
                          <a:latin typeface="Segoe UI"/>
                        </a:rPr>
                        <a:t>Risk Management Framework (NIST AI RMF)</a:t>
                      </a:r>
                    </a:p>
                  </a:txBody>
                  <a:tcPr marL="101600" marR="101600" marT="50800" marB="50800" anchor="ctr">
                    <a:solidFill>
                      <a:srgbClr val="121319"/>
                    </a:solidFill>
                  </a:tcPr>
                </a:tc>
                <a:tc>
                  <a:txBody>
                    <a:bodyPr wrap="square"/>
                    <a:lstStyle/>
                    <a:p>
                      <a:r>
                        <a:rPr sz="1200" b="0">
                          <a:solidFill>
                            <a:srgbClr val="B8C0CF"/>
                          </a:solidFill>
                          <a:latin typeface="Segoe UI"/>
                        </a:rPr>
                        <a:t>The third framework from Module 1, Objective 1.3, useful for executive-level impact framing</a:t>
                      </a:r>
                    </a:p>
                  </a:txBody>
                  <a:tcPr marL="101600" marR="101600" marT="50800" marB="50800" anchor="ctr">
                    <a:solidFill>
                      <a:srgbClr val="121319"/>
                    </a:solidFill>
                  </a:tcPr>
                </a:tc>
              </a:tr>
              <a:tr h="472440">
                <a:tc>
                  <a:txBody>
                    <a:bodyPr wrap="square"/>
                    <a:lstStyle/>
                    <a:p>
                      <a:r>
                        <a:rPr sz="1200" b="1">
                          <a:solidFill>
                            <a:srgbClr val="F5F7FB"/>
                          </a:solidFill>
                          <a:latin typeface="Segoe UI"/>
                        </a:rPr>
                        <a:t>TTP</a:t>
                      </a:r>
                    </a:p>
                  </a:txBody>
                  <a:tcPr marL="101600" marR="101600" marT="50800" marB="50800" anchor="ctr">
                    <a:solidFill>
                      <a:srgbClr val="141519"/>
                    </a:solidFill>
                  </a:tcPr>
                </a:tc>
                <a:tc>
                  <a:txBody>
                    <a:bodyPr wrap="square"/>
                    <a:lstStyle/>
                    <a:p>
                      <a:r>
                        <a:rPr sz="1200" b="0">
                          <a:solidFill>
                            <a:srgbClr val="B8C0CF"/>
                          </a:solidFill>
                          <a:latin typeface="Segoe UI"/>
                        </a:rPr>
                        <a:t>Tactics, Techniques, Procedures</a:t>
                      </a:r>
                    </a:p>
                  </a:txBody>
                  <a:tcPr marL="101600" marR="101600" marT="50800" marB="50800" anchor="ctr">
                    <a:solidFill>
                      <a:srgbClr val="141519"/>
                    </a:solidFill>
                  </a:tcPr>
                </a:tc>
                <a:tc>
                  <a:txBody>
                    <a:bodyPr wrap="square"/>
                    <a:lstStyle/>
                    <a:p>
                      <a:r>
                        <a:rPr sz="1200" b="0">
                          <a:solidFill>
                            <a:srgbClr val="B8C0CF"/>
                          </a:solidFill>
                          <a:latin typeface="Segoe UI"/>
                        </a:rPr>
                        <a:t>The general vocabulary a kill-chain narrative is expressed in</a:t>
                      </a:r>
                    </a:p>
                  </a:txBody>
                  <a:tcPr marL="101600" marR="101600" marT="50800" marB="50800" anchor="ctr">
                    <a:solidFill>
                      <a:srgbClr val="141519"/>
                    </a:solidFill>
                  </a:tcPr>
                </a:tc>
              </a:tr>
              <a:tr h="472440">
                <a:tc>
                  <a:txBody>
                    <a:bodyPr wrap="square"/>
                    <a:lstStyle/>
                    <a:p>
                      <a:r>
                        <a:rPr sz="1200" b="1">
                          <a:solidFill>
                            <a:srgbClr val="F5F7FB"/>
                          </a:solidFill>
                          <a:latin typeface="Segoe UI"/>
                        </a:rPr>
                        <a:t>RoE</a:t>
                      </a:r>
                    </a:p>
                  </a:txBody>
                  <a:tcPr marL="101600" marR="101600" marT="50800" marB="50800" anchor="ctr">
                    <a:solidFill>
                      <a:srgbClr val="121319"/>
                    </a:solidFill>
                  </a:tcPr>
                </a:tc>
                <a:tc>
                  <a:txBody>
                    <a:bodyPr wrap="square"/>
                    <a:lstStyle/>
                    <a:p>
                      <a:r>
                        <a:rPr sz="1200" b="0">
                          <a:solidFill>
                            <a:srgbClr val="B8C0CF"/>
                          </a:solidFill>
                          <a:latin typeface="Segoe UI"/>
                        </a:rPr>
                        <a:t>Rules of Engagement</a:t>
                      </a:r>
                    </a:p>
                  </a:txBody>
                  <a:tcPr marL="101600" marR="101600" marT="50800" marB="50800" anchor="ctr">
                    <a:solidFill>
                      <a:srgbClr val="121319"/>
                    </a:solidFill>
                  </a:tcPr>
                </a:tc>
                <a:tc>
                  <a:txBody>
                    <a:bodyPr wrap="square"/>
                    <a:lstStyle/>
                    <a:p>
                      <a:r>
                        <a:rPr sz="1200" b="0">
                          <a:solidFill>
                            <a:srgbClr val="B8C0CF"/>
                          </a:solidFill>
                          <a:latin typeface="Segoe UI"/>
                        </a:rPr>
                        <a:t>The scoping document from Module 1, Objective 1.4 that supplies threat modeling's objectives input</a:t>
                      </a:r>
                    </a:p>
                  </a:txBody>
                  <a:tcPr marL="101600" marR="101600" marT="50800" marB="50800" anchor="ctr">
                    <a:solidFill>
                      <a:srgbClr val="121319"/>
                    </a:solidFill>
                  </a:tcPr>
                </a:tc>
              </a:tr>
            </a:tbl>
          </a:graphicData>
        </a:graphic>
      </p:graphicFrame>
      <p:sp>
        <p:nvSpPr>
          <p:cNvPr id="7" name="TextBox 6"/>
          <p:cNvSpPr txBox="1"/>
          <p:nvPr/>
        </p:nvSpPr>
        <p:spPr>
          <a:xfrm>
            <a:off x="548640" y="5989320"/>
            <a:ext cx="11064240" cy="457200"/>
          </a:xfrm>
          <a:prstGeom prst="rect">
            <a:avLst/>
          </a:prstGeom>
          <a:noFill/>
        </p:spPr>
        <p:txBody>
          <a:bodyPr wrap="square" anchor="t" lIns="25400" rIns="25400" tIns="25400" bIns="25400">
            <a:spAutoFit/>
          </a:bodyPr>
          <a:lstStyle/>
          <a:p>
            <a:pPr algn="l">
              <a:spcBef>
                <a:spcPts val="0"/>
              </a:spcBef>
              <a:spcAft>
                <a:spcPts val="600"/>
              </a:spcAft>
            </a:pPr>
            <a:r>
              <a:rPr sz="1200" b="0">
                <a:solidFill>
                  <a:srgbClr val="B8C0CF"/>
                </a:solidFill>
                <a:latin typeface="Segoe UI"/>
              </a:rPr>
              <a:t>The six-layer attack surface from Module 1 and the target inventory from Module 2 remain the two load-bearing inputs to everything in this module.</a:t>
            </a:r>
          </a:p>
        </p:txBody>
      </p:sp>
      <p:sp>
        <p:nvSpPr>
          <p:cNvPr id="8" name="TextBox 7"/>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9" name="TextBox 8"/>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COMMON MISCONCEPTIONS</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Myths to unlearn before Module 11</a:t>
            </a:r>
          </a:p>
        </p:txBody>
      </p:sp>
      <p:sp>
        <p:nvSpPr>
          <p:cNvPr id="6" name="Rounded Rectangle 5"/>
          <p:cNvSpPr/>
          <p:nvPr/>
        </p:nvSpPr>
        <p:spPr>
          <a:xfrm>
            <a:off x="548640" y="182880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5681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'THREAT MODELING IS JUST ANOTHER NAME FOR RECON'</a:t>
            </a:r>
          </a:p>
        </p:txBody>
      </p:sp>
      <p:sp>
        <p:nvSpPr>
          <p:cNvPr id="8" name="TextBox 7"/>
          <p:cNvSpPr txBox="1"/>
          <p:nvPr/>
        </p:nvSpPr>
        <p:spPr>
          <a:xfrm>
            <a:off x="731520" y="237744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Reality: recon discovers what exists; threat modeling decides what to do about it, in what order — they are sequential, distinct phases.</a:t>
            </a:r>
          </a:p>
        </p:txBody>
      </p:sp>
      <p:sp>
        <p:nvSpPr>
          <p:cNvPr id="9" name="Rounded Rectangle 8"/>
          <p:cNvSpPr/>
          <p:nvPr/>
        </p:nvSpPr>
        <p:spPr>
          <a:xfrm>
            <a:off x="6231636" y="182880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14516" y="195681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'THE MOST SEVERE SINGLE FINDING IS ALWAYS THE TOP PRIORITY'</a:t>
            </a:r>
          </a:p>
        </p:txBody>
      </p:sp>
      <p:sp>
        <p:nvSpPr>
          <p:cNvPr id="11" name="TextBox 10"/>
          <p:cNvSpPr txBox="1"/>
          <p:nvPr/>
        </p:nvSpPr>
        <p:spPr>
          <a:xfrm>
            <a:off x="6414516" y="237744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Reality: prioritisation weighs impact against effort and asset criticality together — a severe, high-effort path can rank below a moderate, low-effort one.</a:t>
            </a:r>
          </a:p>
        </p:txBody>
      </p:sp>
      <p:sp>
        <p:nvSpPr>
          <p:cNvPr id="12" name="Rounded Rectangle 11"/>
          <p:cNvSpPr/>
          <p:nvPr/>
        </p:nvSpPr>
        <p:spPr>
          <a:xfrm>
            <a:off x="548640" y="402336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415137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'A THREAT MODEL IS FIXED ONCE WRITTEN'</a:t>
            </a:r>
          </a:p>
        </p:txBody>
      </p:sp>
      <p:sp>
        <p:nvSpPr>
          <p:cNvPr id="14" name="TextBox 13"/>
          <p:cNvSpPr txBox="1"/>
          <p:nvPr/>
        </p:nvSpPr>
        <p:spPr>
          <a:xfrm>
            <a:off x="731520" y="457200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Reality: exploitation results feed back into the threat model throughout the engagement — the ranking is revisited, not set once at the start.</a:t>
            </a:r>
          </a:p>
        </p:txBody>
      </p:sp>
      <p:sp>
        <p:nvSpPr>
          <p:cNvPr id="15" name="Rounded Rectangle 14"/>
          <p:cNvSpPr/>
          <p:nvPr/>
        </p:nvSpPr>
        <p:spPr>
          <a:xfrm>
            <a:off x="6231636" y="402336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4516" y="415137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'FRAMEWORK MAPPINGS ARE JUST REPORT VOCABULARY'</a:t>
            </a:r>
          </a:p>
        </p:txBody>
      </p:sp>
      <p:sp>
        <p:nvSpPr>
          <p:cNvPr id="17" name="TextBox 16"/>
          <p:cNvSpPr txBox="1"/>
          <p:nvPr/>
        </p:nvSpPr>
        <p:spPr>
          <a:xfrm>
            <a:off x="6414516" y="457200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Reality: OWASP categories and ATLAS tactic stages are direct inputs to Objective 10.3's prioritisation, not decoration added afterward.</a:t>
            </a:r>
          </a:p>
        </p:txBody>
      </p:sp>
      <p:sp>
        <p:nvSpPr>
          <p:cNvPr id="18" name="TextBox 17"/>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9" name="TextBox 18"/>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103120"/>
            <a:ext cx="10058400" cy="548640"/>
          </a:xfrm>
          <a:prstGeom prst="rect">
            <a:avLst/>
          </a:prstGeom>
          <a:noFill/>
        </p:spPr>
        <p:txBody>
          <a:bodyPr wrap="square" anchor="t" lIns="25400" rIns="25400" tIns="25400" bIns="25400">
            <a:spAutoFit/>
          </a:bodyPr>
          <a:lstStyle/>
          <a:p>
            <a:pPr algn="l">
              <a:spcBef>
                <a:spcPts val="0"/>
              </a:spcBef>
              <a:spcAft>
                <a:spcPts val="600"/>
              </a:spcAft>
            </a:pPr>
            <a:r>
              <a:rPr sz="1500" b="1">
                <a:solidFill>
                  <a:srgbClr val="FF6A00"/>
                </a:solidFill>
                <a:latin typeface="Segoe UI"/>
              </a:rPr>
              <a:t>DOMAIN WEIGHTING</a:t>
            </a:r>
          </a:p>
        </p:txBody>
      </p:sp>
      <p:sp>
        <p:nvSpPr>
          <p:cNvPr id="5" name="TextBox 4"/>
          <p:cNvSpPr txBox="1"/>
          <p:nvPr/>
        </p:nvSpPr>
        <p:spPr>
          <a:xfrm>
            <a:off x="502920" y="2560320"/>
            <a:ext cx="3657600" cy="1463040"/>
          </a:xfrm>
          <a:prstGeom prst="rect">
            <a:avLst/>
          </a:prstGeom>
          <a:noFill/>
        </p:spPr>
        <p:txBody>
          <a:bodyPr wrap="square" anchor="t" lIns="25400" rIns="25400" tIns="25400" bIns="25400">
            <a:spAutoFit/>
          </a:bodyPr>
          <a:lstStyle/>
          <a:p>
            <a:pPr algn="l">
              <a:spcBef>
                <a:spcPts val="0"/>
              </a:spcBef>
              <a:spcAft>
                <a:spcPts val="600"/>
              </a:spcAft>
            </a:pPr>
            <a:r>
              <a:rPr sz="15000" b="1">
                <a:solidFill>
                  <a:srgbClr val="FF6A00"/>
                </a:solidFill>
                <a:latin typeface="Segoe UI"/>
              </a:rPr>
              <a:t>n/a</a:t>
            </a:r>
          </a:p>
        </p:txBody>
      </p:sp>
      <p:sp>
        <p:nvSpPr>
          <p:cNvPr id="6" name="TextBox 5"/>
          <p:cNvSpPr txBox="1"/>
          <p:nvPr/>
        </p:nvSpPr>
        <p:spPr>
          <a:xfrm>
            <a:off x="548640" y="4343400"/>
            <a:ext cx="10972800" cy="1280160"/>
          </a:xfrm>
          <a:prstGeom prst="rect">
            <a:avLst/>
          </a:prstGeom>
          <a:noFill/>
        </p:spPr>
        <p:txBody>
          <a:bodyPr wrap="square" anchor="t" lIns="25400" rIns="25400" tIns="25400" bIns="25400">
            <a:spAutoFit/>
          </a:bodyPr>
          <a:lstStyle/>
          <a:p>
            <a:pPr algn="l">
              <a:spcBef>
                <a:spcPts val="0"/>
              </a:spcBef>
              <a:spcAft>
                <a:spcPts val="600"/>
              </a:spcAft>
            </a:pPr>
            <a:r>
              <a:rPr sz="4000" b="1">
                <a:solidFill>
                  <a:srgbClr val="F5F7FB"/>
                </a:solidFill>
                <a:latin typeface="Segoe UI"/>
              </a:rPr>
              <a:t>OSAI weightings: Information not defined in the official exam outline</a:t>
            </a:r>
          </a:p>
        </p:txBody>
      </p:sp>
      <p:sp>
        <p:nvSpPr>
          <p:cNvPr id="7" name="TextBox 6"/>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8" name="TextBox 7"/>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KNOWLEDGE CHECK</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Test yourself</a:t>
            </a:r>
          </a:p>
        </p:txBody>
      </p:sp>
      <p:sp>
        <p:nvSpPr>
          <p:cNvPr id="6" name="Rounded Rectangle 5"/>
          <p:cNvSpPr/>
          <p:nvPr/>
        </p:nvSpPr>
        <p:spPr>
          <a:xfrm>
            <a:off x="548640" y="1783080"/>
            <a:ext cx="11091672" cy="10058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74519"/>
            <a:ext cx="10607040" cy="914400"/>
          </a:xfrm>
          <a:prstGeom prst="rect">
            <a:avLst/>
          </a:prstGeom>
          <a:noFill/>
        </p:spPr>
        <p:txBody>
          <a:bodyPr wrap="square" anchor="ctr" lIns="25400" rIns="25400" tIns="25400" bIns="25400">
            <a:spAutoFit/>
          </a:bodyPr>
          <a:lstStyle/>
          <a:p>
            <a:pPr algn="l">
              <a:spcBef>
                <a:spcPts val="0"/>
              </a:spcBef>
              <a:spcAft>
                <a:spcPts val="600"/>
              </a:spcAft>
            </a:pPr>
            <a:r>
              <a:rPr sz="1600" b="1">
                <a:solidFill>
                  <a:srgbClr val="F5F7FB"/>
                </a:solidFill>
                <a:latin typeface="Segoe UI"/>
              </a:rPr>
              <a:t>Two candidate attack paths remain unexecuted with limited engagement time left. Path A is a single confirmed weakness reaching a moderately sensitive asset with minimal effort. Path B is a three-step chain, two of whose links are still hypothesised, reaching a highly sensitive asset but requiring most of the remaining time to attempt. Which action best reflects Objective 10.3's prioritisation discipline?</a:t>
            </a:r>
          </a:p>
        </p:txBody>
      </p:sp>
      <p:sp>
        <p:nvSpPr>
          <p:cNvPr id="8" name="Rounded Rectangle 7"/>
          <p:cNvSpPr/>
          <p:nvPr/>
        </p:nvSpPr>
        <p:spPr>
          <a:xfrm>
            <a:off x="548640" y="2971800"/>
            <a:ext cx="11091672" cy="512064"/>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971800"/>
            <a:ext cx="548640" cy="512064"/>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F6A00"/>
                </a:solidFill>
                <a:latin typeface="Segoe UI"/>
              </a:rPr>
              <a:t>A</a:t>
            </a:r>
          </a:p>
        </p:txBody>
      </p:sp>
      <p:sp>
        <p:nvSpPr>
          <p:cNvPr id="10" name="TextBox 9"/>
          <p:cNvSpPr txBox="1"/>
          <p:nvPr/>
        </p:nvSpPr>
        <p:spPr>
          <a:xfrm>
            <a:off x="1234440" y="2971800"/>
            <a:ext cx="10241280" cy="512064"/>
          </a:xfrm>
          <a:prstGeom prst="rect">
            <a:avLst/>
          </a:prstGeom>
          <a:noFill/>
        </p:spPr>
        <p:txBody>
          <a:bodyPr wrap="square" anchor="ctr" lIns="25400" rIns="25400" tIns="25400" bIns="25400">
            <a:spAutoFit/>
          </a:bodyPr>
          <a:lstStyle/>
          <a:p>
            <a:pPr algn="l">
              <a:spcBef>
                <a:spcPts val="0"/>
              </a:spcBef>
              <a:spcAft>
                <a:spcPts val="600"/>
              </a:spcAft>
            </a:pPr>
            <a:r>
              <a:rPr sz="1350" b="0">
                <a:solidFill>
                  <a:srgbClr val="B8C0CF"/>
                </a:solidFill>
                <a:latin typeface="Segoe UI"/>
              </a:rPr>
              <a:t>Always attempt Path B first, since it targets the more sensitive asset regardless of effort or confidence</a:t>
            </a:r>
          </a:p>
        </p:txBody>
      </p:sp>
      <p:sp>
        <p:nvSpPr>
          <p:cNvPr id="11" name="Rounded Rectangle 10"/>
          <p:cNvSpPr/>
          <p:nvPr/>
        </p:nvSpPr>
        <p:spPr>
          <a:xfrm>
            <a:off x="548640" y="3575304"/>
            <a:ext cx="11091672" cy="512064"/>
          </a:xfrm>
          <a:prstGeom prst="roundRect">
            <a:avLst/>
          </a:prstGeom>
          <a:solidFill>
            <a:srgbClr val="1A1208"/>
          </a:solidFill>
          <a:ln w="20320">
            <a:solidFill>
              <a:srgbClr val="FF6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3575304"/>
            <a:ext cx="548640" cy="512064"/>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F6A00"/>
                </a:solidFill>
                <a:latin typeface="Segoe UI"/>
              </a:rPr>
              <a:t>B</a:t>
            </a:r>
          </a:p>
        </p:txBody>
      </p:sp>
      <p:sp>
        <p:nvSpPr>
          <p:cNvPr id="13" name="TextBox 12"/>
          <p:cNvSpPr txBox="1"/>
          <p:nvPr/>
        </p:nvSpPr>
        <p:spPr>
          <a:xfrm>
            <a:off x="1234440" y="3575304"/>
            <a:ext cx="10241280" cy="512064"/>
          </a:xfrm>
          <a:prstGeom prst="rect">
            <a:avLst/>
          </a:prstGeom>
          <a:noFill/>
        </p:spPr>
        <p:txBody>
          <a:bodyPr wrap="square" anchor="ctr" lIns="25400" rIns="25400" tIns="25400" bIns="25400">
            <a:spAutoFit/>
          </a:bodyPr>
          <a:lstStyle/>
          <a:p>
            <a:pPr algn="l">
              <a:spcBef>
                <a:spcPts val="0"/>
              </a:spcBef>
              <a:spcAft>
                <a:spcPts val="600"/>
              </a:spcAft>
            </a:pPr>
            <a:r>
              <a:rPr sz="1350" b="1">
                <a:solidFill>
                  <a:srgbClr val="F5F7FB"/>
                </a:solidFill>
                <a:latin typeface="Segoe UI"/>
              </a:rPr>
              <a:t>Attempt Path A first, since it combines confirmed evidence and low effort, then attempt Path B only if time remains</a:t>
            </a:r>
          </a:p>
        </p:txBody>
      </p:sp>
      <p:sp>
        <p:nvSpPr>
          <p:cNvPr id="14" name="Rounded Rectangle 13"/>
          <p:cNvSpPr/>
          <p:nvPr/>
        </p:nvSpPr>
        <p:spPr>
          <a:xfrm>
            <a:off x="548640" y="4178808"/>
            <a:ext cx="11091672" cy="512064"/>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4178808"/>
            <a:ext cx="548640" cy="512064"/>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F6A00"/>
                </a:solidFill>
                <a:latin typeface="Segoe UI"/>
              </a:rPr>
              <a:t>C</a:t>
            </a:r>
          </a:p>
        </p:txBody>
      </p:sp>
      <p:sp>
        <p:nvSpPr>
          <p:cNvPr id="16" name="TextBox 15"/>
          <p:cNvSpPr txBox="1"/>
          <p:nvPr/>
        </p:nvSpPr>
        <p:spPr>
          <a:xfrm>
            <a:off x="1234440" y="4178808"/>
            <a:ext cx="10241280" cy="512064"/>
          </a:xfrm>
          <a:prstGeom prst="rect">
            <a:avLst/>
          </a:prstGeom>
          <a:noFill/>
        </p:spPr>
        <p:txBody>
          <a:bodyPr wrap="square" anchor="ctr" lIns="25400" rIns="25400" tIns="25400" bIns="25400">
            <a:spAutoFit/>
          </a:bodyPr>
          <a:lstStyle/>
          <a:p>
            <a:pPr algn="l">
              <a:spcBef>
                <a:spcPts val="0"/>
              </a:spcBef>
              <a:spcAft>
                <a:spcPts val="600"/>
              </a:spcAft>
            </a:pPr>
            <a:r>
              <a:rPr sz="1350" b="0">
                <a:solidFill>
                  <a:srgbClr val="B8C0CF"/>
                </a:solidFill>
                <a:latin typeface="Segoe UI"/>
              </a:rPr>
              <a:t>Attempt neither path, since any path involving a hypothesised link should be discarded entirely</a:t>
            </a:r>
          </a:p>
        </p:txBody>
      </p:sp>
      <p:sp>
        <p:nvSpPr>
          <p:cNvPr id="17" name="Rounded Rectangle 16"/>
          <p:cNvSpPr/>
          <p:nvPr/>
        </p:nvSpPr>
        <p:spPr>
          <a:xfrm>
            <a:off x="548640" y="4782312"/>
            <a:ext cx="11091672" cy="512064"/>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4782312"/>
            <a:ext cx="548640" cy="512064"/>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F6A00"/>
                </a:solidFill>
                <a:latin typeface="Segoe UI"/>
              </a:rPr>
              <a:t>D</a:t>
            </a:r>
          </a:p>
        </p:txBody>
      </p:sp>
      <p:sp>
        <p:nvSpPr>
          <p:cNvPr id="19" name="TextBox 18"/>
          <p:cNvSpPr txBox="1"/>
          <p:nvPr/>
        </p:nvSpPr>
        <p:spPr>
          <a:xfrm>
            <a:off x="1234440" y="4782312"/>
            <a:ext cx="10241280" cy="512064"/>
          </a:xfrm>
          <a:prstGeom prst="rect">
            <a:avLst/>
          </a:prstGeom>
          <a:noFill/>
        </p:spPr>
        <p:txBody>
          <a:bodyPr wrap="square" anchor="ctr" lIns="25400" rIns="25400" tIns="25400" bIns="25400">
            <a:spAutoFit/>
          </a:bodyPr>
          <a:lstStyle/>
          <a:p>
            <a:pPr algn="l">
              <a:spcBef>
                <a:spcPts val="0"/>
              </a:spcBef>
              <a:spcAft>
                <a:spcPts val="600"/>
              </a:spcAft>
            </a:pPr>
            <a:r>
              <a:rPr sz="1350" b="0">
                <a:solidFill>
                  <a:srgbClr val="B8C0CF"/>
                </a:solidFill>
                <a:latin typeface="Segoe UI"/>
              </a:rPr>
              <a:t>Attempt both paths simultaneously, since threat modeling does not require sequencing decisions</a:t>
            </a:r>
          </a:p>
        </p:txBody>
      </p:sp>
      <p:sp>
        <p:nvSpPr>
          <p:cNvPr id="20" name="TextBox 19"/>
          <p:cNvSpPr txBox="1"/>
          <p:nvPr/>
        </p:nvSpPr>
        <p:spPr>
          <a:xfrm>
            <a:off x="548640" y="5623560"/>
            <a:ext cx="11064240" cy="73152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Answer B.  </a:t>
            </a:r>
            <a:r>
              <a:rPr sz="1300" b="0">
                <a:solidFill>
                  <a:srgbClr val="B8C0CF"/>
                </a:solidFill>
                <a:latin typeface="Segoe UI"/>
              </a:rPr>
              <a:t>Objective 10.3's priority order favours high-impact, low-effort, high-confidence paths first. Path A's confirmed status and low effort make it the stronger immediate return even against a less sensitive asset; Path B remains valuable but should follow, not precede, it given the remaining time and its unresolved hypothesised links.</a:t>
            </a:r>
          </a:p>
        </p:txBody>
      </p:sp>
      <p:sp>
        <p:nvSpPr>
          <p:cNvPr id="21" name="TextBox 20"/>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22" name="TextBox 21"/>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MODULE SUMMARY</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What you can now do</a:t>
            </a:r>
          </a:p>
        </p:txBody>
      </p:sp>
      <p:sp>
        <p:nvSpPr>
          <p:cNvPr id="6" name="TextBox 5"/>
          <p:cNvSpPr txBox="1"/>
          <p:nvPr/>
        </p:nvSpPr>
        <p:spPr>
          <a:xfrm>
            <a:off x="640080" y="1874519"/>
            <a:ext cx="10972800" cy="4206240"/>
          </a:xfrm>
          <a:prstGeom prst="rect">
            <a:avLst/>
          </a:prstGeom>
          <a:noFill/>
        </p:spPr>
        <p:txBody>
          <a:bodyPr wrap="square" anchor="t" lIns="25400" rIns="25400" tIns="25400" bIns="25400">
            <a:spAutoFit/>
          </a:bodyPr>
          <a:lstStyle/>
          <a:p>
            <a:pPr algn="l">
              <a:spcBef>
                <a:spcPts val="0"/>
              </a:spcBef>
              <a:spcAft>
                <a:spcPts val="1200"/>
              </a:spcAft>
            </a:pPr>
            <a:r>
              <a:rPr sz="1500" b="1">
                <a:solidFill>
                  <a:srgbClr val="FF6A00"/>
                </a:solidFill>
                <a:latin typeface="Segoe UI"/>
              </a:rPr>
              <a:t>✓  </a:t>
            </a:r>
            <a:r>
              <a:rPr sz="1500" b="0">
                <a:solidFill>
                  <a:srgbClr val="F5F7FB"/>
                </a:solidFill>
                <a:latin typeface="Segoe UI"/>
              </a:rPr>
              <a:t>Explain threat modeling's inputs, outputs, and position between reconnaissance and exploitation in the engagement lifecycle</a:t>
            </a:r>
          </a:p>
          <a:p>
            <a:pPr algn="l">
              <a:spcBef>
                <a:spcPts val="0"/>
              </a:spcBef>
              <a:spcAft>
                <a:spcPts val="1200"/>
              </a:spcAft>
            </a:pPr>
            <a:r>
              <a:rPr sz="1500" b="1">
                <a:solidFill>
                  <a:srgbClr val="FF6A00"/>
                </a:solidFill>
                <a:latin typeface="Segoe UI"/>
              </a:rPr>
              <a:t>✓  </a:t>
            </a:r>
            <a:r>
              <a:rPr sz="1500" b="0">
                <a:solidFill>
                  <a:srgbClr val="F5F7FB"/>
                </a:solidFill>
                <a:latin typeface="Segoe UI"/>
              </a:rPr>
              <a:t>Distinguish threat modeling clearly from both reconnaissance and exploitation</a:t>
            </a:r>
          </a:p>
          <a:p>
            <a:pPr algn="l">
              <a:spcBef>
                <a:spcPts val="0"/>
              </a:spcBef>
              <a:spcAft>
                <a:spcPts val="1200"/>
              </a:spcAft>
            </a:pPr>
            <a:r>
              <a:rPr sz="1500" b="1">
                <a:solidFill>
                  <a:srgbClr val="FF6A00"/>
                </a:solidFill>
                <a:latin typeface="Segoe UI"/>
              </a:rPr>
              <a:t>✓  </a:t>
            </a:r>
            <a:r>
              <a:rPr sz="1500" b="0">
                <a:solidFill>
                  <a:srgbClr val="F5F7FB"/>
                </a:solidFill>
                <a:latin typeface="Segoe UI"/>
              </a:rPr>
              <a:t>Construct candidate attack paths by chaining individual weaknesses across the six-layer attack-surface model</a:t>
            </a:r>
          </a:p>
          <a:p>
            <a:pPr algn="l">
              <a:spcBef>
                <a:spcPts val="0"/>
              </a:spcBef>
              <a:spcAft>
                <a:spcPts val="1200"/>
              </a:spcAft>
            </a:pPr>
            <a:r>
              <a:rPr sz="1500" b="1">
                <a:solidFill>
                  <a:srgbClr val="FF6A00"/>
                </a:solidFill>
                <a:latin typeface="Segoe UI"/>
              </a:rPr>
              <a:t>✓  </a:t>
            </a:r>
            <a:r>
              <a:rPr sz="1500" b="0">
                <a:solidFill>
                  <a:srgbClr val="F5F7FB"/>
                </a:solidFill>
                <a:latin typeface="Segoe UI"/>
              </a:rPr>
              <a:t>Prioritise attack paths using impact, effort, asset criticality, and the framework mappings built throughout Modules 1 to 9</a:t>
            </a:r>
          </a:p>
          <a:p>
            <a:pPr algn="l">
              <a:spcBef>
                <a:spcPts val="0"/>
              </a:spcBef>
              <a:spcAft>
                <a:spcPts val="1200"/>
              </a:spcAft>
            </a:pPr>
            <a:r>
              <a:rPr sz="1500" b="1">
                <a:solidFill>
                  <a:srgbClr val="FF6A00"/>
                </a:solidFill>
                <a:latin typeface="Segoe UI"/>
              </a:rPr>
              <a:t>✓  </a:t>
            </a:r>
            <a:r>
              <a:rPr sz="1500" b="0">
                <a:solidFill>
                  <a:srgbClr val="F5F7FB"/>
                </a:solidFill>
                <a:latin typeface="Segoe UI"/>
              </a:rPr>
              <a:t>Document a threat model as a kill chain that hands off cleanly to exploitation and, ultimately, to an engagement report</a:t>
            </a:r>
          </a:p>
        </p:txBody>
      </p:sp>
      <p:sp>
        <p:nvSpPr>
          <p:cNvPr id="7" name="TextBox 6"/>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8" name="TextBox 7"/>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NEXT STEPS</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On to Module 11 — Capstone Red Team Engagement</a:t>
            </a:r>
          </a:p>
        </p:txBody>
      </p:sp>
      <p:sp>
        <p:nvSpPr>
          <p:cNvPr id="6" name="TextBox 5"/>
          <p:cNvSpPr txBox="1"/>
          <p:nvPr/>
        </p:nvSpPr>
        <p:spPr>
          <a:xfrm>
            <a:off x="640080" y="1874519"/>
            <a:ext cx="10972800" cy="4206240"/>
          </a:xfrm>
          <a:prstGeom prst="rect">
            <a:avLst/>
          </a:prstGeom>
          <a:noFill/>
        </p:spPr>
        <p:txBody>
          <a:bodyPr wrap="square" anchor="t" lIns="25400" rIns="25400" tIns="25400" bIns="25400">
            <a:spAutoFit/>
          </a:bodyPr>
          <a:lstStyle/>
          <a:p>
            <a:pPr algn="l">
              <a:spcBef>
                <a:spcPts val="0"/>
              </a:spcBef>
              <a:spcAft>
                <a:spcPts val="1200"/>
              </a:spcAft>
            </a:pPr>
            <a:r>
              <a:rPr sz="1500" b="1">
                <a:solidFill>
                  <a:srgbClr val="FF6A00"/>
                </a:solidFill>
                <a:latin typeface="Segoe UI"/>
              </a:rPr>
              <a:t>✓  </a:t>
            </a:r>
            <a:r>
              <a:rPr sz="1500" b="0">
                <a:solidFill>
                  <a:srgbClr val="F5F7FB"/>
                </a:solidFill>
                <a:latin typeface="Segoe UI"/>
              </a:rPr>
              <a:t>Module 11 exercises the full engagement lifecycle end to end: scoping, recon, threat modeling, exploitation, post-exploitation, and reporting</a:t>
            </a:r>
          </a:p>
          <a:p>
            <a:pPr algn="l">
              <a:spcBef>
                <a:spcPts val="0"/>
              </a:spcBef>
              <a:spcAft>
                <a:spcPts val="1200"/>
              </a:spcAft>
            </a:pPr>
            <a:r>
              <a:rPr sz="1500" b="1">
                <a:solidFill>
                  <a:srgbClr val="FF6A00"/>
                </a:solidFill>
                <a:latin typeface="Segoe UI"/>
              </a:rPr>
              <a:t>✓  </a:t>
            </a:r>
            <a:r>
              <a:rPr sz="1500" b="0">
                <a:solidFill>
                  <a:srgbClr val="F5F7FB"/>
                </a:solidFill>
                <a:latin typeface="Segoe UI"/>
              </a:rPr>
              <a:t>Every technique from Modules 3 to 9 and every methodology skill from Modules 1, 2, and 10 is brought together against one realistic, AI-enabled target</a:t>
            </a:r>
          </a:p>
          <a:p>
            <a:pPr algn="l">
              <a:spcBef>
                <a:spcPts val="0"/>
              </a:spcBef>
              <a:spcAft>
                <a:spcPts val="1200"/>
              </a:spcAft>
            </a:pPr>
            <a:r>
              <a:rPr sz="1500" b="1">
                <a:solidFill>
                  <a:srgbClr val="FF6A00"/>
                </a:solidFill>
                <a:latin typeface="Segoe UI"/>
              </a:rPr>
              <a:t>✓  </a:t>
            </a:r>
            <a:r>
              <a:rPr sz="1500" b="0">
                <a:solidFill>
                  <a:srgbClr val="F5F7FB"/>
                </a:solidFill>
                <a:latin typeface="Segoe UI"/>
              </a:rPr>
              <a:t>The kill-chain documentation habit from Objective 10.4 becomes the backbone of the capstone's own deliverable</a:t>
            </a:r>
          </a:p>
          <a:p>
            <a:pPr algn="l">
              <a:spcBef>
                <a:spcPts val="0"/>
              </a:spcBef>
              <a:spcAft>
                <a:spcPts val="1200"/>
              </a:spcAft>
            </a:pPr>
            <a:r>
              <a:rPr sz="1500" b="1">
                <a:solidFill>
                  <a:srgbClr val="FF6A00"/>
                </a:solidFill>
                <a:latin typeface="Segoe UI"/>
              </a:rPr>
              <a:t>✓  </a:t>
            </a:r>
            <a:r>
              <a:rPr sz="1500" b="0">
                <a:solidFill>
                  <a:srgbClr val="F5F7FB"/>
                </a:solidFill>
                <a:latin typeface="Segoe UI"/>
              </a:rPr>
              <a:t>This is the closest rehearsal the course offers for the shape and pace of the real 24-hour OSAI exam</a:t>
            </a:r>
          </a:p>
          <a:p>
            <a:pPr algn="l">
              <a:spcBef>
                <a:spcPts val="0"/>
              </a:spcBef>
              <a:spcAft>
                <a:spcPts val="1200"/>
              </a:spcAft>
            </a:pPr>
            <a:r>
              <a:rPr sz="1500" b="1">
                <a:solidFill>
                  <a:srgbClr val="FF6A00"/>
                </a:solidFill>
                <a:latin typeface="Segoe UI"/>
              </a:rPr>
              <a:t>✓  </a:t>
            </a:r>
            <a:r>
              <a:rPr sz="1500" b="0">
                <a:solidFill>
                  <a:srgbClr val="F5F7FB"/>
                </a:solidFill>
                <a:latin typeface="Segoe UI"/>
              </a:rPr>
              <a:t>Review the flashcards, cheat sheet, PBQ, and quiz for this module before continuing</a:t>
            </a:r>
          </a:p>
        </p:txBody>
      </p:sp>
      <p:sp>
        <p:nvSpPr>
          <p:cNvPr id="7" name="TextBox 6"/>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8" name="TextBox 7"/>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