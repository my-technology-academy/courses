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 of SC-200: Manage a Security Operations Environment — the largest domain at 40-45% of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functional sub-groups make up this domain — the most of any SC-200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learners: three domains, and this one is nearly half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product surface this whole certification operates across before diving into objective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1.1 — the largest sub-group with eleven measured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email notifications in Defender XDR across all three notification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alert notification configuration: tuning, suppression, and correlation — a frequent exam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Defender for Endpoint advanced features as a configuration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rules settings in Defender for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custom data collection in Defender for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security policies including attack surface reduction rules — a heavily tested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automated investigation and response (AIR) in Defender XDR.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automatic attack disruption — one of the newest and most tested Defender XDR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device groups, permissions, and automation levels together — they are configured as one interlocking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Sentinel automation rules — and be precise about how they differ from playbooks.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Sentinel playbooks, built on Logic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is one of the most commonly missed distinctions on the SC-200 exam — spend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1.1's eleven tasks before moving to the Sentinel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1.2: configuring the Sentinel SIEM and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Sentinel roles — least privilege applied to the SIEM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data retention across the three named tiers — Analytics, Data lake, and XDR. This is new to the July 2026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Sentinel workbooks as the visualisation and reporting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platform optimisation including SOC optimization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1.2 before moving to data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1.3: data ingestion — seven measured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connector selection based on data source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Windows Security Events via AMA, including data collection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Windows Event Forwarding as the alternative collection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Syslog via AMA and CEF via AMA together — the standard path for non-Windows and appliance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Azure activity collection via Azure Policy and resource diagnostic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ingesting threat indicators into Sentinel.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creating custom log tables in the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decision table as a revision aid — connector selection is a very common exam question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1.3 before moving to detections.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1.4: configuring detections — where ingested data becomes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creating custom detection rules from Advanced Hunting in Defender XDR.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managing custom detection rules after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four named analytics rule types in Sentinel — this is a core exam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analysing attack vector coverage using the MITRE ATT&amp;CK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configuring anomalies in Sentinel, closing objective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1.4 before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as a class — this scenario deliberately spans all four objectives in the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designing automation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selecting ingestion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selecting detection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applying least privilege in the SOC.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quick-reference recap before the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these directly — each is a documented exam distractor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learners of assessment weighting to set revision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this question aloud; reveal the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all four objectives before moving to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and preview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243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MICROSOFT SC-200 · DOMAIN 1 · MODULE 1 OF 3</a:t>
            </a:r>
            <a:endParaRPr lang="en-US" sz="1575" dirty="0"/>
          </a:p>
        </p:txBody>
      </p:sp>
      <p:sp>
        <p:nvSpPr>
          <p:cNvPr id="4" name="Text 2"/>
          <p:cNvSpPr/>
          <p:nvPr/>
        </p:nvSpPr>
        <p:spPr>
          <a:xfrm>
            <a:off x="914400" y="4371975"/>
            <a:ext cx="16952976" cy="1438275"/>
          </a:xfrm>
          <a:prstGeom prst="rect">
            <a:avLst/>
          </a:prstGeom>
          <a:noFill/>
          <a:ln/>
        </p:spPr>
        <p:txBody>
          <a:bodyPr wrap="square" lIns="25400" tIns="25400" rIns="25400" bIns="25400" rtlCol="0" anchor="t">
            <a:normAutofit/>
          </a:bodyPr>
          <a:lstStyle/>
          <a:p>
            <a:pPr algn="l" indent="0" marL="0">
              <a:lnSpc>
                <a:spcPct val="90741"/>
              </a:lnSpc>
              <a:buNone/>
            </a:pPr>
            <a:r>
              <a:rPr lang="en-US" sz="5250" b="1" dirty="0">
                <a:solidFill>
                  <a:srgbClr val="F5F7FB"/>
                </a:solidFill>
                <a:latin typeface="Arial" pitchFamily="34" charset="0"/>
                <a:ea typeface="Arial" pitchFamily="34" charset="-122"/>
                <a:cs typeface="Arial" pitchFamily="34" charset="-120"/>
              </a:rPr>
              <a:t>Manage a Security Operations Environment</a:t>
            </a:r>
            <a:endParaRPr lang="en-US" sz="5250" dirty="0"/>
          </a:p>
        </p:txBody>
      </p:sp>
      <p:sp>
        <p:nvSpPr>
          <p:cNvPr id="5" name="Text 3"/>
          <p:cNvSpPr/>
          <p:nvPr/>
        </p:nvSpPr>
        <p:spPr>
          <a:xfrm>
            <a:off x="914400" y="6000750"/>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Configuring automation, the Sentinel SIEM and platform, data ingestion, and detections</a:t>
            </a:r>
            <a:endParaRPr lang="en-US" sz="2400" dirty="0"/>
          </a:p>
        </p:txBody>
      </p:sp>
      <p:sp>
        <p:nvSpPr>
          <p:cNvPr id="6" name="Text 4"/>
          <p:cNvSpPr/>
          <p:nvPr/>
        </p:nvSpPr>
        <p:spPr>
          <a:xfrm>
            <a:off x="914400" y="9796463"/>
            <a:ext cx="1642348" cy="242888"/>
          </a:xfrm>
          <a:prstGeom prst="rect">
            <a:avLst/>
          </a:prstGeom>
          <a:noFill/>
          <a:ln/>
        </p:spPr>
        <p:txBody>
          <a:bodyPr wrap="square" lIns="25400" tIns="25400" rIns="25400" bIns="25400" rtlCol="0" anchor="t">
            <a:normAutofit/>
          </a:bodyPr>
          <a:lstStyle/>
          <a:p>
            <a:pPr algn="l" indent="0" marL="0">
              <a:buNone/>
            </a:pPr>
            <a:r>
              <a:rPr lang="en-US" sz="1350" dirty="0">
                <a:solidFill>
                  <a:srgbClr val="8891A1"/>
                </a:solidFill>
                <a:latin typeface="Arial" pitchFamily="34" charset="0"/>
                <a:ea typeface="Arial" pitchFamily="34" charset="-122"/>
                <a:cs typeface="Arial" pitchFamily="34" charset="-120"/>
              </a:rPr>
              <a:t>My Cyber Academy</a:t>
            </a:r>
            <a:endParaRPr lang="en-US" sz="1350" dirty="0"/>
          </a:p>
        </p:txBody>
      </p:sp>
      <p:sp>
        <p:nvSpPr>
          <p:cNvPr id="7" name="Text 5"/>
          <p:cNvSpPr/>
          <p:nvPr/>
        </p:nvSpPr>
        <p:spPr>
          <a:xfrm>
            <a:off x="16589573" y="9796463"/>
            <a:ext cx="860227" cy="242888"/>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FF6A00"/>
                </a:solidFill>
                <a:latin typeface="Arial" pitchFamily="34" charset="0"/>
                <a:ea typeface="Arial" pitchFamily="34" charset="-122"/>
                <a:cs typeface="Arial" pitchFamily="34" charset="-120"/>
              </a:rPr>
              <a:t>SC</a:t>
            </a:r>
            <a:pPr algn="l" indent="0" marL="0">
              <a:buNone/>
            </a:pPr>
            <a:r>
              <a:rPr lang="en-US" sz="1350" b="1" spc="150" kern="0" dirty="0">
                <a:solidFill>
                  <a:srgbClr val="8891A1"/>
                </a:solidFill>
                <a:latin typeface="Arial" pitchFamily="34" charset="0"/>
                <a:ea typeface="Arial" pitchFamily="34" charset="-122"/>
                <a:cs typeface="Arial" pitchFamily="34" charset="-120"/>
              </a:rPr>
              <a:t>-200</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LEARNING OBJECTIVES</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By the end of this module, you will be able to</a:t>
            </a:r>
            <a:endParaRPr lang="en-US" sz="4050" dirty="0"/>
          </a:p>
        </p:txBody>
      </p:sp>
      <p:sp>
        <p:nvSpPr>
          <p:cNvPr id="5" name="Shape 3"/>
          <p:cNvSpPr/>
          <p:nvPr/>
        </p:nvSpPr>
        <p:spPr>
          <a:xfrm>
            <a:off x="914400" y="1909762"/>
            <a:ext cx="16459200" cy="933450"/>
          </a:xfrm>
          <a:prstGeom prst="roundRect">
            <a:avLst>
              <a:gd name="adj" fmla="val 16327"/>
            </a:avLst>
          </a:prstGeom>
          <a:solidFill>
            <a:srgbClr val="FFFFFF">
              <a:alpha val="2000"/>
            </a:srgbClr>
          </a:solidFill>
          <a:ln w="9525">
            <a:solidFill>
              <a:srgbClr val="2A2F3A"/>
            </a:solidFill>
            <a:prstDash val="solid"/>
          </a:ln>
        </p:spPr>
      </p:sp>
      <p:sp>
        <p:nvSpPr>
          <p:cNvPr id="6" name="Shape 4"/>
          <p:cNvSpPr/>
          <p:nvPr/>
        </p:nvSpPr>
        <p:spPr>
          <a:xfrm>
            <a:off x="1152525" y="2147888"/>
            <a:ext cx="457200" cy="457200"/>
          </a:xfrm>
          <a:prstGeom prst="ellipse">
            <a:avLst/>
          </a:prstGeom>
          <a:solidFill>
            <a:srgbClr val="FF6A00">
              <a:alpha val="18000"/>
            </a:srgbClr>
          </a:solidFill>
          <a:ln w="9525">
            <a:solidFill>
              <a:srgbClr val="FF6A00"/>
            </a:solidFill>
            <a:prstDash val="solid"/>
          </a:ln>
        </p:spPr>
      </p:sp>
      <p:sp>
        <p:nvSpPr>
          <p:cNvPr id="7" name="Text 5"/>
          <p:cNvSpPr/>
          <p:nvPr/>
        </p:nvSpPr>
        <p:spPr>
          <a:xfrm>
            <a:off x="1123950" y="2157413"/>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1.1</a:t>
            </a:r>
            <a:endParaRPr lang="en-US" sz="1425" dirty="0"/>
          </a:p>
        </p:txBody>
      </p:sp>
      <p:sp>
        <p:nvSpPr>
          <p:cNvPr id="8" name="Text 6"/>
          <p:cNvSpPr/>
          <p:nvPr/>
        </p:nvSpPr>
        <p:spPr>
          <a:xfrm>
            <a:off x="1800225" y="2252663"/>
            <a:ext cx="6773097"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Configure automation for Microsoft Defender XDR and Microsoft Sentinel</a:t>
            </a:r>
            <a:endParaRPr lang="en-US" sz="1650" dirty="0"/>
          </a:p>
        </p:txBody>
      </p:sp>
      <p:sp>
        <p:nvSpPr>
          <p:cNvPr id="9" name="Shape 7"/>
          <p:cNvSpPr/>
          <p:nvPr/>
        </p:nvSpPr>
        <p:spPr>
          <a:xfrm>
            <a:off x="914400" y="2976563"/>
            <a:ext cx="16459200" cy="933450"/>
          </a:xfrm>
          <a:prstGeom prst="roundRect">
            <a:avLst>
              <a:gd name="adj" fmla="val 16327"/>
            </a:avLst>
          </a:prstGeom>
          <a:solidFill>
            <a:srgbClr val="FFFFFF">
              <a:alpha val="2000"/>
            </a:srgbClr>
          </a:solidFill>
          <a:ln w="9525">
            <a:solidFill>
              <a:srgbClr val="2A2F3A"/>
            </a:solidFill>
            <a:prstDash val="solid"/>
          </a:ln>
        </p:spPr>
      </p:sp>
      <p:sp>
        <p:nvSpPr>
          <p:cNvPr id="10" name="Shape 8"/>
          <p:cNvSpPr/>
          <p:nvPr/>
        </p:nvSpPr>
        <p:spPr>
          <a:xfrm>
            <a:off x="1152525" y="3214688"/>
            <a:ext cx="457200" cy="457200"/>
          </a:xfrm>
          <a:prstGeom prst="ellipse">
            <a:avLst/>
          </a:prstGeom>
          <a:solidFill>
            <a:srgbClr val="FF6A00">
              <a:alpha val="18000"/>
            </a:srgbClr>
          </a:solidFill>
          <a:ln w="9525">
            <a:solidFill>
              <a:srgbClr val="FF6A00"/>
            </a:solidFill>
            <a:prstDash val="solid"/>
          </a:ln>
        </p:spPr>
      </p:sp>
      <p:sp>
        <p:nvSpPr>
          <p:cNvPr id="11" name="Text 9"/>
          <p:cNvSpPr/>
          <p:nvPr/>
        </p:nvSpPr>
        <p:spPr>
          <a:xfrm>
            <a:off x="1123950" y="3224213"/>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1.2</a:t>
            </a:r>
            <a:endParaRPr lang="en-US" sz="1425" dirty="0"/>
          </a:p>
        </p:txBody>
      </p:sp>
      <p:sp>
        <p:nvSpPr>
          <p:cNvPr id="12" name="Text 10"/>
          <p:cNvSpPr/>
          <p:nvPr/>
        </p:nvSpPr>
        <p:spPr>
          <a:xfrm>
            <a:off x="1800225" y="3319463"/>
            <a:ext cx="4767028"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Configure the Microsoft Sentinel SIEM and platform</a:t>
            </a:r>
            <a:endParaRPr lang="en-US" sz="1650" dirty="0"/>
          </a:p>
        </p:txBody>
      </p:sp>
      <p:sp>
        <p:nvSpPr>
          <p:cNvPr id="13" name="Shape 11"/>
          <p:cNvSpPr/>
          <p:nvPr/>
        </p:nvSpPr>
        <p:spPr>
          <a:xfrm>
            <a:off x="914400" y="4043363"/>
            <a:ext cx="16459200" cy="933450"/>
          </a:xfrm>
          <a:prstGeom prst="roundRect">
            <a:avLst>
              <a:gd name="adj" fmla="val 16327"/>
            </a:avLst>
          </a:prstGeom>
          <a:solidFill>
            <a:srgbClr val="FFFFFF">
              <a:alpha val="2000"/>
            </a:srgbClr>
          </a:solidFill>
          <a:ln w="9525">
            <a:solidFill>
              <a:srgbClr val="2A2F3A"/>
            </a:solidFill>
            <a:prstDash val="solid"/>
          </a:ln>
        </p:spPr>
      </p:sp>
      <p:sp>
        <p:nvSpPr>
          <p:cNvPr id="14" name="Shape 12"/>
          <p:cNvSpPr/>
          <p:nvPr/>
        </p:nvSpPr>
        <p:spPr>
          <a:xfrm>
            <a:off x="1152525" y="4281488"/>
            <a:ext cx="457200" cy="457200"/>
          </a:xfrm>
          <a:prstGeom prst="ellipse">
            <a:avLst/>
          </a:prstGeom>
          <a:solidFill>
            <a:srgbClr val="FF6A00">
              <a:alpha val="18000"/>
            </a:srgbClr>
          </a:solidFill>
          <a:ln w="9525">
            <a:solidFill>
              <a:srgbClr val="FF6A00"/>
            </a:solidFill>
            <a:prstDash val="solid"/>
          </a:ln>
        </p:spPr>
      </p:sp>
      <p:sp>
        <p:nvSpPr>
          <p:cNvPr id="15" name="Text 13"/>
          <p:cNvSpPr/>
          <p:nvPr/>
        </p:nvSpPr>
        <p:spPr>
          <a:xfrm>
            <a:off x="1123950" y="4291013"/>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1.3</a:t>
            </a:r>
            <a:endParaRPr lang="en-US" sz="1425" dirty="0"/>
          </a:p>
        </p:txBody>
      </p:sp>
      <p:sp>
        <p:nvSpPr>
          <p:cNvPr id="16" name="Text 14"/>
          <p:cNvSpPr/>
          <p:nvPr/>
        </p:nvSpPr>
        <p:spPr>
          <a:xfrm>
            <a:off x="1800225" y="4386263"/>
            <a:ext cx="5283012"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Ingest data into the Microsoft Sentinel SIEM and platform</a:t>
            </a:r>
            <a:endParaRPr lang="en-US" sz="1650" dirty="0"/>
          </a:p>
        </p:txBody>
      </p:sp>
      <p:sp>
        <p:nvSpPr>
          <p:cNvPr id="17" name="Shape 15"/>
          <p:cNvSpPr/>
          <p:nvPr/>
        </p:nvSpPr>
        <p:spPr>
          <a:xfrm>
            <a:off x="914400" y="5110163"/>
            <a:ext cx="16459200" cy="933450"/>
          </a:xfrm>
          <a:prstGeom prst="roundRect">
            <a:avLst>
              <a:gd name="adj" fmla="val 16327"/>
            </a:avLst>
          </a:prstGeom>
          <a:solidFill>
            <a:srgbClr val="FFFFFF">
              <a:alpha val="2000"/>
            </a:srgbClr>
          </a:solidFill>
          <a:ln w="9525">
            <a:solidFill>
              <a:srgbClr val="2A2F3A"/>
            </a:solidFill>
            <a:prstDash val="solid"/>
          </a:ln>
        </p:spPr>
      </p:sp>
      <p:sp>
        <p:nvSpPr>
          <p:cNvPr id="18" name="Shape 16"/>
          <p:cNvSpPr/>
          <p:nvPr/>
        </p:nvSpPr>
        <p:spPr>
          <a:xfrm>
            <a:off x="1152525" y="5348288"/>
            <a:ext cx="457200" cy="457200"/>
          </a:xfrm>
          <a:prstGeom prst="ellipse">
            <a:avLst/>
          </a:prstGeom>
          <a:solidFill>
            <a:srgbClr val="FF6A00">
              <a:alpha val="18000"/>
            </a:srgbClr>
          </a:solidFill>
          <a:ln w="9525">
            <a:solidFill>
              <a:srgbClr val="FF6A00"/>
            </a:solidFill>
            <a:prstDash val="solid"/>
          </a:ln>
        </p:spPr>
      </p:sp>
      <p:sp>
        <p:nvSpPr>
          <p:cNvPr id="19" name="Text 17"/>
          <p:cNvSpPr/>
          <p:nvPr/>
        </p:nvSpPr>
        <p:spPr>
          <a:xfrm>
            <a:off x="1123950" y="5357813"/>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1.4</a:t>
            </a:r>
            <a:endParaRPr lang="en-US" sz="1425" dirty="0"/>
          </a:p>
        </p:txBody>
      </p:sp>
      <p:sp>
        <p:nvSpPr>
          <p:cNvPr id="20" name="Text 18"/>
          <p:cNvSpPr/>
          <p:nvPr/>
        </p:nvSpPr>
        <p:spPr>
          <a:xfrm>
            <a:off x="1800225" y="5453063"/>
            <a:ext cx="1972121"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Configure detections</a:t>
            </a:r>
            <a:endParaRPr lang="en-US" sz="1650" dirty="0"/>
          </a:p>
        </p:txBody>
      </p:sp>
      <p:sp>
        <p:nvSpPr>
          <p:cNvPr id="21" name="Shape 19"/>
          <p:cNvSpPr/>
          <p:nvPr/>
        </p:nvSpPr>
        <p:spPr>
          <a:xfrm>
            <a:off x="914400" y="6234113"/>
            <a:ext cx="16459200" cy="700088"/>
          </a:xfrm>
          <a:prstGeom prst="roundRect">
            <a:avLst>
              <a:gd name="adj" fmla="val 21769"/>
            </a:avLst>
          </a:prstGeom>
          <a:solidFill>
            <a:srgbClr val="FFFFFF">
              <a:alpha val="2000"/>
            </a:srgbClr>
          </a:solidFill>
          <a:ln w="9525">
            <a:solidFill>
              <a:srgbClr val="2A2F3A"/>
            </a:solidFill>
            <a:prstDash val="solid"/>
          </a:ln>
        </p:spPr>
      </p:sp>
      <p:sp>
        <p:nvSpPr>
          <p:cNvPr id="22" name="Text 20"/>
          <p:cNvSpPr/>
          <p:nvPr/>
        </p:nvSpPr>
        <p:spPr>
          <a:xfrm>
            <a:off x="1152525" y="647223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You must configure and manage the SOC environment itself before you can respond to anything in it (Domain 2) or hunt within it (Domain 3).</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EXAM STRUCTURE</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Where This Module Sits in SC-200</a:t>
            </a:r>
            <a:endParaRPr lang="en-US" sz="4050" dirty="0"/>
          </a:p>
        </p:txBody>
      </p:sp>
      <p:sp>
        <p:nvSpPr>
          <p:cNvPr id="5" name="Shape 3"/>
          <p:cNvSpPr/>
          <p:nvPr/>
        </p:nvSpPr>
        <p:spPr>
          <a:xfrm>
            <a:off x="91440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6" name="Text 4"/>
          <p:cNvSpPr/>
          <p:nvPr/>
        </p:nvSpPr>
        <p:spPr>
          <a:xfrm>
            <a:off x="115252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F6A00"/>
                </a:solidFill>
                <a:latin typeface="Arial" pitchFamily="34" charset="0"/>
                <a:ea typeface="Arial" pitchFamily="34" charset="-122"/>
                <a:cs typeface="Arial" pitchFamily="34" charset="-120"/>
              </a:rPr>
              <a:t>40–45%</a:t>
            </a:r>
            <a:endParaRPr lang="en-US" sz="4200" dirty="0"/>
          </a:p>
        </p:txBody>
      </p:sp>
      <p:sp>
        <p:nvSpPr>
          <p:cNvPr id="7" name="Text 5"/>
          <p:cNvSpPr/>
          <p:nvPr/>
        </p:nvSpPr>
        <p:spPr>
          <a:xfrm>
            <a:off x="115252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1</a:t>
            </a:r>
            <a:endParaRPr lang="en-US" sz="1575" dirty="0"/>
          </a:p>
        </p:txBody>
      </p:sp>
      <p:sp>
        <p:nvSpPr>
          <p:cNvPr id="8" name="Text 6"/>
          <p:cNvSpPr/>
          <p:nvPr/>
        </p:nvSpPr>
        <p:spPr>
          <a:xfrm>
            <a:off x="115252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Manage a security operations environment</a:t>
            </a:r>
            <a:endParaRPr lang="en-US" sz="1425" dirty="0"/>
          </a:p>
        </p:txBody>
      </p:sp>
      <p:sp>
        <p:nvSpPr>
          <p:cNvPr id="9" name="Shape 7"/>
          <p:cNvSpPr/>
          <p:nvPr/>
        </p:nvSpPr>
        <p:spPr>
          <a:xfrm>
            <a:off x="645795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10" name="Text 8"/>
          <p:cNvSpPr/>
          <p:nvPr/>
        </p:nvSpPr>
        <p:spPr>
          <a:xfrm>
            <a:off x="669607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B8C0CF"/>
                </a:solidFill>
                <a:latin typeface="Arial" pitchFamily="34" charset="0"/>
                <a:ea typeface="Arial" pitchFamily="34" charset="-122"/>
                <a:cs typeface="Arial" pitchFamily="34" charset="-120"/>
              </a:rPr>
              <a:t>35–40%</a:t>
            </a:r>
            <a:endParaRPr lang="en-US" sz="4200" dirty="0"/>
          </a:p>
        </p:txBody>
      </p:sp>
      <p:sp>
        <p:nvSpPr>
          <p:cNvPr id="11" name="Text 9"/>
          <p:cNvSpPr/>
          <p:nvPr/>
        </p:nvSpPr>
        <p:spPr>
          <a:xfrm>
            <a:off x="669607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2</a:t>
            </a:r>
            <a:endParaRPr lang="en-US" sz="1575" dirty="0"/>
          </a:p>
        </p:txBody>
      </p:sp>
      <p:sp>
        <p:nvSpPr>
          <p:cNvPr id="12" name="Text 10"/>
          <p:cNvSpPr/>
          <p:nvPr/>
        </p:nvSpPr>
        <p:spPr>
          <a:xfrm>
            <a:off x="669607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Respond to security incidents</a:t>
            </a:r>
            <a:endParaRPr lang="en-US" sz="1425" dirty="0"/>
          </a:p>
        </p:txBody>
      </p:sp>
      <p:sp>
        <p:nvSpPr>
          <p:cNvPr id="13" name="Shape 11"/>
          <p:cNvSpPr/>
          <p:nvPr/>
        </p:nvSpPr>
        <p:spPr>
          <a:xfrm>
            <a:off x="1200150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14" name="Text 12"/>
          <p:cNvSpPr/>
          <p:nvPr/>
        </p:nvSpPr>
        <p:spPr>
          <a:xfrm>
            <a:off x="1223962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B8C0CF"/>
                </a:solidFill>
                <a:latin typeface="Arial" pitchFamily="34" charset="0"/>
                <a:ea typeface="Arial" pitchFamily="34" charset="-122"/>
                <a:cs typeface="Arial" pitchFamily="34" charset="-120"/>
              </a:rPr>
              <a:t>20–25%</a:t>
            </a:r>
            <a:endParaRPr lang="en-US" sz="4200" dirty="0"/>
          </a:p>
        </p:txBody>
      </p:sp>
      <p:sp>
        <p:nvSpPr>
          <p:cNvPr id="15" name="Text 13"/>
          <p:cNvSpPr/>
          <p:nvPr/>
        </p:nvSpPr>
        <p:spPr>
          <a:xfrm>
            <a:off x="1223962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3</a:t>
            </a:r>
            <a:endParaRPr lang="en-US" sz="1575" dirty="0"/>
          </a:p>
        </p:txBody>
      </p:sp>
      <p:sp>
        <p:nvSpPr>
          <p:cNvPr id="16" name="Text 14"/>
          <p:cNvSpPr/>
          <p:nvPr/>
        </p:nvSpPr>
        <p:spPr>
          <a:xfrm>
            <a:off x="1223962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Perform threat hunting</a:t>
            </a:r>
            <a:endParaRPr lang="en-US" sz="1425" dirty="0"/>
          </a:p>
        </p:txBody>
      </p:sp>
      <p:sp>
        <p:nvSpPr>
          <p:cNvPr id="17" name="Shape 15"/>
          <p:cNvSpPr/>
          <p:nvPr/>
        </p:nvSpPr>
        <p:spPr>
          <a:xfrm>
            <a:off x="914400" y="8963025"/>
            <a:ext cx="16459200" cy="714375"/>
          </a:xfrm>
          <a:prstGeom prst="roundRect">
            <a:avLst>
              <a:gd name="adj" fmla="val 21333"/>
            </a:avLst>
          </a:prstGeom>
          <a:solidFill>
            <a:srgbClr val="FFFFFF">
              <a:alpha val="2000"/>
            </a:srgbClr>
          </a:solidFill>
          <a:ln w="9525">
            <a:solidFill>
              <a:srgbClr val="2A2F3A"/>
            </a:solidFill>
            <a:prstDash val="solid"/>
          </a:ln>
        </p:spPr>
      </p:sp>
      <p:sp>
        <p:nvSpPr>
          <p:cNvPr id="18" name="Text 16"/>
          <p:cNvSpPr/>
          <p:nvPr/>
        </p:nvSpPr>
        <p:spPr>
          <a:xfrm>
            <a:off x="1152525" y="9201150"/>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B8C0CF"/>
                </a:solidFill>
                <a:latin typeface="Arial" pitchFamily="34" charset="0"/>
                <a:ea typeface="Arial" pitchFamily="34" charset="-122"/>
                <a:cs typeface="Arial" pitchFamily="34" charset="-120"/>
              </a:rPr>
              <a:t>Passing score 700 (scale 100–1000) · Skills measured as of 28 July 2026 · Question formats include case studies, drag-and-drop, hot area, and build list</a:t>
            </a:r>
            <a:endParaRPr lang="en-US" sz="15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ORIENTATION</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The Microsoft Security Product Landscape</a:t>
            </a:r>
            <a:endParaRPr lang="en-US" sz="4050" dirty="0"/>
          </a:p>
        </p:txBody>
      </p:sp>
      <p:sp>
        <p:nvSpPr>
          <p:cNvPr id="5" name="Shape 3"/>
          <p:cNvSpPr/>
          <p:nvPr/>
        </p:nvSpPr>
        <p:spPr>
          <a:xfrm>
            <a:off x="914400" y="1890713"/>
            <a:ext cx="5384750" cy="1271588"/>
          </a:xfrm>
          <a:prstGeom prst="roundRect">
            <a:avLst>
              <a:gd name="adj" fmla="val 11985"/>
            </a:avLst>
          </a:prstGeom>
          <a:solidFill>
            <a:srgbClr val="FFFFFF">
              <a:alpha val="2000"/>
            </a:srgbClr>
          </a:solidFill>
          <a:ln w="9525">
            <a:solidFill>
              <a:srgbClr val="2A2F3A"/>
            </a:solidFill>
            <a:prstDash val="solid"/>
          </a:ln>
        </p:spPr>
      </p:sp>
      <p:sp>
        <p:nvSpPr>
          <p:cNvPr id="6" name="Text 4"/>
          <p:cNvSpPr/>
          <p:nvPr/>
        </p:nvSpPr>
        <p:spPr>
          <a:xfrm>
            <a:off x="1152525" y="2128838"/>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DEFENDER XDR</a:t>
            </a:r>
            <a:endParaRPr lang="en-US" sz="1350" dirty="0"/>
          </a:p>
        </p:txBody>
      </p:sp>
      <p:sp>
        <p:nvSpPr>
          <p:cNvPr id="7" name="Text 5"/>
          <p:cNvSpPr/>
          <p:nvPr/>
        </p:nvSpPr>
        <p:spPr>
          <a:xfrm>
            <a:off x="1152525" y="2409825"/>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Unified extended detection and response across endpoints, identities, email, and apps</a:t>
            </a:r>
            <a:endParaRPr lang="en-US" sz="1350" dirty="0"/>
          </a:p>
        </p:txBody>
      </p:sp>
      <p:sp>
        <p:nvSpPr>
          <p:cNvPr id="8" name="Shape 6"/>
          <p:cNvSpPr/>
          <p:nvPr/>
        </p:nvSpPr>
        <p:spPr>
          <a:xfrm>
            <a:off x="6451550" y="1890713"/>
            <a:ext cx="5384825" cy="1271588"/>
          </a:xfrm>
          <a:prstGeom prst="roundRect">
            <a:avLst>
              <a:gd name="adj" fmla="val 11985"/>
            </a:avLst>
          </a:prstGeom>
          <a:solidFill>
            <a:srgbClr val="FFFFFF">
              <a:alpha val="2000"/>
            </a:srgbClr>
          </a:solidFill>
          <a:ln w="9525">
            <a:solidFill>
              <a:srgbClr val="2A2F3A"/>
            </a:solidFill>
            <a:prstDash val="solid"/>
          </a:ln>
        </p:spPr>
      </p:sp>
      <p:sp>
        <p:nvSpPr>
          <p:cNvPr id="9" name="Text 7"/>
          <p:cNvSpPr/>
          <p:nvPr/>
        </p:nvSpPr>
        <p:spPr>
          <a:xfrm>
            <a:off x="6689675" y="2128838"/>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MICROSOFT SENTINEL</a:t>
            </a:r>
            <a:endParaRPr lang="en-US" sz="1350" dirty="0"/>
          </a:p>
        </p:txBody>
      </p:sp>
      <p:sp>
        <p:nvSpPr>
          <p:cNvPr id="10" name="Text 8"/>
          <p:cNvSpPr/>
          <p:nvPr/>
        </p:nvSpPr>
        <p:spPr>
          <a:xfrm>
            <a:off x="6689675" y="2409825"/>
            <a:ext cx="5055832"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Cloud-native SIEM and security platform for ingestion, analytics, and orchestration</a:t>
            </a:r>
            <a:endParaRPr lang="en-US" sz="1350" dirty="0"/>
          </a:p>
        </p:txBody>
      </p:sp>
      <p:sp>
        <p:nvSpPr>
          <p:cNvPr id="11" name="Shape 9"/>
          <p:cNvSpPr/>
          <p:nvPr/>
        </p:nvSpPr>
        <p:spPr>
          <a:xfrm>
            <a:off x="11988775" y="1890713"/>
            <a:ext cx="5384750" cy="1271588"/>
          </a:xfrm>
          <a:prstGeom prst="roundRect">
            <a:avLst>
              <a:gd name="adj" fmla="val 11985"/>
            </a:avLst>
          </a:prstGeom>
          <a:solidFill>
            <a:srgbClr val="FFFFFF">
              <a:alpha val="2000"/>
            </a:srgbClr>
          </a:solidFill>
          <a:ln w="9525">
            <a:solidFill>
              <a:srgbClr val="2A2F3A"/>
            </a:solidFill>
            <a:prstDash val="solid"/>
          </a:ln>
        </p:spPr>
      </p:sp>
      <p:sp>
        <p:nvSpPr>
          <p:cNvPr id="12" name="Text 10"/>
          <p:cNvSpPr/>
          <p:nvPr/>
        </p:nvSpPr>
        <p:spPr>
          <a:xfrm>
            <a:off x="12226900" y="2128838"/>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DEFENDER FOR ENDPOINT</a:t>
            </a:r>
            <a:endParaRPr lang="en-US" sz="1350" dirty="0"/>
          </a:p>
        </p:txBody>
      </p:sp>
      <p:sp>
        <p:nvSpPr>
          <p:cNvPr id="13" name="Text 11"/>
          <p:cNvSpPr/>
          <p:nvPr/>
        </p:nvSpPr>
        <p:spPr>
          <a:xfrm>
            <a:off x="12226900" y="2409825"/>
            <a:ext cx="5399350"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Endpoint protection, detection, and response for devices</a:t>
            </a:r>
            <a:endParaRPr lang="en-US" sz="1350" dirty="0"/>
          </a:p>
        </p:txBody>
      </p:sp>
      <p:sp>
        <p:nvSpPr>
          <p:cNvPr id="14" name="Shape 12"/>
          <p:cNvSpPr/>
          <p:nvPr/>
        </p:nvSpPr>
        <p:spPr>
          <a:xfrm>
            <a:off x="914400" y="3314700"/>
            <a:ext cx="5384750" cy="1271588"/>
          </a:xfrm>
          <a:prstGeom prst="roundRect">
            <a:avLst>
              <a:gd name="adj" fmla="val 11985"/>
            </a:avLst>
          </a:prstGeom>
          <a:solidFill>
            <a:srgbClr val="FFFFFF">
              <a:alpha val="2000"/>
            </a:srgbClr>
          </a:solidFill>
          <a:ln w="9525">
            <a:solidFill>
              <a:srgbClr val="2A2F3A"/>
            </a:solidFill>
            <a:prstDash val="solid"/>
          </a:ln>
        </p:spPr>
      </p:sp>
      <p:sp>
        <p:nvSpPr>
          <p:cNvPr id="15" name="Text 13"/>
          <p:cNvSpPr/>
          <p:nvPr/>
        </p:nvSpPr>
        <p:spPr>
          <a:xfrm>
            <a:off x="1152525" y="355282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MICROSOFT ENTRA ID</a:t>
            </a:r>
            <a:endParaRPr lang="en-US" sz="1350" dirty="0"/>
          </a:p>
        </p:txBody>
      </p:sp>
      <p:sp>
        <p:nvSpPr>
          <p:cNvPr id="16" name="Text 14"/>
          <p:cNvSpPr/>
          <p:nvPr/>
        </p:nvSpPr>
        <p:spPr>
          <a:xfrm>
            <a:off x="1152525" y="3833812"/>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Identity and access management, and the source of identity risk signals</a:t>
            </a:r>
            <a:endParaRPr lang="en-US" sz="1350" dirty="0"/>
          </a:p>
        </p:txBody>
      </p:sp>
      <p:sp>
        <p:nvSpPr>
          <p:cNvPr id="17" name="Shape 15"/>
          <p:cNvSpPr/>
          <p:nvPr/>
        </p:nvSpPr>
        <p:spPr>
          <a:xfrm>
            <a:off x="6451550" y="3314700"/>
            <a:ext cx="5384825" cy="1271588"/>
          </a:xfrm>
          <a:prstGeom prst="roundRect">
            <a:avLst>
              <a:gd name="adj" fmla="val 11985"/>
            </a:avLst>
          </a:prstGeom>
          <a:solidFill>
            <a:srgbClr val="FFFFFF">
              <a:alpha val="2000"/>
            </a:srgbClr>
          </a:solidFill>
          <a:ln w="9525">
            <a:solidFill>
              <a:srgbClr val="2A2F3A"/>
            </a:solidFill>
            <a:prstDash val="solid"/>
          </a:ln>
        </p:spPr>
      </p:sp>
      <p:sp>
        <p:nvSpPr>
          <p:cNvPr id="18" name="Text 16"/>
          <p:cNvSpPr/>
          <p:nvPr/>
        </p:nvSpPr>
        <p:spPr>
          <a:xfrm>
            <a:off x="6689675" y="3552825"/>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MICROSOFT PURVIEW</a:t>
            </a:r>
            <a:endParaRPr lang="en-US" sz="1350" dirty="0"/>
          </a:p>
        </p:txBody>
      </p:sp>
      <p:sp>
        <p:nvSpPr>
          <p:cNvPr id="19" name="Text 17"/>
          <p:cNvSpPr/>
          <p:nvPr/>
        </p:nvSpPr>
        <p:spPr>
          <a:xfrm>
            <a:off x="6689675" y="3833812"/>
            <a:ext cx="5399432"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Data governance, compliance, audit, and eDiscovery</a:t>
            </a:r>
            <a:endParaRPr lang="en-US" sz="1350" dirty="0"/>
          </a:p>
        </p:txBody>
      </p:sp>
      <p:sp>
        <p:nvSpPr>
          <p:cNvPr id="20" name="Shape 18"/>
          <p:cNvSpPr/>
          <p:nvPr/>
        </p:nvSpPr>
        <p:spPr>
          <a:xfrm>
            <a:off x="11988775" y="3314700"/>
            <a:ext cx="5384750" cy="1271588"/>
          </a:xfrm>
          <a:prstGeom prst="roundRect">
            <a:avLst>
              <a:gd name="adj" fmla="val 11985"/>
            </a:avLst>
          </a:prstGeom>
          <a:solidFill>
            <a:srgbClr val="FFFFFF">
              <a:alpha val="2000"/>
            </a:srgbClr>
          </a:solidFill>
          <a:ln w="9525">
            <a:solidFill>
              <a:srgbClr val="2A2F3A"/>
            </a:solidFill>
            <a:prstDash val="solid"/>
          </a:ln>
        </p:spPr>
      </p:sp>
      <p:sp>
        <p:nvSpPr>
          <p:cNvPr id="21" name="Text 19"/>
          <p:cNvSpPr/>
          <p:nvPr/>
        </p:nvSpPr>
        <p:spPr>
          <a:xfrm>
            <a:off x="12226900" y="355282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DEFENDER FOR CLOUD</a:t>
            </a:r>
            <a:endParaRPr lang="en-US" sz="1350" dirty="0"/>
          </a:p>
        </p:txBody>
      </p:sp>
      <p:sp>
        <p:nvSpPr>
          <p:cNvPr id="22" name="Text 20"/>
          <p:cNvSpPr/>
          <p:nvPr/>
        </p:nvSpPr>
        <p:spPr>
          <a:xfrm>
            <a:off x="12226900" y="3833812"/>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Workload protections across multi-cloud and hybrid infrastructure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7580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1.1</a:t>
            </a:r>
            <a:endParaRPr lang="en-US" sz="1575" dirty="0"/>
          </a:p>
        </p:txBody>
      </p:sp>
      <p:sp>
        <p:nvSpPr>
          <p:cNvPr id="4" name="Text 2"/>
          <p:cNvSpPr/>
          <p:nvPr/>
        </p:nvSpPr>
        <p:spPr>
          <a:xfrm>
            <a:off x="914400" y="4485382"/>
            <a:ext cx="16952976" cy="1211461"/>
          </a:xfrm>
          <a:prstGeom prst="rect">
            <a:avLst/>
          </a:prstGeom>
          <a:noFill/>
          <a:ln/>
        </p:spPr>
        <p:txBody>
          <a:bodyPr wrap="square" lIns="25400" tIns="25400" rIns="25400" bIns="25400" rtlCol="0" anchor="t">
            <a:normAutofit/>
          </a:bodyPr>
          <a:lstStyle/>
          <a:p>
            <a:pPr algn="l" indent="0" marL="0">
              <a:lnSpc>
                <a:spcPct val="95504"/>
              </a:lnSpc>
              <a:buNone/>
            </a:pPr>
            <a:r>
              <a:rPr lang="en-US" sz="4200" b="1" dirty="0">
                <a:solidFill>
                  <a:srgbClr val="F5F7FB"/>
                </a:solidFill>
                <a:latin typeface="Arial" pitchFamily="34" charset="0"/>
                <a:ea typeface="Arial" pitchFamily="34" charset="-122"/>
                <a:cs typeface="Arial" pitchFamily="34" charset="-120"/>
              </a:rPr>
              <a:t>Configure Automation for Defender XDR &amp; Sentinel</a:t>
            </a:r>
            <a:endParaRPr lang="en-US" sz="4200" dirty="0"/>
          </a:p>
        </p:txBody>
      </p:sp>
      <p:sp>
        <p:nvSpPr>
          <p:cNvPr id="5" name="Text 3"/>
          <p:cNvSpPr/>
          <p:nvPr/>
        </p:nvSpPr>
        <p:spPr>
          <a:xfrm>
            <a:off x="914400" y="584924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Eleven measured tasks — notifications, Defender for Endpoint configuration, AIR, attack disruption, and Sentinel automation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8986"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7536"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1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Email Notifications in Defender XDR</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Configurable email alerts that push Defender XDR activity to named recipients, covering three distinct notification types: incidents, actions, and threat analytics.</a:t>
            </a:r>
            <a:endParaRPr lang="en-US" sz="1800" dirty="0"/>
          </a:p>
        </p:txBody>
      </p:sp>
      <p:sp>
        <p:nvSpPr>
          <p:cNvPr id="7" name="Shape 5"/>
          <p:cNvSpPr/>
          <p:nvPr/>
        </p:nvSpPr>
        <p:spPr>
          <a:xfrm>
            <a:off x="914400"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INCIDENTS</a:t>
            </a:r>
            <a:endParaRPr lang="en-US" sz="1350" dirty="0"/>
          </a:p>
        </p:txBody>
      </p:sp>
      <p:sp>
        <p:nvSpPr>
          <p:cNvPr id="9" name="Text 7"/>
          <p:cNvSpPr/>
          <p:nvPr/>
        </p:nvSpPr>
        <p:spPr>
          <a:xfrm>
            <a:off x="1152525" y="2959373"/>
            <a:ext cx="5399350"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Notify when a new incident is created or its severity changes</a:t>
            </a:r>
            <a:endParaRPr lang="en-US" sz="1350" dirty="0"/>
          </a:p>
        </p:txBody>
      </p:sp>
      <p:sp>
        <p:nvSpPr>
          <p:cNvPr id="10" name="Shape 8"/>
          <p:cNvSpPr/>
          <p:nvPr/>
        </p:nvSpPr>
        <p:spPr>
          <a:xfrm>
            <a:off x="6451550" y="2440260"/>
            <a:ext cx="538482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6689675" y="2678385"/>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ACTIONS</a:t>
            </a:r>
            <a:endParaRPr lang="en-US" sz="1350" dirty="0"/>
          </a:p>
        </p:txBody>
      </p:sp>
      <p:sp>
        <p:nvSpPr>
          <p:cNvPr id="12" name="Text 10"/>
          <p:cNvSpPr/>
          <p:nvPr/>
        </p:nvSpPr>
        <p:spPr>
          <a:xfrm>
            <a:off x="6689675" y="2959373"/>
            <a:ext cx="5399432"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Notify when automated or manual remediation actions are taken</a:t>
            </a:r>
            <a:endParaRPr lang="en-US" sz="1350" dirty="0"/>
          </a:p>
        </p:txBody>
      </p:sp>
      <p:sp>
        <p:nvSpPr>
          <p:cNvPr id="13" name="Shape 11"/>
          <p:cNvSpPr/>
          <p:nvPr/>
        </p:nvSpPr>
        <p:spPr>
          <a:xfrm>
            <a:off x="11988775"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14" name="Text 12"/>
          <p:cNvSpPr/>
          <p:nvPr/>
        </p:nvSpPr>
        <p:spPr>
          <a:xfrm>
            <a:off x="12226900"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THREAT ANALYTICS</a:t>
            </a:r>
            <a:endParaRPr lang="en-US" sz="1350" dirty="0"/>
          </a:p>
        </p:txBody>
      </p:sp>
      <p:sp>
        <p:nvSpPr>
          <p:cNvPr id="15" name="Text 13"/>
          <p:cNvSpPr/>
          <p:nvPr/>
        </p:nvSpPr>
        <p:spPr>
          <a:xfrm>
            <a:off x="12226900"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Notify when new threat analytics reports relevant to the tenant are published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773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628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2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Alert Notifications: Tuning, Suppression &amp; Correlation</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Three related mechanisms for controlling alert volume and quality in Defender XDR — commonly confused on the exam, so learn the distinction precisely.</a:t>
            </a:r>
            <a:endParaRPr lang="en-US" sz="1800" dirty="0"/>
          </a:p>
        </p:txBody>
      </p:sp>
      <p:sp>
        <p:nvSpPr>
          <p:cNvPr id="7" name="Shape 5"/>
          <p:cNvSpPr/>
          <p:nvPr/>
        </p:nvSpPr>
        <p:spPr>
          <a:xfrm>
            <a:off x="914400"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TUNING</a:t>
            </a:r>
            <a:endParaRPr lang="en-US" sz="1350" dirty="0"/>
          </a:p>
        </p:txBody>
      </p:sp>
      <p:sp>
        <p:nvSpPr>
          <p:cNvPr id="9" name="Text 7"/>
          <p:cNvSpPr/>
          <p:nvPr/>
        </p:nvSpPr>
        <p:spPr>
          <a:xfrm>
            <a:off x="1152525"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Adjusting alert conditions so a rule fires more or less aggressively</a:t>
            </a:r>
            <a:endParaRPr lang="en-US" sz="1350" dirty="0"/>
          </a:p>
        </p:txBody>
      </p:sp>
      <p:sp>
        <p:nvSpPr>
          <p:cNvPr id="10" name="Shape 8"/>
          <p:cNvSpPr/>
          <p:nvPr/>
        </p:nvSpPr>
        <p:spPr>
          <a:xfrm>
            <a:off x="6451550" y="2440260"/>
            <a:ext cx="538482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6689675" y="2678385"/>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SUPPRESSION</a:t>
            </a:r>
            <a:endParaRPr lang="en-US" sz="1350" dirty="0"/>
          </a:p>
        </p:txBody>
      </p:sp>
      <p:sp>
        <p:nvSpPr>
          <p:cNvPr id="12" name="Text 10"/>
          <p:cNvSpPr/>
          <p:nvPr/>
        </p:nvSpPr>
        <p:spPr>
          <a:xfrm>
            <a:off x="6689675" y="2959373"/>
            <a:ext cx="5399432"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Preventing specific known-benign alerts from being raised at all</a:t>
            </a:r>
            <a:endParaRPr lang="en-US" sz="1350" dirty="0"/>
          </a:p>
        </p:txBody>
      </p:sp>
      <p:sp>
        <p:nvSpPr>
          <p:cNvPr id="13" name="Shape 11"/>
          <p:cNvSpPr/>
          <p:nvPr/>
        </p:nvSpPr>
        <p:spPr>
          <a:xfrm>
            <a:off x="11988775"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14" name="Text 12"/>
          <p:cNvSpPr/>
          <p:nvPr/>
        </p:nvSpPr>
        <p:spPr>
          <a:xfrm>
            <a:off x="12226900"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CORRELATION</a:t>
            </a:r>
            <a:endParaRPr lang="en-US" sz="1350" dirty="0"/>
          </a:p>
        </p:txBody>
      </p:sp>
      <p:sp>
        <p:nvSpPr>
          <p:cNvPr id="15" name="Text 13"/>
          <p:cNvSpPr/>
          <p:nvPr/>
        </p:nvSpPr>
        <p:spPr>
          <a:xfrm>
            <a:off x="12226900"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Grouping related alerts into a single incident to reduce analyst noise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5145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8000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3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Defender for Endpoint Advanced Features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Tenant-level toggles that enable deeper capability and cross-product integration for Defender for Endpoint — including automated investigation, live response, and connections to other Microsoft security services.</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Several later capabilities in this course — live response, AIR, cross-product signal sharing — simply do not work until the relevant advanced feature is enabled.</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Exam scenarios where a capability "isn't available" are often really testing whether you know an advanced feature must be switched on first.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54064"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82614"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4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Rules Settings in Defender for Endpoint</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Configuration governing how Defender for Endpoint rules behave — including alert suppression rules, indicator rules, and web content filtering rules that shape what the product acts on.</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Rules settings are the primary lever for reducing false positives without disabling detection entirely.</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An over-broad suppression rule can silence genuine detections — scope rules as tightly as the scenario allows.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5071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9265"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5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Custom Data Collection in Defender for Endpoint</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Extending the telemetry Defender for Endpoint gathers from onboarded devices beyond its default signal set, so investigations and hunting queries have the evidence they need.</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You cannot hunt for what was never collected — collection decisions here directly constrain Domain 3.</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TRADE-OFF</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More telemetry means better visibility but higher ingestion cost and retention overhead.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53543"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8209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6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Security Policies &amp; Attack Surface Reduction (ASR) Rules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ASR rules block common attack techniques at the endpoint — for example blocking Office applications from creating child processes, or blocking credential theft from LSASS — before an attack can progress.</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DEPLOYMENT MODES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Rules can run in audit mode (log only) or block mode (enforce) — audit first is the standard safe rollout pattern.</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ASR is preventive, not detective: it reduces the attack surface rather than alerting after the fact.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2232"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0782"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7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Automated Investigation &amp; Response (AIR)</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Defender XDR automatically investigates alerts, gathers evidence, determines verdicts, and — depending on the configured automation level — either recommends or executes remediation actions without analyst intervention.</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AIR is the primary mechanism for reducing mean time to remediate on high-volume, well-understood alerts.</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Whether AIR acts or only recommends depends entirely on the device group's automation level — covered shortly.</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55031"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83581"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8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Automatic Attack Disruption</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Defender XDR correlates high-confidence signals across products and automatically contains an attack in progress — for example disabling a compromised account or isolating a device — while the attack is still unfolding.</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DISTINCT FROM AIR</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AIR investigates and remediates an alert; attack disruption intervenes mid-attack to break the attack chain.</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Appears again in Domain 2, where you investigate and remediate incidents that attack disruption has already acted on.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53543"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8209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9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Device Groups, Permissions &amp; Automation Levels</a:t>
            </a:r>
            <a:endParaRPr lang="en-US" sz="4050" dirty="0"/>
          </a:p>
        </p:txBody>
      </p:sp>
      <p:sp>
        <p:nvSpPr>
          <p:cNvPr id="6" name="Shape 4"/>
          <p:cNvSpPr/>
          <p:nvPr/>
        </p:nvSpPr>
        <p:spPr>
          <a:xfrm>
            <a:off x="914400" y="1914525"/>
            <a:ext cx="5384750" cy="1271588"/>
          </a:xfrm>
          <a:prstGeom prst="roundRect">
            <a:avLst>
              <a:gd name="adj" fmla="val 11985"/>
            </a:avLst>
          </a:prstGeom>
          <a:solidFill>
            <a:srgbClr val="FFFFFF">
              <a:alpha val="2000"/>
            </a:srgbClr>
          </a:solidFill>
          <a:ln w="9525">
            <a:solidFill>
              <a:srgbClr val="2A2F3A"/>
            </a:solidFill>
            <a:prstDash val="solid"/>
          </a:ln>
        </p:spPr>
      </p:sp>
      <p:sp>
        <p:nvSpPr>
          <p:cNvPr id="7" name="Text 5"/>
          <p:cNvSpPr/>
          <p:nvPr/>
        </p:nvSpPr>
        <p:spPr>
          <a:xfrm>
            <a:off x="1152525" y="2152650"/>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DEVICE GROUPS</a:t>
            </a:r>
            <a:endParaRPr lang="en-US" sz="1350" dirty="0"/>
          </a:p>
        </p:txBody>
      </p:sp>
      <p:sp>
        <p:nvSpPr>
          <p:cNvPr id="8" name="Text 6"/>
          <p:cNvSpPr/>
          <p:nvPr/>
        </p:nvSpPr>
        <p:spPr>
          <a:xfrm>
            <a:off x="1152525" y="2433638"/>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Logical groupings of onboarded devices, defined by rules, that scope both access and automation behaviour</a:t>
            </a:r>
            <a:endParaRPr lang="en-US" sz="1350" dirty="0"/>
          </a:p>
        </p:txBody>
      </p:sp>
      <p:sp>
        <p:nvSpPr>
          <p:cNvPr id="9" name="Shape 7"/>
          <p:cNvSpPr/>
          <p:nvPr/>
        </p:nvSpPr>
        <p:spPr>
          <a:xfrm>
            <a:off x="6451550" y="1914525"/>
            <a:ext cx="5384825" cy="1271588"/>
          </a:xfrm>
          <a:prstGeom prst="roundRect">
            <a:avLst>
              <a:gd name="adj" fmla="val 11985"/>
            </a:avLst>
          </a:prstGeom>
          <a:solidFill>
            <a:srgbClr val="FFFFFF">
              <a:alpha val="2000"/>
            </a:srgbClr>
          </a:solidFill>
          <a:ln w="9525">
            <a:solidFill>
              <a:srgbClr val="2A2F3A"/>
            </a:solidFill>
            <a:prstDash val="solid"/>
          </a:ln>
        </p:spPr>
      </p:sp>
      <p:sp>
        <p:nvSpPr>
          <p:cNvPr id="10" name="Text 8"/>
          <p:cNvSpPr/>
          <p:nvPr/>
        </p:nvSpPr>
        <p:spPr>
          <a:xfrm>
            <a:off x="6689675" y="2152650"/>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PERMISSIONS</a:t>
            </a:r>
            <a:endParaRPr lang="en-US" sz="1350" dirty="0"/>
          </a:p>
        </p:txBody>
      </p:sp>
      <p:sp>
        <p:nvSpPr>
          <p:cNvPr id="11" name="Text 9"/>
          <p:cNvSpPr/>
          <p:nvPr/>
        </p:nvSpPr>
        <p:spPr>
          <a:xfrm>
            <a:off x="6689675" y="2433638"/>
            <a:ext cx="5055832"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Role-based access assigned per device group, controlling which analysts can see and act on which devices</a:t>
            </a:r>
            <a:endParaRPr lang="en-US" sz="1350" dirty="0"/>
          </a:p>
        </p:txBody>
      </p:sp>
      <p:sp>
        <p:nvSpPr>
          <p:cNvPr id="12" name="Shape 10"/>
          <p:cNvSpPr/>
          <p:nvPr/>
        </p:nvSpPr>
        <p:spPr>
          <a:xfrm>
            <a:off x="11988775" y="1914525"/>
            <a:ext cx="5384750" cy="1271588"/>
          </a:xfrm>
          <a:prstGeom prst="roundRect">
            <a:avLst>
              <a:gd name="adj" fmla="val 11985"/>
            </a:avLst>
          </a:prstGeom>
          <a:solidFill>
            <a:srgbClr val="FFFFFF">
              <a:alpha val="2000"/>
            </a:srgbClr>
          </a:solidFill>
          <a:ln w="9525">
            <a:solidFill>
              <a:srgbClr val="2A2F3A"/>
            </a:solidFill>
            <a:prstDash val="solid"/>
          </a:ln>
        </p:spPr>
      </p:sp>
      <p:sp>
        <p:nvSpPr>
          <p:cNvPr id="13" name="Text 11"/>
          <p:cNvSpPr/>
          <p:nvPr/>
        </p:nvSpPr>
        <p:spPr>
          <a:xfrm>
            <a:off x="12226900" y="2152650"/>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AUTOMATION LEVELS</a:t>
            </a:r>
            <a:endParaRPr lang="en-US" sz="1350" dirty="0"/>
          </a:p>
        </p:txBody>
      </p:sp>
      <p:sp>
        <p:nvSpPr>
          <p:cNvPr id="14" name="Text 12"/>
          <p:cNvSpPr/>
          <p:nvPr/>
        </p:nvSpPr>
        <p:spPr>
          <a:xfrm>
            <a:off x="12226900" y="2433638"/>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Per-group setting determining how much AIR may do automatically versus only recommend</a:t>
            </a:r>
            <a:endParaRPr lang="en-US" sz="1350" dirty="0"/>
          </a:p>
        </p:txBody>
      </p:sp>
      <p:sp>
        <p:nvSpPr>
          <p:cNvPr id="15" name="Shape 13"/>
          <p:cNvSpPr/>
          <p:nvPr/>
        </p:nvSpPr>
        <p:spPr>
          <a:xfrm>
            <a:off x="914400" y="3376613"/>
            <a:ext cx="16459200" cy="700088"/>
          </a:xfrm>
          <a:prstGeom prst="roundRect">
            <a:avLst>
              <a:gd name="adj" fmla="val 21769"/>
            </a:avLst>
          </a:prstGeom>
          <a:solidFill>
            <a:srgbClr val="FFFFFF">
              <a:alpha val="2000"/>
            </a:srgbClr>
          </a:solidFill>
          <a:ln w="9525">
            <a:solidFill>
              <a:srgbClr val="2A2F3A"/>
            </a:solidFill>
            <a:prstDash val="solid"/>
          </a:ln>
        </p:spPr>
      </p:sp>
      <p:sp>
        <p:nvSpPr>
          <p:cNvPr id="16" name="Text 14"/>
          <p:cNvSpPr/>
          <p:nvPr/>
        </p:nvSpPr>
        <p:spPr>
          <a:xfrm>
            <a:off x="1152525" y="361473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Exam insight: automation level is set on the device group, not globally — the same tenant can run full automation on workstations and recommendation-only on servers.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228404"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56954"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10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Microsoft Sentinel Automation Rules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Lightweight, condition-based rules inside Sentinel that act on incidents and alerts — assigning owners, changing severity, adding tags, closing incidents, or triggering a playbook.</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STRENGTH</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Fast to build, centrally ordered, and ideal for triage housekeeping at scale.</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LIMITATION</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Limited to Sentinel's own built-in actions — anything external requires a playbook.</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203698"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32248"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1.1 · Task 11 of 11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Microsoft Sentinel Playbooks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Automated response workflows built on Azure Logic Apps, able to call external systems — ticketing, messaging, third-party APIs, or custom logic — in response to a Sentinel alert or incident.</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STRENGTH</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Effectively unlimited integration reach through Logic Apps connectors.</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TRADE-OFF</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More powerful but heavier to build, test, and maintain than an automation rule.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CRITICAL DISTINCTION</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Automation Rules vs Playbooks</a:t>
            </a:r>
            <a:endParaRPr lang="en-US" sz="4050" dirty="0"/>
          </a:p>
        </p:txBody>
      </p:sp>
      <p:sp>
        <p:nvSpPr>
          <p:cNvPr id="5" name="Shape 3"/>
          <p:cNvSpPr/>
          <p:nvPr/>
        </p:nvSpPr>
        <p:spPr>
          <a:xfrm>
            <a:off x="914400" y="1871663"/>
            <a:ext cx="2463031" cy="514350"/>
          </a:xfrm>
          <a:prstGeom prst="rect">
            <a:avLst/>
          </a:prstGeom>
          <a:solidFill>
            <a:srgbClr val="FF6A00">
              <a:alpha val="18000"/>
            </a:srgbClr>
          </a:solidFill>
          <a:ln/>
        </p:spPr>
      </p:sp>
      <p:sp>
        <p:nvSpPr>
          <p:cNvPr id="6" name="Shape 4"/>
          <p:cNvSpPr/>
          <p:nvPr/>
        </p:nvSpPr>
        <p:spPr>
          <a:xfrm>
            <a:off x="914400" y="2376488"/>
            <a:ext cx="2463031" cy="9525"/>
          </a:xfrm>
          <a:prstGeom prst="rect">
            <a:avLst/>
          </a:prstGeom>
          <a:solidFill>
            <a:srgbClr val="B85100"/>
          </a:solidFill>
          <a:ln/>
        </p:spPr>
      </p:sp>
      <p:sp>
        <p:nvSpPr>
          <p:cNvPr id="7" name="Text 5"/>
          <p:cNvSpPr/>
          <p:nvPr/>
        </p:nvSpPr>
        <p:spPr>
          <a:xfrm>
            <a:off x="1057275" y="1976438"/>
            <a:ext cx="2253481"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Property</a:t>
            </a:r>
            <a:endParaRPr lang="en-US" sz="2025" dirty="0"/>
          </a:p>
        </p:txBody>
      </p:sp>
      <p:sp>
        <p:nvSpPr>
          <p:cNvPr id="8" name="Shape 6"/>
          <p:cNvSpPr/>
          <p:nvPr/>
        </p:nvSpPr>
        <p:spPr>
          <a:xfrm>
            <a:off x="3377431" y="1871663"/>
            <a:ext cx="7334176" cy="514350"/>
          </a:xfrm>
          <a:prstGeom prst="rect">
            <a:avLst/>
          </a:prstGeom>
          <a:solidFill>
            <a:srgbClr val="FF6A00">
              <a:alpha val="18000"/>
            </a:srgbClr>
          </a:solidFill>
          <a:ln/>
        </p:spPr>
      </p:sp>
      <p:sp>
        <p:nvSpPr>
          <p:cNvPr id="9" name="Shape 7"/>
          <p:cNvSpPr/>
          <p:nvPr/>
        </p:nvSpPr>
        <p:spPr>
          <a:xfrm>
            <a:off x="3377431" y="2376488"/>
            <a:ext cx="7334176" cy="9525"/>
          </a:xfrm>
          <a:prstGeom prst="rect">
            <a:avLst/>
          </a:prstGeom>
          <a:solidFill>
            <a:srgbClr val="B85100"/>
          </a:solidFill>
          <a:ln/>
        </p:spPr>
      </p:sp>
      <p:sp>
        <p:nvSpPr>
          <p:cNvPr id="10" name="Text 8"/>
          <p:cNvSpPr/>
          <p:nvPr/>
        </p:nvSpPr>
        <p:spPr>
          <a:xfrm>
            <a:off x="3520306" y="1976438"/>
            <a:ext cx="7268451"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Automation Rule</a:t>
            </a:r>
            <a:endParaRPr lang="en-US" sz="2025" dirty="0"/>
          </a:p>
        </p:txBody>
      </p:sp>
      <p:sp>
        <p:nvSpPr>
          <p:cNvPr id="11" name="Shape 9"/>
          <p:cNvSpPr/>
          <p:nvPr/>
        </p:nvSpPr>
        <p:spPr>
          <a:xfrm>
            <a:off x="10711607" y="1871663"/>
            <a:ext cx="6661993" cy="514350"/>
          </a:xfrm>
          <a:prstGeom prst="rect">
            <a:avLst/>
          </a:prstGeom>
          <a:solidFill>
            <a:srgbClr val="FF6A00">
              <a:alpha val="18000"/>
            </a:srgbClr>
          </a:solidFill>
          <a:ln/>
        </p:spPr>
      </p:sp>
      <p:sp>
        <p:nvSpPr>
          <p:cNvPr id="12" name="Shape 10"/>
          <p:cNvSpPr/>
          <p:nvPr/>
        </p:nvSpPr>
        <p:spPr>
          <a:xfrm>
            <a:off x="10711607" y="2376488"/>
            <a:ext cx="6661993" cy="9525"/>
          </a:xfrm>
          <a:prstGeom prst="rect">
            <a:avLst/>
          </a:prstGeom>
          <a:solidFill>
            <a:srgbClr val="B85100"/>
          </a:solidFill>
          <a:ln/>
        </p:spPr>
      </p:sp>
      <p:sp>
        <p:nvSpPr>
          <p:cNvPr id="13" name="Text 11"/>
          <p:cNvSpPr/>
          <p:nvPr/>
        </p:nvSpPr>
        <p:spPr>
          <a:xfrm>
            <a:off x="10854482" y="1976438"/>
            <a:ext cx="6576103"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Playbook</a:t>
            </a:r>
            <a:endParaRPr lang="en-US" sz="2025" dirty="0"/>
          </a:p>
        </p:txBody>
      </p:sp>
      <p:sp>
        <p:nvSpPr>
          <p:cNvPr id="14" name="Shape 12"/>
          <p:cNvSpPr/>
          <p:nvPr/>
        </p:nvSpPr>
        <p:spPr>
          <a:xfrm>
            <a:off x="914400" y="2852738"/>
            <a:ext cx="2463031" cy="9525"/>
          </a:xfrm>
          <a:prstGeom prst="rect">
            <a:avLst/>
          </a:prstGeom>
          <a:solidFill>
            <a:srgbClr val="2A2F3A"/>
          </a:solidFill>
          <a:ln/>
        </p:spPr>
      </p:sp>
      <p:sp>
        <p:nvSpPr>
          <p:cNvPr id="15" name="Text 13"/>
          <p:cNvSpPr/>
          <p:nvPr/>
        </p:nvSpPr>
        <p:spPr>
          <a:xfrm>
            <a:off x="1057275" y="2490788"/>
            <a:ext cx="22534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Built on</a:t>
            </a:r>
            <a:endParaRPr lang="en-US" sz="1725" dirty="0"/>
          </a:p>
        </p:txBody>
      </p:sp>
      <p:sp>
        <p:nvSpPr>
          <p:cNvPr id="16" name="Shape 14"/>
          <p:cNvSpPr/>
          <p:nvPr/>
        </p:nvSpPr>
        <p:spPr>
          <a:xfrm>
            <a:off x="3377431" y="2852738"/>
            <a:ext cx="7334176" cy="9525"/>
          </a:xfrm>
          <a:prstGeom prst="rect">
            <a:avLst/>
          </a:prstGeom>
          <a:solidFill>
            <a:srgbClr val="2A2F3A"/>
          </a:solidFill>
          <a:ln/>
        </p:spPr>
      </p:sp>
      <p:sp>
        <p:nvSpPr>
          <p:cNvPr id="17" name="Text 15"/>
          <p:cNvSpPr/>
          <p:nvPr/>
        </p:nvSpPr>
        <p:spPr>
          <a:xfrm>
            <a:off x="3520306" y="2490788"/>
            <a:ext cx="726845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Sentinel-native rule engine</a:t>
            </a:r>
            <a:endParaRPr lang="en-US" sz="1725" dirty="0"/>
          </a:p>
        </p:txBody>
      </p:sp>
      <p:sp>
        <p:nvSpPr>
          <p:cNvPr id="18" name="Shape 16"/>
          <p:cNvSpPr/>
          <p:nvPr/>
        </p:nvSpPr>
        <p:spPr>
          <a:xfrm>
            <a:off x="10711607" y="2852738"/>
            <a:ext cx="6661993" cy="9525"/>
          </a:xfrm>
          <a:prstGeom prst="rect">
            <a:avLst/>
          </a:prstGeom>
          <a:solidFill>
            <a:srgbClr val="2A2F3A"/>
          </a:solidFill>
          <a:ln/>
        </p:spPr>
      </p:sp>
      <p:sp>
        <p:nvSpPr>
          <p:cNvPr id="19" name="Text 17"/>
          <p:cNvSpPr/>
          <p:nvPr/>
        </p:nvSpPr>
        <p:spPr>
          <a:xfrm>
            <a:off x="10854482" y="2490788"/>
            <a:ext cx="657610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Azure Logic Apps</a:t>
            </a:r>
            <a:endParaRPr lang="en-US" sz="1725" dirty="0"/>
          </a:p>
        </p:txBody>
      </p:sp>
      <p:sp>
        <p:nvSpPr>
          <p:cNvPr id="20" name="Shape 18"/>
          <p:cNvSpPr/>
          <p:nvPr/>
        </p:nvSpPr>
        <p:spPr>
          <a:xfrm>
            <a:off x="914400" y="2862263"/>
            <a:ext cx="2463031" cy="476250"/>
          </a:xfrm>
          <a:prstGeom prst="rect">
            <a:avLst/>
          </a:prstGeom>
          <a:solidFill>
            <a:srgbClr val="FFFFFF">
              <a:alpha val="2000"/>
            </a:srgbClr>
          </a:solidFill>
          <a:ln/>
        </p:spPr>
      </p:sp>
      <p:sp>
        <p:nvSpPr>
          <p:cNvPr id="21" name="Shape 19"/>
          <p:cNvSpPr/>
          <p:nvPr/>
        </p:nvSpPr>
        <p:spPr>
          <a:xfrm>
            <a:off x="914400" y="3328988"/>
            <a:ext cx="2463031" cy="9525"/>
          </a:xfrm>
          <a:prstGeom prst="rect">
            <a:avLst/>
          </a:prstGeom>
          <a:solidFill>
            <a:srgbClr val="2A2F3A"/>
          </a:solidFill>
          <a:ln/>
        </p:spPr>
      </p:sp>
      <p:sp>
        <p:nvSpPr>
          <p:cNvPr id="22" name="Text 20"/>
          <p:cNvSpPr/>
          <p:nvPr/>
        </p:nvSpPr>
        <p:spPr>
          <a:xfrm>
            <a:off x="1057275" y="2967038"/>
            <a:ext cx="22534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Typical actions</a:t>
            </a:r>
            <a:endParaRPr lang="en-US" sz="1725" dirty="0"/>
          </a:p>
        </p:txBody>
      </p:sp>
      <p:sp>
        <p:nvSpPr>
          <p:cNvPr id="23" name="Shape 21"/>
          <p:cNvSpPr/>
          <p:nvPr/>
        </p:nvSpPr>
        <p:spPr>
          <a:xfrm>
            <a:off x="3377431" y="2862263"/>
            <a:ext cx="7334176" cy="476250"/>
          </a:xfrm>
          <a:prstGeom prst="rect">
            <a:avLst/>
          </a:prstGeom>
          <a:solidFill>
            <a:srgbClr val="FFFFFF">
              <a:alpha val="2000"/>
            </a:srgbClr>
          </a:solidFill>
          <a:ln/>
        </p:spPr>
      </p:sp>
      <p:sp>
        <p:nvSpPr>
          <p:cNvPr id="24" name="Shape 22"/>
          <p:cNvSpPr/>
          <p:nvPr/>
        </p:nvSpPr>
        <p:spPr>
          <a:xfrm>
            <a:off x="3377431" y="3328988"/>
            <a:ext cx="7334176" cy="9525"/>
          </a:xfrm>
          <a:prstGeom prst="rect">
            <a:avLst/>
          </a:prstGeom>
          <a:solidFill>
            <a:srgbClr val="2A2F3A"/>
          </a:solidFill>
          <a:ln/>
        </p:spPr>
      </p:sp>
      <p:sp>
        <p:nvSpPr>
          <p:cNvPr id="25" name="Text 23"/>
          <p:cNvSpPr/>
          <p:nvPr/>
        </p:nvSpPr>
        <p:spPr>
          <a:xfrm>
            <a:off x="3520306" y="2967038"/>
            <a:ext cx="726845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Assign owner, set severity, tag, close, run playbook</a:t>
            </a:r>
            <a:endParaRPr lang="en-US" sz="1725" dirty="0"/>
          </a:p>
        </p:txBody>
      </p:sp>
      <p:sp>
        <p:nvSpPr>
          <p:cNvPr id="26" name="Shape 24"/>
          <p:cNvSpPr/>
          <p:nvPr/>
        </p:nvSpPr>
        <p:spPr>
          <a:xfrm>
            <a:off x="10711607" y="2862263"/>
            <a:ext cx="6661993" cy="476250"/>
          </a:xfrm>
          <a:prstGeom prst="rect">
            <a:avLst/>
          </a:prstGeom>
          <a:solidFill>
            <a:srgbClr val="FFFFFF">
              <a:alpha val="2000"/>
            </a:srgbClr>
          </a:solidFill>
          <a:ln/>
        </p:spPr>
      </p:sp>
      <p:sp>
        <p:nvSpPr>
          <p:cNvPr id="27" name="Shape 25"/>
          <p:cNvSpPr/>
          <p:nvPr/>
        </p:nvSpPr>
        <p:spPr>
          <a:xfrm>
            <a:off x="10711607" y="3328988"/>
            <a:ext cx="6661993" cy="9525"/>
          </a:xfrm>
          <a:prstGeom prst="rect">
            <a:avLst/>
          </a:prstGeom>
          <a:solidFill>
            <a:srgbClr val="2A2F3A"/>
          </a:solidFill>
          <a:ln/>
        </p:spPr>
      </p:sp>
      <p:sp>
        <p:nvSpPr>
          <p:cNvPr id="28" name="Text 26"/>
          <p:cNvSpPr/>
          <p:nvPr/>
        </p:nvSpPr>
        <p:spPr>
          <a:xfrm>
            <a:off x="10854482" y="2967038"/>
            <a:ext cx="657610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Any Logic Apps connector or external API call</a:t>
            </a:r>
            <a:endParaRPr lang="en-US" sz="1725" dirty="0"/>
          </a:p>
        </p:txBody>
      </p:sp>
      <p:sp>
        <p:nvSpPr>
          <p:cNvPr id="29" name="Shape 27"/>
          <p:cNvSpPr/>
          <p:nvPr/>
        </p:nvSpPr>
        <p:spPr>
          <a:xfrm>
            <a:off x="914400" y="3805237"/>
            <a:ext cx="2463031" cy="9525"/>
          </a:xfrm>
          <a:prstGeom prst="rect">
            <a:avLst/>
          </a:prstGeom>
          <a:solidFill>
            <a:srgbClr val="2A2F3A"/>
          </a:solidFill>
          <a:ln/>
        </p:spPr>
      </p:sp>
      <p:sp>
        <p:nvSpPr>
          <p:cNvPr id="30" name="Text 28"/>
          <p:cNvSpPr/>
          <p:nvPr/>
        </p:nvSpPr>
        <p:spPr>
          <a:xfrm>
            <a:off x="1057275" y="3443288"/>
            <a:ext cx="22534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Scope</a:t>
            </a:r>
            <a:endParaRPr lang="en-US" sz="1725" dirty="0"/>
          </a:p>
        </p:txBody>
      </p:sp>
      <p:sp>
        <p:nvSpPr>
          <p:cNvPr id="31" name="Shape 29"/>
          <p:cNvSpPr/>
          <p:nvPr/>
        </p:nvSpPr>
        <p:spPr>
          <a:xfrm>
            <a:off x="3377431" y="3805237"/>
            <a:ext cx="7334176" cy="9525"/>
          </a:xfrm>
          <a:prstGeom prst="rect">
            <a:avLst/>
          </a:prstGeom>
          <a:solidFill>
            <a:srgbClr val="2A2F3A"/>
          </a:solidFill>
          <a:ln/>
        </p:spPr>
      </p:sp>
      <p:sp>
        <p:nvSpPr>
          <p:cNvPr id="32" name="Text 30"/>
          <p:cNvSpPr/>
          <p:nvPr/>
        </p:nvSpPr>
        <p:spPr>
          <a:xfrm>
            <a:off x="3520306" y="3443288"/>
            <a:ext cx="726845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Inside Sentinel only</a:t>
            </a:r>
            <a:endParaRPr lang="en-US" sz="1725" dirty="0"/>
          </a:p>
        </p:txBody>
      </p:sp>
      <p:sp>
        <p:nvSpPr>
          <p:cNvPr id="33" name="Shape 31"/>
          <p:cNvSpPr/>
          <p:nvPr/>
        </p:nvSpPr>
        <p:spPr>
          <a:xfrm>
            <a:off x="10711607" y="3805237"/>
            <a:ext cx="6661993" cy="9525"/>
          </a:xfrm>
          <a:prstGeom prst="rect">
            <a:avLst/>
          </a:prstGeom>
          <a:solidFill>
            <a:srgbClr val="2A2F3A"/>
          </a:solidFill>
          <a:ln/>
        </p:spPr>
      </p:sp>
      <p:sp>
        <p:nvSpPr>
          <p:cNvPr id="34" name="Text 32"/>
          <p:cNvSpPr/>
          <p:nvPr/>
        </p:nvSpPr>
        <p:spPr>
          <a:xfrm>
            <a:off x="10854482" y="3443288"/>
            <a:ext cx="657610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Sentinel plus external systems</a:t>
            </a:r>
            <a:endParaRPr lang="en-US" sz="1725" dirty="0"/>
          </a:p>
        </p:txBody>
      </p:sp>
      <p:sp>
        <p:nvSpPr>
          <p:cNvPr id="35" name="Shape 33"/>
          <p:cNvSpPr/>
          <p:nvPr/>
        </p:nvSpPr>
        <p:spPr>
          <a:xfrm>
            <a:off x="914400" y="3814763"/>
            <a:ext cx="2463031" cy="476250"/>
          </a:xfrm>
          <a:prstGeom prst="rect">
            <a:avLst/>
          </a:prstGeom>
          <a:solidFill>
            <a:srgbClr val="FFFFFF">
              <a:alpha val="2000"/>
            </a:srgbClr>
          </a:solidFill>
          <a:ln/>
        </p:spPr>
      </p:sp>
      <p:sp>
        <p:nvSpPr>
          <p:cNvPr id="36" name="Shape 34"/>
          <p:cNvSpPr/>
          <p:nvPr/>
        </p:nvSpPr>
        <p:spPr>
          <a:xfrm>
            <a:off x="914400" y="4281488"/>
            <a:ext cx="2463031" cy="9525"/>
          </a:xfrm>
          <a:prstGeom prst="rect">
            <a:avLst/>
          </a:prstGeom>
          <a:solidFill>
            <a:srgbClr val="2A2F3A"/>
          </a:solidFill>
          <a:ln/>
        </p:spPr>
      </p:sp>
      <p:sp>
        <p:nvSpPr>
          <p:cNvPr id="37" name="Text 35"/>
          <p:cNvSpPr/>
          <p:nvPr/>
        </p:nvSpPr>
        <p:spPr>
          <a:xfrm>
            <a:off x="1057275" y="3919537"/>
            <a:ext cx="225348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Best for</a:t>
            </a:r>
            <a:endParaRPr lang="en-US" sz="1725" dirty="0"/>
          </a:p>
        </p:txBody>
      </p:sp>
      <p:sp>
        <p:nvSpPr>
          <p:cNvPr id="38" name="Shape 36"/>
          <p:cNvSpPr/>
          <p:nvPr/>
        </p:nvSpPr>
        <p:spPr>
          <a:xfrm>
            <a:off x="3377431" y="3814763"/>
            <a:ext cx="7334176" cy="476250"/>
          </a:xfrm>
          <a:prstGeom prst="rect">
            <a:avLst/>
          </a:prstGeom>
          <a:solidFill>
            <a:srgbClr val="FFFFFF">
              <a:alpha val="2000"/>
            </a:srgbClr>
          </a:solidFill>
          <a:ln/>
        </p:spPr>
      </p:sp>
      <p:sp>
        <p:nvSpPr>
          <p:cNvPr id="39" name="Shape 37"/>
          <p:cNvSpPr/>
          <p:nvPr/>
        </p:nvSpPr>
        <p:spPr>
          <a:xfrm>
            <a:off x="3377431" y="4281488"/>
            <a:ext cx="7334176" cy="9525"/>
          </a:xfrm>
          <a:prstGeom prst="rect">
            <a:avLst/>
          </a:prstGeom>
          <a:solidFill>
            <a:srgbClr val="2A2F3A"/>
          </a:solidFill>
          <a:ln/>
        </p:spPr>
      </p:sp>
      <p:sp>
        <p:nvSpPr>
          <p:cNvPr id="40" name="Text 38"/>
          <p:cNvSpPr/>
          <p:nvPr/>
        </p:nvSpPr>
        <p:spPr>
          <a:xfrm>
            <a:off x="3520306" y="3919537"/>
            <a:ext cx="726845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Triage housekeeping and orchestration order</a:t>
            </a:r>
            <a:endParaRPr lang="en-US" sz="1725" dirty="0"/>
          </a:p>
        </p:txBody>
      </p:sp>
      <p:sp>
        <p:nvSpPr>
          <p:cNvPr id="41" name="Shape 39"/>
          <p:cNvSpPr/>
          <p:nvPr/>
        </p:nvSpPr>
        <p:spPr>
          <a:xfrm>
            <a:off x="10711607" y="3814763"/>
            <a:ext cx="6661993" cy="476250"/>
          </a:xfrm>
          <a:prstGeom prst="rect">
            <a:avLst/>
          </a:prstGeom>
          <a:solidFill>
            <a:srgbClr val="FFFFFF">
              <a:alpha val="2000"/>
            </a:srgbClr>
          </a:solidFill>
          <a:ln/>
        </p:spPr>
      </p:sp>
      <p:sp>
        <p:nvSpPr>
          <p:cNvPr id="42" name="Shape 40"/>
          <p:cNvSpPr/>
          <p:nvPr/>
        </p:nvSpPr>
        <p:spPr>
          <a:xfrm>
            <a:off x="10711607" y="4281488"/>
            <a:ext cx="6661993" cy="9525"/>
          </a:xfrm>
          <a:prstGeom prst="rect">
            <a:avLst/>
          </a:prstGeom>
          <a:solidFill>
            <a:srgbClr val="2A2F3A"/>
          </a:solidFill>
          <a:ln/>
        </p:spPr>
      </p:sp>
      <p:sp>
        <p:nvSpPr>
          <p:cNvPr id="43" name="Text 41"/>
          <p:cNvSpPr/>
          <p:nvPr/>
        </p:nvSpPr>
        <p:spPr>
          <a:xfrm>
            <a:off x="10854482" y="3919537"/>
            <a:ext cx="6576103"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Complex, multi-system response workflows</a:t>
            </a:r>
            <a:endParaRPr lang="en-US" sz="17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1.1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Automation, End to End</a:t>
            </a:r>
            <a:endParaRPr lang="en-US" sz="4050" dirty="0"/>
          </a:p>
        </p:txBody>
      </p:sp>
      <p:sp>
        <p:nvSpPr>
          <p:cNvPr id="5" name="Shape 3"/>
          <p:cNvSpPr/>
          <p:nvPr/>
        </p:nvSpPr>
        <p:spPr>
          <a:xfrm>
            <a:off x="914400" y="1871663"/>
            <a:ext cx="3485778" cy="514350"/>
          </a:xfrm>
          <a:prstGeom prst="rect">
            <a:avLst/>
          </a:prstGeom>
          <a:solidFill>
            <a:srgbClr val="FF6A00">
              <a:alpha val="18000"/>
            </a:srgbClr>
          </a:solidFill>
          <a:ln/>
        </p:spPr>
      </p:sp>
      <p:sp>
        <p:nvSpPr>
          <p:cNvPr id="6" name="Shape 4"/>
          <p:cNvSpPr/>
          <p:nvPr/>
        </p:nvSpPr>
        <p:spPr>
          <a:xfrm>
            <a:off x="914400" y="2376488"/>
            <a:ext cx="3485778" cy="9525"/>
          </a:xfrm>
          <a:prstGeom prst="rect">
            <a:avLst/>
          </a:prstGeom>
          <a:solidFill>
            <a:srgbClr val="B85100"/>
          </a:solidFill>
          <a:ln/>
        </p:spPr>
      </p:sp>
      <p:sp>
        <p:nvSpPr>
          <p:cNvPr id="7" name="Text 5"/>
          <p:cNvSpPr/>
          <p:nvPr/>
        </p:nvSpPr>
        <p:spPr>
          <a:xfrm>
            <a:off x="1057275" y="1976438"/>
            <a:ext cx="3304601"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Area</a:t>
            </a:r>
            <a:endParaRPr lang="en-US" sz="2025" dirty="0"/>
          </a:p>
        </p:txBody>
      </p:sp>
      <p:sp>
        <p:nvSpPr>
          <p:cNvPr id="8" name="Shape 6"/>
          <p:cNvSpPr/>
          <p:nvPr/>
        </p:nvSpPr>
        <p:spPr>
          <a:xfrm>
            <a:off x="4400178" y="1871663"/>
            <a:ext cx="12973422" cy="514350"/>
          </a:xfrm>
          <a:prstGeom prst="rect">
            <a:avLst/>
          </a:prstGeom>
          <a:solidFill>
            <a:srgbClr val="FF6A00">
              <a:alpha val="18000"/>
            </a:srgbClr>
          </a:solidFill>
          <a:ln/>
        </p:spPr>
      </p:sp>
      <p:sp>
        <p:nvSpPr>
          <p:cNvPr id="9" name="Shape 7"/>
          <p:cNvSpPr/>
          <p:nvPr/>
        </p:nvSpPr>
        <p:spPr>
          <a:xfrm>
            <a:off x="4400178" y="2376488"/>
            <a:ext cx="12973422" cy="9525"/>
          </a:xfrm>
          <a:prstGeom prst="rect">
            <a:avLst/>
          </a:prstGeom>
          <a:solidFill>
            <a:srgbClr val="B85100"/>
          </a:solidFill>
          <a:ln/>
        </p:spPr>
      </p:sp>
      <p:sp>
        <p:nvSpPr>
          <p:cNvPr id="10" name="Text 8"/>
          <p:cNvSpPr/>
          <p:nvPr/>
        </p:nvSpPr>
        <p:spPr>
          <a:xfrm>
            <a:off x="4543053" y="1976438"/>
            <a:ext cx="13076875"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Tasks Covered</a:t>
            </a:r>
            <a:endParaRPr lang="en-US" sz="2025" dirty="0"/>
          </a:p>
        </p:txBody>
      </p:sp>
      <p:sp>
        <p:nvSpPr>
          <p:cNvPr id="11" name="Shape 9"/>
          <p:cNvSpPr/>
          <p:nvPr/>
        </p:nvSpPr>
        <p:spPr>
          <a:xfrm>
            <a:off x="914400" y="2852738"/>
            <a:ext cx="3485778" cy="9525"/>
          </a:xfrm>
          <a:prstGeom prst="rect">
            <a:avLst/>
          </a:prstGeom>
          <a:solidFill>
            <a:srgbClr val="2A2F3A"/>
          </a:solidFill>
          <a:ln/>
        </p:spPr>
      </p:sp>
      <p:sp>
        <p:nvSpPr>
          <p:cNvPr id="12" name="Text 10"/>
          <p:cNvSpPr/>
          <p:nvPr/>
        </p:nvSpPr>
        <p:spPr>
          <a:xfrm>
            <a:off x="1057275" y="2490788"/>
            <a:ext cx="330460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Notifications</a:t>
            </a:r>
            <a:endParaRPr lang="en-US" sz="1725" dirty="0"/>
          </a:p>
        </p:txBody>
      </p:sp>
      <p:sp>
        <p:nvSpPr>
          <p:cNvPr id="13" name="Shape 11"/>
          <p:cNvSpPr/>
          <p:nvPr/>
        </p:nvSpPr>
        <p:spPr>
          <a:xfrm>
            <a:off x="4400178" y="2852738"/>
            <a:ext cx="12973422" cy="9525"/>
          </a:xfrm>
          <a:prstGeom prst="rect">
            <a:avLst/>
          </a:prstGeom>
          <a:solidFill>
            <a:srgbClr val="2A2F3A"/>
          </a:solidFill>
          <a:ln/>
        </p:spPr>
      </p:sp>
      <p:sp>
        <p:nvSpPr>
          <p:cNvPr id="14" name="Text 12"/>
          <p:cNvSpPr/>
          <p:nvPr/>
        </p:nvSpPr>
        <p:spPr>
          <a:xfrm>
            <a:off x="4543053" y="2490788"/>
            <a:ext cx="1307687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Email notifications (incidents, actions, threat analytics); alert notifications (tuning, suppression, correlation)</a:t>
            </a:r>
            <a:endParaRPr lang="en-US" sz="1725" dirty="0"/>
          </a:p>
        </p:txBody>
      </p:sp>
      <p:sp>
        <p:nvSpPr>
          <p:cNvPr id="15" name="Shape 13"/>
          <p:cNvSpPr/>
          <p:nvPr/>
        </p:nvSpPr>
        <p:spPr>
          <a:xfrm>
            <a:off x="914400" y="2862263"/>
            <a:ext cx="3485778" cy="476250"/>
          </a:xfrm>
          <a:prstGeom prst="rect">
            <a:avLst/>
          </a:prstGeom>
          <a:solidFill>
            <a:srgbClr val="FFFFFF">
              <a:alpha val="2000"/>
            </a:srgbClr>
          </a:solidFill>
          <a:ln/>
        </p:spPr>
      </p:sp>
      <p:sp>
        <p:nvSpPr>
          <p:cNvPr id="16" name="Shape 14"/>
          <p:cNvSpPr/>
          <p:nvPr/>
        </p:nvSpPr>
        <p:spPr>
          <a:xfrm>
            <a:off x="914400" y="3328988"/>
            <a:ext cx="3485778" cy="9525"/>
          </a:xfrm>
          <a:prstGeom prst="rect">
            <a:avLst/>
          </a:prstGeom>
          <a:solidFill>
            <a:srgbClr val="2A2F3A"/>
          </a:solidFill>
          <a:ln/>
        </p:spPr>
      </p:sp>
      <p:sp>
        <p:nvSpPr>
          <p:cNvPr id="17" name="Text 15"/>
          <p:cNvSpPr/>
          <p:nvPr/>
        </p:nvSpPr>
        <p:spPr>
          <a:xfrm>
            <a:off x="1057275" y="2967038"/>
            <a:ext cx="330460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Defender for Endpoint</a:t>
            </a:r>
            <a:endParaRPr lang="en-US" sz="1725" dirty="0"/>
          </a:p>
        </p:txBody>
      </p:sp>
      <p:sp>
        <p:nvSpPr>
          <p:cNvPr id="18" name="Shape 16"/>
          <p:cNvSpPr/>
          <p:nvPr/>
        </p:nvSpPr>
        <p:spPr>
          <a:xfrm>
            <a:off x="4400178" y="2862263"/>
            <a:ext cx="12973422" cy="476250"/>
          </a:xfrm>
          <a:prstGeom prst="rect">
            <a:avLst/>
          </a:prstGeom>
          <a:solidFill>
            <a:srgbClr val="FFFFFF">
              <a:alpha val="2000"/>
            </a:srgbClr>
          </a:solidFill>
          <a:ln/>
        </p:spPr>
      </p:sp>
      <p:sp>
        <p:nvSpPr>
          <p:cNvPr id="19" name="Shape 17"/>
          <p:cNvSpPr/>
          <p:nvPr/>
        </p:nvSpPr>
        <p:spPr>
          <a:xfrm>
            <a:off x="4400178" y="3328988"/>
            <a:ext cx="12973422" cy="9525"/>
          </a:xfrm>
          <a:prstGeom prst="rect">
            <a:avLst/>
          </a:prstGeom>
          <a:solidFill>
            <a:srgbClr val="2A2F3A"/>
          </a:solidFill>
          <a:ln/>
        </p:spPr>
      </p:sp>
      <p:sp>
        <p:nvSpPr>
          <p:cNvPr id="20" name="Text 18"/>
          <p:cNvSpPr/>
          <p:nvPr/>
        </p:nvSpPr>
        <p:spPr>
          <a:xfrm>
            <a:off x="4543053" y="2967038"/>
            <a:ext cx="1307687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Advanced features, rules settings, custom data collection, security policies and ASR rules</a:t>
            </a:r>
            <a:endParaRPr lang="en-US" sz="1725" dirty="0"/>
          </a:p>
        </p:txBody>
      </p:sp>
      <p:sp>
        <p:nvSpPr>
          <p:cNvPr id="21" name="Shape 19"/>
          <p:cNvSpPr/>
          <p:nvPr/>
        </p:nvSpPr>
        <p:spPr>
          <a:xfrm>
            <a:off x="914400" y="3805237"/>
            <a:ext cx="3485778" cy="9525"/>
          </a:xfrm>
          <a:prstGeom prst="rect">
            <a:avLst/>
          </a:prstGeom>
          <a:solidFill>
            <a:srgbClr val="2A2F3A"/>
          </a:solidFill>
          <a:ln/>
        </p:spPr>
      </p:sp>
      <p:sp>
        <p:nvSpPr>
          <p:cNvPr id="22" name="Text 20"/>
          <p:cNvSpPr/>
          <p:nvPr/>
        </p:nvSpPr>
        <p:spPr>
          <a:xfrm>
            <a:off x="1057275" y="3443288"/>
            <a:ext cx="330460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Defender XDR automation</a:t>
            </a:r>
            <a:endParaRPr lang="en-US" sz="1725" dirty="0"/>
          </a:p>
        </p:txBody>
      </p:sp>
      <p:sp>
        <p:nvSpPr>
          <p:cNvPr id="23" name="Shape 21"/>
          <p:cNvSpPr/>
          <p:nvPr/>
        </p:nvSpPr>
        <p:spPr>
          <a:xfrm>
            <a:off x="4400178" y="3805237"/>
            <a:ext cx="12973422" cy="9525"/>
          </a:xfrm>
          <a:prstGeom prst="rect">
            <a:avLst/>
          </a:prstGeom>
          <a:solidFill>
            <a:srgbClr val="2A2F3A"/>
          </a:solidFill>
          <a:ln/>
        </p:spPr>
      </p:sp>
      <p:sp>
        <p:nvSpPr>
          <p:cNvPr id="24" name="Text 22"/>
          <p:cNvSpPr/>
          <p:nvPr/>
        </p:nvSpPr>
        <p:spPr>
          <a:xfrm>
            <a:off x="4543053" y="3443288"/>
            <a:ext cx="1307687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AIR capabilities, automatic attack disruption, device groups/permissions/automation levels</a:t>
            </a:r>
            <a:endParaRPr lang="en-US" sz="1725" dirty="0"/>
          </a:p>
        </p:txBody>
      </p:sp>
      <p:sp>
        <p:nvSpPr>
          <p:cNvPr id="25" name="Shape 23"/>
          <p:cNvSpPr/>
          <p:nvPr/>
        </p:nvSpPr>
        <p:spPr>
          <a:xfrm>
            <a:off x="914400" y="3814763"/>
            <a:ext cx="3485778" cy="476250"/>
          </a:xfrm>
          <a:prstGeom prst="rect">
            <a:avLst/>
          </a:prstGeom>
          <a:solidFill>
            <a:srgbClr val="FFFFFF">
              <a:alpha val="2000"/>
            </a:srgbClr>
          </a:solidFill>
          <a:ln/>
        </p:spPr>
      </p:sp>
      <p:sp>
        <p:nvSpPr>
          <p:cNvPr id="26" name="Shape 24"/>
          <p:cNvSpPr/>
          <p:nvPr/>
        </p:nvSpPr>
        <p:spPr>
          <a:xfrm>
            <a:off x="914400" y="4281488"/>
            <a:ext cx="3485778" cy="9525"/>
          </a:xfrm>
          <a:prstGeom prst="rect">
            <a:avLst/>
          </a:prstGeom>
          <a:solidFill>
            <a:srgbClr val="2A2F3A"/>
          </a:solidFill>
          <a:ln/>
        </p:spPr>
      </p:sp>
      <p:sp>
        <p:nvSpPr>
          <p:cNvPr id="27" name="Text 25"/>
          <p:cNvSpPr/>
          <p:nvPr/>
        </p:nvSpPr>
        <p:spPr>
          <a:xfrm>
            <a:off x="1057275" y="3919537"/>
            <a:ext cx="330460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Sentinel automation</a:t>
            </a:r>
            <a:endParaRPr lang="en-US" sz="1725" dirty="0"/>
          </a:p>
        </p:txBody>
      </p:sp>
      <p:sp>
        <p:nvSpPr>
          <p:cNvPr id="28" name="Shape 26"/>
          <p:cNvSpPr/>
          <p:nvPr/>
        </p:nvSpPr>
        <p:spPr>
          <a:xfrm>
            <a:off x="4400178" y="3814763"/>
            <a:ext cx="12973422" cy="476250"/>
          </a:xfrm>
          <a:prstGeom prst="rect">
            <a:avLst/>
          </a:prstGeom>
          <a:solidFill>
            <a:srgbClr val="FFFFFF">
              <a:alpha val="2000"/>
            </a:srgbClr>
          </a:solidFill>
          <a:ln/>
        </p:spPr>
      </p:sp>
      <p:sp>
        <p:nvSpPr>
          <p:cNvPr id="29" name="Shape 27"/>
          <p:cNvSpPr/>
          <p:nvPr/>
        </p:nvSpPr>
        <p:spPr>
          <a:xfrm>
            <a:off x="4400178" y="4281488"/>
            <a:ext cx="12973422" cy="9525"/>
          </a:xfrm>
          <a:prstGeom prst="rect">
            <a:avLst/>
          </a:prstGeom>
          <a:solidFill>
            <a:srgbClr val="2A2F3A"/>
          </a:solidFill>
          <a:ln/>
        </p:spPr>
      </p:sp>
      <p:sp>
        <p:nvSpPr>
          <p:cNvPr id="30" name="Text 28"/>
          <p:cNvSpPr/>
          <p:nvPr/>
        </p:nvSpPr>
        <p:spPr>
          <a:xfrm>
            <a:off x="4543053" y="3919537"/>
            <a:ext cx="1307687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Automation rules, playbooks</a:t>
            </a:r>
            <a:endParaRPr lang="en-US" sz="17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54822"/>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1.2</a:t>
            </a:r>
            <a:endParaRPr lang="en-US" sz="1575" dirty="0"/>
          </a:p>
        </p:txBody>
      </p:sp>
      <p:sp>
        <p:nvSpPr>
          <p:cNvPr id="4" name="Text 2"/>
          <p:cNvSpPr/>
          <p:nvPr/>
        </p:nvSpPr>
        <p:spPr>
          <a:xfrm>
            <a:off x="914400" y="4464397"/>
            <a:ext cx="16952976" cy="1253430"/>
          </a:xfrm>
          <a:prstGeom prst="rect">
            <a:avLst/>
          </a:prstGeom>
          <a:noFill/>
          <a:ln/>
        </p:spPr>
        <p:txBody>
          <a:bodyPr wrap="square" lIns="25400" tIns="25400" rIns="25400" bIns="25400" rtlCol="0" anchor="t">
            <a:normAutofit/>
          </a:bodyPr>
          <a:lstStyle/>
          <a:p>
            <a:pPr algn="l" indent="0" marL="0">
              <a:lnSpc>
                <a:spcPct val="95224"/>
              </a:lnSpc>
              <a:buNone/>
            </a:pPr>
            <a:r>
              <a:rPr lang="en-US" sz="4350" b="1" dirty="0">
                <a:solidFill>
                  <a:srgbClr val="F5F7FB"/>
                </a:solidFill>
                <a:latin typeface="Arial" pitchFamily="34" charset="0"/>
                <a:ea typeface="Arial" pitchFamily="34" charset="-122"/>
                <a:cs typeface="Arial" pitchFamily="34" charset="-120"/>
              </a:rPr>
              <a:t>Configure the Microsoft Sentinel SIEM &amp; Platform</a:t>
            </a:r>
            <a:endParaRPr lang="en-US" sz="4350" dirty="0"/>
          </a:p>
        </p:txBody>
      </p:sp>
      <p:sp>
        <p:nvSpPr>
          <p:cNvPr id="5" name="Text 3"/>
          <p:cNvSpPr/>
          <p:nvPr/>
        </p:nvSpPr>
        <p:spPr>
          <a:xfrm>
            <a:off x="914400" y="5870228"/>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Roles, data retention tiers, workbooks, and platform optimisation</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03686"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32236"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1.2 · Task 1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Specify Microsoft Sentinel Roles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Sentinel provides purpose-built roles — Reader, Responder, and Contributor — layered on Azure role-based access control, so analysts get exactly the level of access their job requires.</a:t>
            </a:r>
            <a:endParaRPr lang="en-US" sz="1800" dirty="0"/>
          </a:p>
        </p:txBody>
      </p:sp>
      <p:sp>
        <p:nvSpPr>
          <p:cNvPr id="7" name="Shape 5"/>
          <p:cNvSpPr/>
          <p:nvPr/>
        </p:nvSpPr>
        <p:spPr>
          <a:xfrm>
            <a:off x="914400" y="2794546"/>
            <a:ext cx="5384750"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SENTINEL READER</a:t>
            </a:r>
            <a:endParaRPr lang="en-US" sz="1350" dirty="0"/>
          </a:p>
        </p:txBody>
      </p:sp>
      <p:sp>
        <p:nvSpPr>
          <p:cNvPr id="9" name="Text 7"/>
          <p:cNvSpPr/>
          <p:nvPr/>
        </p:nvSpPr>
        <p:spPr>
          <a:xfrm>
            <a:off x="1152525" y="3313658"/>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View data, incidents, workbooks, and other resources — no changes</a:t>
            </a:r>
            <a:endParaRPr lang="en-US" sz="1350" dirty="0"/>
          </a:p>
        </p:txBody>
      </p:sp>
      <p:sp>
        <p:nvSpPr>
          <p:cNvPr id="10" name="Shape 8"/>
          <p:cNvSpPr/>
          <p:nvPr/>
        </p:nvSpPr>
        <p:spPr>
          <a:xfrm>
            <a:off x="6451550" y="2794546"/>
            <a:ext cx="538482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6689675" y="3032671"/>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SENTINEL RESPONDER</a:t>
            </a:r>
            <a:endParaRPr lang="en-US" sz="1350" dirty="0"/>
          </a:p>
        </p:txBody>
      </p:sp>
      <p:sp>
        <p:nvSpPr>
          <p:cNvPr id="12" name="Text 10"/>
          <p:cNvSpPr/>
          <p:nvPr/>
        </p:nvSpPr>
        <p:spPr>
          <a:xfrm>
            <a:off x="6689675" y="3313658"/>
            <a:ext cx="5055832"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Everything Reader can do, plus manage incidents (assign, dismiss, change severity)</a:t>
            </a:r>
            <a:endParaRPr lang="en-US" sz="1350" dirty="0"/>
          </a:p>
        </p:txBody>
      </p:sp>
      <p:sp>
        <p:nvSpPr>
          <p:cNvPr id="13" name="Shape 11"/>
          <p:cNvSpPr/>
          <p:nvPr/>
        </p:nvSpPr>
        <p:spPr>
          <a:xfrm>
            <a:off x="11988775" y="2794546"/>
            <a:ext cx="5384750" cy="1271588"/>
          </a:xfrm>
          <a:prstGeom prst="roundRect">
            <a:avLst>
              <a:gd name="adj" fmla="val 11985"/>
            </a:avLst>
          </a:prstGeom>
          <a:solidFill>
            <a:srgbClr val="FFFFFF">
              <a:alpha val="2000"/>
            </a:srgbClr>
          </a:solidFill>
          <a:ln w="9525">
            <a:solidFill>
              <a:srgbClr val="2A2F3A"/>
            </a:solidFill>
            <a:prstDash val="solid"/>
          </a:ln>
        </p:spPr>
      </p:sp>
      <p:sp>
        <p:nvSpPr>
          <p:cNvPr id="14" name="Text 12"/>
          <p:cNvSpPr/>
          <p:nvPr/>
        </p:nvSpPr>
        <p:spPr>
          <a:xfrm>
            <a:off x="12226900" y="3032671"/>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SENTINEL CONTRIBUTOR</a:t>
            </a:r>
            <a:endParaRPr lang="en-US" sz="1350" dirty="0"/>
          </a:p>
        </p:txBody>
      </p:sp>
      <p:sp>
        <p:nvSpPr>
          <p:cNvPr id="15" name="Text 13"/>
          <p:cNvSpPr/>
          <p:nvPr/>
        </p:nvSpPr>
        <p:spPr>
          <a:xfrm>
            <a:off x="12226900" y="3313658"/>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Everything Responder can do, plus create and edit workbooks, analytics rules, and other resources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2438"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0988"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1.2 · Task 2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Data Retention for XDR &amp; Sentinel Tables</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Retention is managed per table across three named tiers, each trading cost against query performance and accessibility.</a:t>
            </a:r>
            <a:endParaRPr lang="en-US" sz="1800" dirty="0"/>
          </a:p>
        </p:txBody>
      </p:sp>
      <p:sp>
        <p:nvSpPr>
          <p:cNvPr id="7" name="Shape 5"/>
          <p:cNvSpPr/>
          <p:nvPr/>
        </p:nvSpPr>
        <p:spPr>
          <a:xfrm>
            <a:off x="914400"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ANALYTICS TIER</a:t>
            </a:r>
            <a:endParaRPr lang="en-US" sz="1350" dirty="0"/>
          </a:p>
        </p:txBody>
      </p:sp>
      <p:sp>
        <p:nvSpPr>
          <p:cNvPr id="9" name="Text 7"/>
          <p:cNvSpPr/>
          <p:nvPr/>
        </p:nvSpPr>
        <p:spPr>
          <a:xfrm>
            <a:off x="1152525"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Hot, fully queryable data used by analytics rules and interactive investigation</a:t>
            </a:r>
            <a:endParaRPr lang="en-US" sz="1350" dirty="0"/>
          </a:p>
        </p:txBody>
      </p:sp>
      <p:sp>
        <p:nvSpPr>
          <p:cNvPr id="10" name="Shape 8"/>
          <p:cNvSpPr/>
          <p:nvPr/>
        </p:nvSpPr>
        <p:spPr>
          <a:xfrm>
            <a:off x="6451550" y="2440260"/>
            <a:ext cx="538482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6689675" y="2678385"/>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DATA LAKE TIER</a:t>
            </a:r>
            <a:endParaRPr lang="en-US" sz="1350" dirty="0"/>
          </a:p>
        </p:txBody>
      </p:sp>
      <p:sp>
        <p:nvSpPr>
          <p:cNvPr id="12" name="Text 10"/>
          <p:cNvSpPr/>
          <p:nvPr/>
        </p:nvSpPr>
        <p:spPr>
          <a:xfrm>
            <a:off x="6689675" y="2959373"/>
            <a:ext cx="5055832"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Lower-cost long-term storage for high-volume data, queried via KQL jobs (Domain 3)</a:t>
            </a:r>
            <a:endParaRPr lang="en-US" sz="1350" dirty="0"/>
          </a:p>
        </p:txBody>
      </p:sp>
      <p:sp>
        <p:nvSpPr>
          <p:cNvPr id="13" name="Shape 11"/>
          <p:cNvSpPr/>
          <p:nvPr/>
        </p:nvSpPr>
        <p:spPr>
          <a:xfrm>
            <a:off x="11988775"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14" name="Text 12"/>
          <p:cNvSpPr/>
          <p:nvPr/>
        </p:nvSpPr>
        <p:spPr>
          <a:xfrm>
            <a:off x="12226900"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XDR TIER</a:t>
            </a:r>
            <a:endParaRPr lang="en-US" sz="1350" dirty="0"/>
          </a:p>
        </p:txBody>
      </p:sp>
      <p:sp>
        <p:nvSpPr>
          <p:cNvPr id="15" name="Text 13"/>
          <p:cNvSpPr/>
          <p:nvPr/>
        </p:nvSpPr>
        <p:spPr>
          <a:xfrm>
            <a:off x="12226900"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Retention governed on the Defender XDR side for XDR-sourced tables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615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470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1.2 · Task 3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Create &amp; Configure Sentinel Workbooks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Interactive, KQL-driven dashboards inside Sentinel used to visualise ingested data, monitor SOC health, and report to stakeholders. Sentinel ships many templates that can be customised.</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Workbooks are how the SOC demonstrates coverage and trends to leadership — a reporting responsibility in the audience profile.</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 workbook can only visualise data that has actually been ingested — connect the connector first (Objective 1.3).</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8763"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731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1.2 · Task 4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Optimise the Platform &amp; SOC Optimization Recommendations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Sentinel surfaces actionable recommendations to improve the SOC's coverage and cost efficiency — for example flagging ingested tables no detection uses, or detection gaps against known threat scenarios.</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COVERAGE OPTIMISATION</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Highlights threat scenarios where detections are missing or incomplete</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COST OPTIMISATION</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Identifies expensive ingested data that delivers no detection or hunting value</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1.2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You Should Now Be Able to Do</a:t>
            </a:r>
            <a:endParaRPr lang="en-US" sz="4050" dirty="0"/>
          </a:p>
        </p:txBody>
      </p:sp>
      <p:sp>
        <p:nvSpPr>
          <p:cNvPr id="5" name="Shape 3"/>
          <p:cNvSpPr/>
          <p:nvPr/>
        </p:nvSpPr>
        <p:spPr>
          <a:xfrm>
            <a:off x="914400" y="1890713"/>
            <a:ext cx="16459200" cy="714375"/>
          </a:xfrm>
          <a:prstGeom prst="roundRect">
            <a:avLst>
              <a:gd name="adj" fmla="val 21333"/>
            </a:avLst>
          </a:prstGeom>
          <a:solidFill>
            <a:srgbClr val="FFFFFF">
              <a:alpha val="2000"/>
            </a:srgbClr>
          </a:solidFill>
          <a:ln w="9525">
            <a:solidFill>
              <a:srgbClr val="2A2F3A"/>
            </a:solidFill>
            <a:prstDash val="solid"/>
          </a:ln>
        </p:spPr>
      </p:sp>
      <p:sp>
        <p:nvSpPr>
          <p:cNvPr id="6" name="Text 4"/>
          <p:cNvSpPr/>
          <p:nvPr/>
        </p:nvSpPr>
        <p:spPr>
          <a:xfrm>
            <a:off x="1152525" y="2128838"/>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Assign the correct Sentinel role (Reader, Responder, Contributor) for a described analyst task</a:t>
            </a:r>
            <a:endParaRPr lang="en-US" sz="1575" dirty="0"/>
          </a:p>
        </p:txBody>
      </p:sp>
      <p:sp>
        <p:nvSpPr>
          <p:cNvPr id="7" name="Shape 5"/>
          <p:cNvSpPr/>
          <p:nvPr/>
        </p:nvSpPr>
        <p:spPr>
          <a:xfrm>
            <a:off x="914400" y="2757488"/>
            <a:ext cx="16459200" cy="714375"/>
          </a:xfrm>
          <a:prstGeom prst="roundRect">
            <a:avLst>
              <a:gd name="adj" fmla="val 21333"/>
            </a:avLst>
          </a:prstGeom>
          <a:solidFill>
            <a:srgbClr val="FFFFFF">
              <a:alpha val="2000"/>
            </a:srgbClr>
          </a:solidFill>
          <a:ln w="9525">
            <a:solidFill>
              <a:srgbClr val="2A2F3A"/>
            </a:solidFill>
            <a:prstDash val="solid"/>
          </a:ln>
        </p:spPr>
      </p:sp>
      <p:sp>
        <p:nvSpPr>
          <p:cNvPr id="8" name="Text 6"/>
          <p:cNvSpPr/>
          <p:nvPr/>
        </p:nvSpPr>
        <p:spPr>
          <a:xfrm>
            <a:off x="1152525" y="2995613"/>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Choose the right retention tier — Analytics, Data lake, or XDR — for a given data type and use case</a:t>
            </a:r>
            <a:endParaRPr lang="en-US" sz="1575" dirty="0"/>
          </a:p>
        </p:txBody>
      </p:sp>
      <p:sp>
        <p:nvSpPr>
          <p:cNvPr id="9" name="Shape 7"/>
          <p:cNvSpPr/>
          <p:nvPr/>
        </p:nvSpPr>
        <p:spPr>
          <a:xfrm>
            <a:off x="914400" y="3624263"/>
            <a:ext cx="16459200" cy="714375"/>
          </a:xfrm>
          <a:prstGeom prst="roundRect">
            <a:avLst>
              <a:gd name="adj" fmla="val 21333"/>
            </a:avLst>
          </a:prstGeom>
          <a:solidFill>
            <a:srgbClr val="FFFFFF">
              <a:alpha val="2000"/>
            </a:srgbClr>
          </a:solidFill>
          <a:ln w="9525">
            <a:solidFill>
              <a:srgbClr val="2A2F3A"/>
            </a:solidFill>
            <a:prstDash val="solid"/>
          </a:ln>
        </p:spPr>
      </p:sp>
      <p:sp>
        <p:nvSpPr>
          <p:cNvPr id="10" name="Text 8"/>
          <p:cNvSpPr/>
          <p:nvPr/>
        </p:nvSpPr>
        <p:spPr>
          <a:xfrm>
            <a:off x="1152525" y="3862387"/>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Build workbooks for monitoring and reporting, and act on SOC optimization recommendations</a:t>
            </a:r>
            <a:endParaRPr lang="en-US" sz="15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54822"/>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1.3</a:t>
            </a:r>
            <a:endParaRPr lang="en-US" sz="1575" dirty="0"/>
          </a:p>
        </p:txBody>
      </p:sp>
      <p:sp>
        <p:nvSpPr>
          <p:cNvPr id="4" name="Text 2"/>
          <p:cNvSpPr/>
          <p:nvPr/>
        </p:nvSpPr>
        <p:spPr>
          <a:xfrm>
            <a:off x="914400" y="4464397"/>
            <a:ext cx="16952976" cy="1253430"/>
          </a:xfrm>
          <a:prstGeom prst="rect">
            <a:avLst/>
          </a:prstGeom>
          <a:noFill/>
          <a:ln/>
        </p:spPr>
        <p:txBody>
          <a:bodyPr wrap="square" lIns="25400" tIns="25400" rIns="25400" bIns="25400" rtlCol="0" anchor="t">
            <a:normAutofit/>
          </a:bodyPr>
          <a:lstStyle/>
          <a:p>
            <a:pPr algn="l" indent="0" marL="0">
              <a:lnSpc>
                <a:spcPct val="95224"/>
              </a:lnSpc>
              <a:buNone/>
            </a:pPr>
            <a:r>
              <a:rPr lang="en-US" sz="4350" b="1" dirty="0">
                <a:solidFill>
                  <a:srgbClr val="F5F7FB"/>
                </a:solidFill>
                <a:latin typeface="Arial" pitchFamily="34" charset="0"/>
                <a:ea typeface="Arial" pitchFamily="34" charset="-122"/>
                <a:cs typeface="Arial" pitchFamily="34" charset="-120"/>
              </a:rPr>
              <a:t>Ingest Data Into the Sentinel SIEM &amp; Platform</a:t>
            </a:r>
            <a:endParaRPr lang="en-US" sz="4350" dirty="0"/>
          </a:p>
        </p:txBody>
      </p:sp>
      <p:sp>
        <p:nvSpPr>
          <p:cNvPr id="5" name="Text 3"/>
          <p:cNvSpPr/>
          <p:nvPr/>
        </p:nvSpPr>
        <p:spPr>
          <a:xfrm>
            <a:off x="914400" y="5870228"/>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Connectors, Windows event collection, Syslog/CEF, Azure activity, threat indicators, and custom tables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092821"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21371"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1.3 · Task 1 of 7</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Select Data Connectors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Choosing the right Sentinel data connector for each source — including Windows logs and security events — based on where the data lives, what format it arrives in, and what the detection requirement is.</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The connector choice determines the table name, schema, and cost of everything downstream.</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Exam scenarios frequently describe a source and ask which connector fits — match on source type and required event fidelity.</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11573"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4012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1.3 · Task 2 of 7</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Windows Security Events via AMA</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The current, recommended path for collecting Windows Security events into Sentinel, using the Azure Monitor Agent (AMA) with data collection rules (DCRs) that define exactly which events are gathered from which machines.</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DATA COLLECTION RULES (DCRS)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Define the event filter and destination workspace — the control point for both coverage and cost.</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AMA plus DCRs replaced older agent-based approaches; know this as the modern default.</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15294"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43844"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1.3 · Task 3 of 7</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Windows Event Forwarding (WEF)</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 native Windows architecture where source machines forward selected events to a central collector, which is then the single machine Sentinel collects from — instead of instrumenting every endpoint directly.</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WHEN TO USE</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Large estates where deploying and managing an agent on every source is impractical.</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TRADE-OFF</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Introduces the collector as a single point of failure and an extra hop to secure and monitor.</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1789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4644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1.3 · Task 4 of 7</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Syslog via AMA &amp; CEF via AMA</a:t>
            </a:r>
            <a:endParaRPr lang="en-US" sz="4050" dirty="0"/>
          </a:p>
        </p:txBody>
      </p:sp>
      <p:sp>
        <p:nvSpPr>
          <p:cNvPr id="6" name="Shape 4"/>
          <p:cNvSpPr/>
          <p:nvPr/>
        </p:nvSpPr>
        <p:spPr>
          <a:xfrm>
            <a:off x="914400" y="1914525"/>
            <a:ext cx="8143875" cy="1300163"/>
          </a:xfrm>
          <a:prstGeom prst="roundRect">
            <a:avLst>
              <a:gd name="adj" fmla="val 11722"/>
            </a:avLst>
          </a:prstGeom>
          <a:solidFill>
            <a:srgbClr val="FFFFFF">
              <a:alpha val="2000"/>
            </a:srgbClr>
          </a:solidFill>
          <a:ln w="9525">
            <a:solidFill>
              <a:srgbClr val="2A2F3A"/>
            </a:solidFill>
            <a:prstDash val="solid"/>
          </a:ln>
        </p:spPr>
      </p:sp>
      <p:sp>
        <p:nvSpPr>
          <p:cNvPr id="7" name="Text 5"/>
          <p:cNvSpPr/>
          <p:nvPr/>
        </p:nvSpPr>
        <p:spPr>
          <a:xfrm>
            <a:off x="1152525" y="2152650"/>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SYSLOG VIA AMA</a:t>
            </a:r>
            <a:endParaRPr lang="en-US" sz="1350" dirty="0"/>
          </a:p>
        </p:txBody>
      </p:sp>
      <p:sp>
        <p:nvSpPr>
          <p:cNvPr id="8" name="Text 6"/>
          <p:cNvSpPr/>
          <p:nvPr/>
        </p:nvSpPr>
        <p:spPr>
          <a:xfrm>
            <a:off x="1152525" y="2433638"/>
            <a:ext cx="8434387"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Collects standard Syslog messages from Linux hosts and network devices into the Syslog table.</a:t>
            </a:r>
            <a:endParaRPr lang="en-US" sz="1425" dirty="0"/>
          </a:p>
        </p:txBody>
      </p:sp>
      <p:sp>
        <p:nvSpPr>
          <p:cNvPr id="9" name="Shape 7"/>
          <p:cNvSpPr/>
          <p:nvPr/>
        </p:nvSpPr>
        <p:spPr>
          <a:xfrm>
            <a:off x="9229725" y="1914525"/>
            <a:ext cx="8143875" cy="1300163"/>
          </a:xfrm>
          <a:prstGeom prst="roundRect">
            <a:avLst>
              <a:gd name="adj" fmla="val 11722"/>
            </a:avLst>
          </a:prstGeom>
          <a:solidFill>
            <a:srgbClr val="FFFFFF">
              <a:alpha val="2000"/>
            </a:srgbClr>
          </a:solidFill>
          <a:ln w="9525">
            <a:solidFill>
              <a:srgbClr val="2A2F3A"/>
            </a:solidFill>
            <a:prstDash val="solid"/>
          </a:ln>
        </p:spPr>
      </p:sp>
      <p:sp>
        <p:nvSpPr>
          <p:cNvPr id="10" name="Text 8"/>
          <p:cNvSpPr/>
          <p:nvPr/>
        </p:nvSpPr>
        <p:spPr>
          <a:xfrm>
            <a:off x="9467850" y="2152650"/>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CEF VIA AMA</a:t>
            </a:r>
            <a:endParaRPr lang="en-US" sz="1350" dirty="0"/>
          </a:p>
        </p:txBody>
      </p:sp>
      <p:sp>
        <p:nvSpPr>
          <p:cNvPr id="11" name="Text 9"/>
          <p:cNvSpPr/>
          <p:nvPr/>
        </p:nvSpPr>
        <p:spPr>
          <a:xfrm>
            <a:off x="9467850" y="2433638"/>
            <a:ext cx="7897654"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Collects Common Event Format messages — a structured Syslog variant used by many security appliances — into the CommonSecurityLog table.</a:t>
            </a:r>
            <a:endParaRPr lang="en-US" sz="1425" dirty="0"/>
          </a:p>
        </p:txBody>
      </p:sp>
      <p:sp>
        <p:nvSpPr>
          <p:cNvPr id="12" name="Shape 10"/>
          <p:cNvSpPr/>
          <p:nvPr/>
        </p:nvSpPr>
        <p:spPr>
          <a:xfrm>
            <a:off x="914400" y="3405188"/>
            <a:ext cx="16459200" cy="700088"/>
          </a:xfrm>
          <a:prstGeom prst="roundRect">
            <a:avLst>
              <a:gd name="adj" fmla="val 21769"/>
            </a:avLst>
          </a:prstGeom>
          <a:solidFill>
            <a:srgbClr val="FFFFFF">
              <a:alpha val="2000"/>
            </a:srgbClr>
          </a:solidFill>
          <a:ln w="9525">
            <a:solidFill>
              <a:srgbClr val="2A2F3A"/>
            </a:solidFill>
            <a:prstDash val="solid"/>
          </a:ln>
        </p:spPr>
      </p:sp>
      <p:sp>
        <p:nvSpPr>
          <p:cNvPr id="13" name="Text 11"/>
          <p:cNvSpPr/>
          <p:nvPr/>
        </p:nvSpPr>
        <p:spPr>
          <a:xfrm>
            <a:off x="1152525" y="3643313"/>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Exam insight: both arrive over Syslog transport, but CEF is parsed into a richer, normalised schema — choose CEF when the appliance emits it.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14550"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43100"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1.3 · Task 5 of 7</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Collect Azure Activities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Azure platform and resource activity is brought into Sentinel through resource diagnostic settings, and enforced consistently at scale using Azure Policy so new resources are covered automatically.</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DIAGNOSTIC SETTINGS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Configured per resource to route logs and metrics to the Sentinel workspace.</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AZURE POLICY</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Enforces those diagnostic settings automatically across a subscription, closing coverage gaps as resources are created.</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17378"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45928"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1.3 · Task 6 of 7</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Ingest Threat Indicators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Bringing threat intelligence indicators — IPs, domains, file hashes, URLs — into Sentinel so they can be matched against ingested telemetry by threat intelligence analytics rules.</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Threat intelligence analytics rules (Objective 1.4) have nothing to match against until indicators are ingested.</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Indicators expire — stale intelligence produces both missed detections and false positives.</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06067"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34617"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1.3 · Task 7 of 7</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Create Custom Log Tables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Defining new tables in the Log Analytics workspace to store data from sources with no built-in connector — giving custom or bespoke data a queryable schema like any first-party table.</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Custom tables are how in-house applications and niche appliances become part of detection and hunting coverage.</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Schema design decisions here are hard to change later — analytics rules and hunting queries bind to the column names.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DECISION AID</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Choosing an Ingestion Path</a:t>
            </a:r>
            <a:endParaRPr lang="en-US" sz="4050" dirty="0"/>
          </a:p>
        </p:txBody>
      </p:sp>
      <p:sp>
        <p:nvSpPr>
          <p:cNvPr id="5" name="Shape 3"/>
          <p:cNvSpPr/>
          <p:nvPr/>
        </p:nvSpPr>
        <p:spPr>
          <a:xfrm>
            <a:off x="914400" y="1871663"/>
            <a:ext cx="8615437" cy="514350"/>
          </a:xfrm>
          <a:prstGeom prst="rect">
            <a:avLst/>
          </a:prstGeom>
          <a:solidFill>
            <a:srgbClr val="FF6A00">
              <a:alpha val="18000"/>
            </a:srgbClr>
          </a:solidFill>
          <a:ln/>
        </p:spPr>
      </p:sp>
      <p:sp>
        <p:nvSpPr>
          <p:cNvPr id="6" name="Shape 4"/>
          <p:cNvSpPr/>
          <p:nvPr/>
        </p:nvSpPr>
        <p:spPr>
          <a:xfrm>
            <a:off x="914400" y="2376488"/>
            <a:ext cx="8615437" cy="9525"/>
          </a:xfrm>
          <a:prstGeom prst="rect">
            <a:avLst/>
          </a:prstGeom>
          <a:solidFill>
            <a:srgbClr val="B85100"/>
          </a:solidFill>
          <a:ln/>
        </p:spPr>
      </p:sp>
      <p:sp>
        <p:nvSpPr>
          <p:cNvPr id="7" name="Text 5"/>
          <p:cNvSpPr/>
          <p:nvPr/>
        </p:nvSpPr>
        <p:spPr>
          <a:xfrm>
            <a:off x="1057275" y="1976438"/>
            <a:ext cx="8588150"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Source</a:t>
            </a:r>
            <a:endParaRPr lang="en-US" sz="2025" dirty="0"/>
          </a:p>
        </p:txBody>
      </p:sp>
      <p:sp>
        <p:nvSpPr>
          <p:cNvPr id="8" name="Shape 6"/>
          <p:cNvSpPr/>
          <p:nvPr/>
        </p:nvSpPr>
        <p:spPr>
          <a:xfrm>
            <a:off x="9529837" y="1871663"/>
            <a:ext cx="7843763" cy="514350"/>
          </a:xfrm>
          <a:prstGeom prst="rect">
            <a:avLst/>
          </a:prstGeom>
          <a:solidFill>
            <a:srgbClr val="FF6A00">
              <a:alpha val="18000"/>
            </a:srgbClr>
          </a:solidFill>
          <a:ln/>
        </p:spPr>
      </p:sp>
      <p:sp>
        <p:nvSpPr>
          <p:cNvPr id="9" name="Shape 7"/>
          <p:cNvSpPr/>
          <p:nvPr/>
        </p:nvSpPr>
        <p:spPr>
          <a:xfrm>
            <a:off x="9529837" y="2376488"/>
            <a:ext cx="7843763" cy="9525"/>
          </a:xfrm>
          <a:prstGeom prst="rect">
            <a:avLst/>
          </a:prstGeom>
          <a:solidFill>
            <a:srgbClr val="B85100"/>
          </a:solidFill>
          <a:ln/>
        </p:spPr>
      </p:sp>
      <p:sp>
        <p:nvSpPr>
          <p:cNvPr id="10" name="Text 8"/>
          <p:cNvSpPr/>
          <p:nvPr/>
        </p:nvSpPr>
        <p:spPr>
          <a:xfrm>
            <a:off x="9672712" y="1976438"/>
            <a:ext cx="7793326"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Recommended Path</a:t>
            </a:r>
            <a:endParaRPr lang="en-US" sz="2025" dirty="0"/>
          </a:p>
        </p:txBody>
      </p:sp>
      <p:sp>
        <p:nvSpPr>
          <p:cNvPr id="11" name="Shape 9"/>
          <p:cNvSpPr/>
          <p:nvPr/>
        </p:nvSpPr>
        <p:spPr>
          <a:xfrm>
            <a:off x="914400" y="2852738"/>
            <a:ext cx="8615437" cy="9525"/>
          </a:xfrm>
          <a:prstGeom prst="rect">
            <a:avLst/>
          </a:prstGeom>
          <a:solidFill>
            <a:srgbClr val="2A2F3A"/>
          </a:solidFill>
          <a:ln/>
        </p:spPr>
      </p:sp>
      <p:sp>
        <p:nvSpPr>
          <p:cNvPr id="12" name="Text 10"/>
          <p:cNvSpPr/>
          <p:nvPr/>
        </p:nvSpPr>
        <p:spPr>
          <a:xfrm>
            <a:off x="1057275" y="2490788"/>
            <a:ext cx="858815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Windows Security events, agent per host acceptable</a:t>
            </a:r>
            <a:endParaRPr lang="en-US" sz="1725" dirty="0"/>
          </a:p>
        </p:txBody>
      </p:sp>
      <p:sp>
        <p:nvSpPr>
          <p:cNvPr id="13" name="Shape 11"/>
          <p:cNvSpPr/>
          <p:nvPr/>
        </p:nvSpPr>
        <p:spPr>
          <a:xfrm>
            <a:off x="9529837" y="2852738"/>
            <a:ext cx="7843763" cy="9525"/>
          </a:xfrm>
          <a:prstGeom prst="rect">
            <a:avLst/>
          </a:prstGeom>
          <a:solidFill>
            <a:srgbClr val="2A2F3A"/>
          </a:solidFill>
          <a:ln/>
        </p:spPr>
      </p:sp>
      <p:sp>
        <p:nvSpPr>
          <p:cNvPr id="14" name="Text 12"/>
          <p:cNvSpPr/>
          <p:nvPr/>
        </p:nvSpPr>
        <p:spPr>
          <a:xfrm>
            <a:off x="9672712" y="2490788"/>
            <a:ext cx="779332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Windows Security Events via AMA with data collection rules</a:t>
            </a:r>
            <a:endParaRPr lang="en-US" sz="1725" dirty="0"/>
          </a:p>
        </p:txBody>
      </p:sp>
      <p:sp>
        <p:nvSpPr>
          <p:cNvPr id="15" name="Shape 13"/>
          <p:cNvSpPr/>
          <p:nvPr/>
        </p:nvSpPr>
        <p:spPr>
          <a:xfrm>
            <a:off x="914400" y="2862263"/>
            <a:ext cx="8615437" cy="476250"/>
          </a:xfrm>
          <a:prstGeom prst="rect">
            <a:avLst/>
          </a:prstGeom>
          <a:solidFill>
            <a:srgbClr val="FFFFFF">
              <a:alpha val="2000"/>
            </a:srgbClr>
          </a:solidFill>
          <a:ln/>
        </p:spPr>
      </p:sp>
      <p:sp>
        <p:nvSpPr>
          <p:cNvPr id="16" name="Shape 14"/>
          <p:cNvSpPr/>
          <p:nvPr/>
        </p:nvSpPr>
        <p:spPr>
          <a:xfrm>
            <a:off x="914400" y="3328988"/>
            <a:ext cx="8615437" cy="9525"/>
          </a:xfrm>
          <a:prstGeom prst="rect">
            <a:avLst/>
          </a:prstGeom>
          <a:solidFill>
            <a:srgbClr val="2A2F3A"/>
          </a:solidFill>
          <a:ln/>
        </p:spPr>
      </p:sp>
      <p:sp>
        <p:nvSpPr>
          <p:cNvPr id="17" name="Text 15"/>
          <p:cNvSpPr/>
          <p:nvPr/>
        </p:nvSpPr>
        <p:spPr>
          <a:xfrm>
            <a:off x="1057275" y="2967038"/>
            <a:ext cx="858815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Windows Security events, large estate, central collection preferred</a:t>
            </a:r>
            <a:endParaRPr lang="en-US" sz="1725" dirty="0"/>
          </a:p>
        </p:txBody>
      </p:sp>
      <p:sp>
        <p:nvSpPr>
          <p:cNvPr id="18" name="Shape 16"/>
          <p:cNvSpPr/>
          <p:nvPr/>
        </p:nvSpPr>
        <p:spPr>
          <a:xfrm>
            <a:off x="9529837" y="2862263"/>
            <a:ext cx="7843763" cy="476250"/>
          </a:xfrm>
          <a:prstGeom prst="rect">
            <a:avLst/>
          </a:prstGeom>
          <a:solidFill>
            <a:srgbClr val="FFFFFF">
              <a:alpha val="2000"/>
            </a:srgbClr>
          </a:solidFill>
          <a:ln/>
        </p:spPr>
      </p:sp>
      <p:sp>
        <p:nvSpPr>
          <p:cNvPr id="19" name="Shape 17"/>
          <p:cNvSpPr/>
          <p:nvPr/>
        </p:nvSpPr>
        <p:spPr>
          <a:xfrm>
            <a:off x="9529837" y="3328988"/>
            <a:ext cx="7843763" cy="9525"/>
          </a:xfrm>
          <a:prstGeom prst="rect">
            <a:avLst/>
          </a:prstGeom>
          <a:solidFill>
            <a:srgbClr val="2A2F3A"/>
          </a:solidFill>
          <a:ln/>
        </p:spPr>
      </p:sp>
      <p:sp>
        <p:nvSpPr>
          <p:cNvPr id="20" name="Text 18"/>
          <p:cNvSpPr/>
          <p:nvPr/>
        </p:nvSpPr>
        <p:spPr>
          <a:xfrm>
            <a:off x="9672712" y="2967038"/>
            <a:ext cx="779332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Windows Event Forwarding to a collector</a:t>
            </a:r>
            <a:endParaRPr lang="en-US" sz="1725" dirty="0"/>
          </a:p>
        </p:txBody>
      </p:sp>
      <p:sp>
        <p:nvSpPr>
          <p:cNvPr id="21" name="Shape 19"/>
          <p:cNvSpPr/>
          <p:nvPr/>
        </p:nvSpPr>
        <p:spPr>
          <a:xfrm>
            <a:off x="914400" y="3805237"/>
            <a:ext cx="8615437" cy="9525"/>
          </a:xfrm>
          <a:prstGeom prst="rect">
            <a:avLst/>
          </a:prstGeom>
          <a:solidFill>
            <a:srgbClr val="2A2F3A"/>
          </a:solidFill>
          <a:ln/>
        </p:spPr>
      </p:sp>
      <p:sp>
        <p:nvSpPr>
          <p:cNvPr id="22" name="Text 20"/>
          <p:cNvSpPr/>
          <p:nvPr/>
        </p:nvSpPr>
        <p:spPr>
          <a:xfrm>
            <a:off x="1057275" y="3443288"/>
            <a:ext cx="858815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Linux hosts and network devices emitting plain Syslog</a:t>
            </a:r>
            <a:endParaRPr lang="en-US" sz="1725" dirty="0"/>
          </a:p>
        </p:txBody>
      </p:sp>
      <p:sp>
        <p:nvSpPr>
          <p:cNvPr id="23" name="Shape 21"/>
          <p:cNvSpPr/>
          <p:nvPr/>
        </p:nvSpPr>
        <p:spPr>
          <a:xfrm>
            <a:off x="9529837" y="3805237"/>
            <a:ext cx="7843763" cy="9525"/>
          </a:xfrm>
          <a:prstGeom prst="rect">
            <a:avLst/>
          </a:prstGeom>
          <a:solidFill>
            <a:srgbClr val="2A2F3A"/>
          </a:solidFill>
          <a:ln/>
        </p:spPr>
      </p:sp>
      <p:sp>
        <p:nvSpPr>
          <p:cNvPr id="24" name="Text 22"/>
          <p:cNvSpPr/>
          <p:nvPr/>
        </p:nvSpPr>
        <p:spPr>
          <a:xfrm>
            <a:off x="9672712" y="3443288"/>
            <a:ext cx="779332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Syslog via AMA</a:t>
            </a:r>
            <a:endParaRPr lang="en-US" sz="1725" dirty="0"/>
          </a:p>
        </p:txBody>
      </p:sp>
      <p:sp>
        <p:nvSpPr>
          <p:cNvPr id="25" name="Shape 23"/>
          <p:cNvSpPr/>
          <p:nvPr/>
        </p:nvSpPr>
        <p:spPr>
          <a:xfrm>
            <a:off x="914400" y="3814763"/>
            <a:ext cx="8615437" cy="476250"/>
          </a:xfrm>
          <a:prstGeom prst="rect">
            <a:avLst/>
          </a:prstGeom>
          <a:solidFill>
            <a:srgbClr val="FFFFFF">
              <a:alpha val="2000"/>
            </a:srgbClr>
          </a:solidFill>
          <a:ln/>
        </p:spPr>
      </p:sp>
      <p:sp>
        <p:nvSpPr>
          <p:cNvPr id="26" name="Shape 24"/>
          <p:cNvSpPr/>
          <p:nvPr/>
        </p:nvSpPr>
        <p:spPr>
          <a:xfrm>
            <a:off x="914400" y="4281488"/>
            <a:ext cx="8615437" cy="9525"/>
          </a:xfrm>
          <a:prstGeom prst="rect">
            <a:avLst/>
          </a:prstGeom>
          <a:solidFill>
            <a:srgbClr val="2A2F3A"/>
          </a:solidFill>
          <a:ln/>
        </p:spPr>
      </p:sp>
      <p:sp>
        <p:nvSpPr>
          <p:cNvPr id="27" name="Text 25"/>
          <p:cNvSpPr/>
          <p:nvPr/>
        </p:nvSpPr>
        <p:spPr>
          <a:xfrm>
            <a:off x="1057275" y="3919537"/>
            <a:ext cx="858815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Security appliances emitting Common Event Format</a:t>
            </a:r>
            <a:endParaRPr lang="en-US" sz="1725" dirty="0"/>
          </a:p>
        </p:txBody>
      </p:sp>
      <p:sp>
        <p:nvSpPr>
          <p:cNvPr id="28" name="Shape 26"/>
          <p:cNvSpPr/>
          <p:nvPr/>
        </p:nvSpPr>
        <p:spPr>
          <a:xfrm>
            <a:off x="9529837" y="3814763"/>
            <a:ext cx="7843763" cy="476250"/>
          </a:xfrm>
          <a:prstGeom prst="rect">
            <a:avLst/>
          </a:prstGeom>
          <a:solidFill>
            <a:srgbClr val="FFFFFF">
              <a:alpha val="2000"/>
            </a:srgbClr>
          </a:solidFill>
          <a:ln/>
        </p:spPr>
      </p:sp>
      <p:sp>
        <p:nvSpPr>
          <p:cNvPr id="29" name="Shape 27"/>
          <p:cNvSpPr/>
          <p:nvPr/>
        </p:nvSpPr>
        <p:spPr>
          <a:xfrm>
            <a:off x="9529837" y="4281488"/>
            <a:ext cx="7843763" cy="9525"/>
          </a:xfrm>
          <a:prstGeom prst="rect">
            <a:avLst/>
          </a:prstGeom>
          <a:solidFill>
            <a:srgbClr val="2A2F3A"/>
          </a:solidFill>
          <a:ln/>
        </p:spPr>
      </p:sp>
      <p:sp>
        <p:nvSpPr>
          <p:cNvPr id="30" name="Text 28"/>
          <p:cNvSpPr/>
          <p:nvPr/>
        </p:nvSpPr>
        <p:spPr>
          <a:xfrm>
            <a:off x="9672712" y="3919537"/>
            <a:ext cx="779332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CEF via AMA</a:t>
            </a:r>
            <a:endParaRPr lang="en-US" sz="1725" dirty="0"/>
          </a:p>
        </p:txBody>
      </p:sp>
      <p:sp>
        <p:nvSpPr>
          <p:cNvPr id="31" name="Shape 29"/>
          <p:cNvSpPr/>
          <p:nvPr/>
        </p:nvSpPr>
        <p:spPr>
          <a:xfrm>
            <a:off x="914400" y="4757738"/>
            <a:ext cx="8615437" cy="9525"/>
          </a:xfrm>
          <a:prstGeom prst="rect">
            <a:avLst/>
          </a:prstGeom>
          <a:solidFill>
            <a:srgbClr val="2A2F3A"/>
          </a:solidFill>
          <a:ln/>
        </p:spPr>
      </p:sp>
      <p:sp>
        <p:nvSpPr>
          <p:cNvPr id="32" name="Text 30"/>
          <p:cNvSpPr/>
          <p:nvPr/>
        </p:nvSpPr>
        <p:spPr>
          <a:xfrm>
            <a:off x="1057275" y="4395787"/>
            <a:ext cx="858815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Azure platform and resource activity</a:t>
            </a:r>
            <a:endParaRPr lang="en-US" sz="1725" dirty="0"/>
          </a:p>
        </p:txBody>
      </p:sp>
      <p:sp>
        <p:nvSpPr>
          <p:cNvPr id="33" name="Shape 31"/>
          <p:cNvSpPr/>
          <p:nvPr/>
        </p:nvSpPr>
        <p:spPr>
          <a:xfrm>
            <a:off x="9529837" y="4757738"/>
            <a:ext cx="7843763" cy="9525"/>
          </a:xfrm>
          <a:prstGeom prst="rect">
            <a:avLst/>
          </a:prstGeom>
          <a:solidFill>
            <a:srgbClr val="2A2F3A"/>
          </a:solidFill>
          <a:ln/>
        </p:spPr>
      </p:sp>
      <p:sp>
        <p:nvSpPr>
          <p:cNvPr id="34" name="Text 32"/>
          <p:cNvSpPr/>
          <p:nvPr/>
        </p:nvSpPr>
        <p:spPr>
          <a:xfrm>
            <a:off x="9672712" y="4395787"/>
            <a:ext cx="779332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Resource diagnostic settings, enforced by Azure Policy</a:t>
            </a:r>
            <a:endParaRPr lang="en-US" sz="1725" dirty="0"/>
          </a:p>
        </p:txBody>
      </p:sp>
      <p:sp>
        <p:nvSpPr>
          <p:cNvPr id="35" name="Shape 33"/>
          <p:cNvSpPr/>
          <p:nvPr/>
        </p:nvSpPr>
        <p:spPr>
          <a:xfrm>
            <a:off x="914400" y="4767263"/>
            <a:ext cx="8615437" cy="476250"/>
          </a:xfrm>
          <a:prstGeom prst="rect">
            <a:avLst/>
          </a:prstGeom>
          <a:solidFill>
            <a:srgbClr val="FFFFFF">
              <a:alpha val="2000"/>
            </a:srgbClr>
          </a:solidFill>
          <a:ln/>
        </p:spPr>
      </p:sp>
      <p:sp>
        <p:nvSpPr>
          <p:cNvPr id="36" name="Shape 34"/>
          <p:cNvSpPr/>
          <p:nvPr/>
        </p:nvSpPr>
        <p:spPr>
          <a:xfrm>
            <a:off x="914400" y="5233988"/>
            <a:ext cx="8615437" cy="9525"/>
          </a:xfrm>
          <a:prstGeom prst="rect">
            <a:avLst/>
          </a:prstGeom>
          <a:solidFill>
            <a:srgbClr val="2A2F3A"/>
          </a:solidFill>
          <a:ln/>
        </p:spPr>
      </p:sp>
      <p:sp>
        <p:nvSpPr>
          <p:cNvPr id="37" name="Text 35"/>
          <p:cNvSpPr/>
          <p:nvPr/>
        </p:nvSpPr>
        <p:spPr>
          <a:xfrm>
            <a:off x="1057275" y="4872038"/>
            <a:ext cx="858815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In-house application with no built-in connector</a:t>
            </a:r>
            <a:endParaRPr lang="en-US" sz="1725" dirty="0"/>
          </a:p>
        </p:txBody>
      </p:sp>
      <p:sp>
        <p:nvSpPr>
          <p:cNvPr id="38" name="Shape 36"/>
          <p:cNvSpPr/>
          <p:nvPr/>
        </p:nvSpPr>
        <p:spPr>
          <a:xfrm>
            <a:off x="9529837" y="4767263"/>
            <a:ext cx="7843763" cy="476250"/>
          </a:xfrm>
          <a:prstGeom prst="rect">
            <a:avLst/>
          </a:prstGeom>
          <a:solidFill>
            <a:srgbClr val="FFFFFF">
              <a:alpha val="2000"/>
            </a:srgbClr>
          </a:solidFill>
          <a:ln/>
        </p:spPr>
      </p:sp>
      <p:sp>
        <p:nvSpPr>
          <p:cNvPr id="39" name="Shape 37"/>
          <p:cNvSpPr/>
          <p:nvPr/>
        </p:nvSpPr>
        <p:spPr>
          <a:xfrm>
            <a:off x="9529837" y="5233988"/>
            <a:ext cx="7843763" cy="9525"/>
          </a:xfrm>
          <a:prstGeom prst="rect">
            <a:avLst/>
          </a:prstGeom>
          <a:solidFill>
            <a:srgbClr val="2A2F3A"/>
          </a:solidFill>
          <a:ln/>
        </p:spPr>
      </p:sp>
      <p:sp>
        <p:nvSpPr>
          <p:cNvPr id="40" name="Text 38"/>
          <p:cNvSpPr/>
          <p:nvPr/>
        </p:nvSpPr>
        <p:spPr>
          <a:xfrm>
            <a:off x="9672712" y="4872038"/>
            <a:ext cx="779332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Custom log table in the workspace</a:t>
            </a:r>
            <a:endParaRPr lang="en-US" sz="17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1.3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You Should Now Be Able to Do</a:t>
            </a:r>
            <a:endParaRPr lang="en-US" sz="4050" dirty="0"/>
          </a:p>
        </p:txBody>
      </p:sp>
      <p:sp>
        <p:nvSpPr>
          <p:cNvPr id="5" name="Shape 3"/>
          <p:cNvSpPr/>
          <p:nvPr/>
        </p:nvSpPr>
        <p:spPr>
          <a:xfrm>
            <a:off x="914400" y="1890713"/>
            <a:ext cx="16459200" cy="714375"/>
          </a:xfrm>
          <a:prstGeom prst="roundRect">
            <a:avLst>
              <a:gd name="adj" fmla="val 21333"/>
            </a:avLst>
          </a:prstGeom>
          <a:solidFill>
            <a:srgbClr val="FFFFFF">
              <a:alpha val="2000"/>
            </a:srgbClr>
          </a:solidFill>
          <a:ln w="9525">
            <a:solidFill>
              <a:srgbClr val="2A2F3A"/>
            </a:solidFill>
            <a:prstDash val="solid"/>
          </a:ln>
        </p:spPr>
      </p:sp>
      <p:sp>
        <p:nvSpPr>
          <p:cNvPr id="6" name="Text 4"/>
          <p:cNvSpPr/>
          <p:nvPr/>
        </p:nvSpPr>
        <p:spPr>
          <a:xfrm>
            <a:off x="1152525" y="2128838"/>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Select the correct data connector and collection architecture for any described source</a:t>
            </a:r>
            <a:endParaRPr lang="en-US" sz="1575" dirty="0"/>
          </a:p>
        </p:txBody>
      </p:sp>
      <p:sp>
        <p:nvSpPr>
          <p:cNvPr id="7" name="Shape 5"/>
          <p:cNvSpPr/>
          <p:nvPr/>
        </p:nvSpPr>
        <p:spPr>
          <a:xfrm>
            <a:off x="914400" y="2757488"/>
            <a:ext cx="16459200" cy="714375"/>
          </a:xfrm>
          <a:prstGeom prst="roundRect">
            <a:avLst>
              <a:gd name="adj" fmla="val 21333"/>
            </a:avLst>
          </a:prstGeom>
          <a:solidFill>
            <a:srgbClr val="FFFFFF">
              <a:alpha val="2000"/>
            </a:srgbClr>
          </a:solidFill>
          <a:ln w="9525">
            <a:solidFill>
              <a:srgbClr val="2A2F3A"/>
            </a:solidFill>
            <a:prstDash val="solid"/>
          </a:ln>
        </p:spPr>
      </p:sp>
      <p:sp>
        <p:nvSpPr>
          <p:cNvPr id="8" name="Text 6"/>
          <p:cNvSpPr/>
          <p:nvPr/>
        </p:nvSpPr>
        <p:spPr>
          <a:xfrm>
            <a:off x="1152525" y="2995613"/>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Configure AMA-based collection with data collection rules, and plan WEF where agents are impractical</a:t>
            </a:r>
            <a:endParaRPr lang="en-US" sz="1575" dirty="0"/>
          </a:p>
        </p:txBody>
      </p:sp>
      <p:sp>
        <p:nvSpPr>
          <p:cNvPr id="9" name="Shape 7"/>
          <p:cNvSpPr/>
          <p:nvPr/>
        </p:nvSpPr>
        <p:spPr>
          <a:xfrm>
            <a:off x="914400" y="3624263"/>
            <a:ext cx="16459200" cy="714375"/>
          </a:xfrm>
          <a:prstGeom prst="roundRect">
            <a:avLst>
              <a:gd name="adj" fmla="val 21333"/>
            </a:avLst>
          </a:prstGeom>
          <a:solidFill>
            <a:srgbClr val="FFFFFF">
              <a:alpha val="2000"/>
            </a:srgbClr>
          </a:solidFill>
          <a:ln w="9525">
            <a:solidFill>
              <a:srgbClr val="2A2F3A"/>
            </a:solidFill>
            <a:prstDash val="solid"/>
          </a:ln>
        </p:spPr>
      </p:sp>
      <p:sp>
        <p:nvSpPr>
          <p:cNvPr id="10" name="Text 8"/>
          <p:cNvSpPr/>
          <p:nvPr/>
        </p:nvSpPr>
        <p:spPr>
          <a:xfrm>
            <a:off x="1152525" y="3862387"/>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Bring in Azure activity, threat indicators, and custom data with the right mechanism for each</a:t>
            </a:r>
            <a:endParaRPr lang="en-US" sz="15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33767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1.4</a:t>
            </a:r>
            <a:endParaRPr lang="en-US" sz="1575" dirty="0"/>
          </a:p>
        </p:txBody>
      </p:sp>
      <p:sp>
        <p:nvSpPr>
          <p:cNvPr id="4" name="Text 2"/>
          <p:cNvSpPr/>
          <p:nvPr/>
        </p:nvSpPr>
        <p:spPr>
          <a:xfrm>
            <a:off x="914400" y="4747245"/>
            <a:ext cx="18105120" cy="687660"/>
          </a:xfrm>
          <a:prstGeom prst="rect">
            <a:avLst/>
          </a:prstGeom>
          <a:noFill/>
          <a:ln/>
        </p:spPr>
        <p:txBody>
          <a:bodyPr wrap="square" lIns="25400" tIns="25400" rIns="25400" bIns="25400" rtlCol="0" anchor="t">
            <a:normAutofit/>
          </a:bodyPr>
          <a:lstStyle/>
          <a:p>
            <a:pPr algn="l" indent="0" marL="0">
              <a:lnSpc>
                <a:spcPct val="96056"/>
              </a:lnSpc>
              <a:buNone/>
            </a:pPr>
            <a:r>
              <a:rPr lang="en-US" sz="4650" b="1" dirty="0">
                <a:solidFill>
                  <a:srgbClr val="F5F7FB"/>
                </a:solidFill>
                <a:latin typeface="Arial" pitchFamily="34" charset="0"/>
                <a:ea typeface="Arial" pitchFamily="34" charset="-122"/>
                <a:cs typeface="Arial" pitchFamily="34" charset="-120"/>
              </a:rPr>
              <a:t>Configure Detections</a:t>
            </a:r>
            <a:endParaRPr lang="en-US" sz="4650" dirty="0"/>
          </a:p>
        </p:txBody>
      </p:sp>
      <p:sp>
        <p:nvSpPr>
          <p:cNvPr id="5" name="Text 3"/>
          <p:cNvSpPr/>
          <p:nvPr/>
        </p:nvSpPr>
        <p:spPr>
          <a:xfrm>
            <a:off x="914400" y="5587305"/>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Custom detection rules, Sentinel analytics rules, MITRE ATT&amp;CK coverage, and anomalies</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05918"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34468"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1.4 · Task 1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Create Custom Detection Rules via Advanced Hunting</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 KQL query written in Defender XDR's Advanced Hunting can be promoted directly into a custom detection rule, so the query runs on a schedule and raises alerts automatically.</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This is the bridge between hunting (Domain 3) and detection engineering — a hunt that finds something becomes a permanent detection.</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The query must return specific required columns for the rule to be valid as a detection.</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4670"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3220"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1.4 · Task 2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Manage Custom Detection Rules in Defender XDR</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Ongoing lifecycle management of custom detections — reviewing which rules are firing, editing frequency and scope, tuning to reduce false positives, and retiring rules that no longer earn their place.</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 detection is a living asset — an unmaintained rule set becomes noise the SOC learns to ignore.</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Run frequency directly affects both detection latency and query cost.</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8391"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6941"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1.4 · Task 3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Sentinel Analytics Rules: Four Named Types</a:t>
            </a:r>
            <a:endParaRPr lang="en-US" sz="4050" dirty="0"/>
          </a:p>
        </p:txBody>
      </p:sp>
      <p:sp>
        <p:nvSpPr>
          <p:cNvPr id="6" name="Shape 4"/>
          <p:cNvSpPr/>
          <p:nvPr/>
        </p:nvSpPr>
        <p:spPr>
          <a:xfrm>
            <a:off x="914400" y="1914525"/>
            <a:ext cx="3387030" cy="514350"/>
          </a:xfrm>
          <a:prstGeom prst="rect">
            <a:avLst/>
          </a:prstGeom>
          <a:solidFill>
            <a:srgbClr val="FF6A00">
              <a:alpha val="18000"/>
            </a:srgbClr>
          </a:solidFill>
          <a:ln/>
        </p:spPr>
      </p:sp>
      <p:sp>
        <p:nvSpPr>
          <p:cNvPr id="7" name="Shape 5"/>
          <p:cNvSpPr/>
          <p:nvPr/>
        </p:nvSpPr>
        <p:spPr>
          <a:xfrm>
            <a:off x="914400" y="2419350"/>
            <a:ext cx="3387030" cy="9525"/>
          </a:xfrm>
          <a:prstGeom prst="rect">
            <a:avLst/>
          </a:prstGeom>
          <a:solidFill>
            <a:srgbClr val="B85100"/>
          </a:solidFill>
          <a:ln/>
        </p:spPr>
      </p:sp>
      <p:sp>
        <p:nvSpPr>
          <p:cNvPr id="8" name="Text 6"/>
          <p:cNvSpPr/>
          <p:nvPr/>
        </p:nvSpPr>
        <p:spPr>
          <a:xfrm>
            <a:off x="1057275" y="2019300"/>
            <a:ext cx="3202891"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Rule Type</a:t>
            </a:r>
            <a:endParaRPr lang="en-US" sz="2025" dirty="0"/>
          </a:p>
        </p:txBody>
      </p:sp>
      <p:sp>
        <p:nvSpPr>
          <p:cNvPr id="9" name="Shape 7"/>
          <p:cNvSpPr/>
          <p:nvPr/>
        </p:nvSpPr>
        <p:spPr>
          <a:xfrm>
            <a:off x="4301430" y="1914525"/>
            <a:ext cx="13072170" cy="514350"/>
          </a:xfrm>
          <a:prstGeom prst="rect">
            <a:avLst/>
          </a:prstGeom>
          <a:solidFill>
            <a:srgbClr val="FF6A00">
              <a:alpha val="18000"/>
            </a:srgbClr>
          </a:solidFill>
          <a:ln/>
        </p:spPr>
      </p:sp>
      <p:sp>
        <p:nvSpPr>
          <p:cNvPr id="10" name="Shape 8"/>
          <p:cNvSpPr/>
          <p:nvPr/>
        </p:nvSpPr>
        <p:spPr>
          <a:xfrm>
            <a:off x="4301430" y="2419350"/>
            <a:ext cx="13072170" cy="9525"/>
          </a:xfrm>
          <a:prstGeom prst="rect">
            <a:avLst/>
          </a:prstGeom>
          <a:solidFill>
            <a:srgbClr val="B85100"/>
          </a:solidFill>
          <a:ln/>
        </p:spPr>
      </p:sp>
      <p:sp>
        <p:nvSpPr>
          <p:cNvPr id="11" name="Text 9"/>
          <p:cNvSpPr/>
          <p:nvPr/>
        </p:nvSpPr>
        <p:spPr>
          <a:xfrm>
            <a:off x="4444305" y="2019300"/>
            <a:ext cx="13178585"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Behaviour</a:t>
            </a:r>
            <a:endParaRPr lang="en-US" sz="2025" dirty="0"/>
          </a:p>
        </p:txBody>
      </p:sp>
      <p:sp>
        <p:nvSpPr>
          <p:cNvPr id="12" name="Shape 10"/>
          <p:cNvSpPr/>
          <p:nvPr/>
        </p:nvSpPr>
        <p:spPr>
          <a:xfrm>
            <a:off x="914400" y="2895600"/>
            <a:ext cx="3387030" cy="9525"/>
          </a:xfrm>
          <a:prstGeom prst="rect">
            <a:avLst/>
          </a:prstGeom>
          <a:solidFill>
            <a:srgbClr val="2A2F3A"/>
          </a:solidFill>
          <a:ln/>
        </p:spPr>
      </p:sp>
      <p:sp>
        <p:nvSpPr>
          <p:cNvPr id="13" name="Text 11"/>
          <p:cNvSpPr/>
          <p:nvPr/>
        </p:nvSpPr>
        <p:spPr>
          <a:xfrm>
            <a:off x="1057275" y="2533650"/>
            <a:ext cx="320289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Scheduled</a:t>
            </a:r>
            <a:endParaRPr lang="en-US" sz="1725" dirty="0"/>
          </a:p>
        </p:txBody>
      </p:sp>
      <p:sp>
        <p:nvSpPr>
          <p:cNvPr id="14" name="Shape 12"/>
          <p:cNvSpPr/>
          <p:nvPr/>
        </p:nvSpPr>
        <p:spPr>
          <a:xfrm>
            <a:off x="4301430" y="2895600"/>
            <a:ext cx="13072170" cy="9525"/>
          </a:xfrm>
          <a:prstGeom prst="rect">
            <a:avLst/>
          </a:prstGeom>
          <a:solidFill>
            <a:srgbClr val="2A2F3A"/>
          </a:solidFill>
          <a:ln/>
        </p:spPr>
      </p:sp>
      <p:sp>
        <p:nvSpPr>
          <p:cNvPr id="15" name="Text 13"/>
          <p:cNvSpPr/>
          <p:nvPr/>
        </p:nvSpPr>
        <p:spPr>
          <a:xfrm>
            <a:off x="4444305" y="2533650"/>
            <a:ext cx="1317858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Runs a KQL query on a defined schedule and raises alerts on matches</a:t>
            </a:r>
            <a:endParaRPr lang="en-US" sz="1725" dirty="0"/>
          </a:p>
        </p:txBody>
      </p:sp>
      <p:sp>
        <p:nvSpPr>
          <p:cNvPr id="16" name="Shape 14"/>
          <p:cNvSpPr/>
          <p:nvPr/>
        </p:nvSpPr>
        <p:spPr>
          <a:xfrm>
            <a:off x="914400" y="2905125"/>
            <a:ext cx="3387030" cy="476250"/>
          </a:xfrm>
          <a:prstGeom prst="rect">
            <a:avLst/>
          </a:prstGeom>
          <a:solidFill>
            <a:srgbClr val="FFFFFF">
              <a:alpha val="2000"/>
            </a:srgbClr>
          </a:solidFill>
          <a:ln/>
        </p:spPr>
      </p:sp>
      <p:sp>
        <p:nvSpPr>
          <p:cNvPr id="17" name="Shape 15"/>
          <p:cNvSpPr/>
          <p:nvPr/>
        </p:nvSpPr>
        <p:spPr>
          <a:xfrm>
            <a:off x="914400" y="3371850"/>
            <a:ext cx="3387030" cy="9525"/>
          </a:xfrm>
          <a:prstGeom prst="rect">
            <a:avLst/>
          </a:prstGeom>
          <a:solidFill>
            <a:srgbClr val="2A2F3A"/>
          </a:solidFill>
          <a:ln/>
        </p:spPr>
      </p:sp>
      <p:sp>
        <p:nvSpPr>
          <p:cNvPr id="18" name="Text 16"/>
          <p:cNvSpPr/>
          <p:nvPr/>
        </p:nvSpPr>
        <p:spPr>
          <a:xfrm>
            <a:off x="1057275" y="3009900"/>
            <a:ext cx="320289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Near-real time (NRT)</a:t>
            </a:r>
            <a:endParaRPr lang="en-US" sz="1725" dirty="0"/>
          </a:p>
        </p:txBody>
      </p:sp>
      <p:sp>
        <p:nvSpPr>
          <p:cNvPr id="19" name="Shape 17"/>
          <p:cNvSpPr/>
          <p:nvPr/>
        </p:nvSpPr>
        <p:spPr>
          <a:xfrm>
            <a:off x="4301430" y="2905125"/>
            <a:ext cx="13072170" cy="476250"/>
          </a:xfrm>
          <a:prstGeom prst="rect">
            <a:avLst/>
          </a:prstGeom>
          <a:solidFill>
            <a:srgbClr val="FFFFFF">
              <a:alpha val="2000"/>
            </a:srgbClr>
          </a:solidFill>
          <a:ln/>
        </p:spPr>
      </p:sp>
      <p:sp>
        <p:nvSpPr>
          <p:cNvPr id="20" name="Shape 18"/>
          <p:cNvSpPr/>
          <p:nvPr/>
        </p:nvSpPr>
        <p:spPr>
          <a:xfrm>
            <a:off x="4301430" y="3371850"/>
            <a:ext cx="13072170" cy="9525"/>
          </a:xfrm>
          <a:prstGeom prst="rect">
            <a:avLst/>
          </a:prstGeom>
          <a:solidFill>
            <a:srgbClr val="2A2F3A"/>
          </a:solidFill>
          <a:ln/>
        </p:spPr>
      </p:sp>
      <p:sp>
        <p:nvSpPr>
          <p:cNvPr id="21" name="Text 19"/>
          <p:cNvSpPr/>
          <p:nvPr/>
        </p:nvSpPr>
        <p:spPr>
          <a:xfrm>
            <a:off x="4444305" y="3009900"/>
            <a:ext cx="1317858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Runs approximately every minute for minimal detection latency on high-priority conditions</a:t>
            </a:r>
            <a:endParaRPr lang="en-US" sz="1725" dirty="0"/>
          </a:p>
        </p:txBody>
      </p:sp>
      <p:sp>
        <p:nvSpPr>
          <p:cNvPr id="22" name="Shape 20"/>
          <p:cNvSpPr/>
          <p:nvPr/>
        </p:nvSpPr>
        <p:spPr>
          <a:xfrm>
            <a:off x="914400" y="3848100"/>
            <a:ext cx="3387030" cy="9525"/>
          </a:xfrm>
          <a:prstGeom prst="rect">
            <a:avLst/>
          </a:prstGeom>
          <a:solidFill>
            <a:srgbClr val="2A2F3A"/>
          </a:solidFill>
          <a:ln/>
        </p:spPr>
      </p:sp>
      <p:sp>
        <p:nvSpPr>
          <p:cNvPr id="23" name="Text 21"/>
          <p:cNvSpPr/>
          <p:nvPr/>
        </p:nvSpPr>
        <p:spPr>
          <a:xfrm>
            <a:off x="1057275" y="3486150"/>
            <a:ext cx="320289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Threat intelligence</a:t>
            </a:r>
            <a:endParaRPr lang="en-US" sz="1725" dirty="0"/>
          </a:p>
        </p:txBody>
      </p:sp>
      <p:sp>
        <p:nvSpPr>
          <p:cNvPr id="24" name="Shape 22"/>
          <p:cNvSpPr/>
          <p:nvPr/>
        </p:nvSpPr>
        <p:spPr>
          <a:xfrm>
            <a:off x="4301430" y="3848100"/>
            <a:ext cx="13072170" cy="9525"/>
          </a:xfrm>
          <a:prstGeom prst="rect">
            <a:avLst/>
          </a:prstGeom>
          <a:solidFill>
            <a:srgbClr val="2A2F3A"/>
          </a:solidFill>
          <a:ln/>
        </p:spPr>
      </p:sp>
      <p:sp>
        <p:nvSpPr>
          <p:cNvPr id="25" name="Text 23"/>
          <p:cNvSpPr/>
          <p:nvPr/>
        </p:nvSpPr>
        <p:spPr>
          <a:xfrm>
            <a:off x="4444305" y="3486150"/>
            <a:ext cx="1317858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Matches ingested threat indicators against ingested telemetry automatically</a:t>
            </a:r>
            <a:endParaRPr lang="en-US" sz="1725" dirty="0"/>
          </a:p>
        </p:txBody>
      </p:sp>
      <p:sp>
        <p:nvSpPr>
          <p:cNvPr id="26" name="Shape 24"/>
          <p:cNvSpPr/>
          <p:nvPr/>
        </p:nvSpPr>
        <p:spPr>
          <a:xfrm>
            <a:off x="914400" y="3857625"/>
            <a:ext cx="3387030" cy="476250"/>
          </a:xfrm>
          <a:prstGeom prst="rect">
            <a:avLst/>
          </a:prstGeom>
          <a:solidFill>
            <a:srgbClr val="FFFFFF">
              <a:alpha val="2000"/>
            </a:srgbClr>
          </a:solidFill>
          <a:ln/>
        </p:spPr>
      </p:sp>
      <p:sp>
        <p:nvSpPr>
          <p:cNvPr id="27" name="Shape 25"/>
          <p:cNvSpPr/>
          <p:nvPr/>
        </p:nvSpPr>
        <p:spPr>
          <a:xfrm>
            <a:off x="914400" y="4324350"/>
            <a:ext cx="3387030" cy="9525"/>
          </a:xfrm>
          <a:prstGeom prst="rect">
            <a:avLst/>
          </a:prstGeom>
          <a:solidFill>
            <a:srgbClr val="2A2F3A"/>
          </a:solidFill>
          <a:ln/>
        </p:spPr>
      </p:sp>
      <p:sp>
        <p:nvSpPr>
          <p:cNvPr id="28" name="Text 26"/>
          <p:cNvSpPr/>
          <p:nvPr/>
        </p:nvSpPr>
        <p:spPr>
          <a:xfrm>
            <a:off x="1057275" y="3962400"/>
            <a:ext cx="320289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Machine learning</a:t>
            </a:r>
            <a:endParaRPr lang="en-US" sz="1725" dirty="0"/>
          </a:p>
        </p:txBody>
      </p:sp>
      <p:sp>
        <p:nvSpPr>
          <p:cNvPr id="29" name="Shape 27"/>
          <p:cNvSpPr/>
          <p:nvPr/>
        </p:nvSpPr>
        <p:spPr>
          <a:xfrm>
            <a:off x="4301430" y="3857625"/>
            <a:ext cx="13072170" cy="476250"/>
          </a:xfrm>
          <a:prstGeom prst="rect">
            <a:avLst/>
          </a:prstGeom>
          <a:solidFill>
            <a:srgbClr val="FFFFFF">
              <a:alpha val="2000"/>
            </a:srgbClr>
          </a:solidFill>
          <a:ln/>
        </p:spPr>
      </p:sp>
      <p:sp>
        <p:nvSpPr>
          <p:cNvPr id="30" name="Shape 28"/>
          <p:cNvSpPr/>
          <p:nvPr/>
        </p:nvSpPr>
        <p:spPr>
          <a:xfrm>
            <a:off x="4301430" y="4324350"/>
            <a:ext cx="13072170" cy="9525"/>
          </a:xfrm>
          <a:prstGeom prst="rect">
            <a:avLst/>
          </a:prstGeom>
          <a:solidFill>
            <a:srgbClr val="2A2F3A"/>
          </a:solidFill>
          <a:ln/>
        </p:spPr>
      </p:sp>
      <p:sp>
        <p:nvSpPr>
          <p:cNvPr id="31" name="Text 29"/>
          <p:cNvSpPr/>
          <p:nvPr/>
        </p:nvSpPr>
        <p:spPr>
          <a:xfrm>
            <a:off x="4444305" y="3962400"/>
            <a:ext cx="1317858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Uses Microsoft-supplied ML models to detect patterns a static query would miss</a:t>
            </a:r>
            <a:endParaRPr lang="en-US" sz="17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30996"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9546"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1.4 · Task 4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Analyse Coverage With the MITRE ATT&amp;CK Matrix</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Sentinel maps active analytics rules onto the MITRE ATT&amp;CK matrix of adversary tactics and techniques, giving a visual picture of which attacker behaviours the SOC can and cannot currently detect.</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Turns "we have 200 rules" into "we have no coverage of lateral movement" — a far more useful measure of SOC maturity.</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SOC optimization recommendations (Objective 1.2) surface coverage gaps this matrix makes visible.</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7647"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6197"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1.4 · Task 5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Configure Anomalies in Microsoft Sentinel</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Customisable, Microsoft-supplied anomaly detection templates that establish a behavioural baseline and flag statistically unusual activity, rather than matching a known-bad pattern.</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Catches novel behaviour no signature or static query anticipated — complementary to scheduled rules, not a replacement.</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Anomalies can be run in flighting mode to evaluate their output before they contribute to production incidents.</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1.4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You Should Now Be Able to Do</a:t>
            </a:r>
            <a:endParaRPr lang="en-US" sz="4050" dirty="0"/>
          </a:p>
        </p:txBody>
      </p:sp>
      <p:sp>
        <p:nvSpPr>
          <p:cNvPr id="5" name="Shape 3"/>
          <p:cNvSpPr/>
          <p:nvPr/>
        </p:nvSpPr>
        <p:spPr>
          <a:xfrm>
            <a:off x="914400" y="1890713"/>
            <a:ext cx="16459200" cy="714375"/>
          </a:xfrm>
          <a:prstGeom prst="roundRect">
            <a:avLst>
              <a:gd name="adj" fmla="val 21333"/>
            </a:avLst>
          </a:prstGeom>
          <a:solidFill>
            <a:srgbClr val="FFFFFF">
              <a:alpha val="2000"/>
            </a:srgbClr>
          </a:solidFill>
          <a:ln w="9525">
            <a:solidFill>
              <a:srgbClr val="2A2F3A"/>
            </a:solidFill>
            <a:prstDash val="solid"/>
          </a:ln>
        </p:spPr>
      </p:sp>
      <p:sp>
        <p:nvSpPr>
          <p:cNvPr id="6" name="Text 4"/>
          <p:cNvSpPr/>
          <p:nvPr/>
        </p:nvSpPr>
        <p:spPr>
          <a:xfrm>
            <a:off x="1152525" y="2128838"/>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Promote an Advanced Hunting query into a custom detection rule, and manage it over time</a:t>
            </a:r>
            <a:endParaRPr lang="en-US" sz="1575" dirty="0"/>
          </a:p>
        </p:txBody>
      </p:sp>
      <p:sp>
        <p:nvSpPr>
          <p:cNvPr id="7" name="Shape 5"/>
          <p:cNvSpPr/>
          <p:nvPr/>
        </p:nvSpPr>
        <p:spPr>
          <a:xfrm>
            <a:off x="914400" y="2757488"/>
            <a:ext cx="16459200" cy="714375"/>
          </a:xfrm>
          <a:prstGeom prst="roundRect">
            <a:avLst>
              <a:gd name="adj" fmla="val 21333"/>
            </a:avLst>
          </a:prstGeom>
          <a:solidFill>
            <a:srgbClr val="FFFFFF">
              <a:alpha val="2000"/>
            </a:srgbClr>
          </a:solidFill>
          <a:ln w="9525">
            <a:solidFill>
              <a:srgbClr val="2A2F3A"/>
            </a:solidFill>
            <a:prstDash val="solid"/>
          </a:ln>
        </p:spPr>
      </p:sp>
      <p:sp>
        <p:nvSpPr>
          <p:cNvPr id="8" name="Text 6"/>
          <p:cNvSpPr/>
          <p:nvPr/>
        </p:nvSpPr>
        <p:spPr>
          <a:xfrm>
            <a:off x="1152525" y="2995613"/>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Choose between scheduled, NRT, threat intelligence, and machine learning analytics rules</a:t>
            </a:r>
            <a:endParaRPr lang="en-US" sz="1575" dirty="0"/>
          </a:p>
        </p:txBody>
      </p:sp>
      <p:sp>
        <p:nvSpPr>
          <p:cNvPr id="9" name="Shape 7"/>
          <p:cNvSpPr/>
          <p:nvPr/>
        </p:nvSpPr>
        <p:spPr>
          <a:xfrm>
            <a:off x="914400" y="3624263"/>
            <a:ext cx="16459200" cy="714375"/>
          </a:xfrm>
          <a:prstGeom prst="roundRect">
            <a:avLst>
              <a:gd name="adj" fmla="val 21333"/>
            </a:avLst>
          </a:prstGeom>
          <a:solidFill>
            <a:srgbClr val="FFFFFF">
              <a:alpha val="2000"/>
            </a:srgbClr>
          </a:solidFill>
          <a:ln w="9525">
            <a:solidFill>
              <a:srgbClr val="2A2F3A"/>
            </a:solidFill>
            <a:prstDash val="solid"/>
          </a:ln>
        </p:spPr>
      </p:sp>
      <p:sp>
        <p:nvSpPr>
          <p:cNvPr id="10" name="Text 8"/>
          <p:cNvSpPr/>
          <p:nvPr/>
        </p:nvSpPr>
        <p:spPr>
          <a:xfrm>
            <a:off x="1152525" y="3862387"/>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Assess detection coverage using MITRE ATT&amp;CK, and supplement rules with anomaly detection</a:t>
            </a:r>
            <a:endParaRPr lang="en-US" sz="15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APPLIED SCENARIO</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Standing Up a New SOC Workspace</a:t>
            </a:r>
            <a:endParaRPr lang="en-US" sz="4050" dirty="0"/>
          </a:p>
        </p:txBody>
      </p:sp>
      <p:sp>
        <p:nvSpPr>
          <p:cNvPr id="5" name="Shape 3"/>
          <p:cNvSpPr/>
          <p:nvPr/>
        </p:nvSpPr>
        <p:spPr>
          <a:xfrm>
            <a:off x="914400" y="1871663"/>
            <a:ext cx="16459200" cy="1481956"/>
          </a:xfrm>
          <a:prstGeom prst="roundRect">
            <a:avLst>
              <a:gd name="adj" fmla="val 10284"/>
            </a:avLst>
          </a:prstGeom>
          <a:solidFill>
            <a:srgbClr val="FFFFFF">
              <a:alpha val="2000"/>
            </a:srgbClr>
          </a:solidFill>
          <a:ln w="9525">
            <a:solidFill>
              <a:srgbClr val="2A2F3A"/>
            </a:solidFill>
            <a:prstDash val="solid"/>
          </a:ln>
        </p:spPr>
      </p:sp>
      <p:sp>
        <p:nvSpPr>
          <p:cNvPr id="6" name="Text 4"/>
          <p:cNvSpPr/>
          <p:nvPr/>
        </p:nvSpPr>
        <p:spPr>
          <a:xfrm>
            <a:off x="1152525" y="2109788"/>
            <a:ext cx="16476726" cy="1043806"/>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A new Sentinel workspace must onboard 4,000 Windows servers, three Linux estates emitting Syslog, a firewall emitting CEF, and an in-house payroll application with no connector. Leadership wants detection latency under two minutes for privileged account misuse, wants analysts to triage but not edit rules, and wants a monthly coverage report. Which connectors, retention tiers, roles, analytics rule types, and automation would you configure — and in what order?</a:t>
            </a:r>
            <a:endParaRPr lang="en-US" sz="1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Choosing Between Automation Rules and Playbooks</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described response requirement, decide whether a Sentinel automation rule alone is sufficient or a playbook is required, and justify the choice against the action's scope and integration needs.</a:t>
            </a:r>
            <a:endParaRPr lang="en-US" sz="16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Designing an Ingestion Architecture</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mixed estate of Windows, Linux, appliance, Azure, and custom sources, select the correct connector or collection method for each and identify which need data collection rules or Azure Policy enforcement.</a:t>
            </a:r>
            <a:endParaRPr lang="en-US" sz="16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Selecting the Right Detection Mechanism</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detection requirement and its latency tolerance, choose between a scheduled rule, an NRT rule, a threat intelligence rule, a machine learning rule, an anomaly, or a Defender XDR custom detection.</a:t>
            </a:r>
            <a:endParaRPr lang="en-US" sz="16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Applying Least Privilege Across the SOC</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set of analyst responsibilities, assign the minimum Sentinel role and Defender for Endpoint device-group permissions each needs — and set automation levels appropriately per group.</a:t>
            </a:r>
            <a:endParaRPr lang="en-US" sz="16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ACRONYM SPOTLIGHT</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Key Acronyms From This Module</a:t>
            </a:r>
            <a:endParaRPr lang="en-US" sz="4050" dirty="0"/>
          </a:p>
        </p:txBody>
      </p:sp>
      <p:sp>
        <p:nvSpPr>
          <p:cNvPr id="5" name="Shape 3"/>
          <p:cNvSpPr/>
          <p:nvPr/>
        </p:nvSpPr>
        <p:spPr>
          <a:xfrm>
            <a:off x="914400" y="1852612"/>
            <a:ext cx="3857625" cy="514350"/>
          </a:xfrm>
          <a:prstGeom prst="rect">
            <a:avLst/>
          </a:prstGeom>
          <a:solidFill>
            <a:srgbClr val="FF6A00">
              <a:alpha val="18000"/>
            </a:srgbClr>
          </a:solidFill>
          <a:ln/>
        </p:spPr>
      </p:sp>
      <p:sp>
        <p:nvSpPr>
          <p:cNvPr id="6" name="Shape 4"/>
          <p:cNvSpPr/>
          <p:nvPr/>
        </p:nvSpPr>
        <p:spPr>
          <a:xfrm>
            <a:off x="914400" y="2357438"/>
            <a:ext cx="3857625" cy="9525"/>
          </a:xfrm>
          <a:prstGeom prst="rect">
            <a:avLst/>
          </a:prstGeom>
          <a:solidFill>
            <a:srgbClr val="B85100"/>
          </a:solidFill>
          <a:ln/>
        </p:spPr>
      </p:sp>
      <p:sp>
        <p:nvSpPr>
          <p:cNvPr id="7" name="Text 5"/>
          <p:cNvSpPr/>
          <p:nvPr/>
        </p:nvSpPr>
        <p:spPr>
          <a:xfrm>
            <a:off x="1057275" y="1957388"/>
            <a:ext cx="3687604"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Acronym</a:t>
            </a:r>
            <a:endParaRPr lang="en-US" sz="2025" dirty="0"/>
          </a:p>
        </p:txBody>
      </p:sp>
      <p:sp>
        <p:nvSpPr>
          <p:cNvPr id="8" name="Shape 6"/>
          <p:cNvSpPr/>
          <p:nvPr/>
        </p:nvSpPr>
        <p:spPr>
          <a:xfrm>
            <a:off x="4772025" y="1852612"/>
            <a:ext cx="12601575" cy="514350"/>
          </a:xfrm>
          <a:prstGeom prst="rect">
            <a:avLst/>
          </a:prstGeom>
          <a:solidFill>
            <a:srgbClr val="FF6A00">
              <a:alpha val="18000"/>
            </a:srgbClr>
          </a:solidFill>
          <a:ln/>
        </p:spPr>
      </p:sp>
      <p:sp>
        <p:nvSpPr>
          <p:cNvPr id="9" name="Shape 7"/>
          <p:cNvSpPr/>
          <p:nvPr/>
        </p:nvSpPr>
        <p:spPr>
          <a:xfrm>
            <a:off x="4772025" y="2357438"/>
            <a:ext cx="12601575" cy="9525"/>
          </a:xfrm>
          <a:prstGeom prst="rect">
            <a:avLst/>
          </a:prstGeom>
          <a:solidFill>
            <a:srgbClr val="B85100"/>
          </a:solidFill>
          <a:ln/>
        </p:spPr>
      </p:sp>
      <p:sp>
        <p:nvSpPr>
          <p:cNvPr id="10" name="Text 8"/>
          <p:cNvSpPr/>
          <p:nvPr/>
        </p:nvSpPr>
        <p:spPr>
          <a:xfrm>
            <a:off x="4914900" y="1957388"/>
            <a:ext cx="12693872"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Definition</a:t>
            </a:r>
            <a:endParaRPr lang="en-US" sz="2025" dirty="0"/>
          </a:p>
        </p:txBody>
      </p:sp>
      <p:sp>
        <p:nvSpPr>
          <p:cNvPr id="11" name="Shape 9"/>
          <p:cNvSpPr/>
          <p:nvPr/>
        </p:nvSpPr>
        <p:spPr>
          <a:xfrm>
            <a:off x="914400" y="2833688"/>
            <a:ext cx="3857625" cy="9525"/>
          </a:xfrm>
          <a:prstGeom prst="rect">
            <a:avLst/>
          </a:prstGeom>
          <a:solidFill>
            <a:srgbClr val="2A2F3A"/>
          </a:solidFill>
          <a:ln/>
        </p:spPr>
      </p:sp>
      <p:sp>
        <p:nvSpPr>
          <p:cNvPr id="12" name="Text 10"/>
          <p:cNvSpPr/>
          <p:nvPr/>
        </p:nvSpPr>
        <p:spPr>
          <a:xfrm>
            <a:off x="1057275" y="2471738"/>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XDR</a:t>
            </a:r>
            <a:endParaRPr lang="en-US" sz="1725" dirty="0"/>
          </a:p>
        </p:txBody>
      </p:sp>
      <p:sp>
        <p:nvSpPr>
          <p:cNvPr id="13" name="Shape 11"/>
          <p:cNvSpPr/>
          <p:nvPr/>
        </p:nvSpPr>
        <p:spPr>
          <a:xfrm>
            <a:off x="4772025" y="2833688"/>
            <a:ext cx="12601575" cy="9525"/>
          </a:xfrm>
          <a:prstGeom prst="rect">
            <a:avLst/>
          </a:prstGeom>
          <a:solidFill>
            <a:srgbClr val="2A2F3A"/>
          </a:solidFill>
          <a:ln/>
        </p:spPr>
      </p:sp>
      <p:sp>
        <p:nvSpPr>
          <p:cNvPr id="14" name="Text 12"/>
          <p:cNvSpPr/>
          <p:nvPr/>
        </p:nvSpPr>
        <p:spPr>
          <a:xfrm>
            <a:off x="4914900" y="2471738"/>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Extended Detection and Response</a:t>
            </a:r>
            <a:endParaRPr lang="en-US" sz="1725" dirty="0"/>
          </a:p>
        </p:txBody>
      </p:sp>
      <p:sp>
        <p:nvSpPr>
          <p:cNvPr id="15" name="Shape 13"/>
          <p:cNvSpPr/>
          <p:nvPr/>
        </p:nvSpPr>
        <p:spPr>
          <a:xfrm>
            <a:off x="914400" y="2843213"/>
            <a:ext cx="3857625" cy="476250"/>
          </a:xfrm>
          <a:prstGeom prst="rect">
            <a:avLst/>
          </a:prstGeom>
          <a:solidFill>
            <a:srgbClr val="FFFFFF">
              <a:alpha val="2000"/>
            </a:srgbClr>
          </a:solidFill>
          <a:ln/>
        </p:spPr>
      </p:sp>
      <p:sp>
        <p:nvSpPr>
          <p:cNvPr id="16" name="Shape 14"/>
          <p:cNvSpPr/>
          <p:nvPr/>
        </p:nvSpPr>
        <p:spPr>
          <a:xfrm>
            <a:off x="914400" y="3309938"/>
            <a:ext cx="3857625" cy="9525"/>
          </a:xfrm>
          <a:prstGeom prst="rect">
            <a:avLst/>
          </a:prstGeom>
          <a:solidFill>
            <a:srgbClr val="2A2F3A"/>
          </a:solidFill>
          <a:ln/>
        </p:spPr>
      </p:sp>
      <p:sp>
        <p:nvSpPr>
          <p:cNvPr id="17" name="Text 15"/>
          <p:cNvSpPr/>
          <p:nvPr/>
        </p:nvSpPr>
        <p:spPr>
          <a:xfrm>
            <a:off x="1057275" y="2947988"/>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SIEM</a:t>
            </a:r>
            <a:endParaRPr lang="en-US" sz="1725" dirty="0"/>
          </a:p>
        </p:txBody>
      </p:sp>
      <p:sp>
        <p:nvSpPr>
          <p:cNvPr id="18" name="Shape 16"/>
          <p:cNvSpPr/>
          <p:nvPr/>
        </p:nvSpPr>
        <p:spPr>
          <a:xfrm>
            <a:off x="4772025" y="2843213"/>
            <a:ext cx="12601575" cy="476250"/>
          </a:xfrm>
          <a:prstGeom prst="rect">
            <a:avLst/>
          </a:prstGeom>
          <a:solidFill>
            <a:srgbClr val="FFFFFF">
              <a:alpha val="2000"/>
            </a:srgbClr>
          </a:solidFill>
          <a:ln/>
        </p:spPr>
      </p:sp>
      <p:sp>
        <p:nvSpPr>
          <p:cNvPr id="19" name="Shape 17"/>
          <p:cNvSpPr/>
          <p:nvPr/>
        </p:nvSpPr>
        <p:spPr>
          <a:xfrm>
            <a:off x="4772025" y="3309938"/>
            <a:ext cx="12601575" cy="9525"/>
          </a:xfrm>
          <a:prstGeom prst="rect">
            <a:avLst/>
          </a:prstGeom>
          <a:solidFill>
            <a:srgbClr val="2A2F3A"/>
          </a:solidFill>
          <a:ln/>
        </p:spPr>
      </p:sp>
      <p:sp>
        <p:nvSpPr>
          <p:cNvPr id="20" name="Text 18"/>
          <p:cNvSpPr/>
          <p:nvPr/>
        </p:nvSpPr>
        <p:spPr>
          <a:xfrm>
            <a:off x="4914900" y="2947988"/>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Security Information and Event Management</a:t>
            </a:r>
            <a:endParaRPr lang="en-US" sz="1725" dirty="0"/>
          </a:p>
        </p:txBody>
      </p:sp>
      <p:sp>
        <p:nvSpPr>
          <p:cNvPr id="21" name="Shape 19"/>
          <p:cNvSpPr/>
          <p:nvPr/>
        </p:nvSpPr>
        <p:spPr>
          <a:xfrm>
            <a:off x="914400" y="3786188"/>
            <a:ext cx="3857625" cy="9525"/>
          </a:xfrm>
          <a:prstGeom prst="rect">
            <a:avLst/>
          </a:prstGeom>
          <a:solidFill>
            <a:srgbClr val="2A2F3A"/>
          </a:solidFill>
          <a:ln/>
        </p:spPr>
      </p:sp>
      <p:sp>
        <p:nvSpPr>
          <p:cNvPr id="22" name="Text 20"/>
          <p:cNvSpPr/>
          <p:nvPr/>
        </p:nvSpPr>
        <p:spPr>
          <a:xfrm>
            <a:off x="1057275" y="3424238"/>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AMA</a:t>
            </a:r>
            <a:endParaRPr lang="en-US" sz="1725" dirty="0"/>
          </a:p>
        </p:txBody>
      </p:sp>
      <p:sp>
        <p:nvSpPr>
          <p:cNvPr id="23" name="Shape 21"/>
          <p:cNvSpPr/>
          <p:nvPr/>
        </p:nvSpPr>
        <p:spPr>
          <a:xfrm>
            <a:off x="4772025" y="3786188"/>
            <a:ext cx="12601575" cy="9525"/>
          </a:xfrm>
          <a:prstGeom prst="rect">
            <a:avLst/>
          </a:prstGeom>
          <a:solidFill>
            <a:srgbClr val="2A2F3A"/>
          </a:solidFill>
          <a:ln/>
        </p:spPr>
      </p:sp>
      <p:sp>
        <p:nvSpPr>
          <p:cNvPr id="24" name="Text 22"/>
          <p:cNvSpPr/>
          <p:nvPr/>
        </p:nvSpPr>
        <p:spPr>
          <a:xfrm>
            <a:off x="4914900" y="3424238"/>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Azure Monitor Agent</a:t>
            </a:r>
            <a:endParaRPr lang="en-US" sz="1725" dirty="0"/>
          </a:p>
        </p:txBody>
      </p:sp>
      <p:sp>
        <p:nvSpPr>
          <p:cNvPr id="25" name="Shape 23"/>
          <p:cNvSpPr/>
          <p:nvPr/>
        </p:nvSpPr>
        <p:spPr>
          <a:xfrm>
            <a:off x="914400" y="3795713"/>
            <a:ext cx="3857625" cy="476250"/>
          </a:xfrm>
          <a:prstGeom prst="rect">
            <a:avLst/>
          </a:prstGeom>
          <a:solidFill>
            <a:srgbClr val="FFFFFF">
              <a:alpha val="2000"/>
            </a:srgbClr>
          </a:solidFill>
          <a:ln/>
        </p:spPr>
      </p:sp>
      <p:sp>
        <p:nvSpPr>
          <p:cNvPr id="26" name="Shape 24"/>
          <p:cNvSpPr/>
          <p:nvPr/>
        </p:nvSpPr>
        <p:spPr>
          <a:xfrm>
            <a:off x="914400" y="4262438"/>
            <a:ext cx="3857625" cy="9525"/>
          </a:xfrm>
          <a:prstGeom prst="rect">
            <a:avLst/>
          </a:prstGeom>
          <a:solidFill>
            <a:srgbClr val="2A2F3A"/>
          </a:solidFill>
          <a:ln/>
        </p:spPr>
      </p:sp>
      <p:sp>
        <p:nvSpPr>
          <p:cNvPr id="27" name="Text 25"/>
          <p:cNvSpPr/>
          <p:nvPr/>
        </p:nvSpPr>
        <p:spPr>
          <a:xfrm>
            <a:off x="1057275" y="3900488"/>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DCR</a:t>
            </a:r>
            <a:endParaRPr lang="en-US" sz="1725" dirty="0"/>
          </a:p>
        </p:txBody>
      </p:sp>
      <p:sp>
        <p:nvSpPr>
          <p:cNvPr id="28" name="Shape 26"/>
          <p:cNvSpPr/>
          <p:nvPr/>
        </p:nvSpPr>
        <p:spPr>
          <a:xfrm>
            <a:off x="4772025" y="3795713"/>
            <a:ext cx="12601575" cy="476250"/>
          </a:xfrm>
          <a:prstGeom prst="rect">
            <a:avLst/>
          </a:prstGeom>
          <a:solidFill>
            <a:srgbClr val="FFFFFF">
              <a:alpha val="2000"/>
            </a:srgbClr>
          </a:solidFill>
          <a:ln/>
        </p:spPr>
      </p:sp>
      <p:sp>
        <p:nvSpPr>
          <p:cNvPr id="29" name="Shape 27"/>
          <p:cNvSpPr/>
          <p:nvPr/>
        </p:nvSpPr>
        <p:spPr>
          <a:xfrm>
            <a:off x="4772025" y="4262438"/>
            <a:ext cx="12601575" cy="9525"/>
          </a:xfrm>
          <a:prstGeom prst="rect">
            <a:avLst/>
          </a:prstGeom>
          <a:solidFill>
            <a:srgbClr val="2A2F3A"/>
          </a:solidFill>
          <a:ln/>
        </p:spPr>
      </p:sp>
      <p:sp>
        <p:nvSpPr>
          <p:cNvPr id="30" name="Text 28"/>
          <p:cNvSpPr/>
          <p:nvPr/>
        </p:nvSpPr>
        <p:spPr>
          <a:xfrm>
            <a:off x="4914900" y="3900488"/>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Data Collection Rule</a:t>
            </a:r>
            <a:endParaRPr lang="en-US" sz="1725" dirty="0"/>
          </a:p>
        </p:txBody>
      </p:sp>
      <p:sp>
        <p:nvSpPr>
          <p:cNvPr id="31" name="Shape 29"/>
          <p:cNvSpPr/>
          <p:nvPr/>
        </p:nvSpPr>
        <p:spPr>
          <a:xfrm>
            <a:off x="914400" y="4738688"/>
            <a:ext cx="3857625" cy="9525"/>
          </a:xfrm>
          <a:prstGeom prst="rect">
            <a:avLst/>
          </a:prstGeom>
          <a:solidFill>
            <a:srgbClr val="2A2F3A"/>
          </a:solidFill>
          <a:ln/>
        </p:spPr>
      </p:sp>
      <p:sp>
        <p:nvSpPr>
          <p:cNvPr id="32" name="Text 30"/>
          <p:cNvSpPr/>
          <p:nvPr/>
        </p:nvSpPr>
        <p:spPr>
          <a:xfrm>
            <a:off x="1057275" y="4376738"/>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WEF</a:t>
            </a:r>
            <a:endParaRPr lang="en-US" sz="1725" dirty="0"/>
          </a:p>
        </p:txBody>
      </p:sp>
      <p:sp>
        <p:nvSpPr>
          <p:cNvPr id="33" name="Shape 31"/>
          <p:cNvSpPr/>
          <p:nvPr/>
        </p:nvSpPr>
        <p:spPr>
          <a:xfrm>
            <a:off x="4772025" y="4738688"/>
            <a:ext cx="12601575" cy="9525"/>
          </a:xfrm>
          <a:prstGeom prst="rect">
            <a:avLst/>
          </a:prstGeom>
          <a:solidFill>
            <a:srgbClr val="2A2F3A"/>
          </a:solidFill>
          <a:ln/>
        </p:spPr>
      </p:sp>
      <p:sp>
        <p:nvSpPr>
          <p:cNvPr id="34" name="Text 32"/>
          <p:cNvSpPr/>
          <p:nvPr/>
        </p:nvSpPr>
        <p:spPr>
          <a:xfrm>
            <a:off x="4914900" y="4376738"/>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Windows Event Forwarding</a:t>
            </a:r>
            <a:endParaRPr lang="en-US" sz="1725" dirty="0"/>
          </a:p>
        </p:txBody>
      </p:sp>
      <p:sp>
        <p:nvSpPr>
          <p:cNvPr id="35" name="Shape 33"/>
          <p:cNvSpPr/>
          <p:nvPr/>
        </p:nvSpPr>
        <p:spPr>
          <a:xfrm>
            <a:off x="914400" y="4748213"/>
            <a:ext cx="3857625" cy="476250"/>
          </a:xfrm>
          <a:prstGeom prst="rect">
            <a:avLst/>
          </a:prstGeom>
          <a:solidFill>
            <a:srgbClr val="FFFFFF">
              <a:alpha val="2000"/>
            </a:srgbClr>
          </a:solidFill>
          <a:ln/>
        </p:spPr>
      </p:sp>
      <p:sp>
        <p:nvSpPr>
          <p:cNvPr id="36" name="Shape 34"/>
          <p:cNvSpPr/>
          <p:nvPr/>
        </p:nvSpPr>
        <p:spPr>
          <a:xfrm>
            <a:off x="914400" y="5214938"/>
            <a:ext cx="3857625" cy="9525"/>
          </a:xfrm>
          <a:prstGeom prst="rect">
            <a:avLst/>
          </a:prstGeom>
          <a:solidFill>
            <a:srgbClr val="2A2F3A"/>
          </a:solidFill>
          <a:ln/>
        </p:spPr>
      </p:sp>
      <p:sp>
        <p:nvSpPr>
          <p:cNvPr id="37" name="Text 35"/>
          <p:cNvSpPr/>
          <p:nvPr/>
        </p:nvSpPr>
        <p:spPr>
          <a:xfrm>
            <a:off x="1057275" y="4852987"/>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CEF</a:t>
            </a:r>
            <a:endParaRPr lang="en-US" sz="1725" dirty="0"/>
          </a:p>
        </p:txBody>
      </p:sp>
      <p:sp>
        <p:nvSpPr>
          <p:cNvPr id="38" name="Shape 36"/>
          <p:cNvSpPr/>
          <p:nvPr/>
        </p:nvSpPr>
        <p:spPr>
          <a:xfrm>
            <a:off x="4772025" y="4748213"/>
            <a:ext cx="12601575" cy="476250"/>
          </a:xfrm>
          <a:prstGeom prst="rect">
            <a:avLst/>
          </a:prstGeom>
          <a:solidFill>
            <a:srgbClr val="FFFFFF">
              <a:alpha val="2000"/>
            </a:srgbClr>
          </a:solidFill>
          <a:ln/>
        </p:spPr>
      </p:sp>
      <p:sp>
        <p:nvSpPr>
          <p:cNvPr id="39" name="Shape 37"/>
          <p:cNvSpPr/>
          <p:nvPr/>
        </p:nvSpPr>
        <p:spPr>
          <a:xfrm>
            <a:off x="4772025" y="5214938"/>
            <a:ext cx="12601575" cy="9525"/>
          </a:xfrm>
          <a:prstGeom prst="rect">
            <a:avLst/>
          </a:prstGeom>
          <a:solidFill>
            <a:srgbClr val="2A2F3A"/>
          </a:solidFill>
          <a:ln/>
        </p:spPr>
      </p:sp>
      <p:sp>
        <p:nvSpPr>
          <p:cNvPr id="40" name="Text 38"/>
          <p:cNvSpPr/>
          <p:nvPr/>
        </p:nvSpPr>
        <p:spPr>
          <a:xfrm>
            <a:off x="4914900" y="4852987"/>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Common Event Format</a:t>
            </a:r>
            <a:endParaRPr lang="en-US" sz="1725" dirty="0"/>
          </a:p>
        </p:txBody>
      </p:sp>
      <p:sp>
        <p:nvSpPr>
          <p:cNvPr id="41" name="Shape 39"/>
          <p:cNvSpPr/>
          <p:nvPr/>
        </p:nvSpPr>
        <p:spPr>
          <a:xfrm>
            <a:off x="914400" y="5691188"/>
            <a:ext cx="3857625" cy="9525"/>
          </a:xfrm>
          <a:prstGeom prst="rect">
            <a:avLst/>
          </a:prstGeom>
          <a:solidFill>
            <a:srgbClr val="2A2F3A"/>
          </a:solidFill>
          <a:ln/>
        </p:spPr>
      </p:sp>
      <p:sp>
        <p:nvSpPr>
          <p:cNvPr id="42" name="Text 40"/>
          <p:cNvSpPr/>
          <p:nvPr/>
        </p:nvSpPr>
        <p:spPr>
          <a:xfrm>
            <a:off x="1057275" y="5329238"/>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ASR</a:t>
            </a:r>
            <a:endParaRPr lang="en-US" sz="1725" dirty="0"/>
          </a:p>
        </p:txBody>
      </p:sp>
      <p:sp>
        <p:nvSpPr>
          <p:cNvPr id="43" name="Shape 41"/>
          <p:cNvSpPr/>
          <p:nvPr/>
        </p:nvSpPr>
        <p:spPr>
          <a:xfrm>
            <a:off x="4772025" y="5691188"/>
            <a:ext cx="12601575" cy="9525"/>
          </a:xfrm>
          <a:prstGeom prst="rect">
            <a:avLst/>
          </a:prstGeom>
          <a:solidFill>
            <a:srgbClr val="2A2F3A"/>
          </a:solidFill>
          <a:ln/>
        </p:spPr>
      </p:sp>
      <p:sp>
        <p:nvSpPr>
          <p:cNvPr id="44" name="Text 42"/>
          <p:cNvSpPr/>
          <p:nvPr/>
        </p:nvSpPr>
        <p:spPr>
          <a:xfrm>
            <a:off x="4914900" y="5329238"/>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Attack Surface Reduction</a:t>
            </a:r>
            <a:endParaRPr lang="en-US" sz="1725" dirty="0"/>
          </a:p>
        </p:txBody>
      </p:sp>
      <p:sp>
        <p:nvSpPr>
          <p:cNvPr id="45" name="Shape 43"/>
          <p:cNvSpPr/>
          <p:nvPr/>
        </p:nvSpPr>
        <p:spPr>
          <a:xfrm>
            <a:off x="914400" y="5700713"/>
            <a:ext cx="3857625" cy="476250"/>
          </a:xfrm>
          <a:prstGeom prst="rect">
            <a:avLst/>
          </a:prstGeom>
          <a:solidFill>
            <a:srgbClr val="FFFFFF">
              <a:alpha val="2000"/>
            </a:srgbClr>
          </a:solidFill>
          <a:ln/>
        </p:spPr>
      </p:sp>
      <p:sp>
        <p:nvSpPr>
          <p:cNvPr id="46" name="Shape 44"/>
          <p:cNvSpPr/>
          <p:nvPr/>
        </p:nvSpPr>
        <p:spPr>
          <a:xfrm>
            <a:off x="914400" y="6167438"/>
            <a:ext cx="3857625" cy="9525"/>
          </a:xfrm>
          <a:prstGeom prst="rect">
            <a:avLst/>
          </a:prstGeom>
          <a:solidFill>
            <a:srgbClr val="2A2F3A"/>
          </a:solidFill>
          <a:ln/>
        </p:spPr>
      </p:sp>
      <p:sp>
        <p:nvSpPr>
          <p:cNvPr id="47" name="Text 45"/>
          <p:cNvSpPr/>
          <p:nvPr/>
        </p:nvSpPr>
        <p:spPr>
          <a:xfrm>
            <a:off x="1057275" y="5805488"/>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AIR</a:t>
            </a:r>
            <a:endParaRPr lang="en-US" sz="1725" dirty="0"/>
          </a:p>
        </p:txBody>
      </p:sp>
      <p:sp>
        <p:nvSpPr>
          <p:cNvPr id="48" name="Shape 46"/>
          <p:cNvSpPr/>
          <p:nvPr/>
        </p:nvSpPr>
        <p:spPr>
          <a:xfrm>
            <a:off x="4772025" y="5700713"/>
            <a:ext cx="12601575" cy="476250"/>
          </a:xfrm>
          <a:prstGeom prst="rect">
            <a:avLst/>
          </a:prstGeom>
          <a:solidFill>
            <a:srgbClr val="FFFFFF">
              <a:alpha val="2000"/>
            </a:srgbClr>
          </a:solidFill>
          <a:ln/>
        </p:spPr>
      </p:sp>
      <p:sp>
        <p:nvSpPr>
          <p:cNvPr id="49" name="Shape 47"/>
          <p:cNvSpPr/>
          <p:nvPr/>
        </p:nvSpPr>
        <p:spPr>
          <a:xfrm>
            <a:off x="4772025" y="6167438"/>
            <a:ext cx="12601575" cy="9525"/>
          </a:xfrm>
          <a:prstGeom prst="rect">
            <a:avLst/>
          </a:prstGeom>
          <a:solidFill>
            <a:srgbClr val="2A2F3A"/>
          </a:solidFill>
          <a:ln/>
        </p:spPr>
      </p:sp>
      <p:sp>
        <p:nvSpPr>
          <p:cNvPr id="50" name="Text 48"/>
          <p:cNvSpPr/>
          <p:nvPr/>
        </p:nvSpPr>
        <p:spPr>
          <a:xfrm>
            <a:off x="4914900" y="5805488"/>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Automated Investigation and Response</a:t>
            </a:r>
            <a:endParaRPr lang="en-US" sz="1725" dirty="0"/>
          </a:p>
        </p:txBody>
      </p:sp>
      <p:sp>
        <p:nvSpPr>
          <p:cNvPr id="51" name="Shape 49"/>
          <p:cNvSpPr/>
          <p:nvPr/>
        </p:nvSpPr>
        <p:spPr>
          <a:xfrm>
            <a:off x="914400" y="6643688"/>
            <a:ext cx="3857625" cy="9525"/>
          </a:xfrm>
          <a:prstGeom prst="rect">
            <a:avLst/>
          </a:prstGeom>
          <a:solidFill>
            <a:srgbClr val="2A2F3A"/>
          </a:solidFill>
          <a:ln/>
        </p:spPr>
      </p:sp>
      <p:sp>
        <p:nvSpPr>
          <p:cNvPr id="52" name="Text 50"/>
          <p:cNvSpPr/>
          <p:nvPr/>
        </p:nvSpPr>
        <p:spPr>
          <a:xfrm>
            <a:off x="1057275" y="6281737"/>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NRT</a:t>
            </a:r>
            <a:endParaRPr lang="en-US" sz="1725" dirty="0"/>
          </a:p>
        </p:txBody>
      </p:sp>
      <p:sp>
        <p:nvSpPr>
          <p:cNvPr id="53" name="Shape 51"/>
          <p:cNvSpPr/>
          <p:nvPr/>
        </p:nvSpPr>
        <p:spPr>
          <a:xfrm>
            <a:off x="4772025" y="6643688"/>
            <a:ext cx="12601575" cy="9525"/>
          </a:xfrm>
          <a:prstGeom prst="rect">
            <a:avLst/>
          </a:prstGeom>
          <a:solidFill>
            <a:srgbClr val="2A2F3A"/>
          </a:solidFill>
          <a:ln/>
        </p:spPr>
      </p:sp>
      <p:sp>
        <p:nvSpPr>
          <p:cNvPr id="54" name="Text 52"/>
          <p:cNvSpPr/>
          <p:nvPr/>
        </p:nvSpPr>
        <p:spPr>
          <a:xfrm>
            <a:off x="4914900" y="6281737"/>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Near-real time</a:t>
            </a:r>
            <a:endParaRPr lang="en-US" sz="1725" dirty="0"/>
          </a:p>
        </p:txBody>
      </p:sp>
      <p:sp>
        <p:nvSpPr>
          <p:cNvPr id="55" name="Shape 53"/>
          <p:cNvSpPr/>
          <p:nvPr/>
        </p:nvSpPr>
        <p:spPr>
          <a:xfrm>
            <a:off x="914400" y="6653213"/>
            <a:ext cx="3857625" cy="476250"/>
          </a:xfrm>
          <a:prstGeom prst="rect">
            <a:avLst/>
          </a:prstGeom>
          <a:solidFill>
            <a:srgbClr val="FFFFFF">
              <a:alpha val="2000"/>
            </a:srgbClr>
          </a:solidFill>
          <a:ln/>
        </p:spPr>
      </p:sp>
      <p:sp>
        <p:nvSpPr>
          <p:cNvPr id="56" name="Shape 54"/>
          <p:cNvSpPr/>
          <p:nvPr/>
        </p:nvSpPr>
        <p:spPr>
          <a:xfrm>
            <a:off x="914400" y="7119938"/>
            <a:ext cx="3857625" cy="9525"/>
          </a:xfrm>
          <a:prstGeom prst="rect">
            <a:avLst/>
          </a:prstGeom>
          <a:solidFill>
            <a:srgbClr val="2A2F3A"/>
          </a:solidFill>
          <a:ln/>
        </p:spPr>
      </p:sp>
      <p:sp>
        <p:nvSpPr>
          <p:cNvPr id="57" name="Text 55"/>
          <p:cNvSpPr/>
          <p:nvPr/>
        </p:nvSpPr>
        <p:spPr>
          <a:xfrm>
            <a:off x="1057275" y="6757988"/>
            <a:ext cx="368760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KQL</a:t>
            </a:r>
            <a:endParaRPr lang="en-US" sz="1725" dirty="0"/>
          </a:p>
        </p:txBody>
      </p:sp>
      <p:sp>
        <p:nvSpPr>
          <p:cNvPr id="58" name="Shape 56"/>
          <p:cNvSpPr/>
          <p:nvPr/>
        </p:nvSpPr>
        <p:spPr>
          <a:xfrm>
            <a:off x="4772025" y="6653213"/>
            <a:ext cx="12601575" cy="476250"/>
          </a:xfrm>
          <a:prstGeom prst="rect">
            <a:avLst/>
          </a:prstGeom>
          <a:solidFill>
            <a:srgbClr val="FFFFFF">
              <a:alpha val="2000"/>
            </a:srgbClr>
          </a:solidFill>
          <a:ln/>
        </p:spPr>
      </p:sp>
      <p:sp>
        <p:nvSpPr>
          <p:cNvPr id="59" name="Shape 57"/>
          <p:cNvSpPr/>
          <p:nvPr/>
        </p:nvSpPr>
        <p:spPr>
          <a:xfrm>
            <a:off x="4772025" y="7119938"/>
            <a:ext cx="12601575" cy="9525"/>
          </a:xfrm>
          <a:prstGeom prst="rect">
            <a:avLst/>
          </a:prstGeom>
          <a:solidFill>
            <a:srgbClr val="2A2F3A"/>
          </a:solidFill>
          <a:ln/>
        </p:spPr>
      </p:sp>
      <p:sp>
        <p:nvSpPr>
          <p:cNvPr id="60" name="Text 58"/>
          <p:cNvSpPr/>
          <p:nvPr/>
        </p:nvSpPr>
        <p:spPr>
          <a:xfrm>
            <a:off x="4914900" y="6757988"/>
            <a:ext cx="1269387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Kusto Query Language</a:t>
            </a:r>
            <a:endParaRPr lang="en-US" sz="17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COMMON MISCONCEPTIONS</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Candidates Most Often Get Wrong</a:t>
            </a:r>
            <a:endParaRPr lang="en-US" sz="4050" dirty="0"/>
          </a:p>
        </p:txBody>
      </p:sp>
      <p:sp>
        <p:nvSpPr>
          <p:cNvPr id="5" name="Shape 3"/>
          <p:cNvSpPr/>
          <p:nvPr/>
        </p:nvSpPr>
        <p:spPr>
          <a:xfrm>
            <a:off x="914400" y="1871663"/>
            <a:ext cx="16459200" cy="700088"/>
          </a:xfrm>
          <a:prstGeom prst="roundRect">
            <a:avLst>
              <a:gd name="adj" fmla="val 21769"/>
            </a:avLst>
          </a:prstGeom>
          <a:solidFill>
            <a:srgbClr val="FFFFFF">
              <a:alpha val="2000"/>
            </a:srgbClr>
          </a:solidFill>
          <a:ln w="9525">
            <a:solidFill>
              <a:srgbClr val="2A2F3A"/>
            </a:solidFill>
            <a:prstDash val="solid"/>
          </a:ln>
        </p:spPr>
      </p:sp>
      <p:sp>
        <p:nvSpPr>
          <p:cNvPr id="6" name="Text 4"/>
          <p:cNvSpPr/>
          <p:nvPr/>
        </p:nvSpPr>
        <p:spPr>
          <a:xfrm>
            <a:off x="1152525" y="210978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Automation rules and playbooks are not interchangeable — automation rules act inside Sentinel; playbooks reach external systems via Logic Apps</a:t>
            </a:r>
            <a:endParaRPr lang="en-US" sz="1500" dirty="0"/>
          </a:p>
        </p:txBody>
      </p:sp>
      <p:sp>
        <p:nvSpPr>
          <p:cNvPr id="7" name="Shape 5"/>
          <p:cNvSpPr/>
          <p:nvPr/>
        </p:nvSpPr>
        <p:spPr>
          <a:xfrm>
            <a:off x="914400" y="2705100"/>
            <a:ext cx="16459200" cy="700088"/>
          </a:xfrm>
          <a:prstGeom prst="roundRect">
            <a:avLst>
              <a:gd name="adj" fmla="val 21769"/>
            </a:avLst>
          </a:prstGeom>
          <a:solidFill>
            <a:srgbClr val="FFFFFF">
              <a:alpha val="2000"/>
            </a:srgbClr>
          </a:solidFill>
          <a:ln w="9525">
            <a:solidFill>
              <a:srgbClr val="2A2F3A"/>
            </a:solidFill>
            <a:prstDash val="solid"/>
          </a:ln>
        </p:spPr>
      </p:sp>
      <p:sp>
        <p:nvSpPr>
          <p:cNvPr id="8" name="Text 6"/>
          <p:cNvSpPr/>
          <p:nvPr/>
        </p:nvSpPr>
        <p:spPr>
          <a:xfrm>
            <a:off x="1152525" y="2943225"/>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AIR and automatic attack disruption are different capabilities — AIR investigates and remediates an alert; disruption intervenes mid-attack to break the chain</a:t>
            </a:r>
            <a:endParaRPr lang="en-US" sz="1500" dirty="0"/>
          </a:p>
        </p:txBody>
      </p:sp>
      <p:sp>
        <p:nvSpPr>
          <p:cNvPr id="9" name="Shape 7"/>
          <p:cNvSpPr/>
          <p:nvPr/>
        </p:nvSpPr>
        <p:spPr>
          <a:xfrm>
            <a:off x="914400" y="3538538"/>
            <a:ext cx="16459200" cy="700088"/>
          </a:xfrm>
          <a:prstGeom prst="roundRect">
            <a:avLst>
              <a:gd name="adj" fmla="val 21769"/>
            </a:avLst>
          </a:prstGeom>
          <a:solidFill>
            <a:srgbClr val="FFFFFF">
              <a:alpha val="2000"/>
            </a:srgbClr>
          </a:solidFill>
          <a:ln w="9525">
            <a:solidFill>
              <a:srgbClr val="2A2F3A"/>
            </a:solidFill>
            <a:prstDash val="solid"/>
          </a:ln>
        </p:spPr>
      </p:sp>
      <p:sp>
        <p:nvSpPr>
          <p:cNvPr id="10" name="Text 8"/>
          <p:cNvSpPr/>
          <p:nvPr/>
        </p:nvSpPr>
        <p:spPr>
          <a:xfrm>
            <a:off x="1152525" y="3776662"/>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Automation level is set per device group, not tenant-wide — the same tenant can run different levels on different groups</a:t>
            </a:r>
            <a:endParaRPr lang="en-US" sz="1500" dirty="0"/>
          </a:p>
        </p:txBody>
      </p:sp>
      <p:sp>
        <p:nvSpPr>
          <p:cNvPr id="11" name="Shape 9"/>
          <p:cNvSpPr/>
          <p:nvPr/>
        </p:nvSpPr>
        <p:spPr>
          <a:xfrm>
            <a:off x="914400" y="4371975"/>
            <a:ext cx="16459200" cy="700088"/>
          </a:xfrm>
          <a:prstGeom prst="roundRect">
            <a:avLst>
              <a:gd name="adj" fmla="val 21769"/>
            </a:avLst>
          </a:prstGeom>
          <a:solidFill>
            <a:srgbClr val="FFFFFF">
              <a:alpha val="2000"/>
            </a:srgbClr>
          </a:solidFill>
          <a:ln w="9525">
            <a:solidFill>
              <a:srgbClr val="2A2F3A"/>
            </a:solidFill>
            <a:prstDash val="solid"/>
          </a:ln>
        </p:spPr>
      </p:sp>
      <p:sp>
        <p:nvSpPr>
          <p:cNvPr id="12" name="Text 10"/>
          <p:cNvSpPr/>
          <p:nvPr/>
        </p:nvSpPr>
        <p:spPr>
          <a:xfrm>
            <a:off x="1152525" y="4610100"/>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Suppression, tuning, and correlation are three separate mechanisms — only suppression stops an alert being raised at all</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848473" y="3967163"/>
            <a:ext cx="2591053" cy="276225"/>
          </a:xfrm>
          <a:prstGeom prst="rect">
            <a:avLst/>
          </a:prstGeom>
          <a:noFill/>
          <a:ln/>
        </p:spPr>
        <p:txBody>
          <a:bodyPr wrap="square" lIns="25400" tIns="25400" rIns="25400" bIns="25400" rtlCol="0" anchor="t">
            <a:normAutofit/>
          </a:bodyPr>
          <a:lstStyle/>
          <a:p>
            <a:pPr algn="ctr" indent="0" marL="0">
              <a:buNone/>
            </a:pPr>
            <a:r>
              <a:rPr lang="en-US" sz="1575" b="1" spc="150" kern="0" dirty="0">
                <a:solidFill>
                  <a:srgbClr val="FF6A00"/>
                </a:solidFill>
                <a:latin typeface="Arial" pitchFamily="34" charset="0"/>
                <a:ea typeface="Arial" pitchFamily="34" charset="-122"/>
                <a:cs typeface="Arial" pitchFamily="34" charset="-120"/>
              </a:rPr>
              <a:t>DOMAIN WEIGHTING</a:t>
            </a:r>
            <a:endParaRPr lang="en-US" sz="1575" dirty="0"/>
          </a:p>
        </p:txBody>
      </p:sp>
      <p:sp>
        <p:nvSpPr>
          <p:cNvPr id="4" name="Text 2"/>
          <p:cNvSpPr/>
          <p:nvPr/>
        </p:nvSpPr>
        <p:spPr>
          <a:xfrm>
            <a:off x="5588284" y="4376738"/>
            <a:ext cx="7111358"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dirty="0">
                <a:solidFill>
                  <a:srgbClr val="FF6A00"/>
                </a:solidFill>
                <a:latin typeface="Arial" pitchFamily="34" charset="0"/>
                <a:ea typeface="Arial" pitchFamily="34" charset="-122"/>
                <a:cs typeface="Arial" pitchFamily="34" charset="-120"/>
              </a:rPr>
              <a:t>40–45%</a:t>
            </a:r>
            <a:endParaRPr lang="en-US" sz="12000" dirty="0"/>
          </a:p>
        </p:txBody>
      </p:sp>
      <p:sp>
        <p:nvSpPr>
          <p:cNvPr id="5" name="Text 3"/>
          <p:cNvSpPr/>
          <p:nvPr/>
        </p:nvSpPr>
        <p:spPr>
          <a:xfrm>
            <a:off x="5669317" y="6034088"/>
            <a:ext cx="6949366" cy="400050"/>
          </a:xfrm>
          <a:prstGeom prst="rect">
            <a:avLst/>
          </a:prstGeom>
          <a:noFill/>
          <a:ln/>
        </p:spPr>
        <p:txBody>
          <a:bodyPr wrap="square" lIns="25400" tIns="25400" rIns="25400" bIns="25400" rtlCol="0" anchor="t">
            <a:normAutofit/>
          </a:bodyPr>
          <a:lstStyle/>
          <a:p>
            <a:pPr algn="ctr" indent="0" marL="0">
              <a:buNone/>
            </a:pPr>
            <a:r>
              <a:rPr lang="en-US" sz="2400" dirty="0">
                <a:solidFill>
                  <a:srgbClr val="B8C0CF"/>
                </a:solidFill>
                <a:latin typeface="Arial" pitchFamily="34" charset="0"/>
                <a:ea typeface="Arial" pitchFamily="34" charset="-122"/>
                <a:cs typeface="Arial" pitchFamily="34" charset="-120"/>
              </a:rPr>
              <a:t>of the SC-200 exam — the single largest domain</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KNOWLEDGE CHECK</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Quick Question</a:t>
            </a:r>
            <a:endParaRPr lang="en-US" sz="4050" dirty="0"/>
          </a:p>
        </p:txBody>
      </p:sp>
      <p:sp>
        <p:nvSpPr>
          <p:cNvPr id="5" name="Shape 3"/>
          <p:cNvSpPr/>
          <p:nvPr/>
        </p:nvSpPr>
        <p:spPr>
          <a:xfrm>
            <a:off x="914400" y="1871663"/>
            <a:ext cx="16459200" cy="2579191"/>
          </a:xfrm>
          <a:prstGeom prst="roundRect">
            <a:avLst>
              <a:gd name="adj" fmla="val 5909"/>
            </a:avLst>
          </a:prstGeom>
          <a:solidFill>
            <a:srgbClr val="FFFFFF">
              <a:alpha val="2000"/>
            </a:srgbClr>
          </a:solidFill>
          <a:ln w="9525">
            <a:solidFill>
              <a:srgbClr val="2A2F3A"/>
            </a:solidFill>
            <a:prstDash val="solid"/>
          </a:ln>
        </p:spPr>
      </p:sp>
      <p:sp>
        <p:nvSpPr>
          <p:cNvPr id="6" name="Text 4"/>
          <p:cNvSpPr/>
          <p:nvPr/>
        </p:nvSpPr>
        <p:spPr>
          <a:xfrm>
            <a:off x="1152525" y="2109788"/>
            <a:ext cx="16476726" cy="2141041"/>
          </a:xfrm>
          <a:prstGeom prst="rect">
            <a:avLst/>
          </a:prstGeom>
          <a:noFill/>
          <a:ln/>
        </p:spPr>
        <p:txBody>
          <a:bodyPr wrap="square" lIns="25400" tIns="25400" rIns="25400" bIns="25400" rtlCol="0" anchor="t">
            <a:normAutofit/>
          </a:bodyPr>
          <a:lstStyle/>
          <a:p>
            <a:pPr algn="l" indent="0" marL="0">
              <a:lnSpc>
                <a:spcPct val="136296"/>
              </a:lnSpc>
              <a:buNone/>
            </a:pPr>
            <a:r>
              <a:rPr lang="en-US" sz="1725" dirty="0">
                <a:solidFill>
                  <a:srgbClr val="F5F7FB"/>
                </a:solidFill>
                <a:highlight>
                  <a:srgbClr val="FFFFFF"/>
                </a:highlight>
                <a:latin typeface="Arial" pitchFamily="34" charset="0"/>
                <a:ea typeface="Arial" pitchFamily="34" charset="-122"/>
                <a:cs typeface="Arial" pitchFamily="34" charset="-120"/>
              </a:rPr>
              <a:t>You need Sentinel to create a ticket in an external service desk whenever a high-severity incident is created. What should you configure? </a:t>
            </a:r>
            <a:pPr algn="l" indent="0" marL="0">
              <a:lnSpc>
                <a:spcPct val="136296"/>
              </a:lnSpc>
              <a:buNone/>
            </a:pPr>
            <a:r>
              <a:rPr lang="en-US" sz="1725" dirty="0">
                <a:solidFill>
                  <a:srgbClr val="B8C0CF"/>
                </a:solidFill>
                <a:latin typeface="Arial" pitchFamily="34" charset="0"/>
                <a:ea typeface="Arial" pitchFamily="34" charset="-122"/>
                <a:cs typeface="Arial" pitchFamily="34" charset="-120"/>
              </a:rPr>
              <a:t>A. An automation rule alone B. A playbook, triggered by an automation rule C. A near-real time analytics rule D. A SOC optimization recommendation</a:t>
            </a:r>
            <a:endParaRPr lang="en-US" sz="17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SUMMARY</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Module 1 Summary</a:t>
            </a:r>
            <a:endParaRPr lang="en-US" sz="4050" dirty="0"/>
          </a:p>
        </p:txBody>
      </p:sp>
      <p:sp>
        <p:nvSpPr>
          <p:cNvPr id="5" name="Shape 3"/>
          <p:cNvSpPr/>
          <p:nvPr/>
        </p:nvSpPr>
        <p:spPr>
          <a:xfrm>
            <a:off x="914400" y="1871663"/>
            <a:ext cx="16459200" cy="700088"/>
          </a:xfrm>
          <a:prstGeom prst="roundRect">
            <a:avLst>
              <a:gd name="adj" fmla="val 21769"/>
            </a:avLst>
          </a:prstGeom>
          <a:solidFill>
            <a:srgbClr val="FFFFFF">
              <a:alpha val="2000"/>
            </a:srgbClr>
          </a:solidFill>
          <a:ln w="9525">
            <a:solidFill>
              <a:srgbClr val="2A2F3A"/>
            </a:solidFill>
            <a:prstDash val="solid"/>
          </a:ln>
        </p:spPr>
      </p:sp>
      <p:sp>
        <p:nvSpPr>
          <p:cNvPr id="6" name="Text 4"/>
          <p:cNvSpPr/>
          <p:nvPr/>
        </p:nvSpPr>
        <p:spPr>
          <a:xfrm>
            <a:off x="1152525" y="210978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Automation spans Defender XDR notifications, Defender for Endpoint configuration, AIR and attack disruption, and Sentinel automation rules and playbooks</a:t>
            </a:r>
            <a:endParaRPr lang="en-US" sz="1500" dirty="0"/>
          </a:p>
        </p:txBody>
      </p:sp>
      <p:sp>
        <p:nvSpPr>
          <p:cNvPr id="7" name="Shape 5"/>
          <p:cNvSpPr/>
          <p:nvPr/>
        </p:nvSpPr>
        <p:spPr>
          <a:xfrm>
            <a:off x="914400" y="2705100"/>
            <a:ext cx="16459200" cy="700088"/>
          </a:xfrm>
          <a:prstGeom prst="roundRect">
            <a:avLst>
              <a:gd name="adj" fmla="val 21769"/>
            </a:avLst>
          </a:prstGeom>
          <a:solidFill>
            <a:srgbClr val="FFFFFF">
              <a:alpha val="2000"/>
            </a:srgbClr>
          </a:solidFill>
          <a:ln w="9525">
            <a:solidFill>
              <a:srgbClr val="2A2F3A"/>
            </a:solidFill>
            <a:prstDash val="solid"/>
          </a:ln>
        </p:spPr>
      </p:sp>
      <p:sp>
        <p:nvSpPr>
          <p:cNvPr id="8" name="Text 6"/>
          <p:cNvSpPr/>
          <p:nvPr/>
        </p:nvSpPr>
        <p:spPr>
          <a:xfrm>
            <a:off x="1152525" y="2943225"/>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The Sentinel platform is governed by roles, retention tiers (Analytics, Data lake, XDR), workbooks, and SOC optimization recommendations</a:t>
            </a:r>
            <a:endParaRPr lang="en-US" sz="1500" dirty="0"/>
          </a:p>
        </p:txBody>
      </p:sp>
      <p:sp>
        <p:nvSpPr>
          <p:cNvPr id="9" name="Shape 7"/>
          <p:cNvSpPr/>
          <p:nvPr/>
        </p:nvSpPr>
        <p:spPr>
          <a:xfrm>
            <a:off x="914400" y="3538538"/>
            <a:ext cx="16459200" cy="700088"/>
          </a:xfrm>
          <a:prstGeom prst="roundRect">
            <a:avLst>
              <a:gd name="adj" fmla="val 21769"/>
            </a:avLst>
          </a:prstGeom>
          <a:solidFill>
            <a:srgbClr val="FFFFFF">
              <a:alpha val="2000"/>
            </a:srgbClr>
          </a:solidFill>
          <a:ln w="9525">
            <a:solidFill>
              <a:srgbClr val="2A2F3A"/>
            </a:solidFill>
            <a:prstDash val="solid"/>
          </a:ln>
        </p:spPr>
      </p:sp>
      <p:sp>
        <p:nvSpPr>
          <p:cNvPr id="10" name="Text 8"/>
          <p:cNvSpPr/>
          <p:nvPr/>
        </p:nvSpPr>
        <p:spPr>
          <a:xfrm>
            <a:off x="1152525" y="3776662"/>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Ingestion paths differ by source: AMA with DCRs, WEF, Syslog/CEF via AMA, diagnostic settings with Azure Policy, threat indicators, and custom tables</a:t>
            </a:r>
            <a:endParaRPr lang="en-US" sz="1500" dirty="0"/>
          </a:p>
        </p:txBody>
      </p:sp>
      <p:sp>
        <p:nvSpPr>
          <p:cNvPr id="11" name="Shape 9"/>
          <p:cNvSpPr/>
          <p:nvPr/>
        </p:nvSpPr>
        <p:spPr>
          <a:xfrm>
            <a:off x="914400" y="4371975"/>
            <a:ext cx="16459200" cy="700088"/>
          </a:xfrm>
          <a:prstGeom prst="roundRect">
            <a:avLst>
              <a:gd name="adj" fmla="val 21769"/>
            </a:avLst>
          </a:prstGeom>
          <a:solidFill>
            <a:srgbClr val="FFFFFF">
              <a:alpha val="2000"/>
            </a:srgbClr>
          </a:solidFill>
          <a:ln w="9525">
            <a:solidFill>
              <a:srgbClr val="2A2F3A"/>
            </a:solidFill>
            <a:prstDash val="solid"/>
          </a:ln>
        </p:spPr>
      </p:sp>
      <p:sp>
        <p:nvSpPr>
          <p:cNvPr id="12" name="Text 10"/>
          <p:cNvSpPr/>
          <p:nvPr/>
        </p:nvSpPr>
        <p:spPr>
          <a:xfrm>
            <a:off x="1152525" y="4610100"/>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Detections combine XDR custom detection rules, four Sentinel analytics rule types, MITRE ATT&amp;CK coverage analysis, and anomalies</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6336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NEXT</a:t>
            </a:r>
            <a:endParaRPr lang="en-US" sz="1575" dirty="0"/>
          </a:p>
        </p:txBody>
      </p:sp>
      <p:sp>
        <p:nvSpPr>
          <p:cNvPr id="4" name="Text 2"/>
          <p:cNvSpPr/>
          <p:nvPr/>
        </p:nvSpPr>
        <p:spPr>
          <a:xfrm>
            <a:off x="914400" y="4391992"/>
            <a:ext cx="16952976"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F5F7FB"/>
                </a:solidFill>
                <a:latin typeface="Arial" pitchFamily="34" charset="0"/>
                <a:ea typeface="Arial" pitchFamily="34" charset="-122"/>
                <a:cs typeface="Arial" pitchFamily="34" charset="-120"/>
              </a:rPr>
              <a:t>Module 2: Respond to Security Incidents</a:t>
            </a:r>
            <a:endParaRPr lang="en-US" sz="4800" dirty="0"/>
          </a:p>
        </p:txBody>
      </p:sp>
      <p:sp>
        <p:nvSpPr>
          <p:cNvPr id="5" name="Text 3"/>
          <p:cNvSpPr/>
          <p:nvPr/>
        </p:nvSpPr>
        <p:spPr>
          <a:xfrm>
            <a:off x="914400" y="596168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Complete the Module 1 PBQ, Flashcards, Cheat Sheet, and Quiz before continuing</a:t>
            </a:r>
            <a:endParaRPr lang="en-US" sz="2400" dirty="0"/>
          </a:p>
        </p:txBody>
      </p:sp>
      <p:sp>
        <p:nvSpPr>
          <p:cNvPr id="6" name="Text 4"/>
          <p:cNvSpPr/>
          <p:nvPr/>
        </p:nvSpPr>
        <p:spPr>
          <a:xfrm>
            <a:off x="914400" y="9796463"/>
            <a:ext cx="1642348" cy="242888"/>
          </a:xfrm>
          <a:prstGeom prst="rect">
            <a:avLst/>
          </a:prstGeom>
          <a:noFill/>
          <a:ln/>
        </p:spPr>
        <p:txBody>
          <a:bodyPr wrap="square" lIns="25400" tIns="25400" rIns="25400" bIns="25400" rtlCol="0" anchor="t">
            <a:normAutofit/>
          </a:bodyPr>
          <a:lstStyle/>
          <a:p>
            <a:pPr algn="l" indent="0" marL="0">
              <a:buNone/>
            </a:pPr>
            <a:r>
              <a:rPr lang="en-US" sz="1350" dirty="0">
                <a:solidFill>
                  <a:srgbClr val="8891A1"/>
                </a:solidFill>
                <a:latin typeface="Arial" pitchFamily="34" charset="0"/>
                <a:ea typeface="Arial" pitchFamily="34" charset="-122"/>
                <a:cs typeface="Arial" pitchFamily="34" charset="-120"/>
              </a:rPr>
              <a:t>My Cyber Academy</a:t>
            </a:r>
            <a:endParaRPr lang="en-US" sz="1350" dirty="0"/>
          </a:p>
        </p:txBody>
      </p:sp>
      <p:sp>
        <p:nvSpPr>
          <p:cNvPr id="7" name="Text 5"/>
          <p:cNvSpPr/>
          <p:nvPr/>
        </p:nvSpPr>
        <p:spPr>
          <a:xfrm>
            <a:off x="16589573" y="9796463"/>
            <a:ext cx="860227" cy="242888"/>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FF6A00"/>
                </a:solidFill>
                <a:latin typeface="Arial" pitchFamily="34" charset="0"/>
                <a:ea typeface="Arial" pitchFamily="34" charset="-122"/>
                <a:cs typeface="Arial" pitchFamily="34" charset="-120"/>
              </a:rPr>
              <a:t>SC</a:t>
            </a:r>
            <a:pPr algn="l" indent="0" marL="0">
              <a:buNone/>
            </a:pPr>
            <a:r>
              <a:rPr lang="en-US" sz="1350" b="1" spc="150" kern="0" dirty="0">
                <a:solidFill>
                  <a:srgbClr val="8891A1"/>
                </a:solidFill>
                <a:latin typeface="Arial" pitchFamily="34" charset="0"/>
                <a:ea typeface="Arial" pitchFamily="34" charset="-122"/>
                <a:cs typeface="Arial" pitchFamily="34" charset="-120"/>
              </a:rPr>
              <a:t>-200</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2026-07-30T10:43:09Z</dcterms:created>
  <dcterms:modified xsi:type="dcterms:W3CDTF">2026-07-30T10:43:09Z</dcterms:modified>
</cp:coreProperties>
</file>