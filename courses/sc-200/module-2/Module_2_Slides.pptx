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2 of SC-200: Respond to Security Incidents — 35-40% of the exam, and the operational heart of the SOC analyst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functional sub-groups make up this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Reconfirm domain weighting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2.1 — ten measured tasks spanning every Defender XDR signal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six signal sources before working through each one — this map is the mental model for the whole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and remediating threats via Defender for Office 365, including automatic attack disruption.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and remediating threats or compromised entities identified by Purview.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and remediating alerts from Defender for Cloud workload protections.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and remediating security risks identified by Defender for Cloud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and remediating compromised identities identified by Microsoft Entra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and remediating alerts from Defender for Identity — distinct from Entra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and remediating alerts and incidents identified by Microsoft Sentinel.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incidents using agentic AI and embedded Microsoft Security Copilot — new in the July 2026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complex attacks — multi-stage, multi-domain, and lateral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managing security incidents using case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one of the most commonly missed on the exam — spend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2.1's ten tasks before moving to Defender for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2.2: responding to alerts and incidents in Defender for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device timelines — the core endpoint investigation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performing actions on the device, including live response and collecting investigation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performing evidence and entity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and remediating incidents identified by automatic attack disruption.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2.2 before moving to Microsoft 365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objective 2.3: investigating Microsoft 365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threats using Microsoft Purview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threats using Content search in Purview eDiscovery.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investigating threats using Microsoft Graph activity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three-way distinction is a documented exam trap — make sure learners can separate them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objective 2.3 before the applied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as a class — this scenario deliberately spans all three objectives in the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mapping a symptom to the owning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choosing the correct remediation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endpoint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practical skill of choosing between the three Microsoft 365 investigation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quick-reference recap before the knowledge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these directly — each is a documented exam distractor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learners of assessment weighting to set revision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this question aloud; reveal the answer after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all three objectives before moving to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and preview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904357"/>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MICROSOFT SC-200 · DOMAIN 2 · MODULE 2 OF 3</a:t>
            </a:r>
            <a:endParaRPr lang="en-US" sz="1575" dirty="0"/>
          </a:p>
        </p:txBody>
      </p:sp>
      <p:sp>
        <p:nvSpPr>
          <p:cNvPr id="4" name="Text 2"/>
          <p:cNvSpPr/>
          <p:nvPr/>
        </p:nvSpPr>
        <p:spPr>
          <a:xfrm>
            <a:off x="914400" y="4352032"/>
            <a:ext cx="16952976" cy="1478161"/>
          </a:xfrm>
          <a:prstGeom prst="rect">
            <a:avLst/>
          </a:prstGeom>
          <a:noFill/>
          <a:ln/>
        </p:spPr>
        <p:txBody>
          <a:bodyPr wrap="square" lIns="25400" tIns="25400" rIns="25400" bIns="25400" rtlCol="0" anchor="t">
            <a:normAutofit/>
          </a:bodyPr>
          <a:lstStyle/>
          <a:p>
            <a:pPr algn="l" indent="0" marL="0">
              <a:lnSpc>
                <a:spcPct val="91084"/>
              </a:lnSpc>
              <a:buNone/>
            </a:pPr>
            <a:r>
              <a:rPr lang="en-US" sz="5400" b="1" dirty="0">
                <a:solidFill>
                  <a:srgbClr val="F5F7FB"/>
                </a:solidFill>
                <a:latin typeface="Arial" pitchFamily="34" charset="0"/>
                <a:ea typeface="Arial" pitchFamily="34" charset="-122"/>
                <a:cs typeface="Arial" pitchFamily="34" charset="-120"/>
              </a:rPr>
              <a:t>Respond to Security Incidents</a:t>
            </a:r>
            <a:endParaRPr lang="en-US" sz="5400" dirty="0"/>
          </a:p>
        </p:txBody>
      </p:sp>
      <p:sp>
        <p:nvSpPr>
          <p:cNvPr id="5" name="Text 3"/>
          <p:cNvSpPr/>
          <p:nvPr/>
        </p:nvSpPr>
        <p:spPr>
          <a:xfrm>
            <a:off x="914400" y="6020693"/>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Investigating and remediating alerts across Defender XDR, Defender for Endpoint, and Microsoft 365</a:t>
            </a:r>
            <a:endParaRPr lang="en-US" sz="2400" dirty="0"/>
          </a:p>
        </p:txBody>
      </p:sp>
      <p:sp>
        <p:nvSpPr>
          <p:cNvPr id="6" name="Text 4"/>
          <p:cNvSpPr/>
          <p:nvPr/>
        </p:nvSpPr>
        <p:spPr>
          <a:xfrm>
            <a:off x="914400" y="9796463"/>
            <a:ext cx="1642348" cy="242888"/>
          </a:xfrm>
          <a:prstGeom prst="rect">
            <a:avLst/>
          </a:prstGeom>
          <a:noFill/>
          <a:ln/>
        </p:spPr>
        <p:txBody>
          <a:bodyPr wrap="square" lIns="25400" tIns="25400" rIns="25400" bIns="25400" rtlCol="0" anchor="t">
            <a:normAutofit/>
          </a:bodyPr>
          <a:lstStyle/>
          <a:p>
            <a:pPr algn="l" indent="0" marL="0">
              <a:buNone/>
            </a:pPr>
            <a:r>
              <a:rPr lang="en-US" sz="1350" dirty="0">
                <a:solidFill>
                  <a:srgbClr val="8891A1"/>
                </a:solidFill>
                <a:latin typeface="Arial" pitchFamily="34" charset="0"/>
                <a:ea typeface="Arial" pitchFamily="34" charset="-122"/>
                <a:cs typeface="Arial" pitchFamily="34" charset="-120"/>
              </a:rPr>
              <a:t>My Cyber Academy</a:t>
            </a:r>
            <a:endParaRPr lang="en-US" sz="1350" dirty="0"/>
          </a:p>
        </p:txBody>
      </p:sp>
      <p:sp>
        <p:nvSpPr>
          <p:cNvPr id="7" name="Text 5"/>
          <p:cNvSpPr/>
          <p:nvPr/>
        </p:nvSpPr>
        <p:spPr>
          <a:xfrm>
            <a:off x="16589573" y="9796463"/>
            <a:ext cx="860227" cy="242888"/>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FF6A00"/>
                </a:solidFill>
                <a:latin typeface="Arial" pitchFamily="34" charset="0"/>
                <a:ea typeface="Arial" pitchFamily="34" charset="-122"/>
                <a:cs typeface="Arial" pitchFamily="34" charset="-120"/>
              </a:rPr>
              <a:t>SC</a:t>
            </a:r>
            <a:pPr algn="l" indent="0" marL="0">
              <a:buNone/>
            </a:pPr>
            <a:r>
              <a:rPr lang="en-US" sz="1350" b="1" spc="150" kern="0" dirty="0">
                <a:solidFill>
                  <a:srgbClr val="8891A1"/>
                </a:solidFill>
                <a:latin typeface="Arial" pitchFamily="34" charset="0"/>
                <a:ea typeface="Arial" pitchFamily="34" charset="-122"/>
                <a:cs typeface="Arial" pitchFamily="34" charset="-120"/>
              </a:rPr>
              <a:t>-200</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LEARNING OBJECTIVES</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By the end of this module, you will be able to</a:t>
            </a:r>
            <a:endParaRPr lang="en-US" sz="4050" dirty="0"/>
          </a:p>
        </p:txBody>
      </p:sp>
      <p:sp>
        <p:nvSpPr>
          <p:cNvPr id="5" name="Shape 3"/>
          <p:cNvSpPr/>
          <p:nvPr/>
        </p:nvSpPr>
        <p:spPr>
          <a:xfrm>
            <a:off x="914400" y="1928813"/>
            <a:ext cx="16459200" cy="933450"/>
          </a:xfrm>
          <a:prstGeom prst="roundRect">
            <a:avLst>
              <a:gd name="adj" fmla="val 16327"/>
            </a:avLst>
          </a:prstGeom>
          <a:solidFill>
            <a:srgbClr val="FFFFFF">
              <a:alpha val="2000"/>
            </a:srgbClr>
          </a:solidFill>
          <a:ln w="9525">
            <a:solidFill>
              <a:srgbClr val="2A2F3A"/>
            </a:solidFill>
            <a:prstDash val="solid"/>
          </a:ln>
        </p:spPr>
      </p:sp>
      <p:sp>
        <p:nvSpPr>
          <p:cNvPr id="6" name="Shape 4"/>
          <p:cNvSpPr/>
          <p:nvPr/>
        </p:nvSpPr>
        <p:spPr>
          <a:xfrm>
            <a:off x="1152525" y="2166938"/>
            <a:ext cx="457200" cy="457200"/>
          </a:xfrm>
          <a:prstGeom prst="ellipse">
            <a:avLst/>
          </a:prstGeom>
          <a:solidFill>
            <a:srgbClr val="FF6A00">
              <a:alpha val="18000"/>
            </a:srgbClr>
          </a:solidFill>
          <a:ln w="9525">
            <a:solidFill>
              <a:srgbClr val="FF6A00"/>
            </a:solidFill>
            <a:prstDash val="solid"/>
          </a:ln>
        </p:spPr>
      </p:sp>
      <p:sp>
        <p:nvSpPr>
          <p:cNvPr id="7" name="Text 5"/>
          <p:cNvSpPr/>
          <p:nvPr/>
        </p:nvSpPr>
        <p:spPr>
          <a:xfrm>
            <a:off x="1123950" y="2176462"/>
            <a:ext cx="514350" cy="476250"/>
          </a:xfrm>
          <a:prstGeom prst="rect">
            <a:avLst/>
          </a:prstGeom>
          <a:noFill/>
          <a:ln/>
        </p:spPr>
        <p:txBody>
          <a:bodyPr wrap="square" lIns="25400" tIns="25400" rIns="25400" bIns="25400" rtlCol="0" anchor="ctr">
            <a:normAutofit/>
          </a:bodyPr>
          <a:lstStyle/>
          <a:p>
            <a:pPr algn="ctr" indent="0" marL="0">
              <a:buNone/>
            </a:pPr>
            <a:r>
              <a:rPr lang="en-US" sz="1425" b="1" dirty="0">
                <a:solidFill>
                  <a:srgbClr val="FF6A00"/>
                </a:solidFill>
                <a:latin typeface="Arial" pitchFamily="34" charset="0"/>
                <a:ea typeface="Arial" pitchFamily="34" charset="-122"/>
                <a:cs typeface="Arial" pitchFamily="34" charset="-120"/>
              </a:rPr>
              <a:t>2.1</a:t>
            </a:r>
            <a:endParaRPr lang="en-US" sz="1425" dirty="0"/>
          </a:p>
        </p:txBody>
      </p:sp>
      <p:sp>
        <p:nvSpPr>
          <p:cNvPr id="8" name="Text 6"/>
          <p:cNvSpPr/>
          <p:nvPr/>
        </p:nvSpPr>
        <p:spPr>
          <a:xfrm>
            <a:off x="1800225" y="2271713"/>
            <a:ext cx="5456693" cy="285750"/>
          </a:xfrm>
          <a:prstGeom prst="rect">
            <a:avLst/>
          </a:prstGeom>
          <a:noFill/>
          <a:ln/>
        </p:spPr>
        <p:txBody>
          <a:bodyPr wrap="square" lIns="0" tIns="0" rIns="0" bIns="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Respond to alerts and incidents in Microsoft Defender XDR</a:t>
            </a:r>
            <a:endParaRPr lang="en-US" sz="1650" dirty="0"/>
          </a:p>
        </p:txBody>
      </p:sp>
      <p:sp>
        <p:nvSpPr>
          <p:cNvPr id="9" name="Shape 7"/>
          <p:cNvSpPr/>
          <p:nvPr/>
        </p:nvSpPr>
        <p:spPr>
          <a:xfrm>
            <a:off x="914400" y="3014663"/>
            <a:ext cx="16459200" cy="933450"/>
          </a:xfrm>
          <a:prstGeom prst="roundRect">
            <a:avLst>
              <a:gd name="adj" fmla="val 16327"/>
            </a:avLst>
          </a:prstGeom>
          <a:solidFill>
            <a:srgbClr val="FFFFFF">
              <a:alpha val="2000"/>
            </a:srgbClr>
          </a:solidFill>
          <a:ln w="9525">
            <a:solidFill>
              <a:srgbClr val="2A2F3A"/>
            </a:solidFill>
            <a:prstDash val="solid"/>
          </a:ln>
        </p:spPr>
      </p:sp>
      <p:sp>
        <p:nvSpPr>
          <p:cNvPr id="10" name="Shape 8"/>
          <p:cNvSpPr/>
          <p:nvPr/>
        </p:nvSpPr>
        <p:spPr>
          <a:xfrm>
            <a:off x="1152525" y="3252788"/>
            <a:ext cx="457200" cy="457200"/>
          </a:xfrm>
          <a:prstGeom prst="ellipse">
            <a:avLst/>
          </a:prstGeom>
          <a:solidFill>
            <a:srgbClr val="FF6A00">
              <a:alpha val="18000"/>
            </a:srgbClr>
          </a:solidFill>
          <a:ln w="9525">
            <a:solidFill>
              <a:srgbClr val="FF6A00"/>
            </a:solidFill>
            <a:prstDash val="solid"/>
          </a:ln>
        </p:spPr>
      </p:sp>
      <p:sp>
        <p:nvSpPr>
          <p:cNvPr id="11" name="Text 9"/>
          <p:cNvSpPr/>
          <p:nvPr/>
        </p:nvSpPr>
        <p:spPr>
          <a:xfrm>
            <a:off x="1123950" y="3262312"/>
            <a:ext cx="514350" cy="476250"/>
          </a:xfrm>
          <a:prstGeom prst="rect">
            <a:avLst/>
          </a:prstGeom>
          <a:noFill/>
          <a:ln/>
        </p:spPr>
        <p:txBody>
          <a:bodyPr wrap="square" lIns="25400" tIns="25400" rIns="25400" bIns="25400" rtlCol="0" anchor="ctr">
            <a:normAutofit/>
          </a:bodyPr>
          <a:lstStyle/>
          <a:p>
            <a:pPr algn="ctr" indent="0" marL="0">
              <a:buNone/>
            </a:pPr>
            <a:r>
              <a:rPr lang="en-US" sz="1425" b="1" dirty="0">
                <a:solidFill>
                  <a:srgbClr val="FF6A00"/>
                </a:solidFill>
                <a:latin typeface="Arial" pitchFamily="34" charset="0"/>
                <a:ea typeface="Arial" pitchFamily="34" charset="-122"/>
                <a:cs typeface="Arial" pitchFamily="34" charset="-120"/>
              </a:rPr>
              <a:t>2.2</a:t>
            </a:r>
            <a:endParaRPr lang="en-US" sz="1425" dirty="0"/>
          </a:p>
        </p:txBody>
      </p:sp>
      <p:sp>
        <p:nvSpPr>
          <p:cNvPr id="12" name="Text 10"/>
          <p:cNvSpPr/>
          <p:nvPr/>
        </p:nvSpPr>
        <p:spPr>
          <a:xfrm>
            <a:off x="1800225" y="3357563"/>
            <a:ext cx="6170349" cy="285750"/>
          </a:xfrm>
          <a:prstGeom prst="rect">
            <a:avLst/>
          </a:prstGeom>
          <a:noFill/>
          <a:ln/>
        </p:spPr>
        <p:txBody>
          <a:bodyPr wrap="square" lIns="0" tIns="0" rIns="0" bIns="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Respond to alerts and incidents in Microsoft Defender for Endpoint</a:t>
            </a:r>
            <a:endParaRPr lang="en-US" sz="1650" dirty="0"/>
          </a:p>
        </p:txBody>
      </p:sp>
      <p:sp>
        <p:nvSpPr>
          <p:cNvPr id="13" name="Shape 11"/>
          <p:cNvSpPr/>
          <p:nvPr/>
        </p:nvSpPr>
        <p:spPr>
          <a:xfrm>
            <a:off x="914400" y="4100513"/>
            <a:ext cx="16459200" cy="933450"/>
          </a:xfrm>
          <a:prstGeom prst="roundRect">
            <a:avLst>
              <a:gd name="adj" fmla="val 16327"/>
            </a:avLst>
          </a:prstGeom>
          <a:solidFill>
            <a:srgbClr val="FFFFFF">
              <a:alpha val="2000"/>
            </a:srgbClr>
          </a:solidFill>
          <a:ln w="9525">
            <a:solidFill>
              <a:srgbClr val="2A2F3A"/>
            </a:solidFill>
            <a:prstDash val="solid"/>
          </a:ln>
        </p:spPr>
      </p:sp>
      <p:sp>
        <p:nvSpPr>
          <p:cNvPr id="14" name="Shape 12"/>
          <p:cNvSpPr/>
          <p:nvPr/>
        </p:nvSpPr>
        <p:spPr>
          <a:xfrm>
            <a:off x="1152525" y="4338638"/>
            <a:ext cx="457200" cy="457200"/>
          </a:xfrm>
          <a:prstGeom prst="ellipse">
            <a:avLst/>
          </a:prstGeom>
          <a:solidFill>
            <a:srgbClr val="FF6A00">
              <a:alpha val="18000"/>
            </a:srgbClr>
          </a:solidFill>
          <a:ln w="9525">
            <a:solidFill>
              <a:srgbClr val="FF6A00"/>
            </a:solidFill>
            <a:prstDash val="solid"/>
          </a:ln>
        </p:spPr>
      </p:sp>
      <p:sp>
        <p:nvSpPr>
          <p:cNvPr id="15" name="Text 13"/>
          <p:cNvSpPr/>
          <p:nvPr/>
        </p:nvSpPr>
        <p:spPr>
          <a:xfrm>
            <a:off x="1123950" y="4348163"/>
            <a:ext cx="514350" cy="476250"/>
          </a:xfrm>
          <a:prstGeom prst="rect">
            <a:avLst/>
          </a:prstGeom>
          <a:noFill/>
          <a:ln/>
        </p:spPr>
        <p:txBody>
          <a:bodyPr wrap="square" lIns="25400" tIns="25400" rIns="25400" bIns="25400" rtlCol="0" anchor="ctr">
            <a:normAutofit/>
          </a:bodyPr>
          <a:lstStyle/>
          <a:p>
            <a:pPr algn="ctr" indent="0" marL="0">
              <a:buNone/>
            </a:pPr>
            <a:r>
              <a:rPr lang="en-US" sz="1425" b="1" dirty="0">
                <a:solidFill>
                  <a:srgbClr val="FF6A00"/>
                </a:solidFill>
                <a:latin typeface="Arial" pitchFamily="34" charset="0"/>
                <a:ea typeface="Arial" pitchFamily="34" charset="-122"/>
                <a:cs typeface="Arial" pitchFamily="34" charset="-120"/>
              </a:rPr>
              <a:t>2.3</a:t>
            </a:r>
            <a:endParaRPr lang="en-US" sz="1425" dirty="0"/>
          </a:p>
        </p:txBody>
      </p:sp>
      <p:sp>
        <p:nvSpPr>
          <p:cNvPr id="16" name="Text 14"/>
          <p:cNvSpPr/>
          <p:nvPr/>
        </p:nvSpPr>
        <p:spPr>
          <a:xfrm>
            <a:off x="1800225" y="4443413"/>
            <a:ext cx="4937873" cy="285750"/>
          </a:xfrm>
          <a:prstGeom prst="rect">
            <a:avLst/>
          </a:prstGeom>
          <a:noFill/>
          <a:ln/>
        </p:spPr>
        <p:txBody>
          <a:bodyPr wrap="square" lIns="0" tIns="0" rIns="0" bIns="0" rtlCol="0" anchor="t">
            <a:normAutofit/>
          </a:bodyPr>
          <a:lstStyle/>
          <a:p>
            <a:pPr algn="l" indent="0" marL="0">
              <a:buNone/>
            </a:pPr>
            <a:r>
              <a:rPr lang="en-US" sz="1650" dirty="0">
                <a:solidFill>
                  <a:srgbClr val="F5F7FB"/>
                </a:solidFill>
                <a:latin typeface="Arial" pitchFamily="34" charset="0"/>
                <a:ea typeface="Arial" pitchFamily="34" charset="-122"/>
                <a:cs typeface="Arial" pitchFamily="34" charset="-120"/>
              </a:rPr>
              <a:t>Investigate Microsoft 365 activities to identify threats</a:t>
            </a:r>
            <a:endParaRPr lang="en-US" sz="1650" dirty="0"/>
          </a:p>
        </p:txBody>
      </p:sp>
      <p:sp>
        <p:nvSpPr>
          <p:cNvPr id="17" name="Shape 15"/>
          <p:cNvSpPr/>
          <p:nvPr/>
        </p:nvSpPr>
        <p:spPr>
          <a:xfrm>
            <a:off x="914400" y="5243513"/>
            <a:ext cx="16459200" cy="700088"/>
          </a:xfrm>
          <a:prstGeom prst="roundRect">
            <a:avLst>
              <a:gd name="adj" fmla="val 21769"/>
            </a:avLst>
          </a:prstGeom>
          <a:solidFill>
            <a:srgbClr val="FFFFFF">
              <a:alpha val="2000"/>
            </a:srgbClr>
          </a:solidFill>
          <a:ln w="9525">
            <a:solidFill>
              <a:srgbClr val="2A2F3A"/>
            </a:solidFill>
            <a:prstDash val="solid"/>
          </a:ln>
        </p:spPr>
      </p:sp>
      <p:sp>
        <p:nvSpPr>
          <p:cNvPr id="18" name="Text 16"/>
          <p:cNvSpPr/>
          <p:nvPr/>
        </p:nvSpPr>
        <p:spPr>
          <a:xfrm>
            <a:off x="1152525" y="5481638"/>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B8C0CF"/>
                </a:solidFill>
                <a:latin typeface="Arial" pitchFamily="34" charset="0"/>
                <a:ea typeface="Arial" pitchFamily="34" charset="-122"/>
                <a:cs typeface="Arial" pitchFamily="34" charset="-120"/>
              </a:rPr>
              <a:t>Module 1 built and configured the environment. This module works inside it — triaging, investigating, and remediating what that environment surfaces.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EXAM STRUCTURE</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Where This Module Sits in SC-200</a:t>
            </a:r>
            <a:endParaRPr lang="en-US" sz="4050" dirty="0"/>
          </a:p>
        </p:txBody>
      </p:sp>
      <p:sp>
        <p:nvSpPr>
          <p:cNvPr id="5" name="Shape 3"/>
          <p:cNvSpPr/>
          <p:nvPr/>
        </p:nvSpPr>
        <p:spPr>
          <a:xfrm>
            <a:off x="914400" y="1909762"/>
            <a:ext cx="5372100" cy="6786563"/>
          </a:xfrm>
          <a:prstGeom prst="roundRect">
            <a:avLst>
              <a:gd name="adj" fmla="val 2837"/>
            </a:avLst>
          </a:prstGeom>
          <a:solidFill>
            <a:srgbClr val="FFFFFF">
              <a:alpha val="2000"/>
            </a:srgbClr>
          </a:solidFill>
          <a:ln w="9525">
            <a:solidFill>
              <a:srgbClr val="2A2F3A"/>
            </a:solidFill>
            <a:prstDash val="solid"/>
          </a:ln>
        </p:spPr>
      </p:sp>
      <p:sp>
        <p:nvSpPr>
          <p:cNvPr id="6" name="Text 4"/>
          <p:cNvSpPr/>
          <p:nvPr/>
        </p:nvSpPr>
        <p:spPr>
          <a:xfrm>
            <a:off x="1152525" y="4724400"/>
            <a:ext cx="5385435"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B8C0CF"/>
                </a:solidFill>
                <a:latin typeface="Arial" pitchFamily="34" charset="0"/>
                <a:ea typeface="Arial" pitchFamily="34" charset="-122"/>
                <a:cs typeface="Arial" pitchFamily="34" charset="-120"/>
              </a:rPr>
              <a:t>40–45%</a:t>
            </a:r>
            <a:endParaRPr lang="en-US" sz="4200" dirty="0"/>
          </a:p>
        </p:txBody>
      </p:sp>
      <p:sp>
        <p:nvSpPr>
          <p:cNvPr id="7" name="Text 5"/>
          <p:cNvSpPr/>
          <p:nvPr/>
        </p:nvSpPr>
        <p:spPr>
          <a:xfrm>
            <a:off x="1152525" y="5429250"/>
            <a:ext cx="5385435" cy="276225"/>
          </a:xfrm>
          <a:prstGeom prst="rect">
            <a:avLst/>
          </a:prstGeom>
          <a:noFill/>
          <a:ln/>
        </p:spPr>
        <p:txBody>
          <a:bodyPr wrap="square" lIns="25400" tIns="25400" rIns="25400" bIns="25400" rtlCol="0" anchor="t">
            <a:normAutofit/>
          </a:bodyPr>
          <a:lstStyle/>
          <a:p>
            <a:pPr algn="l" indent="0" marL="0">
              <a:buNone/>
            </a:pPr>
            <a:r>
              <a:rPr lang="en-US" sz="1575" b="1" dirty="0">
                <a:solidFill>
                  <a:srgbClr val="F5F7FB"/>
                </a:solidFill>
                <a:latin typeface="Arial" pitchFamily="34" charset="0"/>
                <a:ea typeface="Arial" pitchFamily="34" charset="-122"/>
                <a:cs typeface="Arial" pitchFamily="34" charset="-120"/>
              </a:rPr>
              <a:t>Domain 1</a:t>
            </a:r>
            <a:endParaRPr lang="en-US" sz="1575" dirty="0"/>
          </a:p>
        </p:txBody>
      </p:sp>
      <p:sp>
        <p:nvSpPr>
          <p:cNvPr id="8" name="Text 6"/>
          <p:cNvSpPr/>
          <p:nvPr/>
        </p:nvSpPr>
        <p:spPr>
          <a:xfrm>
            <a:off x="1152525" y="5667375"/>
            <a:ext cx="5385435" cy="252413"/>
          </a:xfrm>
          <a:prstGeom prst="rect">
            <a:avLst/>
          </a:prstGeom>
          <a:noFill/>
          <a:ln/>
        </p:spPr>
        <p:txBody>
          <a:bodyPr wrap="square" lIns="25400" tIns="25400" rIns="25400" bIns="25400" rtlCol="0" anchor="t">
            <a:normAutofit/>
          </a:bodyPr>
          <a:lstStyle/>
          <a:p>
            <a:pPr algn="l" indent="0" marL="0">
              <a:buNone/>
            </a:pPr>
            <a:r>
              <a:rPr lang="en-US" sz="1425" dirty="0">
                <a:solidFill>
                  <a:srgbClr val="B8C0CF"/>
                </a:solidFill>
                <a:latin typeface="Arial" pitchFamily="34" charset="0"/>
                <a:ea typeface="Arial" pitchFamily="34" charset="-122"/>
                <a:cs typeface="Arial" pitchFamily="34" charset="-120"/>
              </a:rPr>
              <a:t>Manage a security operations environment</a:t>
            </a:r>
            <a:endParaRPr lang="en-US" sz="1425" dirty="0"/>
          </a:p>
        </p:txBody>
      </p:sp>
      <p:sp>
        <p:nvSpPr>
          <p:cNvPr id="9" name="Shape 7"/>
          <p:cNvSpPr/>
          <p:nvPr/>
        </p:nvSpPr>
        <p:spPr>
          <a:xfrm>
            <a:off x="6457950" y="1909762"/>
            <a:ext cx="5372100" cy="6786563"/>
          </a:xfrm>
          <a:prstGeom prst="roundRect">
            <a:avLst>
              <a:gd name="adj" fmla="val 2837"/>
            </a:avLst>
          </a:prstGeom>
          <a:solidFill>
            <a:srgbClr val="FFFFFF">
              <a:alpha val="2000"/>
            </a:srgbClr>
          </a:solidFill>
          <a:ln w="9525">
            <a:solidFill>
              <a:srgbClr val="2A2F3A"/>
            </a:solidFill>
            <a:prstDash val="solid"/>
          </a:ln>
        </p:spPr>
      </p:sp>
      <p:sp>
        <p:nvSpPr>
          <p:cNvPr id="10" name="Text 8"/>
          <p:cNvSpPr/>
          <p:nvPr/>
        </p:nvSpPr>
        <p:spPr>
          <a:xfrm>
            <a:off x="6696075" y="4724400"/>
            <a:ext cx="5385435"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FF6A00"/>
                </a:solidFill>
                <a:latin typeface="Arial" pitchFamily="34" charset="0"/>
                <a:ea typeface="Arial" pitchFamily="34" charset="-122"/>
                <a:cs typeface="Arial" pitchFamily="34" charset="-120"/>
              </a:rPr>
              <a:t>35–40%</a:t>
            </a:r>
            <a:endParaRPr lang="en-US" sz="4200" dirty="0"/>
          </a:p>
        </p:txBody>
      </p:sp>
      <p:sp>
        <p:nvSpPr>
          <p:cNvPr id="11" name="Text 9"/>
          <p:cNvSpPr/>
          <p:nvPr/>
        </p:nvSpPr>
        <p:spPr>
          <a:xfrm>
            <a:off x="6696075" y="5429250"/>
            <a:ext cx="5385435" cy="276225"/>
          </a:xfrm>
          <a:prstGeom prst="rect">
            <a:avLst/>
          </a:prstGeom>
          <a:noFill/>
          <a:ln/>
        </p:spPr>
        <p:txBody>
          <a:bodyPr wrap="square" lIns="25400" tIns="25400" rIns="25400" bIns="25400" rtlCol="0" anchor="t">
            <a:normAutofit/>
          </a:bodyPr>
          <a:lstStyle/>
          <a:p>
            <a:pPr algn="l" indent="0" marL="0">
              <a:buNone/>
            </a:pPr>
            <a:r>
              <a:rPr lang="en-US" sz="1575" b="1" dirty="0">
                <a:solidFill>
                  <a:srgbClr val="F5F7FB"/>
                </a:solidFill>
                <a:latin typeface="Arial" pitchFamily="34" charset="0"/>
                <a:ea typeface="Arial" pitchFamily="34" charset="-122"/>
                <a:cs typeface="Arial" pitchFamily="34" charset="-120"/>
              </a:rPr>
              <a:t>Domain 2</a:t>
            </a:r>
            <a:endParaRPr lang="en-US" sz="1575" dirty="0"/>
          </a:p>
        </p:txBody>
      </p:sp>
      <p:sp>
        <p:nvSpPr>
          <p:cNvPr id="12" name="Text 10"/>
          <p:cNvSpPr/>
          <p:nvPr/>
        </p:nvSpPr>
        <p:spPr>
          <a:xfrm>
            <a:off x="6696075" y="5667375"/>
            <a:ext cx="5385435" cy="252413"/>
          </a:xfrm>
          <a:prstGeom prst="rect">
            <a:avLst/>
          </a:prstGeom>
          <a:noFill/>
          <a:ln/>
        </p:spPr>
        <p:txBody>
          <a:bodyPr wrap="square" lIns="25400" tIns="25400" rIns="25400" bIns="25400" rtlCol="0" anchor="t">
            <a:normAutofit/>
          </a:bodyPr>
          <a:lstStyle/>
          <a:p>
            <a:pPr algn="l" indent="0" marL="0">
              <a:buNone/>
            </a:pPr>
            <a:r>
              <a:rPr lang="en-US" sz="1425" dirty="0">
                <a:solidFill>
                  <a:srgbClr val="B8C0CF"/>
                </a:solidFill>
                <a:latin typeface="Arial" pitchFamily="34" charset="0"/>
                <a:ea typeface="Arial" pitchFamily="34" charset="-122"/>
                <a:cs typeface="Arial" pitchFamily="34" charset="-120"/>
              </a:rPr>
              <a:t>Respond to security incidents</a:t>
            </a:r>
            <a:endParaRPr lang="en-US" sz="1425" dirty="0"/>
          </a:p>
        </p:txBody>
      </p:sp>
      <p:sp>
        <p:nvSpPr>
          <p:cNvPr id="13" name="Shape 11"/>
          <p:cNvSpPr/>
          <p:nvPr/>
        </p:nvSpPr>
        <p:spPr>
          <a:xfrm>
            <a:off x="12001500" y="1909762"/>
            <a:ext cx="5372100" cy="6786563"/>
          </a:xfrm>
          <a:prstGeom prst="roundRect">
            <a:avLst>
              <a:gd name="adj" fmla="val 2837"/>
            </a:avLst>
          </a:prstGeom>
          <a:solidFill>
            <a:srgbClr val="FFFFFF">
              <a:alpha val="2000"/>
            </a:srgbClr>
          </a:solidFill>
          <a:ln w="9525">
            <a:solidFill>
              <a:srgbClr val="2A2F3A"/>
            </a:solidFill>
            <a:prstDash val="solid"/>
          </a:ln>
        </p:spPr>
      </p:sp>
      <p:sp>
        <p:nvSpPr>
          <p:cNvPr id="14" name="Text 12"/>
          <p:cNvSpPr/>
          <p:nvPr/>
        </p:nvSpPr>
        <p:spPr>
          <a:xfrm>
            <a:off x="12239625" y="4724400"/>
            <a:ext cx="5385435" cy="666750"/>
          </a:xfrm>
          <a:prstGeom prst="rect">
            <a:avLst/>
          </a:prstGeom>
          <a:noFill/>
          <a:ln/>
        </p:spPr>
        <p:txBody>
          <a:bodyPr wrap="square" lIns="25400" tIns="25400" rIns="25400" bIns="25400" rtlCol="0" anchor="t">
            <a:normAutofit/>
          </a:bodyPr>
          <a:lstStyle/>
          <a:p>
            <a:pPr algn="l" indent="0" marL="0">
              <a:buNone/>
            </a:pPr>
            <a:r>
              <a:rPr lang="en-US" sz="4200" b="1" dirty="0">
                <a:solidFill>
                  <a:srgbClr val="B8C0CF"/>
                </a:solidFill>
                <a:latin typeface="Arial" pitchFamily="34" charset="0"/>
                <a:ea typeface="Arial" pitchFamily="34" charset="-122"/>
                <a:cs typeface="Arial" pitchFamily="34" charset="-120"/>
              </a:rPr>
              <a:t>20–25%</a:t>
            </a:r>
            <a:endParaRPr lang="en-US" sz="4200" dirty="0"/>
          </a:p>
        </p:txBody>
      </p:sp>
      <p:sp>
        <p:nvSpPr>
          <p:cNvPr id="15" name="Text 13"/>
          <p:cNvSpPr/>
          <p:nvPr/>
        </p:nvSpPr>
        <p:spPr>
          <a:xfrm>
            <a:off x="12239625" y="5429250"/>
            <a:ext cx="5385435" cy="276225"/>
          </a:xfrm>
          <a:prstGeom prst="rect">
            <a:avLst/>
          </a:prstGeom>
          <a:noFill/>
          <a:ln/>
        </p:spPr>
        <p:txBody>
          <a:bodyPr wrap="square" lIns="25400" tIns="25400" rIns="25400" bIns="25400" rtlCol="0" anchor="t">
            <a:normAutofit/>
          </a:bodyPr>
          <a:lstStyle/>
          <a:p>
            <a:pPr algn="l" indent="0" marL="0">
              <a:buNone/>
            </a:pPr>
            <a:r>
              <a:rPr lang="en-US" sz="1575" b="1" dirty="0">
                <a:solidFill>
                  <a:srgbClr val="F5F7FB"/>
                </a:solidFill>
                <a:latin typeface="Arial" pitchFamily="34" charset="0"/>
                <a:ea typeface="Arial" pitchFamily="34" charset="-122"/>
                <a:cs typeface="Arial" pitchFamily="34" charset="-120"/>
              </a:rPr>
              <a:t>Domain 3</a:t>
            </a:r>
            <a:endParaRPr lang="en-US" sz="1575" dirty="0"/>
          </a:p>
        </p:txBody>
      </p:sp>
      <p:sp>
        <p:nvSpPr>
          <p:cNvPr id="16" name="Text 14"/>
          <p:cNvSpPr/>
          <p:nvPr/>
        </p:nvSpPr>
        <p:spPr>
          <a:xfrm>
            <a:off x="12239625" y="5667375"/>
            <a:ext cx="5385435" cy="252413"/>
          </a:xfrm>
          <a:prstGeom prst="rect">
            <a:avLst/>
          </a:prstGeom>
          <a:noFill/>
          <a:ln/>
        </p:spPr>
        <p:txBody>
          <a:bodyPr wrap="square" lIns="25400" tIns="25400" rIns="25400" bIns="25400" rtlCol="0" anchor="t">
            <a:normAutofit/>
          </a:bodyPr>
          <a:lstStyle/>
          <a:p>
            <a:pPr algn="l" indent="0" marL="0">
              <a:buNone/>
            </a:pPr>
            <a:r>
              <a:rPr lang="en-US" sz="1425" dirty="0">
                <a:solidFill>
                  <a:srgbClr val="B8C0CF"/>
                </a:solidFill>
                <a:latin typeface="Arial" pitchFamily="34" charset="0"/>
                <a:ea typeface="Arial" pitchFamily="34" charset="-122"/>
                <a:cs typeface="Arial" pitchFamily="34" charset="-120"/>
              </a:rPr>
              <a:t>Perform threat hunting</a:t>
            </a:r>
            <a:endParaRPr lang="en-US" sz="1425" dirty="0"/>
          </a:p>
        </p:txBody>
      </p:sp>
      <p:sp>
        <p:nvSpPr>
          <p:cNvPr id="17" name="Shape 15"/>
          <p:cNvSpPr/>
          <p:nvPr/>
        </p:nvSpPr>
        <p:spPr>
          <a:xfrm>
            <a:off x="914400" y="8963025"/>
            <a:ext cx="16459200" cy="714375"/>
          </a:xfrm>
          <a:prstGeom prst="roundRect">
            <a:avLst>
              <a:gd name="adj" fmla="val 21333"/>
            </a:avLst>
          </a:prstGeom>
          <a:solidFill>
            <a:srgbClr val="FFFFFF">
              <a:alpha val="2000"/>
            </a:srgbClr>
          </a:solidFill>
          <a:ln w="9525">
            <a:solidFill>
              <a:srgbClr val="2A2F3A"/>
            </a:solidFill>
            <a:prstDash val="solid"/>
          </a:ln>
        </p:spPr>
      </p:sp>
      <p:sp>
        <p:nvSpPr>
          <p:cNvPr id="18" name="Text 16"/>
          <p:cNvSpPr/>
          <p:nvPr/>
        </p:nvSpPr>
        <p:spPr>
          <a:xfrm>
            <a:off x="1152525" y="9201150"/>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B8C0CF"/>
                </a:solidFill>
                <a:latin typeface="Arial" pitchFamily="34" charset="0"/>
                <a:ea typeface="Arial" pitchFamily="34" charset="-122"/>
                <a:cs typeface="Arial" pitchFamily="34" charset="-120"/>
              </a:rPr>
              <a:t>This domain is heavily scenario-driven: expect case studies where you must choose the correct product, investigation path, and remediation action.</a:t>
            </a:r>
            <a:endParaRPr lang="en-US" sz="15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75807"/>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2.1</a:t>
            </a:r>
            <a:endParaRPr lang="en-US" sz="1575" dirty="0"/>
          </a:p>
        </p:txBody>
      </p:sp>
      <p:sp>
        <p:nvSpPr>
          <p:cNvPr id="4" name="Text 2"/>
          <p:cNvSpPr/>
          <p:nvPr/>
        </p:nvSpPr>
        <p:spPr>
          <a:xfrm>
            <a:off x="914400" y="4485382"/>
            <a:ext cx="16952976" cy="1211461"/>
          </a:xfrm>
          <a:prstGeom prst="rect">
            <a:avLst/>
          </a:prstGeom>
          <a:noFill/>
          <a:ln/>
        </p:spPr>
        <p:txBody>
          <a:bodyPr wrap="square" lIns="25400" tIns="25400" rIns="25400" bIns="25400" rtlCol="0" anchor="t">
            <a:normAutofit/>
          </a:bodyPr>
          <a:lstStyle/>
          <a:p>
            <a:pPr algn="l" indent="0" marL="0">
              <a:lnSpc>
                <a:spcPct val="95504"/>
              </a:lnSpc>
              <a:buNone/>
            </a:pPr>
            <a:r>
              <a:rPr lang="en-US" sz="4200" b="1" dirty="0">
                <a:solidFill>
                  <a:srgbClr val="F5F7FB"/>
                </a:solidFill>
                <a:latin typeface="Arial" pitchFamily="34" charset="0"/>
                <a:ea typeface="Arial" pitchFamily="34" charset="-122"/>
                <a:cs typeface="Arial" pitchFamily="34" charset="-120"/>
              </a:rPr>
              <a:t>Respond to Alerts &amp; Incidents in Microsoft Defender XDR</a:t>
            </a:r>
            <a:endParaRPr lang="en-US" sz="4200" dirty="0"/>
          </a:p>
        </p:txBody>
      </p:sp>
      <p:sp>
        <p:nvSpPr>
          <p:cNvPr id="5" name="Text 3"/>
          <p:cNvSpPr/>
          <p:nvPr/>
        </p:nvSpPr>
        <p:spPr>
          <a:xfrm>
            <a:off x="914400" y="5849243"/>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Ten measured tasks — one per signal source, plus agentic AI, complex attacks, and case management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ORIENTATION</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Which Product Owns Which Signal?</a:t>
            </a:r>
            <a:endParaRPr lang="en-US" sz="4050" dirty="0"/>
          </a:p>
        </p:txBody>
      </p:sp>
      <p:sp>
        <p:nvSpPr>
          <p:cNvPr id="5" name="Shape 3"/>
          <p:cNvSpPr/>
          <p:nvPr/>
        </p:nvSpPr>
        <p:spPr>
          <a:xfrm>
            <a:off x="914400" y="1871663"/>
            <a:ext cx="5592291" cy="514350"/>
          </a:xfrm>
          <a:prstGeom prst="rect">
            <a:avLst/>
          </a:prstGeom>
          <a:solidFill>
            <a:srgbClr val="FF6A00">
              <a:alpha val="18000"/>
            </a:srgbClr>
          </a:solidFill>
          <a:ln/>
        </p:spPr>
      </p:sp>
      <p:sp>
        <p:nvSpPr>
          <p:cNvPr id="6" name="Shape 4"/>
          <p:cNvSpPr/>
          <p:nvPr/>
        </p:nvSpPr>
        <p:spPr>
          <a:xfrm>
            <a:off x="914400" y="2376488"/>
            <a:ext cx="5592291" cy="9525"/>
          </a:xfrm>
          <a:prstGeom prst="rect">
            <a:avLst/>
          </a:prstGeom>
          <a:solidFill>
            <a:srgbClr val="B85100"/>
          </a:solidFill>
          <a:ln/>
        </p:spPr>
      </p:sp>
      <p:sp>
        <p:nvSpPr>
          <p:cNvPr id="7" name="Text 5"/>
          <p:cNvSpPr/>
          <p:nvPr/>
        </p:nvSpPr>
        <p:spPr>
          <a:xfrm>
            <a:off x="1057275" y="1976438"/>
            <a:ext cx="5474310"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Signal Source</a:t>
            </a:r>
            <a:endParaRPr lang="en-US" sz="2025" dirty="0"/>
          </a:p>
        </p:txBody>
      </p:sp>
      <p:sp>
        <p:nvSpPr>
          <p:cNvPr id="8" name="Shape 6"/>
          <p:cNvSpPr/>
          <p:nvPr/>
        </p:nvSpPr>
        <p:spPr>
          <a:xfrm>
            <a:off x="6506691" y="1871663"/>
            <a:ext cx="10866909" cy="514350"/>
          </a:xfrm>
          <a:prstGeom prst="rect">
            <a:avLst/>
          </a:prstGeom>
          <a:solidFill>
            <a:srgbClr val="FF6A00">
              <a:alpha val="18000"/>
            </a:srgbClr>
          </a:solidFill>
          <a:ln/>
        </p:spPr>
      </p:sp>
      <p:sp>
        <p:nvSpPr>
          <p:cNvPr id="9" name="Shape 7"/>
          <p:cNvSpPr/>
          <p:nvPr/>
        </p:nvSpPr>
        <p:spPr>
          <a:xfrm>
            <a:off x="6506691" y="2376488"/>
            <a:ext cx="10866909" cy="9525"/>
          </a:xfrm>
          <a:prstGeom prst="rect">
            <a:avLst/>
          </a:prstGeom>
          <a:solidFill>
            <a:srgbClr val="B85100"/>
          </a:solidFill>
          <a:ln/>
        </p:spPr>
      </p:sp>
      <p:sp>
        <p:nvSpPr>
          <p:cNvPr id="10" name="Text 8"/>
          <p:cNvSpPr/>
          <p:nvPr/>
        </p:nvSpPr>
        <p:spPr>
          <a:xfrm>
            <a:off x="6649566" y="1976438"/>
            <a:ext cx="10907166"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What It Detects</a:t>
            </a:r>
            <a:endParaRPr lang="en-US" sz="2025" dirty="0"/>
          </a:p>
        </p:txBody>
      </p:sp>
      <p:sp>
        <p:nvSpPr>
          <p:cNvPr id="11" name="Shape 9"/>
          <p:cNvSpPr/>
          <p:nvPr/>
        </p:nvSpPr>
        <p:spPr>
          <a:xfrm>
            <a:off x="914400" y="2852738"/>
            <a:ext cx="5592291" cy="9525"/>
          </a:xfrm>
          <a:prstGeom prst="rect">
            <a:avLst/>
          </a:prstGeom>
          <a:solidFill>
            <a:srgbClr val="2A2F3A"/>
          </a:solidFill>
          <a:ln/>
        </p:spPr>
      </p:sp>
      <p:sp>
        <p:nvSpPr>
          <p:cNvPr id="12" name="Text 10"/>
          <p:cNvSpPr/>
          <p:nvPr/>
        </p:nvSpPr>
        <p:spPr>
          <a:xfrm>
            <a:off x="1057275" y="2490788"/>
            <a:ext cx="547431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Defender for Office 365</a:t>
            </a:r>
            <a:endParaRPr lang="en-US" sz="1725" dirty="0"/>
          </a:p>
        </p:txBody>
      </p:sp>
      <p:sp>
        <p:nvSpPr>
          <p:cNvPr id="13" name="Shape 11"/>
          <p:cNvSpPr/>
          <p:nvPr/>
        </p:nvSpPr>
        <p:spPr>
          <a:xfrm>
            <a:off x="6506691" y="2852738"/>
            <a:ext cx="10866909" cy="9525"/>
          </a:xfrm>
          <a:prstGeom prst="rect">
            <a:avLst/>
          </a:prstGeom>
          <a:solidFill>
            <a:srgbClr val="2A2F3A"/>
          </a:solidFill>
          <a:ln/>
        </p:spPr>
      </p:sp>
      <p:sp>
        <p:nvSpPr>
          <p:cNvPr id="14" name="Text 12"/>
          <p:cNvSpPr/>
          <p:nvPr/>
        </p:nvSpPr>
        <p:spPr>
          <a:xfrm>
            <a:off x="6649566" y="2490788"/>
            <a:ext cx="1090716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Email and collaboration threats — phishing, malicious attachments and links</a:t>
            </a:r>
            <a:endParaRPr lang="en-US" sz="1725" dirty="0"/>
          </a:p>
        </p:txBody>
      </p:sp>
      <p:sp>
        <p:nvSpPr>
          <p:cNvPr id="15" name="Shape 13"/>
          <p:cNvSpPr/>
          <p:nvPr/>
        </p:nvSpPr>
        <p:spPr>
          <a:xfrm>
            <a:off x="914400" y="2862263"/>
            <a:ext cx="5592291" cy="476250"/>
          </a:xfrm>
          <a:prstGeom prst="rect">
            <a:avLst/>
          </a:prstGeom>
          <a:solidFill>
            <a:srgbClr val="FFFFFF">
              <a:alpha val="2000"/>
            </a:srgbClr>
          </a:solidFill>
          <a:ln/>
        </p:spPr>
      </p:sp>
      <p:sp>
        <p:nvSpPr>
          <p:cNvPr id="16" name="Shape 14"/>
          <p:cNvSpPr/>
          <p:nvPr/>
        </p:nvSpPr>
        <p:spPr>
          <a:xfrm>
            <a:off x="914400" y="3328988"/>
            <a:ext cx="5592291" cy="9525"/>
          </a:xfrm>
          <a:prstGeom prst="rect">
            <a:avLst/>
          </a:prstGeom>
          <a:solidFill>
            <a:srgbClr val="2A2F3A"/>
          </a:solidFill>
          <a:ln/>
        </p:spPr>
      </p:sp>
      <p:sp>
        <p:nvSpPr>
          <p:cNvPr id="17" name="Text 15"/>
          <p:cNvSpPr/>
          <p:nvPr/>
        </p:nvSpPr>
        <p:spPr>
          <a:xfrm>
            <a:off x="1057275" y="2967038"/>
            <a:ext cx="547431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Microsoft Purview</a:t>
            </a:r>
            <a:endParaRPr lang="en-US" sz="1725" dirty="0"/>
          </a:p>
        </p:txBody>
      </p:sp>
      <p:sp>
        <p:nvSpPr>
          <p:cNvPr id="18" name="Shape 16"/>
          <p:cNvSpPr/>
          <p:nvPr/>
        </p:nvSpPr>
        <p:spPr>
          <a:xfrm>
            <a:off x="6506691" y="2862263"/>
            <a:ext cx="10866909" cy="476250"/>
          </a:xfrm>
          <a:prstGeom prst="rect">
            <a:avLst/>
          </a:prstGeom>
          <a:solidFill>
            <a:srgbClr val="FFFFFF">
              <a:alpha val="2000"/>
            </a:srgbClr>
          </a:solidFill>
          <a:ln/>
        </p:spPr>
      </p:sp>
      <p:sp>
        <p:nvSpPr>
          <p:cNvPr id="19" name="Shape 17"/>
          <p:cNvSpPr/>
          <p:nvPr/>
        </p:nvSpPr>
        <p:spPr>
          <a:xfrm>
            <a:off x="6506691" y="3328988"/>
            <a:ext cx="10866909" cy="9525"/>
          </a:xfrm>
          <a:prstGeom prst="rect">
            <a:avLst/>
          </a:prstGeom>
          <a:solidFill>
            <a:srgbClr val="2A2F3A"/>
          </a:solidFill>
          <a:ln/>
        </p:spPr>
      </p:sp>
      <p:sp>
        <p:nvSpPr>
          <p:cNvPr id="20" name="Text 18"/>
          <p:cNvSpPr/>
          <p:nvPr/>
        </p:nvSpPr>
        <p:spPr>
          <a:xfrm>
            <a:off x="6649566" y="2967038"/>
            <a:ext cx="1090716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Data-centric threats and compromised entities identified through governance signals</a:t>
            </a:r>
            <a:endParaRPr lang="en-US" sz="1725" dirty="0"/>
          </a:p>
        </p:txBody>
      </p:sp>
      <p:sp>
        <p:nvSpPr>
          <p:cNvPr id="21" name="Shape 19"/>
          <p:cNvSpPr/>
          <p:nvPr/>
        </p:nvSpPr>
        <p:spPr>
          <a:xfrm>
            <a:off x="914400" y="3805237"/>
            <a:ext cx="5592291" cy="9525"/>
          </a:xfrm>
          <a:prstGeom prst="rect">
            <a:avLst/>
          </a:prstGeom>
          <a:solidFill>
            <a:srgbClr val="2A2F3A"/>
          </a:solidFill>
          <a:ln/>
        </p:spPr>
      </p:sp>
      <p:sp>
        <p:nvSpPr>
          <p:cNvPr id="22" name="Text 20"/>
          <p:cNvSpPr/>
          <p:nvPr/>
        </p:nvSpPr>
        <p:spPr>
          <a:xfrm>
            <a:off x="1057275" y="3443288"/>
            <a:ext cx="547431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Defender for Cloud (workload protections)</a:t>
            </a:r>
            <a:endParaRPr lang="en-US" sz="1725" dirty="0"/>
          </a:p>
        </p:txBody>
      </p:sp>
      <p:sp>
        <p:nvSpPr>
          <p:cNvPr id="23" name="Shape 21"/>
          <p:cNvSpPr/>
          <p:nvPr/>
        </p:nvSpPr>
        <p:spPr>
          <a:xfrm>
            <a:off x="6506691" y="3805237"/>
            <a:ext cx="10866909" cy="9525"/>
          </a:xfrm>
          <a:prstGeom prst="rect">
            <a:avLst/>
          </a:prstGeom>
          <a:solidFill>
            <a:srgbClr val="2A2F3A"/>
          </a:solidFill>
          <a:ln/>
        </p:spPr>
      </p:sp>
      <p:sp>
        <p:nvSpPr>
          <p:cNvPr id="24" name="Text 22"/>
          <p:cNvSpPr/>
          <p:nvPr/>
        </p:nvSpPr>
        <p:spPr>
          <a:xfrm>
            <a:off x="6649566" y="3443288"/>
            <a:ext cx="1090716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Threats against cloud and hybrid workloads</a:t>
            </a:r>
            <a:endParaRPr lang="en-US" sz="1725" dirty="0"/>
          </a:p>
        </p:txBody>
      </p:sp>
      <p:sp>
        <p:nvSpPr>
          <p:cNvPr id="25" name="Shape 23"/>
          <p:cNvSpPr/>
          <p:nvPr/>
        </p:nvSpPr>
        <p:spPr>
          <a:xfrm>
            <a:off x="914400" y="3814763"/>
            <a:ext cx="5592291" cy="476250"/>
          </a:xfrm>
          <a:prstGeom prst="rect">
            <a:avLst/>
          </a:prstGeom>
          <a:solidFill>
            <a:srgbClr val="FFFFFF">
              <a:alpha val="2000"/>
            </a:srgbClr>
          </a:solidFill>
          <a:ln/>
        </p:spPr>
      </p:sp>
      <p:sp>
        <p:nvSpPr>
          <p:cNvPr id="26" name="Shape 24"/>
          <p:cNvSpPr/>
          <p:nvPr/>
        </p:nvSpPr>
        <p:spPr>
          <a:xfrm>
            <a:off x="914400" y="4281488"/>
            <a:ext cx="5592291" cy="9525"/>
          </a:xfrm>
          <a:prstGeom prst="rect">
            <a:avLst/>
          </a:prstGeom>
          <a:solidFill>
            <a:srgbClr val="2A2F3A"/>
          </a:solidFill>
          <a:ln/>
        </p:spPr>
      </p:sp>
      <p:sp>
        <p:nvSpPr>
          <p:cNvPr id="27" name="Text 25"/>
          <p:cNvSpPr/>
          <p:nvPr/>
        </p:nvSpPr>
        <p:spPr>
          <a:xfrm>
            <a:off x="1057275" y="3919537"/>
            <a:ext cx="547431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Defender for Cloud Apps</a:t>
            </a:r>
            <a:endParaRPr lang="en-US" sz="1725" dirty="0"/>
          </a:p>
        </p:txBody>
      </p:sp>
      <p:sp>
        <p:nvSpPr>
          <p:cNvPr id="28" name="Shape 26"/>
          <p:cNvSpPr/>
          <p:nvPr/>
        </p:nvSpPr>
        <p:spPr>
          <a:xfrm>
            <a:off x="6506691" y="3814763"/>
            <a:ext cx="10866909" cy="476250"/>
          </a:xfrm>
          <a:prstGeom prst="rect">
            <a:avLst/>
          </a:prstGeom>
          <a:solidFill>
            <a:srgbClr val="FFFFFF">
              <a:alpha val="2000"/>
            </a:srgbClr>
          </a:solidFill>
          <a:ln/>
        </p:spPr>
      </p:sp>
      <p:sp>
        <p:nvSpPr>
          <p:cNvPr id="29" name="Shape 27"/>
          <p:cNvSpPr/>
          <p:nvPr/>
        </p:nvSpPr>
        <p:spPr>
          <a:xfrm>
            <a:off x="6506691" y="4281488"/>
            <a:ext cx="10866909" cy="9525"/>
          </a:xfrm>
          <a:prstGeom prst="rect">
            <a:avLst/>
          </a:prstGeom>
          <a:solidFill>
            <a:srgbClr val="2A2F3A"/>
          </a:solidFill>
          <a:ln/>
        </p:spPr>
      </p:sp>
      <p:sp>
        <p:nvSpPr>
          <p:cNvPr id="30" name="Text 28"/>
          <p:cNvSpPr/>
          <p:nvPr/>
        </p:nvSpPr>
        <p:spPr>
          <a:xfrm>
            <a:off x="6649566" y="3919537"/>
            <a:ext cx="1090716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Risky SaaS application usage and cloud app security risks</a:t>
            </a:r>
            <a:endParaRPr lang="en-US" sz="1725" dirty="0"/>
          </a:p>
        </p:txBody>
      </p:sp>
      <p:sp>
        <p:nvSpPr>
          <p:cNvPr id="31" name="Shape 29"/>
          <p:cNvSpPr/>
          <p:nvPr/>
        </p:nvSpPr>
        <p:spPr>
          <a:xfrm>
            <a:off x="914400" y="4757738"/>
            <a:ext cx="5592291" cy="9525"/>
          </a:xfrm>
          <a:prstGeom prst="rect">
            <a:avLst/>
          </a:prstGeom>
          <a:solidFill>
            <a:srgbClr val="2A2F3A"/>
          </a:solidFill>
          <a:ln/>
        </p:spPr>
      </p:sp>
      <p:sp>
        <p:nvSpPr>
          <p:cNvPr id="32" name="Text 30"/>
          <p:cNvSpPr/>
          <p:nvPr/>
        </p:nvSpPr>
        <p:spPr>
          <a:xfrm>
            <a:off x="1057275" y="4395787"/>
            <a:ext cx="547431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Microsoft Entra ID</a:t>
            </a:r>
            <a:endParaRPr lang="en-US" sz="1725" dirty="0"/>
          </a:p>
        </p:txBody>
      </p:sp>
      <p:sp>
        <p:nvSpPr>
          <p:cNvPr id="33" name="Shape 31"/>
          <p:cNvSpPr/>
          <p:nvPr/>
        </p:nvSpPr>
        <p:spPr>
          <a:xfrm>
            <a:off x="6506691" y="4757738"/>
            <a:ext cx="10866909" cy="9525"/>
          </a:xfrm>
          <a:prstGeom prst="rect">
            <a:avLst/>
          </a:prstGeom>
          <a:solidFill>
            <a:srgbClr val="2A2F3A"/>
          </a:solidFill>
          <a:ln/>
        </p:spPr>
      </p:sp>
      <p:sp>
        <p:nvSpPr>
          <p:cNvPr id="34" name="Text 32"/>
          <p:cNvSpPr/>
          <p:nvPr/>
        </p:nvSpPr>
        <p:spPr>
          <a:xfrm>
            <a:off x="6649566" y="4395787"/>
            <a:ext cx="1090716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Compromised identities and identity risk signals</a:t>
            </a:r>
            <a:endParaRPr lang="en-US" sz="1725" dirty="0"/>
          </a:p>
        </p:txBody>
      </p:sp>
      <p:sp>
        <p:nvSpPr>
          <p:cNvPr id="35" name="Shape 33"/>
          <p:cNvSpPr/>
          <p:nvPr/>
        </p:nvSpPr>
        <p:spPr>
          <a:xfrm>
            <a:off x="914400" y="4767263"/>
            <a:ext cx="5592291" cy="476250"/>
          </a:xfrm>
          <a:prstGeom prst="rect">
            <a:avLst/>
          </a:prstGeom>
          <a:solidFill>
            <a:srgbClr val="FFFFFF">
              <a:alpha val="2000"/>
            </a:srgbClr>
          </a:solidFill>
          <a:ln/>
        </p:spPr>
      </p:sp>
      <p:sp>
        <p:nvSpPr>
          <p:cNvPr id="36" name="Shape 34"/>
          <p:cNvSpPr/>
          <p:nvPr/>
        </p:nvSpPr>
        <p:spPr>
          <a:xfrm>
            <a:off x="914400" y="5233988"/>
            <a:ext cx="5592291" cy="9525"/>
          </a:xfrm>
          <a:prstGeom prst="rect">
            <a:avLst/>
          </a:prstGeom>
          <a:solidFill>
            <a:srgbClr val="2A2F3A"/>
          </a:solidFill>
          <a:ln/>
        </p:spPr>
      </p:sp>
      <p:sp>
        <p:nvSpPr>
          <p:cNvPr id="37" name="Text 35"/>
          <p:cNvSpPr/>
          <p:nvPr/>
        </p:nvSpPr>
        <p:spPr>
          <a:xfrm>
            <a:off x="1057275" y="4872038"/>
            <a:ext cx="547431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Defender for Identity</a:t>
            </a:r>
            <a:endParaRPr lang="en-US" sz="1725" dirty="0"/>
          </a:p>
        </p:txBody>
      </p:sp>
      <p:sp>
        <p:nvSpPr>
          <p:cNvPr id="38" name="Shape 36"/>
          <p:cNvSpPr/>
          <p:nvPr/>
        </p:nvSpPr>
        <p:spPr>
          <a:xfrm>
            <a:off x="6506691" y="4767263"/>
            <a:ext cx="10866909" cy="476250"/>
          </a:xfrm>
          <a:prstGeom prst="rect">
            <a:avLst/>
          </a:prstGeom>
          <a:solidFill>
            <a:srgbClr val="FFFFFF">
              <a:alpha val="2000"/>
            </a:srgbClr>
          </a:solidFill>
          <a:ln/>
        </p:spPr>
      </p:sp>
      <p:sp>
        <p:nvSpPr>
          <p:cNvPr id="39" name="Shape 37"/>
          <p:cNvSpPr/>
          <p:nvPr/>
        </p:nvSpPr>
        <p:spPr>
          <a:xfrm>
            <a:off x="6506691" y="5233988"/>
            <a:ext cx="10866909" cy="9525"/>
          </a:xfrm>
          <a:prstGeom prst="rect">
            <a:avLst/>
          </a:prstGeom>
          <a:solidFill>
            <a:srgbClr val="2A2F3A"/>
          </a:solidFill>
          <a:ln/>
        </p:spPr>
      </p:sp>
      <p:sp>
        <p:nvSpPr>
          <p:cNvPr id="40" name="Text 38"/>
          <p:cNvSpPr/>
          <p:nvPr/>
        </p:nvSpPr>
        <p:spPr>
          <a:xfrm>
            <a:off x="6649566" y="4872038"/>
            <a:ext cx="1090716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On-premises and hybrid identity attacks against domain infrastructure</a:t>
            </a:r>
            <a:endParaRPr lang="en-US" sz="1725" dirty="0"/>
          </a:p>
        </p:txBody>
      </p:sp>
      <p:sp>
        <p:nvSpPr>
          <p:cNvPr id="41" name="Shape 39"/>
          <p:cNvSpPr/>
          <p:nvPr/>
        </p:nvSpPr>
        <p:spPr>
          <a:xfrm>
            <a:off x="914400" y="5438775"/>
            <a:ext cx="16459200" cy="700088"/>
          </a:xfrm>
          <a:prstGeom prst="roundRect">
            <a:avLst>
              <a:gd name="adj" fmla="val 21769"/>
            </a:avLst>
          </a:prstGeom>
          <a:solidFill>
            <a:srgbClr val="FFFFFF">
              <a:alpha val="2000"/>
            </a:srgbClr>
          </a:solidFill>
          <a:ln w="9525">
            <a:solidFill>
              <a:srgbClr val="2A2F3A"/>
            </a:solidFill>
            <a:prstDash val="solid"/>
          </a:ln>
        </p:spPr>
      </p:sp>
      <p:sp>
        <p:nvSpPr>
          <p:cNvPr id="42" name="Text 40"/>
          <p:cNvSpPr/>
          <p:nvPr/>
        </p:nvSpPr>
        <p:spPr>
          <a:xfrm>
            <a:off x="1152525" y="5676900"/>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B8C0CF"/>
                </a:solidFill>
                <a:latin typeface="Arial" pitchFamily="34" charset="0"/>
                <a:ea typeface="Arial" pitchFamily="34" charset="-122"/>
                <a:cs typeface="Arial" pitchFamily="34" charset="-120"/>
              </a:rPr>
              <a:t>Exam insight: most Domain 2 questions begin by describing a symptom — your first job is identifying which product owns that signal.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75272"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03822"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2.1 · Task 1 of 10</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Microsoft Defender for Office 365</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Investigate and remediate email and collaboration threats — phishing campaigns, malicious attachments, and weaponised links — including incidents where automatic attack disruption has already contained the threat.</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TYPICAL REMEDIATION</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Soft-delete or purge delivered messages, block sender or URL, and remediate affected mailboxes across the tenant.</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Where attack disruption has acted, your job shifts from containing to validating and documenting what it did.</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94024"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22574"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2.1 · Task 2 of 10</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Threats Identified by Microsoft Purview</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Investigate and remediate threats and compromised entities that Purview surfaces through its data governance, compliance, and insider risk signals — where the evidence is about data handling rather than malware.</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Some of the most damaging incidents are data exfiltration by an authorised user, invisible to endpoint tooling.</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Purview Audit and eDiscovery Content search, covered in Objective 2.3.</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97745"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26295"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2.1 · Task 3 of 10</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Defender for Cloud Workload Protections</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Investigate and remediate alerts and incidents raised against cloud and hybrid workloads — servers, containers, databases, and storage — across multi-cloud estates.</a:t>
            </a:r>
            <a:endParaRPr lang="en-US" sz="1800" dirty="0"/>
          </a:p>
        </p:txBody>
      </p:sp>
      <p:sp>
        <p:nvSpPr>
          <p:cNvPr id="7" name="Shape 5"/>
          <p:cNvSpPr/>
          <p:nvPr/>
        </p:nvSpPr>
        <p:spPr>
          <a:xfrm>
            <a:off x="914400" y="2440260"/>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2678385"/>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SCOPE</a:t>
            </a:r>
            <a:endParaRPr lang="en-US" sz="1350" dirty="0"/>
          </a:p>
        </p:txBody>
      </p:sp>
      <p:sp>
        <p:nvSpPr>
          <p:cNvPr id="9" name="Text 7"/>
          <p:cNvSpPr/>
          <p:nvPr/>
        </p:nvSpPr>
        <p:spPr>
          <a:xfrm>
            <a:off x="1152525" y="2959373"/>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Covers Azure, and connected AWS and GCP workloads, in a single alerting surface.</a:t>
            </a:r>
            <a:endParaRPr lang="en-US" sz="1350" dirty="0"/>
          </a:p>
        </p:txBody>
      </p:sp>
      <p:sp>
        <p:nvSpPr>
          <p:cNvPr id="10" name="Shape 8"/>
          <p:cNvSpPr/>
          <p:nvPr/>
        </p:nvSpPr>
        <p:spPr>
          <a:xfrm>
            <a:off x="9229725" y="2440260"/>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2678385"/>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2959373"/>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Distinguish workload protection alerts (runtime threats) from posture recommendations (misconfigurations).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200275"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28825"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2.1 · Task 4 of 10</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Microsoft Defender for Cloud Apps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Investigate and remediate security risks arising from SaaS application usage — unsanctioned apps, risky OAuth grants, anomalous file sharing, and suspicious session behaviour.</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TYPICAL REMEDIATION</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Revoke an OAuth app's consent, block an unsanctioned app, or suspend a risky user session.</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SaaS is often the least-monitored part of the estate, and a common route to data loss.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96926"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25476"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2.1 · Task 5 of 10</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Compromised Identities in Microsoft Entra ID</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Investigate and remediate identities Entra ID flags as compromised or at risk — impossible-travel sign-ins, leaked credentials, anomalous token use, and other identity risk detections.</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TYPICAL REMEDIATION</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Force password reset, revoke refresh tokens and active sessions, require re-authentication, or disable the account.</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Resetting a password without revoking existing tokens can leave an attacker's session alive.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99829"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28379"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2.1 · Task 6 of 10</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Microsoft Defender for Identity</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Investigate and remediate identity attacks against on-premises and hybrid directory infrastructure — reconnaissance, credential theft, lateral movement, and domain dominance techniques.</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DISTINCT FROM ENTRA ID</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Entra ID surfaces cloud identity risk; Defender for Identity detects attacks against the on-premises domain itself.</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EXAM INSIGHT</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 scenario naming domain controllers, Kerberos, or LSASS points to Defender for Identity, not Entra ID.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88518"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17068"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2.1 · Task 7 of 10</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Alerts &amp; Incidents Identified by Microsoft Sentinel</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Investigate and remediate incidents that Sentinel raised from the analytics rules, anomalies, and threat intelligence matching you configured in Module 1 — often correlating signals no single Defender product could see alone.</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Sentinel is where third-party and custom-source signals join Microsoft-native ones in a single incident.</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Automation rules and playbooks (Module 1) can pre-triage or auto-respond before an analyst opens the incident.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201242"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29792"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2.1 · Task 8 of 10</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Agentic AI &amp; Embedded Microsoft Security Copilot</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Use agentic AI capabilities — including Security Copilot embedded directly in the Defender portal — to accelerate investigation: summarising incidents, explaining scripts and commands, generating KQL, and recommending response actions.</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New to the 28 July 2026 outline — expect explicit exam coverage of Copilot-assisted investigation.</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Copilot accelerates analyst judgement; it does not replace validating findings before acting on them.</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99829"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028379"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2.1 · Task 9 of 10</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Investigating Complex Attacks</a:t>
            </a:r>
            <a:endParaRPr lang="en-US" sz="4050" dirty="0"/>
          </a:p>
        </p:txBody>
      </p:sp>
      <p:sp>
        <p:nvSpPr>
          <p:cNvPr id="6" name="Text 4"/>
          <p:cNvSpPr/>
          <p:nvPr/>
        </p:nvSpPr>
        <p:spPr>
          <a:xfrm>
            <a:off x="914400" y="191452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Defender XDR correlates related activity into a single incident so a sophisticated attack can be understood as one campaign rather than dozens of unrelated alerts.</a:t>
            </a:r>
            <a:endParaRPr lang="en-US" sz="1800" dirty="0"/>
          </a:p>
        </p:txBody>
      </p:sp>
      <p:sp>
        <p:nvSpPr>
          <p:cNvPr id="7" name="Shape 5"/>
          <p:cNvSpPr/>
          <p:nvPr/>
        </p:nvSpPr>
        <p:spPr>
          <a:xfrm>
            <a:off x="914400" y="2440260"/>
            <a:ext cx="5384750"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267838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MULTI-STAGE</a:t>
            </a:r>
            <a:endParaRPr lang="en-US" sz="1350" dirty="0"/>
          </a:p>
        </p:txBody>
      </p:sp>
      <p:sp>
        <p:nvSpPr>
          <p:cNvPr id="9" name="Text 7"/>
          <p:cNvSpPr/>
          <p:nvPr/>
        </p:nvSpPr>
        <p:spPr>
          <a:xfrm>
            <a:off x="1152525" y="2959373"/>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The attack progresses through distinct phases — initial access, persistence, escalation, exfiltration</a:t>
            </a:r>
            <a:endParaRPr lang="en-US" sz="1350" dirty="0"/>
          </a:p>
        </p:txBody>
      </p:sp>
      <p:sp>
        <p:nvSpPr>
          <p:cNvPr id="10" name="Shape 8"/>
          <p:cNvSpPr/>
          <p:nvPr/>
        </p:nvSpPr>
        <p:spPr>
          <a:xfrm>
            <a:off x="6451550" y="2440260"/>
            <a:ext cx="538482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6689675" y="2678385"/>
            <a:ext cx="5399432"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MULTI-DOMAIN</a:t>
            </a:r>
            <a:endParaRPr lang="en-US" sz="1350" dirty="0"/>
          </a:p>
        </p:txBody>
      </p:sp>
      <p:sp>
        <p:nvSpPr>
          <p:cNvPr id="12" name="Text 10"/>
          <p:cNvSpPr/>
          <p:nvPr/>
        </p:nvSpPr>
        <p:spPr>
          <a:xfrm>
            <a:off x="6689675" y="2959373"/>
            <a:ext cx="5055832"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The attack spans several signal domains — email, identity, endpoint, and cloud apps together</a:t>
            </a:r>
            <a:endParaRPr lang="en-US" sz="1350" dirty="0"/>
          </a:p>
        </p:txBody>
      </p:sp>
      <p:sp>
        <p:nvSpPr>
          <p:cNvPr id="13" name="Shape 11"/>
          <p:cNvSpPr/>
          <p:nvPr/>
        </p:nvSpPr>
        <p:spPr>
          <a:xfrm>
            <a:off x="11988775" y="2440260"/>
            <a:ext cx="5384750" cy="1271588"/>
          </a:xfrm>
          <a:prstGeom prst="roundRect">
            <a:avLst>
              <a:gd name="adj" fmla="val 11985"/>
            </a:avLst>
          </a:prstGeom>
          <a:solidFill>
            <a:srgbClr val="FFFFFF">
              <a:alpha val="2000"/>
            </a:srgbClr>
          </a:solidFill>
          <a:ln w="9525">
            <a:solidFill>
              <a:srgbClr val="2A2F3A"/>
            </a:solidFill>
            <a:prstDash val="solid"/>
          </a:ln>
        </p:spPr>
      </p:sp>
      <p:sp>
        <p:nvSpPr>
          <p:cNvPr id="14" name="Text 12"/>
          <p:cNvSpPr/>
          <p:nvPr/>
        </p:nvSpPr>
        <p:spPr>
          <a:xfrm>
            <a:off x="12226900" y="267838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LATERAL MOVEMENT</a:t>
            </a:r>
            <a:endParaRPr lang="en-US" sz="1350" dirty="0"/>
          </a:p>
        </p:txBody>
      </p:sp>
      <p:sp>
        <p:nvSpPr>
          <p:cNvPr id="15" name="Text 13"/>
          <p:cNvSpPr/>
          <p:nvPr/>
        </p:nvSpPr>
        <p:spPr>
          <a:xfrm>
            <a:off x="12226900" y="2959373"/>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The attacker pivots from one compromised asset to others inside the estate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274615"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2103165"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2.1 · Task 10 of 10</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Manage Security Incidents Using Case Management</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Track incidents as structured cases through their lifecycle — ownership, status, linked evidence, tasks, and notes — so investigation work is auditable and handovers between analysts do not lose context.</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Turns ad-hoc triage into a repeatable, reportable process the SOC can measure and audit.</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Sentinel automation rules can assign owners and set severity automatically as a case opens.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CRITICAL DISTINCTION</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Entra ID vs Defender for Identity</a:t>
            </a:r>
            <a:endParaRPr lang="en-US" sz="4050" dirty="0"/>
          </a:p>
        </p:txBody>
      </p:sp>
      <p:sp>
        <p:nvSpPr>
          <p:cNvPr id="5" name="Shape 3"/>
          <p:cNvSpPr/>
          <p:nvPr/>
        </p:nvSpPr>
        <p:spPr>
          <a:xfrm>
            <a:off x="914400" y="1871663"/>
            <a:ext cx="2344564" cy="514350"/>
          </a:xfrm>
          <a:prstGeom prst="rect">
            <a:avLst/>
          </a:prstGeom>
          <a:solidFill>
            <a:srgbClr val="FF6A00">
              <a:alpha val="18000"/>
            </a:srgbClr>
          </a:solidFill>
          <a:ln/>
        </p:spPr>
      </p:sp>
      <p:sp>
        <p:nvSpPr>
          <p:cNvPr id="6" name="Shape 4"/>
          <p:cNvSpPr/>
          <p:nvPr/>
        </p:nvSpPr>
        <p:spPr>
          <a:xfrm>
            <a:off x="914400" y="2376488"/>
            <a:ext cx="2344564" cy="9525"/>
          </a:xfrm>
          <a:prstGeom prst="rect">
            <a:avLst/>
          </a:prstGeom>
          <a:solidFill>
            <a:srgbClr val="B85100"/>
          </a:solidFill>
          <a:ln/>
        </p:spPr>
      </p:sp>
      <p:sp>
        <p:nvSpPr>
          <p:cNvPr id="7" name="Text 5"/>
          <p:cNvSpPr/>
          <p:nvPr/>
        </p:nvSpPr>
        <p:spPr>
          <a:xfrm>
            <a:off x="1057275" y="1976438"/>
            <a:ext cx="2135014"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Property</a:t>
            </a:r>
            <a:endParaRPr lang="en-US" sz="2025" dirty="0"/>
          </a:p>
        </p:txBody>
      </p:sp>
      <p:sp>
        <p:nvSpPr>
          <p:cNvPr id="8" name="Shape 6"/>
          <p:cNvSpPr/>
          <p:nvPr/>
        </p:nvSpPr>
        <p:spPr>
          <a:xfrm>
            <a:off x="3258964" y="1871663"/>
            <a:ext cx="6391796" cy="514350"/>
          </a:xfrm>
          <a:prstGeom prst="rect">
            <a:avLst/>
          </a:prstGeom>
          <a:solidFill>
            <a:srgbClr val="FF6A00">
              <a:alpha val="18000"/>
            </a:srgbClr>
          </a:solidFill>
          <a:ln/>
        </p:spPr>
      </p:sp>
      <p:sp>
        <p:nvSpPr>
          <p:cNvPr id="9" name="Shape 7"/>
          <p:cNvSpPr/>
          <p:nvPr/>
        </p:nvSpPr>
        <p:spPr>
          <a:xfrm>
            <a:off x="3258964" y="2376488"/>
            <a:ext cx="6391796" cy="9525"/>
          </a:xfrm>
          <a:prstGeom prst="rect">
            <a:avLst/>
          </a:prstGeom>
          <a:solidFill>
            <a:srgbClr val="B85100"/>
          </a:solidFill>
          <a:ln/>
        </p:spPr>
      </p:sp>
      <p:sp>
        <p:nvSpPr>
          <p:cNvPr id="10" name="Text 8"/>
          <p:cNvSpPr/>
          <p:nvPr/>
        </p:nvSpPr>
        <p:spPr>
          <a:xfrm>
            <a:off x="3401839" y="1976438"/>
            <a:ext cx="6297800"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Microsoft Entra ID</a:t>
            </a:r>
            <a:endParaRPr lang="en-US" sz="2025" dirty="0"/>
          </a:p>
        </p:txBody>
      </p:sp>
      <p:sp>
        <p:nvSpPr>
          <p:cNvPr id="11" name="Shape 9"/>
          <p:cNvSpPr/>
          <p:nvPr/>
        </p:nvSpPr>
        <p:spPr>
          <a:xfrm>
            <a:off x="9650760" y="1871663"/>
            <a:ext cx="7722840" cy="514350"/>
          </a:xfrm>
          <a:prstGeom prst="rect">
            <a:avLst/>
          </a:prstGeom>
          <a:solidFill>
            <a:srgbClr val="FF6A00">
              <a:alpha val="18000"/>
            </a:srgbClr>
          </a:solidFill>
          <a:ln/>
        </p:spPr>
      </p:sp>
      <p:sp>
        <p:nvSpPr>
          <p:cNvPr id="12" name="Shape 10"/>
          <p:cNvSpPr/>
          <p:nvPr/>
        </p:nvSpPr>
        <p:spPr>
          <a:xfrm>
            <a:off x="9650760" y="2376488"/>
            <a:ext cx="7722840" cy="9525"/>
          </a:xfrm>
          <a:prstGeom prst="rect">
            <a:avLst/>
          </a:prstGeom>
          <a:solidFill>
            <a:srgbClr val="B85100"/>
          </a:solidFill>
          <a:ln/>
        </p:spPr>
      </p:sp>
      <p:sp>
        <p:nvSpPr>
          <p:cNvPr id="13" name="Text 11"/>
          <p:cNvSpPr/>
          <p:nvPr/>
        </p:nvSpPr>
        <p:spPr>
          <a:xfrm>
            <a:off x="9793635" y="1976438"/>
            <a:ext cx="7668775"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Defender for Identity</a:t>
            </a:r>
            <a:endParaRPr lang="en-US" sz="2025" dirty="0"/>
          </a:p>
        </p:txBody>
      </p:sp>
      <p:sp>
        <p:nvSpPr>
          <p:cNvPr id="14" name="Shape 12"/>
          <p:cNvSpPr/>
          <p:nvPr/>
        </p:nvSpPr>
        <p:spPr>
          <a:xfrm>
            <a:off x="914400" y="2852738"/>
            <a:ext cx="2344564" cy="9525"/>
          </a:xfrm>
          <a:prstGeom prst="rect">
            <a:avLst/>
          </a:prstGeom>
          <a:solidFill>
            <a:srgbClr val="2A2F3A"/>
          </a:solidFill>
          <a:ln/>
        </p:spPr>
      </p:sp>
      <p:sp>
        <p:nvSpPr>
          <p:cNvPr id="15" name="Text 13"/>
          <p:cNvSpPr/>
          <p:nvPr/>
        </p:nvSpPr>
        <p:spPr>
          <a:xfrm>
            <a:off x="1057275" y="2490788"/>
            <a:ext cx="213501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Primary scope</a:t>
            </a:r>
            <a:endParaRPr lang="en-US" sz="1725" dirty="0"/>
          </a:p>
        </p:txBody>
      </p:sp>
      <p:sp>
        <p:nvSpPr>
          <p:cNvPr id="16" name="Shape 14"/>
          <p:cNvSpPr/>
          <p:nvPr/>
        </p:nvSpPr>
        <p:spPr>
          <a:xfrm>
            <a:off x="3258964" y="2852738"/>
            <a:ext cx="6391796" cy="9525"/>
          </a:xfrm>
          <a:prstGeom prst="rect">
            <a:avLst/>
          </a:prstGeom>
          <a:solidFill>
            <a:srgbClr val="2A2F3A"/>
          </a:solidFill>
          <a:ln/>
        </p:spPr>
      </p:sp>
      <p:sp>
        <p:nvSpPr>
          <p:cNvPr id="17" name="Text 15"/>
          <p:cNvSpPr/>
          <p:nvPr/>
        </p:nvSpPr>
        <p:spPr>
          <a:xfrm>
            <a:off x="3401839" y="2490788"/>
            <a:ext cx="629780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Cloud identity risk</a:t>
            </a:r>
            <a:endParaRPr lang="en-US" sz="1725" dirty="0"/>
          </a:p>
        </p:txBody>
      </p:sp>
      <p:sp>
        <p:nvSpPr>
          <p:cNvPr id="18" name="Shape 16"/>
          <p:cNvSpPr/>
          <p:nvPr/>
        </p:nvSpPr>
        <p:spPr>
          <a:xfrm>
            <a:off x="9650760" y="2852738"/>
            <a:ext cx="7722840" cy="9525"/>
          </a:xfrm>
          <a:prstGeom prst="rect">
            <a:avLst/>
          </a:prstGeom>
          <a:solidFill>
            <a:srgbClr val="2A2F3A"/>
          </a:solidFill>
          <a:ln/>
        </p:spPr>
      </p:sp>
      <p:sp>
        <p:nvSpPr>
          <p:cNvPr id="19" name="Text 17"/>
          <p:cNvSpPr/>
          <p:nvPr/>
        </p:nvSpPr>
        <p:spPr>
          <a:xfrm>
            <a:off x="9793635" y="2490788"/>
            <a:ext cx="766877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On-premises and hybrid directory attacks</a:t>
            </a:r>
            <a:endParaRPr lang="en-US" sz="1725" dirty="0"/>
          </a:p>
        </p:txBody>
      </p:sp>
      <p:sp>
        <p:nvSpPr>
          <p:cNvPr id="20" name="Shape 18"/>
          <p:cNvSpPr/>
          <p:nvPr/>
        </p:nvSpPr>
        <p:spPr>
          <a:xfrm>
            <a:off x="914400" y="2862263"/>
            <a:ext cx="2344564" cy="476250"/>
          </a:xfrm>
          <a:prstGeom prst="rect">
            <a:avLst/>
          </a:prstGeom>
          <a:solidFill>
            <a:srgbClr val="FFFFFF">
              <a:alpha val="2000"/>
            </a:srgbClr>
          </a:solidFill>
          <a:ln/>
        </p:spPr>
      </p:sp>
      <p:sp>
        <p:nvSpPr>
          <p:cNvPr id="21" name="Shape 19"/>
          <p:cNvSpPr/>
          <p:nvPr/>
        </p:nvSpPr>
        <p:spPr>
          <a:xfrm>
            <a:off x="914400" y="3328988"/>
            <a:ext cx="2344564" cy="9525"/>
          </a:xfrm>
          <a:prstGeom prst="rect">
            <a:avLst/>
          </a:prstGeom>
          <a:solidFill>
            <a:srgbClr val="2A2F3A"/>
          </a:solidFill>
          <a:ln/>
        </p:spPr>
      </p:sp>
      <p:sp>
        <p:nvSpPr>
          <p:cNvPr id="22" name="Text 20"/>
          <p:cNvSpPr/>
          <p:nvPr/>
        </p:nvSpPr>
        <p:spPr>
          <a:xfrm>
            <a:off x="1057275" y="2967038"/>
            <a:ext cx="213501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Typical detections</a:t>
            </a:r>
            <a:endParaRPr lang="en-US" sz="1725" dirty="0"/>
          </a:p>
        </p:txBody>
      </p:sp>
      <p:sp>
        <p:nvSpPr>
          <p:cNvPr id="23" name="Shape 21"/>
          <p:cNvSpPr/>
          <p:nvPr/>
        </p:nvSpPr>
        <p:spPr>
          <a:xfrm>
            <a:off x="3258964" y="2862263"/>
            <a:ext cx="6391796" cy="476250"/>
          </a:xfrm>
          <a:prstGeom prst="rect">
            <a:avLst/>
          </a:prstGeom>
          <a:solidFill>
            <a:srgbClr val="FFFFFF">
              <a:alpha val="2000"/>
            </a:srgbClr>
          </a:solidFill>
          <a:ln/>
        </p:spPr>
      </p:sp>
      <p:sp>
        <p:nvSpPr>
          <p:cNvPr id="24" name="Shape 22"/>
          <p:cNvSpPr/>
          <p:nvPr/>
        </p:nvSpPr>
        <p:spPr>
          <a:xfrm>
            <a:off x="3258964" y="3328988"/>
            <a:ext cx="6391796" cy="9525"/>
          </a:xfrm>
          <a:prstGeom prst="rect">
            <a:avLst/>
          </a:prstGeom>
          <a:solidFill>
            <a:srgbClr val="2A2F3A"/>
          </a:solidFill>
          <a:ln/>
        </p:spPr>
      </p:sp>
      <p:sp>
        <p:nvSpPr>
          <p:cNvPr id="25" name="Text 23"/>
          <p:cNvSpPr/>
          <p:nvPr/>
        </p:nvSpPr>
        <p:spPr>
          <a:xfrm>
            <a:off x="3401839" y="2967038"/>
            <a:ext cx="629780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Impossible travel, leaked credentials, anomalous token use</a:t>
            </a:r>
            <a:endParaRPr lang="en-US" sz="1725" dirty="0"/>
          </a:p>
        </p:txBody>
      </p:sp>
      <p:sp>
        <p:nvSpPr>
          <p:cNvPr id="26" name="Shape 24"/>
          <p:cNvSpPr/>
          <p:nvPr/>
        </p:nvSpPr>
        <p:spPr>
          <a:xfrm>
            <a:off x="9650760" y="2862263"/>
            <a:ext cx="7722840" cy="476250"/>
          </a:xfrm>
          <a:prstGeom prst="rect">
            <a:avLst/>
          </a:prstGeom>
          <a:solidFill>
            <a:srgbClr val="FFFFFF">
              <a:alpha val="2000"/>
            </a:srgbClr>
          </a:solidFill>
          <a:ln/>
        </p:spPr>
      </p:sp>
      <p:sp>
        <p:nvSpPr>
          <p:cNvPr id="27" name="Shape 25"/>
          <p:cNvSpPr/>
          <p:nvPr/>
        </p:nvSpPr>
        <p:spPr>
          <a:xfrm>
            <a:off x="9650760" y="3328988"/>
            <a:ext cx="7722840" cy="9525"/>
          </a:xfrm>
          <a:prstGeom prst="rect">
            <a:avLst/>
          </a:prstGeom>
          <a:solidFill>
            <a:srgbClr val="2A2F3A"/>
          </a:solidFill>
          <a:ln/>
        </p:spPr>
      </p:sp>
      <p:sp>
        <p:nvSpPr>
          <p:cNvPr id="28" name="Text 26"/>
          <p:cNvSpPr/>
          <p:nvPr/>
        </p:nvSpPr>
        <p:spPr>
          <a:xfrm>
            <a:off x="9793635" y="2967038"/>
            <a:ext cx="766877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Reconnaissance, credential theft, lateral movement, domain dominance</a:t>
            </a:r>
            <a:endParaRPr lang="en-US" sz="1725" dirty="0"/>
          </a:p>
        </p:txBody>
      </p:sp>
      <p:sp>
        <p:nvSpPr>
          <p:cNvPr id="29" name="Shape 27"/>
          <p:cNvSpPr/>
          <p:nvPr/>
        </p:nvSpPr>
        <p:spPr>
          <a:xfrm>
            <a:off x="914400" y="3805237"/>
            <a:ext cx="2344564" cy="9525"/>
          </a:xfrm>
          <a:prstGeom prst="rect">
            <a:avLst/>
          </a:prstGeom>
          <a:solidFill>
            <a:srgbClr val="2A2F3A"/>
          </a:solidFill>
          <a:ln/>
        </p:spPr>
      </p:sp>
      <p:sp>
        <p:nvSpPr>
          <p:cNvPr id="30" name="Text 28"/>
          <p:cNvSpPr/>
          <p:nvPr/>
        </p:nvSpPr>
        <p:spPr>
          <a:xfrm>
            <a:off x="1057275" y="3443288"/>
            <a:ext cx="213501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Scenario keywords</a:t>
            </a:r>
            <a:endParaRPr lang="en-US" sz="1725" dirty="0"/>
          </a:p>
        </p:txBody>
      </p:sp>
      <p:sp>
        <p:nvSpPr>
          <p:cNvPr id="31" name="Shape 29"/>
          <p:cNvSpPr/>
          <p:nvPr/>
        </p:nvSpPr>
        <p:spPr>
          <a:xfrm>
            <a:off x="3258964" y="3805237"/>
            <a:ext cx="6391796" cy="9525"/>
          </a:xfrm>
          <a:prstGeom prst="rect">
            <a:avLst/>
          </a:prstGeom>
          <a:solidFill>
            <a:srgbClr val="2A2F3A"/>
          </a:solidFill>
          <a:ln/>
        </p:spPr>
      </p:sp>
      <p:sp>
        <p:nvSpPr>
          <p:cNvPr id="32" name="Text 30"/>
          <p:cNvSpPr/>
          <p:nvPr/>
        </p:nvSpPr>
        <p:spPr>
          <a:xfrm>
            <a:off x="3401839" y="3443288"/>
            <a:ext cx="629780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Sign-in risk, conditional access, token</a:t>
            </a:r>
            <a:endParaRPr lang="en-US" sz="1725" dirty="0"/>
          </a:p>
        </p:txBody>
      </p:sp>
      <p:sp>
        <p:nvSpPr>
          <p:cNvPr id="33" name="Shape 31"/>
          <p:cNvSpPr/>
          <p:nvPr/>
        </p:nvSpPr>
        <p:spPr>
          <a:xfrm>
            <a:off x="9650760" y="3805237"/>
            <a:ext cx="7722840" cy="9525"/>
          </a:xfrm>
          <a:prstGeom prst="rect">
            <a:avLst/>
          </a:prstGeom>
          <a:solidFill>
            <a:srgbClr val="2A2F3A"/>
          </a:solidFill>
          <a:ln/>
        </p:spPr>
      </p:sp>
      <p:sp>
        <p:nvSpPr>
          <p:cNvPr id="34" name="Text 32"/>
          <p:cNvSpPr/>
          <p:nvPr/>
        </p:nvSpPr>
        <p:spPr>
          <a:xfrm>
            <a:off x="9793635" y="3443288"/>
            <a:ext cx="766877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Domain controller, Kerberos, LSASS, DCSync</a:t>
            </a:r>
            <a:endParaRPr lang="en-US" sz="1725" dirty="0"/>
          </a:p>
        </p:txBody>
      </p:sp>
      <p:sp>
        <p:nvSpPr>
          <p:cNvPr id="35" name="Shape 33"/>
          <p:cNvSpPr/>
          <p:nvPr/>
        </p:nvSpPr>
        <p:spPr>
          <a:xfrm>
            <a:off x="914400" y="3814763"/>
            <a:ext cx="2344564" cy="476250"/>
          </a:xfrm>
          <a:prstGeom prst="rect">
            <a:avLst/>
          </a:prstGeom>
          <a:solidFill>
            <a:srgbClr val="FFFFFF">
              <a:alpha val="2000"/>
            </a:srgbClr>
          </a:solidFill>
          <a:ln/>
        </p:spPr>
      </p:sp>
      <p:sp>
        <p:nvSpPr>
          <p:cNvPr id="36" name="Shape 34"/>
          <p:cNvSpPr/>
          <p:nvPr/>
        </p:nvSpPr>
        <p:spPr>
          <a:xfrm>
            <a:off x="914400" y="4281488"/>
            <a:ext cx="2344564" cy="9525"/>
          </a:xfrm>
          <a:prstGeom prst="rect">
            <a:avLst/>
          </a:prstGeom>
          <a:solidFill>
            <a:srgbClr val="2A2F3A"/>
          </a:solidFill>
          <a:ln/>
        </p:spPr>
      </p:sp>
      <p:sp>
        <p:nvSpPr>
          <p:cNvPr id="37" name="Text 35"/>
          <p:cNvSpPr/>
          <p:nvPr/>
        </p:nvSpPr>
        <p:spPr>
          <a:xfrm>
            <a:off x="1057275" y="3919537"/>
            <a:ext cx="2135014"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Typical remediation</a:t>
            </a:r>
            <a:endParaRPr lang="en-US" sz="1725" dirty="0"/>
          </a:p>
        </p:txBody>
      </p:sp>
      <p:sp>
        <p:nvSpPr>
          <p:cNvPr id="38" name="Shape 36"/>
          <p:cNvSpPr/>
          <p:nvPr/>
        </p:nvSpPr>
        <p:spPr>
          <a:xfrm>
            <a:off x="3258964" y="3814763"/>
            <a:ext cx="6391796" cy="476250"/>
          </a:xfrm>
          <a:prstGeom prst="rect">
            <a:avLst/>
          </a:prstGeom>
          <a:solidFill>
            <a:srgbClr val="FFFFFF">
              <a:alpha val="2000"/>
            </a:srgbClr>
          </a:solidFill>
          <a:ln/>
        </p:spPr>
      </p:sp>
      <p:sp>
        <p:nvSpPr>
          <p:cNvPr id="39" name="Shape 37"/>
          <p:cNvSpPr/>
          <p:nvPr/>
        </p:nvSpPr>
        <p:spPr>
          <a:xfrm>
            <a:off x="3258964" y="4281488"/>
            <a:ext cx="6391796" cy="9525"/>
          </a:xfrm>
          <a:prstGeom prst="rect">
            <a:avLst/>
          </a:prstGeom>
          <a:solidFill>
            <a:srgbClr val="2A2F3A"/>
          </a:solidFill>
          <a:ln/>
        </p:spPr>
      </p:sp>
      <p:sp>
        <p:nvSpPr>
          <p:cNvPr id="40" name="Text 38"/>
          <p:cNvSpPr/>
          <p:nvPr/>
        </p:nvSpPr>
        <p:spPr>
          <a:xfrm>
            <a:off x="3401839" y="3919537"/>
            <a:ext cx="629780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Reset password, revoke tokens, require MFA</a:t>
            </a:r>
            <a:endParaRPr lang="en-US" sz="1725" dirty="0"/>
          </a:p>
        </p:txBody>
      </p:sp>
      <p:sp>
        <p:nvSpPr>
          <p:cNvPr id="41" name="Shape 39"/>
          <p:cNvSpPr/>
          <p:nvPr/>
        </p:nvSpPr>
        <p:spPr>
          <a:xfrm>
            <a:off x="9650760" y="3814763"/>
            <a:ext cx="7722840" cy="476250"/>
          </a:xfrm>
          <a:prstGeom prst="rect">
            <a:avLst/>
          </a:prstGeom>
          <a:solidFill>
            <a:srgbClr val="FFFFFF">
              <a:alpha val="2000"/>
            </a:srgbClr>
          </a:solidFill>
          <a:ln/>
        </p:spPr>
      </p:sp>
      <p:sp>
        <p:nvSpPr>
          <p:cNvPr id="42" name="Shape 40"/>
          <p:cNvSpPr/>
          <p:nvPr/>
        </p:nvSpPr>
        <p:spPr>
          <a:xfrm>
            <a:off x="9650760" y="4281488"/>
            <a:ext cx="7722840" cy="9525"/>
          </a:xfrm>
          <a:prstGeom prst="rect">
            <a:avLst/>
          </a:prstGeom>
          <a:solidFill>
            <a:srgbClr val="2A2F3A"/>
          </a:solidFill>
          <a:ln/>
        </p:spPr>
      </p:sp>
      <p:sp>
        <p:nvSpPr>
          <p:cNvPr id="43" name="Text 41"/>
          <p:cNvSpPr/>
          <p:nvPr/>
        </p:nvSpPr>
        <p:spPr>
          <a:xfrm>
            <a:off x="9793635" y="3919537"/>
            <a:ext cx="766877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Contain the account and investigate the affected domain infrastructure</a:t>
            </a:r>
            <a:endParaRPr lang="en-US" sz="17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2.1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Responding Across Every Signal Source</a:t>
            </a:r>
            <a:endParaRPr lang="en-US" sz="4050" dirty="0"/>
          </a:p>
        </p:txBody>
      </p:sp>
      <p:sp>
        <p:nvSpPr>
          <p:cNvPr id="5" name="Shape 3"/>
          <p:cNvSpPr/>
          <p:nvPr/>
        </p:nvSpPr>
        <p:spPr>
          <a:xfrm>
            <a:off x="914400" y="1871663"/>
            <a:ext cx="2717378" cy="514350"/>
          </a:xfrm>
          <a:prstGeom prst="rect">
            <a:avLst/>
          </a:prstGeom>
          <a:solidFill>
            <a:srgbClr val="FF6A00">
              <a:alpha val="18000"/>
            </a:srgbClr>
          </a:solidFill>
          <a:ln/>
        </p:spPr>
      </p:sp>
      <p:sp>
        <p:nvSpPr>
          <p:cNvPr id="6" name="Shape 4"/>
          <p:cNvSpPr/>
          <p:nvPr/>
        </p:nvSpPr>
        <p:spPr>
          <a:xfrm>
            <a:off x="914400" y="2376488"/>
            <a:ext cx="2717378" cy="9525"/>
          </a:xfrm>
          <a:prstGeom prst="rect">
            <a:avLst/>
          </a:prstGeom>
          <a:solidFill>
            <a:srgbClr val="B85100"/>
          </a:solidFill>
          <a:ln/>
        </p:spPr>
      </p:sp>
      <p:sp>
        <p:nvSpPr>
          <p:cNvPr id="7" name="Text 5"/>
          <p:cNvSpPr/>
          <p:nvPr/>
        </p:nvSpPr>
        <p:spPr>
          <a:xfrm>
            <a:off x="1057275" y="1976438"/>
            <a:ext cx="2513150"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Area</a:t>
            </a:r>
            <a:endParaRPr lang="en-US" sz="2025" dirty="0"/>
          </a:p>
        </p:txBody>
      </p:sp>
      <p:sp>
        <p:nvSpPr>
          <p:cNvPr id="8" name="Shape 6"/>
          <p:cNvSpPr/>
          <p:nvPr/>
        </p:nvSpPr>
        <p:spPr>
          <a:xfrm>
            <a:off x="3631778" y="1871663"/>
            <a:ext cx="13741822" cy="514350"/>
          </a:xfrm>
          <a:prstGeom prst="rect">
            <a:avLst/>
          </a:prstGeom>
          <a:solidFill>
            <a:srgbClr val="FF6A00">
              <a:alpha val="18000"/>
            </a:srgbClr>
          </a:solidFill>
          <a:ln/>
        </p:spPr>
      </p:sp>
      <p:sp>
        <p:nvSpPr>
          <p:cNvPr id="9" name="Shape 7"/>
          <p:cNvSpPr/>
          <p:nvPr/>
        </p:nvSpPr>
        <p:spPr>
          <a:xfrm>
            <a:off x="3631778" y="2376488"/>
            <a:ext cx="13741822" cy="9525"/>
          </a:xfrm>
          <a:prstGeom prst="rect">
            <a:avLst/>
          </a:prstGeom>
          <a:solidFill>
            <a:srgbClr val="B85100"/>
          </a:solidFill>
          <a:ln/>
        </p:spPr>
      </p:sp>
      <p:sp>
        <p:nvSpPr>
          <p:cNvPr id="10" name="Text 8"/>
          <p:cNvSpPr/>
          <p:nvPr/>
        </p:nvSpPr>
        <p:spPr>
          <a:xfrm>
            <a:off x="3774653" y="1976438"/>
            <a:ext cx="13868326"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Tasks Covered</a:t>
            </a:r>
            <a:endParaRPr lang="en-US" sz="2025" dirty="0"/>
          </a:p>
        </p:txBody>
      </p:sp>
      <p:sp>
        <p:nvSpPr>
          <p:cNvPr id="11" name="Shape 9"/>
          <p:cNvSpPr/>
          <p:nvPr/>
        </p:nvSpPr>
        <p:spPr>
          <a:xfrm>
            <a:off x="914400" y="3109913"/>
            <a:ext cx="2717378" cy="9525"/>
          </a:xfrm>
          <a:prstGeom prst="rect">
            <a:avLst/>
          </a:prstGeom>
          <a:solidFill>
            <a:srgbClr val="2A2F3A"/>
          </a:solidFill>
          <a:ln/>
        </p:spPr>
      </p:sp>
      <p:sp>
        <p:nvSpPr>
          <p:cNvPr id="12" name="Text 10"/>
          <p:cNvSpPr/>
          <p:nvPr/>
        </p:nvSpPr>
        <p:spPr>
          <a:xfrm>
            <a:off x="1057275" y="2490788"/>
            <a:ext cx="2513150" cy="552450"/>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Product-specific response</a:t>
            </a:r>
            <a:endParaRPr lang="en-US" sz="1725" dirty="0"/>
          </a:p>
        </p:txBody>
      </p:sp>
      <p:sp>
        <p:nvSpPr>
          <p:cNvPr id="13" name="Shape 11"/>
          <p:cNvSpPr/>
          <p:nvPr/>
        </p:nvSpPr>
        <p:spPr>
          <a:xfrm>
            <a:off x="3631778" y="3109913"/>
            <a:ext cx="13741822" cy="9525"/>
          </a:xfrm>
          <a:prstGeom prst="rect">
            <a:avLst/>
          </a:prstGeom>
          <a:solidFill>
            <a:srgbClr val="2A2F3A"/>
          </a:solidFill>
          <a:ln/>
        </p:spPr>
      </p:sp>
      <p:sp>
        <p:nvSpPr>
          <p:cNvPr id="14" name="Text 12"/>
          <p:cNvSpPr/>
          <p:nvPr/>
        </p:nvSpPr>
        <p:spPr>
          <a:xfrm>
            <a:off x="3774653" y="2490788"/>
            <a:ext cx="13868326" cy="552450"/>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Defender for Office 365, Purview, Defender for Cloud workload protections, Defender for Cloud Apps, Entra ID, Defender for Identity, Microsoft Sentinel</a:t>
            </a:r>
            <a:endParaRPr lang="en-US" sz="1725" dirty="0"/>
          </a:p>
        </p:txBody>
      </p:sp>
      <p:sp>
        <p:nvSpPr>
          <p:cNvPr id="15" name="Shape 13"/>
          <p:cNvSpPr/>
          <p:nvPr/>
        </p:nvSpPr>
        <p:spPr>
          <a:xfrm>
            <a:off x="914400" y="3119438"/>
            <a:ext cx="2717378" cy="476250"/>
          </a:xfrm>
          <a:prstGeom prst="rect">
            <a:avLst/>
          </a:prstGeom>
          <a:solidFill>
            <a:srgbClr val="FFFFFF">
              <a:alpha val="2000"/>
            </a:srgbClr>
          </a:solidFill>
          <a:ln/>
        </p:spPr>
      </p:sp>
      <p:sp>
        <p:nvSpPr>
          <p:cNvPr id="16" name="Shape 14"/>
          <p:cNvSpPr/>
          <p:nvPr/>
        </p:nvSpPr>
        <p:spPr>
          <a:xfrm>
            <a:off x="914400" y="3586163"/>
            <a:ext cx="2717378" cy="9525"/>
          </a:xfrm>
          <a:prstGeom prst="rect">
            <a:avLst/>
          </a:prstGeom>
          <a:solidFill>
            <a:srgbClr val="2A2F3A"/>
          </a:solidFill>
          <a:ln/>
        </p:spPr>
      </p:sp>
      <p:sp>
        <p:nvSpPr>
          <p:cNvPr id="17" name="Text 15"/>
          <p:cNvSpPr/>
          <p:nvPr/>
        </p:nvSpPr>
        <p:spPr>
          <a:xfrm>
            <a:off x="1057275" y="3224213"/>
            <a:ext cx="251315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Investigation technique</a:t>
            </a:r>
            <a:endParaRPr lang="en-US" sz="1725" dirty="0"/>
          </a:p>
        </p:txBody>
      </p:sp>
      <p:sp>
        <p:nvSpPr>
          <p:cNvPr id="18" name="Shape 16"/>
          <p:cNvSpPr/>
          <p:nvPr/>
        </p:nvSpPr>
        <p:spPr>
          <a:xfrm>
            <a:off x="3631778" y="3119438"/>
            <a:ext cx="13741822" cy="476250"/>
          </a:xfrm>
          <a:prstGeom prst="rect">
            <a:avLst/>
          </a:prstGeom>
          <a:solidFill>
            <a:srgbClr val="FFFFFF">
              <a:alpha val="2000"/>
            </a:srgbClr>
          </a:solidFill>
          <a:ln/>
        </p:spPr>
      </p:sp>
      <p:sp>
        <p:nvSpPr>
          <p:cNvPr id="19" name="Shape 17"/>
          <p:cNvSpPr/>
          <p:nvPr/>
        </p:nvSpPr>
        <p:spPr>
          <a:xfrm>
            <a:off x="3631778" y="3586163"/>
            <a:ext cx="13741822" cy="9525"/>
          </a:xfrm>
          <a:prstGeom prst="rect">
            <a:avLst/>
          </a:prstGeom>
          <a:solidFill>
            <a:srgbClr val="2A2F3A"/>
          </a:solidFill>
          <a:ln/>
        </p:spPr>
      </p:sp>
      <p:sp>
        <p:nvSpPr>
          <p:cNvPr id="20" name="Text 18"/>
          <p:cNvSpPr/>
          <p:nvPr/>
        </p:nvSpPr>
        <p:spPr>
          <a:xfrm>
            <a:off x="3774653" y="3224213"/>
            <a:ext cx="1386832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Agentic AI with embedded Security Copilot; complex multi-stage, multi-domain, and lateral movement attacks</a:t>
            </a:r>
            <a:endParaRPr lang="en-US" sz="1725" dirty="0"/>
          </a:p>
        </p:txBody>
      </p:sp>
      <p:sp>
        <p:nvSpPr>
          <p:cNvPr id="21" name="Shape 19"/>
          <p:cNvSpPr/>
          <p:nvPr/>
        </p:nvSpPr>
        <p:spPr>
          <a:xfrm>
            <a:off x="914400" y="4062412"/>
            <a:ext cx="2717378" cy="9525"/>
          </a:xfrm>
          <a:prstGeom prst="rect">
            <a:avLst/>
          </a:prstGeom>
          <a:solidFill>
            <a:srgbClr val="2A2F3A"/>
          </a:solidFill>
          <a:ln/>
        </p:spPr>
      </p:sp>
      <p:sp>
        <p:nvSpPr>
          <p:cNvPr id="22" name="Text 20"/>
          <p:cNvSpPr/>
          <p:nvPr/>
        </p:nvSpPr>
        <p:spPr>
          <a:xfrm>
            <a:off x="1057275" y="3700463"/>
            <a:ext cx="251315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Process</a:t>
            </a:r>
            <a:endParaRPr lang="en-US" sz="1725" dirty="0"/>
          </a:p>
        </p:txBody>
      </p:sp>
      <p:sp>
        <p:nvSpPr>
          <p:cNvPr id="23" name="Shape 21"/>
          <p:cNvSpPr/>
          <p:nvPr/>
        </p:nvSpPr>
        <p:spPr>
          <a:xfrm>
            <a:off x="3631778" y="4062412"/>
            <a:ext cx="13741822" cy="9525"/>
          </a:xfrm>
          <a:prstGeom prst="rect">
            <a:avLst/>
          </a:prstGeom>
          <a:solidFill>
            <a:srgbClr val="2A2F3A"/>
          </a:solidFill>
          <a:ln/>
        </p:spPr>
      </p:sp>
      <p:sp>
        <p:nvSpPr>
          <p:cNvPr id="24" name="Text 22"/>
          <p:cNvSpPr/>
          <p:nvPr/>
        </p:nvSpPr>
        <p:spPr>
          <a:xfrm>
            <a:off x="3774653" y="3700463"/>
            <a:ext cx="13868326"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Managing incidents through case management</a:t>
            </a:r>
            <a:endParaRPr lang="en-US" sz="17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75807"/>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2.2</a:t>
            </a:r>
            <a:endParaRPr lang="en-US" sz="1575" dirty="0"/>
          </a:p>
        </p:txBody>
      </p:sp>
      <p:sp>
        <p:nvSpPr>
          <p:cNvPr id="4" name="Text 2"/>
          <p:cNvSpPr/>
          <p:nvPr/>
        </p:nvSpPr>
        <p:spPr>
          <a:xfrm>
            <a:off x="914400" y="4485382"/>
            <a:ext cx="16952976" cy="1211461"/>
          </a:xfrm>
          <a:prstGeom prst="rect">
            <a:avLst/>
          </a:prstGeom>
          <a:noFill/>
          <a:ln/>
        </p:spPr>
        <p:txBody>
          <a:bodyPr wrap="square" lIns="25400" tIns="25400" rIns="25400" bIns="25400" rtlCol="0" anchor="t">
            <a:normAutofit/>
          </a:bodyPr>
          <a:lstStyle/>
          <a:p>
            <a:pPr algn="l" indent="0" marL="0">
              <a:lnSpc>
                <a:spcPct val="95504"/>
              </a:lnSpc>
              <a:buNone/>
            </a:pPr>
            <a:r>
              <a:rPr lang="en-US" sz="4200" b="1" dirty="0">
                <a:solidFill>
                  <a:srgbClr val="F5F7FB"/>
                </a:solidFill>
                <a:latin typeface="Arial" pitchFamily="34" charset="0"/>
                <a:ea typeface="Arial" pitchFamily="34" charset="-122"/>
                <a:cs typeface="Arial" pitchFamily="34" charset="-120"/>
              </a:rPr>
              <a:t>Respond to Alerts &amp; Incidents in Microsoft Defender for Endpoint</a:t>
            </a:r>
            <a:endParaRPr lang="en-US" sz="4200" dirty="0"/>
          </a:p>
        </p:txBody>
      </p:sp>
      <p:sp>
        <p:nvSpPr>
          <p:cNvPr id="5" name="Text 3"/>
          <p:cNvSpPr/>
          <p:nvPr/>
        </p:nvSpPr>
        <p:spPr>
          <a:xfrm>
            <a:off x="914400" y="5849243"/>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Device timelines, device actions, evidence and entity investigation, and attack disruption follow-up</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5266"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3816"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2.2 · Task 1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Investigate Device Timelines</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 chronological record of observed events on a specific device — process creations, file and registry activity, network connections, and logons — used to reconstruct exactly what happened and in what order.</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The timeline answers the two questions every endpoint investigation starts with: what ran, and what did it touch?</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Timeline depth depends on the custom data collection configured back in Module 1.</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44018"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2568"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2.2 · Task 2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Device Actions, Live Response &amp; Investigation Packages</a:t>
            </a:r>
            <a:endParaRPr lang="en-US" sz="4050" dirty="0"/>
          </a:p>
        </p:txBody>
      </p:sp>
      <p:sp>
        <p:nvSpPr>
          <p:cNvPr id="6" name="Text 4"/>
          <p:cNvSpPr/>
          <p:nvPr/>
        </p:nvSpPr>
        <p:spPr>
          <a:xfrm>
            <a:off x="914400" y="191452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Response actions taken directly against an onboarded device from the Defender portal, ranging from containment to hands-on interactive investigation.</a:t>
            </a:r>
            <a:endParaRPr lang="en-US" sz="1800" dirty="0"/>
          </a:p>
        </p:txBody>
      </p:sp>
      <p:sp>
        <p:nvSpPr>
          <p:cNvPr id="7" name="Shape 5"/>
          <p:cNvSpPr/>
          <p:nvPr/>
        </p:nvSpPr>
        <p:spPr>
          <a:xfrm>
            <a:off x="914400" y="2440260"/>
            <a:ext cx="5384750"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267838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CONTAINMENT ACTIONS</a:t>
            </a:r>
            <a:endParaRPr lang="en-US" sz="1350" dirty="0"/>
          </a:p>
        </p:txBody>
      </p:sp>
      <p:sp>
        <p:nvSpPr>
          <p:cNvPr id="9" name="Text 7"/>
          <p:cNvSpPr/>
          <p:nvPr/>
        </p:nvSpPr>
        <p:spPr>
          <a:xfrm>
            <a:off x="1152525" y="2959373"/>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Isolate the device, restrict app execution, or run an antivirus scan</a:t>
            </a:r>
            <a:endParaRPr lang="en-US" sz="1350" dirty="0"/>
          </a:p>
        </p:txBody>
      </p:sp>
      <p:sp>
        <p:nvSpPr>
          <p:cNvPr id="10" name="Shape 8"/>
          <p:cNvSpPr/>
          <p:nvPr/>
        </p:nvSpPr>
        <p:spPr>
          <a:xfrm>
            <a:off x="6451550" y="2440260"/>
            <a:ext cx="538482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6689675" y="2678385"/>
            <a:ext cx="5399432"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LIVE RESPONSE</a:t>
            </a:r>
            <a:endParaRPr lang="en-US" sz="1350" dirty="0"/>
          </a:p>
        </p:txBody>
      </p:sp>
      <p:sp>
        <p:nvSpPr>
          <p:cNvPr id="12" name="Text 10"/>
          <p:cNvSpPr/>
          <p:nvPr/>
        </p:nvSpPr>
        <p:spPr>
          <a:xfrm>
            <a:off x="6689675" y="2959373"/>
            <a:ext cx="5055832"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An interactive remote shell session on the device for real-time investigation and remediation</a:t>
            </a:r>
            <a:endParaRPr lang="en-US" sz="1350" dirty="0"/>
          </a:p>
        </p:txBody>
      </p:sp>
      <p:sp>
        <p:nvSpPr>
          <p:cNvPr id="13" name="Shape 11"/>
          <p:cNvSpPr/>
          <p:nvPr/>
        </p:nvSpPr>
        <p:spPr>
          <a:xfrm>
            <a:off x="11988775" y="2440260"/>
            <a:ext cx="5384750" cy="1271588"/>
          </a:xfrm>
          <a:prstGeom prst="roundRect">
            <a:avLst>
              <a:gd name="adj" fmla="val 11985"/>
            </a:avLst>
          </a:prstGeom>
          <a:solidFill>
            <a:srgbClr val="FFFFFF">
              <a:alpha val="2000"/>
            </a:srgbClr>
          </a:solidFill>
          <a:ln w="9525">
            <a:solidFill>
              <a:srgbClr val="2A2F3A"/>
            </a:solidFill>
            <a:prstDash val="solid"/>
          </a:ln>
        </p:spPr>
      </p:sp>
      <p:sp>
        <p:nvSpPr>
          <p:cNvPr id="14" name="Text 12"/>
          <p:cNvSpPr/>
          <p:nvPr/>
        </p:nvSpPr>
        <p:spPr>
          <a:xfrm>
            <a:off x="12226900" y="2678385"/>
            <a:ext cx="5399350"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INVESTIGATION PACKAGE</a:t>
            </a:r>
            <a:endParaRPr lang="en-US" sz="1350" dirty="0"/>
          </a:p>
        </p:txBody>
      </p:sp>
      <p:sp>
        <p:nvSpPr>
          <p:cNvPr id="15" name="Text 13"/>
          <p:cNvSpPr/>
          <p:nvPr/>
        </p:nvSpPr>
        <p:spPr>
          <a:xfrm>
            <a:off x="12226900" y="2959373"/>
            <a:ext cx="5055755"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 collected bundle of forensic artefacts from the device for offline analysis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47739"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6289"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2.2 · Task 3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Evidence &amp; Entity Investigation</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Examining the individual entities an incident touches — files, processes, IP addresses, URLs, users, and devices — and the verdicts and relationships Defender XDR has established for each.</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Entity-level verdicts are what justify a remediation decision and, later, the incident's closing classification.</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The same entity relationships are explored at scale in Domain 3 via hunting graphs and Sentinel Graph.</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50343"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8893"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2.2 · Task 4 of 4</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Incidents Identified by Automatic Attack Disruption</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When attack disruption has already contained an attack automatically, the analyst's task changes: validate what was contained, confirm the containment was correct, complete any remaining remediation, and safely reverse actions where a false positive is confirmed.</a:t>
            </a:r>
            <a:endParaRPr lang="en-US" sz="1800" dirty="0"/>
          </a:p>
        </p:txBody>
      </p:sp>
      <p:sp>
        <p:nvSpPr>
          <p:cNvPr id="7" name="Shape 5"/>
          <p:cNvSpPr/>
          <p:nvPr/>
        </p:nvSpPr>
        <p:spPr>
          <a:xfrm>
            <a:off x="914400"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3313658"/>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Disruption buys time but does not close the case — unremediated persistence can survive containment.</a:t>
            </a:r>
            <a:endParaRPr lang="en-US" sz="1350" dirty="0"/>
          </a:p>
        </p:txBody>
      </p:sp>
      <p:sp>
        <p:nvSpPr>
          <p:cNvPr id="10" name="Shape 8"/>
          <p:cNvSpPr/>
          <p:nvPr/>
        </p:nvSpPr>
        <p:spPr>
          <a:xfrm>
            <a:off x="9229725" y="2794546"/>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Configured in Module 1, Objective 1.1 — this is the response-side counterpart.</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2.2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What You Should Now Be Able to Do</a:t>
            </a:r>
            <a:endParaRPr lang="en-US" sz="4050" dirty="0"/>
          </a:p>
        </p:txBody>
      </p:sp>
      <p:sp>
        <p:nvSpPr>
          <p:cNvPr id="5" name="Shape 3"/>
          <p:cNvSpPr/>
          <p:nvPr/>
        </p:nvSpPr>
        <p:spPr>
          <a:xfrm>
            <a:off x="914400" y="1890713"/>
            <a:ext cx="16459200" cy="714375"/>
          </a:xfrm>
          <a:prstGeom prst="roundRect">
            <a:avLst>
              <a:gd name="adj" fmla="val 21333"/>
            </a:avLst>
          </a:prstGeom>
          <a:solidFill>
            <a:srgbClr val="FFFFFF">
              <a:alpha val="2000"/>
            </a:srgbClr>
          </a:solidFill>
          <a:ln w="9525">
            <a:solidFill>
              <a:srgbClr val="2A2F3A"/>
            </a:solidFill>
            <a:prstDash val="solid"/>
          </a:ln>
        </p:spPr>
      </p:sp>
      <p:sp>
        <p:nvSpPr>
          <p:cNvPr id="6" name="Text 4"/>
          <p:cNvSpPr/>
          <p:nvPr/>
        </p:nvSpPr>
        <p:spPr>
          <a:xfrm>
            <a:off x="1152525" y="2128838"/>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Reconstruct an endpoint compromise from the device timeline</a:t>
            </a:r>
            <a:endParaRPr lang="en-US" sz="1575" dirty="0"/>
          </a:p>
        </p:txBody>
      </p:sp>
      <p:sp>
        <p:nvSpPr>
          <p:cNvPr id="7" name="Shape 5"/>
          <p:cNvSpPr/>
          <p:nvPr/>
        </p:nvSpPr>
        <p:spPr>
          <a:xfrm>
            <a:off x="914400" y="2757488"/>
            <a:ext cx="16459200" cy="714375"/>
          </a:xfrm>
          <a:prstGeom prst="roundRect">
            <a:avLst>
              <a:gd name="adj" fmla="val 21333"/>
            </a:avLst>
          </a:prstGeom>
          <a:solidFill>
            <a:srgbClr val="FFFFFF">
              <a:alpha val="2000"/>
            </a:srgbClr>
          </a:solidFill>
          <a:ln w="9525">
            <a:solidFill>
              <a:srgbClr val="2A2F3A"/>
            </a:solidFill>
            <a:prstDash val="solid"/>
          </a:ln>
        </p:spPr>
      </p:sp>
      <p:sp>
        <p:nvSpPr>
          <p:cNvPr id="8" name="Text 6"/>
          <p:cNvSpPr/>
          <p:nvPr/>
        </p:nvSpPr>
        <p:spPr>
          <a:xfrm>
            <a:off x="1152525" y="2995613"/>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Choose the right device action — isolate, restrict, scan, live response, or collect an investigation package</a:t>
            </a:r>
            <a:endParaRPr lang="en-US" sz="1575" dirty="0"/>
          </a:p>
        </p:txBody>
      </p:sp>
      <p:sp>
        <p:nvSpPr>
          <p:cNvPr id="9" name="Shape 7"/>
          <p:cNvSpPr/>
          <p:nvPr/>
        </p:nvSpPr>
        <p:spPr>
          <a:xfrm>
            <a:off x="914400" y="3624263"/>
            <a:ext cx="16459200" cy="714375"/>
          </a:xfrm>
          <a:prstGeom prst="roundRect">
            <a:avLst>
              <a:gd name="adj" fmla="val 21333"/>
            </a:avLst>
          </a:prstGeom>
          <a:solidFill>
            <a:srgbClr val="FFFFFF">
              <a:alpha val="2000"/>
            </a:srgbClr>
          </a:solidFill>
          <a:ln w="9525">
            <a:solidFill>
              <a:srgbClr val="2A2F3A"/>
            </a:solidFill>
            <a:prstDash val="solid"/>
          </a:ln>
        </p:spPr>
      </p:sp>
      <p:sp>
        <p:nvSpPr>
          <p:cNvPr id="10" name="Text 8"/>
          <p:cNvSpPr/>
          <p:nvPr/>
        </p:nvSpPr>
        <p:spPr>
          <a:xfrm>
            <a:off x="1152525" y="3862387"/>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Investigate entity-level evidence, and validate and complete attack-disruption containment</a:t>
            </a:r>
            <a:endParaRPr lang="en-US" sz="15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4075807"/>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2.3</a:t>
            </a:r>
            <a:endParaRPr lang="en-US" sz="1575" dirty="0"/>
          </a:p>
        </p:txBody>
      </p:sp>
      <p:sp>
        <p:nvSpPr>
          <p:cNvPr id="4" name="Text 2"/>
          <p:cNvSpPr/>
          <p:nvPr/>
        </p:nvSpPr>
        <p:spPr>
          <a:xfrm>
            <a:off x="914400" y="4485382"/>
            <a:ext cx="16952976" cy="1211461"/>
          </a:xfrm>
          <a:prstGeom prst="rect">
            <a:avLst/>
          </a:prstGeom>
          <a:noFill/>
          <a:ln/>
        </p:spPr>
        <p:txBody>
          <a:bodyPr wrap="square" lIns="25400" tIns="25400" rIns="25400" bIns="25400" rtlCol="0" anchor="t">
            <a:normAutofit/>
          </a:bodyPr>
          <a:lstStyle/>
          <a:p>
            <a:pPr algn="l" indent="0" marL="0">
              <a:lnSpc>
                <a:spcPct val="95504"/>
              </a:lnSpc>
              <a:buNone/>
            </a:pPr>
            <a:r>
              <a:rPr lang="en-US" sz="4200" b="1" dirty="0">
                <a:solidFill>
                  <a:srgbClr val="F5F7FB"/>
                </a:solidFill>
                <a:latin typeface="Arial" pitchFamily="34" charset="0"/>
                <a:ea typeface="Arial" pitchFamily="34" charset="-122"/>
                <a:cs typeface="Arial" pitchFamily="34" charset="-120"/>
              </a:rPr>
              <a:t>Investigate Microsoft 365 Activities to Identify Threats</a:t>
            </a:r>
            <a:endParaRPr lang="en-US" sz="4200" dirty="0"/>
          </a:p>
        </p:txBody>
      </p:sp>
      <p:sp>
        <p:nvSpPr>
          <p:cNvPr id="5" name="Text 3"/>
          <p:cNvSpPr/>
          <p:nvPr/>
        </p:nvSpPr>
        <p:spPr>
          <a:xfrm>
            <a:off x="914400" y="5849243"/>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Purview Audit, eDiscovery Content search, and Microsoft Graph activity logs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23554"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52104"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2.3 · Task 1 of 3</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Microsoft Purview Audit</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Search the tenant-wide audit log of user and administrator activity across Microsoft 365 — who did what, to what, and when — to establish an investigative timeline of actions rather than content.</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ANSWERS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"Which mailbox rules did this account create?" or "Who accessed this site, and when?"</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Audit tells you about actions taken; it does not return the content of the items acted on.</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42381"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0931"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2.3 · Task 2 of 3</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Content Search in Microsoft Purview eDiscovery</a:t>
            </a:r>
            <a:endParaRPr lang="en-US" sz="4050" dirty="0"/>
          </a:p>
        </p:txBody>
      </p:sp>
      <p:sp>
        <p:nvSpPr>
          <p:cNvPr id="6" name="Text 4"/>
          <p:cNvSpPr/>
          <p:nvPr/>
        </p:nvSpPr>
        <p:spPr>
          <a:xfrm>
            <a:off x="914400" y="1895475"/>
            <a:ext cx="16952976" cy="746671"/>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Search the actual content of mailboxes, SharePoint sites, OneDrive accounts, and Teams data to find the items themselves — the phishing message, the exfiltrated document, the sensitive attachment.</a:t>
            </a:r>
            <a:endParaRPr lang="en-US" sz="1800" dirty="0"/>
          </a:p>
        </p:txBody>
      </p:sp>
      <p:sp>
        <p:nvSpPr>
          <p:cNvPr id="7" name="Shape 5"/>
          <p:cNvSpPr/>
          <p:nvPr/>
        </p:nvSpPr>
        <p:spPr>
          <a:xfrm>
            <a:off x="914400"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8" name="Text 6"/>
          <p:cNvSpPr/>
          <p:nvPr/>
        </p:nvSpPr>
        <p:spPr>
          <a:xfrm>
            <a:off x="1152525"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ANSWERS</a:t>
            </a:r>
            <a:endParaRPr lang="en-US" sz="1350" dirty="0"/>
          </a:p>
        </p:txBody>
      </p:sp>
      <p:sp>
        <p:nvSpPr>
          <p:cNvPr id="9" name="Text 7"/>
          <p:cNvSpPr/>
          <p:nvPr/>
        </p:nvSpPr>
        <p:spPr>
          <a:xfrm>
            <a:off x="1152525"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"Where else in the tenant does this malicious attachment exist?"</a:t>
            </a:r>
            <a:endParaRPr lang="en-US" sz="1350" dirty="0"/>
          </a:p>
        </p:txBody>
      </p:sp>
      <p:sp>
        <p:nvSpPr>
          <p:cNvPr id="10" name="Shape 8"/>
          <p:cNvSpPr/>
          <p:nvPr/>
        </p:nvSpPr>
        <p:spPr>
          <a:xfrm>
            <a:off x="9229725" y="2794546"/>
            <a:ext cx="8143875" cy="1014413"/>
          </a:xfrm>
          <a:prstGeom prst="roundRect">
            <a:avLst>
              <a:gd name="adj" fmla="val 15023"/>
            </a:avLst>
          </a:prstGeom>
          <a:solidFill>
            <a:srgbClr val="FFFFFF">
              <a:alpha val="2000"/>
            </a:srgbClr>
          </a:solidFill>
          <a:ln w="9525">
            <a:solidFill>
              <a:srgbClr val="2A2F3A"/>
            </a:solidFill>
            <a:prstDash val="solid"/>
          </a:ln>
        </p:spPr>
      </p:sp>
      <p:sp>
        <p:nvSpPr>
          <p:cNvPr id="11" name="Text 9"/>
          <p:cNvSpPr/>
          <p:nvPr/>
        </p:nvSpPr>
        <p:spPr>
          <a:xfrm>
            <a:off x="9467850" y="3032671"/>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WATCH FOR</a:t>
            </a:r>
            <a:endParaRPr lang="en-US" sz="1350" dirty="0"/>
          </a:p>
        </p:txBody>
      </p:sp>
      <p:sp>
        <p:nvSpPr>
          <p:cNvPr id="12" name="Text 10"/>
          <p:cNvSpPr/>
          <p:nvPr/>
        </p:nvSpPr>
        <p:spPr>
          <a:xfrm>
            <a:off x="9467850" y="3313658"/>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Content search returns content, not the activity trail — that is Audit's job.</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14400" y="685800"/>
            <a:ext cx="2146027" cy="261937"/>
          </a:xfrm>
          <a:prstGeom prst="roundRect">
            <a:avLst>
              <a:gd name="adj" fmla="val 50000"/>
            </a:avLst>
          </a:prstGeom>
          <a:solidFill>
            <a:srgbClr val="FF6A00">
              <a:alpha val="15000"/>
            </a:srgbClr>
          </a:solidFill>
          <a:ln w="9525">
            <a:solidFill>
              <a:srgbClr val="FF6A00">
                <a:alpha val="35000"/>
              </a:srgbClr>
            </a:solidFill>
            <a:prstDash val="solid"/>
          </a:ln>
        </p:spPr>
      </p:sp>
      <p:sp>
        <p:nvSpPr>
          <p:cNvPr id="4" name="Text 2"/>
          <p:cNvSpPr/>
          <p:nvPr/>
        </p:nvSpPr>
        <p:spPr>
          <a:xfrm>
            <a:off x="1038225" y="733425"/>
            <a:ext cx="1974577" cy="204787"/>
          </a:xfrm>
          <a:prstGeom prst="rect">
            <a:avLst/>
          </a:prstGeom>
          <a:noFill/>
          <a:ln/>
        </p:spPr>
        <p:txBody>
          <a:bodyPr wrap="square" lIns="25400" tIns="25400" rIns="25400" bIns="25400" rtlCol="0" anchor="t">
            <a:normAutofit/>
          </a:bodyPr>
          <a:lstStyle/>
          <a:p>
            <a:pPr algn="l" indent="0" marL="0">
              <a:buNone/>
            </a:pPr>
            <a:r>
              <a:rPr lang="en-US" sz="1125" b="1" spc="30" kern="0" dirty="0">
                <a:solidFill>
                  <a:srgbClr val="FFD9BF"/>
                </a:solidFill>
                <a:latin typeface="Arial" pitchFamily="34" charset="0"/>
                <a:ea typeface="Arial" pitchFamily="34" charset="-122"/>
                <a:cs typeface="Arial" pitchFamily="34" charset="-120"/>
              </a:rPr>
              <a:t>Objective 2.3 · Task 3 of 3</a:t>
            </a:r>
            <a:endParaRPr lang="en-US" sz="1125" dirty="0"/>
          </a:p>
        </p:txBody>
      </p:sp>
      <p:sp>
        <p:nvSpPr>
          <p:cNvPr id="5" name="Text 3"/>
          <p:cNvSpPr/>
          <p:nvPr/>
        </p:nvSpPr>
        <p:spPr>
          <a:xfrm>
            <a:off x="914400" y="1081088"/>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Microsoft Graph Activity Logs</a:t>
            </a:r>
            <a:endParaRPr lang="en-US" sz="4050" dirty="0"/>
          </a:p>
        </p:txBody>
      </p:sp>
      <p:sp>
        <p:nvSpPr>
          <p:cNvPr id="6" name="Text 4"/>
          <p:cNvSpPr/>
          <p:nvPr/>
        </p:nvSpPr>
        <p:spPr>
          <a:xfrm>
            <a:off x="914400" y="1895475"/>
            <a:ext cx="18105120"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B8C0CF"/>
                </a:solidFill>
                <a:latin typeface="Arial" pitchFamily="34" charset="0"/>
                <a:ea typeface="Arial" pitchFamily="34" charset="-122"/>
                <a:cs typeface="Arial" pitchFamily="34" charset="-120"/>
              </a:rPr>
              <a:t>A record of API requests made to Microsoft Graph in the tenant, revealing how applications and scripts — not just interactive users — accessed Microsoft 365 data.</a:t>
            </a:r>
            <a:endParaRPr lang="en-US" sz="1800" dirty="0"/>
          </a:p>
        </p:txBody>
      </p:sp>
      <p:sp>
        <p:nvSpPr>
          <p:cNvPr id="7" name="Shape 5"/>
          <p:cNvSpPr/>
          <p:nvPr/>
        </p:nvSpPr>
        <p:spPr>
          <a:xfrm>
            <a:off x="914400" y="2440260"/>
            <a:ext cx="8143875" cy="1271588"/>
          </a:xfrm>
          <a:prstGeom prst="roundRect">
            <a:avLst>
              <a:gd name="adj" fmla="val 11985"/>
            </a:avLst>
          </a:prstGeom>
          <a:solidFill>
            <a:srgbClr val="FFFFFF">
              <a:alpha val="2000"/>
            </a:srgbClr>
          </a:solidFill>
          <a:ln w="9525">
            <a:solidFill>
              <a:srgbClr val="2A2F3A"/>
            </a:solidFill>
            <a:prstDash val="solid"/>
          </a:ln>
        </p:spPr>
      </p:sp>
      <p:sp>
        <p:nvSpPr>
          <p:cNvPr id="8" name="Text 6"/>
          <p:cNvSpPr/>
          <p:nvPr/>
        </p:nvSpPr>
        <p:spPr>
          <a:xfrm>
            <a:off x="1152525" y="2678385"/>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WHY IT MATTERS</a:t>
            </a:r>
            <a:endParaRPr lang="en-US" sz="1350" dirty="0"/>
          </a:p>
        </p:txBody>
      </p:sp>
      <p:sp>
        <p:nvSpPr>
          <p:cNvPr id="9" name="Text 7"/>
          <p:cNvSpPr/>
          <p:nvPr/>
        </p:nvSpPr>
        <p:spPr>
          <a:xfrm>
            <a:off x="1152525" y="2959373"/>
            <a:ext cx="789765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Detects programmatic abuse: a compromised app registration quietly enumerating or exporting data via the API.</a:t>
            </a:r>
            <a:endParaRPr lang="en-US" sz="1350" dirty="0"/>
          </a:p>
        </p:txBody>
      </p:sp>
      <p:sp>
        <p:nvSpPr>
          <p:cNvPr id="10" name="Shape 8"/>
          <p:cNvSpPr/>
          <p:nvPr/>
        </p:nvSpPr>
        <p:spPr>
          <a:xfrm>
            <a:off x="9229725" y="2440260"/>
            <a:ext cx="8143875" cy="1271588"/>
          </a:xfrm>
          <a:prstGeom prst="roundRect">
            <a:avLst>
              <a:gd name="adj" fmla="val 11985"/>
            </a:avLst>
          </a:prstGeom>
          <a:solidFill>
            <a:srgbClr val="FFFFFF">
              <a:alpha val="2000"/>
            </a:srgbClr>
          </a:solidFill>
          <a:ln w="9525">
            <a:solidFill>
              <a:srgbClr val="2A2F3A"/>
            </a:solidFill>
            <a:prstDash val="solid"/>
          </a:ln>
        </p:spPr>
      </p:sp>
      <p:sp>
        <p:nvSpPr>
          <p:cNvPr id="11" name="Text 9"/>
          <p:cNvSpPr/>
          <p:nvPr/>
        </p:nvSpPr>
        <p:spPr>
          <a:xfrm>
            <a:off x="9467850" y="2678385"/>
            <a:ext cx="8434387" cy="242888"/>
          </a:xfrm>
          <a:prstGeom prst="rect">
            <a:avLst/>
          </a:prstGeom>
          <a:noFill/>
          <a:ln/>
        </p:spPr>
        <p:txBody>
          <a:bodyPr wrap="square" lIns="25400" tIns="25400" rIns="25400" bIns="25400" rtlCol="0" anchor="t">
            <a:normAutofit/>
          </a:bodyPr>
          <a:lstStyle/>
          <a:p>
            <a:pPr algn="l" indent="0" marL="0">
              <a:buNone/>
            </a:pPr>
            <a:r>
              <a:rPr lang="en-US" sz="1350" b="1" spc="38" kern="0" dirty="0">
                <a:solidFill>
                  <a:srgbClr val="FF6A00"/>
                </a:solidFill>
                <a:latin typeface="Arial" pitchFamily="34" charset="0"/>
                <a:ea typeface="Arial" pitchFamily="34" charset="-122"/>
                <a:cs typeface="Arial" pitchFamily="34" charset="-120"/>
              </a:rPr>
              <a:t>CONNECTS TO</a:t>
            </a:r>
            <a:endParaRPr lang="en-US" sz="1350" dirty="0"/>
          </a:p>
        </p:txBody>
      </p:sp>
      <p:sp>
        <p:nvSpPr>
          <p:cNvPr id="12" name="Text 10"/>
          <p:cNvSpPr/>
          <p:nvPr/>
        </p:nvSpPr>
        <p:spPr>
          <a:xfrm>
            <a:off x="9467850" y="2959373"/>
            <a:ext cx="8434387" cy="29527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8C0CF"/>
                </a:solidFill>
                <a:latin typeface="Arial" pitchFamily="34" charset="0"/>
                <a:ea typeface="Arial" pitchFamily="34" charset="-122"/>
                <a:cs typeface="Arial" pitchFamily="34" charset="-120"/>
              </a:rPr>
              <a:t>Pairs naturally with Defender for Cloud Apps OAuth investigation from Objective 2.1.</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CRITICAL DISTINCTION</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Audit vs Content Search vs Graph Activity Logs</a:t>
            </a:r>
            <a:endParaRPr lang="en-US" sz="4050" dirty="0"/>
          </a:p>
        </p:txBody>
      </p:sp>
      <p:sp>
        <p:nvSpPr>
          <p:cNvPr id="5" name="Shape 3"/>
          <p:cNvSpPr/>
          <p:nvPr/>
        </p:nvSpPr>
        <p:spPr>
          <a:xfrm>
            <a:off x="914400" y="1871663"/>
            <a:ext cx="3517553" cy="514350"/>
          </a:xfrm>
          <a:prstGeom prst="rect">
            <a:avLst/>
          </a:prstGeom>
          <a:solidFill>
            <a:srgbClr val="FF6A00">
              <a:alpha val="18000"/>
            </a:srgbClr>
          </a:solidFill>
          <a:ln/>
        </p:spPr>
      </p:sp>
      <p:sp>
        <p:nvSpPr>
          <p:cNvPr id="6" name="Shape 4"/>
          <p:cNvSpPr/>
          <p:nvPr/>
        </p:nvSpPr>
        <p:spPr>
          <a:xfrm>
            <a:off x="914400" y="2376488"/>
            <a:ext cx="3517553" cy="9525"/>
          </a:xfrm>
          <a:prstGeom prst="rect">
            <a:avLst/>
          </a:prstGeom>
          <a:solidFill>
            <a:srgbClr val="B85100"/>
          </a:solidFill>
          <a:ln/>
        </p:spPr>
      </p:sp>
      <p:sp>
        <p:nvSpPr>
          <p:cNvPr id="7" name="Text 5"/>
          <p:cNvSpPr/>
          <p:nvPr/>
        </p:nvSpPr>
        <p:spPr>
          <a:xfrm>
            <a:off x="1057275" y="1976438"/>
            <a:ext cx="3337329"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Tool</a:t>
            </a:r>
            <a:endParaRPr lang="en-US" sz="2025" dirty="0"/>
          </a:p>
        </p:txBody>
      </p:sp>
      <p:sp>
        <p:nvSpPr>
          <p:cNvPr id="8" name="Shape 6"/>
          <p:cNvSpPr/>
          <p:nvPr/>
        </p:nvSpPr>
        <p:spPr>
          <a:xfrm>
            <a:off x="4431953" y="1871663"/>
            <a:ext cx="5709121" cy="514350"/>
          </a:xfrm>
          <a:prstGeom prst="rect">
            <a:avLst/>
          </a:prstGeom>
          <a:solidFill>
            <a:srgbClr val="FF6A00">
              <a:alpha val="18000"/>
            </a:srgbClr>
          </a:solidFill>
          <a:ln/>
        </p:spPr>
      </p:sp>
      <p:sp>
        <p:nvSpPr>
          <p:cNvPr id="9" name="Shape 7"/>
          <p:cNvSpPr/>
          <p:nvPr/>
        </p:nvSpPr>
        <p:spPr>
          <a:xfrm>
            <a:off x="4431953" y="2376488"/>
            <a:ext cx="5709121" cy="9525"/>
          </a:xfrm>
          <a:prstGeom prst="rect">
            <a:avLst/>
          </a:prstGeom>
          <a:solidFill>
            <a:srgbClr val="B85100"/>
          </a:solidFill>
          <a:ln/>
        </p:spPr>
      </p:sp>
      <p:sp>
        <p:nvSpPr>
          <p:cNvPr id="10" name="Text 8"/>
          <p:cNvSpPr/>
          <p:nvPr/>
        </p:nvSpPr>
        <p:spPr>
          <a:xfrm>
            <a:off x="4574828" y="1976438"/>
            <a:ext cx="5594645"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Returns</a:t>
            </a:r>
            <a:endParaRPr lang="en-US" sz="2025" dirty="0"/>
          </a:p>
        </p:txBody>
      </p:sp>
      <p:sp>
        <p:nvSpPr>
          <p:cNvPr id="11" name="Shape 9"/>
          <p:cNvSpPr/>
          <p:nvPr/>
        </p:nvSpPr>
        <p:spPr>
          <a:xfrm>
            <a:off x="10141074" y="1871663"/>
            <a:ext cx="7232526" cy="514350"/>
          </a:xfrm>
          <a:prstGeom prst="rect">
            <a:avLst/>
          </a:prstGeom>
          <a:solidFill>
            <a:srgbClr val="FF6A00">
              <a:alpha val="18000"/>
            </a:srgbClr>
          </a:solidFill>
          <a:ln/>
        </p:spPr>
      </p:sp>
      <p:sp>
        <p:nvSpPr>
          <p:cNvPr id="12" name="Shape 10"/>
          <p:cNvSpPr/>
          <p:nvPr/>
        </p:nvSpPr>
        <p:spPr>
          <a:xfrm>
            <a:off x="10141074" y="2376488"/>
            <a:ext cx="7232526" cy="9525"/>
          </a:xfrm>
          <a:prstGeom prst="rect">
            <a:avLst/>
          </a:prstGeom>
          <a:solidFill>
            <a:srgbClr val="B85100"/>
          </a:solidFill>
          <a:ln/>
        </p:spPr>
      </p:sp>
      <p:sp>
        <p:nvSpPr>
          <p:cNvPr id="13" name="Text 11"/>
          <p:cNvSpPr/>
          <p:nvPr/>
        </p:nvSpPr>
        <p:spPr>
          <a:xfrm>
            <a:off x="10283949" y="1976438"/>
            <a:ext cx="7163752"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Use When You Need</a:t>
            </a:r>
            <a:endParaRPr lang="en-US" sz="2025" dirty="0"/>
          </a:p>
        </p:txBody>
      </p:sp>
      <p:sp>
        <p:nvSpPr>
          <p:cNvPr id="14" name="Shape 12"/>
          <p:cNvSpPr/>
          <p:nvPr/>
        </p:nvSpPr>
        <p:spPr>
          <a:xfrm>
            <a:off x="914400" y="2852738"/>
            <a:ext cx="3517553" cy="9525"/>
          </a:xfrm>
          <a:prstGeom prst="rect">
            <a:avLst/>
          </a:prstGeom>
          <a:solidFill>
            <a:srgbClr val="2A2F3A"/>
          </a:solidFill>
          <a:ln/>
        </p:spPr>
      </p:sp>
      <p:sp>
        <p:nvSpPr>
          <p:cNvPr id="15" name="Text 13"/>
          <p:cNvSpPr/>
          <p:nvPr/>
        </p:nvSpPr>
        <p:spPr>
          <a:xfrm>
            <a:off x="1057275" y="2490788"/>
            <a:ext cx="333732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Purview Audit</a:t>
            </a:r>
            <a:endParaRPr lang="en-US" sz="1725" dirty="0"/>
          </a:p>
        </p:txBody>
      </p:sp>
      <p:sp>
        <p:nvSpPr>
          <p:cNvPr id="16" name="Shape 14"/>
          <p:cNvSpPr/>
          <p:nvPr/>
        </p:nvSpPr>
        <p:spPr>
          <a:xfrm>
            <a:off x="4431953" y="2852738"/>
            <a:ext cx="5709121" cy="9525"/>
          </a:xfrm>
          <a:prstGeom prst="rect">
            <a:avLst/>
          </a:prstGeom>
          <a:solidFill>
            <a:srgbClr val="2A2F3A"/>
          </a:solidFill>
          <a:ln/>
        </p:spPr>
      </p:sp>
      <p:sp>
        <p:nvSpPr>
          <p:cNvPr id="17" name="Text 15"/>
          <p:cNvSpPr/>
          <p:nvPr/>
        </p:nvSpPr>
        <p:spPr>
          <a:xfrm>
            <a:off x="4574828" y="2490788"/>
            <a:ext cx="559464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Records of actions taken by users and admins</a:t>
            </a:r>
            <a:endParaRPr lang="en-US" sz="1725" dirty="0"/>
          </a:p>
        </p:txBody>
      </p:sp>
      <p:sp>
        <p:nvSpPr>
          <p:cNvPr id="18" name="Shape 16"/>
          <p:cNvSpPr/>
          <p:nvPr/>
        </p:nvSpPr>
        <p:spPr>
          <a:xfrm>
            <a:off x="10141074" y="2852738"/>
            <a:ext cx="7232526" cy="9525"/>
          </a:xfrm>
          <a:prstGeom prst="rect">
            <a:avLst/>
          </a:prstGeom>
          <a:solidFill>
            <a:srgbClr val="2A2F3A"/>
          </a:solidFill>
          <a:ln/>
        </p:spPr>
      </p:sp>
      <p:sp>
        <p:nvSpPr>
          <p:cNvPr id="19" name="Text 17"/>
          <p:cNvSpPr/>
          <p:nvPr/>
        </p:nvSpPr>
        <p:spPr>
          <a:xfrm>
            <a:off x="10283949" y="2490788"/>
            <a:ext cx="716375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An activity timeline — who did what, when</a:t>
            </a:r>
            <a:endParaRPr lang="en-US" sz="1725" dirty="0"/>
          </a:p>
        </p:txBody>
      </p:sp>
      <p:sp>
        <p:nvSpPr>
          <p:cNvPr id="20" name="Shape 18"/>
          <p:cNvSpPr/>
          <p:nvPr/>
        </p:nvSpPr>
        <p:spPr>
          <a:xfrm>
            <a:off x="914400" y="2862263"/>
            <a:ext cx="3517553" cy="476250"/>
          </a:xfrm>
          <a:prstGeom prst="rect">
            <a:avLst/>
          </a:prstGeom>
          <a:solidFill>
            <a:srgbClr val="FFFFFF">
              <a:alpha val="2000"/>
            </a:srgbClr>
          </a:solidFill>
          <a:ln/>
        </p:spPr>
      </p:sp>
      <p:sp>
        <p:nvSpPr>
          <p:cNvPr id="21" name="Shape 19"/>
          <p:cNvSpPr/>
          <p:nvPr/>
        </p:nvSpPr>
        <p:spPr>
          <a:xfrm>
            <a:off x="914400" y="3328988"/>
            <a:ext cx="3517553" cy="9525"/>
          </a:xfrm>
          <a:prstGeom prst="rect">
            <a:avLst/>
          </a:prstGeom>
          <a:solidFill>
            <a:srgbClr val="2A2F3A"/>
          </a:solidFill>
          <a:ln/>
        </p:spPr>
      </p:sp>
      <p:sp>
        <p:nvSpPr>
          <p:cNvPr id="22" name="Text 20"/>
          <p:cNvSpPr/>
          <p:nvPr/>
        </p:nvSpPr>
        <p:spPr>
          <a:xfrm>
            <a:off x="1057275" y="2967038"/>
            <a:ext cx="333732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eDiscovery Content search</a:t>
            </a:r>
            <a:endParaRPr lang="en-US" sz="1725" dirty="0"/>
          </a:p>
        </p:txBody>
      </p:sp>
      <p:sp>
        <p:nvSpPr>
          <p:cNvPr id="23" name="Shape 21"/>
          <p:cNvSpPr/>
          <p:nvPr/>
        </p:nvSpPr>
        <p:spPr>
          <a:xfrm>
            <a:off x="4431953" y="2862263"/>
            <a:ext cx="5709121" cy="476250"/>
          </a:xfrm>
          <a:prstGeom prst="rect">
            <a:avLst/>
          </a:prstGeom>
          <a:solidFill>
            <a:srgbClr val="FFFFFF">
              <a:alpha val="2000"/>
            </a:srgbClr>
          </a:solidFill>
          <a:ln/>
        </p:spPr>
      </p:sp>
      <p:sp>
        <p:nvSpPr>
          <p:cNvPr id="24" name="Shape 22"/>
          <p:cNvSpPr/>
          <p:nvPr/>
        </p:nvSpPr>
        <p:spPr>
          <a:xfrm>
            <a:off x="4431953" y="3328988"/>
            <a:ext cx="5709121" cy="9525"/>
          </a:xfrm>
          <a:prstGeom prst="rect">
            <a:avLst/>
          </a:prstGeom>
          <a:solidFill>
            <a:srgbClr val="2A2F3A"/>
          </a:solidFill>
          <a:ln/>
        </p:spPr>
      </p:sp>
      <p:sp>
        <p:nvSpPr>
          <p:cNvPr id="25" name="Text 23"/>
          <p:cNvSpPr/>
          <p:nvPr/>
        </p:nvSpPr>
        <p:spPr>
          <a:xfrm>
            <a:off x="4574828" y="2967038"/>
            <a:ext cx="559464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The actual content of items in Microsoft 365</a:t>
            </a:r>
            <a:endParaRPr lang="en-US" sz="1725" dirty="0"/>
          </a:p>
        </p:txBody>
      </p:sp>
      <p:sp>
        <p:nvSpPr>
          <p:cNvPr id="26" name="Shape 24"/>
          <p:cNvSpPr/>
          <p:nvPr/>
        </p:nvSpPr>
        <p:spPr>
          <a:xfrm>
            <a:off x="10141074" y="2862263"/>
            <a:ext cx="7232526" cy="476250"/>
          </a:xfrm>
          <a:prstGeom prst="rect">
            <a:avLst/>
          </a:prstGeom>
          <a:solidFill>
            <a:srgbClr val="FFFFFF">
              <a:alpha val="2000"/>
            </a:srgbClr>
          </a:solidFill>
          <a:ln/>
        </p:spPr>
      </p:sp>
      <p:sp>
        <p:nvSpPr>
          <p:cNvPr id="27" name="Shape 25"/>
          <p:cNvSpPr/>
          <p:nvPr/>
        </p:nvSpPr>
        <p:spPr>
          <a:xfrm>
            <a:off x="10141074" y="3328988"/>
            <a:ext cx="7232526" cy="9525"/>
          </a:xfrm>
          <a:prstGeom prst="rect">
            <a:avLst/>
          </a:prstGeom>
          <a:solidFill>
            <a:srgbClr val="2A2F3A"/>
          </a:solidFill>
          <a:ln/>
        </p:spPr>
      </p:sp>
      <p:sp>
        <p:nvSpPr>
          <p:cNvPr id="28" name="Text 26"/>
          <p:cNvSpPr/>
          <p:nvPr/>
        </p:nvSpPr>
        <p:spPr>
          <a:xfrm>
            <a:off x="10283949" y="2967038"/>
            <a:ext cx="716375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To find or scope the items themselves</a:t>
            </a:r>
            <a:endParaRPr lang="en-US" sz="1725" dirty="0"/>
          </a:p>
        </p:txBody>
      </p:sp>
      <p:sp>
        <p:nvSpPr>
          <p:cNvPr id="29" name="Shape 27"/>
          <p:cNvSpPr/>
          <p:nvPr/>
        </p:nvSpPr>
        <p:spPr>
          <a:xfrm>
            <a:off x="914400" y="3805237"/>
            <a:ext cx="3517553" cy="9525"/>
          </a:xfrm>
          <a:prstGeom prst="rect">
            <a:avLst/>
          </a:prstGeom>
          <a:solidFill>
            <a:srgbClr val="2A2F3A"/>
          </a:solidFill>
          <a:ln/>
        </p:spPr>
      </p:sp>
      <p:sp>
        <p:nvSpPr>
          <p:cNvPr id="30" name="Text 28"/>
          <p:cNvSpPr/>
          <p:nvPr/>
        </p:nvSpPr>
        <p:spPr>
          <a:xfrm>
            <a:off x="1057275" y="3443288"/>
            <a:ext cx="3337329"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Graph activity logs</a:t>
            </a:r>
            <a:endParaRPr lang="en-US" sz="1725" dirty="0"/>
          </a:p>
        </p:txBody>
      </p:sp>
      <p:sp>
        <p:nvSpPr>
          <p:cNvPr id="31" name="Shape 29"/>
          <p:cNvSpPr/>
          <p:nvPr/>
        </p:nvSpPr>
        <p:spPr>
          <a:xfrm>
            <a:off x="4431953" y="3805237"/>
            <a:ext cx="5709121" cy="9525"/>
          </a:xfrm>
          <a:prstGeom prst="rect">
            <a:avLst/>
          </a:prstGeom>
          <a:solidFill>
            <a:srgbClr val="2A2F3A"/>
          </a:solidFill>
          <a:ln/>
        </p:spPr>
      </p:sp>
      <p:sp>
        <p:nvSpPr>
          <p:cNvPr id="32" name="Text 30"/>
          <p:cNvSpPr/>
          <p:nvPr/>
        </p:nvSpPr>
        <p:spPr>
          <a:xfrm>
            <a:off x="4574828" y="3443288"/>
            <a:ext cx="5594645"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API requests made to Microsoft Graph</a:t>
            </a:r>
            <a:endParaRPr lang="en-US" sz="1725" dirty="0"/>
          </a:p>
        </p:txBody>
      </p:sp>
      <p:sp>
        <p:nvSpPr>
          <p:cNvPr id="33" name="Shape 31"/>
          <p:cNvSpPr/>
          <p:nvPr/>
        </p:nvSpPr>
        <p:spPr>
          <a:xfrm>
            <a:off x="10141074" y="3805237"/>
            <a:ext cx="7232526" cy="9525"/>
          </a:xfrm>
          <a:prstGeom prst="rect">
            <a:avLst/>
          </a:prstGeom>
          <a:solidFill>
            <a:srgbClr val="2A2F3A"/>
          </a:solidFill>
          <a:ln/>
        </p:spPr>
      </p:sp>
      <p:sp>
        <p:nvSpPr>
          <p:cNvPr id="34" name="Text 32"/>
          <p:cNvSpPr/>
          <p:nvPr/>
        </p:nvSpPr>
        <p:spPr>
          <a:xfrm>
            <a:off x="10283949" y="3443288"/>
            <a:ext cx="716375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To trace application and script access, not interactive users</a:t>
            </a:r>
            <a:endParaRPr lang="en-US" sz="17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OBJECTIVE 2.3 RECAP</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What You Should Now Be Able to Do</a:t>
            </a:r>
            <a:endParaRPr lang="en-US" sz="4050" dirty="0"/>
          </a:p>
        </p:txBody>
      </p:sp>
      <p:sp>
        <p:nvSpPr>
          <p:cNvPr id="5" name="Shape 3"/>
          <p:cNvSpPr/>
          <p:nvPr/>
        </p:nvSpPr>
        <p:spPr>
          <a:xfrm>
            <a:off x="914400" y="1890713"/>
            <a:ext cx="16459200" cy="714375"/>
          </a:xfrm>
          <a:prstGeom prst="roundRect">
            <a:avLst>
              <a:gd name="adj" fmla="val 21333"/>
            </a:avLst>
          </a:prstGeom>
          <a:solidFill>
            <a:srgbClr val="FFFFFF">
              <a:alpha val="2000"/>
            </a:srgbClr>
          </a:solidFill>
          <a:ln w="9525">
            <a:solidFill>
              <a:srgbClr val="2A2F3A"/>
            </a:solidFill>
            <a:prstDash val="solid"/>
          </a:ln>
        </p:spPr>
      </p:sp>
      <p:sp>
        <p:nvSpPr>
          <p:cNvPr id="6" name="Text 4"/>
          <p:cNvSpPr/>
          <p:nvPr/>
        </p:nvSpPr>
        <p:spPr>
          <a:xfrm>
            <a:off x="1152525" y="2128838"/>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Choose Purview Audit when the investigation needs an activity trail</a:t>
            </a:r>
            <a:endParaRPr lang="en-US" sz="1575" dirty="0"/>
          </a:p>
        </p:txBody>
      </p:sp>
      <p:sp>
        <p:nvSpPr>
          <p:cNvPr id="7" name="Shape 5"/>
          <p:cNvSpPr/>
          <p:nvPr/>
        </p:nvSpPr>
        <p:spPr>
          <a:xfrm>
            <a:off x="914400" y="2757488"/>
            <a:ext cx="16459200" cy="714375"/>
          </a:xfrm>
          <a:prstGeom prst="roundRect">
            <a:avLst>
              <a:gd name="adj" fmla="val 21333"/>
            </a:avLst>
          </a:prstGeom>
          <a:solidFill>
            <a:srgbClr val="FFFFFF">
              <a:alpha val="2000"/>
            </a:srgbClr>
          </a:solidFill>
          <a:ln w="9525">
            <a:solidFill>
              <a:srgbClr val="2A2F3A"/>
            </a:solidFill>
            <a:prstDash val="solid"/>
          </a:ln>
        </p:spPr>
      </p:sp>
      <p:sp>
        <p:nvSpPr>
          <p:cNvPr id="8" name="Text 6"/>
          <p:cNvSpPr/>
          <p:nvPr/>
        </p:nvSpPr>
        <p:spPr>
          <a:xfrm>
            <a:off x="1152525" y="2995613"/>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Choose eDiscovery Content search when the investigation needs the items themselves</a:t>
            </a:r>
            <a:endParaRPr lang="en-US" sz="1575" dirty="0"/>
          </a:p>
        </p:txBody>
      </p:sp>
      <p:sp>
        <p:nvSpPr>
          <p:cNvPr id="9" name="Shape 7"/>
          <p:cNvSpPr/>
          <p:nvPr/>
        </p:nvSpPr>
        <p:spPr>
          <a:xfrm>
            <a:off x="914400" y="3624263"/>
            <a:ext cx="16459200" cy="714375"/>
          </a:xfrm>
          <a:prstGeom prst="roundRect">
            <a:avLst>
              <a:gd name="adj" fmla="val 21333"/>
            </a:avLst>
          </a:prstGeom>
          <a:solidFill>
            <a:srgbClr val="FFFFFF">
              <a:alpha val="2000"/>
            </a:srgbClr>
          </a:solidFill>
          <a:ln w="9525">
            <a:solidFill>
              <a:srgbClr val="2A2F3A"/>
            </a:solidFill>
            <a:prstDash val="solid"/>
          </a:ln>
        </p:spPr>
      </p:sp>
      <p:sp>
        <p:nvSpPr>
          <p:cNvPr id="10" name="Text 8"/>
          <p:cNvSpPr/>
          <p:nvPr/>
        </p:nvSpPr>
        <p:spPr>
          <a:xfrm>
            <a:off x="1152525" y="3862387"/>
            <a:ext cx="16476726" cy="276225"/>
          </a:xfrm>
          <a:prstGeom prst="rect">
            <a:avLst/>
          </a:prstGeom>
          <a:noFill/>
          <a:ln/>
        </p:spPr>
        <p:txBody>
          <a:bodyPr wrap="square" lIns="25400" tIns="25400" rIns="25400" bIns="25400" rtlCol="0" anchor="t">
            <a:normAutofit/>
          </a:bodyPr>
          <a:lstStyle/>
          <a:p>
            <a:pPr algn="l" indent="0" marL="0">
              <a:buNone/>
            </a:pPr>
            <a:r>
              <a:rPr lang="en-US" sz="1575" dirty="0">
                <a:solidFill>
                  <a:srgbClr val="F5F7FB"/>
                </a:solidFill>
                <a:latin typeface="Arial" pitchFamily="34" charset="0"/>
                <a:ea typeface="Arial" pitchFamily="34" charset="-122"/>
                <a:cs typeface="Arial" pitchFamily="34" charset="-120"/>
              </a:rPr>
              <a:t>Use Microsoft Graph activity logs to trace programmatic and application-level access</a:t>
            </a:r>
            <a:endParaRPr lang="en-US" sz="157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APPLIED SCENARIO</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A Multi-Domain Compromise</a:t>
            </a:r>
            <a:endParaRPr lang="en-US" sz="4050" dirty="0"/>
          </a:p>
        </p:txBody>
      </p:sp>
      <p:sp>
        <p:nvSpPr>
          <p:cNvPr id="5" name="Shape 3"/>
          <p:cNvSpPr/>
          <p:nvPr/>
        </p:nvSpPr>
        <p:spPr>
          <a:xfrm>
            <a:off x="914400" y="1871663"/>
            <a:ext cx="16459200" cy="1481956"/>
          </a:xfrm>
          <a:prstGeom prst="roundRect">
            <a:avLst>
              <a:gd name="adj" fmla="val 10284"/>
            </a:avLst>
          </a:prstGeom>
          <a:solidFill>
            <a:srgbClr val="FFFFFF">
              <a:alpha val="2000"/>
            </a:srgbClr>
          </a:solidFill>
          <a:ln w="9525">
            <a:solidFill>
              <a:srgbClr val="2A2F3A"/>
            </a:solidFill>
            <a:prstDash val="solid"/>
          </a:ln>
        </p:spPr>
      </p:sp>
      <p:sp>
        <p:nvSpPr>
          <p:cNvPr id="6" name="Text 4"/>
          <p:cNvSpPr/>
          <p:nvPr/>
        </p:nvSpPr>
        <p:spPr>
          <a:xfrm>
            <a:off x="1152525" y="2109788"/>
            <a:ext cx="16476726" cy="1043806"/>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A finance user receives a phishing email, enters credentials on a fake portal, and within an hour an OAuth application is granted broad mailbox permissions, a mailbox forwarding rule appears, and a domain controller logs unusual reconnaissance. Which product owns each signal? In what order would you investigate, which device and identity actions would you take, and which Microsoft 365 investigation tool would confirm the scope of the data accessed?</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Mapping a Symptom to the Owning Product</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described symptom, identify which Microsoft security product owns that signal — and therefore which portal and remediation actions apply. This is the first step in almost every Domain 2 exam question.</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Selecting the Correct Remediation Action</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confirmed compromise, choose the minimum sufficient remediation — isolate versus restrict, reset password versus revoke tokens, purge messages versus block sender — and justify the choice against containment and business impact.</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Reconstructing an Attack From a Device Timeline</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 device timeline, establish the initial execution, what the process touched, and whether persistence or lateral movement followed — then decide whether live response or an investigation package is the right next step.</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PRACTICAL SKILL</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Choosing the Right Microsoft 365 Investigation Tool</a:t>
            </a:r>
            <a:endParaRPr lang="en-US" sz="4050" dirty="0"/>
          </a:p>
        </p:txBody>
      </p:sp>
      <p:sp>
        <p:nvSpPr>
          <p:cNvPr id="5" name="Shape 3"/>
          <p:cNvSpPr/>
          <p:nvPr/>
        </p:nvSpPr>
        <p:spPr>
          <a:xfrm>
            <a:off x="914400" y="1871663"/>
            <a:ext cx="16459200" cy="1146721"/>
          </a:xfrm>
          <a:prstGeom prst="roundRect">
            <a:avLst>
              <a:gd name="adj" fmla="val 13290"/>
            </a:avLst>
          </a:prstGeom>
          <a:solidFill>
            <a:srgbClr val="FFFFFF">
              <a:alpha val="2000"/>
            </a:srgbClr>
          </a:solidFill>
          <a:ln w="9525">
            <a:solidFill>
              <a:srgbClr val="2A2F3A"/>
            </a:solidFill>
            <a:prstDash val="solid"/>
          </a:ln>
        </p:spPr>
      </p:sp>
      <p:sp>
        <p:nvSpPr>
          <p:cNvPr id="6" name="Text 4"/>
          <p:cNvSpPr/>
          <p:nvPr/>
        </p:nvSpPr>
        <p:spPr>
          <a:xfrm>
            <a:off x="1152525" y="2109788"/>
            <a:ext cx="16476726" cy="708571"/>
          </a:xfrm>
          <a:prstGeom prst="rect">
            <a:avLst/>
          </a:prstGeom>
          <a:noFill/>
          <a:ln/>
        </p:spPr>
        <p:txBody>
          <a:bodyPr wrap="square" lIns="25400" tIns="25400" rIns="25400" bIns="25400" rtlCol="0" anchor="t">
            <a:normAutofit/>
          </a:bodyPr>
          <a:lstStyle/>
          <a:p>
            <a:pPr algn="l" indent="0" marL="0">
              <a:lnSpc>
                <a:spcPct val="140800"/>
              </a:lnSpc>
              <a:buNone/>
            </a:pPr>
            <a:r>
              <a:rPr lang="en-US" sz="1650" dirty="0">
                <a:solidFill>
                  <a:srgbClr val="B8C0CF"/>
                </a:solidFill>
                <a:latin typeface="Arial" pitchFamily="34" charset="0"/>
                <a:ea typeface="Arial" pitchFamily="34" charset="-122"/>
                <a:cs typeface="Arial" pitchFamily="34" charset="-120"/>
              </a:rPr>
              <a:t>Given an investigative question, decide whether Purview Audit, eDiscovery Content search, or Microsoft Graph activity logs will actually answer it — and explain why the other two will not.</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ACRONYM SPOTLIGHT</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Key Acronyms &amp; Product Names</a:t>
            </a:r>
            <a:endParaRPr lang="en-US" sz="4050" dirty="0"/>
          </a:p>
        </p:txBody>
      </p:sp>
      <p:sp>
        <p:nvSpPr>
          <p:cNvPr id="5" name="Shape 3"/>
          <p:cNvSpPr/>
          <p:nvPr/>
        </p:nvSpPr>
        <p:spPr>
          <a:xfrm>
            <a:off x="914400" y="1852612"/>
            <a:ext cx="2238152" cy="514350"/>
          </a:xfrm>
          <a:prstGeom prst="rect">
            <a:avLst/>
          </a:prstGeom>
          <a:solidFill>
            <a:srgbClr val="FF6A00">
              <a:alpha val="18000"/>
            </a:srgbClr>
          </a:solidFill>
          <a:ln/>
        </p:spPr>
      </p:sp>
      <p:sp>
        <p:nvSpPr>
          <p:cNvPr id="6" name="Shape 4"/>
          <p:cNvSpPr/>
          <p:nvPr/>
        </p:nvSpPr>
        <p:spPr>
          <a:xfrm>
            <a:off x="914400" y="2357438"/>
            <a:ext cx="2238152" cy="9525"/>
          </a:xfrm>
          <a:prstGeom prst="rect">
            <a:avLst/>
          </a:prstGeom>
          <a:solidFill>
            <a:srgbClr val="B85100"/>
          </a:solidFill>
          <a:ln/>
        </p:spPr>
      </p:sp>
      <p:sp>
        <p:nvSpPr>
          <p:cNvPr id="7" name="Text 5"/>
          <p:cNvSpPr/>
          <p:nvPr/>
        </p:nvSpPr>
        <p:spPr>
          <a:xfrm>
            <a:off x="1057275" y="1957388"/>
            <a:ext cx="2028602"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Term</a:t>
            </a:r>
            <a:endParaRPr lang="en-US" sz="2025" dirty="0"/>
          </a:p>
        </p:txBody>
      </p:sp>
      <p:sp>
        <p:nvSpPr>
          <p:cNvPr id="8" name="Shape 6"/>
          <p:cNvSpPr/>
          <p:nvPr/>
        </p:nvSpPr>
        <p:spPr>
          <a:xfrm>
            <a:off x="3152552" y="1852612"/>
            <a:ext cx="14221048" cy="514350"/>
          </a:xfrm>
          <a:prstGeom prst="rect">
            <a:avLst/>
          </a:prstGeom>
          <a:solidFill>
            <a:srgbClr val="FF6A00">
              <a:alpha val="18000"/>
            </a:srgbClr>
          </a:solidFill>
          <a:ln/>
        </p:spPr>
      </p:sp>
      <p:sp>
        <p:nvSpPr>
          <p:cNvPr id="9" name="Shape 7"/>
          <p:cNvSpPr/>
          <p:nvPr/>
        </p:nvSpPr>
        <p:spPr>
          <a:xfrm>
            <a:off x="3152552" y="2357438"/>
            <a:ext cx="14221048" cy="9525"/>
          </a:xfrm>
          <a:prstGeom prst="rect">
            <a:avLst/>
          </a:prstGeom>
          <a:solidFill>
            <a:srgbClr val="B85100"/>
          </a:solidFill>
          <a:ln/>
        </p:spPr>
      </p:sp>
      <p:sp>
        <p:nvSpPr>
          <p:cNvPr id="10" name="Text 8"/>
          <p:cNvSpPr/>
          <p:nvPr/>
        </p:nvSpPr>
        <p:spPr>
          <a:xfrm>
            <a:off x="3295427" y="1957388"/>
            <a:ext cx="14361930" cy="333375"/>
          </a:xfrm>
          <a:prstGeom prst="rect">
            <a:avLst/>
          </a:prstGeom>
          <a:noFill/>
          <a:ln/>
        </p:spPr>
        <p:txBody>
          <a:bodyPr wrap="square" lIns="25400" tIns="25400" rIns="25400" bIns="25400" rtlCol="0" anchor="ctr">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Meaning</a:t>
            </a:r>
            <a:endParaRPr lang="en-US" sz="2025" dirty="0"/>
          </a:p>
        </p:txBody>
      </p:sp>
      <p:sp>
        <p:nvSpPr>
          <p:cNvPr id="11" name="Shape 9"/>
          <p:cNvSpPr/>
          <p:nvPr/>
        </p:nvSpPr>
        <p:spPr>
          <a:xfrm>
            <a:off x="914400" y="2833688"/>
            <a:ext cx="2238152" cy="9525"/>
          </a:xfrm>
          <a:prstGeom prst="rect">
            <a:avLst/>
          </a:prstGeom>
          <a:solidFill>
            <a:srgbClr val="2A2F3A"/>
          </a:solidFill>
          <a:ln/>
        </p:spPr>
      </p:sp>
      <p:sp>
        <p:nvSpPr>
          <p:cNvPr id="12" name="Text 10"/>
          <p:cNvSpPr/>
          <p:nvPr/>
        </p:nvSpPr>
        <p:spPr>
          <a:xfrm>
            <a:off x="1057275" y="2471738"/>
            <a:ext cx="20286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MDO</a:t>
            </a:r>
            <a:endParaRPr lang="en-US" sz="1725" dirty="0"/>
          </a:p>
        </p:txBody>
      </p:sp>
      <p:sp>
        <p:nvSpPr>
          <p:cNvPr id="13" name="Shape 11"/>
          <p:cNvSpPr/>
          <p:nvPr/>
        </p:nvSpPr>
        <p:spPr>
          <a:xfrm>
            <a:off x="3152552" y="2833688"/>
            <a:ext cx="14221048" cy="9525"/>
          </a:xfrm>
          <a:prstGeom prst="rect">
            <a:avLst/>
          </a:prstGeom>
          <a:solidFill>
            <a:srgbClr val="2A2F3A"/>
          </a:solidFill>
          <a:ln/>
        </p:spPr>
      </p:sp>
      <p:sp>
        <p:nvSpPr>
          <p:cNvPr id="14" name="Text 12"/>
          <p:cNvSpPr/>
          <p:nvPr/>
        </p:nvSpPr>
        <p:spPr>
          <a:xfrm>
            <a:off x="3295427" y="2471738"/>
            <a:ext cx="1436193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Microsoft Defender for Office 365</a:t>
            </a:r>
            <a:endParaRPr lang="en-US" sz="1725" dirty="0"/>
          </a:p>
        </p:txBody>
      </p:sp>
      <p:sp>
        <p:nvSpPr>
          <p:cNvPr id="15" name="Shape 13"/>
          <p:cNvSpPr/>
          <p:nvPr/>
        </p:nvSpPr>
        <p:spPr>
          <a:xfrm>
            <a:off x="914400" y="2843213"/>
            <a:ext cx="2238152" cy="476250"/>
          </a:xfrm>
          <a:prstGeom prst="rect">
            <a:avLst/>
          </a:prstGeom>
          <a:solidFill>
            <a:srgbClr val="FFFFFF">
              <a:alpha val="2000"/>
            </a:srgbClr>
          </a:solidFill>
          <a:ln/>
        </p:spPr>
      </p:sp>
      <p:sp>
        <p:nvSpPr>
          <p:cNvPr id="16" name="Shape 14"/>
          <p:cNvSpPr/>
          <p:nvPr/>
        </p:nvSpPr>
        <p:spPr>
          <a:xfrm>
            <a:off x="914400" y="3309938"/>
            <a:ext cx="2238152" cy="9525"/>
          </a:xfrm>
          <a:prstGeom prst="rect">
            <a:avLst/>
          </a:prstGeom>
          <a:solidFill>
            <a:srgbClr val="2A2F3A"/>
          </a:solidFill>
          <a:ln/>
        </p:spPr>
      </p:sp>
      <p:sp>
        <p:nvSpPr>
          <p:cNvPr id="17" name="Text 15"/>
          <p:cNvSpPr/>
          <p:nvPr/>
        </p:nvSpPr>
        <p:spPr>
          <a:xfrm>
            <a:off x="1057275" y="2947988"/>
            <a:ext cx="20286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MDE</a:t>
            </a:r>
            <a:endParaRPr lang="en-US" sz="1725" dirty="0"/>
          </a:p>
        </p:txBody>
      </p:sp>
      <p:sp>
        <p:nvSpPr>
          <p:cNvPr id="18" name="Shape 16"/>
          <p:cNvSpPr/>
          <p:nvPr/>
        </p:nvSpPr>
        <p:spPr>
          <a:xfrm>
            <a:off x="3152552" y="2843213"/>
            <a:ext cx="14221048" cy="476250"/>
          </a:xfrm>
          <a:prstGeom prst="rect">
            <a:avLst/>
          </a:prstGeom>
          <a:solidFill>
            <a:srgbClr val="FFFFFF">
              <a:alpha val="2000"/>
            </a:srgbClr>
          </a:solidFill>
          <a:ln/>
        </p:spPr>
      </p:sp>
      <p:sp>
        <p:nvSpPr>
          <p:cNvPr id="19" name="Shape 17"/>
          <p:cNvSpPr/>
          <p:nvPr/>
        </p:nvSpPr>
        <p:spPr>
          <a:xfrm>
            <a:off x="3152552" y="3309938"/>
            <a:ext cx="14221048" cy="9525"/>
          </a:xfrm>
          <a:prstGeom prst="rect">
            <a:avLst/>
          </a:prstGeom>
          <a:solidFill>
            <a:srgbClr val="2A2F3A"/>
          </a:solidFill>
          <a:ln/>
        </p:spPr>
      </p:sp>
      <p:sp>
        <p:nvSpPr>
          <p:cNvPr id="20" name="Text 18"/>
          <p:cNvSpPr/>
          <p:nvPr/>
        </p:nvSpPr>
        <p:spPr>
          <a:xfrm>
            <a:off x="3295427" y="2947988"/>
            <a:ext cx="1436193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Microsoft Defender for Endpoint</a:t>
            </a:r>
            <a:endParaRPr lang="en-US" sz="1725" dirty="0"/>
          </a:p>
        </p:txBody>
      </p:sp>
      <p:sp>
        <p:nvSpPr>
          <p:cNvPr id="21" name="Shape 19"/>
          <p:cNvSpPr/>
          <p:nvPr/>
        </p:nvSpPr>
        <p:spPr>
          <a:xfrm>
            <a:off x="914400" y="3786188"/>
            <a:ext cx="2238152" cy="9525"/>
          </a:xfrm>
          <a:prstGeom prst="rect">
            <a:avLst/>
          </a:prstGeom>
          <a:solidFill>
            <a:srgbClr val="2A2F3A"/>
          </a:solidFill>
          <a:ln/>
        </p:spPr>
      </p:sp>
      <p:sp>
        <p:nvSpPr>
          <p:cNvPr id="22" name="Text 20"/>
          <p:cNvSpPr/>
          <p:nvPr/>
        </p:nvSpPr>
        <p:spPr>
          <a:xfrm>
            <a:off x="1057275" y="3424238"/>
            <a:ext cx="20286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MDI</a:t>
            </a:r>
            <a:endParaRPr lang="en-US" sz="1725" dirty="0"/>
          </a:p>
        </p:txBody>
      </p:sp>
      <p:sp>
        <p:nvSpPr>
          <p:cNvPr id="23" name="Shape 21"/>
          <p:cNvSpPr/>
          <p:nvPr/>
        </p:nvSpPr>
        <p:spPr>
          <a:xfrm>
            <a:off x="3152552" y="3786188"/>
            <a:ext cx="14221048" cy="9525"/>
          </a:xfrm>
          <a:prstGeom prst="rect">
            <a:avLst/>
          </a:prstGeom>
          <a:solidFill>
            <a:srgbClr val="2A2F3A"/>
          </a:solidFill>
          <a:ln/>
        </p:spPr>
      </p:sp>
      <p:sp>
        <p:nvSpPr>
          <p:cNvPr id="24" name="Text 22"/>
          <p:cNvSpPr/>
          <p:nvPr/>
        </p:nvSpPr>
        <p:spPr>
          <a:xfrm>
            <a:off x="3295427" y="3424238"/>
            <a:ext cx="1436193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Microsoft Defender for Identity</a:t>
            </a:r>
            <a:endParaRPr lang="en-US" sz="1725" dirty="0"/>
          </a:p>
        </p:txBody>
      </p:sp>
      <p:sp>
        <p:nvSpPr>
          <p:cNvPr id="25" name="Shape 23"/>
          <p:cNvSpPr/>
          <p:nvPr/>
        </p:nvSpPr>
        <p:spPr>
          <a:xfrm>
            <a:off x="914400" y="3795713"/>
            <a:ext cx="2238152" cy="476250"/>
          </a:xfrm>
          <a:prstGeom prst="rect">
            <a:avLst/>
          </a:prstGeom>
          <a:solidFill>
            <a:srgbClr val="FFFFFF">
              <a:alpha val="2000"/>
            </a:srgbClr>
          </a:solidFill>
          <a:ln/>
        </p:spPr>
      </p:sp>
      <p:sp>
        <p:nvSpPr>
          <p:cNvPr id="26" name="Shape 24"/>
          <p:cNvSpPr/>
          <p:nvPr/>
        </p:nvSpPr>
        <p:spPr>
          <a:xfrm>
            <a:off x="914400" y="4262438"/>
            <a:ext cx="2238152" cy="9525"/>
          </a:xfrm>
          <a:prstGeom prst="rect">
            <a:avLst/>
          </a:prstGeom>
          <a:solidFill>
            <a:srgbClr val="2A2F3A"/>
          </a:solidFill>
          <a:ln/>
        </p:spPr>
      </p:sp>
      <p:sp>
        <p:nvSpPr>
          <p:cNvPr id="27" name="Text 25"/>
          <p:cNvSpPr/>
          <p:nvPr/>
        </p:nvSpPr>
        <p:spPr>
          <a:xfrm>
            <a:off x="1057275" y="3900488"/>
            <a:ext cx="20286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MDCA</a:t>
            </a:r>
            <a:endParaRPr lang="en-US" sz="1725" dirty="0"/>
          </a:p>
        </p:txBody>
      </p:sp>
      <p:sp>
        <p:nvSpPr>
          <p:cNvPr id="28" name="Shape 26"/>
          <p:cNvSpPr/>
          <p:nvPr/>
        </p:nvSpPr>
        <p:spPr>
          <a:xfrm>
            <a:off x="3152552" y="3795713"/>
            <a:ext cx="14221048" cy="476250"/>
          </a:xfrm>
          <a:prstGeom prst="rect">
            <a:avLst/>
          </a:prstGeom>
          <a:solidFill>
            <a:srgbClr val="FFFFFF">
              <a:alpha val="2000"/>
            </a:srgbClr>
          </a:solidFill>
          <a:ln/>
        </p:spPr>
      </p:sp>
      <p:sp>
        <p:nvSpPr>
          <p:cNvPr id="29" name="Shape 27"/>
          <p:cNvSpPr/>
          <p:nvPr/>
        </p:nvSpPr>
        <p:spPr>
          <a:xfrm>
            <a:off x="3152552" y="4262438"/>
            <a:ext cx="14221048" cy="9525"/>
          </a:xfrm>
          <a:prstGeom prst="rect">
            <a:avLst/>
          </a:prstGeom>
          <a:solidFill>
            <a:srgbClr val="2A2F3A"/>
          </a:solidFill>
          <a:ln/>
        </p:spPr>
      </p:sp>
      <p:sp>
        <p:nvSpPr>
          <p:cNvPr id="30" name="Text 28"/>
          <p:cNvSpPr/>
          <p:nvPr/>
        </p:nvSpPr>
        <p:spPr>
          <a:xfrm>
            <a:off x="3295427" y="3900488"/>
            <a:ext cx="1436193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Microsoft Defender for Cloud Apps</a:t>
            </a:r>
            <a:endParaRPr lang="en-US" sz="1725" dirty="0"/>
          </a:p>
        </p:txBody>
      </p:sp>
      <p:sp>
        <p:nvSpPr>
          <p:cNvPr id="31" name="Shape 29"/>
          <p:cNvSpPr/>
          <p:nvPr/>
        </p:nvSpPr>
        <p:spPr>
          <a:xfrm>
            <a:off x="914400" y="4738688"/>
            <a:ext cx="2238152" cy="9525"/>
          </a:xfrm>
          <a:prstGeom prst="rect">
            <a:avLst/>
          </a:prstGeom>
          <a:solidFill>
            <a:srgbClr val="2A2F3A"/>
          </a:solidFill>
          <a:ln/>
        </p:spPr>
      </p:sp>
      <p:sp>
        <p:nvSpPr>
          <p:cNvPr id="32" name="Text 30"/>
          <p:cNvSpPr/>
          <p:nvPr/>
        </p:nvSpPr>
        <p:spPr>
          <a:xfrm>
            <a:off x="1057275" y="4376738"/>
            <a:ext cx="20286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MFA</a:t>
            </a:r>
            <a:endParaRPr lang="en-US" sz="1725" dirty="0"/>
          </a:p>
        </p:txBody>
      </p:sp>
      <p:sp>
        <p:nvSpPr>
          <p:cNvPr id="33" name="Shape 31"/>
          <p:cNvSpPr/>
          <p:nvPr/>
        </p:nvSpPr>
        <p:spPr>
          <a:xfrm>
            <a:off x="3152552" y="4738688"/>
            <a:ext cx="14221048" cy="9525"/>
          </a:xfrm>
          <a:prstGeom prst="rect">
            <a:avLst/>
          </a:prstGeom>
          <a:solidFill>
            <a:srgbClr val="2A2F3A"/>
          </a:solidFill>
          <a:ln/>
        </p:spPr>
      </p:sp>
      <p:sp>
        <p:nvSpPr>
          <p:cNvPr id="34" name="Text 32"/>
          <p:cNvSpPr/>
          <p:nvPr/>
        </p:nvSpPr>
        <p:spPr>
          <a:xfrm>
            <a:off x="3295427" y="4376738"/>
            <a:ext cx="1436193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Multi-Factor Authentication</a:t>
            </a:r>
            <a:endParaRPr lang="en-US" sz="1725" dirty="0"/>
          </a:p>
        </p:txBody>
      </p:sp>
      <p:sp>
        <p:nvSpPr>
          <p:cNvPr id="35" name="Shape 33"/>
          <p:cNvSpPr/>
          <p:nvPr/>
        </p:nvSpPr>
        <p:spPr>
          <a:xfrm>
            <a:off x="914400" y="4748213"/>
            <a:ext cx="2238152" cy="476250"/>
          </a:xfrm>
          <a:prstGeom prst="rect">
            <a:avLst/>
          </a:prstGeom>
          <a:solidFill>
            <a:srgbClr val="FFFFFF">
              <a:alpha val="2000"/>
            </a:srgbClr>
          </a:solidFill>
          <a:ln/>
        </p:spPr>
      </p:sp>
      <p:sp>
        <p:nvSpPr>
          <p:cNvPr id="36" name="Shape 34"/>
          <p:cNvSpPr/>
          <p:nvPr/>
        </p:nvSpPr>
        <p:spPr>
          <a:xfrm>
            <a:off x="914400" y="5214938"/>
            <a:ext cx="2238152" cy="9525"/>
          </a:xfrm>
          <a:prstGeom prst="rect">
            <a:avLst/>
          </a:prstGeom>
          <a:solidFill>
            <a:srgbClr val="2A2F3A"/>
          </a:solidFill>
          <a:ln/>
        </p:spPr>
      </p:sp>
      <p:sp>
        <p:nvSpPr>
          <p:cNvPr id="37" name="Text 35"/>
          <p:cNvSpPr/>
          <p:nvPr/>
        </p:nvSpPr>
        <p:spPr>
          <a:xfrm>
            <a:off x="1057275" y="4852987"/>
            <a:ext cx="20286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OAuth</a:t>
            </a:r>
            <a:endParaRPr lang="en-US" sz="1725" dirty="0"/>
          </a:p>
        </p:txBody>
      </p:sp>
      <p:sp>
        <p:nvSpPr>
          <p:cNvPr id="38" name="Shape 36"/>
          <p:cNvSpPr/>
          <p:nvPr/>
        </p:nvSpPr>
        <p:spPr>
          <a:xfrm>
            <a:off x="3152552" y="4748213"/>
            <a:ext cx="14221048" cy="476250"/>
          </a:xfrm>
          <a:prstGeom prst="rect">
            <a:avLst/>
          </a:prstGeom>
          <a:solidFill>
            <a:srgbClr val="FFFFFF">
              <a:alpha val="2000"/>
            </a:srgbClr>
          </a:solidFill>
          <a:ln/>
        </p:spPr>
      </p:sp>
      <p:sp>
        <p:nvSpPr>
          <p:cNvPr id="39" name="Shape 37"/>
          <p:cNvSpPr/>
          <p:nvPr/>
        </p:nvSpPr>
        <p:spPr>
          <a:xfrm>
            <a:off x="3152552" y="5214938"/>
            <a:ext cx="14221048" cy="9525"/>
          </a:xfrm>
          <a:prstGeom prst="rect">
            <a:avLst/>
          </a:prstGeom>
          <a:solidFill>
            <a:srgbClr val="2A2F3A"/>
          </a:solidFill>
          <a:ln/>
        </p:spPr>
      </p:sp>
      <p:sp>
        <p:nvSpPr>
          <p:cNvPr id="40" name="Text 38"/>
          <p:cNvSpPr/>
          <p:nvPr/>
        </p:nvSpPr>
        <p:spPr>
          <a:xfrm>
            <a:off x="3295427" y="4852987"/>
            <a:ext cx="1436193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Open Authorization — the delegated app consent framework</a:t>
            </a:r>
            <a:endParaRPr lang="en-US" sz="1725" dirty="0"/>
          </a:p>
        </p:txBody>
      </p:sp>
      <p:sp>
        <p:nvSpPr>
          <p:cNvPr id="41" name="Shape 39"/>
          <p:cNvSpPr/>
          <p:nvPr/>
        </p:nvSpPr>
        <p:spPr>
          <a:xfrm>
            <a:off x="914400" y="5691188"/>
            <a:ext cx="2238152" cy="9525"/>
          </a:xfrm>
          <a:prstGeom prst="rect">
            <a:avLst/>
          </a:prstGeom>
          <a:solidFill>
            <a:srgbClr val="2A2F3A"/>
          </a:solidFill>
          <a:ln/>
        </p:spPr>
      </p:sp>
      <p:sp>
        <p:nvSpPr>
          <p:cNvPr id="42" name="Text 40"/>
          <p:cNvSpPr/>
          <p:nvPr/>
        </p:nvSpPr>
        <p:spPr>
          <a:xfrm>
            <a:off x="1057275" y="5329238"/>
            <a:ext cx="2028602"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LSASS</a:t>
            </a:r>
            <a:endParaRPr lang="en-US" sz="1725" dirty="0"/>
          </a:p>
        </p:txBody>
      </p:sp>
      <p:sp>
        <p:nvSpPr>
          <p:cNvPr id="43" name="Shape 41"/>
          <p:cNvSpPr/>
          <p:nvPr/>
        </p:nvSpPr>
        <p:spPr>
          <a:xfrm>
            <a:off x="3152552" y="5691188"/>
            <a:ext cx="14221048" cy="9525"/>
          </a:xfrm>
          <a:prstGeom prst="rect">
            <a:avLst/>
          </a:prstGeom>
          <a:solidFill>
            <a:srgbClr val="2A2F3A"/>
          </a:solidFill>
          <a:ln/>
        </p:spPr>
      </p:sp>
      <p:sp>
        <p:nvSpPr>
          <p:cNvPr id="44" name="Text 42"/>
          <p:cNvSpPr/>
          <p:nvPr/>
        </p:nvSpPr>
        <p:spPr>
          <a:xfrm>
            <a:off x="3295427" y="5329238"/>
            <a:ext cx="14361930" cy="295275"/>
          </a:xfrm>
          <a:prstGeom prst="rect">
            <a:avLst/>
          </a:prstGeom>
          <a:noFill/>
          <a:ln/>
        </p:spPr>
        <p:txBody>
          <a:bodyPr wrap="square" lIns="25400" tIns="25400" rIns="25400" bIns="25400" rtlCol="0" anchor="ctr">
            <a:normAutofit/>
          </a:bodyPr>
          <a:lstStyle/>
          <a:p>
            <a:pPr algn="l" indent="0" marL="0">
              <a:buNone/>
            </a:pPr>
            <a:r>
              <a:rPr lang="en-US" sz="1725" dirty="0">
                <a:solidFill>
                  <a:srgbClr val="F5F7FB"/>
                </a:solidFill>
                <a:latin typeface="Arial" pitchFamily="34" charset="0"/>
                <a:ea typeface="Arial" pitchFamily="34" charset="-122"/>
                <a:cs typeface="Arial" pitchFamily="34" charset="-120"/>
              </a:rPr>
              <a:t>Local Security Authority Subsystem Service</a:t>
            </a:r>
            <a:endParaRPr lang="en-US" sz="17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COMMON MISCONCEPTIONS</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What Candidates Most Often Get Wrong</a:t>
            </a:r>
            <a:endParaRPr lang="en-US" sz="4050" dirty="0"/>
          </a:p>
        </p:txBody>
      </p:sp>
      <p:sp>
        <p:nvSpPr>
          <p:cNvPr id="5" name="Shape 3"/>
          <p:cNvSpPr/>
          <p:nvPr/>
        </p:nvSpPr>
        <p:spPr>
          <a:xfrm>
            <a:off x="914400" y="1871663"/>
            <a:ext cx="16459200" cy="700088"/>
          </a:xfrm>
          <a:prstGeom prst="roundRect">
            <a:avLst>
              <a:gd name="adj" fmla="val 21769"/>
            </a:avLst>
          </a:prstGeom>
          <a:solidFill>
            <a:srgbClr val="FFFFFF">
              <a:alpha val="2000"/>
            </a:srgbClr>
          </a:solidFill>
          <a:ln w="9525">
            <a:solidFill>
              <a:srgbClr val="2A2F3A"/>
            </a:solidFill>
            <a:prstDash val="solid"/>
          </a:ln>
        </p:spPr>
      </p:sp>
      <p:sp>
        <p:nvSpPr>
          <p:cNvPr id="6" name="Text 4"/>
          <p:cNvSpPr/>
          <p:nvPr/>
        </p:nvSpPr>
        <p:spPr>
          <a:xfrm>
            <a:off x="1152525" y="2109788"/>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Entra ID and Defender for Identity are not the same — Entra ID covers cloud identity risk, Defender for Identity covers attacks on the on-premises domain</a:t>
            </a:r>
            <a:endParaRPr lang="en-US" sz="1500" dirty="0"/>
          </a:p>
        </p:txBody>
      </p:sp>
      <p:sp>
        <p:nvSpPr>
          <p:cNvPr id="7" name="Shape 5"/>
          <p:cNvSpPr/>
          <p:nvPr/>
        </p:nvSpPr>
        <p:spPr>
          <a:xfrm>
            <a:off x="914400" y="2705100"/>
            <a:ext cx="16459200" cy="700088"/>
          </a:xfrm>
          <a:prstGeom prst="roundRect">
            <a:avLst>
              <a:gd name="adj" fmla="val 21769"/>
            </a:avLst>
          </a:prstGeom>
          <a:solidFill>
            <a:srgbClr val="FFFFFF">
              <a:alpha val="2000"/>
            </a:srgbClr>
          </a:solidFill>
          <a:ln w="9525">
            <a:solidFill>
              <a:srgbClr val="2A2F3A"/>
            </a:solidFill>
            <a:prstDash val="solid"/>
          </a:ln>
        </p:spPr>
      </p:sp>
      <p:sp>
        <p:nvSpPr>
          <p:cNvPr id="8" name="Text 6"/>
          <p:cNvSpPr/>
          <p:nvPr/>
        </p:nvSpPr>
        <p:spPr>
          <a:xfrm>
            <a:off x="1152525" y="2943225"/>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Purview Audit and eDiscovery Content search answer different questions — Audit returns actions, Content search returns content</a:t>
            </a:r>
            <a:endParaRPr lang="en-US" sz="1500" dirty="0"/>
          </a:p>
        </p:txBody>
      </p:sp>
      <p:sp>
        <p:nvSpPr>
          <p:cNvPr id="9" name="Shape 7"/>
          <p:cNvSpPr/>
          <p:nvPr/>
        </p:nvSpPr>
        <p:spPr>
          <a:xfrm>
            <a:off x="914400" y="3538538"/>
            <a:ext cx="16459200" cy="700088"/>
          </a:xfrm>
          <a:prstGeom prst="roundRect">
            <a:avLst>
              <a:gd name="adj" fmla="val 21769"/>
            </a:avLst>
          </a:prstGeom>
          <a:solidFill>
            <a:srgbClr val="FFFFFF">
              <a:alpha val="2000"/>
            </a:srgbClr>
          </a:solidFill>
          <a:ln w="9525">
            <a:solidFill>
              <a:srgbClr val="2A2F3A"/>
            </a:solidFill>
            <a:prstDash val="solid"/>
          </a:ln>
        </p:spPr>
      </p:sp>
      <p:sp>
        <p:nvSpPr>
          <p:cNvPr id="10" name="Text 8"/>
          <p:cNvSpPr/>
          <p:nvPr/>
        </p:nvSpPr>
        <p:spPr>
          <a:xfrm>
            <a:off x="1152525" y="3776662"/>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Defender for Cloud workload protection alerts are runtime threats, not posture recommendations about misconfiguration</a:t>
            </a:r>
            <a:endParaRPr lang="en-US" sz="1500" dirty="0"/>
          </a:p>
        </p:txBody>
      </p:sp>
      <p:sp>
        <p:nvSpPr>
          <p:cNvPr id="11" name="Shape 9"/>
          <p:cNvSpPr/>
          <p:nvPr/>
        </p:nvSpPr>
        <p:spPr>
          <a:xfrm>
            <a:off x="914400" y="4371975"/>
            <a:ext cx="16459200" cy="700088"/>
          </a:xfrm>
          <a:prstGeom prst="roundRect">
            <a:avLst>
              <a:gd name="adj" fmla="val 21769"/>
            </a:avLst>
          </a:prstGeom>
          <a:solidFill>
            <a:srgbClr val="FFFFFF">
              <a:alpha val="2000"/>
            </a:srgbClr>
          </a:solidFill>
          <a:ln w="9525">
            <a:solidFill>
              <a:srgbClr val="2A2F3A"/>
            </a:solidFill>
            <a:prstDash val="solid"/>
          </a:ln>
        </p:spPr>
      </p:sp>
      <p:sp>
        <p:nvSpPr>
          <p:cNvPr id="12" name="Text 10"/>
          <p:cNvSpPr/>
          <p:nvPr/>
        </p:nvSpPr>
        <p:spPr>
          <a:xfrm>
            <a:off x="1152525" y="4610100"/>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Attack disruption containing an attack does not close the incident — persistence can survive containment and must still be remediated</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848473" y="3967163"/>
            <a:ext cx="2591053" cy="276225"/>
          </a:xfrm>
          <a:prstGeom prst="rect">
            <a:avLst/>
          </a:prstGeom>
          <a:noFill/>
          <a:ln/>
        </p:spPr>
        <p:txBody>
          <a:bodyPr wrap="square" lIns="25400" tIns="25400" rIns="25400" bIns="25400" rtlCol="0" anchor="t">
            <a:normAutofit/>
          </a:bodyPr>
          <a:lstStyle/>
          <a:p>
            <a:pPr algn="ctr" indent="0" marL="0">
              <a:buNone/>
            </a:pPr>
            <a:r>
              <a:rPr lang="en-US" sz="1575" b="1" spc="150" kern="0" dirty="0">
                <a:solidFill>
                  <a:srgbClr val="FF6A00"/>
                </a:solidFill>
                <a:latin typeface="Arial" pitchFamily="34" charset="0"/>
                <a:ea typeface="Arial" pitchFamily="34" charset="-122"/>
                <a:cs typeface="Arial" pitchFamily="34" charset="-120"/>
              </a:rPr>
              <a:t>DOMAIN WEIGHTING</a:t>
            </a:r>
            <a:endParaRPr lang="en-US" sz="1575" dirty="0"/>
          </a:p>
        </p:txBody>
      </p:sp>
      <p:sp>
        <p:nvSpPr>
          <p:cNvPr id="4" name="Text 2"/>
          <p:cNvSpPr/>
          <p:nvPr/>
        </p:nvSpPr>
        <p:spPr>
          <a:xfrm>
            <a:off x="5606292" y="4376738"/>
            <a:ext cx="7075341" cy="1562100"/>
          </a:xfrm>
          <a:prstGeom prst="rect">
            <a:avLst/>
          </a:prstGeom>
          <a:noFill/>
          <a:ln/>
        </p:spPr>
        <p:txBody>
          <a:bodyPr wrap="square" lIns="25400" tIns="25400" rIns="25400" bIns="25400" rtlCol="0" anchor="t">
            <a:normAutofit/>
          </a:bodyPr>
          <a:lstStyle/>
          <a:p>
            <a:pPr algn="ctr" indent="0" marL="0">
              <a:lnSpc>
                <a:spcPct val="86957"/>
              </a:lnSpc>
              <a:buNone/>
            </a:pPr>
            <a:r>
              <a:rPr lang="en-US" sz="12000" b="1" dirty="0">
                <a:solidFill>
                  <a:srgbClr val="FF6A00"/>
                </a:solidFill>
                <a:latin typeface="Arial" pitchFamily="34" charset="0"/>
                <a:ea typeface="Arial" pitchFamily="34" charset="-122"/>
                <a:cs typeface="Arial" pitchFamily="34" charset="-120"/>
              </a:rPr>
              <a:t>35–40%</a:t>
            </a:r>
            <a:endParaRPr lang="en-US" sz="12000" dirty="0"/>
          </a:p>
        </p:txBody>
      </p:sp>
      <p:sp>
        <p:nvSpPr>
          <p:cNvPr id="5" name="Text 3"/>
          <p:cNvSpPr/>
          <p:nvPr/>
        </p:nvSpPr>
        <p:spPr>
          <a:xfrm>
            <a:off x="7675595" y="6034088"/>
            <a:ext cx="2936811" cy="400050"/>
          </a:xfrm>
          <a:prstGeom prst="rect">
            <a:avLst/>
          </a:prstGeom>
          <a:noFill/>
          <a:ln/>
        </p:spPr>
        <p:txBody>
          <a:bodyPr wrap="square" lIns="25400" tIns="25400" rIns="25400" bIns="25400" rtlCol="0" anchor="t">
            <a:normAutofit/>
          </a:bodyPr>
          <a:lstStyle/>
          <a:p>
            <a:pPr algn="ctr" indent="0" marL="0">
              <a:buNone/>
            </a:pPr>
            <a:r>
              <a:rPr lang="en-US" sz="2400" dirty="0">
                <a:solidFill>
                  <a:srgbClr val="B8C0CF"/>
                </a:solidFill>
                <a:latin typeface="Arial" pitchFamily="34" charset="0"/>
                <a:ea typeface="Arial" pitchFamily="34" charset="-122"/>
                <a:cs typeface="Arial" pitchFamily="34" charset="-120"/>
              </a:rPr>
              <a:t>of the SC-200 exam</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KNOWLEDGE CHECK</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Quick Question</a:t>
            </a:r>
            <a:endParaRPr lang="en-US" sz="4050" dirty="0"/>
          </a:p>
        </p:txBody>
      </p:sp>
      <p:sp>
        <p:nvSpPr>
          <p:cNvPr id="5" name="Shape 3"/>
          <p:cNvSpPr/>
          <p:nvPr/>
        </p:nvSpPr>
        <p:spPr>
          <a:xfrm>
            <a:off x="914400" y="1871663"/>
            <a:ext cx="16459200" cy="2579191"/>
          </a:xfrm>
          <a:prstGeom prst="roundRect">
            <a:avLst>
              <a:gd name="adj" fmla="val 5909"/>
            </a:avLst>
          </a:prstGeom>
          <a:solidFill>
            <a:srgbClr val="FFFFFF">
              <a:alpha val="2000"/>
            </a:srgbClr>
          </a:solidFill>
          <a:ln w="9525">
            <a:solidFill>
              <a:srgbClr val="2A2F3A"/>
            </a:solidFill>
            <a:prstDash val="solid"/>
          </a:ln>
        </p:spPr>
      </p:sp>
      <p:sp>
        <p:nvSpPr>
          <p:cNvPr id="6" name="Text 4"/>
          <p:cNvSpPr/>
          <p:nvPr/>
        </p:nvSpPr>
        <p:spPr>
          <a:xfrm>
            <a:off x="1152525" y="2109788"/>
            <a:ext cx="16476726" cy="2141041"/>
          </a:xfrm>
          <a:prstGeom prst="rect">
            <a:avLst/>
          </a:prstGeom>
          <a:noFill/>
          <a:ln/>
        </p:spPr>
        <p:txBody>
          <a:bodyPr wrap="square" lIns="25400" tIns="25400" rIns="25400" bIns="25400" rtlCol="0" anchor="t">
            <a:normAutofit/>
          </a:bodyPr>
          <a:lstStyle/>
          <a:p>
            <a:pPr algn="l" indent="0" marL="0">
              <a:lnSpc>
                <a:spcPct val="136296"/>
              </a:lnSpc>
              <a:buNone/>
            </a:pPr>
            <a:r>
              <a:rPr lang="en-US" sz="1725" dirty="0">
                <a:solidFill>
                  <a:srgbClr val="F5F7FB"/>
                </a:solidFill>
                <a:highlight>
                  <a:srgbClr val="FFFFFF"/>
                </a:highlight>
                <a:latin typeface="Arial" pitchFamily="34" charset="0"/>
                <a:ea typeface="Arial" pitchFamily="34" charset="-122"/>
                <a:cs typeface="Arial" pitchFamily="34" charset="-120"/>
              </a:rPr>
              <a:t>You must determine which mailbox rules a compromised account created, and exactly when. Which tool should you use? </a:t>
            </a:r>
            <a:pPr algn="l" indent="0" marL="0">
              <a:lnSpc>
                <a:spcPct val="136296"/>
              </a:lnSpc>
              <a:buNone/>
            </a:pPr>
            <a:r>
              <a:rPr lang="en-US" sz="1725" dirty="0">
                <a:solidFill>
                  <a:srgbClr val="B8C0CF"/>
                </a:solidFill>
                <a:latin typeface="Arial" pitchFamily="34" charset="0"/>
                <a:ea typeface="Arial" pitchFamily="34" charset="-122"/>
                <a:cs typeface="Arial" pitchFamily="34" charset="-120"/>
              </a:rPr>
              <a:t>A. eDiscovery Content search B. Microsoft Purview Audit C. Microsoft Graph activity logs D. A Defender for Endpoint investigation package</a:t>
            </a:r>
            <a:endParaRPr lang="en-US" sz="172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685800"/>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SUMMARY</a:t>
            </a:r>
            <a:endParaRPr lang="en-US" sz="1575" dirty="0"/>
          </a:p>
        </p:txBody>
      </p:sp>
      <p:sp>
        <p:nvSpPr>
          <p:cNvPr id="4" name="Text 2"/>
          <p:cNvSpPr/>
          <p:nvPr/>
        </p:nvSpPr>
        <p:spPr>
          <a:xfrm>
            <a:off x="914400" y="1038225"/>
            <a:ext cx="18105120" cy="642938"/>
          </a:xfrm>
          <a:prstGeom prst="rect">
            <a:avLst/>
          </a:prstGeom>
          <a:noFill/>
          <a:ln/>
        </p:spPr>
        <p:txBody>
          <a:bodyPr wrap="square" lIns="25400" tIns="25400" rIns="25400" bIns="25400" rtlCol="0" anchor="t">
            <a:normAutofit/>
          </a:bodyPr>
          <a:lstStyle/>
          <a:p>
            <a:pPr algn="l" indent="0" marL="0">
              <a:buNone/>
            </a:pPr>
            <a:r>
              <a:rPr lang="en-US" sz="4050" b="1" dirty="0">
                <a:solidFill>
                  <a:srgbClr val="F5F7FB"/>
                </a:solidFill>
                <a:latin typeface="Arial" pitchFamily="34" charset="0"/>
                <a:ea typeface="Arial" pitchFamily="34" charset="-122"/>
                <a:cs typeface="Arial" pitchFamily="34" charset="-120"/>
              </a:rPr>
              <a:t>Module 2 Summary</a:t>
            </a:r>
            <a:endParaRPr lang="en-US" sz="4050" dirty="0"/>
          </a:p>
        </p:txBody>
      </p:sp>
      <p:sp>
        <p:nvSpPr>
          <p:cNvPr id="5" name="Shape 3"/>
          <p:cNvSpPr/>
          <p:nvPr/>
        </p:nvSpPr>
        <p:spPr>
          <a:xfrm>
            <a:off x="914400" y="1871663"/>
            <a:ext cx="16459200" cy="700088"/>
          </a:xfrm>
          <a:prstGeom prst="roundRect">
            <a:avLst>
              <a:gd name="adj" fmla="val 21769"/>
            </a:avLst>
          </a:prstGeom>
          <a:solidFill>
            <a:srgbClr val="FFFFFF">
              <a:alpha val="2000"/>
            </a:srgbClr>
          </a:solidFill>
          <a:ln w="9525">
            <a:solidFill>
              <a:srgbClr val="2A2F3A"/>
            </a:solidFill>
            <a:prstDash val="solid"/>
          </a:ln>
        </p:spPr>
      </p:sp>
      <p:sp>
        <p:nvSpPr>
          <p:cNvPr id="6" name="Text 4"/>
          <p:cNvSpPr/>
          <p:nvPr/>
        </p:nvSpPr>
        <p:spPr>
          <a:xfrm>
            <a:off x="1152525" y="2109788"/>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Each signal source has an owning product — Defender for Office 365, Purview, Defender for Cloud, Defender for Cloud Apps, Entra ID, Defender for Identity, and Sentinel</a:t>
            </a:r>
            <a:endParaRPr lang="en-US" sz="1500" dirty="0"/>
          </a:p>
        </p:txBody>
      </p:sp>
      <p:sp>
        <p:nvSpPr>
          <p:cNvPr id="7" name="Shape 5"/>
          <p:cNvSpPr/>
          <p:nvPr/>
        </p:nvSpPr>
        <p:spPr>
          <a:xfrm>
            <a:off x="914400" y="2705100"/>
            <a:ext cx="16459200" cy="700088"/>
          </a:xfrm>
          <a:prstGeom prst="roundRect">
            <a:avLst>
              <a:gd name="adj" fmla="val 21769"/>
            </a:avLst>
          </a:prstGeom>
          <a:solidFill>
            <a:srgbClr val="FFFFFF">
              <a:alpha val="2000"/>
            </a:srgbClr>
          </a:solidFill>
          <a:ln w="9525">
            <a:solidFill>
              <a:srgbClr val="2A2F3A"/>
            </a:solidFill>
            <a:prstDash val="solid"/>
          </a:ln>
        </p:spPr>
      </p:sp>
      <p:sp>
        <p:nvSpPr>
          <p:cNvPr id="8" name="Text 6"/>
          <p:cNvSpPr/>
          <p:nvPr/>
        </p:nvSpPr>
        <p:spPr>
          <a:xfrm>
            <a:off x="1152525" y="2943225"/>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Agentic AI with embedded Security Copilot accelerates investigation; complex attacks span multiple stages, domains, and lateral movement</a:t>
            </a:r>
            <a:endParaRPr lang="en-US" sz="1500" dirty="0"/>
          </a:p>
        </p:txBody>
      </p:sp>
      <p:sp>
        <p:nvSpPr>
          <p:cNvPr id="9" name="Shape 7"/>
          <p:cNvSpPr/>
          <p:nvPr/>
        </p:nvSpPr>
        <p:spPr>
          <a:xfrm>
            <a:off x="914400" y="3538538"/>
            <a:ext cx="16459200" cy="700088"/>
          </a:xfrm>
          <a:prstGeom prst="roundRect">
            <a:avLst>
              <a:gd name="adj" fmla="val 21769"/>
            </a:avLst>
          </a:prstGeom>
          <a:solidFill>
            <a:srgbClr val="FFFFFF">
              <a:alpha val="2000"/>
            </a:srgbClr>
          </a:solidFill>
          <a:ln w="9525">
            <a:solidFill>
              <a:srgbClr val="2A2F3A"/>
            </a:solidFill>
            <a:prstDash val="solid"/>
          </a:ln>
        </p:spPr>
      </p:sp>
      <p:sp>
        <p:nvSpPr>
          <p:cNvPr id="10" name="Text 8"/>
          <p:cNvSpPr/>
          <p:nvPr/>
        </p:nvSpPr>
        <p:spPr>
          <a:xfrm>
            <a:off x="1152525" y="3776662"/>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Endpoint response spans device timelines, containment actions, live response, investigation packages, and entity-level evidence</a:t>
            </a:r>
            <a:endParaRPr lang="en-US" sz="1500" dirty="0"/>
          </a:p>
        </p:txBody>
      </p:sp>
      <p:sp>
        <p:nvSpPr>
          <p:cNvPr id="11" name="Shape 9"/>
          <p:cNvSpPr/>
          <p:nvPr/>
        </p:nvSpPr>
        <p:spPr>
          <a:xfrm>
            <a:off x="914400" y="4371975"/>
            <a:ext cx="16459200" cy="700088"/>
          </a:xfrm>
          <a:prstGeom prst="roundRect">
            <a:avLst>
              <a:gd name="adj" fmla="val 21769"/>
            </a:avLst>
          </a:prstGeom>
          <a:solidFill>
            <a:srgbClr val="FFFFFF">
              <a:alpha val="2000"/>
            </a:srgbClr>
          </a:solidFill>
          <a:ln w="9525">
            <a:solidFill>
              <a:srgbClr val="2A2F3A"/>
            </a:solidFill>
            <a:prstDash val="solid"/>
          </a:ln>
        </p:spPr>
      </p:sp>
      <p:sp>
        <p:nvSpPr>
          <p:cNvPr id="12" name="Text 10"/>
          <p:cNvSpPr/>
          <p:nvPr/>
        </p:nvSpPr>
        <p:spPr>
          <a:xfrm>
            <a:off x="1152525" y="4610100"/>
            <a:ext cx="16476726" cy="261937"/>
          </a:xfrm>
          <a:prstGeom prst="rect">
            <a:avLst/>
          </a:prstGeom>
          <a:noFill/>
          <a:ln/>
        </p:spPr>
        <p:txBody>
          <a:bodyPr wrap="square" lIns="25400" tIns="25400" rIns="25400" bIns="25400" rtlCol="0" anchor="t">
            <a:normAutofit/>
          </a:bodyPr>
          <a:lstStyle/>
          <a:p>
            <a:pPr algn="l" indent="0" marL="0">
              <a:buNone/>
            </a:pPr>
            <a:r>
              <a:rPr lang="en-US" sz="1500" dirty="0">
                <a:solidFill>
                  <a:srgbClr val="F5F7FB"/>
                </a:solidFill>
                <a:latin typeface="Arial" pitchFamily="34" charset="0"/>
                <a:ea typeface="Arial" pitchFamily="34" charset="-122"/>
                <a:cs typeface="Arial" pitchFamily="34" charset="-120"/>
              </a:rPr>
              <a:t>Microsoft 365 investigation uses Purview Audit for actions, Content search for content, and Graph activity logs for API access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14400" y="3963367"/>
            <a:ext cx="18105120" cy="276225"/>
          </a:xfrm>
          <a:prstGeom prst="rect">
            <a:avLst/>
          </a:prstGeom>
          <a:noFill/>
          <a:ln/>
        </p:spPr>
        <p:txBody>
          <a:bodyPr wrap="square" lIns="25400" tIns="25400" rIns="25400" bIns="25400" rtlCol="0" anchor="t">
            <a:normAutofit/>
          </a:bodyPr>
          <a:lstStyle/>
          <a:p>
            <a:pPr algn="l" indent="0" marL="0">
              <a:buNone/>
            </a:pPr>
            <a:r>
              <a:rPr lang="en-US" sz="1575" b="1" spc="150" kern="0" dirty="0">
                <a:solidFill>
                  <a:srgbClr val="FF6A00"/>
                </a:solidFill>
                <a:latin typeface="Arial" pitchFamily="34" charset="0"/>
                <a:ea typeface="Arial" pitchFamily="34" charset="-122"/>
                <a:cs typeface="Arial" pitchFamily="34" charset="-120"/>
              </a:rPr>
              <a:t>NEXT</a:t>
            </a:r>
            <a:endParaRPr lang="en-US" sz="1575" dirty="0"/>
          </a:p>
        </p:txBody>
      </p:sp>
      <p:sp>
        <p:nvSpPr>
          <p:cNvPr id="4" name="Text 2"/>
          <p:cNvSpPr/>
          <p:nvPr/>
        </p:nvSpPr>
        <p:spPr>
          <a:xfrm>
            <a:off x="914400" y="4391992"/>
            <a:ext cx="16952976"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F5F7FB"/>
                </a:solidFill>
                <a:latin typeface="Arial" pitchFamily="34" charset="0"/>
                <a:ea typeface="Arial" pitchFamily="34" charset="-122"/>
                <a:cs typeface="Arial" pitchFamily="34" charset="-120"/>
              </a:rPr>
              <a:t>Module 3: Perform Threat Hunting</a:t>
            </a:r>
            <a:endParaRPr lang="en-US" sz="4800" dirty="0"/>
          </a:p>
        </p:txBody>
      </p:sp>
      <p:sp>
        <p:nvSpPr>
          <p:cNvPr id="5" name="Text 3"/>
          <p:cNvSpPr/>
          <p:nvPr/>
        </p:nvSpPr>
        <p:spPr>
          <a:xfrm>
            <a:off x="914400" y="5961683"/>
            <a:ext cx="18105120" cy="400050"/>
          </a:xfrm>
          <a:prstGeom prst="rect">
            <a:avLst/>
          </a:prstGeom>
          <a:noFill/>
          <a:ln/>
        </p:spPr>
        <p:txBody>
          <a:bodyPr wrap="square" lIns="25400" tIns="25400" rIns="25400" bIns="25400" rtlCol="0" anchor="t">
            <a:normAutofit/>
          </a:bodyPr>
          <a:lstStyle/>
          <a:p>
            <a:pPr algn="l" indent="0" marL="0">
              <a:buNone/>
            </a:pPr>
            <a:r>
              <a:rPr lang="en-US" sz="2400" dirty="0">
                <a:solidFill>
                  <a:srgbClr val="B8C0CF"/>
                </a:solidFill>
                <a:latin typeface="Arial" pitchFamily="34" charset="0"/>
                <a:ea typeface="Arial" pitchFamily="34" charset="-122"/>
                <a:cs typeface="Arial" pitchFamily="34" charset="-120"/>
              </a:rPr>
              <a:t>Complete the Module 2 PBQ, Flashcards, Cheat Sheet, and Quiz before continuing</a:t>
            </a:r>
            <a:endParaRPr lang="en-US" sz="2400" dirty="0"/>
          </a:p>
        </p:txBody>
      </p:sp>
      <p:sp>
        <p:nvSpPr>
          <p:cNvPr id="6" name="Text 4"/>
          <p:cNvSpPr/>
          <p:nvPr/>
        </p:nvSpPr>
        <p:spPr>
          <a:xfrm>
            <a:off x="914400" y="9796463"/>
            <a:ext cx="1642348" cy="242888"/>
          </a:xfrm>
          <a:prstGeom prst="rect">
            <a:avLst/>
          </a:prstGeom>
          <a:noFill/>
          <a:ln/>
        </p:spPr>
        <p:txBody>
          <a:bodyPr wrap="square" lIns="25400" tIns="25400" rIns="25400" bIns="25400" rtlCol="0" anchor="t">
            <a:normAutofit/>
          </a:bodyPr>
          <a:lstStyle/>
          <a:p>
            <a:pPr algn="l" indent="0" marL="0">
              <a:buNone/>
            </a:pPr>
            <a:r>
              <a:rPr lang="en-US" sz="1350" dirty="0">
                <a:solidFill>
                  <a:srgbClr val="8891A1"/>
                </a:solidFill>
                <a:latin typeface="Arial" pitchFamily="34" charset="0"/>
                <a:ea typeface="Arial" pitchFamily="34" charset="-122"/>
                <a:cs typeface="Arial" pitchFamily="34" charset="-120"/>
              </a:rPr>
              <a:t>My Cyber Academy</a:t>
            </a:r>
            <a:endParaRPr lang="en-US" sz="1350" dirty="0"/>
          </a:p>
        </p:txBody>
      </p:sp>
      <p:sp>
        <p:nvSpPr>
          <p:cNvPr id="7" name="Text 5"/>
          <p:cNvSpPr/>
          <p:nvPr/>
        </p:nvSpPr>
        <p:spPr>
          <a:xfrm>
            <a:off x="16589573" y="9796463"/>
            <a:ext cx="860227" cy="242888"/>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FF6A00"/>
                </a:solidFill>
                <a:latin typeface="Arial" pitchFamily="34" charset="0"/>
                <a:ea typeface="Arial" pitchFamily="34" charset="-122"/>
                <a:cs typeface="Arial" pitchFamily="34" charset="-120"/>
              </a:rPr>
              <a:t>SC</a:t>
            </a:r>
            <a:pPr algn="l" indent="0" marL="0">
              <a:buNone/>
            </a:pPr>
            <a:r>
              <a:rPr lang="en-US" sz="1350" b="1" spc="150" kern="0" dirty="0">
                <a:solidFill>
                  <a:srgbClr val="8891A1"/>
                </a:solidFill>
                <a:latin typeface="Arial" pitchFamily="34" charset="0"/>
                <a:ea typeface="Arial" pitchFamily="34" charset="-122"/>
                <a:cs typeface="Arial" pitchFamily="34" charset="-120"/>
              </a:rPr>
              <a:t>-200</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2026-07-30T15:44:04Z</dcterms:created>
  <dcterms:modified xsi:type="dcterms:W3CDTF">2026-07-30T15:44:04Z</dcterms:modified>
</cp:coreProperties>
</file>