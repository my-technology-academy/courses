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3, the final SC-200 module: Perform Threat Hunting — 20-25% of the exam and the most KQL-heavy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functional sub-groups make up this domain — one per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Reconfirm domain weighting, and stress that KQL skill is disproportionately important relative to the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3.1 — six measured tasks in Defender XDR.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identifying the appropriate table — this is the single most practical KQL skill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identifying threats using KQL — the operators candidates must be fluent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concrete query so learners can see the pipeline pattern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creating Advanced Hunting queries as a practice, including saving and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interpreting threat analytics in Defender XDR.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creating hunting graphs, including blast radius — new in the July 2026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analysing relationships between entities using Sentinel Graph — also new in the July 2026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3.1 before moving to the Sentinel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3.2: hunting on the Sentinel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creating and monitoring hunting queries in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creating and managing KQL jobs in the data lake — new in the July 2026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creating and managing summary rule tables — new in the July 2026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hunting with Notebooks including connection to the Sentinel MCP Server — new in the July 2026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decision table is the practical takeaway of the whole module — when do you use which hunting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3.2 before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all three domains connect into one operating loop — the closing conceptual slide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as a class — spans both objectives and connects back to Modules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selecting the correct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reading and writing KQL.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choosing a hunting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graph-based scope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quick-reference recap before the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these directly — each is a documented exam distractor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and that KQL spans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both objectives before closing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entire three-domain SC-200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88434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MICROSOFT SC-200 · DOMAIN 3 · MODULE 3 OF 3</a:t>
            </a:r>
            <a:endParaRPr lang="en-US" sz="1575" dirty="0"/>
          </a:p>
        </p:txBody>
      </p:sp>
      <p:sp>
        <p:nvSpPr>
          <p:cNvPr id="4" name="Text 2"/>
          <p:cNvSpPr/>
          <p:nvPr/>
        </p:nvSpPr>
        <p:spPr>
          <a:xfrm>
            <a:off x="914400" y="4332015"/>
            <a:ext cx="16952976" cy="1518196"/>
          </a:xfrm>
          <a:prstGeom prst="rect">
            <a:avLst/>
          </a:prstGeom>
          <a:noFill/>
          <a:ln/>
        </p:spPr>
        <p:txBody>
          <a:bodyPr wrap="square" lIns="25400" tIns="25400" rIns="25400" bIns="25400" rtlCol="0" anchor="t">
            <a:normAutofit/>
          </a:bodyPr>
          <a:lstStyle/>
          <a:p>
            <a:pPr algn="l" indent="0" marL="0">
              <a:lnSpc>
                <a:spcPct val="91412"/>
              </a:lnSpc>
              <a:buNone/>
            </a:pPr>
            <a:r>
              <a:rPr lang="en-US" sz="5550" b="1" dirty="0">
                <a:solidFill>
                  <a:srgbClr val="F5F7FB"/>
                </a:solidFill>
                <a:latin typeface="Arial" pitchFamily="34" charset="0"/>
                <a:ea typeface="Arial" pitchFamily="34" charset="-122"/>
                <a:cs typeface="Arial" pitchFamily="34" charset="-120"/>
              </a:rPr>
              <a:t>Perform Threat Hunting</a:t>
            </a:r>
            <a:endParaRPr lang="en-US" sz="5550" dirty="0"/>
          </a:p>
        </p:txBody>
      </p:sp>
      <p:sp>
        <p:nvSpPr>
          <p:cNvPr id="5" name="Text 3"/>
          <p:cNvSpPr/>
          <p:nvPr/>
        </p:nvSpPr>
        <p:spPr>
          <a:xfrm>
            <a:off x="914400" y="6040710"/>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KQL, Advanced Hunting, hunting graphs, Sentinel Graph, data lake KQL jobs, summary rules, and Notebooks</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589573" y="9796463"/>
            <a:ext cx="860227"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SC</a:t>
            </a:r>
            <a:pPr algn="l" indent="0" marL="0">
              <a:buNone/>
            </a:pPr>
            <a:r>
              <a:rPr lang="en-US" sz="1350" b="1" spc="150" kern="0" dirty="0">
                <a:solidFill>
                  <a:srgbClr val="8891A1"/>
                </a:solidFill>
                <a:latin typeface="Arial" pitchFamily="34" charset="0"/>
                <a:ea typeface="Arial" pitchFamily="34" charset="-122"/>
                <a:cs typeface="Arial" pitchFamily="34" charset="-120"/>
              </a:rPr>
              <a:t>-200</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LEARNING OBJECTIVES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By the end of this module, you will be able to</a:t>
            </a:r>
            <a:endParaRPr lang="en-US" sz="4050" dirty="0"/>
          </a:p>
        </p:txBody>
      </p:sp>
      <p:sp>
        <p:nvSpPr>
          <p:cNvPr id="5" name="Shape 3"/>
          <p:cNvSpPr/>
          <p:nvPr/>
        </p:nvSpPr>
        <p:spPr>
          <a:xfrm>
            <a:off x="914400" y="1928813"/>
            <a:ext cx="16459200" cy="933450"/>
          </a:xfrm>
          <a:prstGeom prst="roundRect">
            <a:avLst>
              <a:gd name="adj" fmla="val 16327"/>
            </a:avLst>
          </a:prstGeom>
          <a:solidFill>
            <a:srgbClr val="FFFFFF">
              <a:alpha val="2000"/>
            </a:srgbClr>
          </a:solidFill>
          <a:ln w="9525">
            <a:solidFill>
              <a:srgbClr val="2A2F3A"/>
            </a:solidFill>
            <a:prstDash val="solid"/>
          </a:ln>
        </p:spPr>
      </p:sp>
      <p:sp>
        <p:nvSpPr>
          <p:cNvPr id="6" name="Shape 4"/>
          <p:cNvSpPr/>
          <p:nvPr/>
        </p:nvSpPr>
        <p:spPr>
          <a:xfrm>
            <a:off x="1152525" y="2166938"/>
            <a:ext cx="457200" cy="457200"/>
          </a:xfrm>
          <a:prstGeom prst="ellipse">
            <a:avLst/>
          </a:prstGeom>
          <a:solidFill>
            <a:srgbClr val="FF6A00">
              <a:alpha val="18000"/>
            </a:srgbClr>
          </a:solidFill>
          <a:ln w="9525">
            <a:solidFill>
              <a:srgbClr val="FF6A00"/>
            </a:solidFill>
            <a:prstDash val="solid"/>
          </a:ln>
        </p:spPr>
      </p:sp>
      <p:sp>
        <p:nvSpPr>
          <p:cNvPr id="7" name="Text 5"/>
          <p:cNvSpPr/>
          <p:nvPr/>
        </p:nvSpPr>
        <p:spPr>
          <a:xfrm>
            <a:off x="1123950" y="2176462"/>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3.1</a:t>
            </a:r>
            <a:endParaRPr lang="en-US" sz="1425" dirty="0"/>
          </a:p>
        </p:txBody>
      </p:sp>
      <p:sp>
        <p:nvSpPr>
          <p:cNvPr id="8" name="Text 6"/>
          <p:cNvSpPr/>
          <p:nvPr/>
        </p:nvSpPr>
        <p:spPr>
          <a:xfrm>
            <a:off x="1800225" y="2271713"/>
            <a:ext cx="4474085"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Detect threats by using Microsoft Defender XDR</a:t>
            </a:r>
            <a:endParaRPr lang="en-US" sz="1650" dirty="0"/>
          </a:p>
        </p:txBody>
      </p:sp>
      <p:sp>
        <p:nvSpPr>
          <p:cNvPr id="9" name="Shape 7"/>
          <p:cNvSpPr/>
          <p:nvPr/>
        </p:nvSpPr>
        <p:spPr>
          <a:xfrm>
            <a:off x="914400" y="3014663"/>
            <a:ext cx="16459200" cy="933450"/>
          </a:xfrm>
          <a:prstGeom prst="roundRect">
            <a:avLst>
              <a:gd name="adj" fmla="val 16327"/>
            </a:avLst>
          </a:prstGeom>
          <a:solidFill>
            <a:srgbClr val="FFFFFF">
              <a:alpha val="2000"/>
            </a:srgbClr>
          </a:solidFill>
          <a:ln w="9525">
            <a:solidFill>
              <a:srgbClr val="2A2F3A"/>
            </a:solidFill>
            <a:prstDash val="solid"/>
          </a:ln>
        </p:spPr>
      </p:sp>
      <p:sp>
        <p:nvSpPr>
          <p:cNvPr id="10" name="Shape 8"/>
          <p:cNvSpPr/>
          <p:nvPr/>
        </p:nvSpPr>
        <p:spPr>
          <a:xfrm>
            <a:off x="1152525" y="3252788"/>
            <a:ext cx="457200" cy="457200"/>
          </a:xfrm>
          <a:prstGeom prst="ellipse">
            <a:avLst/>
          </a:prstGeom>
          <a:solidFill>
            <a:srgbClr val="FF6A00">
              <a:alpha val="18000"/>
            </a:srgbClr>
          </a:solidFill>
          <a:ln w="9525">
            <a:solidFill>
              <a:srgbClr val="FF6A00"/>
            </a:solidFill>
            <a:prstDash val="solid"/>
          </a:ln>
        </p:spPr>
      </p:sp>
      <p:sp>
        <p:nvSpPr>
          <p:cNvPr id="11" name="Text 9"/>
          <p:cNvSpPr/>
          <p:nvPr/>
        </p:nvSpPr>
        <p:spPr>
          <a:xfrm>
            <a:off x="1123950" y="3262312"/>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3.2</a:t>
            </a:r>
            <a:endParaRPr lang="en-US" sz="1425" dirty="0"/>
          </a:p>
        </p:txBody>
      </p:sp>
      <p:sp>
        <p:nvSpPr>
          <p:cNvPr id="12" name="Text 10"/>
          <p:cNvSpPr/>
          <p:nvPr/>
        </p:nvSpPr>
        <p:spPr>
          <a:xfrm>
            <a:off x="1800225" y="3357563"/>
            <a:ext cx="5073001"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Detect threats by using the Microsoft Sentinel platform</a:t>
            </a:r>
            <a:endParaRPr lang="en-US" sz="1650" dirty="0"/>
          </a:p>
        </p:txBody>
      </p:sp>
      <p:sp>
        <p:nvSpPr>
          <p:cNvPr id="13" name="Shape 11"/>
          <p:cNvSpPr/>
          <p:nvPr/>
        </p:nvSpPr>
        <p:spPr>
          <a:xfrm>
            <a:off x="914400" y="4157663"/>
            <a:ext cx="16459200" cy="923925"/>
          </a:xfrm>
          <a:prstGeom prst="roundRect">
            <a:avLst>
              <a:gd name="adj" fmla="val 16495"/>
            </a:avLst>
          </a:prstGeom>
          <a:solidFill>
            <a:srgbClr val="FFFFFF">
              <a:alpha val="2000"/>
            </a:srgbClr>
          </a:solidFill>
          <a:ln w="9525">
            <a:solidFill>
              <a:srgbClr val="2A2F3A"/>
            </a:solidFill>
            <a:prstDash val="solid"/>
          </a:ln>
        </p:spPr>
      </p:sp>
      <p:sp>
        <p:nvSpPr>
          <p:cNvPr id="14" name="Text 12"/>
          <p:cNvSpPr/>
          <p:nvPr/>
        </p:nvSpPr>
        <p:spPr>
          <a:xfrm>
            <a:off x="1152525" y="4395788"/>
            <a:ext cx="16476726" cy="485775"/>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Hunting is proactive: rather than waiting for an alert, you query the telemetry Module 1 ingested to find activity no existing detection caught — and then promote what you find into a permanent detection.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EXAM STRUCTURE</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Where This Module Sits in SC-200</a:t>
            </a:r>
            <a:endParaRPr lang="en-US" sz="4050" dirty="0"/>
          </a:p>
        </p:txBody>
      </p:sp>
      <p:sp>
        <p:nvSpPr>
          <p:cNvPr id="5" name="Shape 3"/>
          <p:cNvSpPr/>
          <p:nvPr/>
        </p:nvSpPr>
        <p:spPr>
          <a:xfrm>
            <a:off x="91440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6" name="Text 4"/>
          <p:cNvSpPr/>
          <p:nvPr/>
        </p:nvSpPr>
        <p:spPr>
          <a:xfrm>
            <a:off x="115252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B8C0CF"/>
                </a:solidFill>
                <a:latin typeface="Arial" pitchFamily="34" charset="0"/>
                <a:ea typeface="Arial" pitchFamily="34" charset="-122"/>
                <a:cs typeface="Arial" pitchFamily="34" charset="-120"/>
              </a:rPr>
              <a:t>40–45%</a:t>
            </a:r>
            <a:endParaRPr lang="en-US" sz="4200" dirty="0"/>
          </a:p>
        </p:txBody>
      </p:sp>
      <p:sp>
        <p:nvSpPr>
          <p:cNvPr id="7" name="Text 5"/>
          <p:cNvSpPr/>
          <p:nvPr/>
        </p:nvSpPr>
        <p:spPr>
          <a:xfrm>
            <a:off x="115252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1</a:t>
            </a:r>
            <a:endParaRPr lang="en-US" sz="1575" dirty="0"/>
          </a:p>
        </p:txBody>
      </p:sp>
      <p:sp>
        <p:nvSpPr>
          <p:cNvPr id="8" name="Text 6"/>
          <p:cNvSpPr/>
          <p:nvPr/>
        </p:nvSpPr>
        <p:spPr>
          <a:xfrm>
            <a:off x="115252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Manage a security operations environment</a:t>
            </a:r>
            <a:endParaRPr lang="en-US" sz="1425" dirty="0"/>
          </a:p>
        </p:txBody>
      </p:sp>
      <p:sp>
        <p:nvSpPr>
          <p:cNvPr id="9" name="Shape 7"/>
          <p:cNvSpPr/>
          <p:nvPr/>
        </p:nvSpPr>
        <p:spPr>
          <a:xfrm>
            <a:off x="645795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10" name="Text 8"/>
          <p:cNvSpPr/>
          <p:nvPr/>
        </p:nvSpPr>
        <p:spPr>
          <a:xfrm>
            <a:off x="669607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B8C0CF"/>
                </a:solidFill>
                <a:latin typeface="Arial" pitchFamily="34" charset="0"/>
                <a:ea typeface="Arial" pitchFamily="34" charset="-122"/>
                <a:cs typeface="Arial" pitchFamily="34" charset="-120"/>
              </a:rPr>
              <a:t>35–40%</a:t>
            </a:r>
            <a:endParaRPr lang="en-US" sz="4200" dirty="0"/>
          </a:p>
        </p:txBody>
      </p:sp>
      <p:sp>
        <p:nvSpPr>
          <p:cNvPr id="11" name="Text 9"/>
          <p:cNvSpPr/>
          <p:nvPr/>
        </p:nvSpPr>
        <p:spPr>
          <a:xfrm>
            <a:off x="669607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2</a:t>
            </a:r>
            <a:endParaRPr lang="en-US" sz="1575" dirty="0"/>
          </a:p>
        </p:txBody>
      </p:sp>
      <p:sp>
        <p:nvSpPr>
          <p:cNvPr id="12" name="Text 10"/>
          <p:cNvSpPr/>
          <p:nvPr/>
        </p:nvSpPr>
        <p:spPr>
          <a:xfrm>
            <a:off x="669607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Respond to security incidents</a:t>
            </a:r>
            <a:endParaRPr lang="en-US" sz="1425" dirty="0"/>
          </a:p>
        </p:txBody>
      </p:sp>
      <p:sp>
        <p:nvSpPr>
          <p:cNvPr id="13" name="Shape 11"/>
          <p:cNvSpPr/>
          <p:nvPr/>
        </p:nvSpPr>
        <p:spPr>
          <a:xfrm>
            <a:off x="1200150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14" name="Text 12"/>
          <p:cNvSpPr/>
          <p:nvPr/>
        </p:nvSpPr>
        <p:spPr>
          <a:xfrm>
            <a:off x="1223962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F6A00"/>
                </a:solidFill>
                <a:latin typeface="Arial" pitchFamily="34" charset="0"/>
                <a:ea typeface="Arial" pitchFamily="34" charset="-122"/>
                <a:cs typeface="Arial" pitchFamily="34" charset="-120"/>
              </a:rPr>
              <a:t>20–25%</a:t>
            </a:r>
            <a:endParaRPr lang="en-US" sz="4200" dirty="0"/>
          </a:p>
        </p:txBody>
      </p:sp>
      <p:sp>
        <p:nvSpPr>
          <p:cNvPr id="15" name="Text 13"/>
          <p:cNvSpPr/>
          <p:nvPr/>
        </p:nvSpPr>
        <p:spPr>
          <a:xfrm>
            <a:off x="1223962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3</a:t>
            </a:r>
            <a:endParaRPr lang="en-US" sz="1575" dirty="0"/>
          </a:p>
        </p:txBody>
      </p:sp>
      <p:sp>
        <p:nvSpPr>
          <p:cNvPr id="16" name="Text 14"/>
          <p:cNvSpPr/>
          <p:nvPr/>
        </p:nvSpPr>
        <p:spPr>
          <a:xfrm>
            <a:off x="1223962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Perform threat hunting</a:t>
            </a:r>
            <a:endParaRPr lang="en-US" sz="1425" dirty="0"/>
          </a:p>
        </p:txBody>
      </p:sp>
      <p:sp>
        <p:nvSpPr>
          <p:cNvPr id="17" name="Shape 15"/>
          <p:cNvSpPr/>
          <p:nvPr/>
        </p:nvSpPr>
        <p:spPr>
          <a:xfrm>
            <a:off x="914400" y="8963025"/>
            <a:ext cx="16459200" cy="714375"/>
          </a:xfrm>
          <a:prstGeom prst="roundRect">
            <a:avLst>
              <a:gd name="adj" fmla="val 21333"/>
            </a:avLst>
          </a:prstGeom>
          <a:solidFill>
            <a:srgbClr val="FFFFFF">
              <a:alpha val="2000"/>
            </a:srgbClr>
          </a:solidFill>
          <a:ln w="9525">
            <a:solidFill>
              <a:srgbClr val="2A2F3A"/>
            </a:solidFill>
            <a:prstDash val="solid"/>
          </a:ln>
        </p:spPr>
      </p:sp>
      <p:sp>
        <p:nvSpPr>
          <p:cNvPr id="18" name="Text 16"/>
          <p:cNvSpPr/>
          <p:nvPr/>
        </p:nvSpPr>
        <p:spPr>
          <a:xfrm>
            <a:off x="1152525" y="9201150"/>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B8C0CF"/>
                </a:solidFill>
                <a:highlight>
                  <a:srgbClr val="FFFFFF"/>
                </a:highlight>
                <a:latin typeface="Arial" pitchFamily="34" charset="0"/>
                <a:ea typeface="Arial" pitchFamily="34" charset="-122"/>
                <a:cs typeface="Arial" pitchFamily="34" charset="-120"/>
              </a:rPr>
              <a:t>Important: KQL questions appear in </a:t>
            </a:r>
            <a:pPr algn="l" indent="0" marL="0">
              <a:buNone/>
            </a:pPr>
            <a:r>
              <a:rPr lang="en-US" sz="1575" b="1" dirty="0">
                <a:solidFill>
                  <a:srgbClr val="F5F7FB"/>
                </a:solidFill>
                <a:latin typeface="Arial" pitchFamily="34" charset="0"/>
                <a:ea typeface="Arial" pitchFamily="34" charset="-122"/>
                <a:cs typeface="Arial" pitchFamily="34" charset="-120"/>
              </a:rPr>
              <a:t>both </a:t>
            </a:r>
            <a:pPr algn="l" indent="0" marL="0">
              <a:buNone/>
            </a:pPr>
            <a:r>
              <a:rPr lang="en-US" sz="1575" dirty="0">
                <a:solidFill>
                  <a:srgbClr val="B8C0CF"/>
                </a:solidFill>
                <a:highlight>
                  <a:srgbClr val="FFFFFF"/>
                </a:highlight>
                <a:latin typeface="Arial" pitchFamily="34" charset="0"/>
                <a:ea typeface="Arial" pitchFamily="34" charset="-122"/>
                <a:cs typeface="Arial" pitchFamily="34" charset="-120"/>
              </a:rPr>
              <a:t>this domain and Domain 1's detection engineering — so KQL carries more exam weight than 20–25% suggests.</a:t>
            </a:r>
            <a:endParaRPr lang="en-US" sz="15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54822"/>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3.1</a:t>
            </a:r>
            <a:endParaRPr lang="en-US" sz="1575" dirty="0"/>
          </a:p>
        </p:txBody>
      </p:sp>
      <p:sp>
        <p:nvSpPr>
          <p:cNvPr id="4" name="Text 2"/>
          <p:cNvSpPr/>
          <p:nvPr/>
        </p:nvSpPr>
        <p:spPr>
          <a:xfrm>
            <a:off x="914400" y="4464397"/>
            <a:ext cx="16952976" cy="1253430"/>
          </a:xfrm>
          <a:prstGeom prst="rect">
            <a:avLst/>
          </a:prstGeom>
          <a:noFill/>
          <a:ln/>
        </p:spPr>
        <p:txBody>
          <a:bodyPr wrap="square" lIns="25400" tIns="25400" rIns="25400" bIns="25400" rtlCol="0" anchor="t">
            <a:normAutofit/>
          </a:bodyPr>
          <a:lstStyle/>
          <a:p>
            <a:pPr algn="l" indent="0" marL="0">
              <a:lnSpc>
                <a:spcPct val="95224"/>
              </a:lnSpc>
              <a:buNone/>
            </a:pPr>
            <a:r>
              <a:rPr lang="en-US" sz="4350" b="1" dirty="0">
                <a:solidFill>
                  <a:srgbClr val="F5F7FB"/>
                </a:solidFill>
                <a:latin typeface="Arial" pitchFamily="34" charset="0"/>
                <a:ea typeface="Arial" pitchFamily="34" charset="-122"/>
                <a:cs typeface="Arial" pitchFamily="34" charset="-120"/>
              </a:rPr>
              <a:t>Detect Threats by Using Microsoft Defender XDR</a:t>
            </a:r>
            <a:endParaRPr lang="en-US" sz="4350" dirty="0"/>
          </a:p>
        </p:txBody>
      </p:sp>
      <p:sp>
        <p:nvSpPr>
          <p:cNvPr id="5" name="Text 3"/>
          <p:cNvSpPr/>
          <p:nvPr/>
        </p:nvSpPr>
        <p:spPr>
          <a:xfrm>
            <a:off x="914400" y="5870228"/>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Table selection, KQL, Advanced Hunting queries, threat analytics, hunting graphs, and Sentinel Graph</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099593"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2814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3.1 · Task 1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Identify the Appropriate Table for a KQL Query</a:t>
            </a:r>
            <a:endParaRPr lang="en-US" sz="4050" dirty="0"/>
          </a:p>
        </p:txBody>
      </p:sp>
      <p:sp>
        <p:nvSpPr>
          <p:cNvPr id="6" name="Text 4"/>
          <p:cNvSpPr/>
          <p:nvPr/>
        </p:nvSpPr>
        <p:spPr>
          <a:xfrm>
            <a:off x="914400" y="187642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Advanced Hunting exposes purpose-built schema tables. Choosing the wrong table is the most common reason a hunt returns nothing — know what each one holds.</a:t>
            </a:r>
            <a:endParaRPr lang="en-US" sz="1800" dirty="0"/>
          </a:p>
        </p:txBody>
      </p:sp>
      <p:sp>
        <p:nvSpPr>
          <p:cNvPr id="7" name="Shape 5"/>
          <p:cNvSpPr/>
          <p:nvPr/>
        </p:nvSpPr>
        <p:spPr>
          <a:xfrm>
            <a:off x="914400" y="2402160"/>
            <a:ext cx="8115746" cy="514350"/>
          </a:xfrm>
          <a:prstGeom prst="rect">
            <a:avLst/>
          </a:prstGeom>
          <a:solidFill>
            <a:srgbClr val="FF6A00">
              <a:alpha val="18000"/>
            </a:srgbClr>
          </a:solidFill>
          <a:ln/>
        </p:spPr>
      </p:sp>
      <p:sp>
        <p:nvSpPr>
          <p:cNvPr id="8" name="Shape 6"/>
          <p:cNvSpPr/>
          <p:nvPr/>
        </p:nvSpPr>
        <p:spPr>
          <a:xfrm>
            <a:off x="914400" y="2906985"/>
            <a:ext cx="8115746" cy="9525"/>
          </a:xfrm>
          <a:prstGeom prst="rect">
            <a:avLst/>
          </a:prstGeom>
          <a:solidFill>
            <a:srgbClr val="B85100"/>
          </a:solidFill>
          <a:ln/>
        </p:spPr>
      </p:sp>
      <p:sp>
        <p:nvSpPr>
          <p:cNvPr id="9" name="Text 7"/>
          <p:cNvSpPr/>
          <p:nvPr/>
        </p:nvSpPr>
        <p:spPr>
          <a:xfrm>
            <a:off x="1057275" y="2506935"/>
            <a:ext cx="8073469"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Table</a:t>
            </a:r>
            <a:endParaRPr lang="en-US" sz="2025" dirty="0"/>
          </a:p>
        </p:txBody>
      </p:sp>
      <p:sp>
        <p:nvSpPr>
          <p:cNvPr id="10" name="Shape 8"/>
          <p:cNvSpPr/>
          <p:nvPr/>
        </p:nvSpPr>
        <p:spPr>
          <a:xfrm>
            <a:off x="9030146" y="2402160"/>
            <a:ext cx="8343454" cy="514350"/>
          </a:xfrm>
          <a:prstGeom prst="rect">
            <a:avLst/>
          </a:prstGeom>
          <a:solidFill>
            <a:srgbClr val="FF6A00">
              <a:alpha val="18000"/>
            </a:srgbClr>
          </a:solidFill>
          <a:ln/>
        </p:spPr>
      </p:sp>
      <p:sp>
        <p:nvSpPr>
          <p:cNvPr id="11" name="Shape 9"/>
          <p:cNvSpPr/>
          <p:nvPr/>
        </p:nvSpPr>
        <p:spPr>
          <a:xfrm>
            <a:off x="9030146" y="2906985"/>
            <a:ext cx="8343454" cy="9525"/>
          </a:xfrm>
          <a:prstGeom prst="rect">
            <a:avLst/>
          </a:prstGeom>
          <a:solidFill>
            <a:srgbClr val="B85100"/>
          </a:solidFill>
          <a:ln/>
        </p:spPr>
      </p:sp>
      <p:sp>
        <p:nvSpPr>
          <p:cNvPr id="12" name="Text 10"/>
          <p:cNvSpPr/>
          <p:nvPr/>
        </p:nvSpPr>
        <p:spPr>
          <a:xfrm>
            <a:off x="9173021" y="2506935"/>
            <a:ext cx="8308007"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Holds</a:t>
            </a:r>
            <a:endParaRPr lang="en-US" sz="2025" dirty="0"/>
          </a:p>
        </p:txBody>
      </p:sp>
      <p:sp>
        <p:nvSpPr>
          <p:cNvPr id="13" name="Shape 11"/>
          <p:cNvSpPr/>
          <p:nvPr/>
        </p:nvSpPr>
        <p:spPr>
          <a:xfrm>
            <a:off x="914400" y="3383235"/>
            <a:ext cx="8115746" cy="9525"/>
          </a:xfrm>
          <a:prstGeom prst="rect">
            <a:avLst/>
          </a:prstGeom>
          <a:solidFill>
            <a:srgbClr val="2A2F3A"/>
          </a:solidFill>
          <a:ln/>
        </p:spPr>
      </p:sp>
      <p:sp>
        <p:nvSpPr>
          <p:cNvPr id="14" name="Text 12"/>
          <p:cNvSpPr/>
          <p:nvPr/>
        </p:nvSpPr>
        <p:spPr>
          <a:xfrm>
            <a:off x="1057275" y="302128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DeviceProcessEvents</a:t>
            </a:r>
            <a:endParaRPr lang="en-US" sz="1725" dirty="0"/>
          </a:p>
        </p:txBody>
      </p:sp>
      <p:sp>
        <p:nvSpPr>
          <p:cNvPr id="15" name="Shape 13"/>
          <p:cNvSpPr/>
          <p:nvPr/>
        </p:nvSpPr>
        <p:spPr>
          <a:xfrm>
            <a:off x="9030146" y="3383235"/>
            <a:ext cx="8343454" cy="9525"/>
          </a:xfrm>
          <a:prstGeom prst="rect">
            <a:avLst/>
          </a:prstGeom>
          <a:solidFill>
            <a:srgbClr val="2A2F3A"/>
          </a:solidFill>
          <a:ln/>
        </p:spPr>
      </p:sp>
      <p:sp>
        <p:nvSpPr>
          <p:cNvPr id="16" name="Text 14"/>
          <p:cNvSpPr/>
          <p:nvPr/>
        </p:nvSpPr>
        <p:spPr>
          <a:xfrm>
            <a:off x="9173021" y="302128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Process creation events on devices</a:t>
            </a:r>
            <a:endParaRPr lang="en-US" sz="1725" dirty="0"/>
          </a:p>
        </p:txBody>
      </p:sp>
      <p:sp>
        <p:nvSpPr>
          <p:cNvPr id="17" name="Shape 15"/>
          <p:cNvSpPr/>
          <p:nvPr/>
        </p:nvSpPr>
        <p:spPr>
          <a:xfrm>
            <a:off x="914400" y="3392760"/>
            <a:ext cx="8115746" cy="476250"/>
          </a:xfrm>
          <a:prstGeom prst="rect">
            <a:avLst/>
          </a:prstGeom>
          <a:solidFill>
            <a:srgbClr val="FFFFFF">
              <a:alpha val="2000"/>
            </a:srgbClr>
          </a:solidFill>
          <a:ln/>
        </p:spPr>
      </p:sp>
      <p:sp>
        <p:nvSpPr>
          <p:cNvPr id="18" name="Shape 16"/>
          <p:cNvSpPr/>
          <p:nvPr/>
        </p:nvSpPr>
        <p:spPr>
          <a:xfrm>
            <a:off x="914400" y="3859485"/>
            <a:ext cx="8115746" cy="9525"/>
          </a:xfrm>
          <a:prstGeom prst="rect">
            <a:avLst/>
          </a:prstGeom>
          <a:solidFill>
            <a:srgbClr val="2A2F3A"/>
          </a:solidFill>
          <a:ln/>
        </p:spPr>
      </p:sp>
      <p:sp>
        <p:nvSpPr>
          <p:cNvPr id="19" name="Text 17"/>
          <p:cNvSpPr/>
          <p:nvPr/>
        </p:nvSpPr>
        <p:spPr>
          <a:xfrm>
            <a:off x="1057275" y="349753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DeviceNetworkEvents</a:t>
            </a:r>
            <a:endParaRPr lang="en-US" sz="1725" dirty="0"/>
          </a:p>
        </p:txBody>
      </p:sp>
      <p:sp>
        <p:nvSpPr>
          <p:cNvPr id="20" name="Shape 18"/>
          <p:cNvSpPr/>
          <p:nvPr/>
        </p:nvSpPr>
        <p:spPr>
          <a:xfrm>
            <a:off x="9030146" y="3392760"/>
            <a:ext cx="8343454" cy="476250"/>
          </a:xfrm>
          <a:prstGeom prst="rect">
            <a:avLst/>
          </a:prstGeom>
          <a:solidFill>
            <a:srgbClr val="FFFFFF">
              <a:alpha val="2000"/>
            </a:srgbClr>
          </a:solidFill>
          <a:ln/>
        </p:spPr>
      </p:sp>
      <p:sp>
        <p:nvSpPr>
          <p:cNvPr id="21" name="Shape 19"/>
          <p:cNvSpPr/>
          <p:nvPr/>
        </p:nvSpPr>
        <p:spPr>
          <a:xfrm>
            <a:off x="9030146" y="3859485"/>
            <a:ext cx="8343454" cy="9525"/>
          </a:xfrm>
          <a:prstGeom prst="rect">
            <a:avLst/>
          </a:prstGeom>
          <a:solidFill>
            <a:srgbClr val="2A2F3A"/>
          </a:solidFill>
          <a:ln/>
        </p:spPr>
      </p:sp>
      <p:sp>
        <p:nvSpPr>
          <p:cNvPr id="22" name="Text 20"/>
          <p:cNvSpPr/>
          <p:nvPr/>
        </p:nvSpPr>
        <p:spPr>
          <a:xfrm>
            <a:off x="9173021" y="349753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Network connections made by devices</a:t>
            </a:r>
            <a:endParaRPr lang="en-US" sz="1725" dirty="0"/>
          </a:p>
        </p:txBody>
      </p:sp>
      <p:sp>
        <p:nvSpPr>
          <p:cNvPr id="23" name="Shape 21"/>
          <p:cNvSpPr/>
          <p:nvPr/>
        </p:nvSpPr>
        <p:spPr>
          <a:xfrm>
            <a:off x="914400" y="4335735"/>
            <a:ext cx="8115746" cy="9525"/>
          </a:xfrm>
          <a:prstGeom prst="rect">
            <a:avLst/>
          </a:prstGeom>
          <a:solidFill>
            <a:srgbClr val="2A2F3A"/>
          </a:solidFill>
          <a:ln/>
        </p:spPr>
      </p:sp>
      <p:sp>
        <p:nvSpPr>
          <p:cNvPr id="24" name="Text 22"/>
          <p:cNvSpPr/>
          <p:nvPr/>
        </p:nvSpPr>
        <p:spPr>
          <a:xfrm>
            <a:off x="1057275" y="397378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DeviceFileEvents</a:t>
            </a:r>
            <a:endParaRPr lang="en-US" sz="1725" dirty="0"/>
          </a:p>
        </p:txBody>
      </p:sp>
      <p:sp>
        <p:nvSpPr>
          <p:cNvPr id="25" name="Shape 23"/>
          <p:cNvSpPr/>
          <p:nvPr/>
        </p:nvSpPr>
        <p:spPr>
          <a:xfrm>
            <a:off x="9030146" y="4335735"/>
            <a:ext cx="8343454" cy="9525"/>
          </a:xfrm>
          <a:prstGeom prst="rect">
            <a:avLst/>
          </a:prstGeom>
          <a:solidFill>
            <a:srgbClr val="2A2F3A"/>
          </a:solidFill>
          <a:ln/>
        </p:spPr>
      </p:sp>
      <p:sp>
        <p:nvSpPr>
          <p:cNvPr id="26" name="Text 24"/>
          <p:cNvSpPr/>
          <p:nvPr/>
        </p:nvSpPr>
        <p:spPr>
          <a:xfrm>
            <a:off x="9173021" y="397378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File creation, modification, and deletion</a:t>
            </a:r>
            <a:endParaRPr lang="en-US" sz="1725" dirty="0"/>
          </a:p>
        </p:txBody>
      </p:sp>
      <p:sp>
        <p:nvSpPr>
          <p:cNvPr id="27" name="Shape 25"/>
          <p:cNvSpPr/>
          <p:nvPr/>
        </p:nvSpPr>
        <p:spPr>
          <a:xfrm>
            <a:off x="914400" y="4345260"/>
            <a:ext cx="8115746" cy="476250"/>
          </a:xfrm>
          <a:prstGeom prst="rect">
            <a:avLst/>
          </a:prstGeom>
          <a:solidFill>
            <a:srgbClr val="FFFFFF">
              <a:alpha val="2000"/>
            </a:srgbClr>
          </a:solidFill>
          <a:ln/>
        </p:spPr>
      </p:sp>
      <p:sp>
        <p:nvSpPr>
          <p:cNvPr id="28" name="Shape 26"/>
          <p:cNvSpPr/>
          <p:nvPr/>
        </p:nvSpPr>
        <p:spPr>
          <a:xfrm>
            <a:off x="914400" y="4811985"/>
            <a:ext cx="8115746" cy="9525"/>
          </a:xfrm>
          <a:prstGeom prst="rect">
            <a:avLst/>
          </a:prstGeom>
          <a:solidFill>
            <a:srgbClr val="2A2F3A"/>
          </a:solidFill>
          <a:ln/>
        </p:spPr>
      </p:sp>
      <p:sp>
        <p:nvSpPr>
          <p:cNvPr id="29" name="Text 27"/>
          <p:cNvSpPr/>
          <p:nvPr/>
        </p:nvSpPr>
        <p:spPr>
          <a:xfrm>
            <a:off x="1057275" y="445003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DeviceLogonEvents</a:t>
            </a:r>
            <a:endParaRPr lang="en-US" sz="1725" dirty="0"/>
          </a:p>
        </p:txBody>
      </p:sp>
      <p:sp>
        <p:nvSpPr>
          <p:cNvPr id="30" name="Shape 28"/>
          <p:cNvSpPr/>
          <p:nvPr/>
        </p:nvSpPr>
        <p:spPr>
          <a:xfrm>
            <a:off x="9030146" y="4345260"/>
            <a:ext cx="8343454" cy="476250"/>
          </a:xfrm>
          <a:prstGeom prst="rect">
            <a:avLst/>
          </a:prstGeom>
          <a:solidFill>
            <a:srgbClr val="FFFFFF">
              <a:alpha val="2000"/>
            </a:srgbClr>
          </a:solidFill>
          <a:ln/>
        </p:spPr>
      </p:sp>
      <p:sp>
        <p:nvSpPr>
          <p:cNvPr id="31" name="Shape 29"/>
          <p:cNvSpPr/>
          <p:nvPr/>
        </p:nvSpPr>
        <p:spPr>
          <a:xfrm>
            <a:off x="9030146" y="4811985"/>
            <a:ext cx="8343454" cy="9525"/>
          </a:xfrm>
          <a:prstGeom prst="rect">
            <a:avLst/>
          </a:prstGeom>
          <a:solidFill>
            <a:srgbClr val="2A2F3A"/>
          </a:solidFill>
          <a:ln/>
        </p:spPr>
      </p:sp>
      <p:sp>
        <p:nvSpPr>
          <p:cNvPr id="32" name="Text 30"/>
          <p:cNvSpPr/>
          <p:nvPr/>
        </p:nvSpPr>
        <p:spPr>
          <a:xfrm>
            <a:off x="9173021" y="445003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Sign-in activity observed on devices</a:t>
            </a:r>
            <a:endParaRPr lang="en-US" sz="1725" dirty="0"/>
          </a:p>
        </p:txBody>
      </p:sp>
      <p:sp>
        <p:nvSpPr>
          <p:cNvPr id="33" name="Shape 31"/>
          <p:cNvSpPr/>
          <p:nvPr/>
        </p:nvSpPr>
        <p:spPr>
          <a:xfrm>
            <a:off x="914400" y="5288235"/>
            <a:ext cx="8115746" cy="9525"/>
          </a:xfrm>
          <a:prstGeom prst="rect">
            <a:avLst/>
          </a:prstGeom>
          <a:solidFill>
            <a:srgbClr val="2A2F3A"/>
          </a:solidFill>
          <a:ln/>
        </p:spPr>
      </p:sp>
      <p:sp>
        <p:nvSpPr>
          <p:cNvPr id="34" name="Text 32"/>
          <p:cNvSpPr/>
          <p:nvPr/>
        </p:nvSpPr>
        <p:spPr>
          <a:xfrm>
            <a:off x="1057275" y="492628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EmailEvents / EmailAttachmentInfo / EmailUrlInfo</a:t>
            </a:r>
            <a:endParaRPr lang="en-US" sz="1725" dirty="0"/>
          </a:p>
        </p:txBody>
      </p:sp>
      <p:sp>
        <p:nvSpPr>
          <p:cNvPr id="35" name="Shape 33"/>
          <p:cNvSpPr/>
          <p:nvPr/>
        </p:nvSpPr>
        <p:spPr>
          <a:xfrm>
            <a:off x="9030146" y="5288235"/>
            <a:ext cx="8343454" cy="9525"/>
          </a:xfrm>
          <a:prstGeom prst="rect">
            <a:avLst/>
          </a:prstGeom>
          <a:solidFill>
            <a:srgbClr val="2A2F3A"/>
          </a:solidFill>
          <a:ln/>
        </p:spPr>
      </p:sp>
      <p:sp>
        <p:nvSpPr>
          <p:cNvPr id="36" name="Text 34"/>
          <p:cNvSpPr/>
          <p:nvPr/>
        </p:nvSpPr>
        <p:spPr>
          <a:xfrm>
            <a:off x="9173021" y="492628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Email delivery, attachments, and embedded URLs</a:t>
            </a:r>
            <a:endParaRPr lang="en-US" sz="1725" dirty="0"/>
          </a:p>
        </p:txBody>
      </p:sp>
      <p:sp>
        <p:nvSpPr>
          <p:cNvPr id="37" name="Shape 35"/>
          <p:cNvSpPr/>
          <p:nvPr/>
        </p:nvSpPr>
        <p:spPr>
          <a:xfrm>
            <a:off x="914400" y="5297760"/>
            <a:ext cx="8115746" cy="476250"/>
          </a:xfrm>
          <a:prstGeom prst="rect">
            <a:avLst/>
          </a:prstGeom>
          <a:solidFill>
            <a:srgbClr val="FFFFFF">
              <a:alpha val="2000"/>
            </a:srgbClr>
          </a:solidFill>
          <a:ln/>
        </p:spPr>
      </p:sp>
      <p:sp>
        <p:nvSpPr>
          <p:cNvPr id="38" name="Shape 36"/>
          <p:cNvSpPr/>
          <p:nvPr/>
        </p:nvSpPr>
        <p:spPr>
          <a:xfrm>
            <a:off x="914400" y="5764485"/>
            <a:ext cx="8115746" cy="9525"/>
          </a:xfrm>
          <a:prstGeom prst="rect">
            <a:avLst/>
          </a:prstGeom>
          <a:solidFill>
            <a:srgbClr val="2A2F3A"/>
          </a:solidFill>
          <a:ln/>
        </p:spPr>
      </p:sp>
      <p:sp>
        <p:nvSpPr>
          <p:cNvPr id="39" name="Text 37"/>
          <p:cNvSpPr/>
          <p:nvPr/>
        </p:nvSpPr>
        <p:spPr>
          <a:xfrm>
            <a:off x="1057275" y="540253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IdentityLogonEvents / IdentityDirectoryEvents</a:t>
            </a:r>
            <a:endParaRPr lang="en-US" sz="1725" dirty="0"/>
          </a:p>
        </p:txBody>
      </p:sp>
      <p:sp>
        <p:nvSpPr>
          <p:cNvPr id="40" name="Shape 38"/>
          <p:cNvSpPr/>
          <p:nvPr/>
        </p:nvSpPr>
        <p:spPr>
          <a:xfrm>
            <a:off x="9030146" y="5297760"/>
            <a:ext cx="8343454" cy="476250"/>
          </a:xfrm>
          <a:prstGeom prst="rect">
            <a:avLst/>
          </a:prstGeom>
          <a:solidFill>
            <a:srgbClr val="FFFFFF">
              <a:alpha val="2000"/>
            </a:srgbClr>
          </a:solidFill>
          <a:ln/>
        </p:spPr>
      </p:sp>
      <p:sp>
        <p:nvSpPr>
          <p:cNvPr id="41" name="Shape 39"/>
          <p:cNvSpPr/>
          <p:nvPr/>
        </p:nvSpPr>
        <p:spPr>
          <a:xfrm>
            <a:off x="9030146" y="5764485"/>
            <a:ext cx="8343454" cy="9525"/>
          </a:xfrm>
          <a:prstGeom prst="rect">
            <a:avLst/>
          </a:prstGeom>
          <a:solidFill>
            <a:srgbClr val="2A2F3A"/>
          </a:solidFill>
          <a:ln/>
        </p:spPr>
      </p:sp>
      <p:sp>
        <p:nvSpPr>
          <p:cNvPr id="42" name="Text 40"/>
          <p:cNvSpPr/>
          <p:nvPr/>
        </p:nvSpPr>
        <p:spPr>
          <a:xfrm>
            <a:off x="9173021" y="540253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Identity sign-ins and directory activity</a:t>
            </a:r>
            <a:endParaRPr lang="en-US" sz="1725" dirty="0"/>
          </a:p>
        </p:txBody>
      </p:sp>
      <p:sp>
        <p:nvSpPr>
          <p:cNvPr id="43" name="Shape 41"/>
          <p:cNvSpPr/>
          <p:nvPr/>
        </p:nvSpPr>
        <p:spPr>
          <a:xfrm>
            <a:off x="914400" y="6240735"/>
            <a:ext cx="8115746" cy="9525"/>
          </a:xfrm>
          <a:prstGeom prst="rect">
            <a:avLst/>
          </a:prstGeom>
          <a:solidFill>
            <a:srgbClr val="2A2F3A"/>
          </a:solidFill>
          <a:ln/>
        </p:spPr>
      </p:sp>
      <p:sp>
        <p:nvSpPr>
          <p:cNvPr id="44" name="Text 42"/>
          <p:cNvSpPr/>
          <p:nvPr/>
        </p:nvSpPr>
        <p:spPr>
          <a:xfrm>
            <a:off x="1057275" y="587878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CloudAppEvents</a:t>
            </a:r>
            <a:endParaRPr lang="en-US" sz="1725" dirty="0"/>
          </a:p>
        </p:txBody>
      </p:sp>
      <p:sp>
        <p:nvSpPr>
          <p:cNvPr id="45" name="Shape 43"/>
          <p:cNvSpPr/>
          <p:nvPr/>
        </p:nvSpPr>
        <p:spPr>
          <a:xfrm>
            <a:off x="9030146" y="6240735"/>
            <a:ext cx="8343454" cy="9525"/>
          </a:xfrm>
          <a:prstGeom prst="rect">
            <a:avLst/>
          </a:prstGeom>
          <a:solidFill>
            <a:srgbClr val="2A2F3A"/>
          </a:solidFill>
          <a:ln/>
        </p:spPr>
      </p:sp>
      <p:sp>
        <p:nvSpPr>
          <p:cNvPr id="46" name="Text 44"/>
          <p:cNvSpPr/>
          <p:nvPr/>
        </p:nvSpPr>
        <p:spPr>
          <a:xfrm>
            <a:off x="9173021" y="587878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Activity in connected cloud applications</a:t>
            </a:r>
            <a:endParaRPr lang="en-US" sz="1725" dirty="0"/>
          </a:p>
        </p:txBody>
      </p:sp>
      <p:sp>
        <p:nvSpPr>
          <p:cNvPr id="47" name="Shape 45"/>
          <p:cNvSpPr/>
          <p:nvPr/>
        </p:nvSpPr>
        <p:spPr>
          <a:xfrm>
            <a:off x="914400" y="6250260"/>
            <a:ext cx="8115746" cy="476250"/>
          </a:xfrm>
          <a:prstGeom prst="rect">
            <a:avLst/>
          </a:prstGeom>
          <a:solidFill>
            <a:srgbClr val="FFFFFF">
              <a:alpha val="2000"/>
            </a:srgbClr>
          </a:solidFill>
          <a:ln/>
        </p:spPr>
      </p:sp>
      <p:sp>
        <p:nvSpPr>
          <p:cNvPr id="48" name="Shape 46"/>
          <p:cNvSpPr/>
          <p:nvPr/>
        </p:nvSpPr>
        <p:spPr>
          <a:xfrm>
            <a:off x="914400" y="6716985"/>
            <a:ext cx="8115746" cy="9525"/>
          </a:xfrm>
          <a:prstGeom prst="rect">
            <a:avLst/>
          </a:prstGeom>
          <a:solidFill>
            <a:srgbClr val="2A2F3A"/>
          </a:solidFill>
          <a:ln/>
        </p:spPr>
      </p:sp>
      <p:sp>
        <p:nvSpPr>
          <p:cNvPr id="49" name="Text 47"/>
          <p:cNvSpPr/>
          <p:nvPr/>
        </p:nvSpPr>
        <p:spPr>
          <a:xfrm>
            <a:off x="1057275" y="6355035"/>
            <a:ext cx="807346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AlertEvidence / AlertInfo</a:t>
            </a:r>
            <a:endParaRPr lang="en-US" sz="1725" dirty="0"/>
          </a:p>
        </p:txBody>
      </p:sp>
      <p:sp>
        <p:nvSpPr>
          <p:cNvPr id="50" name="Shape 48"/>
          <p:cNvSpPr/>
          <p:nvPr/>
        </p:nvSpPr>
        <p:spPr>
          <a:xfrm>
            <a:off x="9030146" y="6250260"/>
            <a:ext cx="8343454" cy="476250"/>
          </a:xfrm>
          <a:prstGeom prst="rect">
            <a:avLst/>
          </a:prstGeom>
          <a:solidFill>
            <a:srgbClr val="FFFFFF">
              <a:alpha val="2000"/>
            </a:srgbClr>
          </a:solidFill>
          <a:ln/>
        </p:spPr>
      </p:sp>
      <p:sp>
        <p:nvSpPr>
          <p:cNvPr id="51" name="Shape 49"/>
          <p:cNvSpPr/>
          <p:nvPr/>
        </p:nvSpPr>
        <p:spPr>
          <a:xfrm>
            <a:off x="9030146" y="6716985"/>
            <a:ext cx="8343454" cy="9525"/>
          </a:xfrm>
          <a:prstGeom prst="rect">
            <a:avLst/>
          </a:prstGeom>
          <a:solidFill>
            <a:srgbClr val="2A2F3A"/>
          </a:solidFill>
          <a:ln/>
        </p:spPr>
      </p:sp>
      <p:sp>
        <p:nvSpPr>
          <p:cNvPr id="52" name="Text 50"/>
          <p:cNvSpPr/>
          <p:nvPr/>
        </p:nvSpPr>
        <p:spPr>
          <a:xfrm>
            <a:off x="9173021" y="6355035"/>
            <a:ext cx="830800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Alert metadata and the entities each alert touched</a:t>
            </a:r>
            <a:endParaRPr lang="en-US" sz="17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1834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46895"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3.1 · Task 2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Identify Threats by Using Kusto Query Language</a:t>
            </a:r>
            <a:endParaRPr lang="en-US" sz="4050" dirty="0"/>
          </a:p>
        </p:txBody>
      </p:sp>
      <p:sp>
        <p:nvSpPr>
          <p:cNvPr id="6" name="Text 4"/>
          <p:cNvSpPr/>
          <p:nvPr/>
        </p:nvSpPr>
        <p:spPr>
          <a:xfrm>
            <a:off x="914400" y="187642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KQL is a pipeline language: data flows left to right through the pipe operator, with each stage narrowing or reshaping the result set.</a:t>
            </a:r>
            <a:endParaRPr lang="en-US" sz="1800" dirty="0"/>
          </a:p>
        </p:txBody>
      </p:sp>
      <p:sp>
        <p:nvSpPr>
          <p:cNvPr id="7" name="Shape 5"/>
          <p:cNvSpPr/>
          <p:nvPr/>
        </p:nvSpPr>
        <p:spPr>
          <a:xfrm>
            <a:off x="914400" y="2402160"/>
            <a:ext cx="5439073" cy="514350"/>
          </a:xfrm>
          <a:prstGeom prst="rect">
            <a:avLst/>
          </a:prstGeom>
          <a:solidFill>
            <a:srgbClr val="FF6A00">
              <a:alpha val="18000"/>
            </a:srgbClr>
          </a:solidFill>
          <a:ln/>
        </p:spPr>
      </p:sp>
      <p:sp>
        <p:nvSpPr>
          <p:cNvPr id="8" name="Shape 6"/>
          <p:cNvSpPr/>
          <p:nvPr/>
        </p:nvSpPr>
        <p:spPr>
          <a:xfrm>
            <a:off x="914400" y="2906985"/>
            <a:ext cx="5439073" cy="9525"/>
          </a:xfrm>
          <a:prstGeom prst="rect">
            <a:avLst/>
          </a:prstGeom>
          <a:solidFill>
            <a:srgbClr val="B85100"/>
          </a:solidFill>
          <a:ln/>
        </p:spPr>
      </p:sp>
      <p:sp>
        <p:nvSpPr>
          <p:cNvPr id="9" name="Text 7"/>
          <p:cNvSpPr/>
          <p:nvPr/>
        </p:nvSpPr>
        <p:spPr>
          <a:xfrm>
            <a:off x="1057275" y="2506935"/>
            <a:ext cx="5316495"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Operator</a:t>
            </a:r>
            <a:endParaRPr lang="en-US" sz="2025" dirty="0"/>
          </a:p>
        </p:txBody>
      </p:sp>
      <p:sp>
        <p:nvSpPr>
          <p:cNvPr id="10" name="Shape 8"/>
          <p:cNvSpPr/>
          <p:nvPr/>
        </p:nvSpPr>
        <p:spPr>
          <a:xfrm>
            <a:off x="6353473" y="2402160"/>
            <a:ext cx="11020127" cy="514350"/>
          </a:xfrm>
          <a:prstGeom prst="rect">
            <a:avLst/>
          </a:prstGeom>
          <a:solidFill>
            <a:srgbClr val="FF6A00">
              <a:alpha val="18000"/>
            </a:srgbClr>
          </a:solidFill>
          <a:ln/>
        </p:spPr>
      </p:sp>
      <p:sp>
        <p:nvSpPr>
          <p:cNvPr id="11" name="Shape 9"/>
          <p:cNvSpPr/>
          <p:nvPr/>
        </p:nvSpPr>
        <p:spPr>
          <a:xfrm>
            <a:off x="6353473" y="2906985"/>
            <a:ext cx="11020127" cy="9525"/>
          </a:xfrm>
          <a:prstGeom prst="rect">
            <a:avLst/>
          </a:prstGeom>
          <a:solidFill>
            <a:srgbClr val="B85100"/>
          </a:solidFill>
          <a:ln/>
        </p:spPr>
      </p:sp>
      <p:sp>
        <p:nvSpPr>
          <p:cNvPr id="12" name="Text 10"/>
          <p:cNvSpPr/>
          <p:nvPr/>
        </p:nvSpPr>
        <p:spPr>
          <a:xfrm>
            <a:off x="6496348" y="2506935"/>
            <a:ext cx="11064981"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Purpose</a:t>
            </a:r>
            <a:endParaRPr lang="en-US" sz="2025" dirty="0"/>
          </a:p>
        </p:txBody>
      </p:sp>
      <p:sp>
        <p:nvSpPr>
          <p:cNvPr id="13" name="Shape 11"/>
          <p:cNvSpPr/>
          <p:nvPr/>
        </p:nvSpPr>
        <p:spPr>
          <a:xfrm>
            <a:off x="914400" y="3383235"/>
            <a:ext cx="5439073" cy="9525"/>
          </a:xfrm>
          <a:prstGeom prst="rect">
            <a:avLst/>
          </a:prstGeom>
          <a:solidFill>
            <a:srgbClr val="2A2F3A"/>
          </a:solidFill>
          <a:ln/>
        </p:spPr>
      </p:sp>
      <p:sp>
        <p:nvSpPr>
          <p:cNvPr id="14" name="Text 12"/>
          <p:cNvSpPr/>
          <p:nvPr/>
        </p:nvSpPr>
        <p:spPr>
          <a:xfrm>
            <a:off x="1057275" y="3021285"/>
            <a:ext cx="531649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where</a:t>
            </a:r>
            <a:endParaRPr lang="en-US" sz="1725" dirty="0"/>
          </a:p>
        </p:txBody>
      </p:sp>
      <p:sp>
        <p:nvSpPr>
          <p:cNvPr id="15" name="Shape 13"/>
          <p:cNvSpPr/>
          <p:nvPr/>
        </p:nvSpPr>
        <p:spPr>
          <a:xfrm>
            <a:off x="6353473" y="3383235"/>
            <a:ext cx="11020127" cy="9525"/>
          </a:xfrm>
          <a:prstGeom prst="rect">
            <a:avLst/>
          </a:prstGeom>
          <a:solidFill>
            <a:srgbClr val="2A2F3A"/>
          </a:solidFill>
          <a:ln/>
        </p:spPr>
      </p:sp>
      <p:sp>
        <p:nvSpPr>
          <p:cNvPr id="16" name="Text 14"/>
          <p:cNvSpPr/>
          <p:nvPr/>
        </p:nvSpPr>
        <p:spPr>
          <a:xfrm>
            <a:off x="6496348" y="3021285"/>
            <a:ext cx="110649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Filter rows to those matching a condition</a:t>
            </a:r>
            <a:endParaRPr lang="en-US" sz="1725" dirty="0"/>
          </a:p>
        </p:txBody>
      </p:sp>
      <p:sp>
        <p:nvSpPr>
          <p:cNvPr id="17" name="Shape 15"/>
          <p:cNvSpPr/>
          <p:nvPr/>
        </p:nvSpPr>
        <p:spPr>
          <a:xfrm>
            <a:off x="914400" y="3392760"/>
            <a:ext cx="5439073" cy="476250"/>
          </a:xfrm>
          <a:prstGeom prst="rect">
            <a:avLst/>
          </a:prstGeom>
          <a:solidFill>
            <a:srgbClr val="FFFFFF">
              <a:alpha val="2000"/>
            </a:srgbClr>
          </a:solidFill>
          <a:ln/>
        </p:spPr>
      </p:sp>
      <p:sp>
        <p:nvSpPr>
          <p:cNvPr id="18" name="Shape 16"/>
          <p:cNvSpPr/>
          <p:nvPr/>
        </p:nvSpPr>
        <p:spPr>
          <a:xfrm>
            <a:off x="914400" y="3859485"/>
            <a:ext cx="5439073" cy="9525"/>
          </a:xfrm>
          <a:prstGeom prst="rect">
            <a:avLst/>
          </a:prstGeom>
          <a:solidFill>
            <a:srgbClr val="2A2F3A"/>
          </a:solidFill>
          <a:ln/>
        </p:spPr>
      </p:sp>
      <p:sp>
        <p:nvSpPr>
          <p:cNvPr id="19" name="Text 17"/>
          <p:cNvSpPr/>
          <p:nvPr/>
        </p:nvSpPr>
        <p:spPr>
          <a:xfrm>
            <a:off x="1057275" y="3497535"/>
            <a:ext cx="531649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project / project-away</a:t>
            </a:r>
            <a:endParaRPr lang="en-US" sz="1725" dirty="0"/>
          </a:p>
        </p:txBody>
      </p:sp>
      <p:sp>
        <p:nvSpPr>
          <p:cNvPr id="20" name="Shape 18"/>
          <p:cNvSpPr/>
          <p:nvPr/>
        </p:nvSpPr>
        <p:spPr>
          <a:xfrm>
            <a:off x="6353473" y="3392760"/>
            <a:ext cx="11020127" cy="476250"/>
          </a:xfrm>
          <a:prstGeom prst="rect">
            <a:avLst/>
          </a:prstGeom>
          <a:solidFill>
            <a:srgbClr val="FFFFFF">
              <a:alpha val="2000"/>
            </a:srgbClr>
          </a:solidFill>
          <a:ln/>
        </p:spPr>
      </p:sp>
      <p:sp>
        <p:nvSpPr>
          <p:cNvPr id="21" name="Shape 19"/>
          <p:cNvSpPr/>
          <p:nvPr/>
        </p:nvSpPr>
        <p:spPr>
          <a:xfrm>
            <a:off x="6353473" y="3859485"/>
            <a:ext cx="11020127" cy="9525"/>
          </a:xfrm>
          <a:prstGeom prst="rect">
            <a:avLst/>
          </a:prstGeom>
          <a:solidFill>
            <a:srgbClr val="2A2F3A"/>
          </a:solidFill>
          <a:ln/>
        </p:spPr>
      </p:sp>
      <p:sp>
        <p:nvSpPr>
          <p:cNvPr id="22" name="Text 20"/>
          <p:cNvSpPr/>
          <p:nvPr/>
        </p:nvSpPr>
        <p:spPr>
          <a:xfrm>
            <a:off x="6496348" y="3497535"/>
            <a:ext cx="110649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Choose or remove columns</a:t>
            </a:r>
            <a:endParaRPr lang="en-US" sz="1725" dirty="0"/>
          </a:p>
        </p:txBody>
      </p:sp>
      <p:sp>
        <p:nvSpPr>
          <p:cNvPr id="23" name="Shape 21"/>
          <p:cNvSpPr/>
          <p:nvPr/>
        </p:nvSpPr>
        <p:spPr>
          <a:xfrm>
            <a:off x="914400" y="4335735"/>
            <a:ext cx="5439073" cy="9525"/>
          </a:xfrm>
          <a:prstGeom prst="rect">
            <a:avLst/>
          </a:prstGeom>
          <a:solidFill>
            <a:srgbClr val="2A2F3A"/>
          </a:solidFill>
          <a:ln/>
        </p:spPr>
      </p:sp>
      <p:sp>
        <p:nvSpPr>
          <p:cNvPr id="24" name="Text 22"/>
          <p:cNvSpPr/>
          <p:nvPr/>
        </p:nvSpPr>
        <p:spPr>
          <a:xfrm>
            <a:off x="1057275" y="3973785"/>
            <a:ext cx="531649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summarize</a:t>
            </a:r>
            <a:endParaRPr lang="en-US" sz="1725" dirty="0"/>
          </a:p>
        </p:txBody>
      </p:sp>
      <p:sp>
        <p:nvSpPr>
          <p:cNvPr id="25" name="Shape 23"/>
          <p:cNvSpPr/>
          <p:nvPr/>
        </p:nvSpPr>
        <p:spPr>
          <a:xfrm>
            <a:off x="6353473" y="4335735"/>
            <a:ext cx="11020127" cy="9525"/>
          </a:xfrm>
          <a:prstGeom prst="rect">
            <a:avLst/>
          </a:prstGeom>
          <a:solidFill>
            <a:srgbClr val="2A2F3A"/>
          </a:solidFill>
          <a:ln/>
        </p:spPr>
      </p:sp>
      <p:sp>
        <p:nvSpPr>
          <p:cNvPr id="26" name="Text 24"/>
          <p:cNvSpPr/>
          <p:nvPr/>
        </p:nvSpPr>
        <p:spPr>
          <a:xfrm>
            <a:off x="6496348" y="3973785"/>
            <a:ext cx="110649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Aggregate rows, usually with </a:t>
            </a:r>
            <a:pPr algn="l" indent="0" marL="0">
              <a:buNone/>
            </a:pPr>
            <a:r>
              <a:rPr lang="en-US" sz="1725" i="1" dirty="0">
                <a:solidFill>
                  <a:srgbClr val="F5F7FB"/>
                </a:solidFill>
                <a:latin typeface="Arial" pitchFamily="34" charset="0"/>
                <a:ea typeface="Arial" pitchFamily="34" charset="-122"/>
                <a:cs typeface="Arial" pitchFamily="34" charset="-120"/>
              </a:rPr>
              <a:t>by </a:t>
            </a:r>
            <a:pPr algn="l" indent="0" marL="0">
              <a:buNone/>
            </a:pPr>
            <a:r>
              <a:rPr lang="en-US" sz="1725" dirty="0">
                <a:solidFill>
                  <a:srgbClr val="F5F7FB"/>
                </a:solidFill>
                <a:latin typeface="Arial" pitchFamily="34" charset="0"/>
                <a:ea typeface="Arial" pitchFamily="34" charset="-122"/>
                <a:cs typeface="Arial" pitchFamily="34" charset="-120"/>
              </a:rPr>
              <a:t>to group</a:t>
            </a:r>
            <a:endParaRPr lang="en-US" sz="1725" dirty="0"/>
          </a:p>
        </p:txBody>
      </p:sp>
      <p:sp>
        <p:nvSpPr>
          <p:cNvPr id="27" name="Shape 25"/>
          <p:cNvSpPr/>
          <p:nvPr/>
        </p:nvSpPr>
        <p:spPr>
          <a:xfrm>
            <a:off x="914400" y="4345260"/>
            <a:ext cx="5439073" cy="476250"/>
          </a:xfrm>
          <a:prstGeom prst="rect">
            <a:avLst/>
          </a:prstGeom>
          <a:solidFill>
            <a:srgbClr val="FFFFFF">
              <a:alpha val="2000"/>
            </a:srgbClr>
          </a:solidFill>
          <a:ln/>
        </p:spPr>
      </p:sp>
      <p:sp>
        <p:nvSpPr>
          <p:cNvPr id="28" name="Shape 26"/>
          <p:cNvSpPr/>
          <p:nvPr/>
        </p:nvSpPr>
        <p:spPr>
          <a:xfrm>
            <a:off x="914400" y="4811985"/>
            <a:ext cx="5439073" cy="9525"/>
          </a:xfrm>
          <a:prstGeom prst="rect">
            <a:avLst/>
          </a:prstGeom>
          <a:solidFill>
            <a:srgbClr val="2A2F3A"/>
          </a:solidFill>
          <a:ln/>
        </p:spPr>
      </p:sp>
      <p:sp>
        <p:nvSpPr>
          <p:cNvPr id="29" name="Text 27"/>
          <p:cNvSpPr/>
          <p:nvPr/>
        </p:nvSpPr>
        <p:spPr>
          <a:xfrm>
            <a:off x="1057275" y="4450035"/>
            <a:ext cx="531649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extend</a:t>
            </a:r>
            <a:endParaRPr lang="en-US" sz="1725" dirty="0"/>
          </a:p>
        </p:txBody>
      </p:sp>
      <p:sp>
        <p:nvSpPr>
          <p:cNvPr id="30" name="Shape 28"/>
          <p:cNvSpPr/>
          <p:nvPr/>
        </p:nvSpPr>
        <p:spPr>
          <a:xfrm>
            <a:off x="6353473" y="4345260"/>
            <a:ext cx="11020127" cy="476250"/>
          </a:xfrm>
          <a:prstGeom prst="rect">
            <a:avLst/>
          </a:prstGeom>
          <a:solidFill>
            <a:srgbClr val="FFFFFF">
              <a:alpha val="2000"/>
            </a:srgbClr>
          </a:solidFill>
          <a:ln/>
        </p:spPr>
      </p:sp>
      <p:sp>
        <p:nvSpPr>
          <p:cNvPr id="31" name="Shape 29"/>
          <p:cNvSpPr/>
          <p:nvPr/>
        </p:nvSpPr>
        <p:spPr>
          <a:xfrm>
            <a:off x="6353473" y="4811985"/>
            <a:ext cx="11020127" cy="9525"/>
          </a:xfrm>
          <a:prstGeom prst="rect">
            <a:avLst/>
          </a:prstGeom>
          <a:solidFill>
            <a:srgbClr val="2A2F3A"/>
          </a:solidFill>
          <a:ln/>
        </p:spPr>
      </p:sp>
      <p:sp>
        <p:nvSpPr>
          <p:cNvPr id="32" name="Text 30"/>
          <p:cNvSpPr/>
          <p:nvPr/>
        </p:nvSpPr>
        <p:spPr>
          <a:xfrm>
            <a:off x="6496348" y="4450035"/>
            <a:ext cx="110649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Add a calculated column</a:t>
            </a:r>
            <a:endParaRPr lang="en-US" sz="1725" dirty="0"/>
          </a:p>
        </p:txBody>
      </p:sp>
      <p:sp>
        <p:nvSpPr>
          <p:cNvPr id="33" name="Shape 31"/>
          <p:cNvSpPr/>
          <p:nvPr/>
        </p:nvSpPr>
        <p:spPr>
          <a:xfrm>
            <a:off x="914400" y="5288235"/>
            <a:ext cx="5439073" cy="9525"/>
          </a:xfrm>
          <a:prstGeom prst="rect">
            <a:avLst/>
          </a:prstGeom>
          <a:solidFill>
            <a:srgbClr val="2A2F3A"/>
          </a:solidFill>
          <a:ln/>
        </p:spPr>
      </p:sp>
      <p:sp>
        <p:nvSpPr>
          <p:cNvPr id="34" name="Text 32"/>
          <p:cNvSpPr/>
          <p:nvPr/>
        </p:nvSpPr>
        <p:spPr>
          <a:xfrm>
            <a:off x="1057275" y="4926285"/>
            <a:ext cx="531649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join / union</a:t>
            </a:r>
            <a:endParaRPr lang="en-US" sz="1725" dirty="0"/>
          </a:p>
        </p:txBody>
      </p:sp>
      <p:sp>
        <p:nvSpPr>
          <p:cNvPr id="35" name="Shape 33"/>
          <p:cNvSpPr/>
          <p:nvPr/>
        </p:nvSpPr>
        <p:spPr>
          <a:xfrm>
            <a:off x="6353473" y="5288235"/>
            <a:ext cx="11020127" cy="9525"/>
          </a:xfrm>
          <a:prstGeom prst="rect">
            <a:avLst/>
          </a:prstGeom>
          <a:solidFill>
            <a:srgbClr val="2A2F3A"/>
          </a:solidFill>
          <a:ln/>
        </p:spPr>
      </p:sp>
      <p:sp>
        <p:nvSpPr>
          <p:cNvPr id="36" name="Text 34"/>
          <p:cNvSpPr/>
          <p:nvPr/>
        </p:nvSpPr>
        <p:spPr>
          <a:xfrm>
            <a:off x="6496348" y="4926285"/>
            <a:ext cx="110649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Combine tables side by side, or stack them</a:t>
            </a:r>
            <a:endParaRPr lang="en-US" sz="1725" dirty="0"/>
          </a:p>
        </p:txBody>
      </p:sp>
      <p:sp>
        <p:nvSpPr>
          <p:cNvPr id="37" name="Shape 35"/>
          <p:cNvSpPr/>
          <p:nvPr/>
        </p:nvSpPr>
        <p:spPr>
          <a:xfrm>
            <a:off x="914400" y="5297760"/>
            <a:ext cx="5439073" cy="476250"/>
          </a:xfrm>
          <a:prstGeom prst="rect">
            <a:avLst/>
          </a:prstGeom>
          <a:solidFill>
            <a:srgbClr val="FFFFFF">
              <a:alpha val="2000"/>
            </a:srgbClr>
          </a:solidFill>
          <a:ln/>
        </p:spPr>
      </p:sp>
      <p:sp>
        <p:nvSpPr>
          <p:cNvPr id="38" name="Shape 36"/>
          <p:cNvSpPr/>
          <p:nvPr/>
        </p:nvSpPr>
        <p:spPr>
          <a:xfrm>
            <a:off x="914400" y="5764485"/>
            <a:ext cx="5439073" cy="9525"/>
          </a:xfrm>
          <a:prstGeom prst="rect">
            <a:avLst/>
          </a:prstGeom>
          <a:solidFill>
            <a:srgbClr val="2A2F3A"/>
          </a:solidFill>
          <a:ln/>
        </p:spPr>
      </p:sp>
      <p:sp>
        <p:nvSpPr>
          <p:cNvPr id="39" name="Text 37"/>
          <p:cNvSpPr/>
          <p:nvPr/>
        </p:nvSpPr>
        <p:spPr>
          <a:xfrm>
            <a:off x="1057275" y="5402535"/>
            <a:ext cx="531649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sort by / top</a:t>
            </a:r>
            <a:endParaRPr lang="en-US" sz="1725" dirty="0"/>
          </a:p>
        </p:txBody>
      </p:sp>
      <p:sp>
        <p:nvSpPr>
          <p:cNvPr id="40" name="Shape 38"/>
          <p:cNvSpPr/>
          <p:nvPr/>
        </p:nvSpPr>
        <p:spPr>
          <a:xfrm>
            <a:off x="6353473" y="5297760"/>
            <a:ext cx="11020127" cy="476250"/>
          </a:xfrm>
          <a:prstGeom prst="rect">
            <a:avLst/>
          </a:prstGeom>
          <a:solidFill>
            <a:srgbClr val="FFFFFF">
              <a:alpha val="2000"/>
            </a:srgbClr>
          </a:solidFill>
          <a:ln/>
        </p:spPr>
      </p:sp>
      <p:sp>
        <p:nvSpPr>
          <p:cNvPr id="41" name="Shape 39"/>
          <p:cNvSpPr/>
          <p:nvPr/>
        </p:nvSpPr>
        <p:spPr>
          <a:xfrm>
            <a:off x="6353473" y="5764485"/>
            <a:ext cx="11020127" cy="9525"/>
          </a:xfrm>
          <a:prstGeom prst="rect">
            <a:avLst/>
          </a:prstGeom>
          <a:solidFill>
            <a:srgbClr val="2A2F3A"/>
          </a:solidFill>
          <a:ln/>
        </p:spPr>
      </p:sp>
      <p:sp>
        <p:nvSpPr>
          <p:cNvPr id="42" name="Text 40"/>
          <p:cNvSpPr/>
          <p:nvPr/>
        </p:nvSpPr>
        <p:spPr>
          <a:xfrm>
            <a:off x="6496348" y="5402535"/>
            <a:ext cx="110649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Order results, or return the highest-ranked rows</a:t>
            </a:r>
            <a:endParaRPr lang="en-US" sz="17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33429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162845"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3.1 · Task 2 (cont.)</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Anatomy of a Hunting Query</a:t>
            </a:r>
            <a:endParaRPr lang="en-US" sz="4050" dirty="0"/>
          </a:p>
        </p:txBody>
      </p:sp>
      <p:sp>
        <p:nvSpPr>
          <p:cNvPr id="6" name="Shape 4"/>
          <p:cNvSpPr/>
          <p:nvPr/>
        </p:nvSpPr>
        <p:spPr>
          <a:xfrm>
            <a:off x="914400" y="1876425"/>
            <a:ext cx="16459200" cy="2061121"/>
          </a:xfrm>
          <a:prstGeom prst="roundRect">
            <a:avLst>
              <a:gd name="adj" fmla="val 4621"/>
            </a:avLst>
          </a:prstGeom>
          <a:solidFill>
            <a:srgbClr val="000000">
              <a:alpha val="35000"/>
            </a:srgbClr>
          </a:solidFill>
          <a:ln w="9525">
            <a:solidFill>
              <a:srgbClr val="2A2F3A"/>
            </a:solidFill>
            <a:prstDash val="solid"/>
          </a:ln>
        </p:spPr>
      </p:sp>
      <p:sp>
        <p:nvSpPr>
          <p:cNvPr id="7" name="Text 5"/>
          <p:cNvSpPr/>
          <p:nvPr/>
        </p:nvSpPr>
        <p:spPr>
          <a:xfrm>
            <a:off x="1095375" y="2038350"/>
            <a:ext cx="16591026" cy="1775371"/>
          </a:xfrm>
          <a:prstGeom prst="rect">
            <a:avLst/>
          </a:prstGeom>
          <a:noFill/>
          <a:ln/>
        </p:spPr>
        <p:txBody>
          <a:bodyPr wrap="none" lIns="25400" tIns="25400" rIns="25400" bIns="25400" rtlCol="0" anchor="t">
            <a:normAutofit/>
          </a:bodyPr>
          <a:lstStyle/>
          <a:p>
            <a:pPr algn="l" indent="0" marL="0">
              <a:lnSpc>
                <a:spcPct val="141395"/>
              </a:lnSpc>
              <a:buNone/>
            </a:pPr>
            <a:r>
              <a:rPr lang="en-US" sz="1425" dirty="0">
                <a:solidFill>
                  <a:srgbClr val="FFD9BF"/>
                </a:solidFill>
                <a:latin typeface="Courier New" pitchFamily="34" charset="0"/>
                <a:ea typeface="Courier New" pitchFamily="34" charset="-122"/>
                <a:cs typeface="Courier New" pitchFamily="34" charset="-120"/>
              </a:rPr>
              <a:t>DeviceProcessEvents</a:t>
            </a:r>
            <a:endParaRPr lang="en-US" sz="1425" dirty="0"/>
          </a:p>
          <a:p>
            <a:pPr algn="l" indent="0" marL="0">
              <a:lnSpc>
                <a:spcPct val="141395"/>
              </a:lnSpc>
              <a:buNone/>
            </a:pPr>
            <a:r>
              <a:rPr lang="en-US" sz="1425" dirty="0">
                <a:solidFill>
                  <a:srgbClr val="FFD9BF"/>
                </a:solidFill>
                <a:latin typeface="Courier New" pitchFamily="34" charset="0"/>
                <a:ea typeface="Courier New" pitchFamily="34" charset="-122"/>
                <a:cs typeface="Courier New" pitchFamily="34" charset="-120"/>
              </a:rPr>
              <a:t>| where Timestamp &gt; ago(7d)</a:t>
            </a:r>
            <a:endParaRPr lang="en-US" sz="1425" dirty="0"/>
          </a:p>
          <a:p>
            <a:pPr algn="l" indent="0" marL="0">
              <a:lnSpc>
                <a:spcPct val="141395"/>
              </a:lnSpc>
              <a:buNone/>
            </a:pPr>
            <a:r>
              <a:rPr lang="en-US" sz="1425" dirty="0">
                <a:solidFill>
                  <a:srgbClr val="FFD9BF"/>
                </a:solidFill>
                <a:latin typeface="Courier New" pitchFamily="34" charset="0"/>
                <a:ea typeface="Courier New" pitchFamily="34" charset="-122"/>
                <a:cs typeface="Courier New" pitchFamily="34" charset="-120"/>
              </a:rPr>
              <a:t>| where InitiatingProcessFileName =~ "winword.exe"</a:t>
            </a:r>
            <a:endParaRPr lang="en-US" sz="1425" dirty="0"/>
          </a:p>
          <a:p>
            <a:pPr algn="l" indent="0" marL="0">
              <a:lnSpc>
                <a:spcPct val="141395"/>
              </a:lnSpc>
              <a:buNone/>
            </a:pPr>
            <a:r>
              <a:rPr lang="en-US" sz="1425" dirty="0">
                <a:solidFill>
                  <a:srgbClr val="FFD9BF"/>
                </a:solidFill>
                <a:latin typeface="Courier New" pitchFamily="34" charset="0"/>
                <a:ea typeface="Courier New" pitchFamily="34" charset="-122"/>
                <a:cs typeface="Courier New" pitchFamily="34" charset="-120"/>
              </a:rPr>
              <a:t>| where FileName in~ ("powershell.exe", "cmd.exe", "wscript.exe")</a:t>
            </a:r>
            <a:endParaRPr lang="en-US" sz="1425" dirty="0"/>
          </a:p>
          <a:p>
            <a:pPr algn="l" indent="0" marL="0">
              <a:lnSpc>
                <a:spcPct val="141395"/>
              </a:lnSpc>
              <a:buNone/>
            </a:pPr>
            <a:r>
              <a:rPr lang="en-US" sz="1425" dirty="0">
                <a:solidFill>
                  <a:srgbClr val="FFD9BF"/>
                </a:solidFill>
                <a:latin typeface="Courier New" pitchFamily="34" charset="0"/>
                <a:ea typeface="Courier New" pitchFamily="34" charset="-122"/>
                <a:cs typeface="Courier New" pitchFamily="34" charset="-120"/>
              </a:rPr>
              <a:t>| project Timestamp, DeviceName, AccountName, FileName, ProcessCommandLine</a:t>
            </a:r>
            <a:endParaRPr lang="en-US" sz="1425" dirty="0"/>
          </a:p>
          <a:p>
            <a:pPr algn="l" indent="0" marL="0">
              <a:lnSpc>
                <a:spcPct val="141395"/>
              </a:lnSpc>
              <a:buNone/>
            </a:pPr>
            <a:r>
              <a:rPr lang="en-US" sz="1425" dirty="0">
                <a:solidFill>
                  <a:srgbClr val="FFD9BF"/>
                </a:solidFill>
                <a:latin typeface="Courier New" pitchFamily="34" charset="0"/>
                <a:ea typeface="Courier New" pitchFamily="34" charset="-122"/>
                <a:cs typeface="Courier New" pitchFamily="34" charset="-120"/>
              </a:rPr>
              <a:t>| sort by Timestamp desc</a:t>
            </a:r>
            <a:endParaRPr lang="en-US" sz="1425" dirty="0"/>
          </a:p>
        </p:txBody>
      </p:sp>
      <p:sp>
        <p:nvSpPr>
          <p:cNvPr id="8" name="Shape 6"/>
          <p:cNvSpPr/>
          <p:nvPr/>
        </p:nvSpPr>
        <p:spPr>
          <a:xfrm>
            <a:off x="914400" y="4108996"/>
            <a:ext cx="16459200" cy="923925"/>
          </a:xfrm>
          <a:prstGeom prst="roundRect">
            <a:avLst>
              <a:gd name="adj" fmla="val 16495"/>
            </a:avLst>
          </a:prstGeom>
          <a:solidFill>
            <a:srgbClr val="FFFFFF">
              <a:alpha val="2000"/>
            </a:srgbClr>
          </a:solidFill>
          <a:ln w="9525">
            <a:solidFill>
              <a:srgbClr val="2A2F3A"/>
            </a:solidFill>
            <a:prstDash val="solid"/>
          </a:ln>
        </p:spPr>
      </p:sp>
      <p:sp>
        <p:nvSpPr>
          <p:cNvPr id="9" name="Text 7"/>
          <p:cNvSpPr/>
          <p:nvPr/>
        </p:nvSpPr>
        <p:spPr>
          <a:xfrm>
            <a:off x="1152525" y="4347121"/>
            <a:ext cx="16476726" cy="485775"/>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Reads as: from process events, in the last 7 days, where Word spawned a scripting host — return the who, what, and when. This is the classic Office child-process hunt that ASR rules (Module 1) block.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2066"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061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3.1 · Task 3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Advanced Hunting Queries</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Writing, testing, saving, and sharing KQL queries across the Defender XDR schema — building a reusable hunting library rather than ad-hoc one-off queries.</a:t>
            </a:r>
            <a:endParaRPr lang="en-US" sz="1800" dirty="0"/>
          </a:p>
        </p:txBody>
      </p:sp>
      <p:sp>
        <p:nvSpPr>
          <p:cNvPr id="7" name="Shape 5"/>
          <p:cNvSpPr/>
          <p:nvPr/>
        </p:nvSpPr>
        <p:spPr>
          <a:xfrm>
            <a:off x="914400"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 saved, shared query is repeatable; a query typed once and lost is not. Team hunting libraries compound value.</a:t>
            </a:r>
            <a:endParaRPr lang="en-US" sz="1350" dirty="0"/>
          </a:p>
        </p:txBody>
      </p:sp>
      <p:sp>
        <p:nvSpPr>
          <p:cNvPr id="10" name="Shape 8"/>
          <p:cNvSpPr/>
          <p:nvPr/>
        </p:nvSpPr>
        <p:spPr>
          <a:xfrm>
            <a:off x="9229725"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2959373"/>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Any Advanced Hunting query can be promoted into a custom detection rule (Module 1, Objective 1.4).</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4670"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3220"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3.1 · Task 4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Interpret Threat Analytics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Microsoft-authored threat intelligence reports inside the Defender portal, each combining analysis of a campaign or technique with your tenant's own exposure and recommended actions.</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WHAT TO READ</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Impacted assets, misconfigured or missing mitigations, and the report's recommended hunting queries.</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Threat analytics is one of the three email notification types configurable in Module 1, Objective 1.1.</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1322"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49872"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3.1 · Task 5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Hunting Graphs, Including Blast Radius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Visual, graph-based exploration of how entities connect, letting you see an attack's reach rather than reading it row by row. Blast radius answers the containment question: if this asset is compromised, what else is exposed?</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Turns a list of related rows into a picture of scope — invaluable when prioritising containment under time pressure.</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EXAM INSIGHT</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New to the 28 July 2026 outline — expect it to be tested explicitly.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414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269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3.1 · Task 6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Analyse Entity Relationships With Sentinel Graph</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 graph representation of entities and the relationships between them across the Sentinel platform's data, used to traverse from one entity to everything connected to it.</a:t>
            </a:r>
            <a:endParaRPr lang="en-US" sz="1800" dirty="0"/>
          </a:p>
        </p:txBody>
      </p:sp>
      <p:sp>
        <p:nvSpPr>
          <p:cNvPr id="7" name="Shape 5"/>
          <p:cNvSpPr/>
          <p:nvPr/>
        </p:nvSpPr>
        <p:spPr>
          <a:xfrm>
            <a:off x="914400"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Relationship traversal reveals paths — for example, from a compromised identity to the resources it can reach.</a:t>
            </a:r>
            <a:endParaRPr lang="en-US" sz="1350" dirty="0"/>
          </a:p>
        </p:txBody>
      </p:sp>
      <p:sp>
        <p:nvSpPr>
          <p:cNvPr id="10" name="Shape 8"/>
          <p:cNvSpPr/>
          <p:nvPr/>
        </p:nvSpPr>
        <p:spPr>
          <a:xfrm>
            <a:off x="9229725"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2959373"/>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Complements the entity-level evidence investigation from Module 2, Objective 2.2, at estate scale.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3.1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Hunting in Defender XDR</a:t>
            </a:r>
            <a:endParaRPr lang="en-US" sz="4050" dirty="0"/>
          </a:p>
        </p:txBody>
      </p:sp>
      <p:sp>
        <p:nvSpPr>
          <p:cNvPr id="5" name="Shape 3"/>
          <p:cNvSpPr/>
          <p:nvPr/>
        </p:nvSpPr>
        <p:spPr>
          <a:xfrm>
            <a:off x="914400" y="1871663"/>
            <a:ext cx="3294459" cy="514350"/>
          </a:xfrm>
          <a:prstGeom prst="rect">
            <a:avLst/>
          </a:prstGeom>
          <a:solidFill>
            <a:srgbClr val="FF6A00">
              <a:alpha val="18000"/>
            </a:srgbClr>
          </a:solidFill>
          <a:ln/>
        </p:spPr>
      </p:sp>
      <p:sp>
        <p:nvSpPr>
          <p:cNvPr id="6" name="Shape 4"/>
          <p:cNvSpPr/>
          <p:nvPr/>
        </p:nvSpPr>
        <p:spPr>
          <a:xfrm>
            <a:off x="914400" y="2376488"/>
            <a:ext cx="3294459" cy="9525"/>
          </a:xfrm>
          <a:prstGeom prst="rect">
            <a:avLst/>
          </a:prstGeom>
          <a:solidFill>
            <a:srgbClr val="B85100"/>
          </a:solidFill>
          <a:ln/>
        </p:spPr>
      </p:sp>
      <p:sp>
        <p:nvSpPr>
          <p:cNvPr id="7" name="Text 5"/>
          <p:cNvSpPr/>
          <p:nvPr/>
        </p:nvSpPr>
        <p:spPr>
          <a:xfrm>
            <a:off x="1057275" y="1976438"/>
            <a:ext cx="3107543"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Area</a:t>
            </a:r>
            <a:endParaRPr lang="en-US" sz="2025" dirty="0"/>
          </a:p>
        </p:txBody>
      </p:sp>
      <p:sp>
        <p:nvSpPr>
          <p:cNvPr id="8" name="Shape 6"/>
          <p:cNvSpPr/>
          <p:nvPr/>
        </p:nvSpPr>
        <p:spPr>
          <a:xfrm>
            <a:off x="4208859" y="1871663"/>
            <a:ext cx="13164741" cy="514350"/>
          </a:xfrm>
          <a:prstGeom prst="rect">
            <a:avLst/>
          </a:prstGeom>
          <a:solidFill>
            <a:srgbClr val="FF6A00">
              <a:alpha val="18000"/>
            </a:srgbClr>
          </a:solidFill>
          <a:ln/>
        </p:spPr>
      </p:sp>
      <p:sp>
        <p:nvSpPr>
          <p:cNvPr id="9" name="Shape 7"/>
          <p:cNvSpPr/>
          <p:nvPr/>
        </p:nvSpPr>
        <p:spPr>
          <a:xfrm>
            <a:off x="4208859" y="2376488"/>
            <a:ext cx="13164741" cy="9525"/>
          </a:xfrm>
          <a:prstGeom prst="rect">
            <a:avLst/>
          </a:prstGeom>
          <a:solidFill>
            <a:srgbClr val="B85100"/>
          </a:solidFill>
          <a:ln/>
        </p:spPr>
      </p:sp>
      <p:sp>
        <p:nvSpPr>
          <p:cNvPr id="10" name="Text 8"/>
          <p:cNvSpPr/>
          <p:nvPr/>
        </p:nvSpPr>
        <p:spPr>
          <a:xfrm>
            <a:off x="4351734" y="1976438"/>
            <a:ext cx="13273933"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Tasks Covered</a:t>
            </a:r>
            <a:endParaRPr lang="en-US" sz="2025" dirty="0"/>
          </a:p>
        </p:txBody>
      </p:sp>
      <p:sp>
        <p:nvSpPr>
          <p:cNvPr id="11" name="Shape 9"/>
          <p:cNvSpPr/>
          <p:nvPr/>
        </p:nvSpPr>
        <p:spPr>
          <a:xfrm>
            <a:off x="914400" y="2852738"/>
            <a:ext cx="3294459" cy="9525"/>
          </a:xfrm>
          <a:prstGeom prst="rect">
            <a:avLst/>
          </a:prstGeom>
          <a:solidFill>
            <a:srgbClr val="2A2F3A"/>
          </a:solidFill>
          <a:ln/>
        </p:spPr>
      </p:sp>
      <p:sp>
        <p:nvSpPr>
          <p:cNvPr id="12" name="Text 10"/>
          <p:cNvSpPr/>
          <p:nvPr/>
        </p:nvSpPr>
        <p:spPr>
          <a:xfrm>
            <a:off x="1057275" y="2490788"/>
            <a:ext cx="310754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Query foundations</a:t>
            </a:r>
            <a:endParaRPr lang="en-US" sz="1725" dirty="0"/>
          </a:p>
        </p:txBody>
      </p:sp>
      <p:sp>
        <p:nvSpPr>
          <p:cNvPr id="13" name="Shape 11"/>
          <p:cNvSpPr/>
          <p:nvPr/>
        </p:nvSpPr>
        <p:spPr>
          <a:xfrm>
            <a:off x="4208859" y="2852738"/>
            <a:ext cx="13164741" cy="9525"/>
          </a:xfrm>
          <a:prstGeom prst="rect">
            <a:avLst/>
          </a:prstGeom>
          <a:solidFill>
            <a:srgbClr val="2A2F3A"/>
          </a:solidFill>
          <a:ln/>
        </p:spPr>
      </p:sp>
      <p:sp>
        <p:nvSpPr>
          <p:cNvPr id="14" name="Text 12"/>
          <p:cNvSpPr/>
          <p:nvPr/>
        </p:nvSpPr>
        <p:spPr>
          <a:xfrm>
            <a:off x="4351734" y="2490788"/>
            <a:ext cx="1327393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Identifying the appropriate table; identifying threats with KQL; creating Advanced Hunting queries</a:t>
            </a:r>
            <a:endParaRPr lang="en-US" sz="1725" dirty="0"/>
          </a:p>
        </p:txBody>
      </p:sp>
      <p:sp>
        <p:nvSpPr>
          <p:cNvPr id="15" name="Shape 13"/>
          <p:cNvSpPr/>
          <p:nvPr/>
        </p:nvSpPr>
        <p:spPr>
          <a:xfrm>
            <a:off x="914400" y="2862263"/>
            <a:ext cx="3294459" cy="476250"/>
          </a:xfrm>
          <a:prstGeom prst="rect">
            <a:avLst/>
          </a:prstGeom>
          <a:solidFill>
            <a:srgbClr val="FFFFFF">
              <a:alpha val="2000"/>
            </a:srgbClr>
          </a:solidFill>
          <a:ln/>
        </p:spPr>
      </p:sp>
      <p:sp>
        <p:nvSpPr>
          <p:cNvPr id="16" name="Shape 14"/>
          <p:cNvSpPr/>
          <p:nvPr/>
        </p:nvSpPr>
        <p:spPr>
          <a:xfrm>
            <a:off x="914400" y="3328988"/>
            <a:ext cx="3294459" cy="9525"/>
          </a:xfrm>
          <a:prstGeom prst="rect">
            <a:avLst/>
          </a:prstGeom>
          <a:solidFill>
            <a:srgbClr val="2A2F3A"/>
          </a:solidFill>
          <a:ln/>
        </p:spPr>
      </p:sp>
      <p:sp>
        <p:nvSpPr>
          <p:cNvPr id="17" name="Text 15"/>
          <p:cNvSpPr/>
          <p:nvPr/>
        </p:nvSpPr>
        <p:spPr>
          <a:xfrm>
            <a:off x="1057275" y="2967038"/>
            <a:ext cx="310754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Intelligence</a:t>
            </a:r>
            <a:endParaRPr lang="en-US" sz="1725" dirty="0"/>
          </a:p>
        </p:txBody>
      </p:sp>
      <p:sp>
        <p:nvSpPr>
          <p:cNvPr id="18" name="Shape 16"/>
          <p:cNvSpPr/>
          <p:nvPr/>
        </p:nvSpPr>
        <p:spPr>
          <a:xfrm>
            <a:off x="4208859" y="2862263"/>
            <a:ext cx="13164741" cy="476250"/>
          </a:xfrm>
          <a:prstGeom prst="rect">
            <a:avLst/>
          </a:prstGeom>
          <a:solidFill>
            <a:srgbClr val="FFFFFF">
              <a:alpha val="2000"/>
            </a:srgbClr>
          </a:solidFill>
          <a:ln/>
        </p:spPr>
      </p:sp>
      <p:sp>
        <p:nvSpPr>
          <p:cNvPr id="19" name="Shape 17"/>
          <p:cNvSpPr/>
          <p:nvPr/>
        </p:nvSpPr>
        <p:spPr>
          <a:xfrm>
            <a:off x="4208859" y="3328988"/>
            <a:ext cx="13164741" cy="9525"/>
          </a:xfrm>
          <a:prstGeom prst="rect">
            <a:avLst/>
          </a:prstGeom>
          <a:solidFill>
            <a:srgbClr val="2A2F3A"/>
          </a:solidFill>
          <a:ln/>
        </p:spPr>
      </p:sp>
      <p:sp>
        <p:nvSpPr>
          <p:cNvPr id="20" name="Text 18"/>
          <p:cNvSpPr/>
          <p:nvPr/>
        </p:nvSpPr>
        <p:spPr>
          <a:xfrm>
            <a:off x="4351734" y="2967038"/>
            <a:ext cx="1327393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Interpreting threat analytics reports and their recommended actions</a:t>
            </a:r>
            <a:endParaRPr lang="en-US" sz="1725" dirty="0"/>
          </a:p>
        </p:txBody>
      </p:sp>
      <p:sp>
        <p:nvSpPr>
          <p:cNvPr id="21" name="Shape 19"/>
          <p:cNvSpPr/>
          <p:nvPr/>
        </p:nvSpPr>
        <p:spPr>
          <a:xfrm>
            <a:off x="914400" y="3805237"/>
            <a:ext cx="3294459" cy="9525"/>
          </a:xfrm>
          <a:prstGeom prst="rect">
            <a:avLst/>
          </a:prstGeom>
          <a:solidFill>
            <a:srgbClr val="2A2F3A"/>
          </a:solidFill>
          <a:ln/>
        </p:spPr>
      </p:sp>
      <p:sp>
        <p:nvSpPr>
          <p:cNvPr id="22" name="Text 20"/>
          <p:cNvSpPr/>
          <p:nvPr/>
        </p:nvSpPr>
        <p:spPr>
          <a:xfrm>
            <a:off x="1057275" y="3443288"/>
            <a:ext cx="310754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Graph-based analysis</a:t>
            </a:r>
            <a:endParaRPr lang="en-US" sz="1725" dirty="0"/>
          </a:p>
        </p:txBody>
      </p:sp>
      <p:sp>
        <p:nvSpPr>
          <p:cNvPr id="23" name="Shape 21"/>
          <p:cNvSpPr/>
          <p:nvPr/>
        </p:nvSpPr>
        <p:spPr>
          <a:xfrm>
            <a:off x="4208859" y="3805237"/>
            <a:ext cx="13164741" cy="9525"/>
          </a:xfrm>
          <a:prstGeom prst="rect">
            <a:avLst/>
          </a:prstGeom>
          <a:solidFill>
            <a:srgbClr val="2A2F3A"/>
          </a:solidFill>
          <a:ln/>
        </p:spPr>
      </p:sp>
      <p:sp>
        <p:nvSpPr>
          <p:cNvPr id="24" name="Text 22"/>
          <p:cNvSpPr/>
          <p:nvPr/>
        </p:nvSpPr>
        <p:spPr>
          <a:xfrm>
            <a:off x="4351734" y="3443288"/>
            <a:ext cx="1327393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Hunting graphs including blast radius; entity relationships via Sentinel Graph</a:t>
            </a:r>
            <a:endParaRPr lang="en-US" sz="17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54822"/>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3.2</a:t>
            </a:r>
            <a:endParaRPr lang="en-US" sz="1575" dirty="0"/>
          </a:p>
        </p:txBody>
      </p:sp>
      <p:sp>
        <p:nvSpPr>
          <p:cNvPr id="4" name="Text 2"/>
          <p:cNvSpPr/>
          <p:nvPr/>
        </p:nvSpPr>
        <p:spPr>
          <a:xfrm>
            <a:off x="914400" y="4464397"/>
            <a:ext cx="16952976" cy="1253430"/>
          </a:xfrm>
          <a:prstGeom prst="rect">
            <a:avLst/>
          </a:prstGeom>
          <a:noFill/>
          <a:ln/>
        </p:spPr>
        <p:txBody>
          <a:bodyPr wrap="square" lIns="25400" tIns="25400" rIns="25400" bIns="25400" rtlCol="0" anchor="t">
            <a:normAutofit/>
          </a:bodyPr>
          <a:lstStyle/>
          <a:p>
            <a:pPr algn="l" indent="0" marL="0">
              <a:lnSpc>
                <a:spcPct val="95224"/>
              </a:lnSpc>
              <a:buNone/>
            </a:pPr>
            <a:r>
              <a:rPr lang="en-US" sz="4350" b="1" dirty="0">
                <a:solidFill>
                  <a:srgbClr val="F5F7FB"/>
                </a:solidFill>
                <a:latin typeface="Arial" pitchFamily="34" charset="0"/>
                <a:ea typeface="Arial" pitchFamily="34" charset="-122"/>
                <a:cs typeface="Arial" pitchFamily="34" charset="-120"/>
              </a:rPr>
              <a:t>Detect Threats by Using the Microsoft Sentinel Platform</a:t>
            </a:r>
            <a:endParaRPr lang="en-US" sz="4350" dirty="0"/>
          </a:p>
        </p:txBody>
      </p:sp>
      <p:sp>
        <p:nvSpPr>
          <p:cNvPr id="5" name="Text 3"/>
          <p:cNvSpPr/>
          <p:nvPr/>
        </p:nvSpPr>
        <p:spPr>
          <a:xfrm>
            <a:off x="914400" y="5870228"/>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Hunting queries, KQL jobs in the data lake, summary rule tables, and Notebooks with the Sentinel MCP Server</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444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2997"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3.2 · Task 1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&amp; Monitor Hunting Queries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Sentinel maintains a hunting query library — Microsoft-supplied and custom — that can be run on demand, bookmarked when results are interesting, and monitored over time via livestream to watch for new matches.</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BOOKMARKS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Preserve an interesting hunting result so it can be revisited or attached to an incident.</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LIVESTREAM</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Watch a hunting query for new matches in near real time without creating a full analytics rule.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319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174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3.2 · Task 2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&amp; Manage KQL Jobs in Data Lake</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The data lake tier stores high-volume data at low cost but is not queried interactively. KQL jobs run queries against that tier as scheduled or on-demand workloads, making long-horizon historical hunting affordable.</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Enables hunting over months of data that would be prohibitively expensive to keep in the Analytics tier.</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data lake retention tier configured in Module 1, Objective 1.2 — this is how you actually query it.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6920"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5470"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3.2 · Task 3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&amp; Manage Summary Rule Tables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Summary rules pre-aggregate high-volume raw data into compact summary tables on a schedule, so hunting and analytics can query the small summary instead of scanning the expensive raw table every time.</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BENEFIT</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Faster queries and lower cost over long time ranges, because the aggregation is done once rather than per query.</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TRADE-OFF</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 summary only contains what you chose to aggregate — detail dropped at summarisation time is not recoverable from it.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9450"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8000"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3.2 · Task 4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Hunt With Notebooks &amp; the Sentinel MCP Server</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Jupyter Notebooks bring code, data, and narrative together for advanced hunting — repeatable multi-step investigations, enrichment from external sources, and analysis beyond what a single KQL query can express. The Sentinel MCP Server provides a standardised interface for connecting AI tooling to Sentinel data.</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NOTEBOOKS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Machine learning, custom visualisation, and multi-source enrichment that KQL alone cannot do.</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MCP SERVER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Model Context Protocol server — the standardised way AI agents and tools discover and query Sentinel data.</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DECISION AID</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Choosing a Hunting Surface</a:t>
            </a:r>
            <a:endParaRPr lang="en-US" sz="4050" dirty="0"/>
          </a:p>
        </p:txBody>
      </p:sp>
      <p:sp>
        <p:nvSpPr>
          <p:cNvPr id="5" name="Shape 3"/>
          <p:cNvSpPr/>
          <p:nvPr/>
        </p:nvSpPr>
        <p:spPr>
          <a:xfrm>
            <a:off x="914400" y="1852612"/>
            <a:ext cx="8647286" cy="514350"/>
          </a:xfrm>
          <a:prstGeom prst="rect">
            <a:avLst/>
          </a:prstGeom>
          <a:solidFill>
            <a:srgbClr val="FF6A00">
              <a:alpha val="18000"/>
            </a:srgbClr>
          </a:solidFill>
          <a:ln/>
        </p:spPr>
      </p:sp>
      <p:sp>
        <p:nvSpPr>
          <p:cNvPr id="6" name="Shape 4"/>
          <p:cNvSpPr/>
          <p:nvPr/>
        </p:nvSpPr>
        <p:spPr>
          <a:xfrm>
            <a:off x="914400" y="2357438"/>
            <a:ext cx="8647286" cy="9525"/>
          </a:xfrm>
          <a:prstGeom prst="rect">
            <a:avLst/>
          </a:prstGeom>
          <a:solidFill>
            <a:srgbClr val="B85100"/>
          </a:solidFill>
          <a:ln/>
        </p:spPr>
      </p:sp>
      <p:sp>
        <p:nvSpPr>
          <p:cNvPr id="7" name="Text 5"/>
          <p:cNvSpPr/>
          <p:nvPr/>
        </p:nvSpPr>
        <p:spPr>
          <a:xfrm>
            <a:off x="1057275" y="1957388"/>
            <a:ext cx="8620955"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Requirement</a:t>
            </a:r>
            <a:endParaRPr lang="en-US" sz="2025" dirty="0"/>
          </a:p>
        </p:txBody>
      </p:sp>
      <p:sp>
        <p:nvSpPr>
          <p:cNvPr id="8" name="Shape 6"/>
          <p:cNvSpPr/>
          <p:nvPr/>
        </p:nvSpPr>
        <p:spPr>
          <a:xfrm>
            <a:off x="9561686" y="1852612"/>
            <a:ext cx="7811914" cy="514350"/>
          </a:xfrm>
          <a:prstGeom prst="rect">
            <a:avLst/>
          </a:prstGeom>
          <a:solidFill>
            <a:srgbClr val="FF6A00">
              <a:alpha val="18000"/>
            </a:srgbClr>
          </a:solidFill>
          <a:ln/>
        </p:spPr>
      </p:sp>
      <p:sp>
        <p:nvSpPr>
          <p:cNvPr id="9" name="Shape 7"/>
          <p:cNvSpPr/>
          <p:nvPr/>
        </p:nvSpPr>
        <p:spPr>
          <a:xfrm>
            <a:off x="9561686" y="2357438"/>
            <a:ext cx="7811914" cy="9525"/>
          </a:xfrm>
          <a:prstGeom prst="rect">
            <a:avLst/>
          </a:prstGeom>
          <a:solidFill>
            <a:srgbClr val="B85100"/>
          </a:solidFill>
          <a:ln/>
        </p:spPr>
      </p:sp>
      <p:sp>
        <p:nvSpPr>
          <p:cNvPr id="10" name="Text 8"/>
          <p:cNvSpPr/>
          <p:nvPr/>
        </p:nvSpPr>
        <p:spPr>
          <a:xfrm>
            <a:off x="9704561" y="1957388"/>
            <a:ext cx="7760521"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Use</a:t>
            </a:r>
            <a:endParaRPr lang="en-US" sz="2025" dirty="0"/>
          </a:p>
        </p:txBody>
      </p:sp>
      <p:sp>
        <p:nvSpPr>
          <p:cNvPr id="11" name="Shape 9"/>
          <p:cNvSpPr/>
          <p:nvPr/>
        </p:nvSpPr>
        <p:spPr>
          <a:xfrm>
            <a:off x="914400" y="2833688"/>
            <a:ext cx="8647286" cy="9525"/>
          </a:xfrm>
          <a:prstGeom prst="rect">
            <a:avLst/>
          </a:prstGeom>
          <a:solidFill>
            <a:srgbClr val="2A2F3A"/>
          </a:solidFill>
          <a:ln/>
        </p:spPr>
      </p:sp>
      <p:sp>
        <p:nvSpPr>
          <p:cNvPr id="12" name="Text 10"/>
          <p:cNvSpPr/>
          <p:nvPr/>
        </p:nvSpPr>
        <p:spPr>
          <a:xfrm>
            <a:off x="1057275" y="2471738"/>
            <a:ext cx="862095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Interactive hunt over recent Defender XDR telemetry</a:t>
            </a:r>
            <a:endParaRPr lang="en-US" sz="1725" dirty="0"/>
          </a:p>
        </p:txBody>
      </p:sp>
      <p:sp>
        <p:nvSpPr>
          <p:cNvPr id="13" name="Shape 11"/>
          <p:cNvSpPr/>
          <p:nvPr/>
        </p:nvSpPr>
        <p:spPr>
          <a:xfrm>
            <a:off x="9561686" y="2833688"/>
            <a:ext cx="7811914" cy="9525"/>
          </a:xfrm>
          <a:prstGeom prst="rect">
            <a:avLst/>
          </a:prstGeom>
          <a:solidFill>
            <a:srgbClr val="2A2F3A"/>
          </a:solidFill>
          <a:ln/>
        </p:spPr>
      </p:sp>
      <p:sp>
        <p:nvSpPr>
          <p:cNvPr id="14" name="Text 12"/>
          <p:cNvSpPr/>
          <p:nvPr/>
        </p:nvSpPr>
        <p:spPr>
          <a:xfrm>
            <a:off x="9704561" y="2471738"/>
            <a:ext cx="776052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Advanced Hunting in Defender XDR</a:t>
            </a:r>
            <a:endParaRPr lang="en-US" sz="1725" dirty="0"/>
          </a:p>
        </p:txBody>
      </p:sp>
      <p:sp>
        <p:nvSpPr>
          <p:cNvPr id="15" name="Shape 13"/>
          <p:cNvSpPr/>
          <p:nvPr/>
        </p:nvSpPr>
        <p:spPr>
          <a:xfrm>
            <a:off x="914400" y="2843213"/>
            <a:ext cx="8647286" cy="476250"/>
          </a:xfrm>
          <a:prstGeom prst="rect">
            <a:avLst/>
          </a:prstGeom>
          <a:solidFill>
            <a:srgbClr val="FFFFFF">
              <a:alpha val="2000"/>
            </a:srgbClr>
          </a:solidFill>
          <a:ln/>
        </p:spPr>
      </p:sp>
      <p:sp>
        <p:nvSpPr>
          <p:cNvPr id="16" name="Shape 14"/>
          <p:cNvSpPr/>
          <p:nvPr/>
        </p:nvSpPr>
        <p:spPr>
          <a:xfrm>
            <a:off x="914400" y="3309938"/>
            <a:ext cx="8647286" cy="9525"/>
          </a:xfrm>
          <a:prstGeom prst="rect">
            <a:avLst/>
          </a:prstGeom>
          <a:solidFill>
            <a:srgbClr val="2A2F3A"/>
          </a:solidFill>
          <a:ln/>
        </p:spPr>
      </p:sp>
      <p:sp>
        <p:nvSpPr>
          <p:cNvPr id="17" name="Text 15"/>
          <p:cNvSpPr/>
          <p:nvPr/>
        </p:nvSpPr>
        <p:spPr>
          <a:xfrm>
            <a:off x="1057275" y="2947988"/>
            <a:ext cx="862095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Reusable, monitored hunt with bookmarks and livestream</a:t>
            </a:r>
            <a:endParaRPr lang="en-US" sz="1725" dirty="0"/>
          </a:p>
        </p:txBody>
      </p:sp>
      <p:sp>
        <p:nvSpPr>
          <p:cNvPr id="18" name="Shape 16"/>
          <p:cNvSpPr/>
          <p:nvPr/>
        </p:nvSpPr>
        <p:spPr>
          <a:xfrm>
            <a:off x="9561686" y="2843213"/>
            <a:ext cx="7811914" cy="476250"/>
          </a:xfrm>
          <a:prstGeom prst="rect">
            <a:avLst/>
          </a:prstGeom>
          <a:solidFill>
            <a:srgbClr val="FFFFFF">
              <a:alpha val="2000"/>
            </a:srgbClr>
          </a:solidFill>
          <a:ln/>
        </p:spPr>
      </p:sp>
      <p:sp>
        <p:nvSpPr>
          <p:cNvPr id="19" name="Shape 17"/>
          <p:cNvSpPr/>
          <p:nvPr/>
        </p:nvSpPr>
        <p:spPr>
          <a:xfrm>
            <a:off x="9561686" y="3309938"/>
            <a:ext cx="7811914" cy="9525"/>
          </a:xfrm>
          <a:prstGeom prst="rect">
            <a:avLst/>
          </a:prstGeom>
          <a:solidFill>
            <a:srgbClr val="2A2F3A"/>
          </a:solidFill>
          <a:ln/>
        </p:spPr>
      </p:sp>
      <p:sp>
        <p:nvSpPr>
          <p:cNvPr id="20" name="Text 18"/>
          <p:cNvSpPr/>
          <p:nvPr/>
        </p:nvSpPr>
        <p:spPr>
          <a:xfrm>
            <a:off x="9704561" y="2947988"/>
            <a:ext cx="776052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Sentinel hunting queries</a:t>
            </a:r>
            <a:endParaRPr lang="en-US" sz="1725" dirty="0"/>
          </a:p>
        </p:txBody>
      </p:sp>
      <p:sp>
        <p:nvSpPr>
          <p:cNvPr id="21" name="Shape 19"/>
          <p:cNvSpPr/>
          <p:nvPr/>
        </p:nvSpPr>
        <p:spPr>
          <a:xfrm>
            <a:off x="914400" y="3786188"/>
            <a:ext cx="8647286" cy="9525"/>
          </a:xfrm>
          <a:prstGeom prst="rect">
            <a:avLst/>
          </a:prstGeom>
          <a:solidFill>
            <a:srgbClr val="2A2F3A"/>
          </a:solidFill>
          <a:ln/>
        </p:spPr>
      </p:sp>
      <p:sp>
        <p:nvSpPr>
          <p:cNvPr id="22" name="Text 20"/>
          <p:cNvSpPr/>
          <p:nvPr/>
        </p:nvSpPr>
        <p:spPr>
          <a:xfrm>
            <a:off x="1057275" y="3424238"/>
            <a:ext cx="862095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Hunt over months of low-cost historical data</a:t>
            </a:r>
            <a:endParaRPr lang="en-US" sz="1725" dirty="0"/>
          </a:p>
        </p:txBody>
      </p:sp>
      <p:sp>
        <p:nvSpPr>
          <p:cNvPr id="23" name="Shape 21"/>
          <p:cNvSpPr/>
          <p:nvPr/>
        </p:nvSpPr>
        <p:spPr>
          <a:xfrm>
            <a:off x="9561686" y="3786188"/>
            <a:ext cx="7811914" cy="9525"/>
          </a:xfrm>
          <a:prstGeom prst="rect">
            <a:avLst/>
          </a:prstGeom>
          <a:solidFill>
            <a:srgbClr val="2A2F3A"/>
          </a:solidFill>
          <a:ln/>
        </p:spPr>
      </p:sp>
      <p:sp>
        <p:nvSpPr>
          <p:cNvPr id="24" name="Text 22"/>
          <p:cNvSpPr/>
          <p:nvPr/>
        </p:nvSpPr>
        <p:spPr>
          <a:xfrm>
            <a:off x="9704561" y="3424238"/>
            <a:ext cx="776052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KQL jobs in the data lake</a:t>
            </a:r>
            <a:endParaRPr lang="en-US" sz="1725" dirty="0"/>
          </a:p>
        </p:txBody>
      </p:sp>
      <p:sp>
        <p:nvSpPr>
          <p:cNvPr id="25" name="Shape 23"/>
          <p:cNvSpPr/>
          <p:nvPr/>
        </p:nvSpPr>
        <p:spPr>
          <a:xfrm>
            <a:off x="914400" y="3795713"/>
            <a:ext cx="8647286" cy="476250"/>
          </a:xfrm>
          <a:prstGeom prst="rect">
            <a:avLst/>
          </a:prstGeom>
          <a:solidFill>
            <a:srgbClr val="FFFFFF">
              <a:alpha val="2000"/>
            </a:srgbClr>
          </a:solidFill>
          <a:ln/>
        </p:spPr>
      </p:sp>
      <p:sp>
        <p:nvSpPr>
          <p:cNvPr id="26" name="Shape 24"/>
          <p:cNvSpPr/>
          <p:nvPr/>
        </p:nvSpPr>
        <p:spPr>
          <a:xfrm>
            <a:off x="914400" y="4262438"/>
            <a:ext cx="8647286" cy="9525"/>
          </a:xfrm>
          <a:prstGeom prst="rect">
            <a:avLst/>
          </a:prstGeom>
          <a:solidFill>
            <a:srgbClr val="2A2F3A"/>
          </a:solidFill>
          <a:ln/>
        </p:spPr>
      </p:sp>
      <p:sp>
        <p:nvSpPr>
          <p:cNvPr id="27" name="Text 25"/>
          <p:cNvSpPr/>
          <p:nvPr/>
        </p:nvSpPr>
        <p:spPr>
          <a:xfrm>
            <a:off x="1057275" y="3900488"/>
            <a:ext cx="862095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Repeated queries over very high-volume raw tables</a:t>
            </a:r>
            <a:endParaRPr lang="en-US" sz="1725" dirty="0"/>
          </a:p>
        </p:txBody>
      </p:sp>
      <p:sp>
        <p:nvSpPr>
          <p:cNvPr id="28" name="Shape 26"/>
          <p:cNvSpPr/>
          <p:nvPr/>
        </p:nvSpPr>
        <p:spPr>
          <a:xfrm>
            <a:off x="9561686" y="3795713"/>
            <a:ext cx="7811914" cy="476250"/>
          </a:xfrm>
          <a:prstGeom prst="rect">
            <a:avLst/>
          </a:prstGeom>
          <a:solidFill>
            <a:srgbClr val="FFFFFF">
              <a:alpha val="2000"/>
            </a:srgbClr>
          </a:solidFill>
          <a:ln/>
        </p:spPr>
      </p:sp>
      <p:sp>
        <p:nvSpPr>
          <p:cNvPr id="29" name="Shape 27"/>
          <p:cNvSpPr/>
          <p:nvPr/>
        </p:nvSpPr>
        <p:spPr>
          <a:xfrm>
            <a:off x="9561686" y="4262438"/>
            <a:ext cx="7811914" cy="9525"/>
          </a:xfrm>
          <a:prstGeom prst="rect">
            <a:avLst/>
          </a:prstGeom>
          <a:solidFill>
            <a:srgbClr val="2A2F3A"/>
          </a:solidFill>
          <a:ln/>
        </p:spPr>
      </p:sp>
      <p:sp>
        <p:nvSpPr>
          <p:cNvPr id="30" name="Text 28"/>
          <p:cNvSpPr/>
          <p:nvPr/>
        </p:nvSpPr>
        <p:spPr>
          <a:xfrm>
            <a:off x="9704561" y="3900488"/>
            <a:ext cx="776052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Summary rule tables</a:t>
            </a:r>
            <a:endParaRPr lang="en-US" sz="1725" dirty="0"/>
          </a:p>
        </p:txBody>
      </p:sp>
      <p:sp>
        <p:nvSpPr>
          <p:cNvPr id="31" name="Shape 29"/>
          <p:cNvSpPr/>
          <p:nvPr/>
        </p:nvSpPr>
        <p:spPr>
          <a:xfrm>
            <a:off x="914400" y="4738688"/>
            <a:ext cx="8647286" cy="9525"/>
          </a:xfrm>
          <a:prstGeom prst="rect">
            <a:avLst/>
          </a:prstGeom>
          <a:solidFill>
            <a:srgbClr val="2A2F3A"/>
          </a:solidFill>
          <a:ln/>
        </p:spPr>
      </p:sp>
      <p:sp>
        <p:nvSpPr>
          <p:cNvPr id="32" name="Text 30"/>
          <p:cNvSpPr/>
          <p:nvPr/>
        </p:nvSpPr>
        <p:spPr>
          <a:xfrm>
            <a:off x="1057275" y="4376738"/>
            <a:ext cx="862095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Multi-step analysis, ML, or external enrichment</a:t>
            </a:r>
            <a:endParaRPr lang="en-US" sz="1725" dirty="0"/>
          </a:p>
        </p:txBody>
      </p:sp>
      <p:sp>
        <p:nvSpPr>
          <p:cNvPr id="33" name="Shape 31"/>
          <p:cNvSpPr/>
          <p:nvPr/>
        </p:nvSpPr>
        <p:spPr>
          <a:xfrm>
            <a:off x="9561686" y="4738688"/>
            <a:ext cx="7811914" cy="9525"/>
          </a:xfrm>
          <a:prstGeom prst="rect">
            <a:avLst/>
          </a:prstGeom>
          <a:solidFill>
            <a:srgbClr val="2A2F3A"/>
          </a:solidFill>
          <a:ln/>
        </p:spPr>
      </p:sp>
      <p:sp>
        <p:nvSpPr>
          <p:cNvPr id="34" name="Text 32"/>
          <p:cNvSpPr/>
          <p:nvPr/>
        </p:nvSpPr>
        <p:spPr>
          <a:xfrm>
            <a:off x="9704561" y="4376738"/>
            <a:ext cx="776052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Notebooks, optionally via the Sentinel MCP Server</a:t>
            </a:r>
            <a:endParaRPr lang="en-US" sz="1725" dirty="0"/>
          </a:p>
        </p:txBody>
      </p:sp>
      <p:sp>
        <p:nvSpPr>
          <p:cNvPr id="35" name="Shape 33"/>
          <p:cNvSpPr/>
          <p:nvPr/>
        </p:nvSpPr>
        <p:spPr>
          <a:xfrm>
            <a:off x="914400" y="4748213"/>
            <a:ext cx="8647286" cy="476250"/>
          </a:xfrm>
          <a:prstGeom prst="rect">
            <a:avLst/>
          </a:prstGeom>
          <a:solidFill>
            <a:srgbClr val="FFFFFF">
              <a:alpha val="2000"/>
            </a:srgbClr>
          </a:solidFill>
          <a:ln/>
        </p:spPr>
      </p:sp>
      <p:sp>
        <p:nvSpPr>
          <p:cNvPr id="36" name="Shape 34"/>
          <p:cNvSpPr/>
          <p:nvPr/>
        </p:nvSpPr>
        <p:spPr>
          <a:xfrm>
            <a:off x="914400" y="5214938"/>
            <a:ext cx="8647286" cy="9525"/>
          </a:xfrm>
          <a:prstGeom prst="rect">
            <a:avLst/>
          </a:prstGeom>
          <a:solidFill>
            <a:srgbClr val="2A2F3A"/>
          </a:solidFill>
          <a:ln/>
        </p:spPr>
      </p:sp>
      <p:sp>
        <p:nvSpPr>
          <p:cNvPr id="37" name="Text 35"/>
          <p:cNvSpPr/>
          <p:nvPr/>
        </p:nvSpPr>
        <p:spPr>
          <a:xfrm>
            <a:off x="1057275" y="4852987"/>
            <a:ext cx="862095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Understanding an attack's reach and exposure</a:t>
            </a:r>
            <a:endParaRPr lang="en-US" sz="1725" dirty="0"/>
          </a:p>
        </p:txBody>
      </p:sp>
      <p:sp>
        <p:nvSpPr>
          <p:cNvPr id="38" name="Shape 36"/>
          <p:cNvSpPr/>
          <p:nvPr/>
        </p:nvSpPr>
        <p:spPr>
          <a:xfrm>
            <a:off x="9561686" y="4748213"/>
            <a:ext cx="7811914" cy="476250"/>
          </a:xfrm>
          <a:prstGeom prst="rect">
            <a:avLst/>
          </a:prstGeom>
          <a:solidFill>
            <a:srgbClr val="FFFFFF">
              <a:alpha val="2000"/>
            </a:srgbClr>
          </a:solidFill>
          <a:ln/>
        </p:spPr>
      </p:sp>
      <p:sp>
        <p:nvSpPr>
          <p:cNvPr id="39" name="Shape 37"/>
          <p:cNvSpPr/>
          <p:nvPr/>
        </p:nvSpPr>
        <p:spPr>
          <a:xfrm>
            <a:off x="9561686" y="5214938"/>
            <a:ext cx="7811914" cy="9525"/>
          </a:xfrm>
          <a:prstGeom prst="rect">
            <a:avLst/>
          </a:prstGeom>
          <a:solidFill>
            <a:srgbClr val="2A2F3A"/>
          </a:solidFill>
          <a:ln/>
        </p:spPr>
      </p:sp>
      <p:sp>
        <p:nvSpPr>
          <p:cNvPr id="40" name="Text 38"/>
          <p:cNvSpPr/>
          <p:nvPr/>
        </p:nvSpPr>
        <p:spPr>
          <a:xfrm>
            <a:off x="9704561" y="4852987"/>
            <a:ext cx="776052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Hunting graphs (blast radius) and Sentinel Graph</a:t>
            </a:r>
            <a:endParaRPr lang="en-US" sz="1725" dirty="0"/>
          </a:p>
        </p:txBody>
      </p:sp>
      <p:sp>
        <p:nvSpPr>
          <p:cNvPr id="41" name="Shape 39"/>
          <p:cNvSpPr/>
          <p:nvPr/>
        </p:nvSpPr>
        <p:spPr>
          <a:xfrm>
            <a:off x="914400" y="5691188"/>
            <a:ext cx="8647286" cy="9525"/>
          </a:xfrm>
          <a:prstGeom prst="rect">
            <a:avLst/>
          </a:prstGeom>
          <a:solidFill>
            <a:srgbClr val="2A2F3A"/>
          </a:solidFill>
          <a:ln/>
        </p:spPr>
      </p:sp>
      <p:sp>
        <p:nvSpPr>
          <p:cNvPr id="42" name="Text 40"/>
          <p:cNvSpPr/>
          <p:nvPr/>
        </p:nvSpPr>
        <p:spPr>
          <a:xfrm>
            <a:off x="1057275" y="5329238"/>
            <a:ext cx="862095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 hunt that should become a permanent detection</a:t>
            </a:r>
            <a:endParaRPr lang="en-US" sz="1725" dirty="0"/>
          </a:p>
        </p:txBody>
      </p:sp>
      <p:sp>
        <p:nvSpPr>
          <p:cNvPr id="43" name="Shape 41"/>
          <p:cNvSpPr/>
          <p:nvPr/>
        </p:nvSpPr>
        <p:spPr>
          <a:xfrm>
            <a:off x="9561686" y="5691188"/>
            <a:ext cx="7811914" cy="9525"/>
          </a:xfrm>
          <a:prstGeom prst="rect">
            <a:avLst/>
          </a:prstGeom>
          <a:solidFill>
            <a:srgbClr val="2A2F3A"/>
          </a:solidFill>
          <a:ln/>
        </p:spPr>
      </p:sp>
      <p:sp>
        <p:nvSpPr>
          <p:cNvPr id="44" name="Text 42"/>
          <p:cNvSpPr/>
          <p:nvPr/>
        </p:nvSpPr>
        <p:spPr>
          <a:xfrm>
            <a:off x="9704561" y="5329238"/>
            <a:ext cx="776052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Promote to a custom detection rule or analytics rule</a:t>
            </a:r>
            <a:endParaRPr lang="en-US" sz="17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3.2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You Should Now Be Able to Do</a:t>
            </a:r>
            <a:endParaRPr lang="en-US" sz="4050" dirty="0"/>
          </a:p>
        </p:txBody>
      </p:sp>
      <p:sp>
        <p:nvSpPr>
          <p:cNvPr id="5" name="Shape 3"/>
          <p:cNvSpPr/>
          <p:nvPr/>
        </p:nvSpPr>
        <p:spPr>
          <a:xfrm>
            <a:off x="914400" y="1890713"/>
            <a:ext cx="16459200" cy="714375"/>
          </a:xfrm>
          <a:prstGeom prst="roundRect">
            <a:avLst>
              <a:gd name="adj" fmla="val 21333"/>
            </a:avLst>
          </a:prstGeom>
          <a:solidFill>
            <a:srgbClr val="FFFFFF">
              <a:alpha val="2000"/>
            </a:srgbClr>
          </a:solidFill>
          <a:ln w="9525">
            <a:solidFill>
              <a:srgbClr val="2A2F3A"/>
            </a:solidFill>
            <a:prstDash val="solid"/>
          </a:ln>
        </p:spPr>
      </p:sp>
      <p:sp>
        <p:nvSpPr>
          <p:cNvPr id="6" name="Text 4"/>
          <p:cNvSpPr/>
          <p:nvPr/>
        </p:nvSpPr>
        <p:spPr>
          <a:xfrm>
            <a:off x="1152525" y="2128838"/>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Create and monitor Sentinel hunting queries, using bookmarks and livestream appropriately</a:t>
            </a:r>
            <a:endParaRPr lang="en-US" sz="1575" dirty="0"/>
          </a:p>
        </p:txBody>
      </p:sp>
      <p:sp>
        <p:nvSpPr>
          <p:cNvPr id="7" name="Shape 5"/>
          <p:cNvSpPr/>
          <p:nvPr/>
        </p:nvSpPr>
        <p:spPr>
          <a:xfrm>
            <a:off x="914400" y="2757488"/>
            <a:ext cx="16459200" cy="714375"/>
          </a:xfrm>
          <a:prstGeom prst="roundRect">
            <a:avLst>
              <a:gd name="adj" fmla="val 21333"/>
            </a:avLst>
          </a:prstGeom>
          <a:solidFill>
            <a:srgbClr val="FFFFFF">
              <a:alpha val="2000"/>
            </a:srgbClr>
          </a:solidFill>
          <a:ln w="9525">
            <a:solidFill>
              <a:srgbClr val="2A2F3A"/>
            </a:solidFill>
            <a:prstDash val="solid"/>
          </a:ln>
        </p:spPr>
      </p:sp>
      <p:sp>
        <p:nvSpPr>
          <p:cNvPr id="8" name="Text 6"/>
          <p:cNvSpPr/>
          <p:nvPr/>
        </p:nvSpPr>
        <p:spPr>
          <a:xfrm>
            <a:off x="1152525" y="299561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Run KQL jobs against the data lake tier for affordable long-horizon hunting</a:t>
            </a:r>
            <a:endParaRPr lang="en-US" sz="1575" dirty="0"/>
          </a:p>
        </p:txBody>
      </p:sp>
      <p:sp>
        <p:nvSpPr>
          <p:cNvPr id="9" name="Shape 7"/>
          <p:cNvSpPr/>
          <p:nvPr/>
        </p:nvSpPr>
        <p:spPr>
          <a:xfrm>
            <a:off x="914400" y="3624263"/>
            <a:ext cx="16459200" cy="714375"/>
          </a:xfrm>
          <a:prstGeom prst="roundRect">
            <a:avLst>
              <a:gd name="adj" fmla="val 21333"/>
            </a:avLst>
          </a:prstGeom>
          <a:solidFill>
            <a:srgbClr val="FFFFFF">
              <a:alpha val="2000"/>
            </a:srgbClr>
          </a:solidFill>
          <a:ln w="9525">
            <a:solidFill>
              <a:srgbClr val="2A2F3A"/>
            </a:solidFill>
            <a:prstDash val="solid"/>
          </a:ln>
        </p:spPr>
      </p:sp>
      <p:sp>
        <p:nvSpPr>
          <p:cNvPr id="10" name="Text 8"/>
          <p:cNvSpPr/>
          <p:nvPr/>
        </p:nvSpPr>
        <p:spPr>
          <a:xfrm>
            <a:off x="1152525" y="3862387"/>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Use summary rule tables to make repeated high-volume queries fast and cheap</a:t>
            </a:r>
            <a:endParaRPr lang="en-US" sz="1575" dirty="0"/>
          </a:p>
        </p:txBody>
      </p:sp>
      <p:sp>
        <p:nvSpPr>
          <p:cNvPr id="11" name="Shape 9"/>
          <p:cNvSpPr/>
          <p:nvPr/>
        </p:nvSpPr>
        <p:spPr>
          <a:xfrm>
            <a:off x="914400" y="4491038"/>
            <a:ext cx="16459200" cy="714375"/>
          </a:xfrm>
          <a:prstGeom prst="roundRect">
            <a:avLst>
              <a:gd name="adj" fmla="val 21333"/>
            </a:avLst>
          </a:prstGeom>
          <a:solidFill>
            <a:srgbClr val="FFFFFF">
              <a:alpha val="2000"/>
            </a:srgbClr>
          </a:solidFill>
          <a:ln w="9525">
            <a:solidFill>
              <a:srgbClr val="2A2F3A"/>
            </a:solidFill>
            <a:prstDash val="solid"/>
          </a:ln>
        </p:spPr>
      </p:sp>
      <p:sp>
        <p:nvSpPr>
          <p:cNvPr id="12" name="Text 10"/>
          <p:cNvSpPr/>
          <p:nvPr/>
        </p:nvSpPr>
        <p:spPr>
          <a:xfrm>
            <a:off x="1152525" y="472916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Use Notebooks — including via the Sentinel MCP Server — for analysis beyond KQL</a:t>
            </a:r>
            <a:endParaRPr lang="en-US" sz="15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BRINGING IT TOGETHER</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The Hunt-to-Detection Loop</a:t>
            </a:r>
            <a:endParaRPr lang="en-US" sz="4050" dirty="0"/>
          </a:p>
        </p:txBody>
      </p:sp>
      <p:sp>
        <p:nvSpPr>
          <p:cNvPr id="5" name="Shape 3"/>
          <p:cNvSpPr/>
          <p:nvPr/>
        </p:nvSpPr>
        <p:spPr>
          <a:xfrm>
            <a:off x="914400" y="1890713"/>
            <a:ext cx="2868364" cy="1214438"/>
          </a:xfrm>
          <a:prstGeom prst="roundRect">
            <a:avLst>
              <a:gd name="adj" fmla="val 12549"/>
            </a:avLst>
          </a:prstGeom>
          <a:solidFill>
            <a:srgbClr val="FFFFFF">
              <a:alpha val="2000"/>
            </a:srgbClr>
          </a:solidFill>
          <a:ln w="9525">
            <a:solidFill>
              <a:srgbClr val="2A2F3A"/>
            </a:solidFill>
            <a:prstDash val="solid"/>
          </a:ln>
        </p:spPr>
      </p:sp>
      <p:sp>
        <p:nvSpPr>
          <p:cNvPr id="6" name="Text 4"/>
          <p:cNvSpPr/>
          <p:nvPr/>
        </p:nvSpPr>
        <p:spPr>
          <a:xfrm>
            <a:off x="1032919" y="2128838"/>
            <a:ext cx="2631326" cy="261937"/>
          </a:xfrm>
          <a:prstGeom prst="rect">
            <a:avLst/>
          </a:prstGeom>
          <a:noFill/>
          <a:ln/>
        </p:spPr>
        <p:txBody>
          <a:bodyPr wrap="square" lIns="25400" tIns="25400" rIns="25400" bIns="25400" rtlCol="0" anchor="t">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Ingest</a:t>
            </a:r>
            <a:endParaRPr lang="en-US" sz="1500" dirty="0"/>
          </a:p>
        </p:txBody>
      </p:sp>
      <p:sp>
        <p:nvSpPr>
          <p:cNvPr id="7" name="Text 5"/>
          <p:cNvSpPr/>
          <p:nvPr/>
        </p:nvSpPr>
        <p:spPr>
          <a:xfrm>
            <a:off x="1114425" y="2409825"/>
            <a:ext cx="2468314" cy="495300"/>
          </a:xfrm>
          <a:prstGeom prst="rect">
            <a:avLst/>
          </a:prstGeom>
          <a:noFill/>
          <a:ln/>
        </p:spPr>
        <p:txBody>
          <a:bodyPr wrap="square" lIns="25400" tIns="25400" rIns="25400" bIns="25400" rtlCol="0" anchor="t">
            <a:normAutofit/>
          </a:bodyPr>
          <a:lstStyle/>
          <a:p>
            <a:pPr algn="ctr" indent="0" marL="0">
              <a:lnSpc>
                <a:spcPct val="129730"/>
              </a:lnSpc>
              <a:buNone/>
            </a:pPr>
            <a:r>
              <a:rPr lang="en-US" sz="1200" dirty="0">
                <a:solidFill>
                  <a:srgbClr val="B8C0CF"/>
                </a:solidFill>
                <a:latin typeface="Arial" pitchFamily="34" charset="0"/>
                <a:ea typeface="Arial" pitchFamily="34" charset="-122"/>
                <a:cs typeface="Arial" pitchFamily="34" charset="-120"/>
              </a:rPr>
              <a:t>Module 1: connectors bring telemetry in</a:t>
            </a:r>
            <a:endParaRPr lang="en-US" sz="1200" dirty="0"/>
          </a:p>
        </p:txBody>
      </p:sp>
      <p:sp>
        <p:nvSpPr>
          <p:cNvPr id="8" name="Text 6"/>
          <p:cNvSpPr/>
          <p:nvPr/>
        </p:nvSpPr>
        <p:spPr>
          <a:xfrm>
            <a:off x="3916114" y="1890713"/>
            <a:ext cx="338807" cy="1252538"/>
          </a:xfrm>
          <a:prstGeom prst="rect">
            <a:avLst/>
          </a:prstGeom>
          <a:noFill/>
          <a:ln/>
        </p:spPr>
        <p:txBody>
          <a:bodyPr wrap="square" lIns="25400" tIns="25400" rIns="25400" bIns="25400" rtlCol="0" anchor="ctr">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9" name="Shape 7"/>
          <p:cNvSpPr/>
          <p:nvPr/>
        </p:nvSpPr>
        <p:spPr>
          <a:xfrm>
            <a:off x="4312072" y="1890713"/>
            <a:ext cx="2868439" cy="1214438"/>
          </a:xfrm>
          <a:prstGeom prst="roundRect">
            <a:avLst>
              <a:gd name="adj" fmla="val 12549"/>
            </a:avLst>
          </a:prstGeom>
          <a:solidFill>
            <a:srgbClr val="FFFFFF">
              <a:alpha val="2000"/>
            </a:srgbClr>
          </a:solidFill>
          <a:ln w="9525">
            <a:solidFill>
              <a:srgbClr val="2A2F3A"/>
            </a:solidFill>
            <a:prstDash val="solid"/>
          </a:ln>
        </p:spPr>
      </p:sp>
      <p:sp>
        <p:nvSpPr>
          <p:cNvPr id="10" name="Text 8"/>
          <p:cNvSpPr/>
          <p:nvPr/>
        </p:nvSpPr>
        <p:spPr>
          <a:xfrm>
            <a:off x="4430587" y="2128838"/>
            <a:ext cx="2631408" cy="261937"/>
          </a:xfrm>
          <a:prstGeom prst="rect">
            <a:avLst/>
          </a:prstGeom>
          <a:noFill/>
          <a:ln/>
        </p:spPr>
        <p:txBody>
          <a:bodyPr wrap="square" lIns="25400" tIns="25400" rIns="25400" bIns="25400" rtlCol="0" anchor="t">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Hunt</a:t>
            </a:r>
            <a:endParaRPr lang="en-US" sz="1500" dirty="0"/>
          </a:p>
        </p:txBody>
      </p:sp>
      <p:sp>
        <p:nvSpPr>
          <p:cNvPr id="11" name="Text 9"/>
          <p:cNvSpPr/>
          <p:nvPr/>
        </p:nvSpPr>
        <p:spPr>
          <a:xfrm>
            <a:off x="4512097" y="2409825"/>
            <a:ext cx="2468389" cy="495300"/>
          </a:xfrm>
          <a:prstGeom prst="rect">
            <a:avLst/>
          </a:prstGeom>
          <a:noFill/>
          <a:ln/>
        </p:spPr>
        <p:txBody>
          <a:bodyPr wrap="square" lIns="25400" tIns="25400" rIns="25400" bIns="25400" rtlCol="0" anchor="t">
            <a:normAutofit/>
          </a:bodyPr>
          <a:lstStyle/>
          <a:p>
            <a:pPr algn="ctr" indent="0" marL="0">
              <a:lnSpc>
                <a:spcPct val="129730"/>
              </a:lnSpc>
              <a:buNone/>
            </a:pPr>
            <a:r>
              <a:rPr lang="en-US" sz="1200" dirty="0">
                <a:solidFill>
                  <a:srgbClr val="B8C0CF"/>
                </a:solidFill>
                <a:latin typeface="Arial" pitchFamily="34" charset="0"/>
                <a:ea typeface="Arial" pitchFamily="34" charset="-122"/>
                <a:cs typeface="Arial" pitchFamily="34" charset="-120"/>
              </a:rPr>
              <a:t>Module 3: KQL finds what no rule caught</a:t>
            </a:r>
            <a:endParaRPr lang="en-US" sz="1200" dirty="0"/>
          </a:p>
        </p:txBody>
      </p:sp>
      <p:sp>
        <p:nvSpPr>
          <p:cNvPr id="12" name="Text 10"/>
          <p:cNvSpPr/>
          <p:nvPr/>
        </p:nvSpPr>
        <p:spPr>
          <a:xfrm>
            <a:off x="7313861" y="1890713"/>
            <a:ext cx="338807" cy="1252538"/>
          </a:xfrm>
          <a:prstGeom prst="rect">
            <a:avLst/>
          </a:prstGeom>
          <a:noFill/>
          <a:ln/>
        </p:spPr>
        <p:txBody>
          <a:bodyPr wrap="square" lIns="25400" tIns="25400" rIns="25400" bIns="25400" rtlCol="0" anchor="ctr">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13" name="Shape 11"/>
          <p:cNvSpPr/>
          <p:nvPr/>
        </p:nvSpPr>
        <p:spPr>
          <a:xfrm>
            <a:off x="7709818" y="1890713"/>
            <a:ext cx="2868364" cy="1214438"/>
          </a:xfrm>
          <a:prstGeom prst="roundRect">
            <a:avLst>
              <a:gd name="adj" fmla="val 12549"/>
            </a:avLst>
          </a:prstGeom>
          <a:solidFill>
            <a:srgbClr val="FFFFFF">
              <a:alpha val="2000"/>
            </a:srgbClr>
          </a:solidFill>
          <a:ln w="9525">
            <a:solidFill>
              <a:srgbClr val="2A2F3A"/>
            </a:solidFill>
            <a:prstDash val="solid"/>
          </a:ln>
        </p:spPr>
      </p:sp>
      <p:sp>
        <p:nvSpPr>
          <p:cNvPr id="14" name="Text 12"/>
          <p:cNvSpPr/>
          <p:nvPr/>
        </p:nvSpPr>
        <p:spPr>
          <a:xfrm>
            <a:off x="7828337" y="2128838"/>
            <a:ext cx="2631326" cy="261937"/>
          </a:xfrm>
          <a:prstGeom prst="rect">
            <a:avLst/>
          </a:prstGeom>
          <a:noFill/>
          <a:ln/>
        </p:spPr>
        <p:txBody>
          <a:bodyPr wrap="square" lIns="25400" tIns="25400" rIns="25400" bIns="25400" rtlCol="0" anchor="t">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Detect</a:t>
            </a:r>
            <a:endParaRPr lang="en-US" sz="1500" dirty="0"/>
          </a:p>
        </p:txBody>
      </p:sp>
      <p:sp>
        <p:nvSpPr>
          <p:cNvPr id="15" name="Text 13"/>
          <p:cNvSpPr/>
          <p:nvPr/>
        </p:nvSpPr>
        <p:spPr>
          <a:xfrm>
            <a:off x="7909843" y="2409825"/>
            <a:ext cx="2468314" cy="495300"/>
          </a:xfrm>
          <a:prstGeom prst="rect">
            <a:avLst/>
          </a:prstGeom>
          <a:noFill/>
          <a:ln/>
        </p:spPr>
        <p:txBody>
          <a:bodyPr wrap="square" lIns="25400" tIns="25400" rIns="25400" bIns="25400" rtlCol="0" anchor="t">
            <a:normAutofit/>
          </a:bodyPr>
          <a:lstStyle/>
          <a:p>
            <a:pPr algn="ctr" indent="0" marL="0">
              <a:lnSpc>
                <a:spcPct val="129730"/>
              </a:lnSpc>
              <a:buNone/>
            </a:pPr>
            <a:r>
              <a:rPr lang="en-US" sz="1200" dirty="0">
                <a:solidFill>
                  <a:srgbClr val="B8C0CF"/>
                </a:solidFill>
                <a:latin typeface="Arial" pitchFamily="34" charset="0"/>
                <a:ea typeface="Arial" pitchFamily="34" charset="-122"/>
                <a:cs typeface="Arial" pitchFamily="34" charset="-120"/>
              </a:rPr>
              <a:t>Module 1: promote the hunt to a rule</a:t>
            </a:r>
            <a:endParaRPr lang="en-US" sz="1200" dirty="0"/>
          </a:p>
        </p:txBody>
      </p:sp>
      <p:sp>
        <p:nvSpPr>
          <p:cNvPr id="16" name="Text 14"/>
          <p:cNvSpPr/>
          <p:nvPr/>
        </p:nvSpPr>
        <p:spPr>
          <a:xfrm>
            <a:off x="10711532" y="1890713"/>
            <a:ext cx="338807" cy="1252538"/>
          </a:xfrm>
          <a:prstGeom prst="rect">
            <a:avLst/>
          </a:prstGeom>
          <a:noFill/>
          <a:ln/>
        </p:spPr>
        <p:txBody>
          <a:bodyPr wrap="square" lIns="25400" tIns="25400" rIns="25400" bIns="25400" rtlCol="0" anchor="ctr">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17" name="Shape 15"/>
          <p:cNvSpPr/>
          <p:nvPr/>
        </p:nvSpPr>
        <p:spPr>
          <a:xfrm>
            <a:off x="11107489" y="1890713"/>
            <a:ext cx="2868439" cy="1214438"/>
          </a:xfrm>
          <a:prstGeom prst="roundRect">
            <a:avLst>
              <a:gd name="adj" fmla="val 12549"/>
            </a:avLst>
          </a:prstGeom>
          <a:solidFill>
            <a:srgbClr val="FFFFFF">
              <a:alpha val="2000"/>
            </a:srgbClr>
          </a:solidFill>
          <a:ln w="9525">
            <a:solidFill>
              <a:srgbClr val="2A2F3A"/>
            </a:solidFill>
            <a:prstDash val="solid"/>
          </a:ln>
        </p:spPr>
      </p:sp>
      <p:sp>
        <p:nvSpPr>
          <p:cNvPr id="18" name="Text 16"/>
          <p:cNvSpPr/>
          <p:nvPr/>
        </p:nvSpPr>
        <p:spPr>
          <a:xfrm>
            <a:off x="11226005" y="2128838"/>
            <a:ext cx="2631408" cy="261937"/>
          </a:xfrm>
          <a:prstGeom prst="rect">
            <a:avLst/>
          </a:prstGeom>
          <a:noFill/>
          <a:ln/>
        </p:spPr>
        <p:txBody>
          <a:bodyPr wrap="square" lIns="25400" tIns="25400" rIns="25400" bIns="25400" rtlCol="0" anchor="t">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Respond</a:t>
            </a:r>
            <a:endParaRPr lang="en-US" sz="1500" dirty="0"/>
          </a:p>
        </p:txBody>
      </p:sp>
      <p:sp>
        <p:nvSpPr>
          <p:cNvPr id="19" name="Text 17"/>
          <p:cNvSpPr/>
          <p:nvPr/>
        </p:nvSpPr>
        <p:spPr>
          <a:xfrm>
            <a:off x="11307514" y="2409825"/>
            <a:ext cx="2468389" cy="495300"/>
          </a:xfrm>
          <a:prstGeom prst="rect">
            <a:avLst/>
          </a:prstGeom>
          <a:noFill/>
          <a:ln/>
        </p:spPr>
        <p:txBody>
          <a:bodyPr wrap="square" lIns="25400" tIns="25400" rIns="25400" bIns="25400" rtlCol="0" anchor="t">
            <a:normAutofit/>
          </a:bodyPr>
          <a:lstStyle/>
          <a:p>
            <a:pPr algn="ctr" indent="0" marL="0">
              <a:lnSpc>
                <a:spcPct val="129730"/>
              </a:lnSpc>
              <a:buNone/>
            </a:pPr>
            <a:r>
              <a:rPr lang="en-US" sz="1200" dirty="0">
                <a:solidFill>
                  <a:srgbClr val="B8C0CF"/>
                </a:solidFill>
                <a:latin typeface="Arial" pitchFamily="34" charset="0"/>
                <a:ea typeface="Arial" pitchFamily="34" charset="-122"/>
                <a:cs typeface="Arial" pitchFamily="34" charset="-120"/>
              </a:rPr>
              <a:t>Module 2: investigate and remediate</a:t>
            </a:r>
            <a:endParaRPr lang="en-US" sz="1200" dirty="0"/>
          </a:p>
        </p:txBody>
      </p:sp>
      <p:sp>
        <p:nvSpPr>
          <p:cNvPr id="20" name="Text 18"/>
          <p:cNvSpPr/>
          <p:nvPr/>
        </p:nvSpPr>
        <p:spPr>
          <a:xfrm>
            <a:off x="14109278" y="1890713"/>
            <a:ext cx="338807" cy="1252538"/>
          </a:xfrm>
          <a:prstGeom prst="rect">
            <a:avLst/>
          </a:prstGeom>
          <a:noFill/>
          <a:ln/>
        </p:spPr>
        <p:txBody>
          <a:bodyPr wrap="square" lIns="25400" tIns="25400" rIns="25400" bIns="25400" rtlCol="0" anchor="ctr">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21" name="Shape 19"/>
          <p:cNvSpPr/>
          <p:nvPr/>
        </p:nvSpPr>
        <p:spPr>
          <a:xfrm>
            <a:off x="14505236" y="1890713"/>
            <a:ext cx="2868364" cy="1214438"/>
          </a:xfrm>
          <a:prstGeom prst="roundRect">
            <a:avLst>
              <a:gd name="adj" fmla="val 12549"/>
            </a:avLst>
          </a:prstGeom>
          <a:solidFill>
            <a:srgbClr val="FFFFFF">
              <a:alpha val="2000"/>
            </a:srgbClr>
          </a:solidFill>
          <a:ln w="9525">
            <a:solidFill>
              <a:srgbClr val="2A2F3A"/>
            </a:solidFill>
            <a:prstDash val="solid"/>
          </a:ln>
        </p:spPr>
      </p:sp>
      <p:sp>
        <p:nvSpPr>
          <p:cNvPr id="22" name="Text 20"/>
          <p:cNvSpPr/>
          <p:nvPr/>
        </p:nvSpPr>
        <p:spPr>
          <a:xfrm>
            <a:off x="14623755" y="2128838"/>
            <a:ext cx="2631326" cy="261937"/>
          </a:xfrm>
          <a:prstGeom prst="rect">
            <a:avLst/>
          </a:prstGeom>
          <a:noFill/>
          <a:ln/>
        </p:spPr>
        <p:txBody>
          <a:bodyPr wrap="square" lIns="25400" tIns="25400" rIns="25400" bIns="25400" rtlCol="0" anchor="t">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Improve</a:t>
            </a:r>
            <a:endParaRPr lang="en-US" sz="1500" dirty="0"/>
          </a:p>
        </p:txBody>
      </p:sp>
      <p:sp>
        <p:nvSpPr>
          <p:cNvPr id="23" name="Text 21"/>
          <p:cNvSpPr/>
          <p:nvPr/>
        </p:nvSpPr>
        <p:spPr>
          <a:xfrm>
            <a:off x="14705261" y="2409825"/>
            <a:ext cx="2468314" cy="495300"/>
          </a:xfrm>
          <a:prstGeom prst="rect">
            <a:avLst/>
          </a:prstGeom>
          <a:noFill/>
          <a:ln/>
        </p:spPr>
        <p:txBody>
          <a:bodyPr wrap="square" lIns="25400" tIns="25400" rIns="25400" bIns="25400" rtlCol="0" anchor="t">
            <a:normAutofit/>
          </a:bodyPr>
          <a:lstStyle/>
          <a:p>
            <a:pPr algn="ctr" indent="0" marL="0">
              <a:lnSpc>
                <a:spcPct val="129730"/>
              </a:lnSpc>
              <a:buNone/>
            </a:pPr>
            <a:r>
              <a:rPr lang="en-US" sz="1200" dirty="0">
                <a:solidFill>
                  <a:srgbClr val="B8C0CF"/>
                </a:solidFill>
                <a:latin typeface="Arial" pitchFamily="34" charset="0"/>
                <a:ea typeface="Arial" pitchFamily="34" charset="-122"/>
                <a:cs typeface="Arial" pitchFamily="34" charset="-120"/>
              </a:rPr>
              <a:t>SOC optimization &amp; ATT&amp;CK coverage</a:t>
            </a:r>
            <a:endParaRPr lang="en-US" sz="1200" dirty="0"/>
          </a:p>
        </p:txBody>
      </p:sp>
      <p:sp>
        <p:nvSpPr>
          <p:cNvPr id="24" name="Shape 22"/>
          <p:cNvSpPr/>
          <p:nvPr/>
        </p:nvSpPr>
        <p:spPr>
          <a:xfrm>
            <a:off x="914400" y="3314700"/>
            <a:ext cx="16459200" cy="700088"/>
          </a:xfrm>
          <a:prstGeom prst="roundRect">
            <a:avLst>
              <a:gd name="adj" fmla="val 21769"/>
            </a:avLst>
          </a:prstGeom>
          <a:solidFill>
            <a:srgbClr val="FFFFFF">
              <a:alpha val="2000"/>
            </a:srgbClr>
          </a:solidFill>
          <a:ln w="9525">
            <a:solidFill>
              <a:srgbClr val="2A2F3A"/>
            </a:solidFill>
            <a:prstDash val="solid"/>
          </a:ln>
        </p:spPr>
      </p:sp>
      <p:sp>
        <p:nvSpPr>
          <p:cNvPr id="25" name="Text 23"/>
          <p:cNvSpPr/>
          <p:nvPr/>
        </p:nvSpPr>
        <p:spPr>
          <a:xfrm>
            <a:off x="1152525" y="355282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Every SC-200 domain is one stage of this loop — which is why the exam tests them as interconnected scenarios rather than isolated facts.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APPLIED SCENARIO</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Hunting a Suspected Long-Dwell Intrusion</a:t>
            </a:r>
            <a:endParaRPr lang="en-US" sz="4050" dirty="0"/>
          </a:p>
        </p:txBody>
      </p:sp>
      <p:sp>
        <p:nvSpPr>
          <p:cNvPr id="5" name="Shape 3"/>
          <p:cNvSpPr/>
          <p:nvPr/>
        </p:nvSpPr>
        <p:spPr>
          <a:xfrm>
            <a:off x="914400" y="1871663"/>
            <a:ext cx="16459200" cy="1481956"/>
          </a:xfrm>
          <a:prstGeom prst="roundRect">
            <a:avLst>
              <a:gd name="adj" fmla="val 10284"/>
            </a:avLst>
          </a:prstGeom>
          <a:solidFill>
            <a:srgbClr val="FFFFFF">
              <a:alpha val="2000"/>
            </a:srgbClr>
          </a:solidFill>
          <a:ln w="9525">
            <a:solidFill>
              <a:srgbClr val="2A2F3A"/>
            </a:solidFill>
            <a:prstDash val="solid"/>
          </a:ln>
        </p:spPr>
      </p:sp>
      <p:sp>
        <p:nvSpPr>
          <p:cNvPr id="6" name="Text 4"/>
          <p:cNvSpPr/>
          <p:nvPr/>
        </p:nvSpPr>
        <p:spPr>
          <a:xfrm>
            <a:off x="1152525" y="2109788"/>
            <a:ext cx="16476726" cy="1043806"/>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Threat intelligence suggests an actor may have been present in your estate for four months, using a signed binary to run scripts. Analytics-tier retention holds 90 days; the data lake holds a year. Which hunting surface would you use for the historical portion, which tables would you query, how would you assess the blast radius of any host you find, and how would you make sure this technique is caught automatically in future?</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Selecting the Correct Table for a Hunt</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hunting objective in plain English, name the Advanced Hunting table (or tables) that hold the required evidence — and explain why a plausible-looking alternative would return nothing.</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Reading &amp; Writing Hunting KQL</a:t>
            </a:r>
            <a:endParaRPr lang="en-US" sz="4050" dirty="0"/>
          </a:p>
        </p:txBody>
      </p:sp>
      <p:sp>
        <p:nvSpPr>
          <p:cNvPr id="5" name="Shape 3"/>
          <p:cNvSpPr/>
          <p:nvPr/>
        </p:nvSpPr>
        <p:spPr>
          <a:xfrm>
            <a:off x="914400" y="1871663"/>
            <a:ext cx="16459200" cy="811485"/>
          </a:xfrm>
          <a:prstGeom prst="roundRect">
            <a:avLst>
              <a:gd name="adj" fmla="val 18780"/>
            </a:avLst>
          </a:prstGeom>
          <a:solidFill>
            <a:srgbClr val="FFFFFF">
              <a:alpha val="2000"/>
            </a:srgbClr>
          </a:solidFill>
          <a:ln w="9525">
            <a:solidFill>
              <a:srgbClr val="2A2F3A"/>
            </a:solidFill>
            <a:prstDash val="solid"/>
          </a:ln>
        </p:spPr>
      </p:sp>
      <p:sp>
        <p:nvSpPr>
          <p:cNvPr id="6" name="Text 4"/>
          <p:cNvSpPr/>
          <p:nvPr/>
        </p:nvSpPr>
        <p:spPr>
          <a:xfrm>
            <a:off x="1152525" y="2109788"/>
            <a:ext cx="16476726" cy="373335"/>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KQL query, state precisely what it returns; and given a requirement, construct a query using where, project, summarize, extend, and join correctly.</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Choosing the Right Hunting Surface</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hunt's time horizon, data volume, and analytical complexity, choose between Advanced Hunting, Sentinel hunting queries, data lake KQL jobs, summary rule tables, and Notebooks.</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Assessing Scope With Graphs</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confirmed compromised entity, use hunting graphs and Sentinel Graph to determine blast radius, and use that assessment to prioritise containment actions from Module 2.</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ACRONYM SPOTLIGHT</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Key Terms From This Module</a:t>
            </a:r>
            <a:endParaRPr lang="en-US" sz="4050" dirty="0"/>
          </a:p>
        </p:txBody>
      </p:sp>
      <p:sp>
        <p:nvSpPr>
          <p:cNvPr id="5" name="Shape 3"/>
          <p:cNvSpPr/>
          <p:nvPr/>
        </p:nvSpPr>
        <p:spPr>
          <a:xfrm>
            <a:off x="914400" y="1852612"/>
            <a:ext cx="2999854" cy="514350"/>
          </a:xfrm>
          <a:prstGeom prst="rect">
            <a:avLst/>
          </a:prstGeom>
          <a:solidFill>
            <a:srgbClr val="FF6A00">
              <a:alpha val="18000"/>
            </a:srgbClr>
          </a:solidFill>
          <a:ln/>
        </p:spPr>
      </p:sp>
      <p:sp>
        <p:nvSpPr>
          <p:cNvPr id="6" name="Shape 4"/>
          <p:cNvSpPr/>
          <p:nvPr/>
        </p:nvSpPr>
        <p:spPr>
          <a:xfrm>
            <a:off x="914400" y="2357438"/>
            <a:ext cx="2999854" cy="9525"/>
          </a:xfrm>
          <a:prstGeom prst="rect">
            <a:avLst/>
          </a:prstGeom>
          <a:solidFill>
            <a:srgbClr val="B85100"/>
          </a:solidFill>
          <a:ln/>
        </p:spPr>
      </p:sp>
      <p:sp>
        <p:nvSpPr>
          <p:cNvPr id="7" name="Text 5"/>
          <p:cNvSpPr/>
          <p:nvPr/>
        </p:nvSpPr>
        <p:spPr>
          <a:xfrm>
            <a:off x="1057275" y="1957388"/>
            <a:ext cx="2804100"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Term</a:t>
            </a:r>
            <a:endParaRPr lang="en-US" sz="2025" dirty="0"/>
          </a:p>
        </p:txBody>
      </p:sp>
      <p:sp>
        <p:nvSpPr>
          <p:cNvPr id="8" name="Shape 6"/>
          <p:cNvSpPr/>
          <p:nvPr/>
        </p:nvSpPr>
        <p:spPr>
          <a:xfrm>
            <a:off x="3914254" y="1852612"/>
            <a:ext cx="13459346" cy="514350"/>
          </a:xfrm>
          <a:prstGeom prst="rect">
            <a:avLst/>
          </a:prstGeom>
          <a:solidFill>
            <a:srgbClr val="FF6A00">
              <a:alpha val="18000"/>
            </a:srgbClr>
          </a:solidFill>
          <a:ln/>
        </p:spPr>
      </p:sp>
      <p:sp>
        <p:nvSpPr>
          <p:cNvPr id="9" name="Shape 7"/>
          <p:cNvSpPr/>
          <p:nvPr/>
        </p:nvSpPr>
        <p:spPr>
          <a:xfrm>
            <a:off x="3914254" y="2357438"/>
            <a:ext cx="13459346" cy="9525"/>
          </a:xfrm>
          <a:prstGeom prst="rect">
            <a:avLst/>
          </a:prstGeom>
          <a:solidFill>
            <a:srgbClr val="B85100"/>
          </a:solidFill>
          <a:ln/>
        </p:spPr>
      </p:sp>
      <p:sp>
        <p:nvSpPr>
          <p:cNvPr id="10" name="Text 8"/>
          <p:cNvSpPr/>
          <p:nvPr/>
        </p:nvSpPr>
        <p:spPr>
          <a:xfrm>
            <a:off x="4057129" y="1957388"/>
            <a:ext cx="13577376"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Meaning</a:t>
            </a:r>
            <a:endParaRPr lang="en-US" sz="2025" dirty="0"/>
          </a:p>
        </p:txBody>
      </p:sp>
      <p:sp>
        <p:nvSpPr>
          <p:cNvPr id="11" name="Shape 9"/>
          <p:cNvSpPr/>
          <p:nvPr/>
        </p:nvSpPr>
        <p:spPr>
          <a:xfrm>
            <a:off x="914400" y="2833688"/>
            <a:ext cx="2999854" cy="9525"/>
          </a:xfrm>
          <a:prstGeom prst="rect">
            <a:avLst/>
          </a:prstGeom>
          <a:solidFill>
            <a:srgbClr val="2A2F3A"/>
          </a:solidFill>
          <a:ln/>
        </p:spPr>
      </p:sp>
      <p:sp>
        <p:nvSpPr>
          <p:cNvPr id="12" name="Text 10"/>
          <p:cNvSpPr/>
          <p:nvPr/>
        </p:nvSpPr>
        <p:spPr>
          <a:xfrm>
            <a:off x="1057275" y="2471738"/>
            <a:ext cx="28041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KQL</a:t>
            </a:r>
            <a:endParaRPr lang="en-US" sz="1725" dirty="0"/>
          </a:p>
        </p:txBody>
      </p:sp>
      <p:sp>
        <p:nvSpPr>
          <p:cNvPr id="13" name="Shape 11"/>
          <p:cNvSpPr/>
          <p:nvPr/>
        </p:nvSpPr>
        <p:spPr>
          <a:xfrm>
            <a:off x="3914254" y="2833688"/>
            <a:ext cx="13459346" cy="9525"/>
          </a:xfrm>
          <a:prstGeom prst="rect">
            <a:avLst/>
          </a:prstGeom>
          <a:solidFill>
            <a:srgbClr val="2A2F3A"/>
          </a:solidFill>
          <a:ln/>
        </p:spPr>
      </p:sp>
      <p:sp>
        <p:nvSpPr>
          <p:cNvPr id="14" name="Text 12"/>
          <p:cNvSpPr/>
          <p:nvPr/>
        </p:nvSpPr>
        <p:spPr>
          <a:xfrm>
            <a:off x="4057129" y="2471738"/>
            <a:ext cx="1357737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Kusto Query Language</a:t>
            </a:r>
            <a:endParaRPr lang="en-US" sz="1725" dirty="0"/>
          </a:p>
        </p:txBody>
      </p:sp>
      <p:sp>
        <p:nvSpPr>
          <p:cNvPr id="15" name="Shape 13"/>
          <p:cNvSpPr/>
          <p:nvPr/>
        </p:nvSpPr>
        <p:spPr>
          <a:xfrm>
            <a:off x="914400" y="2843213"/>
            <a:ext cx="2999854" cy="476250"/>
          </a:xfrm>
          <a:prstGeom prst="rect">
            <a:avLst/>
          </a:prstGeom>
          <a:solidFill>
            <a:srgbClr val="FFFFFF">
              <a:alpha val="2000"/>
            </a:srgbClr>
          </a:solidFill>
          <a:ln/>
        </p:spPr>
      </p:sp>
      <p:sp>
        <p:nvSpPr>
          <p:cNvPr id="16" name="Shape 14"/>
          <p:cNvSpPr/>
          <p:nvPr/>
        </p:nvSpPr>
        <p:spPr>
          <a:xfrm>
            <a:off x="914400" y="3309938"/>
            <a:ext cx="2999854" cy="9525"/>
          </a:xfrm>
          <a:prstGeom prst="rect">
            <a:avLst/>
          </a:prstGeom>
          <a:solidFill>
            <a:srgbClr val="2A2F3A"/>
          </a:solidFill>
          <a:ln/>
        </p:spPr>
      </p:sp>
      <p:sp>
        <p:nvSpPr>
          <p:cNvPr id="17" name="Text 15"/>
          <p:cNvSpPr/>
          <p:nvPr/>
        </p:nvSpPr>
        <p:spPr>
          <a:xfrm>
            <a:off x="1057275" y="2947988"/>
            <a:ext cx="28041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MCP</a:t>
            </a:r>
            <a:endParaRPr lang="en-US" sz="1725" dirty="0"/>
          </a:p>
        </p:txBody>
      </p:sp>
      <p:sp>
        <p:nvSpPr>
          <p:cNvPr id="18" name="Shape 16"/>
          <p:cNvSpPr/>
          <p:nvPr/>
        </p:nvSpPr>
        <p:spPr>
          <a:xfrm>
            <a:off x="3914254" y="2843213"/>
            <a:ext cx="13459346" cy="476250"/>
          </a:xfrm>
          <a:prstGeom prst="rect">
            <a:avLst/>
          </a:prstGeom>
          <a:solidFill>
            <a:srgbClr val="FFFFFF">
              <a:alpha val="2000"/>
            </a:srgbClr>
          </a:solidFill>
          <a:ln/>
        </p:spPr>
      </p:sp>
      <p:sp>
        <p:nvSpPr>
          <p:cNvPr id="19" name="Shape 17"/>
          <p:cNvSpPr/>
          <p:nvPr/>
        </p:nvSpPr>
        <p:spPr>
          <a:xfrm>
            <a:off x="3914254" y="3309938"/>
            <a:ext cx="13459346" cy="9525"/>
          </a:xfrm>
          <a:prstGeom prst="rect">
            <a:avLst/>
          </a:prstGeom>
          <a:solidFill>
            <a:srgbClr val="2A2F3A"/>
          </a:solidFill>
          <a:ln/>
        </p:spPr>
      </p:sp>
      <p:sp>
        <p:nvSpPr>
          <p:cNvPr id="20" name="Text 18"/>
          <p:cNvSpPr/>
          <p:nvPr/>
        </p:nvSpPr>
        <p:spPr>
          <a:xfrm>
            <a:off x="4057129" y="2947988"/>
            <a:ext cx="1357737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Model Context Protocol</a:t>
            </a:r>
            <a:endParaRPr lang="en-US" sz="1725" dirty="0"/>
          </a:p>
        </p:txBody>
      </p:sp>
      <p:sp>
        <p:nvSpPr>
          <p:cNvPr id="21" name="Shape 19"/>
          <p:cNvSpPr/>
          <p:nvPr/>
        </p:nvSpPr>
        <p:spPr>
          <a:xfrm>
            <a:off x="914400" y="3786188"/>
            <a:ext cx="2999854" cy="9525"/>
          </a:xfrm>
          <a:prstGeom prst="rect">
            <a:avLst/>
          </a:prstGeom>
          <a:solidFill>
            <a:srgbClr val="2A2F3A"/>
          </a:solidFill>
          <a:ln/>
        </p:spPr>
      </p:sp>
      <p:sp>
        <p:nvSpPr>
          <p:cNvPr id="22" name="Text 20"/>
          <p:cNvSpPr/>
          <p:nvPr/>
        </p:nvSpPr>
        <p:spPr>
          <a:xfrm>
            <a:off x="1057275" y="3424238"/>
            <a:ext cx="28041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Blast radius</a:t>
            </a:r>
            <a:endParaRPr lang="en-US" sz="1725" dirty="0"/>
          </a:p>
        </p:txBody>
      </p:sp>
      <p:sp>
        <p:nvSpPr>
          <p:cNvPr id="23" name="Shape 21"/>
          <p:cNvSpPr/>
          <p:nvPr/>
        </p:nvSpPr>
        <p:spPr>
          <a:xfrm>
            <a:off x="3914254" y="3786188"/>
            <a:ext cx="13459346" cy="9525"/>
          </a:xfrm>
          <a:prstGeom prst="rect">
            <a:avLst/>
          </a:prstGeom>
          <a:solidFill>
            <a:srgbClr val="2A2F3A"/>
          </a:solidFill>
          <a:ln/>
        </p:spPr>
      </p:sp>
      <p:sp>
        <p:nvSpPr>
          <p:cNvPr id="24" name="Text 22"/>
          <p:cNvSpPr/>
          <p:nvPr/>
        </p:nvSpPr>
        <p:spPr>
          <a:xfrm>
            <a:off x="4057129" y="3424238"/>
            <a:ext cx="1357737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The set of assets exposed if a given entity is compromised</a:t>
            </a:r>
            <a:endParaRPr lang="en-US" sz="1725" dirty="0"/>
          </a:p>
        </p:txBody>
      </p:sp>
      <p:sp>
        <p:nvSpPr>
          <p:cNvPr id="25" name="Shape 23"/>
          <p:cNvSpPr/>
          <p:nvPr/>
        </p:nvSpPr>
        <p:spPr>
          <a:xfrm>
            <a:off x="914400" y="3795713"/>
            <a:ext cx="2999854" cy="476250"/>
          </a:xfrm>
          <a:prstGeom prst="rect">
            <a:avLst/>
          </a:prstGeom>
          <a:solidFill>
            <a:srgbClr val="FFFFFF">
              <a:alpha val="2000"/>
            </a:srgbClr>
          </a:solidFill>
          <a:ln/>
        </p:spPr>
      </p:sp>
      <p:sp>
        <p:nvSpPr>
          <p:cNvPr id="26" name="Shape 24"/>
          <p:cNvSpPr/>
          <p:nvPr/>
        </p:nvSpPr>
        <p:spPr>
          <a:xfrm>
            <a:off x="914400" y="4262438"/>
            <a:ext cx="2999854" cy="9525"/>
          </a:xfrm>
          <a:prstGeom prst="rect">
            <a:avLst/>
          </a:prstGeom>
          <a:solidFill>
            <a:srgbClr val="2A2F3A"/>
          </a:solidFill>
          <a:ln/>
        </p:spPr>
      </p:sp>
      <p:sp>
        <p:nvSpPr>
          <p:cNvPr id="27" name="Text 25"/>
          <p:cNvSpPr/>
          <p:nvPr/>
        </p:nvSpPr>
        <p:spPr>
          <a:xfrm>
            <a:off x="1057275" y="3900488"/>
            <a:ext cx="28041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Bookmark</a:t>
            </a:r>
            <a:endParaRPr lang="en-US" sz="1725" dirty="0"/>
          </a:p>
        </p:txBody>
      </p:sp>
      <p:sp>
        <p:nvSpPr>
          <p:cNvPr id="28" name="Shape 26"/>
          <p:cNvSpPr/>
          <p:nvPr/>
        </p:nvSpPr>
        <p:spPr>
          <a:xfrm>
            <a:off x="3914254" y="3795713"/>
            <a:ext cx="13459346" cy="476250"/>
          </a:xfrm>
          <a:prstGeom prst="rect">
            <a:avLst/>
          </a:prstGeom>
          <a:solidFill>
            <a:srgbClr val="FFFFFF">
              <a:alpha val="2000"/>
            </a:srgbClr>
          </a:solidFill>
          <a:ln/>
        </p:spPr>
      </p:sp>
      <p:sp>
        <p:nvSpPr>
          <p:cNvPr id="29" name="Shape 27"/>
          <p:cNvSpPr/>
          <p:nvPr/>
        </p:nvSpPr>
        <p:spPr>
          <a:xfrm>
            <a:off x="3914254" y="4262438"/>
            <a:ext cx="13459346" cy="9525"/>
          </a:xfrm>
          <a:prstGeom prst="rect">
            <a:avLst/>
          </a:prstGeom>
          <a:solidFill>
            <a:srgbClr val="2A2F3A"/>
          </a:solidFill>
          <a:ln/>
        </p:spPr>
      </p:sp>
      <p:sp>
        <p:nvSpPr>
          <p:cNvPr id="30" name="Text 28"/>
          <p:cNvSpPr/>
          <p:nvPr/>
        </p:nvSpPr>
        <p:spPr>
          <a:xfrm>
            <a:off x="4057129" y="3900488"/>
            <a:ext cx="1357737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 preserved hunting result that can be revisited or attached to an incident</a:t>
            </a:r>
            <a:endParaRPr lang="en-US" sz="1725" dirty="0"/>
          </a:p>
        </p:txBody>
      </p:sp>
      <p:sp>
        <p:nvSpPr>
          <p:cNvPr id="31" name="Shape 29"/>
          <p:cNvSpPr/>
          <p:nvPr/>
        </p:nvSpPr>
        <p:spPr>
          <a:xfrm>
            <a:off x="914400" y="4738688"/>
            <a:ext cx="2999854" cy="9525"/>
          </a:xfrm>
          <a:prstGeom prst="rect">
            <a:avLst/>
          </a:prstGeom>
          <a:solidFill>
            <a:srgbClr val="2A2F3A"/>
          </a:solidFill>
          <a:ln/>
        </p:spPr>
      </p:sp>
      <p:sp>
        <p:nvSpPr>
          <p:cNvPr id="32" name="Text 30"/>
          <p:cNvSpPr/>
          <p:nvPr/>
        </p:nvSpPr>
        <p:spPr>
          <a:xfrm>
            <a:off x="1057275" y="4376738"/>
            <a:ext cx="28041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Livestream</a:t>
            </a:r>
            <a:endParaRPr lang="en-US" sz="1725" dirty="0"/>
          </a:p>
        </p:txBody>
      </p:sp>
      <p:sp>
        <p:nvSpPr>
          <p:cNvPr id="33" name="Shape 31"/>
          <p:cNvSpPr/>
          <p:nvPr/>
        </p:nvSpPr>
        <p:spPr>
          <a:xfrm>
            <a:off x="3914254" y="4738688"/>
            <a:ext cx="13459346" cy="9525"/>
          </a:xfrm>
          <a:prstGeom prst="rect">
            <a:avLst/>
          </a:prstGeom>
          <a:solidFill>
            <a:srgbClr val="2A2F3A"/>
          </a:solidFill>
          <a:ln/>
        </p:spPr>
      </p:sp>
      <p:sp>
        <p:nvSpPr>
          <p:cNvPr id="34" name="Text 32"/>
          <p:cNvSpPr/>
          <p:nvPr/>
        </p:nvSpPr>
        <p:spPr>
          <a:xfrm>
            <a:off x="4057129" y="4376738"/>
            <a:ext cx="1357737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Near-real-time monitoring of a hunting query for new matches</a:t>
            </a:r>
            <a:endParaRPr lang="en-US" sz="1725" dirty="0"/>
          </a:p>
        </p:txBody>
      </p:sp>
      <p:sp>
        <p:nvSpPr>
          <p:cNvPr id="35" name="Shape 33"/>
          <p:cNvSpPr/>
          <p:nvPr/>
        </p:nvSpPr>
        <p:spPr>
          <a:xfrm>
            <a:off x="914400" y="4748213"/>
            <a:ext cx="2999854" cy="476250"/>
          </a:xfrm>
          <a:prstGeom prst="rect">
            <a:avLst/>
          </a:prstGeom>
          <a:solidFill>
            <a:srgbClr val="FFFFFF">
              <a:alpha val="2000"/>
            </a:srgbClr>
          </a:solidFill>
          <a:ln/>
        </p:spPr>
      </p:sp>
      <p:sp>
        <p:nvSpPr>
          <p:cNvPr id="36" name="Shape 34"/>
          <p:cNvSpPr/>
          <p:nvPr/>
        </p:nvSpPr>
        <p:spPr>
          <a:xfrm>
            <a:off x="914400" y="5214938"/>
            <a:ext cx="2999854" cy="9525"/>
          </a:xfrm>
          <a:prstGeom prst="rect">
            <a:avLst/>
          </a:prstGeom>
          <a:solidFill>
            <a:srgbClr val="2A2F3A"/>
          </a:solidFill>
          <a:ln/>
        </p:spPr>
      </p:sp>
      <p:sp>
        <p:nvSpPr>
          <p:cNvPr id="37" name="Text 35"/>
          <p:cNvSpPr/>
          <p:nvPr/>
        </p:nvSpPr>
        <p:spPr>
          <a:xfrm>
            <a:off x="1057275" y="4852987"/>
            <a:ext cx="28041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Summary rule</a:t>
            </a:r>
            <a:endParaRPr lang="en-US" sz="1725" dirty="0"/>
          </a:p>
        </p:txBody>
      </p:sp>
      <p:sp>
        <p:nvSpPr>
          <p:cNvPr id="38" name="Shape 36"/>
          <p:cNvSpPr/>
          <p:nvPr/>
        </p:nvSpPr>
        <p:spPr>
          <a:xfrm>
            <a:off x="3914254" y="4748213"/>
            <a:ext cx="13459346" cy="476250"/>
          </a:xfrm>
          <a:prstGeom prst="rect">
            <a:avLst/>
          </a:prstGeom>
          <a:solidFill>
            <a:srgbClr val="FFFFFF">
              <a:alpha val="2000"/>
            </a:srgbClr>
          </a:solidFill>
          <a:ln/>
        </p:spPr>
      </p:sp>
      <p:sp>
        <p:nvSpPr>
          <p:cNvPr id="39" name="Shape 37"/>
          <p:cNvSpPr/>
          <p:nvPr/>
        </p:nvSpPr>
        <p:spPr>
          <a:xfrm>
            <a:off x="3914254" y="5214938"/>
            <a:ext cx="13459346" cy="9525"/>
          </a:xfrm>
          <a:prstGeom prst="rect">
            <a:avLst/>
          </a:prstGeom>
          <a:solidFill>
            <a:srgbClr val="2A2F3A"/>
          </a:solidFill>
          <a:ln/>
        </p:spPr>
      </p:sp>
      <p:sp>
        <p:nvSpPr>
          <p:cNvPr id="40" name="Text 38"/>
          <p:cNvSpPr/>
          <p:nvPr/>
        </p:nvSpPr>
        <p:spPr>
          <a:xfrm>
            <a:off x="4057129" y="4852987"/>
            <a:ext cx="1357737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 scheduled pre-aggregation of raw data into a compact summary table</a:t>
            </a:r>
            <a:endParaRPr lang="en-US" sz="17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COMMON MISCONCEPTIONS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Candidates Most Often Get Wrong</a:t>
            </a:r>
            <a:endParaRPr lang="en-US" sz="4050" dirty="0"/>
          </a:p>
        </p:txBody>
      </p:sp>
      <p:sp>
        <p:nvSpPr>
          <p:cNvPr id="5" name="Shape 3"/>
          <p:cNvSpPr/>
          <p:nvPr/>
        </p:nvSpPr>
        <p:spPr>
          <a:xfrm>
            <a:off x="914400" y="1871663"/>
            <a:ext cx="16459200" cy="700088"/>
          </a:xfrm>
          <a:prstGeom prst="roundRect">
            <a:avLst>
              <a:gd name="adj" fmla="val 21769"/>
            </a:avLst>
          </a:prstGeom>
          <a:solidFill>
            <a:srgbClr val="FFFFFF">
              <a:alpha val="2000"/>
            </a:srgbClr>
          </a:solidFill>
          <a:ln w="9525">
            <a:solidFill>
              <a:srgbClr val="2A2F3A"/>
            </a:solidFill>
            <a:prstDash val="solid"/>
          </a:ln>
        </p:spPr>
      </p:sp>
      <p:sp>
        <p:nvSpPr>
          <p:cNvPr id="6" name="Text 4"/>
          <p:cNvSpPr/>
          <p:nvPr/>
        </p:nvSpPr>
        <p:spPr>
          <a:xfrm>
            <a:off x="1152525" y="210978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An empty hunting result usually means the wrong table, not the absence of the threat — verify table choice before concluding anything</a:t>
            </a:r>
            <a:endParaRPr lang="en-US" sz="1500" dirty="0"/>
          </a:p>
        </p:txBody>
      </p:sp>
      <p:sp>
        <p:nvSpPr>
          <p:cNvPr id="7" name="Shape 5"/>
          <p:cNvSpPr/>
          <p:nvPr/>
        </p:nvSpPr>
        <p:spPr>
          <a:xfrm>
            <a:off x="914400" y="2705100"/>
            <a:ext cx="16459200" cy="700088"/>
          </a:xfrm>
          <a:prstGeom prst="roundRect">
            <a:avLst>
              <a:gd name="adj" fmla="val 21769"/>
            </a:avLst>
          </a:prstGeom>
          <a:solidFill>
            <a:srgbClr val="FFFFFF">
              <a:alpha val="2000"/>
            </a:srgbClr>
          </a:solidFill>
          <a:ln w="9525">
            <a:solidFill>
              <a:srgbClr val="2A2F3A"/>
            </a:solidFill>
            <a:prstDash val="solid"/>
          </a:ln>
        </p:spPr>
      </p:sp>
      <p:sp>
        <p:nvSpPr>
          <p:cNvPr id="8" name="Text 6"/>
          <p:cNvSpPr/>
          <p:nvPr/>
        </p:nvSpPr>
        <p:spPr>
          <a:xfrm>
            <a:off x="1152525" y="294322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The data lake tier is not queried interactively — historical hunts there run as KQL jobs</a:t>
            </a:r>
            <a:endParaRPr lang="en-US" sz="1500" dirty="0"/>
          </a:p>
        </p:txBody>
      </p:sp>
      <p:sp>
        <p:nvSpPr>
          <p:cNvPr id="9" name="Shape 7"/>
          <p:cNvSpPr/>
          <p:nvPr/>
        </p:nvSpPr>
        <p:spPr>
          <a:xfrm>
            <a:off x="914400" y="3538538"/>
            <a:ext cx="16459200" cy="700088"/>
          </a:xfrm>
          <a:prstGeom prst="roundRect">
            <a:avLst>
              <a:gd name="adj" fmla="val 21769"/>
            </a:avLst>
          </a:prstGeom>
          <a:solidFill>
            <a:srgbClr val="FFFFFF">
              <a:alpha val="2000"/>
            </a:srgbClr>
          </a:solidFill>
          <a:ln w="9525">
            <a:solidFill>
              <a:srgbClr val="2A2F3A"/>
            </a:solidFill>
            <a:prstDash val="solid"/>
          </a:ln>
        </p:spPr>
      </p:sp>
      <p:sp>
        <p:nvSpPr>
          <p:cNvPr id="10" name="Text 8"/>
          <p:cNvSpPr/>
          <p:nvPr/>
        </p:nvSpPr>
        <p:spPr>
          <a:xfrm>
            <a:off x="1152525" y="3776662"/>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 summary rule table only contains what was aggregated; detail dropped at summarisation time cannot be recovered from it</a:t>
            </a:r>
            <a:endParaRPr lang="en-US" sz="1500" dirty="0"/>
          </a:p>
        </p:txBody>
      </p:sp>
      <p:sp>
        <p:nvSpPr>
          <p:cNvPr id="11" name="Shape 9"/>
          <p:cNvSpPr/>
          <p:nvPr/>
        </p:nvSpPr>
        <p:spPr>
          <a:xfrm>
            <a:off x="914400" y="4371975"/>
            <a:ext cx="16459200" cy="700088"/>
          </a:xfrm>
          <a:prstGeom prst="roundRect">
            <a:avLst>
              <a:gd name="adj" fmla="val 21769"/>
            </a:avLst>
          </a:prstGeom>
          <a:solidFill>
            <a:srgbClr val="FFFFFF">
              <a:alpha val="2000"/>
            </a:srgbClr>
          </a:solidFill>
          <a:ln w="9525">
            <a:solidFill>
              <a:srgbClr val="2A2F3A"/>
            </a:solidFill>
            <a:prstDash val="solid"/>
          </a:ln>
        </p:spPr>
      </p:sp>
      <p:sp>
        <p:nvSpPr>
          <p:cNvPr id="12" name="Text 10"/>
          <p:cNvSpPr/>
          <p:nvPr/>
        </p:nvSpPr>
        <p:spPr>
          <a:xfrm>
            <a:off x="1152525" y="4610100"/>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Hunting is not a substitute for detection — a valuable hunt should be promoted into a custom detection or analytics rule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848473" y="3967163"/>
            <a:ext cx="2591053" cy="276225"/>
          </a:xfrm>
          <a:prstGeom prst="rect">
            <a:avLst/>
          </a:prstGeom>
          <a:noFill/>
          <a:ln/>
        </p:spPr>
        <p:txBody>
          <a:bodyPr wrap="square" lIns="25400" tIns="25400" rIns="25400" bIns="25400" rtlCol="0" anchor="t">
            <a:normAutofit/>
          </a:bodyPr>
          <a:lstStyle/>
          <a:p>
            <a:pPr algn="ctr" indent="0" marL="0">
              <a:buNone/>
            </a:pPr>
            <a:r>
              <a:rPr lang="en-US" sz="1575" b="1" spc="150" kern="0" dirty="0">
                <a:solidFill>
                  <a:srgbClr val="FF6A00"/>
                </a:solidFill>
                <a:latin typeface="Arial" pitchFamily="34" charset="0"/>
                <a:ea typeface="Arial" pitchFamily="34" charset="-122"/>
                <a:cs typeface="Arial" pitchFamily="34" charset="-120"/>
              </a:rPr>
              <a:t>DOMAIN WEIGHTING</a:t>
            </a:r>
            <a:endParaRPr lang="en-US" sz="1575" dirty="0"/>
          </a:p>
        </p:txBody>
      </p:sp>
      <p:sp>
        <p:nvSpPr>
          <p:cNvPr id="4" name="Text 2"/>
          <p:cNvSpPr/>
          <p:nvPr/>
        </p:nvSpPr>
        <p:spPr>
          <a:xfrm>
            <a:off x="5669321" y="4376738"/>
            <a:ext cx="6949284"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dirty="0">
                <a:solidFill>
                  <a:srgbClr val="FF6A00"/>
                </a:solidFill>
                <a:latin typeface="Arial" pitchFamily="34" charset="0"/>
                <a:ea typeface="Arial" pitchFamily="34" charset="-122"/>
                <a:cs typeface="Arial" pitchFamily="34" charset="-120"/>
              </a:rPr>
              <a:t>20–25%</a:t>
            </a:r>
            <a:endParaRPr lang="en-US" sz="12000" dirty="0"/>
          </a:p>
        </p:txBody>
      </p:sp>
      <p:sp>
        <p:nvSpPr>
          <p:cNvPr id="5" name="Text 3"/>
          <p:cNvSpPr/>
          <p:nvPr/>
        </p:nvSpPr>
        <p:spPr>
          <a:xfrm>
            <a:off x="4393763" y="6034088"/>
            <a:ext cx="9500473" cy="400050"/>
          </a:xfrm>
          <a:prstGeom prst="rect">
            <a:avLst/>
          </a:prstGeom>
          <a:noFill/>
          <a:ln/>
        </p:spPr>
        <p:txBody>
          <a:bodyPr wrap="square" lIns="25400" tIns="25400" rIns="25400" bIns="25400" rtlCol="0" anchor="t">
            <a:normAutofit/>
          </a:bodyPr>
          <a:lstStyle/>
          <a:p>
            <a:pPr algn="ctr" indent="0" marL="0">
              <a:buNone/>
            </a:pPr>
            <a:r>
              <a:rPr lang="en-US" sz="2400" dirty="0">
                <a:solidFill>
                  <a:srgbClr val="B8C0CF"/>
                </a:solidFill>
                <a:latin typeface="Arial" pitchFamily="34" charset="0"/>
                <a:ea typeface="Arial" pitchFamily="34" charset="-122"/>
                <a:cs typeface="Arial" pitchFamily="34" charset="-120"/>
              </a:rPr>
              <a:t>of the SC-200 exam — but KQL questions also appear in Domain 1</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KNOWLEDGE CHECK</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Quick Question</a:t>
            </a:r>
            <a:endParaRPr lang="en-US" sz="4050" dirty="0"/>
          </a:p>
        </p:txBody>
      </p:sp>
      <p:sp>
        <p:nvSpPr>
          <p:cNvPr id="5" name="Shape 3"/>
          <p:cNvSpPr/>
          <p:nvPr/>
        </p:nvSpPr>
        <p:spPr>
          <a:xfrm>
            <a:off x="914400" y="1871663"/>
            <a:ext cx="16459200" cy="2579191"/>
          </a:xfrm>
          <a:prstGeom prst="roundRect">
            <a:avLst>
              <a:gd name="adj" fmla="val 5909"/>
            </a:avLst>
          </a:prstGeom>
          <a:solidFill>
            <a:srgbClr val="FFFFFF">
              <a:alpha val="2000"/>
            </a:srgbClr>
          </a:solidFill>
          <a:ln w="9525">
            <a:solidFill>
              <a:srgbClr val="2A2F3A"/>
            </a:solidFill>
            <a:prstDash val="solid"/>
          </a:ln>
        </p:spPr>
      </p:sp>
      <p:sp>
        <p:nvSpPr>
          <p:cNvPr id="6" name="Text 4"/>
          <p:cNvSpPr/>
          <p:nvPr/>
        </p:nvSpPr>
        <p:spPr>
          <a:xfrm>
            <a:off x="1152525" y="2109788"/>
            <a:ext cx="16476726" cy="2141041"/>
          </a:xfrm>
          <a:prstGeom prst="rect">
            <a:avLst/>
          </a:prstGeom>
          <a:noFill/>
          <a:ln/>
        </p:spPr>
        <p:txBody>
          <a:bodyPr wrap="square" lIns="25400" tIns="25400" rIns="25400" bIns="25400" rtlCol="0" anchor="t">
            <a:normAutofit/>
          </a:bodyPr>
          <a:lstStyle/>
          <a:p>
            <a:pPr algn="l" indent="0" marL="0">
              <a:lnSpc>
                <a:spcPct val="136296"/>
              </a:lnSpc>
              <a:buNone/>
            </a:pPr>
            <a:r>
              <a:rPr lang="en-US" sz="1725" dirty="0">
                <a:solidFill>
                  <a:srgbClr val="F5F7FB"/>
                </a:solidFill>
                <a:highlight>
                  <a:srgbClr val="FFFFFF"/>
                </a:highlight>
                <a:latin typeface="Arial" pitchFamily="34" charset="0"/>
                <a:ea typeface="Arial" pitchFamily="34" charset="-122"/>
                <a:cs typeface="Arial" pitchFamily="34" charset="-120"/>
              </a:rPr>
              <a:t>You must hunt across eight months of high-volume data held in the Microsoft Sentinel data lake tier. What should you use? </a:t>
            </a:r>
            <a:pPr algn="l" indent="0" marL="0">
              <a:lnSpc>
                <a:spcPct val="136296"/>
              </a:lnSpc>
              <a:buNone/>
            </a:pPr>
            <a:r>
              <a:rPr lang="en-US" sz="1725" dirty="0">
                <a:solidFill>
                  <a:srgbClr val="B8C0CF"/>
                </a:solidFill>
                <a:latin typeface="Arial" pitchFamily="34" charset="0"/>
                <a:ea typeface="Arial" pitchFamily="34" charset="-122"/>
                <a:cs typeface="Arial" pitchFamily="34" charset="-120"/>
              </a:rPr>
              <a:t>A. An interactive Advanced Hunting query B. A KQL job in the data lake C. A near-real time analytics rule D. A Sentinel workbook</a:t>
            </a:r>
            <a:endParaRPr lang="en-US" sz="17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SUMMARY</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Module 3 Summary</a:t>
            </a:r>
            <a:endParaRPr lang="en-US" sz="4050" dirty="0"/>
          </a:p>
        </p:txBody>
      </p:sp>
      <p:sp>
        <p:nvSpPr>
          <p:cNvPr id="5" name="Shape 3"/>
          <p:cNvSpPr/>
          <p:nvPr/>
        </p:nvSpPr>
        <p:spPr>
          <a:xfrm>
            <a:off x="914400" y="1871663"/>
            <a:ext cx="16459200" cy="700088"/>
          </a:xfrm>
          <a:prstGeom prst="roundRect">
            <a:avLst>
              <a:gd name="adj" fmla="val 21769"/>
            </a:avLst>
          </a:prstGeom>
          <a:solidFill>
            <a:srgbClr val="FFFFFF">
              <a:alpha val="2000"/>
            </a:srgbClr>
          </a:solidFill>
          <a:ln w="9525">
            <a:solidFill>
              <a:srgbClr val="2A2F3A"/>
            </a:solidFill>
            <a:prstDash val="solid"/>
          </a:ln>
        </p:spPr>
      </p:sp>
      <p:sp>
        <p:nvSpPr>
          <p:cNvPr id="6" name="Text 4"/>
          <p:cNvSpPr/>
          <p:nvPr/>
        </p:nvSpPr>
        <p:spPr>
          <a:xfrm>
            <a:off x="1152525" y="210978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Effective hunting starts with choosing the right Advanced Hunting table, then applying KQL's core operators fluently</a:t>
            </a:r>
            <a:endParaRPr lang="en-US" sz="1500" dirty="0"/>
          </a:p>
        </p:txBody>
      </p:sp>
      <p:sp>
        <p:nvSpPr>
          <p:cNvPr id="7" name="Shape 5"/>
          <p:cNvSpPr/>
          <p:nvPr/>
        </p:nvSpPr>
        <p:spPr>
          <a:xfrm>
            <a:off x="914400" y="2705100"/>
            <a:ext cx="16459200" cy="700088"/>
          </a:xfrm>
          <a:prstGeom prst="roundRect">
            <a:avLst>
              <a:gd name="adj" fmla="val 21769"/>
            </a:avLst>
          </a:prstGeom>
          <a:solidFill>
            <a:srgbClr val="FFFFFF">
              <a:alpha val="2000"/>
            </a:srgbClr>
          </a:solidFill>
          <a:ln w="9525">
            <a:solidFill>
              <a:srgbClr val="2A2F3A"/>
            </a:solidFill>
            <a:prstDash val="solid"/>
          </a:ln>
        </p:spPr>
      </p:sp>
      <p:sp>
        <p:nvSpPr>
          <p:cNvPr id="8" name="Text 6"/>
          <p:cNvSpPr/>
          <p:nvPr/>
        </p:nvSpPr>
        <p:spPr>
          <a:xfrm>
            <a:off x="1152525" y="294322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Threat analytics supplies Microsoft-authored intelligence plus your tenant's own exposure and recommended actions</a:t>
            </a:r>
            <a:endParaRPr lang="en-US" sz="1500" dirty="0"/>
          </a:p>
        </p:txBody>
      </p:sp>
      <p:sp>
        <p:nvSpPr>
          <p:cNvPr id="9" name="Shape 7"/>
          <p:cNvSpPr/>
          <p:nvPr/>
        </p:nvSpPr>
        <p:spPr>
          <a:xfrm>
            <a:off x="914400" y="3538538"/>
            <a:ext cx="16459200" cy="700088"/>
          </a:xfrm>
          <a:prstGeom prst="roundRect">
            <a:avLst>
              <a:gd name="adj" fmla="val 21769"/>
            </a:avLst>
          </a:prstGeom>
          <a:solidFill>
            <a:srgbClr val="FFFFFF">
              <a:alpha val="2000"/>
            </a:srgbClr>
          </a:solidFill>
          <a:ln w="9525">
            <a:solidFill>
              <a:srgbClr val="2A2F3A"/>
            </a:solidFill>
            <a:prstDash val="solid"/>
          </a:ln>
        </p:spPr>
      </p:sp>
      <p:sp>
        <p:nvSpPr>
          <p:cNvPr id="10" name="Text 8"/>
          <p:cNvSpPr/>
          <p:nvPr/>
        </p:nvSpPr>
        <p:spPr>
          <a:xfrm>
            <a:off x="1152525" y="3776662"/>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Hunting graphs (blast radius) and Sentinel Graph turn related rows into a picture of an attack's reach</a:t>
            </a:r>
            <a:endParaRPr lang="en-US" sz="1500" dirty="0"/>
          </a:p>
        </p:txBody>
      </p:sp>
      <p:sp>
        <p:nvSpPr>
          <p:cNvPr id="11" name="Shape 9"/>
          <p:cNvSpPr/>
          <p:nvPr/>
        </p:nvSpPr>
        <p:spPr>
          <a:xfrm>
            <a:off x="914400" y="4371975"/>
            <a:ext cx="16459200" cy="700088"/>
          </a:xfrm>
          <a:prstGeom prst="roundRect">
            <a:avLst>
              <a:gd name="adj" fmla="val 21769"/>
            </a:avLst>
          </a:prstGeom>
          <a:solidFill>
            <a:srgbClr val="FFFFFF">
              <a:alpha val="2000"/>
            </a:srgbClr>
          </a:solidFill>
          <a:ln w="9525">
            <a:solidFill>
              <a:srgbClr val="2A2F3A"/>
            </a:solidFill>
            <a:prstDash val="solid"/>
          </a:ln>
        </p:spPr>
      </p:sp>
      <p:sp>
        <p:nvSpPr>
          <p:cNvPr id="12" name="Text 10"/>
          <p:cNvSpPr/>
          <p:nvPr/>
        </p:nvSpPr>
        <p:spPr>
          <a:xfrm>
            <a:off x="1152525" y="4610100"/>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The Sentinel platform adds hunting queries, data lake KQL jobs, summary rule tables, and Notebooks via the MCP Server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53842"/>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CONGRATULATIONS</a:t>
            </a:r>
            <a:endParaRPr lang="en-US" sz="1575" dirty="0"/>
          </a:p>
        </p:txBody>
      </p:sp>
      <p:sp>
        <p:nvSpPr>
          <p:cNvPr id="4" name="Text 2"/>
          <p:cNvSpPr/>
          <p:nvPr/>
        </p:nvSpPr>
        <p:spPr>
          <a:xfrm>
            <a:off x="914400" y="4382467"/>
            <a:ext cx="16952976"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Microsoft SC-200 Syllabus Complete</a:t>
            </a:r>
            <a:endParaRPr lang="en-US" sz="4800" dirty="0"/>
          </a:p>
        </p:txBody>
      </p:sp>
      <p:sp>
        <p:nvSpPr>
          <p:cNvPr id="5" name="Text 3"/>
          <p:cNvSpPr/>
          <p:nvPr/>
        </p:nvSpPr>
        <p:spPr>
          <a:xfrm>
            <a:off x="914400" y="5971208"/>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Complete the Module 3 PBQ, Flashcards, Cheat Sheet, and Quiz to finish the course</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589573" y="9796463"/>
            <a:ext cx="860227"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SC</a:t>
            </a:r>
            <a:pPr algn="l" indent="0" marL="0">
              <a:buNone/>
            </a:pPr>
            <a:r>
              <a:rPr lang="en-US" sz="1350" b="1" spc="150" kern="0" dirty="0">
                <a:solidFill>
                  <a:srgbClr val="8891A1"/>
                </a:solidFill>
                <a:latin typeface="Arial" pitchFamily="34" charset="0"/>
                <a:ea typeface="Arial" pitchFamily="34" charset="-122"/>
                <a:cs typeface="Arial" pitchFamily="34" charset="-120"/>
              </a:rPr>
              <a:t>-200</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2026-07-30T15:49:57Z</dcterms:created>
  <dcterms:modified xsi:type="dcterms:W3CDTF">2026-07-30T15:49:57Z</dcterms:modified>
</cp:coreProperties>
</file>